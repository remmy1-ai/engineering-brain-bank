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75"/>
  </p:notesMasterIdLst>
  <p:sldIdLst>
    <p:sldId id="256" r:id="rId2"/>
    <p:sldId id="257" r:id="rId3"/>
    <p:sldId id="259" r:id="rId4"/>
    <p:sldId id="344" r:id="rId5"/>
    <p:sldId id="260" r:id="rId6"/>
    <p:sldId id="284" r:id="rId7"/>
    <p:sldId id="285" r:id="rId8"/>
    <p:sldId id="286" r:id="rId9"/>
    <p:sldId id="288" r:id="rId10"/>
    <p:sldId id="289" r:id="rId11"/>
    <p:sldId id="287" r:id="rId12"/>
    <p:sldId id="265" r:id="rId13"/>
    <p:sldId id="269" r:id="rId14"/>
    <p:sldId id="270" r:id="rId15"/>
    <p:sldId id="279" r:id="rId16"/>
    <p:sldId id="273" r:id="rId17"/>
    <p:sldId id="290" r:id="rId18"/>
    <p:sldId id="345" r:id="rId19"/>
    <p:sldId id="346" r:id="rId20"/>
    <p:sldId id="347" r:id="rId21"/>
    <p:sldId id="348" r:id="rId22"/>
    <p:sldId id="349" r:id="rId23"/>
    <p:sldId id="350" r:id="rId24"/>
    <p:sldId id="352" r:id="rId25"/>
    <p:sldId id="353" r:id="rId26"/>
    <p:sldId id="354" r:id="rId27"/>
    <p:sldId id="355" r:id="rId28"/>
    <p:sldId id="291" r:id="rId29"/>
    <p:sldId id="292" r:id="rId30"/>
    <p:sldId id="293" r:id="rId31"/>
    <p:sldId id="294" r:id="rId32"/>
    <p:sldId id="295" r:id="rId33"/>
    <p:sldId id="281" r:id="rId34"/>
    <p:sldId id="296" r:id="rId35"/>
    <p:sldId id="297" r:id="rId36"/>
    <p:sldId id="298" r:id="rId37"/>
    <p:sldId id="299" r:id="rId38"/>
    <p:sldId id="330" r:id="rId39"/>
    <p:sldId id="331" r:id="rId40"/>
    <p:sldId id="332" r:id="rId41"/>
    <p:sldId id="333" r:id="rId42"/>
    <p:sldId id="327" r:id="rId43"/>
    <p:sldId id="311" r:id="rId44"/>
    <p:sldId id="312" r:id="rId45"/>
    <p:sldId id="313" r:id="rId46"/>
    <p:sldId id="314" r:id="rId47"/>
    <p:sldId id="315" r:id="rId48"/>
    <p:sldId id="302" r:id="rId49"/>
    <p:sldId id="303" r:id="rId50"/>
    <p:sldId id="334" r:id="rId51"/>
    <p:sldId id="304" r:id="rId52"/>
    <p:sldId id="308" r:id="rId53"/>
    <p:sldId id="335" r:id="rId54"/>
    <p:sldId id="342" r:id="rId55"/>
    <p:sldId id="309" r:id="rId56"/>
    <p:sldId id="336" r:id="rId57"/>
    <p:sldId id="310" r:id="rId58"/>
    <p:sldId id="317" r:id="rId59"/>
    <p:sldId id="316" r:id="rId60"/>
    <p:sldId id="343" r:id="rId61"/>
    <p:sldId id="318" r:id="rId62"/>
    <p:sldId id="319" r:id="rId63"/>
    <p:sldId id="320" r:id="rId64"/>
    <p:sldId id="321" r:id="rId65"/>
    <p:sldId id="337" r:id="rId66"/>
    <p:sldId id="322" r:id="rId67"/>
    <p:sldId id="323" r:id="rId68"/>
    <p:sldId id="338" r:id="rId69"/>
    <p:sldId id="339" r:id="rId70"/>
    <p:sldId id="340" r:id="rId71"/>
    <p:sldId id="341" r:id="rId72"/>
    <p:sldId id="324" r:id="rId73"/>
    <p:sldId id="25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551"/>
    <a:srgbClr val="055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84" d="100"/>
          <a:sy n="84" d="100"/>
        </p:scale>
        <p:origin x="442"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384BE-9D6B-4024-A985-C0EE99A58AEA}" type="datetimeFigureOut">
              <a:rPr lang="en-GB" smtClean="0"/>
              <a:pPr/>
              <a:t>11/03/2020</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05C70-BB3D-46DD-9A54-15208EA29ECC}" type="slidenum">
              <a:rPr lang="en-GB" smtClean="0"/>
              <a:pPr/>
              <a:t>‹#›</a:t>
            </a:fld>
            <a:endParaRPr lang="en-GB" dirty="0"/>
          </a:p>
        </p:txBody>
      </p:sp>
    </p:spTree>
    <p:extLst>
      <p:ext uri="{BB962C8B-B14F-4D97-AF65-F5344CB8AC3E}">
        <p14:creationId xmlns:p14="http://schemas.microsoft.com/office/powerpoint/2010/main" val="393686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F05C70-BB3D-46DD-9A54-15208EA29ECC}" type="slidenum">
              <a:rPr lang="en-GB" smtClean="0"/>
              <a:pPr/>
              <a:t>0</a:t>
            </a:fld>
            <a:endParaRPr lang="en-GB" dirty="0"/>
          </a:p>
        </p:txBody>
      </p:sp>
    </p:spTree>
    <p:extLst>
      <p:ext uri="{BB962C8B-B14F-4D97-AF65-F5344CB8AC3E}">
        <p14:creationId xmlns:p14="http://schemas.microsoft.com/office/powerpoint/2010/main" val="31004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F05C70-BB3D-46DD-9A54-15208EA29ECC}" type="slidenum">
              <a:rPr lang="en-GB" smtClean="0"/>
              <a:pPr/>
              <a:t>1</a:t>
            </a:fld>
            <a:endParaRPr lang="en-GB" dirty="0"/>
          </a:p>
        </p:txBody>
      </p:sp>
    </p:spTree>
    <p:extLst>
      <p:ext uri="{BB962C8B-B14F-4D97-AF65-F5344CB8AC3E}">
        <p14:creationId xmlns:p14="http://schemas.microsoft.com/office/powerpoint/2010/main" val="3337831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F05C70-BB3D-46DD-9A54-15208EA29ECC}" type="slidenum">
              <a:rPr lang="en-GB" smtClean="0"/>
              <a:pPr/>
              <a:t>9</a:t>
            </a:fld>
            <a:endParaRPr lang="en-GB" dirty="0"/>
          </a:p>
        </p:txBody>
      </p:sp>
    </p:spTree>
    <p:extLst>
      <p:ext uri="{BB962C8B-B14F-4D97-AF65-F5344CB8AC3E}">
        <p14:creationId xmlns:p14="http://schemas.microsoft.com/office/powerpoint/2010/main" val="2764225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F05C70-BB3D-46DD-9A54-15208EA29ECC}" type="slidenum">
              <a:rPr lang="en-GB" smtClean="0"/>
              <a:pPr/>
              <a:t>72</a:t>
            </a:fld>
            <a:endParaRPr lang="en-GB" dirty="0"/>
          </a:p>
        </p:txBody>
      </p:sp>
    </p:spTree>
    <p:extLst>
      <p:ext uri="{BB962C8B-B14F-4D97-AF65-F5344CB8AC3E}">
        <p14:creationId xmlns:p14="http://schemas.microsoft.com/office/powerpoint/2010/main" val="6574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lvl1pPr>
          </a:lstStyle>
          <a:p>
            <a:r>
              <a:rPr lang="en-US" smtClean="0"/>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dirty="0"/>
          </a:p>
        </p:txBody>
      </p:sp>
      <p:sp>
        <p:nvSpPr>
          <p:cNvPr id="4" name="Date Placeholder 3"/>
          <p:cNvSpPr>
            <a:spLocks noGrp="1"/>
          </p:cNvSpPr>
          <p:nvPr>
            <p:ph type="dt" sz="half" idx="10"/>
          </p:nvPr>
        </p:nvSpPr>
        <p:spPr/>
        <p:txBody>
          <a:bodyPr/>
          <a:lstStyle/>
          <a:p>
            <a:fld id="{7898F721-6F68-4281-A6F5-3635F5EFCA78}" type="datetime1">
              <a:rPr lang="en-GB" smtClean="0"/>
              <a:t>11/03/2020</a:t>
            </a:fld>
            <a:endParaRPr lang="en-GB" dirty="0"/>
          </a:p>
        </p:txBody>
      </p:sp>
      <p:sp>
        <p:nvSpPr>
          <p:cNvPr id="5" name="Footer Placeholder 4"/>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84123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p:cNvSpPr>
            <a:spLocks noGrp="1"/>
          </p:cNvSpPr>
          <p:nvPr>
            <p:ph type="dt" sz="half" idx="10"/>
          </p:nvPr>
        </p:nvSpPr>
        <p:spPr/>
        <p:txBody>
          <a:bodyPr/>
          <a:lstStyle/>
          <a:p>
            <a:fld id="{2921EDC1-4A4A-4B81-B140-68197ACABD37}" type="datetime1">
              <a:rPr lang="en-GB" smtClean="0"/>
              <a:t>11/03/2020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2160385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4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AD1957-0AB4-49AC-ADC1-B392104686F6}" type="datetime1">
              <a:rPr lang="en-GB" smtClean="0"/>
              <a:t>11/03/2020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112377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3A4F8BB-6A86-4F10-8DFC-889E309E5409}" type="datetime1">
              <a:rPr lang="en-GB" smtClean="0"/>
              <a:t>11/03/2020</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229698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2137C16-4287-4F0E-B14C-C2ED7143420C}" type="datetime1">
              <a:rPr lang="en-GB" smtClean="0"/>
              <a:t>11/03/2020</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2822826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86030E3-A980-460F-A93D-BAAE5FEB1209}" type="datetime1">
              <a:rPr lang="en-GB" smtClean="0"/>
              <a:t>11/03/2020</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52045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AED47E-3A31-4998-B89C-71B4314C08AF}" type="datetime1">
              <a:rPr lang="en-GB" smtClean="0"/>
              <a:t>11/03/2020</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311316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CED792-3560-4AB8-96D4-556A12BCDFD4}" type="datetime1">
              <a:rPr lang="en-GB" smtClean="0"/>
              <a:t>11/03/2020</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89823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CA90B0-D054-467A-9B0F-E826486D130D}" type="datetime1">
              <a:rPr lang="en-GB" smtClean="0"/>
              <a:t>11/03/2020</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290032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F6EC064-CF94-4AD3-99E4-FBB91D0F4480}" type="datetime1">
              <a:rPr lang="en-GB" smtClean="0"/>
              <a:t>11/03/2020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322160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2443C13-85A5-4BA0-8FEE-91222B8EA2B7}" type="datetime1">
              <a:rPr lang="en-GB" smtClean="0"/>
              <a:t>11/03/2020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337279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88276"/>
            <a:ext cx="10515600" cy="902412"/>
          </a:xfrm>
          <a:prstGeom prst="rect">
            <a:avLst/>
          </a:prstGeom>
        </p:spPr>
        <p:txBody>
          <a:bodyPr vert="horz" lIns="91440" tIns="45720" rIns="91440" bIns="45720" rtlCol="0" anchor="ctr">
            <a:normAutofit/>
          </a:bodyPr>
          <a:lstStyle/>
          <a:p>
            <a:r>
              <a:rPr lang="en-US" smtClean="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08E76C-A46B-4EE2-83A3-C80A17B5AA95}" type="datetime1">
              <a:rPr lang="en-GB" smtClean="0"/>
              <a:t>11/03/2020</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148296" y="6464739"/>
            <a:ext cx="409135" cy="365125"/>
          </a:xfrm>
          <a:prstGeom prst="rect">
            <a:avLst/>
          </a:prstGeom>
        </p:spPr>
        <p:txBody>
          <a:bodyPr vert="horz" lIns="91440" tIns="45720" rIns="91440" bIns="45720" rtlCol="0" anchor="ctr"/>
          <a:lstStyle>
            <a:lvl1pPr algn="r">
              <a:defRPr sz="1400" b="1">
                <a:solidFill>
                  <a:srgbClr val="FFC551"/>
                </a:solidFill>
                <a:latin typeface="Century Gothic" panose="020B0502020202020204" pitchFamily="34" charset="0"/>
              </a:defRPr>
            </a:lvl1p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153429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kern="1200">
          <a:solidFill>
            <a:srgbClr val="055D13"/>
          </a:solidFill>
          <a:latin typeface="Futura Md BT" panose="020B06020202040203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7" Type="http://schemas.openxmlformats.org/officeDocument/2006/relationships/image" Target="../media/image30.png"/><Relationship Id="rId12" Type="http://schemas.openxmlformats.org/officeDocument/2006/relationships/image" Target="../media/image38.png"/><Relationship Id="rId2" Type="http://schemas.openxmlformats.org/officeDocument/2006/relationships/image" Target="../media/image290.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4.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340.png"/></Relationships>
</file>

<file path=ppt/slides/_rels/slide2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2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50.png"/><Relationship Id="rId1" Type="http://schemas.openxmlformats.org/officeDocument/2006/relationships/slideLayout" Target="../slideLayouts/slideLayout2.xml"/><Relationship Id="rId5" Type="http://schemas.openxmlformats.org/officeDocument/2006/relationships/image" Target="../media/image201.png"/><Relationship Id="rId4" Type="http://schemas.openxmlformats.org/officeDocument/2006/relationships/image" Target="../media/image19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17255" y="2454045"/>
            <a:ext cx="3357489" cy="835131"/>
          </a:xfrm>
        </p:spPr>
        <p:txBody>
          <a:bodyPr>
            <a:normAutofit/>
          </a:bodyPr>
          <a:lstStyle/>
          <a:p>
            <a:r>
              <a:rPr lang="en-GB" sz="4000" dirty="0" smtClean="0"/>
              <a:t>AE 482</a:t>
            </a:r>
            <a:endParaRPr lang="en-GB" sz="4000" dirty="0"/>
          </a:p>
        </p:txBody>
      </p:sp>
      <p:sp>
        <p:nvSpPr>
          <p:cNvPr id="3" name="Subtitle 2"/>
          <p:cNvSpPr>
            <a:spLocks noGrp="1"/>
          </p:cNvSpPr>
          <p:nvPr>
            <p:ph type="subTitle" idx="1"/>
          </p:nvPr>
        </p:nvSpPr>
        <p:spPr>
          <a:xfrm>
            <a:off x="1523999" y="4286126"/>
            <a:ext cx="9144000" cy="484764"/>
          </a:xfrm>
        </p:spPr>
        <p:txBody>
          <a:bodyPr>
            <a:noAutofit/>
          </a:bodyPr>
          <a:lstStyle/>
          <a:p>
            <a:r>
              <a:rPr lang="en-GB" sz="3200" dirty="0" smtClean="0"/>
              <a:t>UNIT 5:  Hydraulic Fluids</a:t>
            </a:r>
            <a:endParaRPr lang="en-GB" sz="3200" dirty="0"/>
          </a:p>
        </p:txBody>
      </p:sp>
      <p:sp>
        <p:nvSpPr>
          <p:cNvPr id="5" name="Title 1"/>
          <p:cNvSpPr txBox="1">
            <a:spLocks/>
          </p:cNvSpPr>
          <p:nvPr/>
        </p:nvSpPr>
        <p:spPr>
          <a:xfrm>
            <a:off x="2640101" y="3309498"/>
            <a:ext cx="7256930" cy="66412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smtClean="0">
                <a:solidFill>
                  <a:srgbClr val="0070C0"/>
                </a:solidFill>
              </a:rPr>
              <a:t>Farm </a:t>
            </a:r>
            <a:r>
              <a:rPr lang="en-GB" sz="4000" dirty="0" smtClean="0">
                <a:solidFill>
                  <a:srgbClr val="0070C0"/>
                </a:solidFill>
              </a:rPr>
              <a:t>Machine Design </a:t>
            </a:r>
            <a:endParaRPr lang="en-GB" sz="4000" dirty="0">
              <a:solidFill>
                <a:srgbClr val="0070C0"/>
              </a:solidFill>
            </a:endParaRPr>
          </a:p>
        </p:txBody>
      </p:sp>
      <p:sp>
        <p:nvSpPr>
          <p:cNvPr id="6" name="Title 1"/>
          <p:cNvSpPr txBox="1">
            <a:spLocks/>
          </p:cNvSpPr>
          <p:nvPr/>
        </p:nvSpPr>
        <p:spPr>
          <a:xfrm>
            <a:off x="1523999" y="5212956"/>
            <a:ext cx="9144000" cy="59953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dirty="0" smtClean="0">
                <a:solidFill>
                  <a:schemeClr val="tx1"/>
                </a:solidFill>
              </a:rPr>
              <a:t>Mr. Joseph AVEYIRE</a:t>
            </a:r>
            <a:endParaRPr lang="en-GB" sz="4000" dirty="0">
              <a:solidFill>
                <a:schemeClr val="tx1"/>
              </a:solidFill>
            </a:endParaRPr>
          </a:p>
        </p:txBody>
      </p:sp>
      <p:sp>
        <p:nvSpPr>
          <p:cNvPr id="7" name="Subtitle 2"/>
          <p:cNvSpPr txBox="1">
            <a:spLocks/>
          </p:cNvSpPr>
          <p:nvPr/>
        </p:nvSpPr>
        <p:spPr>
          <a:xfrm>
            <a:off x="1568546" y="5812487"/>
            <a:ext cx="9144000" cy="4406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entury Gothic" panose="020B0502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smtClean="0"/>
              <a:t>aveyire@yahoo.com // 024 4652593</a:t>
            </a:r>
            <a:endParaRPr lang="en-GB" dirty="0"/>
          </a:p>
        </p:txBody>
      </p:sp>
    </p:spTree>
    <p:extLst>
      <p:ext uri="{BB962C8B-B14F-4D97-AF65-F5344CB8AC3E}">
        <p14:creationId xmlns:p14="http://schemas.microsoft.com/office/powerpoint/2010/main" val="1996527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normAutofit/>
          </a:bodyPr>
          <a:lstStyle/>
          <a:p>
            <a:pPr>
              <a:lnSpc>
                <a:spcPct val="120000"/>
              </a:lnSpc>
              <a:spcBef>
                <a:spcPts val="0"/>
              </a:spcBef>
              <a:spcAft>
                <a:spcPts val="600"/>
              </a:spcAft>
              <a:buNone/>
            </a:pPr>
            <a:r>
              <a:rPr lang="en-GB" dirty="0" smtClean="0"/>
              <a:t>Unit four identifies hydraulic power transmission and hydraulic fluids. </a:t>
            </a:r>
          </a:p>
          <a:p>
            <a:pPr>
              <a:lnSpc>
                <a:spcPct val="120000"/>
              </a:lnSpc>
              <a:spcBef>
                <a:spcPts val="0"/>
              </a:spcBef>
              <a:spcAft>
                <a:spcPts val="600"/>
              </a:spcAft>
            </a:pPr>
            <a:r>
              <a:rPr lang="en-GB" dirty="0"/>
              <a:t>Section 1-4 </a:t>
            </a:r>
            <a:r>
              <a:rPr lang="en-GB" dirty="0" smtClean="0"/>
              <a:t>Describes hydraulic fluids, and</a:t>
            </a:r>
          </a:p>
          <a:p>
            <a:pPr>
              <a:lnSpc>
                <a:spcPct val="120000"/>
              </a:lnSpc>
              <a:spcBef>
                <a:spcPts val="0"/>
              </a:spcBef>
              <a:spcAft>
                <a:spcPts val="600"/>
              </a:spcAft>
            </a:pPr>
            <a:r>
              <a:rPr lang="en-GB" dirty="0"/>
              <a:t>Section 2-4 </a:t>
            </a:r>
            <a:r>
              <a:rPr lang="en-GB" dirty="0" smtClean="0"/>
              <a:t>On </a:t>
            </a:r>
            <a:r>
              <a:rPr lang="en-GB" dirty="0"/>
              <a:t>the other hand handles hydraulic </a:t>
            </a:r>
            <a:r>
              <a:rPr lang="en-GB" dirty="0" smtClean="0"/>
              <a:t>components and their applications.</a:t>
            </a:r>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a:t>
            </a:fld>
            <a:endParaRPr lang="en-GB" dirty="0"/>
          </a:p>
        </p:txBody>
      </p:sp>
    </p:spTree>
    <p:extLst>
      <p:ext uri="{BB962C8B-B14F-4D97-AF65-F5344CB8AC3E}">
        <p14:creationId xmlns:p14="http://schemas.microsoft.com/office/powerpoint/2010/main" val="76380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UNIT 4:	Learning Objectives</a:t>
            </a:r>
            <a:endParaRPr lang="en-GB" dirty="0"/>
          </a:p>
        </p:txBody>
      </p:sp>
      <p:sp>
        <p:nvSpPr>
          <p:cNvPr id="3" name="Content Placeholder 2"/>
          <p:cNvSpPr>
            <a:spLocks noGrp="1"/>
          </p:cNvSpPr>
          <p:nvPr>
            <p:ph idx="1"/>
          </p:nvPr>
        </p:nvSpPr>
        <p:spPr>
          <a:xfrm>
            <a:off x="838200" y="1667435"/>
            <a:ext cx="10515600" cy="4797304"/>
          </a:xfrm>
        </p:spPr>
        <p:txBody>
          <a:bodyPr>
            <a:normAutofit/>
          </a:bodyPr>
          <a:lstStyle/>
          <a:p>
            <a:pPr lvl="0">
              <a:lnSpc>
                <a:spcPct val="120000"/>
              </a:lnSpc>
              <a:spcBef>
                <a:spcPts val="0"/>
              </a:spcBef>
              <a:spcAft>
                <a:spcPts val="1000"/>
              </a:spcAft>
            </a:pPr>
            <a:r>
              <a:rPr lang="en-GB" dirty="0"/>
              <a:t>Explains </a:t>
            </a:r>
            <a:r>
              <a:rPr lang="en-GB" dirty="0" smtClean="0"/>
              <a:t>the principle of hydro-mechanics,</a:t>
            </a:r>
            <a:endParaRPr lang="en-GB" dirty="0"/>
          </a:p>
          <a:p>
            <a:pPr lvl="0">
              <a:lnSpc>
                <a:spcPct val="120000"/>
              </a:lnSpc>
              <a:spcBef>
                <a:spcPts val="0"/>
              </a:spcBef>
              <a:spcAft>
                <a:spcPts val="1000"/>
              </a:spcAft>
            </a:pPr>
            <a:r>
              <a:rPr lang="en-GB" dirty="0"/>
              <a:t>Describes the theory of lubrication,</a:t>
            </a:r>
          </a:p>
          <a:p>
            <a:pPr lvl="0">
              <a:lnSpc>
                <a:spcPct val="120000"/>
              </a:lnSpc>
              <a:spcBef>
                <a:spcPts val="0"/>
              </a:spcBef>
              <a:spcAft>
                <a:spcPts val="1000"/>
              </a:spcAft>
            </a:pPr>
            <a:r>
              <a:rPr lang="en-GB" dirty="0" smtClean="0"/>
              <a:t>Explains the classification of hydraulic </a:t>
            </a:r>
            <a:r>
              <a:rPr lang="en-GB" dirty="0"/>
              <a:t>fluids</a:t>
            </a:r>
            <a:r>
              <a:rPr lang="en-GB" dirty="0" smtClean="0"/>
              <a:t>,</a:t>
            </a:r>
          </a:p>
          <a:p>
            <a:pPr lvl="0">
              <a:lnSpc>
                <a:spcPct val="120000"/>
              </a:lnSpc>
              <a:spcBef>
                <a:spcPts val="0"/>
              </a:spcBef>
              <a:spcAft>
                <a:spcPts val="1000"/>
              </a:spcAft>
            </a:pPr>
            <a:r>
              <a:rPr lang="en-GB" dirty="0" smtClean="0"/>
              <a:t>Explains the selection of hydraulic fluids</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a:t>
            </a:fld>
            <a:endParaRPr lang="en-GB" dirty="0"/>
          </a:p>
        </p:txBody>
      </p:sp>
    </p:spTree>
    <p:extLst>
      <p:ext uri="{BB962C8B-B14F-4D97-AF65-F5344CB8AC3E}">
        <p14:creationId xmlns:p14="http://schemas.microsoft.com/office/powerpoint/2010/main" val="130159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UNIT 4:	 </a:t>
            </a:r>
            <a:r>
              <a:rPr lang="en-GB" dirty="0" smtClean="0"/>
              <a:t>Introduction</a:t>
            </a:r>
            <a:endParaRPr lang="en-GB" dirty="0"/>
          </a:p>
        </p:txBody>
      </p:sp>
      <p:sp>
        <p:nvSpPr>
          <p:cNvPr id="3" name="Content Placeholder 2"/>
          <p:cNvSpPr>
            <a:spLocks noGrp="1"/>
          </p:cNvSpPr>
          <p:nvPr>
            <p:ph idx="1"/>
          </p:nvPr>
        </p:nvSpPr>
        <p:spPr/>
        <p:txBody>
          <a:bodyPr/>
          <a:lstStyle/>
          <a:p>
            <a:pPr marL="0" indent="0">
              <a:lnSpc>
                <a:spcPct val="110000"/>
              </a:lnSpc>
              <a:spcAft>
                <a:spcPts val="1200"/>
              </a:spcAft>
              <a:buNone/>
            </a:pPr>
            <a:r>
              <a:rPr lang="en-GB" b="1" i="1" dirty="0"/>
              <a:t>Fluid </a:t>
            </a:r>
            <a:r>
              <a:rPr lang="en-GB" b="1" i="1" dirty="0" smtClean="0"/>
              <a:t>Power:</a:t>
            </a:r>
          </a:p>
          <a:p>
            <a:pPr>
              <a:lnSpc>
                <a:spcPct val="110000"/>
              </a:lnSpc>
              <a:spcAft>
                <a:spcPts val="1200"/>
              </a:spcAft>
            </a:pPr>
            <a:r>
              <a:rPr lang="en-GB" dirty="0" smtClean="0"/>
              <a:t>Fluid </a:t>
            </a:r>
            <a:r>
              <a:rPr lang="en-GB" dirty="0"/>
              <a:t>power is the technology that deals with the </a:t>
            </a:r>
            <a:r>
              <a:rPr lang="en-GB" dirty="0" smtClean="0"/>
              <a:t>transfer and control </a:t>
            </a:r>
            <a:r>
              <a:rPr lang="en-GB" dirty="0"/>
              <a:t>of energy and signal by means of pressurised fluids</a:t>
            </a:r>
            <a:r>
              <a:rPr lang="en-GB" dirty="0" smtClean="0"/>
              <a:t>.</a:t>
            </a:r>
          </a:p>
          <a:p>
            <a:pPr>
              <a:lnSpc>
                <a:spcPct val="110000"/>
              </a:lnSpc>
              <a:spcAft>
                <a:spcPts val="1200"/>
              </a:spcAft>
            </a:pPr>
            <a:r>
              <a:rPr lang="en-GB" dirty="0" smtClean="0"/>
              <a:t>The pressurised </a:t>
            </a:r>
            <a:r>
              <a:rPr lang="en-GB" dirty="0"/>
              <a:t>fluid can be either liquid or gas </a:t>
            </a:r>
            <a:r>
              <a:rPr lang="en-GB" dirty="0" smtClean="0"/>
              <a:t>(i.e. hydraulics </a:t>
            </a:r>
            <a:r>
              <a:rPr lang="en-GB" dirty="0"/>
              <a:t>and </a:t>
            </a:r>
            <a:r>
              <a:rPr lang="en-GB" dirty="0" smtClean="0"/>
              <a:t>pneumatics fluid power).</a:t>
            </a:r>
            <a:endParaRPr lang="en-GB" dirty="0"/>
          </a:p>
          <a:p>
            <a:pPr marL="0" indent="0">
              <a:spcAft>
                <a:spcPts val="1200"/>
              </a:spcAft>
              <a:buNone/>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a:t>
            </a:fld>
            <a:endParaRPr lang="en-GB" dirty="0"/>
          </a:p>
        </p:txBody>
      </p:sp>
    </p:spTree>
    <p:extLst>
      <p:ext uri="{BB962C8B-B14F-4D97-AF65-F5344CB8AC3E}">
        <p14:creationId xmlns:p14="http://schemas.microsoft.com/office/powerpoint/2010/main" val="339008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UNIT 4:	Principles of Hydro-Mechanics</a:t>
            </a:r>
            <a:endParaRPr lang="en-GB" dirty="0"/>
          </a:p>
        </p:txBody>
      </p:sp>
      <p:sp>
        <p:nvSpPr>
          <p:cNvPr id="3" name="Content Placeholder 2"/>
          <p:cNvSpPr>
            <a:spLocks noGrp="1"/>
          </p:cNvSpPr>
          <p:nvPr>
            <p:ph idx="1"/>
          </p:nvPr>
        </p:nvSpPr>
        <p:spPr>
          <a:xfrm>
            <a:off x="838200" y="1825625"/>
            <a:ext cx="10515600" cy="4639114"/>
          </a:xfrm>
        </p:spPr>
        <p:txBody>
          <a:bodyPr>
            <a:normAutofit lnSpcReduction="10000"/>
          </a:bodyPr>
          <a:lstStyle/>
          <a:p>
            <a:pPr marL="0" indent="0">
              <a:lnSpc>
                <a:spcPct val="120000"/>
              </a:lnSpc>
              <a:spcBef>
                <a:spcPts val="0"/>
              </a:spcBef>
              <a:spcAft>
                <a:spcPts val="1200"/>
              </a:spcAft>
              <a:buNone/>
            </a:pPr>
            <a:r>
              <a:rPr lang="en-GB" b="1" dirty="0"/>
              <a:t>Hydraulic Transmission of </a:t>
            </a:r>
            <a:r>
              <a:rPr lang="en-GB" b="1" dirty="0" smtClean="0"/>
              <a:t>Energy</a:t>
            </a:r>
          </a:p>
          <a:p>
            <a:pPr>
              <a:lnSpc>
                <a:spcPct val="120000"/>
              </a:lnSpc>
              <a:spcBef>
                <a:spcPts val="0"/>
              </a:spcBef>
              <a:spcAft>
                <a:spcPts val="1200"/>
              </a:spcAft>
            </a:pPr>
            <a:r>
              <a:rPr lang="en-GB" dirty="0"/>
              <a:t>There are two forms of </a:t>
            </a:r>
            <a:r>
              <a:rPr lang="en-GB" dirty="0" smtClean="0"/>
              <a:t>science </a:t>
            </a:r>
            <a:r>
              <a:rPr lang="en-GB" dirty="0"/>
              <a:t>of hydraulics</a:t>
            </a:r>
            <a:r>
              <a:rPr lang="en-GB" dirty="0" smtClean="0"/>
              <a:t>:</a:t>
            </a:r>
          </a:p>
          <a:p>
            <a:pPr marL="1117600" indent="-457200">
              <a:lnSpc>
                <a:spcPct val="120000"/>
              </a:lnSpc>
              <a:spcBef>
                <a:spcPts val="0"/>
              </a:spcBef>
              <a:spcAft>
                <a:spcPts val="1200"/>
              </a:spcAft>
              <a:buFont typeface="Wingdings" panose="05000000000000000000" pitchFamily="2" charset="2"/>
              <a:buChar char="v"/>
            </a:pPr>
            <a:r>
              <a:rPr lang="en-GB" dirty="0" smtClean="0"/>
              <a:t>Hydrodynamics: deals with high velocities and low pressure (Principle of moment of momentum), </a:t>
            </a:r>
            <a:r>
              <a:rPr lang="en-GB" dirty="0"/>
              <a:t>and </a:t>
            </a:r>
            <a:endParaRPr lang="en-GB" dirty="0" smtClean="0"/>
          </a:p>
          <a:p>
            <a:pPr marL="1117600" indent="-457200">
              <a:lnSpc>
                <a:spcPct val="120000"/>
              </a:lnSpc>
              <a:spcBef>
                <a:spcPts val="0"/>
              </a:spcBef>
              <a:spcAft>
                <a:spcPts val="1200"/>
              </a:spcAft>
              <a:buFont typeface="Wingdings" panose="05000000000000000000" pitchFamily="2" charset="2"/>
              <a:buChar char="v"/>
            </a:pPr>
            <a:r>
              <a:rPr lang="en-GB" dirty="0" smtClean="0"/>
              <a:t>Hydrostatics : involves high pressure and low pressures (Principles of positive displacement)</a:t>
            </a:r>
          </a:p>
          <a:p>
            <a:pPr marL="401638" indent="-346075">
              <a:lnSpc>
                <a:spcPct val="120000"/>
              </a:lnSpc>
              <a:spcBef>
                <a:spcPts val="0"/>
              </a:spcBef>
              <a:spcAft>
                <a:spcPts val="1200"/>
              </a:spcAft>
            </a:pPr>
            <a:r>
              <a:rPr lang="en-GB" dirty="0" smtClean="0"/>
              <a:t>From this point onwards: Hydraulics will denote hydrostatics.</a:t>
            </a:r>
          </a:p>
        </p:txBody>
      </p:sp>
      <p:sp>
        <p:nvSpPr>
          <p:cNvPr id="4" name="Slide Number Placeholder 3"/>
          <p:cNvSpPr>
            <a:spLocks noGrp="1"/>
          </p:cNvSpPr>
          <p:nvPr>
            <p:ph type="sldNum" sz="quarter" idx="12"/>
          </p:nvPr>
        </p:nvSpPr>
        <p:spPr/>
        <p:txBody>
          <a:bodyPr/>
          <a:lstStyle/>
          <a:p>
            <a:fld id="{7E50C373-F1D0-494F-8D6D-366C958B3429}" type="slidenum">
              <a:rPr lang="en-GB" smtClean="0"/>
              <a:pPr/>
              <a:t>4</a:t>
            </a:fld>
            <a:endParaRPr lang="en-GB" dirty="0"/>
          </a:p>
        </p:txBody>
      </p:sp>
    </p:spTree>
    <p:extLst>
      <p:ext uri="{BB962C8B-B14F-4D97-AF65-F5344CB8AC3E}">
        <p14:creationId xmlns:p14="http://schemas.microsoft.com/office/powerpoint/2010/main" val="118832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6269"/>
            <a:ext cx="10515600" cy="380123"/>
          </a:xfrm>
        </p:spPr>
        <p:txBody>
          <a:bodyPr>
            <a:normAutofit fontScale="90000"/>
          </a:bodyPr>
          <a:lstStyle/>
          <a:p>
            <a:r>
              <a:rPr lang="en-GB" dirty="0"/>
              <a:t>UNIT 4: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10511"/>
                <a:ext cx="10515600" cy="5188699"/>
              </a:xfrm>
            </p:spPr>
            <p:txBody>
              <a:bodyPr>
                <a:normAutofit fontScale="92500" lnSpcReduction="20000"/>
              </a:bodyPr>
              <a:lstStyle/>
              <a:p>
                <a:pPr marL="0" indent="0">
                  <a:lnSpc>
                    <a:spcPct val="110000"/>
                  </a:lnSpc>
                  <a:spcBef>
                    <a:spcPts val="600"/>
                  </a:spcBef>
                  <a:buNone/>
                </a:pPr>
                <a:r>
                  <a:rPr lang="en-GB" b="1" dirty="0" smtClean="0"/>
                  <a:t>Hydro-Mechanic Principle </a:t>
                </a:r>
                <a:r>
                  <a:rPr lang="en-GB" b="1" dirty="0"/>
                  <a:t>of </a:t>
                </a:r>
                <a:r>
                  <a:rPr lang="en-GB" b="1" dirty="0" smtClean="0"/>
                  <a:t>Energy</a:t>
                </a:r>
                <a:r>
                  <a:rPr lang="en-GB" dirty="0" smtClean="0"/>
                  <a:t>:</a:t>
                </a:r>
                <a:endParaRPr lang="en-GB" dirty="0"/>
              </a:p>
              <a:p>
                <a:pPr>
                  <a:lnSpc>
                    <a:spcPct val="110000"/>
                  </a:lnSpc>
                  <a:spcBef>
                    <a:spcPts val="600"/>
                  </a:spcBef>
                </a:pPr>
                <a:r>
                  <a:rPr lang="en-GB" dirty="0"/>
                  <a:t>Bernoulli </a:t>
                </a:r>
                <a:r>
                  <a:rPr lang="en-GB" dirty="0" smtClean="0"/>
                  <a:t>equation:</a:t>
                </a:r>
                <a:endParaRPr lang="en-GB" dirty="0"/>
              </a:p>
              <a:p>
                <a:pPr marL="0" indent="0">
                  <a:lnSpc>
                    <a:spcPct val="110000"/>
                  </a:lnSpc>
                  <a:spcBef>
                    <a:spcPts val="600"/>
                  </a:spcBef>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𝑓</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𝐸</m:t>
                          </m:r>
                        </m:num>
                        <m:den>
                          <m:acc>
                            <m:accPr>
                              <m:chr m:val="̇"/>
                              <m:ctrlPr>
                                <a:rPr lang="en-GB" i="1">
                                  <a:latin typeface="Cambria Math" panose="02040503050406030204" pitchFamily="18" charset="0"/>
                                </a:rPr>
                              </m:ctrlPr>
                            </m:accPr>
                            <m:e>
                              <m:r>
                                <a:rPr lang="en-GB" i="1">
                                  <a:latin typeface="Cambria Math" panose="02040503050406030204" pitchFamily="18" charset="0"/>
                                </a:rPr>
                                <m:t>𝑚</m:t>
                              </m:r>
                            </m:e>
                          </m:acc>
                        </m:den>
                      </m:f>
                      <m:r>
                        <a:rPr lang="en-GB" i="1">
                          <a:latin typeface="Cambria Math" panose="02040503050406030204" pitchFamily="18" charset="0"/>
                        </a:rPr>
                        <m:t>=</m:t>
                      </m:r>
                      <m:r>
                        <a:rPr lang="en-GB" i="1">
                          <a:latin typeface="Cambria Math" panose="02040503050406030204" pitchFamily="18" charset="0"/>
                        </a:rPr>
                        <m:t>h</m:t>
                      </m:r>
                      <m:r>
                        <a:rPr lang="en-GB" i="1">
                          <a:latin typeface="Cambria Math" panose="02040503050406030204" pitchFamily="18" charset="0"/>
                        </a:rPr>
                        <m:t>+</m:t>
                      </m:r>
                      <m:f>
                        <m:fPr>
                          <m:ctrlPr>
                            <a:rPr lang="en-GB" i="1">
                              <a:latin typeface="Cambria Math" panose="02040503050406030204" pitchFamily="18" charset="0"/>
                            </a:rPr>
                          </m:ctrlPr>
                        </m:fPr>
                        <m:num>
                          <m:sSup>
                            <m:sSupPr>
                              <m:ctrlPr>
                                <a:rPr lang="en-GB" i="1">
                                  <a:latin typeface="Cambria Math" panose="02040503050406030204" pitchFamily="18" charset="0"/>
                                </a:rPr>
                              </m:ctrlPr>
                            </m:sSupPr>
                            <m:e>
                              <m:r>
                                <a:rPr lang="en-GB" i="1">
                                  <a:latin typeface="Cambria Math" panose="02040503050406030204" pitchFamily="18" charset="0"/>
                                </a:rPr>
                                <m:t>𝑉</m:t>
                              </m:r>
                            </m:e>
                            <m:sup>
                              <m:r>
                                <a:rPr lang="en-GB" i="1">
                                  <a:latin typeface="Cambria Math" panose="02040503050406030204" pitchFamily="18" charset="0"/>
                                </a:rPr>
                                <m:t>2</m:t>
                              </m:r>
                            </m:sup>
                          </m:sSup>
                        </m:num>
                        <m:den>
                          <m:r>
                            <a:rPr lang="en-GB" i="1">
                              <a:latin typeface="Cambria Math" panose="02040503050406030204" pitchFamily="18" charset="0"/>
                            </a:rPr>
                            <m:t>2</m:t>
                          </m:r>
                        </m:den>
                      </m:f>
                      <m:r>
                        <a:rPr lang="en-GB" i="1">
                          <a:latin typeface="Cambria Math" panose="02040503050406030204" pitchFamily="18" charset="0"/>
                        </a:rPr>
                        <m:t>+</m:t>
                      </m:r>
                      <m:r>
                        <a:rPr lang="en-GB" i="1">
                          <a:latin typeface="Cambria Math" panose="02040503050406030204" pitchFamily="18" charset="0"/>
                        </a:rPr>
                        <m:t>𝑔</m:t>
                      </m:r>
                      <m:r>
                        <a:rPr lang="en-GB" i="1">
                          <a:latin typeface="Cambria Math" panose="02040503050406030204" pitchFamily="18" charset="0"/>
                        </a:rPr>
                        <m:t>.</m:t>
                      </m:r>
                      <m:r>
                        <a:rPr lang="en-GB" i="1">
                          <a:latin typeface="Cambria Math" panose="02040503050406030204" pitchFamily="18" charset="0"/>
                        </a:rPr>
                        <m:t>𝑧</m:t>
                      </m:r>
                      <m:r>
                        <a:rPr lang="en-GB" i="1">
                          <a:latin typeface="Cambria Math" panose="02040503050406030204" pitchFamily="18" charset="0"/>
                        </a:rPr>
                        <m:t>+</m:t>
                      </m:r>
                      <m:nary>
                        <m:naryPr>
                          <m:limLoc m:val="undOvr"/>
                          <m:subHide m:val="on"/>
                          <m:supHide m:val="on"/>
                          <m:ctrlPr>
                            <a:rPr lang="en-GB" i="1">
                              <a:latin typeface="Cambria Math" panose="02040503050406030204" pitchFamily="18" charset="0"/>
                            </a:rPr>
                          </m:ctrlPr>
                        </m:naryPr>
                        <m:sub/>
                        <m:sup/>
                        <m:e>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𝑉</m:t>
                              </m:r>
                            </m:num>
                            <m:den>
                              <m:r>
                                <a:rPr lang="en-GB" i="1">
                                  <a:latin typeface="Cambria Math" panose="02040503050406030204" pitchFamily="18" charset="0"/>
                                </a:rPr>
                                <m:t>𝜕</m:t>
                              </m:r>
                              <m:r>
                                <a:rPr lang="en-GB" i="1">
                                  <a:latin typeface="Cambria Math" panose="02040503050406030204" pitchFamily="18" charset="0"/>
                                </a:rPr>
                                <m:t>𝑡</m:t>
                              </m:r>
                            </m:den>
                          </m:f>
                          <m:r>
                            <a:rPr lang="en-GB" i="1">
                              <a:latin typeface="Cambria Math" panose="02040503050406030204" pitchFamily="18" charset="0"/>
                            </a:rPr>
                            <m:t>𝑑𝑠</m:t>
                          </m:r>
                        </m:e>
                      </m:nary>
                    </m:oMath>
                  </m:oMathPara>
                </a14:m>
                <a:endParaRPr lang="en-GB" dirty="0"/>
              </a:p>
              <a:p>
                <a:pPr marL="0"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𝑤h𝑒𝑟𝑒</m:t>
                      </m:r>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𝑓</m:t>
                          </m:r>
                        </m:sub>
                      </m:sSub>
                      <m:r>
                        <a:rPr lang="en-GB" i="1">
                          <a:latin typeface="Cambria Math" panose="02040503050406030204" pitchFamily="18" charset="0"/>
                        </a:rPr>
                        <m:t>=</m:t>
                      </m:r>
                      <m:r>
                        <a:rPr lang="en-GB" i="1">
                          <a:latin typeface="Cambria Math" panose="02040503050406030204" pitchFamily="18" charset="0"/>
                        </a:rPr>
                        <m:t>𝑠𝑝𝑒𝑐𝑖𝑓𝑖𝑐</m:t>
                      </m:r>
                      <m:r>
                        <a:rPr lang="en-GB" i="1">
                          <a:latin typeface="Cambria Math" panose="02040503050406030204" pitchFamily="18" charset="0"/>
                        </a:rPr>
                        <m:t> </m:t>
                      </m:r>
                      <m:r>
                        <a:rPr lang="en-GB" i="1">
                          <a:latin typeface="Cambria Math" panose="02040503050406030204" pitchFamily="18" charset="0"/>
                        </a:rPr>
                        <m:t>𝑓𝑙𝑢𝑖𝑑</m:t>
                      </m:r>
                      <m:r>
                        <a:rPr lang="en-GB" i="1">
                          <a:latin typeface="Cambria Math" panose="02040503050406030204" pitchFamily="18" charset="0"/>
                        </a:rPr>
                        <m:t> </m:t>
                      </m:r>
                      <m:r>
                        <a:rPr lang="en-GB" i="1">
                          <a:latin typeface="Cambria Math" panose="02040503050406030204" pitchFamily="18" charset="0"/>
                        </a:rPr>
                        <m:t>𝑒𝑛𝑒𝑟𝑔𝑦</m:t>
                      </m:r>
                    </m:oMath>
                  </m:oMathPara>
                </a14:m>
                <a:endParaRPr lang="en-GB" dirty="0"/>
              </a:p>
              <a:p>
                <a:pPr marL="1250950"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𝑒𝑛𝑡h𝑎𝑙𝑝𝑦</m:t>
                      </m:r>
                    </m:oMath>
                  </m:oMathPara>
                </a14:m>
                <a:endParaRPr lang="en-GB" dirty="0"/>
              </a:p>
              <a:p>
                <a:pPr marL="1169988"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𝑉</m:t>
                      </m:r>
                      <m:r>
                        <a:rPr lang="en-GB" i="1">
                          <a:latin typeface="Cambria Math" panose="02040503050406030204" pitchFamily="18" charset="0"/>
                        </a:rPr>
                        <m:t>=</m:t>
                      </m:r>
                      <m:r>
                        <a:rPr lang="en-GB" i="1">
                          <a:latin typeface="Cambria Math" panose="02040503050406030204" pitchFamily="18" charset="0"/>
                        </a:rPr>
                        <m:t>𝑣𝑒𝑙𝑜𝑐𝑖𝑡𝑦</m:t>
                      </m:r>
                    </m:oMath>
                  </m:oMathPara>
                </a14:m>
                <a:endParaRPr lang="en-GB" dirty="0"/>
              </a:p>
              <a:p>
                <a:pPr marL="1169988"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𝑧</m:t>
                      </m:r>
                      <m:r>
                        <a:rPr lang="en-GB" i="1">
                          <a:latin typeface="Cambria Math" panose="02040503050406030204" pitchFamily="18" charset="0"/>
                        </a:rPr>
                        <m:t>=</m:t>
                      </m:r>
                      <m:r>
                        <a:rPr lang="en-GB" i="1">
                          <a:latin typeface="Cambria Math" panose="02040503050406030204" pitchFamily="18" charset="0"/>
                        </a:rPr>
                        <m:t>𝑔𝑒𝑜𝑑𝑒𝑡𝑖𝑐</m:t>
                      </m:r>
                      <m:r>
                        <a:rPr lang="en-GB" i="1">
                          <a:latin typeface="Cambria Math" panose="02040503050406030204" pitchFamily="18" charset="0"/>
                        </a:rPr>
                        <m:t> </m:t>
                      </m:r>
                      <m:r>
                        <a:rPr lang="en-GB" i="1">
                          <a:latin typeface="Cambria Math" panose="02040503050406030204" pitchFamily="18" charset="0"/>
                        </a:rPr>
                        <m:t>h𝑒𝑖𝑔h𝑡</m:t>
                      </m:r>
                    </m:oMath>
                  </m:oMathPara>
                </a14:m>
                <a:endParaRPr lang="en-GB" dirty="0"/>
              </a:p>
              <a:p>
                <a:pPr marL="1169988"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𝑠</m:t>
                      </m:r>
                      <m:r>
                        <a:rPr lang="en-GB" i="1">
                          <a:latin typeface="Cambria Math" panose="02040503050406030204" pitchFamily="18" charset="0"/>
                        </a:rPr>
                        <m:t>=</m:t>
                      </m:r>
                      <m:r>
                        <a:rPr lang="en-GB" i="1">
                          <a:latin typeface="Cambria Math" panose="02040503050406030204" pitchFamily="18" charset="0"/>
                        </a:rPr>
                        <m:t>𝑑𝑖𝑠𝑡𝑎𝑛𝑐𝑒</m:t>
                      </m:r>
                      <m:r>
                        <a:rPr lang="en-GB" i="1">
                          <a:latin typeface="Cambria Math" panose="02040503050406030204" pitchFamily="18" charset="0"/>
                        </a:rPr>
                        <m:t> </m:t>
                      </m:r>
                      <m:r>
                        <a:rPr lang="en-GB" i="1">
                          <a:latin typeface="Cambria Math" panose="02040503050406030204" pitchFamily="18" charset="0"/>
                        </a:rPr>
                        <m:t>𝑎𝑛𝑑</m:t>
                      </m:r>
                      <m:r>
                        <a:rPr lang="en-GB" i="1">
                          <a:latin typeface="Cambria Math" panose="02040503050406030204" pitchFamily="18" charset="0"/>
                        </a:rPr>
                        <m:t> </m:t>
                      </m:r>
                      <m:r>
                        <a:rPr lang="en-GB" i="1">
                          <a:latin typeface="Cambria Math" panose="02040503050406030204" pitchFamily="18" charset="0"/>
                        </a:rPr>
                        <m:t>𝑑𝑠</m:t>
                      </m:r>
                      <m:r>
                        <a:rPr lang="en-GB" i="1">
                          <a:latin typeface="Cambria Math" panose="02040503050406030204" pitchFamily="18" charset="0"/>
                        </a:rPr>
                        <m:t>=</m:t>
                      </m:r>
                      <m:r>
                        <a:rPr lang="en-GB" i="1">
                          <a:latin typeface="Cambria Math" panose="02040503050406030204" pitchFamily="18" charset="0"/>
                        </a:rPr>
                        <m:t>𝑑𝑖𝑠𝑝𝑙𝑎𝑐𝑒𝑚𝑒𝑛𝑡</m:t>
                      </m:r>
                    </m:oMath>
                  </m:oMathPara>
                </a14:m>
                <a:endParaRPr lang="en-GB" dirty="0"/>
              </a:p>
              <a:p>
                <a:pPr marL="1169988" indent="0">
                  <a:lnSpc>
                    <a:spcPct val="110000"/>
                  </a:lnSpc>
                  <a:spcBef>
                    <a:spcPts val="600"/>
                  </a:spcBef>
                  <a:buNone/>
                </a:pPr>
                <a14:m>
                  <m:oMathPara xmlns:m="http://schemas.openxmlformats.org/officeDocument/2006/math">
                    <m:oMathParaPr>
                      <m:jc m:val="left"/>
                    </m:oMathParaPr>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𝑚</m:t>
                          </m:r>
                        </m:e>
                      </m:acc>
                      <m:r>
                        <a:rPr lang="en-GB" i="1">
                          <a:latin typeface="Cambria Math" panose="02040503050406030204" pitchFamily="18" charset="0"/>
                        </a:rPr>
                        <m:t>=</m:t>
                      </m:r>
                      <m:r>
                        <a:rPr lang="en-GB" i="1">
                          <a:latin typeface="Cambria Math" panose="02040503050406030204" pitchFamily="18" charset="0"/>
                        </a:rPr>
                        <m:t>𝑚𝑎𝑠𝑠</m:t>
                      </m:r>
                      <m:r>
                        <a:rPr lang="en-GB" i="1">
                          <a:latin typeface="Cambria Math" panose="02040503050406030204" pitchFamily="18" charset="0"/>
                        </a:rPr>
                        <m:t> </m:t>
                      </m:r>
                      <m:r>
                        <a:rPr lang="en-GB" i="1">
                          <a:latin typeface="Cambria Math" panose="02040503050406030204" pitchFamily="18" charset="0"/>
                        </a:rPr>
                        <m:t>𝑟𝑎𝑡𝑒</m:t>
                      </m:r>
                    </m:oMath>
                  </m:oMathPara>
                </a14:m>
                <a:endParaRPr lang="en-GB" dirty="0"/>
              </a:p>
              <a:p>
                <a:pPr marL="1169988" indent="0">
                  <a:lnSpc>
                    <a:spcPct val="110000"/>
                  </a:lnSpc>
                  <a:spcBef>
                    <a:spcPts val="600"/>
                  </a:spcBef>
                  <a:buNone/>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𝑡</m:t>
                      </m:r>
                      <m:r>
                        <a:rPr lang="en-GB" i="1">
                          <a:latin typeface="Cambria Math" panose="02040503050406030204" pitchFamily="18" charset="0"/>
                        </a:rPr>
                        <m:t>=</m:t>
                      </m:r>
                      <m:r>
                        <a:rPr lang="en-GB" i="1">
                          <a:latin typeface="Cambria Math" panose="02040503050406030204" pitchFamily="18" charset="0"/>
                        </a:rPr>
                        <m:t>𝑡𝑖𝑚𝑒</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10511"/>
                <a:ext cx="10515600" cy="5188699"/>
              </a:xfrm>
              <a:blipFill>
                <a:blip r:embed="rId2"/>
                <a:stretch>
                  <a:fillRect l="-1043" t="-176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5</a:t>
            </a:fld>
            <a:endParaRPr lang="en-GB" dirty="0"/>
          </a:p>
        </p:txBody>
      </p:sp>
    </p:spTree>
    <p:extLst>
      <p:ext uri="{BB962C8B-B14F-4D97-AF65-F5344CB8AC3E}">
        <p14:creationId xmlns:p14="http://schemas.microsoft.com/office/powerpoint/2010/main" val="204409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6686"/>
            <a:ext cx="10515600" cy="420914"/>
          </a:xfrm>
        </p:spPr>
        <p:txBody>
          <a:bodyPr>
            <a:normAutofit fontScale="90000"/>
          </a:bodyPr>
          <a:lstStyle/>
          <a:p>
            <a:r>
              <a:rPr lang="en-GB" dirty="0"/>
              <a:t>UNIT </a:t>
            </a:r>
            <a:r>
              <a:rPr lang="en-GB" dirty="0" smtClean="0"/>
              <a:t>4:</a:t>
            </a:r>
            <a:r>
              <a:rPr lang="en-GB" dirty="0"/>
              <a:t>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13234"/>
                <a:ext cx="10515600" cy="5151505"/>
              </a:xfrm>
            </p:spPr>
            <p:txBody>
              <a:bodyPr>
                <a:normAutofit fontScale="85000" lnSpcReduction="20000"/>
              </a:bodyPr>
              <a:lstStyle/>
              <a:p>
                <a:pPr marL="0" lvl="0" indent="0">
                  <a:lnSpc>
                    <a:spcPct val="120000"/>
                  </a:lnSpc>
                  <a:spcBef>
                    <a:spcPts val="0"/>
                  </a:spcBef>
                  <a:spcAft>
                    <a:spcPts val="600"/>
                  </a:spcAft>
                  <a:buNone/>
                </a:pPr>
                <a:r>
                  <a:rPr lang="en-US" b="1" i="1" dirty="0" smtClean="0">
                    <a:solidFill>
                      <a:prstClr val="black"/>
                    </a:solidFill>
                  </a:rPr>
                  <a:t>Energy transformation (between Mechanical </a:t>
                </a:r>
                <a:r>
                  <a:rPr lang="en-US" b="1" i="1" dirty="0">
                    <a:solidFill>
                      <a:prstClr val="black"/>
                    </a:solidFill>
                  </a:rPr>
                  <a:t>and Fluid Energy)</a:t>
                </a:r>
                <a:r>
                  <a:rPr lang="en-GB" b="1" i="1" dirty="0" smtClean="0">
                    <a:solidFill>
                      <a:prstClr val="black"/>
                    </a:solidFill>
                  </a:rPr>
                  <a:t>:</a:t>
                </a:r>
              </a:p>
              <a:p>
                <a:pPr marL="261938" lvl="0" indent="0">
                  <a:lnSpc>
                    <a:spcPct val="120000"/>
                  </a:lnSpc>
                  <a:spcBef>
                    <a:spcPts val="0"/>
                  </a:spcBef>
                  <a:spcAft>
                    <a:spcPts val="600"/>
                  </a:spcAft>
                  <a:buNone/>
                </a:pPr>
                <a:endParaRPr lang="en-GB" dirty="0" smtClean="0"/>
              </a:p>
              <a:p>
                <a:pPr marL="261938" lvl="0" indent="0">
                  <a:lnSpc>
                    <a:spcPct val="120000"/>
                  </a:lnSpc>
                  <a:spcBef>
                    <a:spcPts val="0"/>
                  </a:spcBef>
                  <a:spcAft>
                    <a:spcPts val="600"/>
                  </a:spcAft>
                  <a:buNone/>
                </a:pPr>
                <a:endParaRPr lang="en-GB" dirty="0"/>
              </a:p>
              <a:p>
                <a:pPr marL="261938" lvl="0" indent="0">
                  <a:lnSpc>
                    <a:spcPct val="120000"/>
                  </a:lnSpc>
                  <a:spcBef>
                    <a:spcPts val="0"/>
                  </a:spcBef>
                  <a:spcAft>
                    <a:spcPts val="600"/>
                  </a:spcAft>
                  <a:buNone/>
                </a:pPr>
                <a:endParaRPr lang="en-GB" dirty="0" smtClean="0"/>
              </a:p>
              <a:p>
                <a:pPr marL="261938" lvl="0" indent="0">
                  <a:lnSpc>
                    <a:spcPct val="120000"/>
                  </a:lnSpc>
                  <a:spcBef>
                    <a:spcPts val="0"/>
                  </a:spcBef>
                  <a:spcAft>
                    <a:spcPts val="600"/>
                  </a:spcAft>
                  <a:buNone/>
                </a:pPr>
                <a:r>
                  <a:rPr lang="en-GB" dirty="0" smtClean="0"/>
                  <a:t>Steady </a:t>
                </a:r>
                <a:r>
                  <a:rPr lang="en-GB" dirty="0"/>
                  <a:t>flow</a:t>
                </a:r>
                <a:r>
                  <a:rPr lang="en-GB" dirty="0" smtClean="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𝑉</m:t>
                        </m:r>
                      </m:num>
                      <m:den>
                        <m:r>
                          <a:rPr lang="en-GB" i="1">
                            <a:latin typeface="Cambria Math" panose="02040503050406030204" pitchFamily="18" charset="0"/>
                          </a:rPr>
                          <m:t>𝜕</m:t>
                        </m:r>
                        <m:r>
                          <a:rPr lang="en-GB" i="1">
                            <a:latin typeface="Cambria Math" panose="02040503050406030204" pitchFamily="18" charset="0"/>
                          </a:rPr>
                          <m:t>𝑡</m:t>
                        </m:r>
                      </m:den>
                    </m:f>
                    <m:r>
                      <a:rPr lang="en-GB" i="1">
                        <a:latin typeface="Cambria Math" panose="02040503050406030204" pitchFamily="18" charset="0"/>
                      </a:rPr>
                      <m:t>=0</m:t>
                    </m:r>
                  </m:oMath>
                </a14:m>
                <a:endParaRPr lang="en-GB" i="1" dirty="0" smtClean="0">
                  <a:solidFill>
                    <a:prstClr val="black"/>
                  </a:solidFill>
                  <a:latin typeface="Cambria Math" panose="02040503050406030204" pitchFamily="18" charset="0"/>
                </a:endParaRPr>
              </a:p>
              <a:p>
                <a:pPr marL="261938" lvl="0" indent="0" algn="just">
                  <a:lnSpc>
                    <a:spcPct val="120000"/>
                  </a:lnSpc>
                  <a:spcBef>
                    <a:spcPts val="0"/>
                  </a:spcBef>
                  <a:spcAft>
                    <a:spcPts val="600"/>
                  </a:spcAft>
                  <a:buNone/>
                </a:pPr>
                <a:r>
                  <a:rPr lang="en-GB" dirty="0" smtClean="0">
                    <a:solidFill>
                      <a:prstClr val="black"/>
                    </a:solidFill>
                  </a:rPr>
                  <a:t>Specific Energy flow:      </a:t>
                </a:r>
                <a14:m>
                  <m:oMath xmlns:m="http://schemas.openxmlformats.org/officeDocument/2006/math">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𝑓</m:t>
                        </m:r>
                        <m:r>
                          <a:rPr lang="en-US" i="1">
                            <a:solidFill>
                              <a:prstClr val="black"/>
                            </a:solidFill>
                            <a:latin typeface="Cambria Math" panose="02040503050406030204" pitchFamily="18" charset="0"/>
                          </a:rPr>
                          <m:t>1</m:t>
                        </m:r>
                      </m:sub>
                    </m:sSub>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𝑚</m:t>
                            </m:r>
                          </m:sub>
                        </m:sSub>
                      </m:num>
                      <m:den>
                        <m:acc>
                          <m:accPr>
                            <m:chr m:val="̇"/>
                            <m:ctrlPr>
                              <a:rPr lang="en-US" i="1">
                                <a:solidFill>
                                  <a:prstClr val="black"/>
                                </a:solidFill>
                                <a:latin typeface="Cambria Math" panose="02040503050406030204" pitchFamily="18" charset="0"/>
                              </a:rPr>
                            </m:ctrlPr>
                          </m:accPr>
                          <m:e>
                            <m:r>
                              <a:rPr lang="en-US" i="1">
                                <a:solidFill>
                                  <a:prstClr val="black"/>
                                </a:solidFill>
                                <a:latin typeface="Cambria Math" panose="02040503050406030204" pitchFamily="18" charset="0"/>
                              </a:rPr>
                              <m:t>𝑚</m:t>
                            </m:r>
                          </m:e>
                        </m:acc>
                      </m:den>
                    </m:f>
                    <m:r>
                      <a:rPr lang="en-US"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𝑓</m:t>
                        </m:r>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=0, </m:t>
                    </m:r>
                  </m:oMath>
                </a14:m>
                <a:endParaRPr lang="en-US" i="1" dirty="0" smtClean="0">
                  <a:solidFill>
                    <a:prstClr val="black"/>
                  </a:solidFill>
                  <a:latin typeface="Cambria Math" panose="02040503050406030204" pitchFamily="18" charset="0"/>
                </a:endParaRPr>
              </a:p>
              <a:p>
                <a:pPr marL="0" lvl="0" indent="0" algn="just">
                  <a:lnSpc>
                    <a:spcPct val="12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rPr>
                        <m:t> </m:t>
                      </m:r>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𝑚</m:t>
                          </m:r>
                        </m:sub>
                      </m:sSub>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𝑚</m:t>
                              </m:r>
                            </m:sub>
                          </m:sSub>
                        </m:num>
                        <m:den>
                          <m:acc>
                            <m:accPr>
                              <m:chr m:val="̇"/>
                              <m:ctrlPr>
                                <a:rPr lang="en-US" i="1">
                                  <a:solidFill>
                                    <a:prstClr val="black"/>
                                  </a:solidFill>
                                  <a:latin typeface="Cambria Math" panose="02040503050406030204" pitchFamily="18" charset="0"/>
                                </a:rPr>
                              </m:ctrlPr>
                            </m:accPr>
                            <m:e>
                              <m:r>
                                <a:rPr lang="en-US" i="1">
                                  <a:solidFill>
                                    <a:prstClr val="black"/>
                                  </a:solidFill>
                                  <a:latin typeface="Cambria Math" panose="02040503050406030204" pitchFamily="18" charset="0"/>
                                </a:rPr>
                                <m:t>𝑚</m:t>
                              </m:r>
                            </m:e>
                          </m:acc>
                        </m:den>
                      </m:f>
                      <m:r>
                        <a:rPr lang="en-US" i="1">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𝑓</m:t>
                          </m:r>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𝑓</m:t>
                          </m:r>
                          <m:r>
                            <a:rPr lang="en-US" i="1">
                              <a:solidFill>
                                <a:prstClr val="black"/>
                              </a:solidFill>
                              <a:latin typeface="Cambria Math" panose="02040503050406030204" pitchFamily="18" charset="0"/>
                            </a:rPr>
                            <m:t>1</m:t>
                          </m:r>
                        </m:sub>
                      </m:sSub>
                    </m:oMath>
                  </m:oMathPara>
                </a14:m>
                <a:endParaRPr lang="en-US" i="1" dirty="0">
                  <a:solidFill>
                    <a:prstClr val="black"/>
                  </a:solidFill>
                  <a:latin typeface="Cambria Math" panose="02040503050406030204" pitchFamily="18" charset="0"/>
                </a:endParaRPr>
              </a:p>
              <a:p>
                <a:pPr marL="711200" lvl="0" indent="0" algn="just">
                  <a:lnSpc>
                    <a:spcPct val="12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𝑚</m:t>
                          </m:r>
                        </m:sub>
                      </m:sSub>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𝑚</m:t>
                              </m:r>
                            </m:sub>
                          </m:sSub>
                        </m:num>
                        <m:den>
                          <m:acc>
                            <m:accPr>
                              <m:chr m:val="̇"/>
                              <m:ctrlPr>
                                <a:rPr lang="en-US" i="1">
                                  <a:solidFill>
                                    <a:prstClr val="black"/>
                                  </a:solidFill>
                                  <a:latin typeface="Cambria Math" panose="02040503050406030204" pitchFamily="18" charset="0"/>
                                </a:rPr>
                              </m:ctrlPr>
                            </m:accPr>
                            <m:e>
                              <m:r>
                                <a:rPr lang="en-US" i="1">
                                  <a:solidFill>
                                    <a:prstClr val="black"/>
                                  </a:solidFill>
                                  <a:latin typeface="Cambria Math" panose="02040503050406030204" pitchFamily="18" charset="0"/>
                                </a:rPr>
                                <m:t>𝑚</m:t>
                              </m:r>
                            </m:e>
                          </m:acc>
                        </m:den>
                      </m:f>
                      <m:r>
                        <a:rPr lang="en-US" b="0" i="1" smtClean="0">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h</m:t>
                              </m:r>
                            </m:e>
                            <m:sub>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h</m:t>
                              </m:r>
                            </m:e>
                            <m:sub>
                              <m:r>
                                <a:rPr lang="en-US" i="1">
                                  <a:solidFill>
                                    <a:prstClr val="black"/>
                                  </a:solidFill>
                                  <a:latin typeface="Cambria Math" panose="02040503050406030204" pitchFamily="18" charset="0"/>
                                </a:rPr>
                                <m:t>1</m:t>
                              </m:r>
                            </m:sub>
                          </m:sSub>
                        </m:e>
                      </m:d>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d>
                            <m:dPr>
                              <m:ctrlPr>
                                <a:rPr lang="en-US" i="1">
                                  <a:solidFill>
                                    <a:prstClr val="black"/>
                                  </a:solidFill>
                                  <a:latin typeface="Cambria Math" panose="02040503050406030204" pitchFamily="18" charset="0"/>
                                </a:rPr>
                              </m:ctrlPr>
                            </m:dPr>
                            <m:e>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𝑢</m:t>
                                  </m:r>
                                </m:e>
                                <m:sub>
                                  <m:r>
                                    <a:rPr lang="en-US" i="1">
                                      <a:solidFill>
                                        <a:prstClr val="black"/>
                                      </a:solidFill>
                                      <a:latin typeface="Cambria Math" panose="02040503050406030204" pitchFamily="18" charset="0"/>
                                    </a:rPr>
                                    <m:t>2</m:t>
                                  </m:r>
                                </m:sub>
                                <m:sup>
                                  <m:r>
                                    <a:rPr lang="en-US" i="1">
                                      <a:solidFill>
                                        <a:prstClr val="black"/>
                                      </a:solidFill>
                                      <a:latin typeface="Cambria Math" panose="02040503050406030204" pitchFamily="18" charset="0"/>
                                    </a:rPr>
                                    <m:t>2</m:t>
                                  </m:r>
                                </m:sup>
                              </m:sSubSup>
                              <m:r>
                                <a:rPr lang="en-US" i="1">
                                  <a:solidFill>
                                    <a:prstClr val="black"/>
                                  </a:solidFill>
                                  <a:latin typeface="Cambria Math" panose="02040503050406030204" pitchFamily="18" charset="0"/>
                                </a:rPr>
                                <m:t>−</m:t>
                              </m:r>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𝑢</m:t>
                                  </m:r>
                                </m:e>
                                <m:sub>
                                  <m:r>
                                    <a:rPr lang="en-US" i="1">
                                      <a:solidFill>
                                        <a:prstClr val="black"/>
                                      </a:solidFill>
                                      <a:latin typeface="Cambria Math" panose="02040503050406030204" pitchFamily="18" charset="0"/>
                                    </a:rPr>
                                    <m:t>1</m:t>
                                  </m:r>
                                </m:sub>
                                <m:sup>
                                  <m:r>
                                    <a:rPr lang="en-US" i="1">
                                      <a:solidFill>
                                        <a:prstClr val="black"/>
                                      </a:solidFill>
                                      <a:latin typeface="Cambria Math" panose="02040503050406030204" pitchFamily="18" charset="0"/>
                                    </a:rPr>
                                    <m:t>2</m:t>
                                  </m:r>
                                </m:sup>
                              </m:sSubSup>
                            </m:e>
                          </m:d>
                        </m:num>
                        <m:den>
                          <m:r>
                            <a:rPr lang="en-US" i="1">
                              <a:solidFill>
                                <a:prstClr val="black"/>
                              </a:solidFill>
                              <a:latin typeface="Cambria Math" panose="02040503050406030204" pitchFamily="18" charset="0"/>
                            </a:rPr>
                            <m:t>2</m:t>
                          </m:r>
                        </m:den>
                      </m:f>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𝑔</m:t>
                      </m:r>
                      <m:d>
                        <m:dPr>
                          <m:ctrlPr>
                            <a:rPr lang="en-US" i="1">
                              <a:solidFill>
                                <a:prstClr val="black"/>
                              </a:solidFill>
                              <a:latin typeface="Cambria Math" panose="02040503050406030204" pitchFamily="18" charset="0"/>
                            </a:rPr>
                          </m:ctrlPr>
                        </m:dPr>
                        <m:e>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𝑧</m:t>
                              </m:r>
                            </m:e>
                            <m:sub>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𝑧</m:t>
                              </m:r>
                            </m:e>
                            <m:sub>
                              <m:r>
                                <a:rPr lang="en-US" i="1">
                                  <a:solidFill>
                                    <a:prstClr val="black"/>
                                  </a:solidFill>
                                  <a:latin typeface="Cambria Math" panose="02040503050406030204" pitchFamily="18" charset="0"/>
                                </a:rPr>
                                <m:t>1</m:t>
                              </m:r>
                            </m:sub>
                          </m:sSub>
                        </m:e>
                      </m:d>
                    </m:oMath>
                  </m:oMathPara>
                </a14:m>
                <a:endParaRPr lang="en-GB" dirty="0">
                  <a:solidFill>
                    <a:prstClr val="black"/>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13234"/>
                <a:ext cx="10515600" cy="5151505"/>
              </a:xfrm>
              <a:blipFill>
                <a:blip r:embed="rId2"/>
                <a:stretch>
                  <a:fillRect l="-928" t="-947"/>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6</a:t>
            </a:fld>
            <a:endParaRPr lang="en-GB" dirty="0"/>
          </a:p>
        </p:txBody>
      </p:sp>
      <p:grpSp>
        <p:nvGrpSpPr>
          <p:cNvPr id="16" name="Group 15"/>
          <p:cNvGrpSpPr/>
          <p:nvPr/>
        </p:nvGrpSpPr>
        <p:grpSpPr>
          <a:xfrm>
            <a:off x="6384864" y="2512531"/>
            <a:ext cx="4098600" cy="1053629"/>
            <a:chOff x="7746304" y="4432771"/>
            <a:chExt cx="4098600" cy="1053629"/>
          </a:xfrm>
        </p:grpSpPr>
        <p:sp>
          <p:nvSpPr>
            <p:cNvPr id="6" name="Rectangle 5"/>
            <p:cNvSpPr/>
            <p:nvPr/>
          </p:nvSpPr>
          <p:spPr>
            <a:xfrm>
              <a:off x="9125712" y="4434840"/>
              <a:ext cx="1472184" cy="59436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9125712" y="4547354"/>
              <a:ext cx="1522533" cy="369332"/>
            </a:xfrm>
            <a:prstGeom prst="rect">
              <a:avLst/>
            </a:prstGeom>
            <a:noFill/>
          </p:spPr>
          <p:txBody>
            <a:bodyPr wrap="none" rtlCol="0">
              <a:spAutoFit/>
            </a:bodyPr>
            <a:lstStyle/>
            <a:p>
              <a:r>
                <a:rPr lang="en-US" dirty="0" smtClean="0"/>
                <a:t>Pump / Motor</a:t>
              </a:r>
              <a:endParaRPr lang="en-GB" dirty="0"/>
            </a:p>
          </p:txBody>
        </p:sp>
        <p:cxnSp>
          <p:nvCxnSpPr>
            <p:cNvPr id="9" name="Straight Arrow Connector 8"/>
            <p:cNvCxnSpPr/>
            <p:nvPr/>
          </p:nvCxnSpPr>
          <p:spPr>
            <a:xfrm flipV="1">
              <a:off x="9856498" y="5039360"/>
              <a:ext cx="0" cy="44704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9886978" y="5209401"/>
                  <a:ext cx="320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sub>
                        </m:sSub>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9886978" y="5209401"/>
                  <a:ext cx="320024" cy="276999"/>
                </a:xfrm>
                <a:prstGeom prst="rect">
                  <a:avLst/>
                </a:prstGeom>
                <a:blipFill>
                  <a:blip r:embed="rId3"/>
                  <a:stretch>
                    <a:fillRect l="-19231" r="-3846" b="-11111"/>
                  </a:stretch>
                </a:blipFill>
              </p:spPr>
              <p:txBody>
                <a:bodyPr/>
                <a:lstStyle/>
                <a:p>
                  <a:r>
                    <a:rPr lang="en-GB">
                      <a:noFill/>
                    </a:rPr>
                    <a:t> </a:t>
                  </a:r>
                </a:p>
              </p:txBody>
            </p:sp>
          </mc:Fallback>
        </mc:AlternateContent>
        <p:cxnSp>
          <p:nvCxnSpPr>
            <p:cNvPr id="12" name="Straight Arrow Connector 11"/>
            <p:cNvCxnSpPr/>
            <p:nvPr/>
          </p:nvCxnSpPr>
          <p:spPr>
            <a:xfrm>
              <a:off x="8191788" y="4764286"/>
              <a:ext cx="933924"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0599708" y="4764286"/>
              <a:ext cx="933924"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7746304" y="4434840"/>
                  <a:ext cx="1247008"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𝑓</m:t>
                            </m:r>
                            <m:r>
                              <a:rPr lang="en-US" b="0" i="1" smtClean="0">
                                <a:latin typeface="Cambria Math" panose="02040503050406030204" pitchFamily="18" charset="0"/>
                              </a:rPr>
                              <m:t>1</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𝑚</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𝑓</m:t>
                            </m:r>
                            <m:r>
                              <a:rPr lang="en-US" b="0" i="1" smtClean="0">
                                <a:latin typeface="Cambria Math" panose="02040503050406030204" pitchFamily="18" charset="0"/>
                              </a:rPr>
                              <m:t>1</m:t>
                            </m:r>
                          </m:sub>
                        </m:sSub>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7746304" y="4434840"/>
                  <a:ext cx="1247008" cy="299249"/>
                </a:xfrm>
                <a:prstGeom prst="rect">
                  <a:avLst/>
                </a:prstGeom>
                <a:blipFill>
                  <a:blip r:embed="rId4"/>
                  <a:stretch>
                    <a:fillRect l="-3902" t="-2041" r="-3415" b="-2653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0597896" y="4432771"/>
                  <a:ext cx="1247008"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𝑓</m:t>
                            </m:r>
                            <m:r>
                              <a:rPr lang="en-US" b="0" i="1" smtClean="0">
                                <a:latin typeface="Cambria Math" panose="02040503050406030204" pitchFamily="18" charset="0"/>
                              </a:rPr>
                              <m:t>2</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𝑚</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𝑓</m:t>
                            </m:r>
                            <m:r>
                              <a:rPr lang="en-US" b="0" i="1" smtClean="0">
                                <a:latin typeface="Cambria Math" panose="02040503050406030204" pitchFamily="18" charset="0"/>
                              </a:rPr>
                              <m:t>2</m:t>
                            </m:r>
                          </m:sub>
                        </m:sSub>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10597896" y="4432771"/>
                  <a:ext cx="1247008" cy="299249"/>
                </a:xfrm>
                <a:prstGeom prst="rect">
                  <a:avLst/>
                </a:prstGeom>
                <a:blipFill>
                  <a:blip r:embed="rId5"/>
                  <a:stretch>
                    <a:fillRect l="-3902" r="-1951" b="-28571"/>
                  </a:stretch>
                </a:blipFill>
              </p:spPr>
              <p:txBody>
                <a:bodyPr/>
                <a:lstStyle/>
                <a:p>
                  <a:r>
                    <a:rPr lang="en-GB">
                      <a:noFill/>
                    </a:rPr>
                    <a:t> </a:t>
                  </a:r>
                </a:p>
              </p:txBody>
            </p:sp>
          </mc:Fallback>
        </mc:AlternateContent>
      </p:grpSp>
    </p:spTree>
    <p:extLst>
      <p:ext uri="{BB962C8B-B14F-4D97-AF65-F5344CB8AC3E}">
        <p14:creationId xmlns:p14="http://schemas.microsoft.com/office/powerpoint/2010/main" val="422098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745" y="761999"/>
            <a:ext cx="10515600" cy="512324"/>
          </a:xfrm>
        </p:spPr>
        <p:txBody>
          <a:bodyPr>
            <a:normAutofit fontScale="90000"/>
          </a:bodyPr>
          <a:lstStyle/>
          <a:p>
            <a:r>
              <a:rPr lang="en-GB" dirty="0"/>
              <a:t>UNIT </a:t>
            </a:r>
            <a:r>
              <a:rPr lang="en-GB" dirty="0" smtClean="0"/>
              <a:t>4:</a:t>
            </a:r>
            <a:r>
              <a:rPr lang="en-GB" dirty="0"/>
              <a:t>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7431" y="1579562"/>
                <a:ext cx="11380569" cy="4616957"/>
              </a:xfrm>
            </p:spPr>
            <p:txBody>
              <a:bodyPr>
                <a:normAutofit/>
              </a:bodyPr>
              <a:lstStyle/>
              <a:p>
                <a:pPr marL="0" indent="0">
                  <a:lnSpc>
                    <a:spcPct val="130000"/>
                  </a:lnSpc>
                  <a:spcBef>
                    <a:spcPts val="600"/>
                  </a:spcBef>
                  <a:spcAft>
                    <a:spcPts val="1200"/>
                  </a:spcAft>
                  <a:buNone/>
                </a:pPr>
                <a14:m>
                  <m:oMathPara xmlns:m="http://schemas.openxmlformats.org/officeDocument/2006/math">
                    <m:oMathParaPr>
                      <m:jc m:val="centerGroup"/>
                    </m:oMathParaPr>
                    <m:oMath xmlns:m="http://schemas.openxmlformats.org/officeDocument/2006/math">
                      <m:r>
                        <a:rPr lang="en-GB" i="1" smtClean="0">
                          <a:solidFill>
                            <a:prstClr val="black"/>
                          </a:solidFill>
                          <a:latin typeface="Cambria Math" panose="02040503050406030204" pitchFamily="18" charset="0"/>
                          <a:ea typeface="Cambria Math" panose="02040503050406030204" pitchFamily="18" charset="0"/>
                        </a:rPr>
                        <m:t>⇒</m:t>
                      </m:r>
                      <m:sSub>
                        <m:sSubPr>
                          <m:ctrlPr>
                            <a:rPr lang="en-GB"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𝑚</m:t>
                          </m:r>
                        </m:sub>
                      </m:sSub>
                      <m:r>
                        <a:rPr lang="en-US" i="1">
                          <a:solidFill>
                            <a:prstClr val="black"/>
                          </a:solidFill>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e>
                          </m:d>
                        </m:e>
                        <m:sub>
                          <m:r>
                            <a:rPr lang="en-US" i="1">
                              <a:latin typeface="Cambria Math" panose="02040503050406030204" pitchFamily="18" charset="0"/>
                              <a:ea typeface="Cambria Math" panose="02040503050406030204" pitchFamily="18" charset="0"/>
                            </a:rPr>
                            <m:t>12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𝑢</m:t>
                                  </m:r>
                                </m:e>
                                <m:sup>
                                  <m:r>
                                    <a:rPr lang="en-US" i="1">
                                      <a:latin typeface="Cambria Math" panose="02040503050406030204" pitchFamily="18" charset="0"/>
                                      <a:ea typeface="Cambria Math" panose="02040503050406030204" pitchFamily="18" charset="0"/>
                                    </a:rPr>
                                    <m:t>2</m:t>
                                  </m:r>
                                </m:sup>
                              </m:sSup>
                            </m:e>
                          </m:d>
                        </m:e>
                        <m:sub>
                          <m:r>
                            <a:rPr lang="en-US" i="1">
                              <a:latin typeface="Cambria Math" panose="02040503050406030204" pitchFamily="18" charset="0"/>
                              <a:ea typeface="Cambria Math" panose="02040503050406030204" pitchFamily="18" charset="0"/>
                            </a:rPr>
                            <m:t>12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12</m:t>
                          </m:r>
                        </m:sub>
                      </m:sSub>
                    </m:oMath>
                  </m:oMathPara>
                </a14:m>
                <a:endParaRPr lang="en-GB" i="1" dirty="0" smtClean="0">
                  <a:latin typeface="Cambria Math" panose="02040503050406030204" pitchFamily="18" charset="0"/>
                  <a:ea typeface="Cambria Math" panose="02040503050406030204" pitchFamily="18" charset="0"/>
                </a:endParaRPr>
              </a:p>
              <a:p>
                <a:pPr marL="0" lvl="0" indent="0">
                  <a:lnSpc>
                    <a:spcPct val="130000"/>
                  </a:lnSpc>
                  <a:spcBef>
                    <a:spcPts val="600"/>
                  </a:spcBef>
                  <a:spcAft>
                    <a:spcPts val="1200"/>
                  </a:spcAft>
                  <a:buNone/>
                </a:pPr>
                <a:r>
                  <a:rPr lang="en-US" sz="2400" b="1" i="1" dirty="0" smtClean="0">
                    <a:solidFill>
                      <a:prstClr val="black"/>
                    </a:solidFill>
                  </a:rPr>
                  <a:t>Under Hydrostatic fluid Transmission:</a:t>
                </a:r>
                <a:endParaRPr lang="en-US" sz="2400" b="1" i="1" dirty="0">
                  <a:solidFill>
                    <a:prstClr val="black"/>
                  </a:solidFill>
                </a:endParaRPr>
              </a:p>
              <a:p>
                <a:pPr marL="457200" lvl="0" indent="0">
                  <a:lnSpc>
                    <a:spcPct val="130000"/>
                  </a:lnSpc>
                  <a:spcBef>
                    <a:spcPts val="600"/>
                  </a:spcBef>
                  <a:spcAft>
                    <a:spcPts val="1200"/>
                  </a:spcAft>
                  <a:buNone/>
                </a:pPr>
                <a14:m>
                  <m:oMathPara xmlns:m="http://schemas.openxmlformats.org/officeDocument/2006/math">
                    <m:oMathParaPr>
                      <m:jc m:val="left"/>
                    </m:oMathParaPr>
                    <m:oMath xmlns:m="http://schemas.openxmlformats.org/officeDocument/2006/math">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𝑢</m:t>
                          </m:r>
                        </m:e>
                        <m:sub>
                          <m:r>
                            <a:rPr lang="en-US" i="1">
                              <a:solidFill>
                                <a:prstClr val="black"/>
                              </a:solidFill>
                              <a:latin typeface="Cambria Math" panose="02040503050406030204" pitchFamily="18" charset="0"/>
                            </a:rPr>
                            <m:t>2</m:t>
                          </m:r>
                        </m:sub>
                      </m:sSub>
                      <m:r>
                        <a:rPr lang="en-US" b="0" i="1" smtClean="0">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𝑢</m:t>
                          </m:r>
                        </m:e>
                        <m:sub>
                          <m:r>
                            <a:rPr lang="en-US" i="1">
                              <a:solidFill>
                                <a:prstClr val="black"/>
                              </a:solidFill>
                              <a:latin typeface="Cambria Math" panose="02040503050406030204" pitchFamily="18" charset="0"/>
                            </a:rPr>
                            <m:t>1</m:t>
                          </m:r>
                        </m:sub>
                      </m:sSub>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𝑧</m:t>
                          </m:r>
                        </m:e>
                        <m:sub>
                          <m:r>
                            <a:rPr lang="en-US" i="1">
                              <a:solidFill>
                                <a:prstClr val="black"/>
                              </a:solidFill>
                              <a:latin typeface="Cambria Math" panose="02040503050406030204" pitchFamily="18" charset="0"/>
                            </a:rPr>
                            <m:t>2</m:t>
                          </m:r>
                        </m:sub>
                      </m:sSub>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𝑎𝑛𝑑</m:t>
                      </m:r>
                      <m:r>
                        <a:rPr lang="en-US" b="0" i="1" smtClean="0">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𝑧</m:t>
                          </m:r>
                        </m:e>
                        <m:sub>
                          <m:r>
                            <a:rPr lang="en-US" i="1">
                              <a:solidFill>
                                <a:prstClr val="black"/>
                              </a:solidFill>
                              <a:latin typeface="Cambria Math" panose="02040503050406030204" pitchFamily="18" charset="0"/>
                            </a:rPr>
                            <m:t>1</m:t>
                          </m:r>
                        </m:sub>
                      </m:sSub>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𝑎𝑟𝑒</m:t>
                      </m:r>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𝑛𝑒𝑔𝑙𝑖𝑔𝑖𝑏𝑙𝑒</m:t>
                      </m:r>
                    </m:oMath>
                  </m:oMathPara>
                </a14:m>
                <a:endParaRPr lang="en-GB" i="1" dirty="0" smtClean="0">
                  <a:latin typeface="Cambria Math" panose="02040503050406030204" pitchFamily="18" charset="0"/>
                  <a:ea typeface="Cambria Math" panose="02040503050406030204" pitchFamily="18" charset="0"/>
                </a:endParaRPr>
              </a:p>
              <a:p>
                <a:pPr marL="0" indent="0">
                  <a:lnSpc>
                    <a:spcPct val="130000"/>
                  </a:lnSpc>
                  <a:spcBef>
                    <a:spcPts val="600"/>
                  </a:spcBef>
                  <a:spcAft>
                    <a:spcPts val="1200"/>
                  </a:spcAft>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sSub>
                        <m:sSubPr>
                          <m:ctrlPr>
                            <a:rPr lang="en-GB"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12</m:t>
                          </m:r>
                        </m:sub>
                      </m:sSub>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12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𝑠</m:t>
                                  </m:r>
                                </m:sub>
                              </m:sSub>
                            </m:e>
                          </m:d>
                        </m:e>
                        <m:sub>
                          <m:r>
                            <a:rPr lang="en-US" i="1">
                              <a:latin typeface="Cambria Math" panose="02040503050406030204" pitchFamily="18" charset="0"/>
                              <a:ea typeface="Cambria Math" panose="02040503050406030204" pitchFamily="18" charset="0"/>
                            </a:rPr>
                            <m:t>12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12</m:t>
                              </m:r>
                            </m:sub>
                          </m:sSub>
                        </m:num>
                        <m:den>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𝑚</m:t>
                              </m:r>
                            </m:e>
                          </m:acc>
                        </m:den>
                      </m:f>
                      <m:r>
                        <a:rPr lang="en-US"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𝑖𝑠𝑒𝑛𝑡𝑟𝑜𝑝𝑒</m:t>
                      </m:r>
                    </m:oMath>
                  </m:oMathPara>
                </a14:m>
                <a:endParaRPr lang="en-US" i="1" dirty="0" smtClean="0">
                  <a:latin typeface="Cambria Math" panose="02040503050406030204" pitchFamily="18" charset="0"/>
                  <a:ea typeface="Cambria Math" panose="02040503050406030204" pitchFamily="18" charset="0"/>
                </a:endParaRPr>
              </a:p>
              <a:p>
                <a:pPr marL="0" indent="0">
                  <a:lnSpc>
                    <a:spcPct val="130000"/>
                  </a:lnSpc>
                  <a:spcBef>
                    <a:spcPts val="600"/>
                  </a:spcBef>
                  <a:spcAft>
                    <a:spcPts val="1200"/>
                  </a:spcAft>
                  <a:buNone/>
                </a:pPr>
                <a14:m>
                  <m:oMath xmlns:m="http://schemas.openxmlformats.org/officeDocument/2006/math">
                    <m:r>
                      <a:rPr lang="en-GB" i="1" smtClean="0">
                        <a:solidFill>
                          <a:prstClr val="black"/>
                        </a:solidFill>
                        <a:latin typeface="Cambria Math" panose="02040503050406030204" pitchFamily="18" charset="0"/>
                        <a:ea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𝑚</m:t>
                        </m:r>
                      </m:sub>
                    </m:sSub>
                    <m:r>
                      <a:rPr lang="en-US" i="1">
                        <a:solidFill>
                          <a:prstClr val="black"/>
                        </a:solidFill>
                        <a:latin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𝑟𝑒𝑣𝑒𝑟𝑠𝑖𝑏𝑙𝑒</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𝑠𝑝𝑒𝑐𝑖𝑓𝑖𝑐</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𝑤𝑜𝑟𝑘</m:t>
                    </m:r>
                  </m:oMath>
                </a14:m>
                <a:r>
                  <a:rPr lang="en-US" i="1" dirty="0" smtClean="0">
                    <a:latin typeface="Cambria Math" panose="02040503050406030204" pitchFamily="18" charset="0"/>
                    <a:ea typeface="Cambria Math" panose="02040503050406030204" pitchFamily="18" charset="0"/>
                  </a:rPr>
                  <a:t> + </a:t>
                </a:r>
                <a14:m>
                  <m:oMath xmlns:m="http://schemas.openxmlformats.org/officeDocument/2006/math">
                    <m:r>
                      <a:rPr lang="en-US" i="1">
                        <a:latin typeface="Cambria Math" panose="02040503050406030204" pitchFamily="18" charset="0"/>
                        <a:ea typeface="Cambria Math" panose="02040503050406030204" pitchFamily="18" charset="0"/>
                      </a:rPr>
                      <m:t>𝑖𝑟𝑟𝑒𝑣𝑒𝑟𝑠𝑖𝑏𝑙𝑒</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𝑠𝑝𝑒𝑐𝑖𝑓𝑖𝑐</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𝑤𝑜𝑟𝑘</m:t>
                    </m:r>
                  </m:oMath>
                </a14:m>
                <a:endParaRPr lang="en-US" i="1" dirty="0">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7431" y="1579562"/>
                <a:ext cx="11380569" cy="4616957"/>
              </a:xfrm>
              <a:blipFill>
                <a:blip r:embed="rId2"/>
                <a:stretch>
                  <a:fillRect l="-803" b="-264"/>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7</a:t>
            </a:fld>
            <a:endParaRPr lang="en-GB" dirty="0"/>
          </a:p>
        </p:txBody>
      </p:sp>
    </p:spTree>
    <p:extLst>
      <p:ext uri="{BB962C8B-B14F-4D97-AF65-F5344CB8AC3E}">
        <p14:creationId xmlns:p14="http://schemas.microsoft.com/office/powerpoint/2010/main" val="47703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9248"/>
            <a:ext cx="10515600" cy="430923"/>
          </a:xfrm>
        </p:spPr>
        <p:txBody>
          <a:bodyPr>
            <a:normAutofit fontScale="90000"/>
          </a:bodyPr>
          <a:lstStyle/>
          <a:p>
            <a:r>
              <a:rPr lang="en-GB" dirty="0"/>
              <a:t>UNIT </a:t>
            </a:r>
            <a:r>
              <a:rPr lang="en-GB" dirty="0" smtClean="0"/>
              <a:t>4:</a:t>
            </a:r>
            <a:r>
              <a:rPr lang="en-GB" dirty="0"/>
              <a:t>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78857"/>
                <a:ext cx="10972800" cy="4882682"/>
              </a:xfrm>
            </p:spPr>
            <p:txBody>
              <a:bodyPr>
                <a:normAutofit/>
              </a:bodyPr>
              <a:lstStyle/>
              <a:p>
                <a:pPr marL="363538" lvl="0" indent="0">
                  <a:lnSpc>
                    <a:spcPct val="130000"/>
                  </a:lnSpc>
                  <a:spcBef>
                    <a:spcPts val="600"/>
                  </a:spcBef>
                  <a:buNone/>
                </a:pPr>
                <a14:m>
                  <m:oMathPara xmlns:m="http://schemas.openxmlformats.org/officeDocument/2006/math">
                    <m:oMathParaPr>
                      <m:jc m:val="left"/>
                    </m:oMathParaPr>
                    <m:oMath xmlns:m="http://schemas.openxmlformats.org/officeDocument/2006/math">
                      <m:r>
                        <a:rPr lang="en-GB" i="1">
                          <a:solidFill>
                            <a:prstClr val="black"/>
                          </a:solidFill>
                          <a:latin typeface="Cambria Math" panose="02040503050406030204" pitchFamily="18" charset="0"/>
                        </a:rPr>
                        <m:t>⇒ </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𝑌</m:t>
                          </m:r>
                        </m:e>
                        <m:sub>
                          <m:r>
                            <a:rPr lang="en-GB" i="1">
                              <a:solidFill>
                                <a:prstClr val="black"/>
                              </a:solidFill>
                              <a:latin typeface="Cambria Math" panose="02040503050406030204" pitchFamily="18" charset="0"/>
                            </a:rPr>
                            <m:t>𝑚</m:t>
                          </m:r>
                        </m:sub>
                      </m:sSub>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𝑃</m:t>
                              </m:r>
                            </m:e>
                            <m:sub>
                              <m:r>
                                <a:rPr lang="en-GB" i="1">
                                  <a:solidFill>
                                    <a:prstClr val="black"/>
                                  </a:solidFill>
                                  <a:latin typeface="Cambria Math" panose="02040503050406030204" pitchFamily="18" charset="0"/>
                                </a:rPr>
                                <m:t>𝑚</m:t>
                              </m:r>
                            </m:sub>
                          </m:sSub>
                        </m:num>
                        <m:den>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den>
                      </m:f>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2</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1</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𝑠</m:t>
                                  </m:r>
                                </m:sub>
                              </m:sSub>
                            </m:e>
                          </m:d>
                        </m:e>
                        <m:sub>
                          <m:r>
                            <a:rPr lang="en-GB" i="1">
                              <a:solidFill>
                                <a:prstClr val="black"/>
                              </a:solidFill>
                              <a:latin typeface="Cambria Math" panose="02040503050406030204" pitchFamily="18" charset="0"/>
                            </a:rPr>
                            <m:t>12</m:t>
                          </m:r>
                        </m:sub>
                      </m:sSub>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𝑃</m:t>
                                      </m:r>
                                    </m:e>
                                    <m:sub>
                                      <m:r>
                                        <a:rPr lang="en-GB" i="1">
                                          <a:solidFill>
                                            <a:prstClr val="black"/>
                                          </a:solidFill>
                                          <a:latin typeface="Cambria Math" panose="02040503050406030204" pitchFamily="18" charset="0"/>
                                        </a:rPr>
                                        <m:t>𝑙</m:t>
                                      </m:r>
                                    </m:sub>
                                  </m:sSub>
                                </m:e>
                              </m:d>
                            </m:e>
                            <m:sub>
                              <m:r>
                                <a:rPr lang="en-GB" i="1">
                                  <a:solidFill>
                                    <a:prstClr val="black"/>
                                  </a:solidFill>
                                  <a:latin typeface="Cambria Math" panose="02040503050406030204" pitchFamily="18" charset="0"/>
                                </a:rPr>
                                <m:t>12</m:t>
                              </m:r>
                            </m:sub>
                          </m:sSub>
                        </m:num>
                        <m:den>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den>
                      </m:f>
                    </m:oMath>
                  </m:oMathPara>
                </a14:m>
                <a:endParaRPr lang="en-GB" dirty="0">
                  <a:solidFill>
                    <a:prstClr val="black"/>
                  </a:solidFill>
                </a:endParaRPr>
              </a:p>
              <a:p>
                <a:pPr marL="363538" lvl="0" indent="0">
                  <a:lnSpc>
                    <a:spcPct val="130000"/>
                  </a:lnSpc>
                  <a:spcBef>
                    <a:spcPts val="600"/>
                  </a:spcBef>
                  <a:buNone/>
                </a:pPr>
                <a14:m>
                  <m:oMathPara xmlns:m="http://schemas.openxmlformats.org/officeDocument/2006/math">
                    <m:oMathParaPr>
                      <m:jc m:val="left"/>
                    </m:oMathParaPr>
                    <m:oMath xmlns:m="http://schemas.openxmlformats.org/officeDocument/2006/math">
                      <m:r>
                        <a:rPr lang="en-US" b="0" i="1" smtClean="0">
                          <a:solidFill>
                            <a:prstClr val="black"/>
                          </a:solidFill>
                          <a:latin typeface="Cambria Math" panose="02040503050406030204" pitchFamily="18" charset="0"/>
                          <a:ea typeface="Cambria Math" panose="02040503050406030204" pitchFamily="18" charset="0"/>
                        </a:rPr>
                        <m:t>⇒</m:t>
                      </m:r>
                      <m:r>
                        <a:rPr lang="en-US" b="0" i="1" smtClean="0">
                          <a:solidFill>
                            <a:prstClr val="black"/>
                          </a:solidFill>
                          <a:latin typeface="Cambria Math" panose="02040503050406030204" pitchFamily="18" charset="0"/>
                          <a:ea typeface="Cambria Math" panose="02040503050406030204" pitchFamily="18" charset="0"/>
                        </a:rPr>
                        <m:t>𝑚𝑒𝑐h</m:t>
                      </m:r>
                      <m:r>
                        <a:rPr lang="en-US" b="0" i="1" smtClean="0">
                          <a:solidFill>
                            <a:prstClr val="black"/>
                          </a:solidFill>
                          <a:latin typeface="Cambria Math" panose="02040503050406030204" pitchFamily="18" charset="0"/>
                          <a:ea typeface="Cambria Math" panose="02040503050406030204" pitchFamily="18" charset="0"/>
                        </a:rPr>
                        <m:t>.  </m:t>
                      </m:r>
                      <m:r>
                        <a:rPr lang="en-US" b="0" i="1" smtClean="0">
                          <a:solidFill>
                            <a:prstClr val="black"/>
                          </a:solidFill>
                          <a:latin typeface="Cambria Math" panose="02040503050406030204" pitchFamily="18" charset="0"/>
                          <a:ea typeface="Cambria Math" panose="02040503050406030204" pitchFamily="18" charset="0"/>
                        </a:rPr>
                        <m:t>𝑒𝑛𝑒𝑟𝑔𝑦</m:t>
                      </m:r>
                      <m:r>
                        <a:rPr lang="en-US" b="0" i="1" smtClean="0">
                          <a:solidFill>
                            <a:prstClr val="black"/>
                          </a:solidFill>
                          <a:latin typeface="Cambria Math" panose="02040503050406030204" pitchFamily="18" charset="0"/>
                          <a:ea typeface="Cambria Math" panose="02040503050406030204" pitchFamily="18" charset="0"/>
                        </a:rPr>
                        <m:t>=</m:t>
                      </m:r>
                      <m:r>
                        <a:rPr lang="en-US" b="0" i="1" smtClean="0">
                          <a:solidFill>
                            <a:prstClr val="black"/>
                          </a:solidFill>
                          <a:latin typeface="Cambria Math" panose="02040503050406030204" pitchFamily="18" charset="0"/>
                          <a:ea typeface="Cambria Math" panose="02040503050406030204" pitchFamily="18" charset="0"/>
                        </a:rPr>
                        <m:t>𝑓𝑙𝑢𝑖𝑑</m:t>
                      </m:r>
                      <m:r>
                        <a:rPr lang="en-US" b="0" i="1" smtClean="0">
                          <a:solidFill>
                            <a:prstClr val="black"/>
                          </a:solidFill>
                          <a:latin typeface="Cambria Math" panose="02040503050406030204" pitchFamily="18" charset="0"/>
                          <a:ea typeface="Cambria Math" panose="02040503050406030204" pitchFamily="18" charset="0"/>
                        </a:rPr>
                        <m:t> </m:t>
                      </m:r>
                      <m:r>
                        <a:rPr lang="en-US" b="0" i="1" smtClean="0">
                          <a:solidFill>
                            <a:prstClr val="black"/>
                          </a:solidFill>
                          <a:latin typeface="Cambria Math" panose="02040503050406030204" pitchFamily="18" charset="0"/>
                          <a:ea typeface="Cambria Math" panose="02040503050406030204" pitchFamily="18" charset="0"/>
                        </a:rPr>
                        <m:t>𝑒𝑛𝑒𝑟𝑔𝑦</m:t>
                      </m:r>
                      <m:r>
                        <a:rPr lang="en-US" b="0" i="1" smtClean="0">
                          <a:solidFill>
                            <a:prstClr val="black"/>
                          </a:solidFill>
                          <a:latin typeface="Cambria Math" panose="02040503050406030204" pitchFamily="18" charset="0"/>
                          <a:ea typeface="Cambria Math" panose="02040503050406030204" pitchFamily="18" charset="0"/>
                        </a:rPr>
                        <m:t>+</m:t>
                      </m:r>
                      <m:r>
                        <a:rPr lang="en-US" b="0" i="1" smtClean="0">
                          <a:solidFill>
                            <a:prstClr val="black"/>
                          </a:solidFill>
                          <a:latin typeface="Cambria Math" panose="02040503050406030204" pitchFamily="18" charset="0"/>
                          <a:ea typeface="Cambria Math" panose="02040503050406030204" pitchFamily="18" charset="0"/>
                        </a:rPr>
                        <m:t>𝑙𝑜𝑠𝑠</m:t>
                      </m:r>
                      <m:r>
                        <a:rPr lang="en-US" b="0" i="1" smtClean="0">
                          <a:solidFill>
                            <a:prstClr val="black"/>
                          </a:solidFill>
                          <a:latin typeface="Cambria Math" panose="02040503050406030204" pitchFamily="18" charset="0"/>
                        </a:rPr>
                        <m:t> </m:t>
                      </m:r>
                    </m:oMath>
                  </m:oMathPara>
                </a14:m>
                <a:endParaRPr lang="en-US" b="0" i="1" dirty="0" smtClean="0">
                  <a:solidFill>
                    <a:prstClr val="black"/>
                  </a:solidFill>
                  <a:latin typeface="Cambria Math" panose="02040503050406030204" pitchFamily="18" charset="0"/>
                </a:endParaRPr>
              </a:p>
              <a:p>
                <a:pPr marL="363538" lvl="0" indent="0">
                  <a:lnSpc>
                    <a:spcPct val="130000"/>
                  </a:lnSpc>
                  <a:spcBef>
                    <a:spcPts val="600"/>
                  </a:spcBef>
                  <a:buNone/>
                </a:pPr>
                <a14:m>
                  <m:oMathPara xmlns:m="http://schemas.openxmlformats.org/officeDocument/2006/math">
                    <m:oMathParaPr>
                      <m:jc m:val="left"/>
                    </m:oMathParaPr>
                    <m:oMath xmlns:m="http://schemas.openxmlformats.org/officeDocument/2006/math">
                      <m:r>
                        <a:rPr lang="en-US" i="1">
                          <a:solidFill>
                            <a:prstClr val="black"/>
                          </a:solidFill>
                          <a:latin typeface="Cambria Math" panose="02040503050406030204" pitchFamily="18" charset="0"/>
                        </a:rPr>
                        <m:t>𝐸𝑓𝑓𝑖𝑐𝑖𝑒𝑛𝑐𝑦</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ea typeface="Cambria Math" panose="02040503050406030204" pitchFamily="18" charset="0"/>
                        </a:rPr>
                        <m:t>𝜂</m:t>
                      </m:r>
                      <m:r>
                        <a:rPr lang="en-US" i="1">
                          <a:solidFill>
                            <a:prstClr val="black"/>
                          </a:solidFill>
                          <a:latin typeface="Cambria Math" panose="02040503050406030204" pitchFamily="18" charset="0"/>
                          <a:ea typeface="Cambria Math" panose="02040503050406030204" pitchFamily="18" charset="0"/>
                        </a:rPr>
                        <m:t>=</m:t>
                      </m:r>
                      <m:f>
                        <m:fPr>
                          <m:ctrlPr>
                            <a:rPr lang="en-US" i="1">
                              <a:solidFill>
                                <a:prstClr val="black"/>
                              </a:solidFill>
                              <a:latin typeface="Cambria Math" panose="02040503050406030204" pitchFamily="18" charset="0"/>
                              <a:ea typeface="Cambria Math" panose="02040503050406030204" pitchFamily="18" charset="0"/>
                            </a:rPr>
                          </m:ctrlPr>
                        </m:fPr>
                        <m:num>
                          <m:r>
                            <a:rPr lang="en-US" i="1">
                              <a:solidFill>
                                <a:prstClr val="black"/>
                              </a:solidFill>
                              <a:latin typeface="Cambria Math" panose="02040503050406030204" pitchFamily="18" charset="0"/>
                              <a:ea typeface="Cambria Math" panose="02040503050406030204" pitchFamily="18" charset="0"/>
                            </a:rPr>
                            <m:t>𝑂𝑢𝑡𝑝𝑢𝑡</m:t>
                          </m:r>
                          <m:r>
                            <a:rPr lang="en-US" i="1">
                              <a:solidFill>
                                <a:prstClr val="black"/>
                              </a:solidFill>
                              <a:latin typeface="Cambria Math" panose="02040503050406030204" pitchFamily="18" charset="0"/>
                              <a:ea typeface="Cambria Math" panose="02040503050406030204" pitchFamily="18" charset="0"/>
                            </a:rPr>
                            <m:t> </m:t>
                          </m:r>
                          <m:r>
                            <a:rPr lang="en-US" i="1">
                              <a:solidFill>
                                <a:prstClr val="black"/>
                              </a:solidFill>
                              <a:latin typeface="Cambria Math" panose="02040503050406030204" pitchFamily="18" charset="0"/>
                              <a:ea typeface="Cambria Math" panose="02040503050406030204" pitchFamily="18" charset="0"/>
                            </a:rPr>
                            <m:t>𝑒𝑛𝑒𝑟𝑔𝑦</m:t>
                          </m:r>
                        </m:num>
                        <m:den>
                          <m:r>
                            <a:rPr lang="en-US" i="1">
                              <a:solidFill>
                                <a:prstClr val="black"/>
                              </a:solidFill>
                              <a:latin typeface="Cambria Math" panose="02040503050406030204" pitchFamily="18" charset="0"/>
                              <a:ea typeface="Cambria Math" panose="02040503050406030204" pitchFamily="18" charset="0"/>
                            </a:rPr>
                            <m:t>𝐼𝑛𝑝𝑢𝑡</m:t>
                          </m:r>
                          <m:r>
                            <a:rPr lang="en-US" i="1">
                              <a:solidFill>
                                <a:prstClr val="black"/>
                              </a:solidFill>
                              <a:latin typeface="Cambria Math" panose="02040503050406030204" pitchFamily="18" charset="0"/>
                              <a:ea typeface="Cambria Math" panose="02040503050406030204" pitchFamily="18" charset="0"/>
                            </a:rPr>
                            <m:t> </m:t>
                          </m:r>
                          <m:r>
                            <a:rPr lang="en-US" i="1">
                              <a:solidFill>
                                <a:prstClr val="black"/>
                              </a:solidFill>
                              <a:latin typeface="Cambria Math" panose="02040503050406030204" pitchFamily="18" charset="0"/>
                              <a:ea typeface="Cambria Math" panose="02040503050406030204" pitchFamily="18" charset="0"/>
                            </a:rPr>
                            <m:t>𝑒𝑛𝑒𝑟𝑔𝑦</m:t>
                          </m:r>
                        </m:den>
                      </m:f>
                      <m:r>
                        <a:rPr lang="en-US" i="1">
                          <a:solidFill>
                            <a:prstClr val="black"/>
                          </a:solidFill>
                          <a:latin typeface="Cambria Math" panose="02040503050406030204" pitchFamily="18" charset="0"/>
                          <a:ea typeface="Cambria Math" panose="02040503050406030204" pitchFamily="18" charset="0"/>
                        </a:rPr>
                        <m:t>,</m:t>
                      </m:r>
                      <m:r>
                        <a:rPr lang="en-US" b="0" i="1" smtClean="0">
                          <a:solidFill>
                            <a:prstClr val="black"/>
                          </a:solidFill>
                          <a:latin typeface="Cambria Math" panose="02040503050406030204" pitchFamily="18" charset="0"/>
                          <a:ea typeface="Cambria Math" panose="02040503050406030204" pitchFamily="18" charset="0"/>
                        </a:rPr>
                        <m:t>      ∴  </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𝑌</m:t>
                          </m:r>
                        </m:e>
                        <m:sub>
                          <m:r>
                            <a:rPr lang="en-GB" i="1">
                              <a:solidFill>
                                <a:prstClr val="black"/>
                              </a:solidFill>
                              <a:latin typeface="Cambria Math" panose="02040503050406030204" pitchFamily="18" charset="0"/>
                            </a:rPr>
                            <m:t>𝑚</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𝑠</m:t>
                                  </m:r>
                                </m:sub>
                              </m:sSub>
                            </m:e>
                          </m:d>
                        </m:e>
                        <m:sub>
                          <m:r>
                            <a:rPr lang="en-GB" i="1">
                              <a:solidFill>
                                <a:prstClr val="black"/>
                              </a:solidFill>
                              <a:latin typeface="Cambria Math" panose="02040503050406030204" pitchFamily="18" charset="0"/>
                            </a:rPr>
                            <m:t>12</m:t>
                          </m:r>
                        </m:sub>
                      </m:sSub>
                      <m:r>
                        <a:rPr lang="en-GB" i="1">
                          <a:solidFill>
                            <a:prstClr val="black"/>
                          </a:solidFill>
                          <a:latin typeface="Cambria Math" panose="02040503050406030204" pitchFamily="18" charset="0"/>
                        </a:rPr>
                        <m:t>.</m:t>
                      </m:r>
                      <m:sSup>
                        <m:sSupPr>
                          <m:ctrlPr>
                            <a:rPr lang="en-GB" i="1">
                              <a:solidFill>
                                <a:prstClr val="black"/>
                              </a:solidFill>
                              <a:latin typeface="Cambria Math" panose="02040503050406030204" pitchFamily="18" charset="0"/>
                            </a:rPr>
                          </m:ctrlPr>
                        </m:sSupPr>
                        <m:e>
                          <m:r>
                            <a:rPr lang="en-GB" i="1">
                              <a:solidFill>
                                <a:prstClr val="black"/>
                              </a:solidFill>
                              <a:latin typeface="Cambria Math" panose="02040503050406030204" pitchFamily="18" charset="0"/>
                            </a:rPr>
                            <m:t>𝜂</m:t>
                          </m:r>
                        </m:e>
                        <m:sup>
                          <m:r>
                            <a:rPr lang="en-GB" i="1">
                              <a:solidFill>
                                <a:prstClr val="black"/>
                              </a:solidFill>
                              <a:latin typeface="Cambria Math" panose="02040503050406030204" pitchFamily="18" charset="0"/>
                            </a:rPr>
                            <m:t>±1</m:t>
                          </m:r>
                        </m:sup>
                      </m:sSup>
                    </m:oMath>
                  </m:oMathPara>
                </a14:m>
                <a:endParaRPr lang="en-GB" dirty="0">
                  <a:solidFill>
                    <a:prstClr val="black"/>
                  </a:solidFill>
                </a:endParaRPr>
              </a:p>
              <a:p>
                <a:pPr marL="711200" lvl="0" indent="0">
                  <a:lnSpc>
                    <a:spcPct val="130000"/>
                  </a:lnSpc>
                  <a:spcBef>
                    <a:spcPts val="600"/>
                  </a:spcBef>
                  <a:buNone/>
                </a:pPr>
                <a14:m>
                  <m:oMathPara xmlns:m="http://schemas.openxmlformats.org/officeDocument/2006/math">
                    <m:oMathParaPr>
                      <m:jc m:val="left"/>
                    </m:oMathParaPr>
                    <m:oMath xmlns:m="http://schemas.openxmlformats.org/officeDocument/2006/math">
                      <m:r>
                        <a:rPr lang="en-GB" i="1">
                          <a:solidFill>
                            <a:prstClr val="black"/>
                          </a:solidFill>
                          <a:latin typeface="Cambria Math" panose="02040503050406030204" pitchFamily="18" charset="0"/>
                        </a:rPr>
                        <m:t>𝑤h𝑒𝑟𝑒</m:t>
                      </m:r>
                      <m:r>
                        <a:rPr lang="en-GB" i="1">
                          <a:solidFill>
                            <a:prstClr val="black"/>
                          </a:solidFill>
                          <a:latin typeface="Cambria Math" panose="02040503050406030204" pitchFamily="18" charset="0"/>
                        </a:rPr>
                        <m:t>: </m:t>
                      </m:r>
                    </m:oMath>
                  </m:oMathPara>
                </a14:m>
                <a:endParaRPr lang="en-GB" dirty="0">
                  <a:solidFill>
                    <a:prstClr val="black"/>
                  </a:solidFill>
                </a:endParaRPr>
              </a:p>
              <a:p>
                <a:pPr marL="1447800" lvl="0" indent="0" algn="just">
                  <a:lnSpc>
                    <a:spcPct val="130000"/>
                  </a:lnSpc>
                  <a:spcBef>
                    <a:spcPts val="600"/>
                  </a:spcBef>
                  <a:buNone/>
                </a:pPr>
                <a14:m>
                  <m:oMath xmlns:m="http://schemas.openxmlformats.org/officeDocument/2006/math">
                    <m:r>
                      <a:rPr lang="en-GB" i="1">
                        <a:solidFill>
                          <a:prstClr val="black"/>
                        </a:solidFill>
                        <a:latin typeface="Cambria Math" panose="02040503050406030204" pitchFamily="18" charset="0"/>
                      </a:rPr>
                      <m:t>+1 </m:t>
                    </m:r>
                    <m:r>
                      <a:rPr lang="en-GB" i="1">
                        <a:solidFill>
                          <a:prstClr val="black"/>
                        </a:solidFill>
                        <a:latin typeface="Cambria Math" panose="02040503050406030204" pitchFamily="18" charset="0"/>
                      </a:rPr>
                      <m:t>𝑓𝑜𝑟</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𝑚𝑜𝑡𝑜𝑟</m:t>
                    </m:r>
                  </m:oMath>
                </a14:m>
                <a:r>
                  <a:rPr lang="en-GB" dirty="0">
                    <a:solidFill>
                      <a:prstClr val="black"/>
                    </a:solidFill>
                  </a:rPr>
                  <a:t>, output is mechanical </a:t>
                </a:r>
                <a14:m>
                  <m:oMath xmlns:m="http://schemas.openxmlformats.org/officeDocument/2006/math">
                    <m:sSub>
                      <m:sSubPr>
                        <m:ctrlPr>
                          <a:rPr lang="en-GB"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𝑌</m:t>
                        </m:r>
                      </m:e>
                      <m:sub>
                        <m:r>
                          <a:rPr lang="en-US" i="1">
                            <a:solidFill>
                              <a:prstClr val="black"/>
                            </a:solidFill>
                            <a:latin typeface="Cambria Math" panose="02040503050406030204" pitchFamily="18" charset="0"/>
                          </a:rPr>
                          <m:t>𝑚</m:t>
                        </m:r>
                      </m:sub>
                    </m:sSub>
                  </m:oMath>
                </a14:m>
                <a:endParaRPr lang="en-GB" dirty="0">
                  <a:solidFill>
                    <a:prstClr val="black"/>
                  </a:solidFill>
                </a:endParaRPr>
              </a:p>
              <a:p>
                <a:pPr marL="1447800" lvl="0" indent="0">
                  <a:lnSpc>
                    <a:spcPct val="130000"/>
                  </a:lnSpc>
                  <a:spcBef>
                    <a:spcPts val="600"/>
                  </a:spcBef>
                  <a:buNone/>
                </a:pPr>
                <a14:m>
                  <m:oMath xmlns:m="http://schemas.openxmlformats.org/officeDocument/2006/math">
                    <m:r>
                      <a:rPr lang="en-GB" i="1">
                        <a:solidFill>
                          <a:prstClr val="black"/>
                        </a:solidFill>
                        <a:latin typeface="Cambria Math" panose="02040503050406030204" pitchFamily="18" charset="0"/>
                      </a:rPr>
                      <m:t>−1 </m:t>
                    </m:r>
                    <m:r>
                      <a:rPr lang="en-GB" i="1">
                        <a:solidFill>
                          <a:prstClr val="black"/>
                        </a:solidFill>
                        <a:latin typeface="Cambria Math" panose="02040503050406030204" pitchFamily="18" charset="0"/>
                      </a:rPr>
                      <m:t>𝑓𝑜𝑟</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𝑔𝑒𝑛𝑒𝑟𝑎𝑡𝑜𝑟</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𝑝𝑢𝑚𝑝</m:t>
                    </m:r>
                  </m:oMath>
                </a14:m>
                <a:r>
                  <a:rPr lang="en-GB" dirty="0">
                    <a:solidFill>
                      <a:prstClr val="black"/>
                    </a:solidFill>
                  </a:rPr>
                  <a:t>, output is hydraulic </a:t>
                </a:r>
                <a14:m>
                  <m:oMath xmlns:m="http://schemas.openxmlformats.org/officeDocument/2006/math">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𝑠</m:t>
                                </m:r>
                              </m:sub>
                            </m:sSub>
                          </m:e>
                        </m:d>
                      </m:e>
                      <m:sub>
                        <m:r>
                          <a:rPr lang="en-GB" i="1">
                            <a:solidFill>
                              <a:prstClr val="black"/>
                            </a:solidFill>
                            <a:latin typeface="Cambria Math" panose="02040503050406030204" pitchFamily="18" charset="0"/>
                          </a:rPr>
                          <m:t>12</m:t>
                        </m:r>
                      </m:sub>
                    </m:sSub>
                  </m:oMath>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78857"/>
                <a:ext cx="10972800" cy="4882682"/>
              </a:xfrm>
              <a:blipFill rotWithShape="0">
                <a:blip r:embed="rId2"/>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8</a:t>
            </a:fld>
            <a:endParaRPr lang="en-GB" dirty="0"/>
          </a:p>
        </p:txBody>
      </p:sp>
    </p:spTree>
    <p:extLst>
      <p:ext uri="{BB962C8B-B14F-4D97-AF65-F5344CB8AC3E}">
        <p14:creationId xmlns:p14="http://schemas.microsoft.com/office/powerpoint/2010/main" val="391864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761124"/>
          </a:xfrm>
        </p:spPr>
        <p:txBody>
          <a:bodyPr>
            <a:normAutofit/>
          </a:bodyPr>
          <a:lstStyle/>
          <a:p>
            <a:r>
              <a:rPr lang="en-GB" dirty="0"/>
              <a:t>UNIT </a:t>
            </a:r>
            <a:r>
              <a:rPr lang="en-GB" dirty="0" smtClean="0"/>
              <a:t>4:</a:t>
            </a:r>
            <a:r>
              <a:rPr lang="en-GB" dirty="0"/>
              <a:t>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6519" y="1458349"/>
                <a:ext cx="11483788" cy="4767353"/>
              </a:xfrm>
            </p:spPr>
            <p:txBody>
              <a:bodyPr>
                <a:normAutofit fontScale="92500" lnSpcReduction="10000"/>
              </a:bodyPr>
              <a:lstStyle/>
              <a:p>
                <a:pPr lvl="0">
                  <a:lnSpc>
                    <a:spcPct val="120000"/>
                  </a:lnSpc>
                  <a:spcBef>
                    <a:spcPts val="600"/>
                  </a:spcBef>
                  <a:spcAft>
                    <a:spcPts val="1200"/>
                  </a:spcAft>
                </a:pPr>
                <a:r>
                  <a:rPr lang="en-US" dirty="0" smtClean="0">
                    <a:solidFill>
                      <a:prstClr val="black"/>
                    </a:solidFill>
                  </a:rPr>
                  <a:t>Applying thermodynamics:</a:t>
                </a:r>
              </a:p>
              <a:p>
                <a:pPr marL="0" lvl="0" indent="0">
                  <a:lnSpc>
                    <a:spcPct val="120000"/>
                  </a:lnSpc>
                  <a:spcBef>
                    <a:spcPts val="600"/>
                  </a:spcBef>
                  <a:spcAft>
                    <a:spcPts val="1200"/>
                  </a:spcAft>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12</m:t>
                          </m:r>
                        </m:sub>
                      </m:sSub>
                      <m:r>
                        <a:rPr lang="en-GB" i="1">
                          <a:solidFill>
                            <a:prstClr val="black"/>
                          </a:solidFill>
                          <a:latin typeface="Cambria Math" panose="02040503050406030204" pitchFamily="18" charset="0"/>
                        </a:rPr>
                        <m:t>=</m:t>
                      </m:r>
                      <m:nary>
                        <m:naryPr>
                          <m:limLoc m:val="undOvr"/>
                          <m:ctrlPr>
                            <a:rPr lang="en-GB"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1</m:t>
                          </m:r>
                        </m:sub>
                        <m:sup>
                          <m:r>
                            <a:rPr lang="en-GB" i="1">
                              <a:solidFill>
                                <a:prstClr val="black"/>
                              </a:solidFill>
                              <a:latin typeface="Cambria Math" panose="02040503050406030204" pitchFamily="18" charset="0"/>
                            </a:rPr>
                            <m:t>2</m:t>
                          </m:r>
                        </m:sup>
                        <m:e>
                          <m:r>
                            <a:rPr lang="en-GB" i="1">
                              <a:solidFill>
                                <a:prstClr val="black"/>
                              </a:solidFill>
                              <a:latin typeface="Cambria Math" panose="02040503050406030204" pitchFamily="18" charset="0"/>
                            </a:rPr>
                            <m:t>𝑣</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𝑑𝑝</m:t>
                          </m:r>
                        </m:e>
                      </m:nary>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nary>
                                <m:naryPr>
                                  <m:limLoc m:val="undOvr"/>
                                  <m:ctrlPr>
                                    <a:rPr lang="en-GB"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1</m:t>
                                  </m:r>
                                </m:sub>
                                <m:sup>
                                  <m:r>
                                    <a:rPr lang="en-GB" i="1">
                                      <a:solidFill>
                                        <a:prstClr val="black"/>
                                      </a:solidFill>
                                      <a:latin typeface="Cambria Math" panose="02040503050406030204" pitchFamily="18" charset="0"/>
                                    </a:rPr>
                                    <m:t>2</m:t>
                                  </m:r>
                                </m:sup>
                                <m:e>
                                  <m:r>
                                    <a:rPr lang="en-GB" i="1">
                                      <a:solidFill>
                                        <a:prstClr val="black"/>
                                      </a:solidFill>
                                      <a:latin typeface="Cambria Math" panose="02040503050406030204" pitchFamily="18" charset="0"/>
                                    </a:rPr>
                                    <m:t>𝑣</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𝑑𝑝</m:t>
                                  </m:r>
                                </m:e>
                              </m:nary>
                            </m:e>
                          </m:d>
                        </m:e>
                        <m:sub>
                          <m:r>
                            <a:rPr lang="en-GB" i="1">
                              <a:solidFill>
                                <a:prstClr val="black"/>
                              </a:solidFill>
                              <a:latin typeface="Cambria Math" panose="02040503050406030204" pitchFamily="18" charset="0"/>
                            </a:rPr>
                            <m:t>𝑆</m:t>
                          </m:r>
                        </m:sub>
                      </m:sSub>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𝑃</m:t>
                                      </m:r>
                                    </m:e>
                                    <m:sub>
                                      <m:r>
                                        <a:rPr lang="en-GB" i="1">
                                          <a:solidFill>
                                            <a:prstClr val="black"/>
                                          </a:solidFill>
                                          <a:latin typeface="Cambria Math" panose="02040503050406030204" pitchFamily="18" charset="0"/>
                                        </a:rPr>
                                        <m:t>𝑙</m:t>
                                      </m:r>
                                    </m:sub>
                                  </m:sSub>
                                </m:e>
                              </m:d>
                            </m:e>
                            <m:sub>
                              <m:r>
                                <a:rPr lang="en-GB" i="1">
                                  <a:solidFill>
                                    <a:prstClr val="black"/>
                                  </a:solidFill>
                                  <a:latin typeface="Cambria Math" panose="02040503050406030204" pitchFamily="18" charset="0"/>
                                </a:rPr>
                                <m:t>12</m:t>
                              </m:r>
                            </m:sub>
                          </m:sSub>
                        </m:num>
                        <m:den>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den>
                      </m:f>
                      <m:r>
                        <a:rPr lang="en-GB" i="1">
                          <a:solidFill>
                            <a:prstClr val="black"/>
                          </a:solidFill>
                          <a:latin typeface="Cambria Math" panose="02040503050406030204" pitchFamily="18" charset="0"/>
                        </a:rPr>
                        <m:t>,</m:t>
                      </m:r>
                    </m:oMath>
                  </m:oMathPara>
                </a14:m>
                <a:endParaRPr lang="en-US" i="1" dirty="0">
                  <a:solidFill>
                    <a:prstClr val="black"/>
                  </a:solidFill>
                </a:endParaRPr>
              </a:p>
              <a:p>
                <a:pPr marL="990600" lvl="0" indent="0">
                  <a:lnSpc>
                    <a:spcPct val="120000"/>
                  </a:lnSpc>
                  <a:spcBef>
                    <a:spcPts val="600"/>
                  </a:spcBef>
                  <a:spcAft>
                    <a:spcPts val="1200"/>
                  </a:spcAft>
                  <a:buNone/>
                </a:pPr>
                <a14:m>
                  <m:oMath xmlns:m="http://schemas.openxmlformats.org/officeDocument/2006/math">
                    <m:r>
                      <a:rPr lang="en-GB" i="1">
                        <a:solidFill>
                          <a:prstClr val="black"/>
                        </a:solidFill>
                        <a:latin typeface="Cambria Math" panose="02040503050406030204" pitchFamily="18" charset="0"/>
                      </a:rPr>
                      <m:t>𝑤h𝑒𝑟𝑒</m:t>
                    </m:r>
                    <m:r>
                      <a:rPr lang="en-US"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𝑣</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𝑠𝑝𝑒𝑐𝑖𝑎𝑙</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𝑣𝑜𝑙𝑢𝑚𝑒</m:t>
                    </m:r>
                    <m:r>
                      <a:rPr lang="en-GB" i="1">
                        <a:solidFill>
                          <a:prstClr val="black"/>
                        </a:solidFill>
                        <a:latin typeface="Cambria Math" panose="02040503050406030204" pitchFamily="18" charset="0"/>
                      </a:rPr>
                      <m:t> </m:t>
                    </m:r>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𝑣</m:t>
                        </m:r>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1</m:t>
                            </m:r>
                          </m:num>
                          <m:den>
                            <m:r>
                              <a:rPr lang="en-GB" i="1">
                                <a:solidFill>
                                  <a:prstClr val="black"/>
                                </a:solidFill>
                                <a:latin typeface="Cambria Math" panose="02040503050406030204" pitchFamily="18" charset="0"/>
                              </a:rPr>
                              <m:t>𝜌</m:t>
                            </m:r>
                          </m:den>
                        </m:f>
                      </m:e>
                    </m:d>
                  </m:oMath>
                </a14:m>
                <a:r>
                  <a:rPr lang="en-US" dirty="0" smtClean="0">
                    <a:solidFill>
                      <a:prstClr val="black"/>
                    </a:solidFill>
                  </a:rPr>
                  <a:t>,</a:t>
                </a:r>
              </a:p>
              <a:p>
                <a:pPr marL="990600" lvl="0" indent="0">
                  <a:lnSpc>
                    <a:spcPct val="120000"/>
                  </a:lnSpc>
                  <a:spcBef>
                    <a:spcPts val="600"/>
                  </a:spcBef>
                  <a:spcAft>
                    <a:spcPts val="1200"/>
                  </a:spcAft>
                  <a:buNone/>
                </a:pPr>
                <a:r>
                  <a:rPr lang="en-US" dirty="0" smtClean="0">
                    <a:solidFill>
                      <a:prstClr val="black"/>
                    </a:solidFill>
                  </a:rPr>
                  <a:t>Noting that hydraulic fluids are incompressible</a:t>
                </a:r>
              </a:p>
              <a:p>
                <a:pPr marL="990600" indent="0">
                  <a:lnSpc>
                    <a:spcPct val="120000"/>
                  </a:lnSpc>
                  <a:spcBef>
                    <a:spcPts val="600"/>
                  </a:spcBef>
                  <a:spcAft>
                    <a:spcPts val="1200"/>
                  </a:spcAft>
                  <a:buNone/>
                </a:pPr>
                <a14:m>
                  <m:oMathPara xmlns:m="http://schemas.openxmlformats.org/officeDocument/2006/math">
                    <m:oMathParaPr>
                      <m:jc m:val="left"/>
                    </m:oMathParaPr>
                    <m:oMath xmlns:m="http://schemas.openxmlformats.org/officeDocument/2006/math">
                      <m:r>
                        <a:rPr lang="en-GB" i="1">
                          <a:solidFill>
                            <a:prstClr val="black"/>
                          </a:solidFill>
                          <a:latin typeface="Cambria Math" panose="02040503050406030204" pitchFamily="18" charset="0"/>
                        </a:rPr>
                        <m:t>𝑖𝑠𝑜𝑐h𝑜𝑟𝑖𝑐</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𝑐𝑜𝑛𝑠𝑡</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𝑣𝑜𝑙𝑢𝑚𝑒</m:t>
                      </m:r>
                      <m:r>
                        <a:rPr lang="en-GB" i="1">
                          <a:solidFill>
                            <a:prstClr val="black"/>
                          </a:solidFill>
                          <a:latin typeface="Cambria Math" panose="02040503050406030204" pitchFamily="18" charset="0"/>
                        </a:rPr>
                        <m:t>)</m:t>
                      </m:r>
                    </m:oMath>
                  </m:oMathPara>
                </a14:m>
                <a:endParaRPr lang="en-US" dirty="0">
                  <a:solidFill>
                    <a:prstClr val="black"/>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6519" y="1458349"/>
                <a:ext cx="11483788" cy="4767353"/>
              </a:xfrm>
              <a:blipFill>
                <a:blip r:embed="rId3"/>
                <a:stretch>
                  <a:fillRect l="-849" t="-1023"/>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9</a:t>
            </a:fld>
            <a:endParaRPr lang="en-GB" dirty="0"/>
          </a:p>
        </p:txBody>
      </p:sp>
    </p:spTree>
    <p:extLst>
      <p:ext uri="{BB962C8B-B14F-4D97-AF65-F5344CB8AC3E}">
        <p14:creationId xmlns:p14="http://schemas.microsoft.com/office/powerpoint/2010/main" val="235698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76"/>
            <a:ext cx="10515600" cy="659524"/>
          </a:xfrm>
        </p:spPr>
        <p:txBody>
          <a:bodyPr>
            <a:normAutofit/>
          </a:bodyPr>
          <a:lstStyle/>
          <a:p>
            <a:r>
              <a:rPr lang="en-GB" dirty="0"/>
              <a:t>UNIT </a:t>
            </a:r>
            <a:r>
              <a:rPr lang="en-GB" dirty="0" smtClean="0"/>
              <a:t>4:</a:t>
            </a:r>
            <a:r>
              <a:rPr lang="en-GB" dirty="0"/>
              <a:t>	 Principles of Hydro-Mechanics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98600"/>
                <a:ext cx="10515600" cy="4966139"/>
              </a:xfrm>
            </p:spPr>
            <p:txBody>
              <a:bodyPr>
                <a:normAutofit fontScale="92500"/>
              </a:bodyPr>
              <a:lstStyle/>
              <a:p>
                <a:pPr marL="0" indent="0">
                  <a:lnSpc>
                    <a:spcPct val="120000"/>
                  </a:lnSpc>
                  <a:spcBef>
                    <a:spcPts val="600"/>
                  </a:spcBef>
                  <a:spcAft>
                    <a:spcPts val="1200"/>
                  </a:spcAft>
                  <a:buNone/>
                </a:pPr>
                <a:r>
                  <a:rPr lang="en-US" dirty="0" smtClean="0">
                    <a:solidFill>
                      <a:prstClr val="black"/>
                    </a:solidFill>
                  </a:rPr>
                  <a:t>Therefore,</a:t>
                </a:r>
              </a:p>
              <a:p>
                <a:pPr marL="0" lvl="0" indent="0">
                  <a:lnSpc>
                    <a:spcPct val="120000"/>
                  </a:lnSpc>
                  <a:spcBef>
                    <a:spcPts val="600"/>
                  </a:spcBef>
                  <a:spcAft>
                    <a:spcPts val="1200"/>
                  </a:spcAft>
                  <a:buNone/>
                </a:pPr>
                <a14:m>
                  <m:oMathPara xmlns:m="http://schemas.openxmlformats.org/officeDocument/2006/math">
                    <m:oMathParaPr>
                      <m:jc m:val="centerGroup"/>
                    </m:oMathParaPr>
                    <m:oMath xmlns:m="http://schemas.openxmlformats.org/officeDocument/2006/math">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𝑠</m:t>
                                  </m:r>
                                </m:sub>
                              </m:sSub>
                            </m:e>
                          </m:d>
                        </m:e>
                        <m:sub>
                          <m:r>
                            <a:rPr lang="en-GB" i="1">
                              <a:solidFill>
                                <a:prstClr val="black"/>
                              </a:solidFill>
                              <a:latin typeface="Cambria Math" panose="02040503050406030204" pitchFamily="18" charset="0"/>
                            </a:rPr>
                            <m:t>12</m:t>
                          </m:r>
                        </m:sub>
                      </m:sSub>
                      <m:r>
                        <a:rPr lang="en-GB" i="1">
                          <a:solidFill>
                            <a:prstClr val="black"/>
                          </a:solidFill>
                          <a:latin typeface="Cambria Math" panose="02040503050406030204" pitchFamily="18" charset="0"/>
                        </a:rPr>
                        <m:t>=</m:t>
                      </m:r>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nary>
                                <m:naryPr>
                                  <m:limLoc m:val="undOvr"/>
                                  <m:ctrlPr>
                                    <a:rPr lang="en-GB"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1</m:t>
                                  </m:r>
                                </m:sub>
                                <m:sup>
                                  <m:r>
                                    <a:rPr lang="en-GB" i="1">
                                      <a:solidFill>
                                        <a:prstClr val="black"/>
                                      </a:solidFill>
                                      <a:latin typeface="Cambria Math" panose="02040503050406030204" pitchFamily="18" charset="0"/>
                                    </a:rPr>
                                    <m:t>2</m:t>
                                  </m:r>
                                </m:sup>
                                <m:e>
                                  <m:r>
                                    <a:rPr lang="en-GB" i="1">
                                      <a:solidFill>
                                        <a:prstClr val="black"/>
                                      </a:solidFill>
                                      <a:latin typeface="Cambria Math" panose="02040503050406030204" pitchFamily="18" charset="0"/>
                                    </a:rPr>
                                    <m:t>𝑣</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𝑑𝑝</m:t>
                                  </m:r>
                                </m:e>
                              </m:nary>
                            </m:e>
                          </m:d>
                        </m:e>
                        <m:sub>
                          <m:r>
                            <a:rPr lang="en-GB" i="1">
                              <a:solidFill>
                                <a:prstClr val="black"/>
                              </a:solidFill>
                              <a:latin typeface="Cambria Math" panose="02040503050406030204" pitchFamily="18" charset="0"/>
                            </a:rPr>
                            <m:t>𝑆</m:t>
                          </m:r>
                        </m:sub>
                      </m:sSub>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𝜈</m:t>
                      </m:r>
                      <m:nary>
                        <m:naryPr>
                          <m:limLoc m:val="undOvr"/>
                          <m:ctrlPr>
                            <a:rPr lang="en-GB" i="1">
                              <a:solidFill>
                                <a:prstClr val="black"/>
                              </a:solidFill>
                              <a:latin typeface="Cambria Math" panose="02040503050406030204" pitchFamily="18" charset="0"/>
                            </a:rPr>
                          </m:ctrlPr>
                        </m:naryPr>
                        <m:sub>
                          <m:r>
                            <a:rPr lang="en-GB" i="1">
                              <a:solidFill>
                                <a:prstClr val="black"/>
                              </a:solidFill>
                              <a:latin typeface="Cambria Math" panose="02040503050406030204" pitchFamily="18" charset="0"/>
                            </a:rPr>
                            <m:t>1</m:t>
                          </m:r>
                        </m:sub>
                        <m:sup>
                          <m:r>
                            <a:rPr lang="en-GB" i="1">
                              <a:solidFill>
                                <a:prstClr val="black"/>
                              </a:solidFill>
                              <a:latin typeface="Cambria Math" panose="02040503050406030204" pitchFamily="18" charset="0"/>
                            </a:rPr>
                            <m:t>2</m:t>
                          </m:r>
                        </m:sup>
                        <m:e>
                          <m:r>
                            <a:rPr lang="en-GB" i="1">
                              <a:solidFill>
                                <a:prstClr val="black"/>
                              </a:solidFill>
                              <a:latin typeface="Cambria Math" panose="02040503050406030204" pitchFamily="18" charset="0"/>
                            </a:rPr>
                            <m:t>𝑑𝑝</m:t>
                          </m:r>
                        </m:e>
                      </m:nary>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m:rPr>
                                      <m:sty m:val="p"/>
                                    </m:rPr>
                                    <a:rPr lang="en-GB">
                                      <a:solidFill>
                                        <a:prstClr val="black"/>
                                      </a:solidFill>
                                      <a:latin typeface="Cambria Math" panose="02040503050406030204" pitchFamily="18" charset="0"/>
                                    </a:rPr>
                                    <m:t>Δ</m:t>
                                  </m:r>
                                  <m:r>
                                    <a:rPr lang="en-GB" i="1">
                                      <a:solidFill>
                                        <a:prstClr val="black"/>
                                      </a:solidFill>
                                      <a:latin typeface="Cambria Math" panose="02040503050406030204" pitchFamily="18" charset="0"/>
                                    </a:rPr>
                                    <m:t>𝑝</m:t>
                                  </m:r>
                                </m:e>
                              </m:d>
                            </m:e>
                            <m:sub>
                              <m:r>
                                <a:rPr lang="en-GB" i="1">
                                  <a:solidFill>
                                    <a:prstClr val="black"/>
                                  </a:solidFill>
                                  <a:latin typeface="Cambria Math" panose="02040503050406030204" pitchFamily="18" charset="0"/>
                                </a:rPr>
                                <m:t>12</m:t>
                              </m:r>
                            </m:sub>
                          </m:sSub>
                        </m:num>
                        <m:den>
                          <m:r>
                            <a:rPr lang="en-GB" i="1">
                              <a:solidFill>
                                <a:prstClr val="black"/>
                              </a:solidFill>
                              <a:latin typeface="Cambria Math" panose="02040503050406030204" pitchFamily="18" charset="0"/>
                            </a:rPr>
                            <m:t>𝜌</m:t>
                          </m:r>
                        </m:den>
                      </m:f>
                      <m:r>
                        <a:rPr lang="en-GB" i="1">
                          <a:solidFill>
                            <a:prstClr val="black"/>
                          </a:solidFill>
                          <a:latin typeface="Cambria Math" panose="02040503050406030204" pitchFamily="18" charset="0"/>
                        </a:rPr>
                        <m:t>  </m:t>
                      </m:r>
                      <m:d>
                        <m:dPr>
                          <m:begChr m:val="["/>
                          <m:endChr m:val="]"/>
                          <m:ctrlPr>
                            <a:rPr lang="en-GB" i="1">
                              <a:solidFill>
                                <a:prstClr val="black"/>
                              </a:solidFill>
                              <a:latin typeface="Cambria Math" panose="02040503050406030204" pitchFamily="18" charset="0"/>
                            </a:rPr>
                          </m:ctrlPr>
                        </m:dPr>
                        <m:e>
                          <m:f>
                            <m:fPr>
                              <m:ctrlPr>
                                <a:rPr lang="en-GB" i="1">
                                  <a:solidFill>
                                    <a:prstClr val="black"/>
                                  </a:solidFill>
                                  <a:latin typeface="Cambria Math" panose="02040503050406030204" pitchFamily="18" charset="0"/>
                                </a:rPr>
                              </m:ctrlPr>
                            </m:fPr>
                            <m:num>
                              <m:f>
                                <m:fPr>
                                  <m:type m:val="lin"/>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𝑁</m:t>
                                  </m:r>
                                </m:num>
                                <m:den>
                                  <m:sSup>
                                    <m:sSupPr>
                                      <m:ctrlPr>
                                        <a:rPr lang="en-GB" i="1">
                                          <a:solidFill>
                                            <a:prstClr val="black"/>
                                          </a:solidFill>
                                          <a:latin typeface="Cambria Math" panose="02040503050406030204" pitchFamily="18" charset="0"/>
                                        </a:rPr>
                                      </m:ctrlPr>
                                    </m:sSupPr>
                                    <m:e>
                                      <m:r>
                                        <a:rPr lang="en-GB" i="1">
                                          <a:solidFill>
                                            <a:prstClr val="black"/>
                                          </a:solidFill>
                                          <a:latin typeface="Cambria Math" panose="02040503050406030204" pitchFamily="18" charset="0"/>
                                        </a:rPr>
                                        <m:t>𝑚𝑚</m:t>
                                      </m:r>
                                    </m:e>
                                    <m:sup>
                                      <m:r>
                                        <a:rPr lang="en-GB" i="1">
                                          <a:solidFill>
                                            <a:prstClr val="black"/>
                                          </a:solidFill>
                                          <a:latin typeface="Cambria Math" panose="02040503050406030204" pitchFamily="18" charset="0"/>
                                        </a:rPr>
                                        <m:t>2</m:t>
                                      </m:r>
                                    </m:sup>
                                  </m:sSup>
                                </m:den>
                              </m:f>
                            </m:num>
                            <m:den>
                              <m:f>
                                <m:fPr>
                                  <m:type m:val="lin"/>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𝑘𝑔</m:t>
                                  </m:r>
                                </m:num>
                                <m:den>
                                  <m:sSup>
                                    <m:sSupPr>
                                      <m:ctrlPr>
                                        <a:rPr lang="en-GB" i="1">
                                          <a:solidFill>
                                            <a:prstClr val="black"/>
                                          </a:solidFill>
                                          <a:latin typeface="Cambria Math" panose="02040503050406030204" pitchFamily="18" charset="0"/>
                                        </a:rPr>
                                      </m:ctrlPr>
                                    </m:sSupPr>
                                    <m:e>
                                      <m:r>
                                        <a:rPr lang="en-GB" i="1">
                                          <a:solidFill>
                                            <a:prstClr val="black"/>
                                          </a:solidFill>
                                          <a:latin typeface="Cambria Math" panose="02040503050406030204" pitchFamily="18" charset="0"/>
                                        </a:rPr>
                                        <m:t>𝑚𝑚</m:t>
                                      </m:r>
                                    </m:e>
                                    <m:sup>
                                      <m:r>
                                        <a:rPr lang="en-GB" i="1">
                                          <a:solidFill>
                                            <a:prstClr val="black"/>
                                          </a:solidFill>
                                          <a:latin typeface="Cambria Math" panose="02040503050406030204" pitchFamily="18" charset="0"/>
                                        </a:rPr>
                                        <m:t>3</m:t>
                                      </m:r>
                                    </m:sup>
                                  </m:sSup>
                                </m:den>
                              </m:f>
                            </m:den>
                          </m:f>
                        </m:e>
                      </m:d>
                      <m:r>
                        <a:rPr lang="en-GB" i="1">
                          <a:solidFill>
                            <a:prstClr val="black"/>
                          </a:solidFill>
                          <a:latin typeface="Cambria Math" panose="02040503050406030204" pitchFamily="18" charset="0"/>
                        </a:rPr>
                        <m:t>,</m:t>
                      </m:r>
                    </m:oMath>
                  </m:oMathPara>
                </a14:m>
                <a:endParaRPr lang="en-US" dirty="0" smtClean="0">
                  <a:solidFill>
                    <a:prstClr val="black"/>
                  </a:solidFill>
                </a:endParaRPr>
              </a:p>
              <a:p>
                <a:pPr marL="0" lvl="0" indent="0">
                  <a:lnSpc>
                    <a:spcPct val="120000"/>
                  </a:lnSpc>
                  <a:spcBef>
                    <a:spcPts val="600"/>
                  </a:spcBef>
                  <a:spcAft>
                    <a:spcPts val="1200"/>
                  </a:spcAft>
                  <a:buNone/>
                </a:pPr>
                <a:r>
                  <a:rPr lang="en-US" dirty="0">
                    <a:solidFill>
                      <a:prstClr val="black"/>
                    </a:solidFill>
                  </a:rPr>
                  <a:t>C</a:t>
                </a:r>
                <a:r>
                  <a:rPr lang="en-US" dirty="0" smtClean="0">
                    <a:solidFill>
                      <a:prstClr val="black"/>
                    </a:solidFill>
                  </a:rPr>
                  <a:t>onstant </a:t>
                </a:r>
                <a:r>
                  <a:rPr lang="en-US" dirty="0">
                    <a:solidFill>
                      <a:prstClr val="black"/>
                    </a:solidFill>
                  </a:rPr>
                  <a:t>mass flow rate= </a:t>
                </a:r>
                <a:r>
                  <a:rPr lang="en-US" dirty="0" smtClean="0">
                    <a:solidFill>
                      <a:prstClr val="black"/>
                    </a:solidFill>
                  </a:rPr>
                  <a:t>const. </a:t>
                </a:r>
                <a:r>
                  <a:rPr lang="en-US" dirty="0">
                    <a:solidFill>
                      <a:prstClr val="black"/>
                    </a:solidFill>
                  </a:rPr>
                  <a:t>volumetric flow rate </a:t>
                </a:r>
                <a:r>
                  <a:rPr lang="en-US" dirty="0" smtClean="0">
                    <a:solidFill>
                      <a:prstClr val="black"/>
                    </a:solidFill>
                  </a:rPr>
                  <a:t>x const. density:</a:t>
                </a:r>
                <a:endParaRPr lang="en-GB" dirty="0">
                  <a:solidFill>
                    <a:prstClr val="black"/>
                  </a:solidFill>
                </a:endParaRPr>
              </a:p>
              <a:p>
                <a:pPr marL="0" lvl="0" indent="0">
                  <a:lnSpc>
                    <a:spcPct val="120000"/>
                  </a:lnSpc>
                  <a:spcBef>
                    <a:spcPts val="600"/>
                  </a:spcBef>
                  <a:spcAft>
                    <a:spcPts val="1200"/>
                  </a:spcAft>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𝑃</m:t>
                      </m:r>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𝑑𝐸</m:t>
                          </m:r>
                        </m:num>
                        <m:den>
                          <m:r>
                            <a:rPr lang="en-GB" i="1">
                              <a:solidFill>
                                <a:prstClr val="black"/>
                              </a:solidFill>
                              <a:latin typeface="Cambria Math" panose="02040503050406030204" pitchFamily="18" charset="0"/>
                            </a:rPr>
                            <m:t>𝑑𝑡</m:t>
                          </m:r>
                        </m:den>
                      </m:f>
                      <m:r>
                        <a:rPr lang="en-GB" i="1">
                          <a:solidFill>
                            <a:prstClr val="black"/>
                          </a:solidFill>
                          <a:latin typeface="Cambria Math" panose="02040503050406030204" pitchFamily="18" charset="0"/>
                        </a:rPr>
                        <m:t>=</m:t>
                      </m:r>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𝑚</m:t>
                          </m:r>
                        </m:e>
                      </m:acc>
                      <m:r>
                        <m:rPr>
                          <m:sty m:val="p"/>
                        </m:rPr>
                        <a:rPr lang="en-GB">
                          <a:solidFill>
                            <a:prstClr val="black"/>
                          </a:solidFill>
                          <a:latin typeface="Cambria Math" panose="02040503050406030204" pitchFamily="18" charset="0"/>
                        </a:rPr>
                        <m:t>Δ</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h</m:t>
                          </m:r>
                        </m:e>
                        <m:sub>
                          <m:r>
                            <a:rPr lang="en-GB" i="1">
                              <a:solidFill>
                                <a:prstClr val="black"/>
                              </a:solidFill>
                              <a:latin typeface="Cambria Math" panose="02040503050406030204" pitchFamily="18" charset="0"/>
                            </a:rPr>
                            <m:t>12</m:t>
                          </m:r>
                        </m:sub>
                      </m:sSub>
                      <m:r>
                        <a:rPr lang="en-GB" i="1">
                          <a:solidFill>
                            <a:prstClr val="black"/>
                          </a:solidFill>
                          <a:latin typeface="Cambria Math" panose="02040503050406030204" pitchFamily="18" charset="0"/>
                        </a:rPr>
                        <m:t>=</m:t>
                      </m:r>
                      <m:acc>
                        <m:accPr>
                          <m:chr m:val="̇"/>
                          <m:ctrlPr>
                            <a:rPr lang="en-GB" i="1">
                              <a:solidFill>
                                <a:prstClr val="black"/>
                              </a:solidFill>
                              <a:latin typeface="Cambria Math" panose="02040503050406030204" pitchFamily="18" charset="0"/>
                            </a:rPr>
                          </m:ctrlPr>
                        </m:accPr>
                        <m:e>
                          <m:r>
                            <a:rPr lang="en-GB" i="1">
                              <a:solidFill>
                                <a:prstClr val="black"/>
                              </a:solidFill>
                              <a:latin typeface="Cambria Math" panose="02040503050406030204" pitchFamily="18" charset="0"/>
                            </a:rPr>
                            <m:t>𝑉</m:t>
                          </m:r>
                        </m:e>
                      </m:acc>
                      <m:r>
                        <a:rPr lang="en-GB" i="1">
                          <a:solidFill>
                            <a:prstClr val="black"/>
                          </a:solidFill>
                          <a:latin typeface="Cambria Math" panose="02040503050406030204" pitchFamily="18" charset="0"/>
                        </a:rPr>
                        <m:t>𝜌</m:t>
                      </m:r>
                      <m:f>
                        <m:fPr>
                          <m:ctrlPr>
                            <a:rPr lang="en-GB" i="1">
                              <a:solidFill>
                                <a:prstClr val="black"/>
                              </a:solidFill>
                              <a:latin typeface="Cambria Math" panose="02040503050406030204" pitchFamily="18" charset="0"/>
                            </a:rPr>
                          </m:ctrlPr>
                        </m:fPr>
                        <m:num>
                          <m:sSub>
                            <m:sSubPr>
                              <m:ctrlPr>
                                <a:rPr lang="en-GB" i="1">
                                  <a:solidFill>
                                    <a:prstClr val="black"/>
                                  </a:solidFill>
                                  <a:latin typeface="Cambria Math" panose="02040503050406030204" pitchFamily="18" charset="0"/>
                                </a:rPr>
                              </m:ctrlPr>
                            </m:sSubPr>
                            <m:e>
                              <m:d>
                                <m:dPr>
                                  <m:ctrlPr>
                                    <a:rPr lang="en-GB" i="1">
                                      <a:solidFill>
                                        <a:prstClr val="black"/>
                                      </a:solidFill>
                                      <a:latin typeface="Cambria Math" panose="02040503050406030204" pitchFamily="18" charset="0"/>
                                    </a:rPr>
                                  </m:ctrlPr>
                                </m:dPr>
                                <m:e>
                                  <m:r>
                                    <m:rPr>
                                      <m:sty m:val="p"/>
                                    </m:rPr>
                                    <a:rPr lang="en-GB">
                                      <a:solidFill>
                                        <a:prstClr val="black"/>
                                      </a:solidFill>
                                      <a:latin typeface="Cambria Math" panose="02040503050406030204" pitchFamily="18" charset="0"/>
                                    </a:rPr>
                                    <m:t>Δ</m:t>
                                  </m:r>
                                  <m:r>
                                    <a:rPr lang="en-GB" i="1">
                                      <a:solidFill>
                                        <a:prstClr val="black"/>
                                      </a:solidFill>
                                      <a:latin typeface="Cambria Math" panose="02040503050406030204" pitchFamily="18" charset="0"/>
                                    </a:rPr>
                                    <m:t>𝑝</m:t>
                                  </m:r>
                                </m:e>
                              </m:d>
                            </m:e>
                            <m:sub>
                              <m:r>
                                <a:rPr lang="en-GB" i="1">
                                  <a:solidFill>
                                    <a:prstClr val="black"/>
                                  </a:solidFill>
                                  <a:latin typeface="Cambria Math" panose="02040503050406030204" pitchFamily="18" charset="0"/>
                                </a:rPr>
                                <m:t>12</m:t>
                              </m:r>
                            </m:sub>
                          </m:sSub>
                        </m:num>
                        <m:den>
                          <m:r>
                            <a:rPr lang="en-GB" i="1">
                              <a:solidFill>
                                <a:prstClr val="black"/>
                              </a:solidFill>
                              <a:latin typeface="Cambria Math" panose="02040503050406030204" pitchFamily="18" charset="0"/>
                            </a:rPr>
                            <m:t>𝜌</m:t>
                          </m:r>
                        </m:den>
                      </m:f>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𝑆𝑡𝑒𝑎𝑑𝑦</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h𝑦𝑑𝑟𝑎𝑢𝑙𝑖𝑐</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𝑓𝑙𝑜𝑤</m:t>
                      </m:r>
                    </m:oMath>
                  </m:oMathPara>
                </a14:m>
                <a:endParaRPr lang="en-GB" dirty="0">
                  <a:solidFill>
                    <a:prstClr val="black"/>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98600"/>
                <a:ext cx="10515600" cy="4966139"/>
              </a:xfrm>
              <a:blipFill>
                <a:blip r:embed="rId2"/>
                <a:stretch>
                  <a:fillRect l="-1043" t="-36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10</a:t>
            </a:fld>
            <a:endParaRPr lang="en-GB" dirty="0"/>
          </a:p>
        </p:txBody>
      </p:sp>
    </p:spTree>
    <p:extLst>
      <p:ext uri="{BB962C8B-B14F-4D97-AF65-F5344CB8AC3E}">
        <p14:creationId xmlns:p14="http://schemas.microsoft.com/office/powerpoint/2010/main" val="384577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27681"/>
          </a:xfrm>
        </p:spPr>
        <p:txBody>
          <a:bodyPr>
            <a:normAutofit fontScale="90000"/>
          </a:bodyPr>
          <a:lstStyle/>
          <a:p>
            <a:pPr algn="just"/>
            <a:r>
              <a:rPr lang="en-GB" dirty="0"/>
              <a:t>UNIT </a:t>
            </a:r>
            <a:r>
              <a:rPr lang="en-GB" dirty="0" smtClean="0"/>
              <a:t>4:</a:t>
            </a:r>
            <a:r>
              <a:rPr lang="en-GB" dirty="0"/>
              <a:t>	 </a:t>
            </a:r>
            <a:r>
              <a:rPr lang="en-GB" dirty="0" smtClean="0"/>
              <a:t>Comparison of Energy Transmission</a:t>
            </a:r>
            <a:endParaRPr lang="en-GB" dirty="0"/>
          </a:p>
        </p:txBody>
      </p:sp>
      <p:sp>
        <p:nvSpPr>
          <p:cNvPr id="3" name="Content Placeholder 2"/>
          <p:cNvSpPr>
            <a:spLocks noGrp="1"/>
          </p:cNvSpPr>
          <p:nvPr>
            <p:ph idx="1"/>
          </p:nvPr>
        </p:nvSpPr>
        <p:spPr>
          <a:xfrm>
            <a:off x="838200" y="1418521"/>
            <a:ext cx="10515600" cy="599142"/>
          </a:xfrm>
        </p:spPr>
        <p:txBody>
          <a:bodyPr>
            <a:normAutofit fontScale="85000" lnSpcReduction="10000"/>
          </a:bodyPr>
          <a:lstStyle/>
          <a:p>
            <a:pPr marL="0" indent="0">
              <a:lnSpc>
                <a:spcPct val="120000"/>
              </a:lnSpc>
              <a:spcBef>
                <a:spcPts val="0"/>
              </a:spcBef>
              <a:spcAft>
                <a:spcPts val="1000"/>
              </a:spcAft>
              <a:buNone/>
            </a:pPr>
            <a:r>
              <a:rPr lang="en-US" b="1" dirty="0" smtClean="0"/>
              <a:t>Comparison of </a:t>
            </a:r>
            <a:r>
              <a:rPr lang="en-US" b="1" dirty="0"/>
              <a:t>Hydraulic </a:t>
            </a:r>
            <a:r>
              <a:rPr lang="en-US" b="1" dirty="0" smtClean="0"/>
              <a:t>Force/Energy Transmission </a:t>
            </a:r>
            <a:r>
              <a:rPr lang="en-US" b="1" dirty="0"/>
              <a:t>to other Forms</a:t>
            </a:r>
            <a:r>
              <a:rPr lang="en-US" b="1" dirty="0" smtClean="0"/>
              <a:t>:</a:t>
            </a:r>
            <a:endParaRPr lang="en-GB" b="1"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11</a:t>
            </a:fld>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825930749"/>
              </p:ext>
            </p:extLst>
          </p:nvPr>
        </p:nvGraphicFramePr>
        <p:xfrm>
          <a:off x="838200" y="2239684"/>
          <a:ext cx="10515601" cy="4222892"/>
        </p:xfrm>
        <a:graphic>
          <a:graphicData uri="http://schemas.openxmlformats.org/drawingml/2006/table">
            <a:tbl>
              <a:tblPr/>
              <a:tblGrid>
                <a:gridCol w="3019105">
                  <a:extLst>
                    <a:ext uri="{9D8B030D-6E8A-4147-A177-3AD203B41FA5}">
                      <a16:colId xmlns:a16="http://schemas.microsoft.com/office/drawing/2014/main" val="20000"/>
                    </a:ext>
                  </a:extLst>
                </a:gridCol>
                <a:gridCol w="3086950">
                  <a:extLst>
                    <a:ext uri="{9D8B030D-6E8A-4147-A177-3AD203B41FA5}">
                      <a16:colId xmlns:a16="http://schemas.microsoft.com/office/drawing/2014/main" val="20001"/>
                    </a:ext>
                  </a:extLst>
                </a:gridCol>
                <a:gridCol w="2204773">
                  <a:extLst>
                    <a:ext uri="{9D8B030D-6E8A-4147-A177-3AD203B41FA5}">
                      <a16:colId xmlns:a16="http://schemas.microsoft.com/office/drawing/2014/main" val="20002"/>
                    </a:ext>
                  </a:extLst>
                </a:gridCol>
                <a:gridCol w="2204773">
                  <a:extLst>
                    <a:ext uri="{9D8B030D-6E8A-4147-A177-3AD203B41FA5}">
                      <a16:colId xmlns:a16="http://schemas.microsoft.com/office/drawing/2014/main" val="20003"/>
                    </a:ext>
                  </a:extLst>
                </a:gridCol>
              </a:tblGrid>
              <a:tr h="711596">
                <a:tc>
                  <a:txBody>
                    <a:bodyPr/>
                    <a:lstStyle/>
                    <a:p>
                      <a:pPr>
                        <a:lnSpc>
                          <a:spcPct val="120000"/>
                        </a:lnSpc>
                        <a:spcAft>
                          <a:spcPts val="1000"/>
                        </a:spcAft>
                      </a:pPr>
                      <a:r>
                        <a:rPr lang="en-GB" sz="2400" b="1" i="1" dirty="0">
                          <a:effectLst/>
                          <a:latin typeface="Times New Roman" panose="02020603050405020304" pitchFamily="18" charset="0"/>
                          <a:ea typeface="Times New Roman" panose="02020603050405020304" pitchFamily="18" charset="0"/>
                        </a:rPr>
                        <a:t>Criteria</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b="1" i="1" dirty="0">
                          <a:effectLst/>
                          <a:latin typeface="Times New Roman" panose="02020603050405020304" pitchFamily="18" charset="0"/>
                          <a:ea typeface="Times New Roman" panose="02020603050405020304" pitchFamily="18" charset="0"/>
                        </a:rPr>
                        <a:t>Mechanical</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b="1" i="1" dirty="0">
                          <a:effectLst/>
                          <a:latin typeface="Times New Roman" panose="02020603050405020304" pitchFamily="18" charset="0"/>
                          <a:ea typeface="Times New Roman" panose="02020603050405020304" pitchFamily="18" charset="0"/>
                        </a:rPr>
                        <a:t>Hydraulic</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b="1" i="1" dirty="0">
                          <a:effectLst/>
                          <a:latin typeface="Times New Roman" panose="02020603050405020304" pitchFamily="18" charset="0"/>
                          <a:ea typeface="Times New Roman" panose="02020603050405020304" pitchFamily="18" charset="0"/>
                        </a:rPr>
                        <a:t>Electrical</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Force Density</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very good</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Transmission Distance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very 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Control</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Safety</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Approximately the     same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4"/>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Efficiency</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Flexibility in structure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bad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very good</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Cost of elements</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expensive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expensive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cheap</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0962">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Size</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big</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small</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2400" dirty="0">
                          <a:effectLst/>
                          <a:latin typeface="Times New Roman" panose="02020603050405020304" pitchFamily="18" charset="0"/>
                          <a:ea typeface="Times New Roman" panose="02020603050405020304" pitchFamily="18" charset="0"/>
                        </a:rPr>
                        <a:t>big</a:t>
                      </a:r>
                      <a:endParaRPr lang="en-GB" sz="2400" dirty="0">
                        <a:effectLst/>
                        <a:latin typeface="Times New Roman" panose="02020603050405020304" pitchFamily="18" charset="0"/>
                        <a:ea typeface="Calibri" panose="020F0502020204030204" pitchFamily="34" charset="0"/>
                      </a:endParaRPr>
                    </a:p>
                  </a:txBody>
                  <a:tcPr marL="115932" marR="1159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2876"/>
            <a:ext cx="10515600" cy="735724"/>
          </a:xfrm>
        </p:spPr>
        <p:txBody>
          <a:bodyPr>
            <a:normAutofit fontScale="90000"/>
          </a:bodyPr>
          <a:lstStyle/>
          <a:p>
            <a:r>
              <a:rPr lang="en-GB" dirty="0"/>
              <a:t>UNIT </a:t>
            </a:r>
            <a:r>
              <a:rPr lang="en-GB" dirty="0" smtClean="0"/>
              <a:t>4:</a:t>
            </a:r>
            <a:r>
              <a:rPr lang="en-GB" dirty="0"/>
              <a:t>	 </a:t>
            </a:r>
            <a:r>
              <a:rPr lang="en-GB" dirty="0" smtClean="0"/>
              <a:t>Electrical-Mechanical Energy Conversion</a:t>
            </a:r>
            <a:endParaRPr lang="en-GB" dirty="0"/>
          </a:p>
        </p:txBody>
      </p:sp>
      <p:sp>
        <p:nvSpPr>
          <p:cNvPr id="3" name="Content Placeholder 2"/>
          <p:cNvSpPr>
            <a:spLocks noGrp="1"/>
          </p:cNvSpPr>
          <p:nvPr>
            <p:ph idx="1"/>
          </p:nvPr>
        </p:nvSpPr>
        <p:spPr>
          <a:xfrm>
            <a:off x="838200" y="1498601"/>
            <a:ext cx="10515600" cy="3074036"/>
          </a:xfrm>
        </p:spPr>
        <p:txBody>
          <a:bodyPr>
            <a:normAutofit/>
          </a:bodyPr>
          <a:lstStyle/>
          <a:p>
            <a:pPr marL="574675" lvl="0" indent="0">
              <a:buNone/>
            </a:pPr>
            <a:r>
              <a:rPr lang="en-US" b="1" i="1" dirty="0" smtClean="0">
                <a:solidFill>
                  <a:prstClr val="black"/>
                </a:solidFill>
              </a:rPr>
              <a:t>Advantages of Hydraulic Controls and Drives</a:t>
            </a:r>
            <a:r>
              <a:rPr lang="en-US" b="1" i="1" dirty="0">
                <a:solidFill>
                  <a:prstClr val="black"/>
                </a:solidFill>
              </a:rPr>
              <a:t>:</a:t>
            </a:r>
            <a:endParaRPr lang="en-GB" b="1" i="1" dirty="0">
              <a:solidFill>
                <a:prstClr val="black"/>
              </a:solidFill>
            </a:endParaRPr>
          </a:p>
          <a:p>
            <a:pPr lvl="0">
              <a:buFont typeface="Wingdings" panose="05000000000000000000" pitchFamily="2" charset="2"/>
              <a:buChar char="v"/>
            </a:pPr>
            <a:r>
              <a:rPr lang="en-GB" i="1" dirty="0">
                <a:solidFill>
                  <a:prstClr val="black"/>
                </a:solidFill>
              </a:rPr>
              <a:t>Force Density</a:t>
            </a:r>
            <a:r>
              <a:rPr lang="en-GB" dirty="0">
                <a:solidFill>
                  <a:prstClr val="black"/>
                </a:solidFill>
              </a:rPr>
              <a:t>:	 Electric motor</a:t>
            </a:r>
          </a:p>
          <a:p>
            <a:pPr marL="457200" indent="0">
              <a:lnSpc>
                <a:spcPct val="120000"/>
              </a:lnSpc>
              <a:buNone/>
              <a:tabLst>
                <a:tab pos="457200" algn="l"/>
              </a:tabLst>
            </a:pPr>
            <a:r>
              <a:rPr lang="en-US" dirty="0"/>
              <a:t>A conductor carrying an electric electrical current in a magnetic </a:t>
            </a:r>
            <a:r>
              <a:rPr lang="en-GB" dirty="0"/>
              <a:t>field experiences an electrical force </a:t>
            </a:r>
            <a:r>
              <a:rPr lang="en-GB" u="sng" dirty="0"/>
              <a:t>g</a:t>
            </a:r>
            <a:r>
              <a:rPr lang="en-GB" dirty="0"/>
              <a:t>overned by the </a:t>
            </a:r>
            <a:r>
              <a:rPr lang="en-GB" i="1" u="sng" dirty="0">
                <a:solidFill>
                  <a:prstClr val="black"/>
                </a:solidFill>
              </a:rPr>
              <a:t>Fleming’s left-hand rule</a:t>
            </a:r>
            <a:r>
              <a:rPr lang="en-GB" dirty="0">
                <a:solidFill>
                  <a:prstClr val="black"/>
                </a:solidFill>
              </a:rPr>
              <a:t> (As in Electric motor)</a:t>
            </a:r>
            <a:r>
              <a:rPr lang="en-GB" dirty="0"/>
              <a:t>. </a:t>
            </a:r>
          </a:p>
        </p:txBody>
      </p:sp>
      <p:sp>
        <p:nvSpPr>
          <p:cNvPr id="4" name="Slide Number Placeholder 3"/>
          <p:cNvSpPr>
            <a:spLocks noGrp="1"/>
          </p:cNvSpPr>
          <p:nvPr>
            <p:ph type="sldNum" sz="quarter" idx="12"/>
          </p:nvPr>
        </p:nvSpPr>
        <p:spPr/>
        <p:txBody>
          <a:bodyPr/>
          <a:lstStyle/>
          <a:p>
            <a:fld id="{7E50C373-F1D0-494F-8D6D-366C958B3429}" type="slidenum">
              <a:rPr lang="en-GB" smtClean="0"/>
              <a:pPr/>
              <a:t>12</a:t>
            </a:fld>
            <a:endParaRPr lang="en-GB"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484630" y="4632326"/>
            <a:ext cx="1907540" cy="1758950"/>
          </a:xfrm>
          <a:prstGeom prst="rect">
            <a:avLst/>
          </a:prstGeom>
          <a:noFill/>
          <a:ln>
            <a:no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572637"/>
            <a:ext cx="2195830" cy="180276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08724"/>
          </a:xfrm>
        </p:spPr>
        <p:txBody>
          <a:bodyPr>
            <a:normAutofit fontScale="90000"/>
          </a:bodyPr>
          <a:lstStyle/>
          <a:p>
            <a:r>
              <a:rPr lang="en-GB" dirty="0"/>
              <a:t>UNIT </a:t>
            </a:r>
            <a:r>
              <a:rPr lang="en-GB" dirty="0" smtClean="0"/>
              <a:t>4:</a:t>
            </a:r>
            <a:r>
              <a:rPr lang="en-GB" dirty="0"/>
              <a:t>	 Electrical-Mechanical Energy Conversion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97000"/>
                <a:ext cx="10515600" cy="4968173"/>
              </a:xfrm>
            </p:spPr>
            <p:txBody>
              <a:bodyPr>
                <a:normAutofit fontScale="92500" lnSpcReduction="10000"/>
              </a:bodyPr>
              <a:lstStyle/>
              <a:p>
                <a:pPr marL="574675" lvl="0" indent="0">
                  <a:buNone/>
                </a:pPr>
                <a:r>
                  <a:rPr lang="en-US" b="1" i="1" dirty="0">
                    <a:solidFill>
                      <a:prstClr val="black"/>
                    </a:solidFill>
                  </a:rPr>
                  <a:t>Advantages of Hydraulic Controls and Drives:</a:t>
                </a:r>
                <a:endParaRPr lang="en-GB" b="1" i="1" dirty="0">
                  <a:solidFill>
                    <a:prstClr val="black"/>
                  </a:solidFill>
                </a:endParaRPr>
              </a:p>
              <a:p>
                <a:pPr lvl="0">
                  <a:buFont typeface="Wingdings" panose="05000000000000000000" pitchFamily="2" charset="2"/>
                  <a:buChar char="v"/>
                </a:pPr>
                <a:r>
                  <a:rPr lang="en-GB" i="1" dirty="0" smtClean="0">
                    <a:solidFill>
                      <a:prstClr val="black"/>
                    </a:solidFill>
                  </a:rPr>
                  <a:t>Force </a:t>
                </a:r>
                <a:r>
                  <a:rPr lang="en-GB" i="1" dirty="0">
                    <a:solidFill>
                      <a:prstClr val="black"/>
                    </a:solidFill>
                  </a:rPr>
                  <a:t>Density</a:t>
                </a:r>
                <a:r>
                  <a:rPr lang="en-GB" dirty="0" smtClean="0">
                    <a:solidFill>
                      <a:prstClr val="black"/>
                    </a:solidFill>
                  </a:rPr>
                  <a:t>:</a:t>
                </a:r>
              </a:p>
              <a:p>
                <a:pPr marL="538163" lvl="0"/>
                <a:r>
                  <a:rPr lang="en-GB" b="1" dirty="0" smtClean="0">
                    <a:solidFill>
                      <a:prstClr val="black"/>
                    </a:solidFill>
                  </a:rPr>
                  <a:t>Electric motor:</a:t>
                </a:r>
                <a:endParaRPr lang="en-GB" b="1" dirty="0">
                  <a:solidFill>
                    <a:prstClr val="black"/>
                  </a:solidFill>
                </a:endParaRPr>
              </a:p>
              <a:p>
                <a:pPr marL="0" lvl="0" indent="0">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𝐹𝑜𝑟𝑐𝑒</m:t>
                      </m:r>
                      <m:r>
                        <a:rPr lang="en-US" b="0" i="1" smtClean="0">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𝐹</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𝐼𝐵𝐿</m:t>
                      </m:r>
                      <m:r>
                        <a:rPr lang="en-GB" i="1">
                          <a:solidFill>
                            <a:prstClr val="black"/>
                          </a:solidFill>
                          <a:latin typeface="Cambria Math" panose="02040503050406030204" pitchFamily="18" charset="0"/>
                        </a:rPr>
                        <m:t>.</m:t>
                      </m:r>
                      <m:func>
                        <m:funcPr>
                          <m:ctrlPr>
                            <a:rPr lang="en-GB" i="1">
                              <a:solidFill>
                                <a:prstClr val="black"/>
                              </a:solidFill>
                              <a:latin typeface="Cambria Math" panose="02040503050406030204" pitchFamily="18" charset="0"/>
                            </a:rPr>
                          </m:ctrlPr>
                        </m:funcPr>
                        <m:fName>
                          <m:r>
                            <m:rPr>
                              <m:sty m:val="p"/>
                            </m:rPr>
                            <a:rPr lang="en-GB">
                              <a:solidFill>
                                <a:prstClr val="black"/>
                              </a:solidFill>
                              <a:latin typeface="Cambria Math" panose="02040503050406030204" pitchFamily="18" charset="0"/>
                            </a:rPr>
                            <m:t>sin</m:t>
                          </m:r>
                        </m:fName>
                        <m:e>
                          <m:r>
                            <a:rPr lang="en-GB" i="1">
                              <a:solidFill>
                                <a:prstClr val="black"/>
                              </a:solidFill>
                              <a:latin typeface="Cambria Math" panose="02040503050406030204" pitchFamily="18" charset="0"/>
                            </a:rPr>
                            <m:t>𝛼</m:t>
                          </m:r>
                        </m:e>
                      </m:func>
                      <m:r>
                        <a:rPr lang="en-US" b="0" i="1" smtClean="0">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𝐹𝑜𝑟</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𝛼</m:t>
                      </m:r>
                      <m:r>
                        <a:rPr lang="en-GB" i="1">
                          <a:solidFill>
                            <a:prstClr val="black"/>
                          </a:solidFill>
                          <a:latin typeface="Cambria Math" panose="02040503050406030204" pitchFamily="18" charset="0"/>
                        </a:rPr>
                        <m:t>=</m:t>
                      </m:r>
                      <m:sSup>
                        <m:sSupPr>
                          <m:ctrlPr>
                            <a:rPr lang="en-GB" i="1">
                              <a:solidFill>
                                <a:prstClr val="black"/>
                              </a:solidFill>
                              <a:latin typeface="Cambria Math" panose="02040503050406030204" pitchFamily="18" charset="0"/>
                            </a:rPr>
                          </m:ctrlPr>
                        </m:sSupPr>
                        <m:e>
                          <m:r>
                            <a:rPr lang="en-GB" i="1">
                              <a:solidFill>
                                <a:prstClr val="black"/>
                              </a:solidFill>
                              <a:latin typeface="Cambria Math" panose="02040503050406030204" pitchFamily="18" charset="0"/>
                            </a:rPr>
                            <m:t>90</m:t>
                          </m:r>
                        </m:e>
                        <m:sup>
                          <m:r>
                            <a:rPr lang="en-GB" i="1">
                              <a:solidFill>
                                <a:prstClr val="black"/>
                              </a:solidFill>
                              <a:latin typeface="Cambria Math" panose="02040503050406030204" pitchFamily="18" charset="0"/>
                            </a:rPr>
                            <m:t>𝑜</m:t>
                          </m:r>
                        </m:sup>
                      </m:sSup>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𝑡𝑜𝑟𝑞𝑢𝑒</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𝑇</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𝐼𝐵𝐿</m:t>
                      </m:r>
                      <m:d>
                        <m:dPr>
                          <m:ctrlPr>
                            <a:rPr lang="en-GB" i="1">
                              <a:solidFill>
                                <a:prstClr val="black"/>
                              </a:solidFill>
                              <a:latin typeface="Cambria Math" panose="02040503050406030204" pitchFamily="18" charset="0"/>
                            </a:rPr>
                          </m:ctrlPr>
                        </m:dPr>
                        <m:e>
                          <m:f>
                            <m:fPr>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𝑑</m:t>
                              </m:r>
                            </m:num>
                            <m:den>
                              <m:r>
                                <a:rPr lang="en-GB" i="1">
                                  <a:solidFill>
                                    <a:prstClr val="black"/>
                                  </a:solidFill>
                                  <a:latin typeface="Cambria Math" panose="02040503050406030204" pitchFamily="18" charset="0"/>
                                </a:rPr>
                                <m:t>2</m:t>
                              </m:r>
                            </m:den>
                          </m:f>
                        </m:e>
                      </m:d>
                    </m:oMath>
                  </m:oMathPara>
                </a14:m>
                <a:endParaRPr lang="en-GB" dirty="0">
                  <a:solidFill>
                    <a:prstClr val="black"/>
                  </a:solidFill>
                </a:endParaRPr>
              </a:p>
              <a:p>
                <a:pPr marL="1438275" lvl="0" indent="0">
                  <a:lnSpc>
                    <a:spcPct val="110000"/>
                  </a:lnSpc>
                  <a:spcBef>
                    <a:spcPts val="600"/>
                  </a:spcBef>
                  <a:buNone/>
                </a:pPr>
                <a14:m>
                  <m:oMath xmlns:m="http://schemas.openxmlformats.org/officeDocument/2006/math">
                    <m:r>
                      <a:rPr lang="en-GB" i="1">
                        <a:solidFill>
                          <a:prstClr val="black"/>
                        </a:solidFill>
                        <a:latin typeface="Cambria Math" panose="02040503050406030204" pitchFamily="18" charset="0"/>
                      </a:rPr>
                      <m:t>𝑤h𝑒𝑟𝑒</m:t>
                    </m:r>
                    <m:r>
                      <a:rPr lang="en-US" b="0" i="0"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𝐼</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𝜌</m:t>
                    </m:r>
                    <m:r>
                      <a:rPr lang="en-GB" i="1">
                        <a:solidFill>
                          <a:prstClr val="black"/>
                        </a:solidFill>
                        <a:latin typeface="Cambria Math" panose="02040503050406030204" pitchFamily="18" charset="0"/>
                      </a:rPr>
                      <m:t>𝐴</m:t>
                    </m:r>
                    <m:r>
                      <a:rPr lang="en-GB"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𝑎𝑛𝑑</m:t>
                    </m:r>
                    <m:r>
                      <a:rPr lang="en-US"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𝐴</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𝑎h</m:t>
                    </m:r>
                    <m:r>
                      <a:rPr lang="en-GB"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𝑓𝑜𝑟</m:t>
                    </m:r>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𝑟𝑒𝑐𝑡𝑎𝑛𝑔𝑢𝑙𝑎𝑟</m:t>
                    </m:r>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𝑥</m:t>
                    </m:r>
                    <m:r>
                      <a:rPr lang="en-US" b="0" i="1"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𝑠𝑒𝑐𝑡𝑖𝑜𝑛</m:t>
                    </m:r>
                  </m:oMath>
                </a14:m>
                <a:r>
                  <a:rPr lang="en-GB" dirty="0" smtClean="0">
                    <a:solidFill>
                      <a:prstClr val="black"/>
                    </a:solidFill>
                  </a:rPr>
                  <a:t> </a:t>
                </a:r>
                <a:endParaRPr lang="en-GB" dirty="0">
                  <a:solidFill>
                    <a:prstClr val="black"/>
                  </a:solidFill>
                </a:endParaRPr>
              </a:p>
              <a:p>
                <a:pPr marL="0" lvl="0" indent="0">
                  <a:lnSpc>
                    <a:spcPct val="110000"/>
                  </a:lnSpc>
                  <a:spcBef>
                    <a:spcPts val="600"/>
                  </a:spcBef>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𝑃𝑜𝑤𝑒𝑟</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𝑃</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𝑇</m:t>
                      </m:r>
                      <m:r>
                        <a:rPr lang="en-GB" i="1">
                          <a:solidFill>
                            <a:prstClr val="black"/>
                          </a:solidFill>
                          <a:latin typeface="Cambria Math" panose="02040503050406030204" pitchFamily="18" charset="0"/>
                        </a:rPr>
                        <m:t>𝜔</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𝑃</m:t>
                      </m:r>
                      <m:r>
                        <a:rPr lang="en-GB" i="1">
                          <a:solidFill>
                            <a:prstClr val="black"/>
                          </a:solidFill>
                          <a:latin typeface="Cambria Math" panose="02040503050406030204" pitchFamily="18" charset="0"/>
                        </a:rPr>
                        <m:t>=</m:t>
                      </m:r>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𝐼𝐵𝐿</m:t>
                          </m:r>
                          <m:f>
                            <m:fPr>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𝑑</m:t>
                              </m:r>
                            </m:num>
                            <m:den>
                              <m:r>
                                <a:rPr lang="en-GB" i="1">
                                  <a:solidFill>
                                    <a:prstClr val="black"/>
                                  </a:solidFill>
                                  <a:latin typeface="Cambria Math" panose="02040503050406030204" pitchFamily="18" charset="0"/>
                                </a:rPr>
                                <m:t>2</m:t>
                              </m:r>
                            </m:den>
                          </m:f>
                        </m:e>
                      </m:d>
                      <m:r>
                        <a:rPr lang="en-GB" i="1">
                          <a:solidFill>
                            <a:prstClr val="black"/>
                          </a:solidFill>
                          <a:latin typeface="Cambria Math" panose="02040503050406030204" pitchFamily="18" charset="0"/>
                        </a:rPr>
                        <m:t>2</m:t>
                      </m:r>
                      <m:r>
                        <a:rPr lang="en-GB" i="1">
                          <a:solidFill>
                            <a:prstClr val="black"/>
                          </a:solidFill>
                          <a:latin typeface="Cambria Math" panose="02040503050406030204" pitchFamily="18" charset="0"/>
                        </a:rPr>
                        <m:t>𝜋</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𝑛</m:t>
                      </m:r>
                      <m:r>
                        <a:rPr lang="en-GB" i="1">
                          <a:solidFill>
                            <a:prstClr val="black"/>
                          </a:solidFill>
                          <a:latin typeface="Cambria Math" panose="02040503050406030204" pitchFamily="18" charset="0"/>
                        </a:rPr>
                        <m:t>=</m:t>
                      </m:r>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𝜌</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𝑎</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h</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𝐵</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𝐿</m:t>
                          </m:r>
                          <m:r>
                            <a:rPr lang="en-GB" i="1">
                              <a:solidFill>
                                <a:prstClr val="black"/>
                              </a:solidFill>
                              <a:latin typeface="Cambria Math" panose="02040503050406030204" pitchFamily="18" charset="0"/>
                            </a:rPr>
                            <m:t>.</m:t>
                          </m:r>
                          <m:f>
                            <m:fPr>
                              <m:ctrlPr>
                                <a:rPr lang="en-GB" i="1">
                                  <a:solidFill>
                                    <a:prstClr val="black"/>
                                  </a:solidFill>
                                  <a:latin typeface="Cambria Math" panose="02040503050406030204" pitchFamily="18" charset="0"/>
                                </a:rPr>
                              </m:ctrlPr>
                            </m:fPr>
                            <m:num>
                              <m:r>
                                <a:rPr lang="en-GB" i="1">
                                  <a:solidFill>
                                    <a:prstClr val="black"/>
                                  </a:solidFill>
                                  <a:latin typeface="Cambria Math" panose="02040503050406030204" pitchFamily="18" charset="0"/>
                                </a:rPr>
                                <m:t>𝑑</m:t>
                              </m:r>
                            </m:num>
                            <m:den>
                              <m:r>
                                <a:rPr lang="en-GB" i="1">
                                  <a:solidFill>
                                    <a:prstClr val="black"/>
                                  </a:solidFill>
                                  <a:latin typeface="Cambria Math" panose="02040503050406030204" pitchFamily="18" charset="0"/>
                                </a:rPr>
                                <m:t>2</m:t>
                              </m:r>
                            </m:den>
                          </m:f>
                        </m:e>
                      </m:d>
                      <m:r>
                        <a:rPr lang="en-GB" i="1">
                          <a:solidFill>
                            <a:prstClr val="black"/>
                          </a:solidFill>
                          <a:latin typeface="Cambria Math" panose="02040503050406030204" pitchFamily="18" charset="0"/>
                        </a:rPr>
                        <m:t>2</m:t>
                      </m:r>
                      <m:r>
                        <a:rPr lang="en-GB" i="1">
                          <a:solidFill>
                            <a:prstClr val="black"/>
                          </a:solidFill>
                          <a:latin typeface="Cambria Math" panose="02040503050406030204" pitchFamily="18" charset="0"/>
                        </a:rPr>
                        <m:t>𝜋</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𝑛</m:t>
                      </m:r>
                    </m:oMath>
                  </m:oMathPara>
                </a14:m>
                <a:endParaRPr lang="en-GB" dirty="0">
                  <a:solidFill>
                    <a:prstClr val="black"/>
                  </a:solidFill>
                </a:endParaRPr>
              </a:p>
              <a:p>
                <a:pPr marL="0" lvl="0" indent="0">
                  <a:lnSpc>
                    <a:spcPct val="110000"/>
                  </a:lnSpc>
                  <a:spcBef>
                    <a:spcPts val="600"/>
                  </a:spcBef>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𝑃</m:t>
                      </m:r>
                      <m:r>
                        <a:rPr lang="en-GB" i="1">
                          <a:solidFill>
                            <a:prstClr val="black"/>
                          </a:solidFill>
                          <a:latin typeface="Cambria Math" panose="02040503050406030204" pitchFamily="18" charset="0"/>
                        </a:rPr>
                        <m:t>=</m:t>
                      </m:r>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𝜋</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𝑑</m:t>
                          </m:r>
                          <m:r>
                            <a:rPr lang="en-GB"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h</m:t>
                          </m:r>
                          <m:r>
                            <a:rPr lang="en-US" b="0" i="1" smtClean="0">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𝐿</m:t>
                          </m:r>
                        </m:e>
                      </m:d>
                      <m:d>
                        <m:dPr>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𝜌</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𝐵</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𝑎</m:t>
                          </m:r>
                        </m:e>
                      </m:d>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𝑛</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𝑉</m:t>
                      </m:r>
                      <m:r>
                        <m:rPr>
                          <m:sty m:val="p"/>
                        </m:rPr>
                        <a:rPr lang="el-GR" i="1">
                          <a:solidFill>
                            <a:prstClr val="black"/>
                          </a:solidFill>
                          <a:latin typeface="Cambria Math" panose="02040503050406030204" pitchFamily="18" charset="0"/>
                          <a:ea typeface="Cambria Math" panose="02040503050406030204" pitchFamily="18" charset="0"/>
                        </a:rPr>
                        <m:t>Λ</m:t>
                      </m:r>
                      <m:r>
                        <a:rPr lang="en-GB" i="1">
                          <a:solidFill>
                            <a:prstClr val="black"/>
                          </a:solidFill>
                          <a:latin typeface="Cambria Math" panose="02040503050406030204" pitchFamily="18" charset="0"/>
                        </a:rPr>
                        <m:t>𝑛</m:t>
                      </m:r>
                      <m:r>
                        <a:rPr lang="en-US"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𝐹𝑜𝑟𝑐𝑒</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𝑑𝑒𝑛𝑠𝑖𝑡𝑦</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𝜌</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𝐵</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𝑎</m:t>
                      </m:r>
                    </m:oMath>
                  </m:oMathPara>
                </a14:m>
                <a:endParaRPr lang="en-GB" dirty="0">
                  <a:solidFill>
                    <a:prstClr val="black"/>
                  </a:solidFill>
                </a:endParaRPr>
              </a:p>
              <a:p>
                <a:pPr marL="538163" lvl="0">
                  <a:lnSpc>
                    <a:spcPct val="110000"/>
                  </a:lnSpc>
                  <a:spcBef>
                    <a:spcPts val="600"/>
                  </a:spcBef>
                </a:pPr>
                <a:r>
                  <a:rPr lang="en-GB" b="1" i="1" dirty="0">
                    <a:solidFill>
                      <a:prstClr val="black"/>
                    </a:solidFill>
                  </a:rPr>
                  <a:t>Hydraulic motor:</a:t>
                </a:r>
                <a:endParaRPr lang="en-GB" dirty="0">
                  <a:solidFill>
                    <a:prstClr val="black"/>
                  </a:solidFill>
                </a:endParaRPr>
              </a:p>
              <a:p>
                <a:pPr marL="0" lvl="0" indent="0">
                  <a:lnSpc>
                    <a:spcPct val="110000"/>
                  </a:lnSpc>
                  <a:spcBef>
                    <a:spcPts val="600"/>
                  </a:spcBef>
                  <a:buNone/>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𝑃𝑜𝑤𝑒𝑟</m:t>
                      </m:r>
                      <m:r>
                        <a:rPr lang="en-US" b="0" i="1" smtClean="0">
                          <a:solidFill>
                            <a:prstClr val="black"/>
                          </a:solidFill>
                          <a:latin typeface="Cambria Math" panose="02040503050406030204" pitchFamily="18" charset="0"/>
                        </a:rPr>
                        <m:t> </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𝑃</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𝑄</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𝑝</m:t>
                      </m:r>
                      <m:r>
                        <a:rPr lang="en-GB"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𝑉</m:t>
                      </m:r>
                      <m:r>
                        <a:rPr lang="en-GB" i="1">
                          <a:solidFill>
                            <a:prstClr val="black"/>
                          </a:solidFill>
                          <a:latin typeface="Cambria Math" panose="02040503050406030204" pitchFamily="18" charset="0"/>
                        </a:rPr>
                        <m:t>𝑛</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𝑝</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𝐹𝑜𝑟𝑐𝑒</m:t>
                      </m:r>
                      <m:r>
                        <a:rPr lang="en-GB" i="1">
                          <a:solidFill>
                            <a:prstClr val="black"/>
                          </a:solidFill>
                          <a:latin typeface="Cambria Math" panose="02040503050406030204" pitchFamily="18" charset="0"/>
                        </a:rPr>
                        <m:t> </m:t>
                      </m:r>
                      <m:r>
                        <a:rPr lang="en-GB" i="1">
                          <a:solidFill>
                            <a:prstClr val="black"/>
                          </a:solidFill>
                          <a:latin typeface="Cambria Math" panose="02040503050406030204" pitchFamily="18" charset="0"/>
                        </a:rPr>
                        <m:t>𝑑𝑒𝑛𝑠𝑖𝑡𝑦</m:t>
                      </m:r>
                      <m:r>
                        <a:rPr lang="en-GB" i="1">
                          <a:solidFill>
                            <a:prstClr val="black"/>
                          </a:solidFill>
                          <a:latin typeface="Cambria Math" panose="02040503050406030204" pitchFamily="18" charset="0"/>
                        </a:rPr>
                        <m:t>,  </m:t>
                      </m:r>
                      <m:r>
                        <m:rPr>
                          <m:sty m:val="p"/>
                        </m:rPr>
                        <a:rPr lang="en-GB">
                          <a:solidFill>
                            <a:prstClr val="black"/>
                          </a:solidFill>
                          <a:latin typeface="Cambria Math" panose="02040503050406030204" pitchFamily="18" charset="0"/>
                        </a:rPr>
                        <m:t>Λ</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𝑝</m:t>
                      </m:r>
                    </m:oMath>
                  </m:oMathPara>
                </a14:m>
                <a:endParaRPr lang="en-GB" dirty="0">
                  <a:solidFill>
                    <a:prstClr val="black"/>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97000"/>
                <a:ext cx="10515600" cy="4968173"/>
              </a:xfrm>
              <a:blipFill>
                <a:blip r:embed="rId2"/>
                <a:stretch>
                  <a:fillRect l="-928" t="-269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13</a:t>
            </a:fld>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8808"/>
            <a:ext cx="10515600" cy="362540"/>
          </a:xfrm>
        </p:spPr>
        <p:txBody>
          <a:bodyPr>
            <a:normAutofit fontScale="90000"/>
          </a:bodyPr>
          <a:lstStyle/>
          <a:p>
            <a:r>
              <a:rPr lang="en-GB" dirty="0"/>
              <a:t>UNIT </a:t>
            </a:r>
            <a:r>
              <a:rPr lang="en-GB" dirty="0" smtClean="0"/>
              <a:t>4:</a:t>
            </a:r>
            <a:r>
              <a:rPr lang="en-GB" dirty="0"/>
              <a:t>	 </a:t>
            </a:r>
            <a:r>
              <a:rPr lang="en-GB" dirty="0" smtClean="0"/>
              <a:t>Fluid </a:t>
            </a:r>
            <a:r>
              <a:rPr lang="en-GB" dirty="0"/>
              <a:t>Energy </a:t>
            </a:r>
            <a:r>
              <a:rPr lang="en-GB" dirty="0" smtClean="0"/>
              <a:t>Transmission</a:t>
            </a:r>
            <a:endParaRPr lang="en-GB" dirty="0"/>
          </a:p>
        </p:txBody>
      </p:sp>
      <p:sp>
        <p:nvSpPr>
          <p:cNvPr id="3" name="Content Placeholder 2"/>
          <p:cNvSpPr>
            <a:spLocks noGrp="1"/>
          </p:cNvSpPr>
          <p:nvPr>
            <p:ph idx="1"/>
          </p:nvPr>
        </p:nvSpPr>
        <p:spPr>
          <a:xfrm>
            <a:off x="838200" y="1392702"/>
            <a:ext cx="10515600" cy="5072037"/>
          </a:xfrm>
        </p:spPr>
        <p:txBody>
          <a:bodyPr>
            <a:normAutofit fontScale="92500"/>
          </a:bodyPr>
          <a:lstStyle/>
          <a:p>
            <a:pPr marL="574675" lvl="0" indent="0">
              <a:buNone/>
            </a:pPr>
            <a:r>
              <a:rPr lang="en-US" b="1" i="1" dirty="0">
                <a:solidFill>
                  <a:prstClr val="black"/>
                </a:solidFill>
              </a:rPr>
              <a:t>Advantages of Hydraulic Controls and Drives:</a:t>
            </a:r>
            <a:endParaRPr lang="en-GB" b="1" i="1" dirty="0">
              <a:solidFill>
                <a:prstClr val="black"/>
              </a:solidFill>
            </a:endParaRPr>
          </a:p>
          <a:p>
            <a:pPr lvl="0">
              <a:lnSpc>
                <a:spcPct val="120000"/>
              </a:lnSpc>
              <a:spcBef>
                <a:spcPts val="600"/>
              </a:spcBef>
              <a:buFont typeface="Wingdings" panose="05000000000000000000" pitchFamily="2" charset="2"/>
              <a:buChar char="v"/>
            </a:pPr>
            <a:r>
              <a:rPr lang="en-GB" i="1" dirty="0" smtClean="0">
                <a:solidFill>
                  <a:prstClr val="black"/>
                </a:solidFill>
              </a:rPr>
              <a:t>Distance</a:t>
            </a:r>
            <a:r>
              <a:rPr lang="en-GB" dirty="0" smtClean="0">
                <a:solidFill>
                  <a:prstClr val="black"/>
                </a:solidFill>
              </a:rPr>
              <a:t>: transfer of energy within moderate distance possible with </a:t>
            </a:r>
            <a:r>
              <a:rPr lang="en-GB" dirty="0">
                <a:solidFill>
                  <a:prstClr val="black"/>
                </a:solidFill>
              </a:rPr>
              <a:t>hoses and pipes,</a:t>
            </a:r>
          </a:p>
          <a:p>
            <a:pPr lvl="0">
              <a:lnSpc>
                <a:spcPct val="120000"/>
              </a:lnSpc>
              <a:spcBef>
                <a:spcPts val="600"/>
              </a:spcBef>
              <a:buFont typeface="Wingdings" panose="05000000000000000000" pitchFamily="2" charset="2"/>
              <a:buChar char="v"/>
            </a:pPr>
            <a:r>
              <a:rPr lang="en-US" dirty="0">
                <a:solidFill>
                  <a:prstClr val="black"/>
                </a:solidFill>
              </a:rPr>
              <a:t>Control:	</a:t>
            </a:r>
            <a:r>
              <a:rPr lang="en-US" dirty="0" smtClean="0">
                <a:solidFill>
                  <a:prstClr val="black"/>
                </a:solidFill>
              </a:rPr>
              <a:t>hydraulic control parameters are volumetric flow rate and pressure. </a:t>
            </a:r>
            <a:r>
              <a:rPr lang="en-GB" dirty="0" smtClean="0">
                <a:solidFill>
                  <a:prstClr val="black"/>
                </a:solidFill>
              </a:rPr>
              <a:t>There </a:t>
            </a:r>
            <a:r>
              <a:rPr lang="en-GB" dirty="0">
                <a:solidFill>
                  <a:prstClr val="black"/>
                </a:solidFill>
              </a:rPr>
              <a:t>are simple standard parts available for both hydraulic and electrical transmissions controls.</a:t>
            </a:r>
          </a:p>
          <a:p>
            <a:pPr lvl="0">
              <a:lnSpc>
                <a:spcPct val="120000"/>
              </a:lnSpc>
              <a:spcBef>
                <a:spcPts val="600"/>
              </a:spcBef>
              <a:buFont typeface="Wingdings" panose="05000000000000000000" pitchFamily="2" charset="2"/>
              <a:buChar char="v"/>
            </a:pPr>
            <a:r>
              <a:rPr lang="en-US" dirty="0">
                <a:solidFill>
                  <a:prstClr val="black"/>
                </a:solidFill>
              </a:rPr>
              <a:t>Efficiency:	Low due to </a:t>
            </a:r>
            <a:r>
              <a:rPr lang="en-US" dirty="0" smtClean="0">
                <a:solidFill>
                  <a:prstClr val="black"/>
                </a:solidFill>
              </a:rPr>
              <a:t>presence of </a:t>
            </a:r>
            <a:r>
              <a:rPr lang="en-GB" dirty="0" smtClean="0">
                <a:solidFill>
                  <a:prstClr val="black"/>
                </a:solidFill>
              </a:rPr>
              <a:t>complex </a:t>
            </a:r>
            <a:r>
              <a:rPr lang="en-GB" dirty="0">
                <a:solidFill>
                  <a:prstClr val="black"/>
                </a:solidFill>
              </a:rPr>
              <a:t>resistance </a:t>
            </a:r>
            <a:r>
              <a:rPr lang="en-GB" dirty="0" smtClean="0">
                <a:solidFill>
                  <a:prstClr val="black"/>
                </a:solidFill>
              </a:rPr>
              <a:t>(ohm</a:t>
            </a:r>
            <a:r>
              <a:rPr lang="en-GB" dirty="0">
                <a:solidFill>
                  <a:prstClr val="black"/>
                </a:solidFill>
              </a:rPr>
              <a:t>, capacitance and </a:t>
            </a:r>
            <a:r>
              <a:rPr lang="en-GB" dirty="0" smtClean="0">
                <a:solidFill>
                  <a:prstClr val="black"/>
                </a:solidFill>
              </a:rPr>
              <a:t>inductance) </a:t>
            </a:r>
            <a:r>
              <a:rPr lang="en-GB" dirty="0">
                <a:solidFill>
                  <a:prstClr val="black"/>
                </a:solidFill>
              </a:rPr>
              <a:t>in hydraulic transmissions</a:t>
            </a:r>
          </a:p>
          <a:p>
            <a:pPr lvl="0">
              <a:lnSpc>
                <a:spcPct val="120000"/>
              </a:lnSpc>
              <a:spcBef>
                <a:spcPts val="600"/>
              </a:spcBef>
              <a:buFont typeface="Wingdings" panose="05000000000000000000" pitchFamily="2" charset="2"/>
              <a:buChar char="v"/>
            </a:pPr>
            <a:r>
              <a:rPr lang="en-US" dirty="0" smtClean="0">
                <a:solidFill>
                  <a:prstClr val="black"/>
                </a:solidFill>
              </a:rPr>
              <a:t>Size: hydraulic motors are small </a:t>
            </a:r>
            <a:r>
              <a:rPr lang="en-US" dirty="0">
                <a:solidFill>
                  <a:prstClr val="black"/>
                </a:solidFill>
              </a:rPr>
              <a:t>due to high force density</a:t>
            </a:r>
            <a:r>
              <a:rPr lang="en-US" dirty="0" smtClean="0">
                <a:solidFill>
                  <a:prstClr val="black"/>
                </a:solidFill>
              </a:rPr>
              <a:t>.</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14</a:t>
            </a:fld>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56324"/>
          </a:xfrm>
        </p:spPr>
        <p:txBody>
          <a:bodyPr>
            <a:normAutofit fontScale="90000"/>
          </a:bodyPr>
          <a:lstStyle/>
          <a:p>
            <a:r>
              <a:rPr lang="en-GB" dirty="0"/>
              <a:t>UNIT </a:t>
            </a:r>
            <a:r>
              <a:rPr lang="en-GB" dirty="0" smtClean="0"/>
              <a:t>4:</a:t>
            </a:r>
            <a:r>
              <a:rPr lang="en-GB" dirty="0"/>
              <a:t>	 Fluid Energy Transmission</a:t>
            </a:r>
          </a:p>
        </p:txBody>
      </p:sp>
      <p:sp>
        <p:nvSpPr>
          <p:cNvPr id="3" name="Content Placeholder 2"/>
          <p:cNvSpPr>
            <a:spLocks noGrp="1"/>
          </p:cNvSpPr>
          <p:nvPr>
            <p:ph idx="1"/>
          </p:nvPr>
        </p:nvSpPr>
        <p:spPr>
          <a:xfrm>
            <a:off x="838200" y="1244600"/>
            <a:ext cx="10515600" cy="5220139"/>
          </a:xfrm>
        </p:spPr>
        <p:txBody>
          <a:bodyPr>
            <a:normAutofit/>
          </a:bodyPr>
          <a:lstStyle/>
          <a:p>
            <a:pPr marL="574675" lvl="0" indent="0">
              <a:buNone/>
            </a:pPr>
            <a:r>
              <a:rPr lang="en-US" sz="2400" b="1" i="1" dirty="0" smtClean="0">
                <a:solidFill>
                  <a:prstClr val="black"/>
                </a:solidFill>
              </a:rPr>
              <a:t>Disadvantages </a:t>
            </a:r>
            <a:r>
              <a:rPr lang="en-US" sz="2400" b="1" i="1" dirty="0">
                <a:solidFill>
                  <a:prstClr val="black"/>
                </a:solidFill>
              </a:rPr>
              <a:t>of Hydraulic Controls and Drives:</a:t>
            </a:r>
            <a:endParaRPr lang="en-GB" sz="2400" b="1" i="1" dirty="0">
              <a:solidFill>
                <a:prstClr val="black"/>
              </a:solidFill>
            </a:endParaRP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smtClean="0">
                <a:solidFill>
                  <a:prstClr val="black"/>
                </a:solidFill>
                <a:latin typeface="Times New Roman" panose="02020603050405020304" pitchFamily="18" charset="0"/>
                <a:ea typeface="Times New Roman" panose="02020603050405020304" pitchFamily="18" charset="0"/>
              </a:rPr>
              <a:t>High </a:t>
            </a:r>
            <a:r>
              <a:rPr lang="en-GB" sz="2400" dirty="0">
                <a:solidFill>
                  <a:prstClr val="black"/>
                </a:solidFill>
                <a:latin typeface="Times New Roman" panose="02020603050405020304" pitchFamily="18" charset="0"/>
                <a:ea typeface="Times New Roman" panose="02020603050405020304" pitchFamily="18" charset="0"/>
              </a:rPr>
              <a:t>Losses:	Due to fluid friction in flows through pipes, hoses, changes in cross-sectional area; and losses due to leakages at high pressure and clearances.</a:t>
            </a:r>
            <a:endParaRPr lang="en-GB" sz="2400" dirty="0">
              <a:solidFill>
                <a:prstClr val="black"/>
              </a:solidFill>
              <a:latin typeface="Times New Roman" panose="02020603050405020304" pitchFamily="18" charset="0"/>
              <a:ea typeface="Calibri" panose="020F0502020204030204" pitchFamily="34" charset="0"/>
            </a:endParaRP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a:solidFill>
                  <a:prstClr val="black"/>
                </a:solidFill>
                <a:latin typeface="Times New Roman" panose="02020603050405020304" pitchFamily="18" charset="0"/>
                <a:ea typeface="Times New Roman" panose="02020603050405020304" pitchFamily="18" charset="0"/>
              </a:rPr>
              <a:t>Sensitivity:	Sensitive to foreign particles.</a:t>
            </a:r>
            <a:endParaRPr lang="en-GB" sz="2400" dirty="0">
              <a:solidFill>
                <a:prstClr val="black"/>
              </a:solidFill>
              <a:latin typeface="Times New Roman" panose="02020603050405020304" pitchFamily="18" charset="0"/>
              <a:ea typeface="Calibri" panose="020F0502020204030204" pitchFamily="34" charset="0"/>
            </a:endParaRP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a:solidFill>
                  <a:prstClr val="black"/>
                </a:solidFill>
                <a:latin typeface="Times New Roman" panose="02020603050405020304" pitchFamily="18" charset="0"/>
                <a:ea typeface="Times New Roman" panose="02020603050405020304" pitchFamily="18" charset="0"/>
              </a:rPr>
              <a:t>Dependence:	Depends on the properties of the fluid (maxi. Temperature, compressibility)</a:t>
            </a:r>
            <a:endParaRPr lang="en-GB" sz="2400" dirty="0">
              <a:solidFill>
                <a:prstClr val="black"/>
              </a:solidFill>
              <a:latin typeface="Times New Roman" panose="02020603050405020304" pitchFamily="18" charset="0"/>
              <a:ea typeface="Calibri" panose="020F0502020204030204" pitchFamily="34" charset="0"/>
            </a:endParaRP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a:solidFill>
                  <a:prstClr val="black"/>
                </a:solidFill>
                <a:latin typeface="Times New Roman" panose="02020603050405020304" pitchFamily="18" charset="0"/>
                <a:ea typeface="Times New Roman" panose="02020603050405020304" pitchFamily="18" charset="0"/>
              </a:rPr>
              <a:t>Slip:	</a:t>
            </a:r>
            <a:r>
              <a:rPr lang="en-GB" sz="2400" dirty="0" smtClean="0">
                <a:solidFill>
                  <a:prstClr val="black"/>
                </a:solidFill>
                <a:latin typeface="Times New Roman" panose="02020603050405020304" pitchFamily="18" charset="0"/>
                <a:ea typeface="Times New Roman" panose="02020603050405020304" pitchFamily="18" charset="0"/>
              </a:rPr>
              <a:t>Slip during rotation </a:t>
            </a:r>
            <a:r>
              <a:rPr lang="en-GB" sz="2400" dirty="0">
                <a:solidFill>
                  <a:prstClr val="black"/>
                </a:solidFill>
                <a:latin typeface="Times New Roman" panose="02020603050405020304" pitchFamily="18" charset="0"/>
                <a:ea typeface="Times New Roman" panose="02020603050405020304" pitchFamily="18" charset="0"/>
              </a:rPr>
              <a:t>(n)</a:t>
            </a:r>
            <a:endParaRPr lang="en-GB" sz="2400" dirty="0">
              <a:solidFill>
                <a:prstClr val="black"/>
              </a:solidFill>
              <a:latin typeface="Times New Roman" panose="02020603050405020304" pitchFamily="18" charset="0"/>
              <a:ea typeface="Calibri" panose="020F0502020204030204" pitchFamily="34" charset="0"/>
            </a:endParaRP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a:solidFill>
                  <a:prstClr val="black"/>
                </a:solidFill>
                <a:latin typeface="Times New Roman" panose="02020603050405020304" pitchFamily="18" charset="0"/>
                <a:ea typeface="Times New Roman" panose="02020603050405020304" pitchFamily="18" charset="0"/>
              </a:rPr>
              <a:t>Danger:	Leakages and bursting of pipes are dangers to life and property.</a:t>
            </a:r>
          </a:p>
          <a:p>
            <a:pPr marL="342900" lvl="0" indent="-342900" algn="just" fontAlgn="base" hangingPunct="0">
              <a:lnSpc>
                <a:spcPct val="120000"/>
              </a:lnSpc>
              <a:spcAft>
                <a:spcPts val="600"/>
              </a:spcAft>
              <a:buFont typeface="+mj-lt"/>
              <a:buAutoNum type="alphaLcPeriod"/>
              <a:tabLst>
                <a:tab pos="630555" algn="l"/>
                <a:tab pos="1620520" algn="l"/>
              </a:tabLst>
            </a:pPr>
            <a:r>
              <a:rPr lang="en-GB" sz="2400" dirty="0">
                <a:solidFill>
                  <a:prstClr val="black"/>
                </a:solidFill>
                <a:latin typeface="Times New Roman" panose="02020603050405020304" pitchFamily="18" charset="0"/>
                <a:ea typeface="Times New Roman" panose="02020603050405020304" pitchFamily="18" charset="0"/>
              </a:rPr>
              <a:t>Low-life:	The high force density results in high frictional wear</a:t>
            </a:r>
            <a:endParaRPr lang="en-GB" sz="24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15</a:t>
            </a:fld>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7935"/>
            <a:ext cx="10515600" cy="596771"/>
          </a:xfrm>
        </p:spPr>
        <p:txBody>
          <a:bodyPr>
            <a:normAutofit/>
          </a:bodyPr>
          <a:lstStyle/>
          <a:p>
            <a:r>
              <a:rPr lang="en-GB" dirty="0"/>
              <a:t>UNIT </a:t>
            </a:r>
            <a:r>
              <a:rPr lang="en-GB" dirty="0" smtClean="0"/>
              <a:t>4:</a:t>
            </a:r>
            <a:r>
              <a:rPr lang="en-GB" dirty="0"/>
              <a:t>	 Fluid Energy Transmission</a:t>
            </a:r>
          </a:p>
        </p:txBody>
      </p:sp>
      <p:sp>
        <p:nvSpPr>
          <p:cNvPr id="3" name="Content Placeholder 2"/>
          <p:cNvSpPr>
            <a:spLocks noGrp="1"/>
          </p:cNvSpPr>
          <p:nvPr>
            <p:ph idx="1"/>
          </p:nvPr>
        </p:nvSpPr>
        <p:spPr>
          <a:xfrm>
            <a:off x="838200" y="1344706"/>
            <a:ext cx="10515600" cy="4832257"/>
          </a:xfrm>
        </p:spPr>
        <p:txBody>
          <a:bodyPr>
            <a:normAutofit/>
          </a:bodyPr>
          <a:lstStyle/>
          <a:p>
            <a:pPr lvl="0">
              <a:lnSpc>
                <a:spcPct val="120000"/>
              </a:lnSpc>
            </a:pPr>
            <a:r>
              <a:rPr lang="en-US" dirty="0">
                <a:solidFill>
                  <a:prstClr val="black"/>
                </a:solidFill>
              </a:rPr>
              <a:t>Applications of Fluid Power </a:t>
            </a:r>
            <a:r>
              <a:rPr lang="en-US" dirty="0" smtClean="0">
                <a:solidFill>
                  <a:prstClr val="black"/>
                </a:solidFill>
              </a:rPr>
              <a:t>transmission</a:t>
            </a:r>
            <a:r>
              <a:rPr lang="en-US" dirty="0">
                <a:solidFill>
                  <a:prstClr val="black"/>
                </a:solidFill>
              </a:rPr>
              <a:t>: </a:t>
            </a:r>
          </a:p>
          <a:p>
            <a:pPr marL="177800" lvl="0" indent="0">
              <a:lnSpc>
                <a:spcPct val="120000"/>
              </a:lnSpc>
              <a:buNone/>
            </a:pPr>
            <a:r>
              <a:rPr lang="en-US" dirty="0">
                <a:solidFill>
                  <a:prstClr val="black"/>
                </a:solidFill>
              </a:rPr>
              <a:t>Fluid power is pervasive</a:t>
            </a:r>
            <a:endParaRPr lang="en-GB" dirty="0">
              <a:solidFill>
                <a:prstClr val="black"/>
              </a:solidFill>
            </a:endParaRPr>
          </a:p>
          <a:p>
            <a:pPr marL="812800" lvl="0">
              <a:lnSpc>
                <a:spcPct val="120000"/>
              </a:lnSpc>
              <a:buFont typeface="Wingdings" panose="05000000000000000000" pitchFamily="2" charset="2"/>
              <a:buChar char="v"/>
            </a:pPr>
            <a:r>
              <a:rPr lang="en-US" dirty="0">
                <a:solidFill>
                  <a:prstClr val="black"/>
                </a:solidFill>
              </a:rPr>
              <a:t>Gas springs in office chairs</a:t>
            </a:r>
          </a:p>
          <a:p>
            <a:pPr marL="812800" lvl="0">
              <a:lnSpc>
                <a:spcPct val="120000"/>
              </a:lnSpc>
              <a:buFont typeface="Wingdings" panose="05000000000000000000" pitchFamily="2" charset="2"/>
              <a:buChar char="v"/>
            </a:pPr>
            <a:r>
              <a:rPr lang="en-US" dirty="0">
                <a:solidFill>
                  <a:prstClr val="black"/>
                </a:solidFill>
              </a:rPr>
              <a:t>Air drills used by dentists,</a:t>
            </a:r>
          </a:p>
          <a:p>
            <a:pPr marL="812800" lvl="0">
              <a:lnSpc>
                <a:spcPct val="120000"/>
              </a:lnSpc>
              <a:buFont typeface="Wingdings" panose="05000000000000000000" pitchFamily="2" charset="2"/>
              <a:buChar char="v"/>
            </a:pPr>
            <a:r>
              <a:rPr lang="en-US" dirty="0">
                <a:solidFill>
                  <a:prstClr val="black"/>
                </a:solidFill>
              </a:rPr>
              <a:t>Brakes in automobiles,</a:t>
            </a:r>
          </a:p>
          <a:p>
            <a:pPr marL="812800" lvl="0">
              <a:lnSpc>
                <a:spcPct val="120000"/>
              </a:lnSpc>
              <a:buFont typeface="Wingdings" panose="05000000000000000000" pitchFamily="2" charset="2"/>
              <a:buChar char="v"/>
            </a:pPr>
            <a:r>
              <a:rPr lang="en-US" dirty="0">
                <a:solidFill>
                  <a:prstClr val="black"/>
                </a:solidFill>
              </a:rPr>
              <a:t>Practically to every large agriculture, construction and mining machine including harvesters, drills and excavators.</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16</a:t>
            </a:fld>
            <a:endParaRPr lang="en-GB" dirty="0"/>
          </a:p>
        </p:txBody>
      </p:sp>
    </p:spTree>
    <p:extLst>
      <p:ext uri="{BB962C8B-B14F-4D97-AF65-F5344CB8AC3E}">
        <p14:creationId xmlns:p14="http://schemas.microsoft.com/office/powerpoint/2010/main" val="168347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44413"/>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838200" y="1572768"/>
            <a:ext cx="10515600" cy="4604195"/>
          </a:xfrm>
        </p:spPr>
        <p:txBody>
          <a:bodyPr/>
          <a:lstStyle/>
          <a:p>
            <a:pPr marL="0" indent="0">
              <a:buNone/>
            </a:pPr>
            <a:r>
              <a:rPr lang="en-US" b="1" dirty="0" smtClean="0"/>
              <a:t>Hydrostatics</a:t>
            </a:r>
          </a:p>
          <a:p>
            <a:pPr marL="0" indent="0">
              <a:buNone/>
            </a:pPr>
            <a:r>
              <a:rPr lang="en-US" dirty="0" smtClean="0"/>
              <a:t>The principles of hydrostatics hold only under </a:t>
            </a:r>
            <a:r>
              <a:rPr lang="en-US" b="1" i="1" dirty="0" smtClean="0"/>
              <a:t>ideal fluids</a:t>
            </a:r>
            <a:r>
              <a:rPr lang="en-US" dirty="0" smtClean="0"/>
              <a:t>, which are:</a:t>
            </a:r>
          </a:p>
          <a:p>
            <a:pPr marL="690563"/>
            <a:r>
              <a:rPr lang="en-US" dirty="0" smtClean="0"/>
              <a:t>Massless: no presence of kinetic energy</a:t>
            </a:r>
          </a:p>
          <a:p>
            <a:pPr marL="690563"/>
            <a:r>
              <a:rPr lang="en-US" dirty="0" smtClean="0"/>
              <a:t>Frictionless: it is not viscous,  and</a:t>
            </a:r>
          </a:p>
          <a:p>
            <a:pPr marL="690563"/>
            <a:r>
              <a:rPr lang="en-US" dirty="0" smtClean="0"/>
              <a:t>Incompressible: volume does not change with pressure. </a:t>
            </a:r>
            <a:endParaRPr lang="en-GB" dirty="0" smtClean="0"/>
          </a:p>
          <a:p>
            <a:pPr marL="58738" indent="0">
              <a:buNone/>
            </a:pPr>
            <a:r>
              <a:rPr lang="en-US" dirty="0" smtClean="0"/>
              <a:t>Therefore, experience no losses during operation.</a:t>
            </a:r>
          </a:p>
        </p:txBody>
      </p:sp>
      <p:sp>
        <p:nvSpPr>
          <p:cNvPr id="4" name="Slide Number Placeholder 3"/>
          <p:cNvSpPr>
            <a:spLocks noGrp="1"/>
          </p:cNvSpPr>
          <p:nvPr>
            <p:ph type="sldNum" sz="quarter" idx="12"/>
          </p:nvPr>
        </p:nvSpPr>
        <p:spPr/>
        <p:txBody>
          <a:bodyPr/>
          <a:lstStyle/>
          <a:p>
            <a:fld id="{7E50C373-F1D0-494F-8D6D-366C958B3429}" type="slidenum">
              <a:rPr lang="en-GB" smtClean="0"/>
              <a:pPr/>
              <a:t>17</a:t>
            </a:fld>
            <a:endParaRPr lang="en-GB" dirty="0"/>
          </a:p>
        </p:txBody>
      </p:sp>
    </p:spTree>
    <p:extLst>
      <p:ext uri="{BB962C8B-B14F-4D97-AF65-F5344CB8AC3E}">
        <p14:creationId xmlns:p14="http://schemas.microsoft.com/office/powerpoint/2010/main" val="9060434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86047"/>
          </a:xfrm>
        </p:spPr>
        <p:txBody>
          <a:bodyPr>
            <a:normAutofit fontScale="90000"/>
          </a:bodyPr>
          <a:lstStyle/>
          <a:p>
            <a:r>
              <a:rPr lang="en-GB" dirty="0"/>
              <a:t>UNIT 4:	 Principles of Hydro-Mechanics</a:t>
            </a:r>
          </a:p>
        </p:txBody>
      </p:sp>
      <p:sp>
        <p:nvSpPr>
          <p:cNvPr id="3" name="Content Placeholder 2"/>
          <p:cNvSpPr>
            <a:spLocks noGrp="1"/>
          </p:cNvSpPr>
          <p:nvPr>
            <p:ph idx="1"/>
          </p:nvPr>
        </p:nvSpPr>
        <p:spPr/>
        <p:txBody>
          <a:bodyPr>
            <a:normAutofit/>
          </a:bodyPr>
          <a:lstStyle/>
          <a:p>
            <a:pPr marL="0" indent="0">
              <a:spcAft>
                <a:spcPts val="600"/>
              </a:spcAft>
              <a:buNone/>
            </a:pPr>
            <a:r>
              <a:rPr lang="en-US" b="1" i="1" dirty="0" smtClean="0"/>
              <a:t>Hydrostatics</a:t>
            </a:r>
          </a:p>
          <a:p>
            <a:r>
              <a:rPr lang="en-US" dirty="0" smtClean="0"/>
              <a:t>Fundamentals of hydrostatics is the </a:t>
            </a:r>
            <a:r>
              <a:rPr lang="en-US" b="1" i="1" dirty="0" smtClean="0"/>
              <a:t>principle of Pascal</a:t>
            </a:r>
            <a:r>
              <a:rPr lang="en-US" dirty="0" smtClean="0"/>
              <a:t>:</a:t>
            </a:r>
          </a:p>
          <a:p>
            <a:pPr marL="398463" indent="0">
              <a:lnSpc>
                <a:spcPct val="140000"/>
              </a:lnSpc>
              <a:buNone/>
            </a:pPr>
            <a:r>
              <a:rPr lang="en-US" dirty="0" smtClean="0"/>
              <a:t>“The effect of a force on fluid at rest, propagates itself in all directions within the fluid. The magnitude of the pressure in the fluid is equal the loading force acting at the effective surface. The pressure acts always at right angle on the boundary surface”.</a:t>
            </a:r>
          </a:p>
        </p:txBody>
      </p:sp>
      <p:sp>
        <p:nvSpPr>
          <p:cNvPr id="4" name="Slide Number Placeholder 3"/>
          <p:cNvSpPr>
            <a:spLocks noGrp="1"/>
          </p:cNvSpPr>
          <p:nvPr>
            <p:ph type="sldNum" sz="quarter" idx="12"/>
          </p:nvPr>
        </p:nvSpPr>
        <p:spPr/>
        <p:txBody>
          <a:bodyPr/>
          <a:lstStyle/>
          <a:p>
            <a:fld id="{7E50C373-F1D0-494F-8D6D-366C958B3429}" type="slidenum">
              <a:rPr lang="en-GB" smtClean="0"/>
              <a:pPr/>
              <a:t>18</a:t>
            </a:fld>
            <a:endParaRPr lang="en-GB" dirty="0"/>
          </a:p>
        </p:txBody>
      </p:sp>
    </p:spTree>
    <p:extLst>
      <p:ext uri="{BB962C8B-B14F-4D97-AF65-F5344CB8AC3E}">
        <p14:creationId xmlns:p14="http://schemas.microsoft.com/office/powerpoint/2010/main" val="2904007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86047"/>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838200" y="1450526"/>
            <a:ext cx="10515600" cy="551815"/>
          </a:xfrm>
        </p:spPr>
        <p:txBody>
          <a:bodyPr/>
          <a:lstStyle/>
          <a:p>
            <a:pPr marL="0" indent="0">
              <a:buNone/>
            </a:pPr>
            <a:r>
              <a:rPr lang="en-US" b="1" i="1" dirty="0" smtClean="0"/>
              <a:t>Hydrostatics:</a:t>
            </a:r>
            <a:r>
              <a:rPr lang="en-US" dirty="0" smtClean="0"/>
              <a:t>    linear motion</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19</a:t>
            </a:fld>
            <a:endParaRPr lang="en-GB" dirty="0"/>
          </a:p>
        </p:txBody>
      </p:sp>
      <p:sp>
        <p:nvSpPr>
          <p:cNvPr id="56" name="Rectangle 55"/>
          <p:cNvSpPr/>
          <p:nvPr/>
        </p:nvSpPr>
        <p:spPr>
          <a:xfrm>
            <a:off x="3638296" y="4422648"/>
            <a:ext cx="649224" cy="17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p:cNvSpPr/>
          <p:nvPr/>
        </p:nvSpPr>
        <p:spPr>
          <a:xfrm>
            <a:off x="1553464" y="4422648"/>
            <a:ext cx="274320" cy="10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8" name="Straight Connector 57"/>
          <p:cNvCxnSpPr/>
          <p:nvPr/>
        </p:nvCxnSpPr>
        <p:spPr>
          <a:xfrm>
            <a:off x="4287520" y="4285488"/>
            <a:ext cx="0" cy="87782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3638296" y="5163312"/>
            <a:ext cx="64922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3638296" y="4285488"/>
            <a:ext cx="0" cy="87782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553464" y="5163312"/>
            <a:ext cx="208483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553464" y="4029456"/>
            <a:ext cx="0" cy="113385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827784" y="4029456"/>
            <a:ext cx="0" cy="113385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1663192" y="3645408"/>
            <a:ext cx="45719" cy="777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p:cNvSpPr/>
          <p:nvPr/>
        </p:nvSpPr>
        <p:spPr>
          <a:xfrm>
            <a:off x="3921760" y="3819144"/>
            <a:ext cx="64008" cy="603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6" name="Group 95"/>
          <p:cNvGrpSpPr/>
          <p:nvPr/>
        </p:nvGrpSpPr>
        <p:grpSpPr>
          <a:xfrm>
            <a:off x="1574800" y="2895600"/>
            <a:ext cx="314960" cy="719328"/>
            <a:chOff x="1574800" y="2895600"/>
            <a:chExt cx="314960" cy="719328"/>
          </a:xfrm>
        </p:grpSpPr>
        <p:cxnSp>
          <p:nvCxnSpPr>
            <p:cNvPr id="66" name="Straight Arrow Connector 65"/>
            <p:cNvCxnSpPr/>
            <p:nvPr/>
          </p:nvCxnSpPr>
          <p:spPr>
            <a:xfrm>
              <a:off x="1706880" y="3148584"/>
              <a:ext cx="0" cy="466344"/>
            </a:xfrm>
            <a:prstGeom prst="straightConnector1">
              <a:avLst/>
            </a:prstGeom>
            <a:ln w="19050">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p:cNvSpPr txBox="1"/>
                <p:nvPr/>
              </p:nvSpPr>
              <p:spPr>
                <a:xfrm>
                  <a:off x="1574800" y="2895600"/>
                  <a:ext cx="314960" cy="284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oMath>
                    </m:oMathPara>
                  </a14:m>
                  <a:endParaRPr lang="en-GB" dirty="0"/>
                </a:p>
              </p:txBody>
            </p:sp>
          </mc:Choice>
          <mc:Fallback xmlns="">
            <p:sp>
              <p:nvSpPr>
                <p:cNvPr id="68" name="TextBox 67"/>
                <p:cNvSpPr txBox="1">
                  <a:spLocks noRot="1" noChangeAspect="1" noMove="1" noResize="1" noEditPoints="1" noAdjustHandles="1" noChangeArrowheads="1" noChangeShapeType="1" noTextEdit="1"/>
                </p:cNvSpPr>
                <p:nvPr/>
              </p:nvSpPr>
              <p:spPr>
                <a:xfrm>
                  <a:off x="1574800" y="2895600"/>
                  <a:ext cx="314960" cy="284480"/>
                </a:xfrm>
                <a:prstGeom prst="rect">
                  <a:avLst/>
                </a:prstGeom>
                <a:blipFill>
                  <a:blip r:embed="rId2"/>
                  <a:stretch>
                    <a:fillRect l="-9615" b="-10638"/>
                  </a:stretch>
                </a:blipFill>
              </p:spPr>
              <p:txBody>
                <a:bodyPr/>
                <a:lstStyle/>
                <a:p>
                  <a:r>
                    <a:rPr lang="en-GB">
                      <a:noFill/>
                    </a:rPr>
                    <a:t> </a:t>
                  </a:r>
                </a:p>
              </p:txBody>
            </p:sp>
          </mc:Fallback>
        </mc:AlternateContent>
      </p:grpSp>
      <p:grpSp>
        <p:nvGrpSpPr>
          <p:cNvPr id="97" name="Group 96"/>
          <p:cNvGrpSpPr/>
          <p:nvPr/>
        </p:nvGrpSpPr>
        <p:grpSpPr>
          <a:xfrm>
            <a:off x="3691408" y="2939471"/>
            <a:ext cx="460703" cy="868497"/>
            <a:chOff x="3691408" y="2939471"/>
            <a:chExt cx="460703" cy="868497"/>
          </a:xfrm>
        </p:grpSpPr>
        <p:cxnSp>
          <p:nvCxnSpPr>
            <p:cNvPr id="67" name="Straight Arrow Connector 66"/>
            <p:cNvCxnSpPr/>
            <p:nvPr/>
          </p:nvCxnSpPr>
          <p:spPr>
            <a:xfrm>
              <a:off x="3942080" y="3341624"/>
              <a:ext cx="0" cy="466344"/>
            </a:xfrm>
            <a:prstGeom prst="straightConnector1">
              <a:avLst/>
            </a:prstGeom>
            <a:ln w="19050">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ectangle 68"/>
                <p:cNvSpPr/>
                <p:nvPr/>
              </p:nvSpPr>
              <p:spPr>
                <a:xfrm>
                  <a:off x="3691408" y="2939471"/>
                  <a:ext cx="4607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oMath>
                    </m:oMathPara>
                  </a14:m>
                  <a:endParaRPr lang="en-GB" dirty="0"/>
                </a:p>
              </p:txBody>
            </p:sp>
          </mc:Choice>
          <mc:Fallback xmlns="">
            <p:sp>
              <p:nvSpPr>
                <p:cNvPr id="69" name="Rectangle 68"/>
                <p:cNvSpPr>
                  <a:spLocks noRot="1" noChangeAspect="1" noMove="1" noResize="1" noEditPoints="1" noAdjustHandles="1" noChangeArrowheads="1" noChangeShapeType="1" noTextEdit="1"/>
                </p:cNvSpPr>
                <p:nvPr/>
              </p:nvSpPr>
              <p:spPr>
                <a:xfrm>
                  <a:off x="3691408" y="2939471"/>
                  <a:ext cx="460703" cy="369332"/>
                </a:xfrm>
                <a:prstGeom prst="rect">
                  <a:avLst/>
                </a:prstGeom>
                <a:blipFill>
                  <a:blip r:embed="rId3"/>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70" name="Rectangle 69"/>
              <p:cNvSpPr/>
              <p:nvPr/>
            </p:nvSpPr>
            <p:spPr>
              <a:xfrm>
                <a:off x="820101" y="4546846"/>
                <a:ext cx="4854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𝐴</m:t>
                          </m:r>
                        </m:e>
                        <m:sub>
                          <m:r>
                            <a:rPr lang="en-US" i="1">
                              <a:latin typeface="Cambria Math" panose="02040503050406030204" pitchFamily="18" charset="0"/>
                            </a:rPr>
                            <m:t>1</m:t>
                          </m:r>
                        </m:sub>
                      </m:sSub>
                    </m:oMath>
                  </m:oMathPara>
                </a14:m>
                <a:endParaRPr lang="en-GB" dirty="0"/>
              </a:p>
            </p:txBody>
          </p:sp>
        </mc:Choice>
        <mc:Fallback xmlns="">
          <p:sp>
            <p:nvSpPr>
              <p:cNvPr id="70" name="Rectangle 69"/>
              <p:cNvSpPr>
                <a:spLocks noRot="1" noChangeAspect="1" noMove="1" noResize="1" noEditPoints="1" noAdjustHandles="1" noChangeArrowheads="1" noChangeShapeType="1" noTextEdit="1"/>
              </p:cNvSpPr>
              <p:nvPr/>
            </p:nvSpPr>
            <p:spPr>
              <a:xfrm>
                <a:off x="820101" y="4546846"/>
                <a:ext cx="48545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4387572" y="4690872"/>
                <a:ext cx="490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oMath>
                  </m:oMathPara>
                </a14:m>
                <a:endParaRPr lang="en-GB" dirty="0"/>
              </a:p>
            </p:txBody>
          </p:sp>
        </mc:Choice>
        <mc:Fallback xmlns="">
          <p:sp>
            <p:nvSpPr>
              <p:cNvPr id="71" name="Rectangle 70"/>
              <p:cNvSpPr>
                <a:spLocks noRot="1" noChangeAspect="1" noMove="1" noResize="1" noEditPoints="1" noAdjustHandles="1" noChangeArrowheads="1" noChangeShapeType="1" noTextEdit="1"/>
              </p:cNvSpPr>
              <p:nvPr/>
            </p:nvSpPr>
            <p:spPr>
              <a:xfrm>
                <a:off x="4387572" y="4690872"/>
                <a:ext cx="490775" cy="369332"/>
              </a:xfrm>
              <a:prstGeom prst="rect">
                <a:avLst/>
              </a:prstGeom>
              <a:blipFill>
                <a:blip r:embed="rId5"/>
                <a:stretch>
                  <a:fillRect/>
                </a:stretch>
              </a:blipFill>
            </p:spPr>
            <p:txBody>
              <a:bodyPr/>
              <a:lstStyle/>
              <a:p>
                <a:r>
                  <a:rPr lang="en-GB">
                    <a:noFill/>
                  </a:rPr>
                  <a:t> </a:t>
                </a:r>
              </a:p>
            </p:txBody>
          </p:sp>
        </mc:Fallback>
      </mc:AlternateContent>
      <p:cxnSp>
        <p:nvCxnSpPr>
          <p:cNvPr id="72" name="Straight Connector 71"/>
          <p:cNvCxnSpPr>
            <a:stCxn id="57" idx="2"/>
          </p:cNvCxnSpPr>
          <p:nvPr/>
        </p:nvCxnSpPr>
        <p:spPr>
          <a:xfrm flipH="1">
            <a:off x="1163046" y="4523232"/>
            <a:ext cx="527578" cy="28880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830320" y="4596384"/>
            <a:ext cx="701040" cy="21565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680958" y="3645408"/>
            <a:ext cx="872506" cy="560586"/>
            <a:chOff x="680958" y="3645408"/>
            <a:chExt cx="872506" cy="560586"/>
          </a:xfrm>
        </p:grpSpPr>
        <mc:AlternateContent xmlns:mc="http://schemas.openxmlformats.org/markup-compatibility/2006" xmlns:a14="http://schemas.microsoft.com/office/drawing/2010/main">
          <mc:Choice Requires="a14">
            <p:sp>
              <p:nvSpPr>
                <p:cNvPr id="74" name="Rectangle 73"/>
                <p:cNvSpPr/>
                <p:nvPr/>
              </p:nvSpPr>
              <p:spPr>
                <a:xfrm>
                  <a:off x="680958" y="3836662"/>
                  <a:ext cx="46076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1</m:t>
                            </m:r>
                          </m:sub>
                        </m:sSub>
                      </m:oMath>
                    </m:oMathPara>
                  </a14:m>
                  <a:endParaRPr lang="en-GB" dirty="0"/>
                </a:p>
              </p:txBody>
            </p:sp>
          </mc:Choice>
          <mc:Fallback xmlns="">
            <p:sp>
              <p:nvSpPr>
                <p:cNvPr id="74" name="Rectangle 73"/>
                <p:cNvSpPr>
                  <a:spLocks noRot="1" noChangeAspect="1" noMove="1" noResize="1" noEditPoints="1" noAdjustHandles="1" noChangeArrowheads="1" noChangeShapeType="1" noTextEdit="1"/>
                </p:cNvSpPr>
                <p:nvPr/>
              </p:nvSpPr>
              <p:spPr>
                <a:xfrm>
                  <a:off x="680958" y="3836662"/>
                  <a:ext cx="460767" cy="369332"/>
                </a:xfrm>
                <a:prstGeom prst="rect">
                  <a:avLst/>
                </a:prstGeom>
                <a:blipFill>
                  <a:blip r:embed="rId6"/>
                  <a:stretch>
                    <a:fillRect/>
                  </a:stretch>
                </a:blipFill>
              </p:spPr>
              <p:txBody>
                <a:bodyPr/>
                <a:lstStyle/>
                <a:p>
                  <a:r>
                    <a:rPr lang="en-GB">
                      <a:noFill/>
                    </a:rPr>
                    <a:t> </a:t>
                  </a:r>
                </a:p>
              </p:txBody>
            </p:sp>
          </mc:Fallback>
        </mc:AlternateContent>
        <p:cxnSp>
          <p:nvCxnSpPr>
            <p:cNvPr id="76" name="Straight Connector 75"/>
            <p:cNvCxnSpPr/>
            <p:nvPr/>
          </p:nvCxnSpPr>
          <p:spPr>
            <a:xfrm flipH="1">
              <a:off x="820101" y="3645408"/>
              <a:ext cx="7333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1163046" y="3645408"/>
              <a:ext cx="0" cy="550672"/>
            </a:xfrm>
            <a:prstGeom prst="straightConnector1">
              <a:avLst/>
            </a:prstGeom>
            <a:ln w="158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2974595" y="3124137"/>
            <a:ext cx="855725" cy="712525"/>
            <a:chOff x="2974595" y="3124137"/>
            <a:chExt cx="855725" cy="712525"/>
          </a:xfrm>
        </p:grpSpPr>
        <mc:AlternateContent xmlns:mc="http://schemas.openxmlformats.org/markup-compatibility/2006" xmlns:a14="http://schemas.microsoft.com/office/drawing/2010/main">
          <mc:Choice Requires="a14">
            <p:sp>
              <p:nvSpPr>
                <p:cNvPr id="75" name="Rectangle 74"/>
                <p:cNvSpPr/>
                <p:nvPr/>
              </p:nvSpPr>
              <p:spPr>
                <a:xfrm>
                  <a:off x="2974595" y="3188195"/>
                  <a:ext cx="4660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GB" dirty="0"/>
                </a:p>
              </p:txBody>
            </p:sp>
          </mc:Choice>
          <mc:Fallback xmlns="">
            <p:sp>
              <p:nvSpPr>
                <p:cNvPr id="75" name="Rectangle 74"/>
                <p:cNvSpPr>
                  <a:spLocks noRot="1" noChangeAspect="1" noMove="1" noResize="1" noEditPoints="1" noAdjustHandles="1" noChangeArrowheads="1" noChangeShapeType="1" noTextEdit="1"/>
                </p:cNvSpPr>
                <p:nvPr/>
              </p:nvSpPr>
              <p:spPr>
                <a:xfrm>
                  <a:off x="2974595" y="3188195"/>
                  <a:ext cx="466089" cy="369332"/>
                </a:xfrm>
                <a:prstGeom prst="rect">
                  <a:avLst/>
                </a:prstGeom>
                <a:blipFill>
                  <a:blip r:embed="rId7"/>
                  <a:stretch>
                    <a:fillRect/>
                  </a:stretch>
                </a:blipFill>
              </p:spPr>
              <p:txBody>
                <a:bodyPr/>
                <a:lstStyle/>
                <a:p>
                  <a:r>
                    <a:rPr lang="en-GB">
                      <a:noFill/>
                    </a:rPr>
                    <a:t> </a:t>
                  </a:r>
                </a:p>
              </p:txBody>
            </p:sp>
          </mc:Fallback>
        </mc:AlternateContent>
        <p:cxnSp>
          <p:nvCxnSpPr>
            <p:cNvPr id="78" name="Straight Connector 77"/>
            <p:cNvCxnSpPr/>
            <p:nvPr/>
          </p:nvCxnSpPr>
          <p:spPr>
            <a:xfrm flipH="1">
              <a:off x="3098800" y="3836662"/>
              <a:ext cx="7315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3393440" y="3124137"/>
              <a:ext cx="0" cy="712525"/>
            </a:xfrm>
            <a:prstGeom prst="straightConnector1">
              <a:avLst/>
            </a:prstGeom>
            <a:ln w="158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98" name="Group 97"/>
          <p:cNvGrpSpPr/>
          <p:nvPr/>
        </p:nvGrpSpPr>
        <p:grpSpPr>
          <a:xfrm>
            <a:off x="1553633" y="4695182"/>
            <a:ext cx="2505798" cy="369332"/>
            <a:chOff x="1553633" y="4695182"/>
            <a:chExt cx="2505798" cy="369332"/>
          </a:xfrm>
        </p:grpSpPr>
        <p:sp>
          <p:nvSpPr>
            <p:cNvPr id="80" name="TextBox 79"/>
            <p:cNvSpPr txBox="1"/>
            <p:nvPr/>
          </p:nvSpPr>
          <p:spPr>
            <a:xfrm>
              <a:off x="3830320" y="4737038"/>
              <a:ext cx="229111" cy="276999"/>
            </a:xfrm>
            <a:prstGeom prst="rect">
              <a:avLst/>
            </a:prstGeom>
            <a:noFill/>
          </p:spPr>
          <p:txBody>
            <a:bodyPr wrap="square" lIns="0" tIns="0" rIns="0" bIns="0" rtlCol="0">
              <a:spAutoFit/>
            </a:bodyPr>
            <a:lstStyle/>
            <a:p>
              <a:r>
                <a:rPr lang="en-GB" dirty="0" smtClean="0"/>
                <a:t>p</a:t>
              </a:r>
              <a:endParaRPr lang="en-GB" dirty="0"/>
            </a:p>
          </p:txBody>
        </p:sp>
        <p:sp>
          <p:nvSpPr>
            <p:cNvPr id="81" name="Rectangle 80"/>
            <p:cNvSpPr/>
            <p:nvPr/>
          </p:nvSpPr>
          <p:spPr>
            <a:xfrm>
              <a:off x="1553633" y="4695182"/>
              <a:ext cx="306494" cy="369332"/>
            </a:xfrm>
            <a:prstGeom prst="rect">
              <a:avLst/>
            </a:prstGeom>
          </p:spPr>
          <p:txBody>
            <a:bodyPr wrap="none">
              <a:spAutoFit/>
            </a:bodyPr>
            <a:lstStyle/>
            <a:p>
              <a:r>
                <a:rPr lang="en-GB" dirty="0"/>
                <a:t>p</a:t>
              </a:r>
            </a:p>
          </p:txBody>
        </p:sp>
      </p:grpSp>
      <mc:AlternateContent xmlns:mc="http://schemas.openxmlformats.org/markup-compatibility/2006" xmlns:a14="http://schemas.microsoft.com/office/drawing/2010/main">
        <mc:Choice Requires="a14">
          <p:sp>
            <p:nvSpPr>
              <p:cNvPr id="82" name="TextBox 81"/>
              <p:cNvSpPr txBox="1"/>
              <p:nvPr/>
            </p:nvSpPr>
            <p:spPr>
              <a:xfrm>
                <a:off x="7154944" y="2401285"/>
                <a:ext cx="1287788" cy="563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2</m:t>
                              </m:r>
                            </m:sub>
                          </m:sSub>
                        </m:den>
                      </m:f>
                    </m:oMath>
                  </m:oMathPara>
                </a14:m>
                <a:endParaRPr lang="en-GB" dirty="0"/>
              </a:p>
            </p:txBody>
          </p:sp>
        </mc:Choice>
        <mc:Fallback xmlns="">
          <p:sp>
            <p:nvSpPr>
              <p:cNvPr id="82" name="TextBox 81"/>
              <p:cNvSpPr txBox="1">
                <a:spLocks noRot="1" noChangeAspect="1" noMove="1" noResize="1" noEditPoints="1" noAdjustHandles="1" noChangeArrowheads="1" noChangeShapeType="1" noTextEdit="1"/>
              </p:cNvSpPr>
              <p:nvPr/>
            </p:nvSpPr>
            <p:spPr>
              <a:xfrm>
                <a:off x="7154944" y="2401285"/>
                <a:ext cx="1287788" cy="563872"/>
              </a:xfrm>
              <a:prstGeom prst="rect">
                <a:avLst/>
              </a:prstGeom>
              <a:blipFill>
                <a:blip r:embed="rId8"/>
                <a:stretch>
                  <a:fillRect/>
                </a:stretch>
              </a:blipFill>
            </p:spPr>
            <p:txBody>
              <a:bodyPr/>
              <a:lstStyle/>
              <a:p>
                <a:r>
                  <a:rPr lang="en-GB">
                    <a:noFill/>
                  </a:rPr>
                  <a:t> </a:t>
                </a:r>
              </a:p>
            </p:txBody>
          </p:sp>
        </mc:Fallback>
      </mc:AlternateContent>
      <p:sp>
        <p:nvSpPr>
          <p:cNvPr id="83" name="TextBox 82"/>
          <p:cNvSpPr txBox="1"/>
          <p:nvPr/>
        </p:nvSpPr>
        <p:spPr>
          <a:xfrm>
            <a:off x="4551056" y="1783424"/>
            <a:ext cx="4740400" cy="461665"/>
          </a:xfrm>
          <a:prstGeom prst="rect">
            <a:avLst/>
          </a:prstGeom>
          <a:noFill/>
        </p:spPr>
        <p:txBody>
          <a:bodyPr wrap="none" rtlCol="0">
            <a:spAutoFit/>
          </a:bodyPr>
          <a:lstStyle/>
          <a:p>
            <a:r>
              <a:rPr lang="en-US" sz="2400" dirty="0" smtClean="0">
                <a:latin typeface="Century Gothic" panose="020B0502020202020204" pitchFamily="34" charset="0"/>
              </a:rPr>
              <a:t>For ideal fluid and no leakage:</a:t>
            </a:r>
            <a:endParaRPr lang="en-GB" sz="2400" dirty="0">
              <a:latin typeface="Century Gothic" panose="020B0502020202020204" pitchFamily="34" charset="0"/>
            </a:endParaRPr>
          </a:p>
        </p:txBody>
      </p:sp>
      <p:sp>
        <p:nvSpPr>
          <p:cNvPr id="84" name="TextBox 83"/>
          <p:cNvSpPr txBox="1"/>
          <p:nvPr/>
        </p:nvSpPr>
        <p:spPr>
          <a:xfrm>
            <a:off x="5101748" y="3133170"/>
            <a:ext cx="1771639"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smtClean="0">
                <a:latin typeface="Century Gothic" panose="020B0502020202020204" pitchFamily="34" charset="0"/>
              </a:rPr>
              <a:t>Volume:</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5" name="TextBox 84"/>
              <p:cNvSpPr txBox="1"/>
              <p:nvPr/>
            </p:nvSpPr>
            <p:spPr>
              <a:xfrm>
                <a:off x="6979505" y="3195969"/>
                <a:ext cx="21702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2</m:t>
                          </m:r>
                        </m:sub>
                      </m:sSub>
                    </m:oMath>
                  </m:oMathPara>
                </a14:m>
                <a:endParaRPr lang="en-GB" dirty="0"/>
              </a:p>
            </p:txBody>
          </p:sp>
        </mc:Choice>
        <mc:Fallback xmlns="">
          <p:sp>
            <p:nvSpPr>
              <p:cNvPr id="85" name="TextBox 84"/>
              <p:cNvSpPr txBox="1">
                <a:spLocks noRot="1" noChangeAspect="1" noMove="1" noResize="1" noEditPoints="1" noAdjustHandles="1" noChangeArrowheads="1" noChangeShapeType="1" noTextEdit="1"/>
              </p:cNvSpPr>
              <p:nvPr/>
            </p:nvSpPr>
            <p:spPr>
              <a:xfrm>
                <a:off x="6979505" y="3195969"/>
                <a:ext cx="2170209" cy="369332"/>
              </a:xfrm>
              <a:prstGeom prst="rect">
                <a:avLst/>
              </a:prstGeom>
              <a:blipFill>
                <a:blip r:embed="rId9"/>
                <a:stretch>
                  <a:fillRect/>
                </a:stretch>
              </a:blipFill>
            </p:spPr>
            <p:txBody>
              <a:bodyPr/>
              <a:lstStyle/>
              <a:p>
                <a:r>
                  <a:rPr lang="en-GB">
                    <a:noFill/>
                  </a:rPr>
                  <a:t> </a:t>
                </a:r>
              </a:p>
            </p:txBody>
          </p:sp>
        </mc:Fallback>
      </mc:AlternateContent>
      <p:sp>
        <p:nvSpPr>
          <p:cNvPr id="86" name="TextBox 85"/>
          <p:cNvSpPr txBox="1"/>
          <p:nvPr/>
        </p:nvSpPr>
        <p:spPr>
          <a:xfrm>
            <a:off x="5101748" y="2431153"/>
            <a:ext cx="1813317"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smtClean="0">
                <a:latin typeface="Century Gothic" panose="020B0502020202020204" pitchFamily="34" charset="0"/>
              </a:rPr>
              <a:t>Pressure:</a:t>
            </a:r>
            <a:endParaRPr lang="en-GB" sz="2400" dirty="0">
              <a:latin typeface="Century Gothic" panose="020B0502020202020204" pitchFamily="34" charset="0"/>
            </a:endParaRPr>
          </a:p>
        </p:txBody>
      </p:sp>
      <p:sp>
        <p:nvSpPr>
          <p:cNvPr id="87" name="TextBox 86"/>
          <p:cNvSpPr txBox="1"/>
          <p:nvPr/>
        </p:nvSpPr>
        <p:spPr>
          <a:xfrm>
            <a:off x="5099698" y="3760585"/>
            <a:ext cx="2044072"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latin typeface="Century Gothic" panose="020B0502020202020204" pitchFamily="34" charset="0"/>
              </a:rPr>
              <a:t>Velocity:</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8" name="TextBox 87"/>
              <p:cNvSpPr txBox="1"/>
              <p:nvPr/>
            </p:nvSpPr>
            <p:spPr>
              <a:xfrm>
                <a:off x="7554277" y="3757399"/>
                <a:ext cx="1020664" cy="6591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sSub>
                            <m:sSubPr>
                              <m:ctrlPr>
                                <a:rPr lang="en-GB"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1</m:t>
                              </m:r>
                            </m:sub>
                          </m:sSub>
                        </m:num>
                        <m:den>
                          <m:sSub>
                            <m:sSubPr>
                              <m:ctrlPr>
                                <a:rPr lang="en-GB"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2</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den>
                      </m:f>
                    </m:oMath>
                  </m:oMathPara>
                </a14:m>
                <a:endParaRPr lang="en-GB" dirty="0"/>
              </a:p>
            </p:txBody>
          </p:sp>
        </mc:Choice>
        <mc:Fallback xmlns="">
          <p:sp>
            <p:nvSpPr>
              <p:cNvPr id="88" name="TextBox 87"/>
              <p:cNvSpPr txBox="1">
                <a:spLocks noRot="1" noChangeAspect="1" noMove="1" noResize="1" noEditPoints="1" noAdjustHandles="1" noChangeArrowheads="1" noChangeShapeType="1" noTextEdit="1"/>
              </p:cNvSpPr>
              <p:nvPr/>
            </p:nvSpPr>
            <p:spPr>
              <a:xfrm>
                <a:off x="7554277" y="3757399"/>
                <a:ext cx="1020664" cy="659155"/>
              </a:xfrm>
              <a:prstGeom prst="rect">
                <a:avLst/>
              </a:prstGeom>
              <a:blipFill>
                <a:blip r:embed="rId10"/>
                <a:stretch>
                  <a:fillRect/>
                </a:stretch>
              </a:blipFill>
            </p:spPr>
            <p:txBody>
              <a:bodyPr/>
              <a:lstStyle/>
              <a:p>
                <a:r>
                  <a:rPr lang="en-GB">
                    <a:noFill/>
                  </a:rPr>
                  <a:t> </a:t>
                </a:r>
              </a:p>
            </p:txBody>
          </p:sp>
        </mc:Fallback>
      </mc:AlternateContent>
      <p:sp>
        <p:nvSpPr>
          <p:cNvPr id="89" name="TextBox 88"/>
          <p:cNvSpPr txBox="1"/>
          <p:nvPr/>
        </p:nvSpPr>
        <p:spPr>
          <a:xfrm>
            <a:off x="5099698" y="4609457"/>
            <a:ext cx="3222632" cy="461665"/>
          </a:xfrm>
          <a:prstGeom prst="rect">
            <a:avLst/>
          </a:prstGeom>
          <a:noFill/>
        </p:spPr>
        <p:txBody>
          <a:bodyPr wrap="square" rtlCol="0">
            <a:spAutoFit/>
          </a:bodyPr>
          <a:lstStyle/>
          <a:p>
            <a:pPr marL="342900" indent="-342900">
              <a:buFont typeface="Arial" panose="020B0604020202020204" pitchFamily="34" charset="0"/>
              <a:buChar char="•"/>
            </a:pPr>
            <a:r>
              <a:rPr lang="en-US" sz="2400" b="1" i="1" dirty="0" smtClean="0">
                <a:latin typeface="Century Gothic" panose="020B0502020202020204" pitchFamily="34" charset="0"/>
              </a:rPr>
              <a:t>Law of Continuity:</a:t>
            </a:r>
            <a:endParaRPr lang="en-GB" sz="2400" b="1" i="1"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0" name="TextBox 89"/>
              <p:cNvSpPr txBox="1"/>
              <p:nvPr/>
            </p:nvSpPr>
            <p:spPr>
              <a:xfrm>
                <a:off x="8543681" y="4701126"/>
                <a:ext cx="21808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2</m:t>
                          </m:r>
                        </m:sub>
                      </m:sSub>
                    </m:oMath>
                  </m:oMathPara>
                </a14:m>
                <a:endParaRPr lang="en-GB" dirty="0"/>
              </a:p>
            </p:txBody>
          </p:sp>
        </mc:Choice>
        <mc:Fallback xmlns="">
          <p:sp>
            <p:nvSpPr>
              <p:cNvPr id="90" name="TextBox 89"/>
              <p:cNvSpPr txBox="1">
                <a:spLocks noRot="1" noChangeAspect="1" noMove="1" noResize="1" noEditPoints="1" noAdjustHandles="1" noChangeArrowheads="1" noChangeShapeType="1" noTextEdit="1"/>
              </p:cNvSpPr>
              <p:nvPr/>
            </p:nvSpPr>
            <p:spPr>
              <a:xfrm>
                <a:off x="8543681" y="4701126"/>
                <a:ext cx="2180853" cy="369332"/>
              </a:xfrm>
              <a:prstGeom prst="rect">
                <a:avLst/>
              </a:prstGeom>
              <a:blipFill>
                <a:blip r:embed="rId11"/>
                <a:stretch>
                  <a:fillRect b="-9836"/>
                </a:stretch>
              </a:blipFill>
            </p:spPr>
            <p:txBody>
              <a:bodyPr/>
              <a:lstStyle/>
              <a:p>
                <a:r>
                  <a:rPr lang="en-GB">
                    <a:noFill/>
                  </a:rPr>
                  <a:t> </a:t>
                </a:r>
              </a:p>
            </p:txBody>
          </p:sp>
        </mc:Fallback>
      </mc:AlternateContent>
      <p:sp>
        <p:nvSpPr>
          <p:cNvPr id="91" name="TextBox 90"/>
          <p:cNvSpPr txBox="1"/>
          <p:nvPr/>
        </p:nvSpPr>
        <p:spPr>
          <a:xfrm>
            <a:off x="5099698" y="5231581"/>
            <a:ext cx="2789546"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smtClean="0">
                <a:latin typeface="Century Gothic" panose="020B0502020202020204" pitchFamily="34" charset="0"/>
              </a:rPr>
              <a:t>Work by piston:</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2" name="TextBox 91"/>
              <p:cNvSpPr txBox="1"/>
              <p:nvPr/>
            </p:nvSpPr>
            <p:spPr>
              <a:xfrm>
                <a:off x="7889244" y="5323914"/>
                <a:ext cx="23078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GB" dirty="0"/>
              </a:p>
            </p:txBody>
          </p:sp>
        </mc:Choice>
        <mc:Fallback xmlns="">
          <p:sp>
            <p:nvSpPr>
              <p:cNvPr id="92" name="TextBox 91"/>
              <p:cNvSpPr txBox="1">
                <a:spLocks noRot="1" noChangeAspect="1" noMove="1" noResize="1" noEditPoints="1" noAdjustHandles="1" noChangeArrowheads="1" noChangeShapeType="1" noTextEdit="1"/>
              </p:cNvSpPr>
              <p:nvPr/>
            </p:nvSpPr>
            <p:spPr>
              <a:xfrm>
                <a:off x="7889244" y="5323914"/>
                <a:ext cx="2307876" cy="369332"/>
              </a:xfrm>
              <a:prstGeom prst="rect">
                <a:avLst/>
              </a:prstGeom>
              <a:blipFill>
                <a:blip r:embed="rId12"/>
                <a:stretch>
                  <a:fillRect/>
                </a:stretch>
              </a:blipFill>
            </p:spPr>
            <p:txBody>
              <a:bodyPr/>
              <a:lstStyle/>
              <a:p>
                <a:r>
                  <a:rPr lang="en-GB">
                    <a:noFill/>
                  </a:rPr>
                  <a:t> </a:t>
                </a:r>
              </a:p>
            </p:txBody>
          </p:sp>
        </mc:Fallback>
      </mc:AlternateContent>
      <p:sp>
        <p:nvSpPr>
          <p:cNvPr id="93" name="TextBox 92"/>
          <p:cNvSpPr txBox="1"/>
          <p:nvPr/>
        </p:nvSpPr>
        <p:spPr>
          <a:xfrm>
            <a:off x="5099698" y="5853705"/>
            <a:ext cx="1550424"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smtClean="0">
                <a:latin typeface="Century Gothic" panose="020B0502020202020204" pitchFamily="34" charset="0"/>
              </a:rPr>
              <a:t>Power:</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4" name="TextBox 93"/>
              <p:cNvSpPr txBox="1"/>
              <p:nvPr/>
            </p:nvSpPr>
            <p:spPr>
              <a:xfrm>
                <a:off x="6747208" y="5785579"/>
                <a:ext cx="3722814" cy="714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𝑑𝑊</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𝐴</m:t>
                          </m:r>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𝑄</m:t>
                              </m:r>
                            </m:num>
                            <m:den>
                              <m:r>
                                <a:rPr lang="en-US" b="0" i="1" smtClean="0">
                                  <a:latin typeface="Cambria Math" panose="02040503050406030204" pitchFamily="18" charset="0"/>
                                </a:rPr>
                                <m:t>𝐴</m:t>
                              </m:r>
                            </m:den>
                          </m:f>
                        </m:e>
                      </m:d>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𝑝</m:t>
                      </m:r>
                    </m:oMath>
                  </m:oMathPara>
                </a14:m>
                <a:endParaRPr lang="en-GB" dirty="0"/>
              </a:p>
            </p:txBody>
          </p:sp>
        </mc:Choice>
        <mc:Fallback xmlns="">
          <p:sp>
            <p:nvSpPr>
              <p:cNvPr id="94" name="TextBox 93"/>
              <p:cNvSpPr txBox="1">
                <a:spLocks noRot="1" noChangeAspect="1" noMove="1" noResize="1" noEditPoints="1" noAdjustHandles="1" noChangeArrowheads="1" noChangeShapeType="1" noTextEdit="1"/>
              </p:cNvSpPr>
              <p:nvPr/>
            </p:nvSpPr>
            <p:spPr>
              <a:xfrm>
                <a:off x="6747208" y="5785579"/>
                <a:ext cx="3722814" cy="714683"/>
              </a:xfrm>
              <a:prstGeom prst="rect">
                <a:avLst/>
              </a:prstGeom>
              <a:blipFill>
                <a:blip r:embed="rId13"/>
                <a:stretch>
                  <a:fillRect/>
                </a:stretch>
              </a:blipFill>
            </p:spPr>
            <p:txBody>
              <a:bodyPr/>
              <a:lstStyle/>
              <a:p>
                <a:r>
                  <a:rPr lang="en-GB">
                    <a:noFill/>
                  </a:rPr>
                  <a:t> </a:t>
                </a:r>
              </a:p>
            </p:txBody>
          </p:sp>
        </mc:Fallback>
      </mc:AlternateContent>
      <p:sp>
        <p:nvSpPr>
          <p:cNvPr id="95" name="TextBox 94"/>
          <p:cNvSpPr txBox="1"/>
          <p:nvPr/>
        </p:nvSpPr>
        <p:spPr>
          <a:xfrm>
            <a:off x="433166" y="5566769"/>
            <a:ext cx="4445181" cy="369332"/>
          </a:xfrm>
          <a:prstGeom prst="rect">
            <a:avLst/>
          </a:prstGeom>
          <a:noFill/>
        </p:spPr>
        <p:txBody>
          <a:bodyPr wrap="square" rtlCol="0">
            <a:spAutoFit/>
          </a:bodyPr>
          <a:lstStyle/>
          <a:p>
            <a:r>
              <a:rPr lang="en-US" dirty="0" smtClean="0"/>
              <a:t>Figure 5.5:  Pascal principle for linear motion</a:t>
            </a:r>
            <a:endParaRPr lang="en-GB" dirty="0"/>
          </a:p>
        </p:txBody>
      </p:sp>
    </p:spTree>
    <p:extLst>
      <p:ext uri="{BB962C8B-B14F-4D97-AF65-F5344CB8AC3E}">
        <p14:creationId xmlns:p14="http://schemas.microsoft.com/office/powerpoint/2010/main" val="146591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4" grpId="0"/>
      <p:bldP spid="85" grpId="0"/>
      <p:bldP spid="86" grpId="0"/>
      <p:bldP spid="87" grpId="0"/>
      <p:bldP spid="88" grpId="0"/>
      <p:bldP spid="89" grpId="0"/>
      <p:bldP spid="90" grpId="0"/>
      <p:bldP spid="91" grpId="0"/>
      <p:bldP spid="92" grpId="0"/>
      <p:bldP spid="93" grpId="0"/>
      <p:bldP spid="9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27681"/>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856329" y="1813627"/>
            <a:ext cx="10515600" cy="489558"/>
          </a:xfrm>
        </p:spPr>
        <p:txBody>
          <a:bodyPr/>
          <a:lstStyle/>
          <a:p>
            <a:pPr marL="0" indent="0">
              <a:buNone/>
            </a:pPr>
            <a:r>
              <a:rPr lang="en-US" b="1" i="1" dirty="0"/>
              <a:t>Hydrostatics:</a:t>
            </a:r>
            <a:r>
              <a:rPr lang="en-US" dirty="0"/>
              <a:t>    </a:t>
            </a:r>
            <a:r>
              <a:rPr lang="en-US" dirty="0" smtClean="0"/>
              <a:t>rotational motion</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20</a:t>
            </a:fld>
            <a:endParaRPr lang="en-GB" dirty="0"/>
          </a:p>
        </p:txBody>
      </p:sp>
      <p:sp>
        <p:nvSpPr>
          <p:cNvPr id="5" name="TextBox 4"/>
          <p:cNvSpPr txBox="1"/>
          <p:nvPr/>
        </p:nvSpPr>
        <p:spPr>
          <a:xfrm>
            <a:off x="2630839" y="5865865"/>
            <a:ext cx="5088252" cy="461665"/>
          </a:xfrm>
          <a:prstGeom prst="rect">
            <a:avLst/>
          </a:prstGeom>
          <a:noFill/>
        </p:spPr>
        <p:txBody>
          <a:bodyPr wrap="none" rtlCol="0">
            <a:spAutoFit/>
          </a:bodyPr>
          <a:lstStyle/>
          <a:p>
            <a:r>
              <a:rPr lang="en-US" sz="2400" b="1" i="1" dirty="0" smtClean="0">
                <a:latin typeface="Century Gothic" panose="020B0502020202020204" pitchFamily="34" charset="0"/>
              </a:rPr>
              <a:t>Figure 5.6:  </a:t>
            </a:r>
            <a:r>
              <a:rPr lang="en-US" sz="2400" dirty="0" smtClean="0">
                <a:latin typeface="Century Gothic" panose="020B0502020202020204" pitchFamily="34" charset="0"/>
              </a:rPr>
              <a:t>Hydrostatic drive train</a:t>
            </a:r>
            <a:endParaRPr lang="en-GB" sz="2400" dirty="0">
              <a:latin typeface="Century Gothic" panose="020B0502020202020204" pitchFamily="34" charset="0"/>
            </a:endParaRPr>
          </a:p>
        </p:txBody>
      </p:sp>
      <p:sp>
        <p:nvSpPr>
          <p:cNvPr id="7" name="Oval 6"/>
          <p:cNvSpPr/>
          <p:nvPr/>
        </p:nvSpPr>
        <p:spPr>
          <a:xfrm>
            <a:off x="3198799" y="3802315"/>
            <a:ext cx="807396" cy="80739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Isosceles Triangle 7"/>
          <p:cNvSpPr/>
          <p:nvPr/>
        </p:nvSpPr>
        <p:spPr>
          <a:xfrm>
            <a:off x="3433395" y="3802315"/>
            <a:ext cx="338203" cy="30062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6758271" y="3954715"/>
            <a:ext cx="807396" cy="80739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Isosceles Triangle 9"/>
          <p:cNvSpPr/>
          <p:nvPr/>
        </p:nvSpPr>
        <p:spPr>
          <a:xfrm flipV="1">
            <a:off x="6992867" y="3954715"/>
            <a:ext cx="338203" cy="30062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p:cNvCxnSpPr/>
          <p:nvPr/>
        </p:nvCxnSpPr>
        <p:spPr>
          <a:xfrm flipH="1" flipV="1">
            <a:off x="3616964" y="3244242"/>
            <a:ext cx="1" cy="558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604438" y="3256768"/>
            <a:ext cx="35594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176436" y="3244242"/>
            <a:ext cx="1" cy="7104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095869" y="5259554"/>
            <a:ext cx="48976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654542" y="4609711"/>
            <a:ext cx="1" cy="651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214014" y="4762111"/>
            <a:ext cx="1"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3095869" y="4762111"/>
            <a:ext cx="0"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7993546" y="4762111"/>
            <a:ext cx="0"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2542782" y="4130857"/>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2584390" y="4233153"/>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7557212" y="4295783"/>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7546774" y="4398079"/>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Arc 37"/>
          <p:cNvSpPr/>
          <p:nvPr/>
        </p:nvSpPr>
        <p:spPr>
          <a:xfrm>
            <a:off x="2227755" y="3802315"/>
            <a:ext cx="806169" cy="806169"/>
          </a:xfrm>
          <a:prstGeom prst="arc">
            <a:avLst>
              <a:gd name="adj1" fmla="val 16200000"/>
              <a:gd name="adj2" fmla="val 4948572"/>
            </a:avLst>
          </a:prstGeom>
          <a:ln w="19050">
            <a:solidFill>
              <a:srgbClr val="FF0000"/>
            </a:solidFill>
            <a:headEnd type="none"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p:cNvSpPr/>
          <p:nvPr/>
        </p:nvSpPr>
        <p:spPr>
          <a:xfrm>
            <a:off x="7239899" y="3940185"/>
            <a:ext cx="806169" cy="806169"/>
          </a:xfrm>
          <a:prstGeom prst="arc">
            <a:avLst>
              <a:gd name="adj1" fmla="val 16200000"/>
              <a:gd name="adj2" fmla="val 4948572"/>
            </a:avLst>
          </a:prstGeom>
          <a:ln w="19050">
            <a:solidFill>
              <a:srgbClr val="FF0000"/>
            </a:solidFill>
            <a:headEnd type="none"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1" name="Straight Arrow Connector 40"/>
          <p:cNvCxnSpPr/>
          <p:nvPr/>
        </p:nvCxnSpPr>
        <p:spPr>
          <a:xfrm>
            <a:off x="4634627" y="3043825"/>
            <a:ext cx="910080" cy="0"/>
          </a:xfrm>
          <a:prstGeom prst="straightConnector1">
            <a:avLst/>
          </a:prstGeom>
          <a:ln w="19050">
            <a:solidFill>
              <a:schemeClr val="accent1"/>
            </a:solidFill>
            <a:tailEnd type="arrow" w="lg" len="med"/>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5661761" y="2730725"/>
            <a:ext cx="452368" cy="461665"/>
          </a:xfrm>
          <a:prstGeom prst="rect">
            <a:avLst/>
          </a:prstGeom>
          <a:noFill/>
        </p:spPr>
        <p:txBody>
          <a:bodyPr wrap="none" rtlCol="0">
            <a:spAutoFit/>
          </a:bodyPr>
          <a:lstStyle/>
          <a:p>
            <a:r>
              <a:rPr lang="en-US" sz="2400" dirty="0" smtClean="0">
                <a:latin typeface="Century Gothic" panose="020B0502020202020204" pitchFamily="34" charset="0"/>
              </a:rPr>
              <a:t>Q</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44" name="Rectangle 43"/>
              <p:cNvSpPr/>
              <p:nvPr/>
            </p:nvSpPr>
            <p:spPr>
              <a:xfrm>
                <a:off x="2521006" y="3192390"/>
                <a:ext cx="63209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rPr>
                          </m:ctrlPr>
                        </m:sSubPr>
                        <m:e>
                          <m:r>
                            <a:rPr lang="en-US" sz="2800" i="1">
                              <a:latin typeface="Cambria Math" panose="02040503050406030204" pitchFamily="18" charset="0"/>
                            </a:rPr>
                            <m:t>𝑛</m:t>
                          </m:r>
                        </m:e>
                        <m:sub>
                          <m:r>
                            <a:rPr lang="en-US" sz="2800" i="1">
                              <a:latin typeface="Cambria Math" panose="02040503050406030204" pitchFamily="18" charset="0"/>
                            </a:rPr>
                            <m:t>1</m:t>
                          </m:r>
                        </m:sub>
                      </m:sSub>
                    </m:oMath>
                  </m:oMathPara>
                </a14:m>
                <a:endParaRPr lang="en-GB" sz="2800" dirty="0"/>
              </a:p>
            </p:txBody>
          </p:sp>
        </mc:Choice>
        <mc:Fallback xmlns="">
          <p:sp>
            <p:nvSpPr>
              <p:cNvPr id="44" name="Rectangle 43"/>
              <p:cNvSpPr>
                <a:spLocks noRot="1" noChangeAspect="1" noMove="1" noResize="1" noEditPoints="1" noAdjustHandles="1" noChangeArrowheads="1" noChangeShapeType="1" noTextEdit="1"/>
              </p:cNvSpPr>
              <p:nvPr/>
            </p:nvSpPr>
            <p:spPr>
              <a:xfrm>
                <a:off x="2521006" y="3192390"/>
                <a:ext cx="632096" cy="52322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7871374" y="3626138"/>
                <a:ext cx="6403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US" sz="2800" i="1">
                              <a:latin typeface="Cambria Math" panose="02040503050406030204" pitchFamily="18" charset="0"/>
                            </a:rPr>
                            <m:t>𝑛</m:t>
                          </m:r>
                        </m:e>
                        <m:sub>
                          <m:r>
                            <a:rPr lang="en-US" sz="2800" b="0" i="1" smtClean="0">
                              <a:latin typeface="Cambria Math" panose="02040503050406030204" pitchFamily="18" charset="0"/>
                            </a:rPr>
                            <m:t>2</m:t>
                          </m:r>
                        </m:sub>
                      </m:sSub>
                    </m:oMath>
                  </m:oMathPara>
                </a14:m>
                <a:endParaRPr lang="en-GB" sz="2800" dirty="0"/>
              </a:p>
            </p:txBody>
          </p:sp>
        </mc:Choice>
        <mc:Fallback xmlns="">
          <p:sp>
            <p:nvSpPr>
              <p:cNvPr id="45" name="Rectangle 44"/>
              <p:cNvSpPr>
                <a:spLocks noRot="1" noChangeAspect="1" noMove="1" noResize="1" noEditPoints="1" noAdjustHandles="1" noChangeArrowheads="1" noChangeShapeType="1" noTextEdit="1"/>
              </p:cNvSpPr>
              <p:nvPr/>
            </p:nvSpPr>
            <p:spPr>
              <a:xfrm>
                <a:off x="7871374" y="3626138"/>
                <a:ext cx="640368" cy="52322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3348951" y="4006031"/>
                <a:ext cx="61734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i="1">
                              <a:latin typeface="Cambria Math" panose="02040503050406030204" pitchFamily="18" charset="0"/>
                            </a:rPr>
                            <m:t>1</m:t>
                          </m:r>
                        </m:sub>
                      </m:sSub>
                    </m:oMath>
                  </m:oMathPara>
                </a14:m>
                <a:endParaRPr lang="en-GB" sz="2800" dirty="0"/>
              </a:p>
            </p:txBody>
          </p:sp>
        </mc:Choice>
        <mc:Fallback xmlns="">
          <p:sp>
            <p:nvSpPr>
              <p:cNvPr id="46" name="Rectangle 45"/>
              <p:cNvSpPr>
                <a:spLocks noRot="1" noChangeAspect="1" noMove="1" noResize="1" noEditPoints="1" noAdjustHandles="1" noChangeArrowheads="1" noChangeShapeType="1" noTextEdit="1"/>
              </p:cNvSpPr>
              <p:nvPr/>
            </p:nvSpPr>
            <p:spPr>
              <a:xfrm>
                <a:off x="3348951" y="4006031"/>
                <a:ext cx="617348" cy="52322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2385418" y="4540354"/>
                <a:ext cx="5999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b="0" i="1" smtClean="0">
                              <a:latin typeface="Cambria Math" panose="02040503050406030204" pitchFamily="18" charset="0"/>
                            </a:rPr>
                            <m:t>𝑇</m:t>
                          </m:r>
                        </m:e>
                        <m:sub>
                          <m:r>
                            <a:rPr lang="en-US" sz="2800" i="1">
                              <a:latin typeface="Cambria Math" panose="02040503050406030204" pitchFamily="18" charset="0"/>
                            </a:rPr>
                            <m:t>1</m:t>
                          </m:r>
                        </m:sub>
                      </m:sSub>
                    </m:oMath>
                  </m:oMathPara>
                </a14:m>
                <a:endParaRPr lang="en-GB" sz="2800" dirty="0"/>
              </a:p>
            </p:txBody>
          </p:sp>
        </mc:Choice>
        <mc:Fallback xmlns="">
          <p:sp>
            <p:nvSpPr>
              <p:cNvPr id="47" name="Rectangle 46"/>
              <p:cNvSpPr>
                <a:spLocks noRot="1" noChangeAspect="1" noMove="1" noResize="1" noEditPoints="1" noAdjustHandles="1" noChangeArrowheads="1" noChangeShapeType="1" noTextEdit="1"/>
              </p:cNvSpPr>
              <p:nvPr/>
            </p:nvSpPr>
            <p:spPr>
              <a:xfrm>
                <a:off x="2385418" y="4540354"/>
                <a:ext cx="599908" cy="52322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7933738" y="4381744"/>
                <a:ext cx="60817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b="0" i="1" smtClean="0">
                              <a:latin typeface="Cambria Math" panose="02040503050406030204" pitchFamily="18" charset="0"/>
                            </a:rPr>
                            <m:t>𝑇</m:t>
                          </m:r>
                        </m:e>
                        <m:sub>
                          <m:r>
                            <a:rPr lang="en-US" sz="2800" b="0" i="1" smtClean="0">
                              <a:latin typeface="Cambria Math" panose="02040503050406030204" pitchFamily="18" charset="0"/>
                            </a:rPr>
                            <m:t>2</m:t>
                          </m:r>
                        </m:sub>
                      </m:sSub>
                    </m:oMath>
                  </m:oMathPara>
                </a14:m>
                <a:endParaRPr lang="en-GB" sz="2800" dirty="0"/>
              </a:p>
            </p:txBody>
          </p:sp>
        </mc:Choice>
        <mc:Fallback xmlns="">
          <p:sp>
            <p:nvSpPr>
              <p:cNvPr id="48" name="Rectangle 47"/>
              <p:cNvSpPr>
                <a:spLocks noRot="1" noChangeAspect="1" noMove="1" noResize="1" noEditPoints="1" noAdjustHandles="1" noChangeArrowheads="1" noChangeShapeType="1" noTextEdit="1"/>
              </p:cNvSpPr>
              <p:nvPr/>
            </p:nvSpPr>
            <p:spPr>
              <a:xfrm>
                <a:off x="7933738" y="4381744"/>
                <a:ext cx="608179" cy="523220"/>
              </a:xfrm>
              <a:prstGeom prst="rect">
                <a:avLst/>
              </a:prstGeom>
              <a:blipFill>
                <a:blip r:embed="rId6"/>
                <a:stretch>
                  <a:fillRect/>
                </a:stretch>
              </a:blipFill>
            </p:spPr>
            <p:txBody>
              <a:bodyPr/>
              <a:lstStyle/>
              <a:p>
                <a:r>
                  <a:rPr lang="en-GB">
                    <a:noFill/>
                  </a:rPr>
                  <a:t> </a:t>
                </a:r>
              </a:p>
            </p:txBody>
          </p:sp>
        </mc:Fallback>
      </mc:AlternateContent>
      <p:sp>
        <p:nvSpPr>
          <p:cNvPr id="49" name="TextBox 48"/>
          <p:cNvSpPr txBox="1"/>
          <p:nvPr/>
        </p:nvSpPr>
        <p:spPr>
          <a:xfrm>
            <a:off x="4087140" y="3933946"/>
            <a:ext cx="1197764" cy="523220"/>
          </a:xfrm>
          <a:prstGeom prst="rect">
            <a:avLst/>
          </a:prstGeom>
          <a:noFill/>
        </p:spPr>
        <p:txBody>
          <a:bodyPr wrap="none" rtlCol="0">
            <a:spAutoFit/>
          </a:bodyPr>
          <a:lstStyle/>
          <a:p>
            <a:r>
              <a:rPr lang="en-US" sz="2800" dirty="0" smtClean="0">
                <a:latin typeface="Century Gothic" panose="020B0502020202020204" pitchFamily="34" charset="0"/>
              </a:rPr>
              <a:t>Pump</a:t>
            </a:r>
            <a:endParaRPr lang="en-GB" sz="2800" dirty="0">
              <a:latin typeface="Century Gothic" panose="020B0502020202020204" pitchFamily="34" charset="0"/>
            </a:endParaRPr>
          </a:p>
        </p:txBody>
      </p:sp>
      <p:sp>
        <p:nvSpPr>
          <p:cNvPr id="50" name="TextBox 49"/>
          <p:cNvSpPr txBox="1"/>
          <p:nvPr/>
        </p:nvSpPr>
        <p:spPr>
          <a:xfrm>
            <a:off x="5519148" y="3892585"/>
            <a:ext cx="1215397" cy="523220"/>
          </a:xfrm>
          <a:prstGeom prst="rect">
            <a:avLst/>
          </a:prstGeom>
          <a:noFill/>
        </p:spPr>
        <p:txBody>
          <a:bodyPr wrap="none" rtlCol="0">
            <a:spAutoFit/>
          </a:bodyPr>
          <a:lstStyle/>
          <a:p>
            <a:r>
              <a:rPr lang="en-US" sz="2800" dirty="0" smtClean="0">
                <a:latin typeface="Century Gothic" panose="020B0502020202020204" pitchFamily="34" charset="0"/>
              </a:rPr>
              <a:t>Motor</a:t>
            </a:r>
            <a:endParaRPr lang="en-GB" sz="2800" dirty="0">
              <a:latin typeface="Century Gothic" panose="020B0502020202020204" pitchFamily="34" charset="0"/>
            </a:endParaRPr>
          </a:p>
        </p:txBody>
      </p:sp>
      <p:sp>
        <p:nvSpPr>
          <p:cNvPr id="51" name="TextBox 50"/>
          <p:cNvSpPr txBox="1"/>
          <p:nvPr/>
        </p:nvSpPr>
        <p:spPr>
          <a:xfrm>
            <a:off x="8073371" y="5259554"/>
            <a:ext cx="981359" cy="523220"/>
          </a:xfrm>
          <a:prstGeom prst="rect">
            <a:avLst/>
          </a:prstGeom>
          <a:noFill/>
        </p:spPr>
        <p:txBody>
          <a:bodyPr wrap="none" rtlCol="0">
            <a:spAutoFit/>
          </a:bodyPr>
          <a:lstStyle/>
          <a:p>
            <a:r>
              <a:rPr lang="en-US" sz="2800" dirty="0" smtClean="0">
                <a:latin typeface="Century Gothic" panose="020B0502020202020204" pitchFamily="34" charset="0"/>
              </a:rPr>
              <a:t>Tank</a:t>
            </a:r>
            <a:endParaRPr lang="en-GB" sz="28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6" name="Rectangle 5"/>
              <p:cNvSpPr/>
              <p:nvPr/>
            </p:nvSpPr>
            <p:spPr>
              <a:xfrm>
                <a:off x="6864228" y="4129441"/>
                <a:ext cx="6256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US" sz="2800" i="1">
                              <a:latin typeface="Cambria Math" panose="02040503050406030204" pitchFamily="18" charset="0"/>
                            </a:rPr>
                            <m:t>𝑣</m:t>
                          </m:r>
                        </m:e>
                        <m:sub>
                          <m:r>
                            <a:rPr lang="en-US" sz="2800" b="0" i="1" smtClean="0">
                              <a:latin typeface="Cambria Math" panose="02040503050406030204" pitchFamily="18" charset="0"/>
                            </a:rPr>
                            <m:t>2</m:t>
                          </m:r>
                        </m:sub>
                      </m:sSub>
                    </m:oMath>
                  </m:oMathPara>
                </a14:m>
                <a:endParaRPr lang="en-GB" sz="2800" dirty="0"/>
              </a:p>
            </p:txBody>
          </p:sp>
        </mc:Choice>
        <mc:Fallback xmlns="">
          <p:sp>
            <p:nvSpPr>
              <p:cNvPr id="6" name="Rectangle 5"/>
              <p:cNvSpPr>
                <a:spLocks noRot="1" noChangeAspect="1" noMove="1" noResize="1" noEditPoints="1" noAdjustHandles="1" noChangeArrowheads="1" noChangeShapeType="1" noTextEdit="1"/>
              </p:cNvSpPr>
              <p:nvPr/>
            </p:nvSpPr>
            <p:spPr>
              <a:xfrm>
                <a:off x="6864228" y="4129441"/>
                <a:ext cx="625619"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89767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940" y="913535"/>
            <a:ext cx="10515600" cy="489379"/>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352863" y="1590081"/>
            <a:ext cx="5804097" cy="579372"/>
          </a:xfrm>
        </p:spPr>
        <p:txBody>
          <a:bodyPr/>
          <a:lstStyle/>
          <a:p>
            <a:pPr marL="0" indent="0">
              <a:buNone/>
            </a:pPr>
            <a:r>
              <a:rPr lang="en-US" b="1" i="1" dirty="0" smtClean="0"/>
              <a:t>Hydrostatics:</a:t>
            </a:r>
            <a:r>
              <a:rPr lang="en-US" dirty="0" smtClean="0"/>
              <a:t>    </a:t>
            </a:r>
            <a:r>
              <a:rPr lang="en-US" dirty="0"/>
              <a:t>rotational </a:t>
            </a:r>
            <a:r>
              <a:rPr lang="en-US" dirty="0" smtClean="0"/>
              <a:t>motion</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21</a:t>
            </a:fld>
            <a:endParaRPr lang="en-GB" dirty="0"/>
          </a:p>
        </p:txBody>
      </p:sp>
      <p:sp>
        <p:nvSpPr>
          <p:cNvPr id="7" name="Arc 6"/>
          <p:cNvSpPr/>
          <p:nvPr/>
        </p:nvSpPr>
        <p:spPr>
          <a:xfrm>
            <a:off x="1260814" y="5833510"/>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Arc 7"/>
          <p:cNvSpPr>
            <a:spLocks noChangeAspect="1"/>
          </p:cNvSpPr>
          <p:nvPr/>
        </p:nvSpPr>
        <p:spPr>
          <a:xfrm>
            <a:off x="1140980" y="3368333"/>
            <a:ext cx="4663440" cy="4663440"/>
          </a:xfrm>
          <a:prstGeom prst="arc">
            <a:avLst>
              <a:gd name="adj1" fmla="val 14013900"/>
              <a:gd name="adj2" fmla="val 18789541"/>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Arc 8"/>
          <p:cNvSpPr>
            <a:spLocks noChangeAspect="1"/>
          </p:cNvSpPr>
          <p:nvPr/>
        </p:nvSpPr>
        <p:spPr>
          <a:xfrm>
            <a:off x="1606254" y="3834496"/>
            <a:ext cx="3749040" cy="3749040"/>
          </a:xfrm>
          <a:prstGeom prst="arc">
            <a:avLst>
              <a:gd name="adj1" fmla="val 14013900"/>
              <a:gd name="adj2" fmla="val 18789541"/>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Rounded Rectangle 13"/>
          <p:cNvSpPr/>
          <p:nvPr/>
        </p:nvSpPr>
        <p:spPr>
          <a:xfrm>
            <a:off x="3393440" y="3408973"/>
            <a:ext cx="193040" cy="3657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ounded Rectangle 14"/>
          <p:cNvSpPr/>
          <p:nvPr/>
        </p:nvSpPr>
        <p:spPr>
          <a:xfrm>
            <a:off x="3454400" y="3774733"/>
            <a:ext cx="45719" cy="1925027"/>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p:cNvCxnSpPr>
            <a:stCxn id="15" idx="2"/>
          </p:cNvCxnSpPr>
          <p:nvPr/>
        </p:nvCxnSpPr>
        <p:spPr>
          <a:xfrm flipV="1">
            <a:off x="3477260" y="3921760"/>
            <a:ext cx="1115060" cy="1778000"/>
          </a:xfrm>
          <a:prstGeom prst="straightConnector1">
            <a:avLst/>
          </a:prstGeom>
          <a:ln w="127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4132105" y="4529882"/>
                <a:ext cx="377924" cy="6164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2</m:t>
                          </m:r>
                        </m:den>
                      </m:f>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4132105" y="4529882"/>
                <a:ext cx="377924" cy="616451"/>
              </a:xfrm>
              <a:prstGeom prst="rect">
                <a:avLst/>
              </a:prstGeom>
              <a:blipFill>
                <a:blip r:embed="rId2"/>
                <a:stretch>
                  <a:fillRect/>
                </a:stretch>
              </a:blipFill>
            </p:spPr>
            <p:txBody>
              <a:bodyPr/>
              <a:lstStyle/>
              <a:p>
                <a:r>
                  <a:rPr lang="en-GB">
                    <a:noFill/>
                  </a:rPr>
                  <a:t> </a:t>
                </a:r>
              </a:p>
            </p:txBody>
          </p:sp>
        </mc:Fallback>
      </mc:AlternateContent>
      <p:grpSp>
        <p:nvGrpSpPr>
          <p:cNvPr id="58" name="Group 57"/>
          <p:cNvGrpSpPr/>
          <p:nvPr/>
        </p:nvGrpSpPr>
        <p:grpSpPr>
          <a:xfrm>
            <a:off x="1405140" y="3559575"/>
            <a:ext cx="4114800" cy="4187718"/>
            <a:chOff x="1405140" y="3559575"/>
            <a:chExt cx="4114800" cy="4187718"/>
          </a:xfrm>
        </p:grpSpPr>
        <p:sp>
          <p:nvSpPr>
            <p:cNvPr id="16" name="Arc 15"/>
            <p:cNvSpPr>
              <a:spLocks noChangeAspect="1"/>
            </p:cNvSpPr>
            <p:nvPr/>
          </p:nvSpPr>
          <p:spPr>
            <a:xfrm>
              <a:off x="1405140" y="3632493"/>
              <a:ext cx="4114800" cy="4114800"/>
            </a:xfrm>
            <a:prstGeom prst="arc">
              <a:avLst>
                <a:gd name="adj1" fmla="val 15265454"/>
                <a:gd name="adj2" fmla="val 16047953"/>
              </a:avLst>
            </a:prstGeom>
            <a:ln w="15875">
              <a:solidFill>
                <a:schemeClr val="tx1"/>
              </a:solidFill>
              <a:headEnd type="none"/>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TextBox 21"/>
            <p:cNvSpPr txBox="1"/>
            <p:nvPr/>
          </p:nvSpPr>
          <p:spPr>
            <a:xfrm>
              <a:off x="2528109" y="3559575"/>
              <a:ext cx="296876" cy="369332"/>
            </a:xfrm>
            <a:prstGeom prst="rect">
              <a:avLst/>
            </a:prstGeom>
            <a:noFill/>
          </p:spPr>
          <p:txBody>
            <a:bodyPr wrap="none" rtlCol="0">
              <a:spAutoFit/>
            </a:bodyPr>
            <a:lstStyle/>
            <a:p>
              <a:r>
                <a:rPr lang="en-GB" dirty="0" smtClean="0"/>
                <a:t>T</a:t>
              </a:r>
              <a:endParaRPr lang="en-GB" dirty="0"/>
            </a:p>
          </p:txBody>
        </p:sp>
        <p:cxnSp>
          <p:nvCxnSpPr>
            <p:cNvPr id="24" name="Straight Connector 23"/>
            <p:cNvCxnSpPr>
              <a:stCxn id="15" idx="2"/>
            </p:cNvCxnSpPr>
            <p:nvPr/>
          </p:nvCxnSpPr>
          <p:spPr>
            <a:xfrm flipH="1" flipV="1">
              <a:off x="2530540" y="4460492"/>
              <a:ext cx="946720" cy="1239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Arc 24"/>
            <p:cNvSpPr>
              <a:spLocks noChangeAspect="1"/>
            </p:cNvSpPr>
            <p:nvPr/>
          </p:nvSpPr>
          <p:spPr>
            <a:xfrm>
              <a:off x="2321560" y="4547145"/>
              <a:ext cx="2286000" cy="2286000"/>
            </a:xfrm>
            <a:prstGeom prst="arc">
              <a:avLst>
                <a:gd name="adj1" fmla="val 14013900"/>
                <a:gd name="adj2" fmla="val 16198527"/>
              </a:avLst>
            </a:prstGeom>
            <a:ln w="12700">
              <a:solidFill>
                <a:schemeClr val="tx1"/>
              </a:solidFill>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p:cNvSpPr txBox="1"/>
                <p:nvPr/>
              </p:nvSpPr>
              <p:spPr>
                <a:xfrm>
                  <a:off x="3039563" y="4569455"/>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𝜑</m:t>
                        </m:r>
                      </m:oMath>
                    </m:oMathPara>
                  </a14:m>
                  <a:endParaRPr lang="en-GB" dirty="0"/>
                </a:p>
              </p:txBody>
            </p:sp>
          </mc:Choice>
          <mc:Fallback xmlns="">
            <p:sp>
              <p:nvSpPr>
                <p:cNvPr id="27" name="TextBox 26"/>
                <p:cNvSpPr txBox="1">
                  <a:spLocks noRot="1" noChangeAspect="1" noMove="1" noResize="1" noEditPoints="1" noAdjustHandles="1" noChangeArrowheads="1" noChangeShapeType="1" noTextEdit="1"/>
                </p:cNvSpPr>
                <p:nvPr/>
              </p:nvSpPr>
              <p:spPr>
                <a:xfrm>
                  <a:off x="3039563" y="4569455"/>
                  <a:ext cx="399597" cy="369332"/>
                </a:xfrm>
                <a:prstGeom prst="rect">
                  <a:avLst/>
                </a:prstGeom>
                <a:blipFill>
                  <a:blip r:embed="rId4"/>
                  <a:stretch>
                    <a:fillRect b="-6667"/>
                  </a:stretch>
                </a:blipFill>
              </p:spPr>
              <p:txBody>
                <a:bodyPr/>
                <a:lstStyle/>
                <a:p>
                  <a:r>
                    <a:rPr lang="en-GB">
                      <a:noFill/>
                    </a:rPr>
                    <a:t> </a:t>
                  </a:r>
                </a:p>
              </p:txBody>
            </p:sp>
          </mc:Fallback>
        </mc:AlternateContent>
      </p:grpSp>
      <p:grpSp>
        <p:nvGrpSpPr>
          <p:cNvPr id="59" name="Group 58"/>
          <p:cNvGrpSpPr/>
          <p:nvPr/>
        </p:nvGrpSpPr>
        <p:grpSpPr>
          <a:xfrm>
            <a:off x="3667760" y="2728267"/>
            <a:ext cx="2020000" cy="904226"/>
            <a:chOff x="3667760" y="2728267"/>
            <a:chExt cx="2020000" cy="904226"/>
          </a:xfrm>
        </p:grpSpPr>
        <p:sp>
          <p:nvSpPr>
            <p:cNvPr id="29" name="TextBox 28"/>
            <p:cNvSpPr txBox="1"/>
            <p:nvPr/>
          </p:nvSpPr>
          <p:spPr>
            <a:xfrm>
              <a:off x="3860016" y="2728267"/>
              <a:ext cx="1827744" cy="400110"/>
            </a:xfrm>
            <a:prstGeom prst="rect">
              <a:avLst/>
            </a:prstGeom>
            <a:noFill/>
          </p:spPr>
          <p:txBody>
            <a:bodyPr wrap="none" rtlCol="0">
              <a:spAutoFit/>
            </a:bodyPr>
            <a:lstStyle/>
            <a:p>
              <a:r>
                <a:rPr lang="en-US" sz="2000" dirty="0" smtClean="0">
                  <a:latin typeface="Century Gothic" panose="020B0502020202020204" pitchFamily="34" charset="0"/>
                </a:rPr>
                <a:t>High pressure</a:t>
              </a:r>
              <a:endParaRPr lang="en-GB" sz="2000" dirty="0">
                <a:latin typeface="Century Gothic" panose="020B0502020202020204" pitchFamily="34" charset="0"/>
              </a:endParaRPr>
            </a:p>
          </p:txBody>
        </p:sp>
        <p:cxnSp>
          <p:nvCxnSpPr>
            <p:cNvPr id="36" name="Straight Connector 35"/>
            <p:cNvCxnSpPr/>
            <p:nvPr/>
          </p:nvCxnSpPr>
          <p:spPr>
            <a:xfrm flipH="1">
              <a:off x="3667760" y="3138397"/>
              <a:ext cx="842269" cy="4940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641656" y="2433405"/>
            <a:ext cx="2597705" cy="1051475"/>
            <a:chOff x="641656" y="2433405"/>
            <a:chExt cx="2597705" cy="1051475"/>
          </a:xfrm>
        </p:grpSpPr>
        <p:sp>
          <p:nvSpPr>
            <p:cNvPr id="30" name="Rectangle 29"/>
            <p:cNvSpPr/>
            <p:nvPr/>
          </p:nvSpPr>
          <p:spPr>
            <a:xfrm>
              <a:off x="641656" y="2433405"/>
              <a:ext cx="1771639" cy="400110"/>
            </a:xfrm>
            <a:prstGeom prst="rect">
              <a:avLst/>
            </a:prstGeom>
          </p:spPr>
          <p:txBody>
            <a:bodyPr wrap="none">
              <a:spAutoFit/>
            </a:bodyPr>
            <a:lstStyle/>
            <a:p>
              <a:r>
                <a:rPr lang="en-US" sz="2000" dirty="0" smtClean="0">
                  <a:latin typeface="Century Gothic" panose="020B0502020202020204" pitchFamily="34" charset="0"/>
                </a:rPr>
                <a:t>Low </a:t>
              </a:r>
              <a:r>
                <a:rPr lang="en-US" sz="2000" dirty="0">
                  <a:latin typeface="Century Gothic" panose="020B0502020202020204" pitchFamily="34" charset="0"/>
                </a:rPr>
                <a:t>pressure</a:t>
              </a:r>
              <a:endParaRPr lang="en-GB" sz="2000" dirty="0">
                <a:latin typeface="Century Gothic" panose="020B0502020202020204" pitchFamily="34" charset="0"/>
              </a:endParaRPr>
            </a:p>
          </p:txBody>
        </p:sp>
        <p:cxnSp>
          <p:nvCxnSpPr>
            <p:cNvPr id="38" name="Straight Connector 37"/>
            <p:cNvCxnSpPr/>
            <p:nvPr/>
          </p:nvCxnSpPr>
          <p:spPr>
            <a:xfrm>
              <a:off x="2321560" y="2938342"/>
              <a:ext cx="917801" cy="54653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416163" y="5923280"/>
            <a:ext cx="4582557" cy="707886"/>
          </a:xfrm>
          <a:prstGeom prst="rect">
            <a:avLst/>
          </a:prstGeom>
          <a:noFill/>
        </p:spPr>
        <p:txBody>
          <a:bodyPr wrap="square" rtlCol="0">
            <a:spAutoFit/>
          </a:bodyPr>
          <a:lstStyle/>
          <a:p>
            <a:pPr marL="1371600" indent="-1371600"/>
            <a:r>
              <a:rPr lang="en-US" sz="2000" b="1" i="1" dirty="0" smtClean="0">
                <a:latin typeface="Century Gothic" panose="020B0502020202020204" pitchFamily="34" charset="0"/>
              </a:rPr>
              <a:t>Figure 5.6:</a:t>
            </a:r>
            <a:r>
              <a:rPr lang="en-US" sz="2000" dirty="0" smtClean="0">
                <a:latin typeface="Century Gothic" panose="020B0502020202020204" pitchFamily="34" charset="0"/>
              </a:rPr>
              <a:t> Model of a positive     displacement machine</a:t>
            </a:r>
            <a:endParaRPr lang="en-GB" sz="2000" dirty="0">
              <a:latin typeface="Century Gothic" panose="020B0502020202020204" pitchFamily="34" charset="0"/>
            </a:endParaRPr>
          </a:p>
        </p:txBody>
      </p:sp>
      <p:sp>
        <p:nvSpPr>
          <p:cNvPr id="40" name="TextBox 39"/>
          <p:cNvSpPr txBox="1"/>
          <p:nvPr/>
        </p:nvSpPr>
        <p:spPr>
          <a:xfrm>
            <a:off x="416163" y="3880373"/>
            <a:ext cx="1776448" cy="400110"/>
          </a:xfrm>
          <a:prstGeom prst="rect">
            <a:avLst/>
          </a:prstGeom>
          <a:noFill/>
        </p:spPr>
        <p:txBody>
          <a:bodyPr wrap="none" rtlCol="0">
            <a:spAutoFit/>
          </a:bodyPr>
          <a:lstStyle/>
          <a:p>
            <a:r>
              <a:rPr lang="en-US" sz="2000" dirty="0" smtClean="0">
                <a:latin typeface="Century Gothic" panose="020B0502020202020204" pitchFamily="34" charset="0"/>
              </a:rPr>
              <a:t>Ring cylinder</a:t>
            </a:r>
            <a:endParaRPr lang="en-GB" sz="2000" dirty="0">
              <a:latin typeface="Century Gothic" panose="020B0502020202020204" pitchFamily="34" charset="0"/>
            </a:endParaRPr>
          </a:p>
        </p:txBody>
      </p:sp>
      <p:sp>
        <p:nvSpPr>
          <p:cNvPr id="41" name="TextBox 40"/>
          <p:cNvSpPr txBox="1"/>
          <p:nvPr/>
        </p:nvSpPr>
        <p:spPr>
          <a:xfrm rot="-5280000">
            <a:off x="3114780" y="2520431"/>
            <a:ext cx="899605" cy="400110"/>
          </a:xfrm>
          <a:prstGeom prst="rect">
            <a:avLst/>
          </a:prstGeom>
          <a:noFill/>
        </p:spPr>
        <p:txBody>
          <a:bodyPr wrap="none" rtlCol="0">
            <a:spAutoFit/>
          </a:bodyPr>
          <a:lstStyle/>
          <a:p>
            <a:r>
              <a:rPr lang="en-US" sz="2000" dirty="0" smtClean="0">
                <a:latin typeface="Century Gothic" panose="020B0502020202020204" pitchFamily="34" charset="0"/>
              </a:rPr>
              <a:t>Piston</a:t>
            </a:r>
            <a:endParaRPr lang="en-GB" sz="2000" dirty="0">
              <a:latin typeface="Century Gothic" panose="020B0502020202020204" pitchFamily="34" charset="0"/>
            </a:endParaRPr>
          </a:p>
        </p:txBody>
      </p:sp>
      <p:sp>
        <p:nvSpPr>
          <p:cNvPr id="42" name="TextBox 41"/>
          <p:cNvSpPr txBox="1"/>
          <p:nvPr/>
        </p:nvSpPr>
        <p:spPr>
          <a:xfrm>
            <a:off x="5933659" y="2504733"/>
            <a:ext cx="1563248" cy="400110"/>
          </a:xfrm>
          <a:prstGeom prst="rect">
            <a:avLst/>
          </a:prstGeom>
          <a:noFill/>
        </p:spPr>
        <p:txBody>
          <a:bodyPr wrap="none" rtlCol="0">
            <a:spAutoFit/>
          </a:bodyPr>
          <a:lstStyle/>
          <a:p>
            <a:pPr marL="342900" indent="-342900">
              <a:buFont typeface="Arial" panose="020B0604020202020204" pitchFamily="34" charset="0"/>
              <a:buChar char="•"/>
            </a:pPr>
            <a:r>
              <a:rPr lang="en-US" sz="2000" dirty="0" smtClean="0">
                <a:latin typeface="Century Gothic" panose="020B0502020202020204" pitchFamily="34" charset="0"/>
              </a:rPr>
              <a:t>Volume:</a:t>
            </a:r>
            <a:endParaRPr lang="en-GB" sz="20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43" name="TextBox 42"/>
              <p:cNvSpPr txBox="1"/>
              <p:nvPr/>
            </p:nvSpPr>
            <p:spPr>
              <a:xfrm>
                <a:off x="8080372" y="2633460"/>
                <a:ext cx="13573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oMath>
                  </m:oMathPara>
                </a14:m>
                <a:endParaRPr lang="en-GB" dirty="0"/>
              </a:p>
            </p:txBody>
          </p:sp>
        </mc:Choice>
        <mc:Fallback xmlns="">
          <p:sp>
            <p:nvSpPr>
              <p:cNvPr id="43" name="TextBox 42"/>
              <p:cNvSpPr txBox="1">
                <a:spLocks noRot="1" noChangeAspect="1" noMove="1" noResize="1" noEditPoints="1" noAdjustHandles="1" noChangeArrowheads="1" noChangeShapeType="1" noTextEdit="1"/>
              </p:cNvSpPr>
              <p:nvPr/>
            </p:nvSpPr>
            <p:spPr>
              <a:xfrm>
                <a:off x="8080372" y="2633460"/>
                <a:ext cx="1357358" cy="369332"/>
              </a:xfrm>
              <a:prstGeom prst="rect">
                <a:avLst/>
              </a:prstGeom>
              <a:blipFill>
                <a:blip r:embed="rId5"/>
                <a:stretch>
                  <a:fillRect/>
                </a:stretch>
              </a:blipFill>
            </p:spPr>
            <p:txBody>
              <a:bodyPr/>
              <a:lstStyle/>
              <a:p>
                <a:r>
                  <a:rPr lang="en-GB">
                    <a:noFill/>
                  </a:rPr>
                  <a:t> </a:t>
                </a:r>
              </a:p>
            </p:txBody>
          </p:sp>
        </mc:Fallback>
      </mc:AlternateContent>
      <p:sp>
        <p:nvSpPr>
          <p:cNvPr id="44" name="Rectangle 43"/>
          <p:cNvSpPr/>
          <p:nvPr/>
        </p:nvSpPr>
        <p:spPr>
          <a:xfrm>
            <a:off x="6712730" y="1675610"/>
            <a:ext cx="4740400" cy="461665"/>
          </a:xfrm>
          <a:prstGeom prst="rect">
            <a:avLst/>
          </a:prstGeom>
        </p:spPr>
        <p:txBody>
          <a:bodyPr wrap="none">
            <a:spAutoFit/>
          </a:bodyPr>
          <a:lstStyle/>
          <a:p>
            <a:r>
              <a:rPr lang="en-US" sz="2400" dirty="0">
                <a:latin typeface="Century Gothic" panose="020B0502020202020204" pitchFamily="34" charset="0"/>
              </a:rPr>
              <a:t>For ideal </a:t>
            </a:r>
            <a:r>
              <a:rPr lang="en-US" sz="2400" dirty="0" smtClean="0">
                <a:latin typeface="Century Gothic" panose="020B0502020202020204" pitchFamily="34" charset="0"/>
              </a:rPr>
              <a:t>fluid and no leakage:</a:t>
            </a:r>
            <a:endParaRPr lang="en-GB" sz="2400" dirty="0">
              <a:latin typeface="Century Gothic" panose="020B0502020202020204" pitchFamily="34" charset="0"/>
            </a:endParaRPr>
          </a:p>
        </p:txBody>
      </p:sp>
      <p:sp>
        <p:nvSpPr>
          <p:cNvPr id="45" name="TextBox 44"/>
          <p:cNvSpPr txBox="1"/>
          <p:nvPr/>
        </p:nvSpPr>
        <p:spPr>
          <a:xfrm>
            <a:off x="8248230" y="2155999"/>
            <a:ext cx="907621" cy="400110"/>
          </a:xfrm>
          <a:prstGeom prst="rect">
            <a:avLst/>
          </a:prstGeom>
          <a:noFill/>
        </p:spPr>
        <p:txBody>
          <a:bodyPr wrap="none" rtlCol="0">
            <a:spAutoFit/>
          </a:bodyPr>
          <a:lstStyle/>
          <a:p>
            <a:r>
              <a:rPr lang="en-US" sz="2000" dirty="0" smtClean="0">
                <a:solidFill>
                  <a:srgbClr val="FF0000"/>
                </a:solidFill>
                <a:latin typeface="Century Gothic" panose="020B0502020202020204" pitchFamily="34" charset="0"/>
              </a:rPr>
              <a:t>Pump</a:t>
            </a:r>
            <a:endParaRPr lang="en-GB" sz="2000" dirty="0">
              <a:solidFill>
                <a:srgbClr val="FF0000"/>
              </a:solidFill>
              <a:latin typeface="Century Gothic" panose="020B0502020202020204" pitchFamily="34" charset="0"/>
            </a:endParaRPr>
          </a:p>
        </p:txBody>
      </p:sp>
      <p:sp>
        <p:nvSpPr>
          <p:cNvPr id="46" name="TextBox 45"/>
          <p:cNvSpPr txBox="1"/>
          <p:nvPr/>
        </p:nvSpPr>
        <p:spPr>
          <a:xfrm>
            <a:off x="9987280" y="2136367"/>
            <a:ext cx="920445" cy="400110"/>
          </a:xfrm>
          <a:prstGeom prst="rect">
            <a:avLst/>
          </a:prstGeom>
          <a:noFill/>
        </p:spPr>
        <p:txBody>
          <a:bodyPr wrap="none" rtlCol="0">
            <a:spAutoFit/>
          </a:bodyPr>
          <a:lstStyle/>
          <a:p>
            <a:r>
              <a:rPr lang="en-US" sz="2000" dirty="0" smtClean="0">
                <a:solidFill>
                  <a:srgbClr val="0070C0"/>
                </a:solidFill>
                <a:latin typeface="Century Gothic" panose="020B0502020202020204" pitchFamily="34" charset="0"/>
              </a:rPr>
              <a:t>Motor</a:t>
            </a:r>
            <a:endParaRPr lang="en-GB" sz="2000" dirty="0">
              <a:solidFill>
                <a:srgbClr val="0070C0"/>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47" name="Rectangle 46"/>
              <p:cNvSpPr/>
              <p:nvPr/>
            </p:nvSpPr>
            <p:spPr>
              <a:xfrm>
                <a:off x="9868510" y="2648832"/>
                <a:ext cx="13626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oMath>
                  </m:oMathPara>
                </a14:m>
                <a:endParaRPr lang="en-GB" dirty="0"/>
              </a:p>
            </p:txBody>
          </p:sp>
        </mc:Choice>
        <mc:Fallback xmlns="">
          <p:sp>
            <p:nvSpPr>
              <p:cNvPr id="47" name="Rectangle 46"/>
              <p:cNvSpPr>
                <a:spLocks noRot="1" noChangeAspect="1" noMove="1" noResize="1" noEditPoints="1" noAdjustHandles="1" noChangeArrowheads="1" noChangeShapeType="1" noTextEdit="1"/>
              </p:cNvSpPr>
              <p:nvPr/>
            </p:nvSpPr>
            <p:spPr>
              <a:xfrm>
                <a:off x="9868510" y="2648832"/>
                <a:ext cx="1362681" cy="369332"/>
              </a:xfrm>
              <a:prstGeom prst="rect">
                <a:avLst/>
              </a:prstGeom>
              <a:blipFill>
                <a:blip r:embed="rId6"/>
                <a:stretch>
                  <a:fillRect/>
                </a:stretch>
              </a:blipFill>
            </p:spPr>
            <p:txBody>
              <a:bodyPr/>
              <a:lstStyle/>
              <a:p>
                <a:r>
                  <a:rPr lang="en-GB">
                    <a:noFill/>
                  </a:rPr>
                  <a:t> </a:t>
                </a:r>
              </a:p>
            </p:txBody>
          </p:sp>
        </mc:Fallback>
      </mc:AlternateContent>
      <p:sp>
        <p:nvSpPr>
          <p:cNvPr id="48" name="Rectangle 47"/>
          <p:cNvSpPr/>
          <p:nvPr/>
        </p:nvSpPr>
        <p:spPr>
          <a:xfrm>
            <a:off x="5761251" y="3239551"/>
            <a:ext cx="1858201" cy="400110"/>
          </a:xfrm>
          <a:prstGeom prst="rect">
            <a:avLst/>
          </a:prstGeom>
        </p:spPr>
        <p:txBody>
          <a:bodyPr wrap="none">
            <a:spAutoFit/>
          </a:bodyPr>
          <a:lstStyle/>
          <a:p>
            <a:pPr marL="342900" indent="-342900">
              <a:buFont typeface="Arial" panose="020B0604020202020204" pitchFamily="34" charset="0"/>
              <a:buChar char="•"/>
            </a:pPr>
            <a:r>
              <a:rPr lang="en-US" sz="2000" dirty="0" smtClean="0">
                <a:latin typeface="Century Gothic" panose="020B0502020202020204" pitchFamily="34" charset="0"/>
              </a:rPr>
              <a:t>Discharge:</a:t>
            </a:r>
            <a:endParaRPr lang="en-GB" sz="20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49" name="TextBox 48"/>
              <p:cNvSpPr txBox="1"/>
              <p:nvPr/>
            </p:nvSpPr>
            <p:spPr>
              <a:xfrm>
                <a:off x="8048982" y="3295213"/>
                <a:ext cx="13263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oMath>
                  </m:oMathPara>
                </a14:m>
                <a:endParaRPr lang="en-GB" dirty="0"/>
              </a:p>
            </p:txBody>
          </p:sp>
        </mc:Choice>
        <mc:Fallback xmlns="">
          <p:sp>
            <p:nvSpPr>
              <p:cNvPr id="49" name="TextBox 48"/>
              <p:cNvSpPr txBox="1">
                <a:spLocks noRot="1" noChangeAspect="1" noMove="1" noResize="1" noEditPoints="1" noAdjustHandles="1" noChangeArrowheads="1" noChangeShapeType="1" noTextEdit="1"/>
              </p:cNvSpPr>
              <p:nvPr/>
            </p:nvSpPr>
            <p:spPr>
              <a:xfrm>
                <a:off x="8048982" y="3295213"/>
                <a:ext cx="1326389" cy="369332"/>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9784307" y="3294255"/>
                <a:ext cx="13423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2</m:t>
                          </m:r>
                        </m:sub>
                      </m:sSub>
                    </m:oMath>
                  </m:oMathPara>
                </a14:m>
                <a:endParaRPr lang="en-GB" dirty="0"/>
              </a:p>
            </p:txBody>
          </p:sp>
        </mc:Choice>
        <mc:Fallback xmlns="">
          <p:sp>
            <p:nvSpPr>
              <p:cNvPr id="50" name="Rectangle 49"/>
              <p:cNvSpPr>
                <a:spLocks noRot="1" noChangeAspect="1" noMove="1" noResize="1" noEditPoints="1" noAdjustHandles="1" noChangeArrowheads="1" noChangeShapeType="1" noTextEdit="1"/>
              </p:cNvSpPr>
              <p:nvPr/>
            </p:nvSpPr>
            <p:spPr>
              <a:xfrm>
                <a:off x="9784307" y="3294255"/>
                <a:ext cx="1342355" cy="369332"/>
              </a:xfrm>
              <a:prstGeom prst="rect">
                <a:avLst/>
              </a:prstGeom>
              <a:blipFill>
                <a:blip r:embed="rId8"/>
                <a:stretch>
                  <a:fillRect b="-98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7191379" y="4121671"/>
                <a:ext cx="10446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2</m:t>
                          </m:r>
                        </m:sub>
                      </m:sSub>
                    </m:oMath>
                  </m:oMathPara>
                </a14:m>
                <a:endParaRPr lang="en-GB" dirty="0"/>
              </a:p>
            </p:txBody>
          </p:sp>
        </mc:Choice>
        <mc:Fallback xmlns="">
          <p:sp>
            <p:nvSpPr>
              <p:cNvPr id="51" name="Rectangle 50"/>
              <p:cNvSpPr>
                <a:spLocks noRot="1" noChangeAspect="1" noMove="1" noResize="1" noEditPoints="1" noAdjustHandles="1" noChangeArrowheads="1" noChangeShapeType="1" noTextEdit="1"/>
              </p:cNvSpPr>
              <p:nvPr/>
            </p:nvSpPr>
            <p:spPr>
              <a:xfrm>
                <a:off x="7191379" y="4121671"/>
                <a:ext cx="1044645" cy="369332"/>
              </a:xfrm>
              <a:prstGeom prst="rect">
                <a:avLst/>
              </a:prstGeom>
              <a:blipFill>
                <a:blip r:embed="rId9"/>
                <a:stretch>
                  <a:fillRect b="-98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Rectangle 51"/>
              <p:cNvSpPr/>
              <p:nvPr/>
            </p:nvSpPr>
            <p:spPr>
              <a:xfrm>
                <a:off x="8377336" y="3976391"/>
                <a:ext cx="1264769"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US" b="0" i="1" smtClean="0">
                                  <a:latin typeface="Cambria Math" panose="02040503050406030204" pitchFamily="18" charset="0"/>
                                </a:rPr>
                                <m:t>𝑛</m:t>
                              </m:r>
                            </m:e>
                            <m:sub>
                              <m:r>
                                <a:rPr lang="en-US" i="1">
                                  <a:latin typeface="Cambria Math" panose="02040503050406030204" pitchFamily="18" charset="0"/>
                                </a:rPr>
                                <m:t>1</m:t>
                              </m:r>
                            </m:sub>
                          </m:sSub>
                        </m:num>
                        <m:den>
                          <m:sSub>
                            <m:sSubPr>
                              <m:ctrlPr>
                                <a:rPr lang="en-GB" i="1">
                                  <a:latin typeface="Cambria Math" panose="02040503050406030204" pitchFamily="18" charset="0"/>
                                </a:rPr>
                              </m:ctrlPr>
                            </m:sSubPr>
                            <m:e>
                              <m:r>
                                <a:rPr lang="en-US" b="0" i="1" smtClean="0">
                                  <a:latin typeface="Cambria Math" panose="02040503050406030204" pitchFamily="18" charset="0"/>
                                </a:rPr>
                                <m:t>𝑛</m:t>
                              </m:r>
                            </m:e>
                            <m:sub>
                              <m:r>
                                <a:rPr lang="en-US" i="1">
                                  <a:latin typeface="Cambria Math" panose="02040503050406030204" pitchFamily="18" charset="0"/>
                                </a:rPr>
                                <m:t>2</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𝑉</m:t>
                              </m:r>
                            </m:e>
                            <m:sub>
                              <m:r>
                                <a:rPr lang="en-US" i="1">
                                  <a:latin typeface="Cambria Math" panose="02040503050406030204" pitchFamily="18" charset="0"/>
                                </a:rPr>
                                <m:t>2</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𝑉</m:t>
                              </m:r>
                            </m:e>
                            <m:sub>
                              <m:r>
                                <a:rPr lang="en-US" i="1">
                                  <a:latin typeface="Cambria Math" panose="02040503050406030204" pitchFamily="18" charset="0"/>
                                </a:rPr>
                                <m:t>1</m:t>
                              </m:r>
                            </m:sub>
                          </m:sSub>
                        </m:den>
                      </m:f>
                    </m:oMath>
                  </m:oMathPara>
                </a14:m>
                <a:endParaRPr lang="en-GB" dirty="0"/>
              </a:p>
            </p:txBody>
          </p:sp>
        </mc:Choice>
        <mc:Fallback xmlns="">
          <p:sp>
            <p:nvSpPr>
              <p:cNvPr id="52" name="Rectangle 51"/>
              <p:cNvSpPr>
                <a:spLocks noRot="1" noChangeAspect="1" noMove="1" noResize="1" noEditPoints="1" noAdjustHandles="1" noChangeArrowheads="1" noChangeShapeType="1" noTextEdit="1"/>
              </p:cNvSpPr>
              <p:nvPr/>
            </p:nvSpPr>
            <p:spPr>
              <a:xfrm>
                <a:off x="8377336" y="3976391"/>
                <a:ext cx="1264769" cy="656205"/>
              </a:xfrm>
              <a:prstGeom prst="rect">
                <a:avLst/>
              </a:prstGeom>
              <a:blipFill>
                <a:blip r:embed="rId10"/>
                <a:stretch>
                  <a:fillRect/>
                </a:stretch>
              </a:blipFill>
            </p:spPr>
            <p:txBody>
              <a:bodyPr/>
              <a:lstStyle/>
              <a:p>
                <a:r>
                  <a:rPr lang="en-GB">
                    <a:noFill/>
                  </a:rPr>
                  <a:t> </a:t>
                </a:r>
              </a:p>
            </p:txBody>
          </p:sp>
        </mc:Fallback>
      </mc:AlternateContent>
      <p:sp>
        <p:nvSpPr>
          <p:cNvPr id="53" name="Rectangle 52"/>
          <p:cNvSpPr/>
          <p:nvPr/>
        </p:nvSpPr>
        <p:spPr>
          <a:xfrm>
            <a:off x="5859493" y="4845650"/>
            <a:ext cx="1452642" cy="400110"/>
          </a:xfrm>
          <a:prstGeom prst="rect">
            <a:avLst/>
          </a:prstGeom>
        </p:spPr>
        <p:txBody>
          <a:bodyPr wrap="none">
            <a:spAutoFit/>
          </a:bodyPr>
          <a:lstStyle/>
          <a:p>
            <a:pPr marL="342900" indent="-342900">
              <a:buFont typeface="Arial" panose="020B0604020202020204" pitchFamily="34" charset="0"/>
              <a:buChar char="•"/>
            </a:pPr>
            <a:r>
              <a:rPr lang="en-US" sz="2000" dirty="0" smtClean="0">
                <a:latin typeface="Century Gothic" panose="020B0502020202020204" pitchFamily="34" charset="0"/>
              </a:rPr>
              <a:t>Torque:</a:t>
            </a:r>
            <a:endParaRPr lang="en-GB" sz="20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54" name="TextBox 53"/>
              <p:cNvSpPr txBox="1"/>
              <p:nvPr/>
            </p:nvSpPr>
            <p:spPr>
              <a:xfrm>
                <a:off x="7409154" y="4760559"/>
                <a:ext cx="3144515"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2</m:t>
                          </m:r>
                        </m:den>
                      </m:f>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den>
                      </m:f>
                    </m:oMath>
                  </m:oMathPara>
                </a14:m>
                <a:endParaRPr lang="en-GB" dirty="0"/>
              </a:p>
            </p:txBody>
          </p:sp>
        </mc:Choice>
        <mc:Fallback xmlns="">
          <p:sp>
            <p:nvSpPr>
              <p:cNvPr id="54" name="TextBox 53"/>
              <p:cNvSpPr txBox="1">
                <a:spLocks noRot="1" noChangeAspect="1" noMove="1" noResize="1" noEditPoints="1" noAdjustHandles="1" noChangeArrowheads="1" noChangeShapeType="1" noTextEdit="1"/>
              </p:cNvSpPr>
              <p:nvPr/>
            </p:nvSpPr>
            <p:spPr>
              <a:xfrm>
                <a:off x="7409154" y="4760559"/>
                <a:ext cx="3144515" cy="618311"/>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6585814" y="5503299"/>
                <a:ext cx="2622513"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𝑑</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oMath>
                  </m:oMathPara>
                </a14:m>
                <a:endParaRPr lang="en-GB" dirty="0"/>
              </a:p>
            </p:txBody>
          </p:sp>
        </mc:Choice>
        <mc:Fallback xmlns="">
          <p:sp>
            <p:nvSpPr>
              <p:cNvPr id="56" name="TextBox 55"/>
              <p:cNvSpPr txBox="1">
                <a:spLocks noRot="1" noChangeAspect="1" noMove="1" noResize="1" noEditPoints="1" noAdjustHandles="1" noChangeArrowheads="1" noChangeShapeType="1" noTextEdit="1"/>
              </p:cNvSpPr>
              <p:nvPr/>
            </p:nvSpPr>
            <p:spPr>
              <a:xfrm>
                <a:off x="6585814" y="5503299"/>
                <a:ext cx="2622513" cy="618311"/>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9302091" y="6092557"/>
                <a:ext cx="22361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GB"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oMath>
                  </m:oMathPara>
                </a14:m>
                <a:endParaRPr lang="en-GB" dirty="0"/>
              </a:p>
            </p:txBody>
          </p:sp>
        </mc:Choice>
        <mc:Fallback xmlns="">
          <p:sp>
            <p:nvSpPr>
              <p:cNvPr id="64" name="TextBox 63"/>
              <p:cNvSpPr txBox="1">
                <a:spLocks noRot="1" noChangeAspect="1" noMove="1" noResize="1" noEditPoints="1" noAdjustHandles="1" noChangeArrowheads="1" noChangeShapeType="1" noTextEdit="1"/>
              </p:cNvSpPr>
              <p:nvPr/>
            </p:nvSpPr>
            <p:spPr>
              <a:xfrm>
                <a:off x="9302091" y="6092557"/>
                <a:ext cx="2236190" cy="369332"/>
              </a:xfrm>
              <a:prstGeom prst="rect">
                <a:avLst/>
              </a:prstGeom>
              <a:blipFill>
                <a:blip r:embed="rId13"/>
                <a:stretch>
                  <a:fillRect b="-98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9480775" y="5482383"/>
                <a:ext cx="213814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𝑤h𝑒𝑟𝑒</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𝑒𝑥𝑡𝑒𝑟𝑛𝑎𝑙</m:t>
                      </m:r>
                    </m:oMath>
                  </m:oMathPara>
                </a14:m>
                <a:endParaRPr lang="en-US" b="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𝑚𝑒𝑐h𝑎𝑛𝑖𝑐𝑎𝑙</m:t>
                      </m:r>
                      <m:r>
                        <a:rPr lang="en-US" b="0" i="1" smtClean="0">
                          <a:latin typeface="Cambria Math" panose="02040503050406030204" pitchFamily="18" charset="0"/>
                        </a:rPr>
                        <m:t> </m:t>
                      </m:r>
                      <m:r>
                        <a:rPr lang="en-US" b="0" i="1" smtClean="0">
                          <a:latin typeface="Cambria Math" panose="02040503050406030204" pitchFamily="18" charset="0"/>
                        </a:rPr>
                        <m:t>𝑡𝑜𝑟𝑞𝑢𝑒</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9480775" y="5482383"/>
                <a:ext cx="2138149" cy="553998"/>
              </a:xfrm>
              <a:prstGeom prst="rect">
                <a:avLst/>
              </a:prstGeom>
              <a:blipFill>
                <a:blip r:embed="rId14"/>
                <a:stretch>
                  <a:fillRect l="-2279" r="-2279" b="-15385"/>
                </a:stretch>
              </a:blipFill>
            </p:spPr>
            <p:txBody>
              <a:bodyPr/>
              <a:lstStyle/>
              <a:p>
                <a:r>
                  <a:rPr lang="en-US">
                    <a:noFill/>
                  </a:rPr>
                  <a:t> </a:t>
                </a:r>
              </a:p>
            </p:txBody>
          </p:sp>
        </mc:Fallback>
      </mc:AlternateContent>
    </p:spTree>
    <p:extLst>
      <p:ext uri="{BB962C8B-B14F-4D97-AF65-F5344CB8AC3E}">
        <p14:creationId xmlns:p14="http://schemas.microsoft.com/office/powerpoint/2010/main" val="71725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5" grpId="0"/>
      <p:bldP spid="46" grpId="0"/>
      <p:bldP spid="47" grpId="0"/>
      <p:bldP spid="48" grpId="0"/>
      <p:bldP spid="49" grpId="0"/>
      <p:bldP spid="50" grpId="0"/>
      <p:bldP spid="51" grpId="0"/>
      <p:bldP spid="52" grpId="0"/>
      <p:bldP spid="53" grpId="0"/>
      <p:bldP spid="54" grpId="0"/>
      <p:bldP spid="56" grpId="0"/>
      <p:bldP spid="6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05503"/>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672830" y="4581727"/>
            <a:ext cx="7831494" cy="537026"/>
          </a:xfrm>
        </p:spPr>
        <p:txBody>
          <a:bodyPr>
            <a:normAutofit/>
          </a:bodyPr>
          <a:lstStyle/>
          <a:p>
            <a:r>
              <a:rPr lang="en-GB" dirty="0" smtClean="0"/>
              <a:t>Efficiency of ideal hydrostatic transmission:</a:t>
            </a:r>
          </a:p>
        </p:txBody>
      </p:sp>
      <p:sp>
        <p:nvSpPr>
          <p:cNvPr id="4" name="Slide Number Placeholder 3"/>
          <p:cNvSpPr>
            <a:spLocks noGrp="1"/>
          </p:cNvSpPr>
          <p:nvPr>
            <p:ph type="sldNum" sz="quarter" idx="12"/>
          </p:nvPr>
        </p:nvSpPr>
        <p:spPr/>
        <p:txBody>
          <a:bodyPr/>
          <a:lstStyle/>
          <a:p>
            <a:fld id="{7E50C373-F1D0-494F-8D6D-366C958B3429}" type="slidenum">
              <a:rPr lang="en-GB" smtClean="0"/>
              <a:pPr/>
              <a:t>22</a:t>
            </a:fld>
            <a:endParaRPr lang="en-GB" dirty="0"/>
          </a:p>
        </p:txBody>
      </p:sp>
      <p:sp>
        <p:nvSpPr>
          <p:cNvPr id="5" name="Content Placeholder 2"/>
          <p:cNvSpPr txBox="1">
            <a:spLocks/>
          </p:cNvSpPr>
          <p:nvPr/>
        </p:nvSpPr>
        <p:spPr>
          <a:xfrm>
            <a:off x="557431" y="1473349"/>
            <a:ext cx="5804097" cy="5793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i="1" dirty="0" smtClean="0"/>
              <a:t>Hydrostatics:</a:t>
            </a:r>
            <a:r>
              <a:rPr lang="en-US" dirty="0" smtClean="0"/>
              <a:t>    rotational motion</a:t>
            </a:r>
            <a:endParaRPr lang="en-GB" dirty="0"/>
          </a:p>
        </p:txBody>
      </p:sp>
      <p:sp>
        <p:nvSpPr>
          <p:cNvPr id="6" name="TextBox 5"/>
          <p:cNvSpPr txBox="1"/>
          <p:nvPr/>
        </p:nvSpPr>
        <p:spPr>
          <a:xfrm>
            <a:off x="1001949" y="2104377"/>
            <a:ext cx="7502375" cy="523220"/>
          </a:xfrm>
          <a:prstGeom prst="rect">
            <a:avLst/>
          </a:prstGeom>
          <a:noFill/>
        </p:spPr>
        <p:txBody>
          <a:bodyPr wrap="none" rtlCol="0">
            <a:spAutoFit/>
          </a:bodyPr>
          <a:lstStyle/>
          <a:p>
            <a:r>
              <a:rPr lang="en-GB" sz="2800" dirty="0" smtClean="0">
                <a:latin typeface="Century Gothic" panose="020B0502020202020204" pitchFamily="34" charset="0"/>
              </a:rPr>
              <a:t>Torque transfer between Pump and Motor</a:t>
            </a:r>
            <a:endParaRPr lang="en-GB" sz="28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9389097" y="3412990"/>
                <a:ext cx="2064469" cy="6819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ea typeface="Cambria Math" panose="02040503050406030204" pitchFamily="18" charset="0"/>
                            </a:rPr>
                          </m:ctrlPr>
                        </m:fPr>
                        <m:num>
                          <m:sSub>
                            <m:sSubPr>
                              <m:ctrlPr>
                                <a:rPr lang="en-GB"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2</m:t>
                              </m:r>
                            </m:sub>
                          </m:sSub>
                        </m:num>
                        <m:den>
                          <m:sSub>
                            <m:sSubPr>
                              <m:ctrlPr>
                                <a:rPr lang="en-GB"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2</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1</m:t>
                              </m:r>
                            </m:sub>
                          </m:sSub>
                        </m:den>
                      </m:f>
                    </m:oMath>
                  </m:oMathPara>
                </a14:m>
                <a:endParaRPr lang="en-GB" dirty="0">
                  <a:latin typeface="Cambria Math" panose="02040503050406030204" pitchFamily="18" charset="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9389097" y="3412990"/>
                <a:ext cx="2064469" cy="681918"/>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90538" y="5562488"/>
                <a:ext cx="31608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𝑃𝑢𝑚𝑝</m:t>
                          </m:r>
                          <m:r>
                            <a:rPr lang="en-GB" b="0" i="1" smtClean="0">
                              <a:latin typeface="Cambria Math" panose="02040503050406030204" pitchFamily="18" charset="0"/>
                            </a:rPr>
                            <m:t>:   </m:t>
                          </m:r>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090538" y="5562488"/>
                <a:ext cx="3160802" cy="369332"/>
              </a:xfrm>
              <a:prstGeom prst="rect">
                <a:avLst/>
              </a:prstGeom>
              <a:blipFill>
                <a:blip r:embed="rId3"/>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208531" y="6063114"/>
                <a:ext cx="32821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𝑀𝑜𝑡𝑜𝑟</m:t>
                          </m:r>
                          <m:r>
                            <a:rPr lang="en-GB" b="0" i="1" smtClean="0">
                              <a:latin typeface="Cambria Math" panose="02040503050406030204" pitchFamily="18" charset="0"/>
                            </a:rPr>
                            <m:t>:    </m:t>
                          </m:r>
                          <m:r>
                            <a:rPr lang="en-US" b="0" i="1" smtClean="0">
                              <a:latin typeface="Cambria Math" panose="02040503050406030204" pitchFamily="18" charset="0"/>
                            </a:rPr>
                            <m:t>𝑃</m:t>
                          </m:r>
                        </m:e>
                        <m:sub>
                          <m:r>
                            <a:rPr lang="en-GB"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GB"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GB"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GB"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1208531" y="6063114"/>
                <a:ext cx="3282117" cy="369332"/>
              </a:xfrm>
              <a:prstGeom prst="rect">
                <a:avLst/>
              </a:prstGeom>
              <a:blipFill>
                <a:blip r:embed="rId4"/>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238847" y="2587137"/>
                <a:ext cx="7544694" cy="461665"/>
              </a:xfrm>
              <a:prstGeom prst="rect">
                <a:avLst/>
              </a:prstGeom>
              <a:noFill/>
            </p:spPr>
            <p:txBody>
              <a:bodyPr wrap="none" rtlCol="0">
                <a:spAutoFit/>
              </a:bodyPr>
              <a:lstStyle/>
              <a:p>
                <a:r>
                  <a:rPr lang="en-US" sz="2400" dirty="0" smtClean="0"/>
                  <a:t>As in Figure 5.6, where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oMath>
                </a14:m>
                <a:r>
                  <a:rPr lang="en-GB" sz="2400" dirty="0" smtClean="0"/>
                  <a:t> is the same for pump and motor</a:t>
                </a:r>
                <a:endParaRPr lang="en-GB"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1238847" y="2587137"/>
                <a:ext cx="7544694" cy="461665"/>
              </a:xfrm>
              <a:prstGeom prst="rect">
                <a:avLst/>
              </a:prstGeom>
              <a:blipFill>
                <a:blip r:embed="rId5"/>
                <a:stretch>
                  <a:fillRect l="-1212" t="-10526" r="-242"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361528" y="3410124"/>
                <a:ext cx="1677446" cy="5657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r>
                        <a:rPr lang="en-US"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1</m:t>
                              </m:r>
                            </m:sub>
                          </m:sSub>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2</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2</m:t>
                              </m:r>
                            </m:sub>
                          </m:sSub>
                        </m:den>
                      </m:f>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6361528" y="3410124"/>
                <a:ext cx="1677446" cy="5657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4893013" y="5559934"/>
                <a:ext cx="2441642" cy="657744"/>
              </a:xfrm>
              <a:prstGeom prst="rect">
                <a:avLst/>
              </a:prstGeom>
            </p:spPr>
            <p:txBody>
              <a:bodyPr wrap="square">
                <a:spAutoFit/>
              </a:bodyPr>
              <a:lstStyle/>
              <a:p>
                <a:pPr marL="45720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Cambria Math" panose="02040503050406030204" pitchFamily="18" charset="0"/>
                        </a:rPr>
                        <m:t>𝜂</m:t>
                      </m:r>
                      <m:r>
                        <a:rPr lang="en-GB" i="1">
                          <a:latin typeface="Cambria Math" panose="02040503050406030204" pitchFamily="18" charset="0"/>
                          <a:ea typeface="Cambria Math" panose="02040503050406030204" pitchFamily="18" charset="0"/>
                        </a:rPr>
                        <m:t>=</m:t>
                      </m:r>
                      <m:f>
                        <m:fPr>
                          <m:ctrlPr>
                            <a:rPr lang="en-GB" i="1">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𝑃</m:t>
                              </m:r>
                            </m:e>
                            <m:sub>
                              <m:r>
                                <a:rPr lang="en-GB" i="1">
                                  <a:latin typeface="Cambria Math" panose="02040503050406030204" pitchFamily="18" charset="0"/>
                                  <a:ea typeface="Cambria Math" panose="02040503050406030204" pitchFamily="18" charset="0"/>
                                </a:rPr>
                                <m:t>𝑜𝑢𝑡</m:t>
                              </m:r>
                            </m:sub>
                          </m:sSub>
                        </m:num>
                        <m:den>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𝑃</m:t>
                              </m:r>
                            </m:e>
                            <m:sub>
                              <m:r>
                                <a:rPr lang="en-GB" i="1">
                                  <a:latin typeface="Cambria Math" panose="02040503050406030204" pitchFamily="18" charset="0"/>
                                  <a:ea typeface="Cambria Math" panose="02040503050406030204" pitchFamily="18" charset="0"/>
                                </a:rPr>
                                <m:t>𝑖𝑛</m:t>
                              </m:r>
                            </m:sub>
                          </m:sSub>
                        </m:den>
                      </m:f>
                      <m:r>
                        <a:rPr lang="en-GB" i="1">
                          <a:latin typeface="Cambria Math" panose="02040503050406030204" pitchFamily="18" charset="0"/>
                          <a:ea typeface="Cambria Math" panose="02040503050406030204" pitchFamily="18" charset="0"/>
                        </a:rPr>
                        <m:t>=</m:t>
                      </m:r>
                      <m:f>
                        <m:fPr>
                          <m:ctrlPr>
                            <a:rPr lang="en-GB" i="1">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𝑃</m:t>
                              </m:r>
                            </m:e>
                            <m:sub>
                              <m:r>
                                <a:rPr lang="en-GB" i="1">
                                  <a:latin typeface="Cambria Math" panose="02040503050406030204" pitchFamily="18" charset="0"/>
                                  <a:ea typeface="Cambria Math" panose="02040503050406030204" pitchFamily="18" charset="0"/>
                                </a:rPr>
                                <m:t>2</m:t>
                              </m:r>
                            </m:sub>
                          </m:sSub>
                        </m:num>
                        <m:den>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𝑃</m:t>
                              </m:r>
                            </m:e>
                            <m:sub>
                              <m:r>
                                <a:rPr lang="en-GB" i="1">
                                  <a:latin typeface="Cambria Math" panose="02040503050406030204" pitchFamily="18" charset="0"/>
                                  <a:ea typeface="Cambria Math" panose="02040503050406030204" pitchFamily="18" charset="0"/>
                                </a:rPr>
                                <m:t>1</m:t>
                              </m:r>
                            </m:sub>
                          </m:sSub>
                        </m:den>
                      </m:f>
                      <m:r>
                        <a:rPr lang="en-GB">
                          <a:latin typeface="Cambria Math" panose="02040503050406030204" pitchFamily="18" charset="0"/>
                          <a:ea typeface="Cambria Math" panose="02040503050406030204" pitchFamily="18" charset="0"/>
                        </a:rPr>
                        <m:t>=1</m:t>
                      </m:r>
                    </m:oMath>
                  </m:oMathPara>
                </a14:m>
                <a:endParaRPr lang="en-GB" dirty="0"/>
              </a:p>
            </p:txBody>
          </p:sp>
        </mc:Choice>
        <mc:Fallback xmlns="">
          <p:sp>
            <p:nvSpPr>
              <p:cNvPr id="12" name="Rectangle 11"/>
              <p:cNvSpPr>
                <a:spLocks noRot="1" noChangeAspect="1" noMove="1" noResize="1" noEditPoints="1" noAdjustHandles="1" noChangeArrowheads="1" noChangeShapeType="1" noTextEdit="1"/>
              </p:cNvSpPr>
              <p:nvPr/>
            </p:nvSpPr>
            <p:spPr>
              <a:xfrm>
                <a:off x="4893013" y="5559934"/>
                <a:ext cx="2441642" cy="65774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764103" y="3840674"/>
                <a:ext cx="4978799" cy="612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i="1">
                              <a:latin typeface="Cambria Math" panose="02040503050406030204" pitchFamily="18" charset="0"/>
                            </a:rPr>
                            <m:t>𝐼𝑛𝑡𝑒𝑟𝑛𝑎𝑙</m:t>
                          </m:r>
                          <m:r>
                            <a:rPr lang="en-US" i="1">
                              <a:latin typeface="Cambria Math" panose="02040503050406030204" pitchFamily="18" charset="0"/>
                            </a:rPr>
                            <m:t> </m:t>
                          </m:r>
                          <m:r>
                            <a:rPr lang="en-US" i="1">
                              <a:latin typeface="Cambria Math" panose="02040503050406030204" pitchFamily="18" charset="0"/>
                            </a:rPr>
                            <m:t>𝑓𝑙𝑢𝑖𝑑</m:t>
                          </m:r>
                          <m:r>
                            <a:rPr lang="en-US" i="1">
                              <a:latin typeface="Cambria Math" panose="02040503050406030204" pitchFamily="18" charset="0"/>
                            </a:rPr>
                            <m:t> </m:t>
                          </m:r>
                          <m:r>
                            <a:rPr lang="en-US" i="1">
                              <a:latin typeface="Cambria Math" panose="02040503050406030204" pitchFamily="18" charset="0"/>
                            </a:rPr>
                            <m:t>𝑡𝑜𝑟𝑞𝑢𝑒</m:t>
                          </m:r>
                          <m:r>
                            <a:rPr lang="en-US" i="1">
                              <a:latin typeface="Cambria Math" panose="02040503050406030204" pitchFamily="18" charset="0"/>
                            </a:rPr>
                            <m:t> </m:t>
                          </m:r>
                          <m:r>
                            <a:rPr lang="en-US" i="1">
                              <a:latin typeface="Cambria Math" panose="02040503050406030204" pitchFamily="18" charset="0"/>
                            </a:rPr>
                            <m:t>𝑓𝑜𝑟</m:t>
                          </m:r>
                          <m:r>
                            <a:rPr lang="en-US" i="1">
                              <a:latin typeface="Cambria Math" panose="02040503050406030204" pitchFamily="18" charset="0"/>
                            </a:rPr>
                            <m:t> </m:t>
                          </m:r>
                          <m:r>
                            <a:rPr lang="en-US" b="0" i="1" smtClean="0">
                              <a:latin typeface="Cambria Math" panose="02040503050406030204" pitchFamily="18" charset="0"/>
                            </a:rPr>
                            <m:t>𝑀𝑂𝑇𝑂𝑅</m:t>
                          </m:r>
                          <m:r>
                            <a:rPr lang="en-US" i="1">
                              <a:latin typeface="Cambria Math" panose="02040503050406030204" pitchFamily="18" charset="0"/>
                            </a:rPr>
                            <m:t>:</m:t>
                          </m:r>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num>
                        <m:den>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den>
                      </m:f>
                    </m:oMath>
                  </m:oMathPara>
                </a14:m>
                <a:endParaRPr lang="en-GB" dirty="0"/>
              </a:p>
            </p:txBody>
          </p:sp>
        </mc:Choice>
        <mc:Fallback xmlns="">
          <p:sp>
            <p:nvSpPr>
              <p:cNvPr id="13" name="Rectangle 12"/>
              <p:cNvSpPr>
                <a:spLocks noRot="1" noChangeAspect="1" noMove="1" noResize="1" noEditPoints="1" noAdjustHandles="1" noChangeArrowheads="1" noChangeShapeType="1" noTextEdit="1"/>
              </p:cNvSpPr>
              <p:nvPr/>
            </p:nvSpPr>
            <p:spPr>
              <a:xfrm>
                <a:off x="764103" y="3840674"/>
                <a:ext cx="4978799" cy="61279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764103" y="3059432"/>
                <a:ext cx="4814780" cy="612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𝐼𝑛𝑡𝑒𝑟𝑛𝑎𝑙</m:t>
                          </m:r>
                          <m:r>
                            <a:rPr lang="en-US" b="0" i="1" smtClean="0">
                              <a:latin typeface="Cambria Math" panose="02040503050406030204" pitchFamily="18" charset="0"/>
                            </a:rPr>
                            <m:t> </m:t>
                          </m:r>
                          <m:r>
                            <a:rPr lang="en-US" b="0" i="1" smtClean="0">
                              <a:latin typeface="Cambria Math" panose="02040503050406030204" pitchFamily="18" charset="0"/>
                            </a:rPr>
                            <m:t>𝑓𝑙𝑢𝑖𝑑</m:t>
                          </m:r>
                          <m:r>
                            <a:rPr lang="en-US" b="0" i="1" smtClean="0">
                              <a:latin typeface="Cambria Math" panose="02040503050406030204" pitchFamily="18" charset="0"/>
                            </a:rPr>
                            <m:t> </m:t>
                          </m:r>
                          <m:r>
                            <a:rPr lang="en-US" b="0" i="1" smtClean="0">
                              <a:latin typeface="Cambria Math" panose="02040503050406030204" pitchFamily="18" charset="0"/>
                            </a:rPr>
                            <m:t>𝑡𝑜𝑟𝑞𝑢𝑒</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𝑃𝑈𝑀𝑃</m:t>
                          </m:r>
                          <m:r>
                            <a:rPr lang="en-US" b="0" i="1" smtClean="0">
                              <a:latin typeface="Cambria Math" panose="02040503050406030204" pitchFamily="18" charset="0"/>
                            </a:rPr>
                            <m:t>:</m:t>
                          </m:r>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num>
                        <m:den>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den>
                      </m:f>
                    </m:oMath>
                  </m:oMathPara>
                </a14:m>
                <a:endParaRPr lang="en-GB" dirty="0"/>
              </a:p>
            </p:txBody>
          </p:sp>
        </mc:Choice>
        <mc:Fallback xmlns="">
          <p:sp>
            <p:nvSpPr>
              <p:cNvPr id="14" name="Rectangle 13"/>
              <p:cNvSpPr>
                <a:spLocks noRot="1" noChangeAspect="1" noMove="1" noResize="1" noEditPoints="1" noAdjustHandles="1" noChangeArrowheads="1" noChangeShapeType="1" noTextEdit="1"/>
              </p:cNvSpPr>
              <p:nvPr/>
            </p:nvSpPr>
            <p:spPr>
              <a:xfrm>
                <a:off x="764103" y="3059432"/>
                <a:ext cx="4814780" cy="612796"/>
              </a:xfrm>
              <a:prstGeom prst="rect">
                <a:avLst/>
              </a:prstGeom>
              <a:blipFill>
                <a:blip r:embed="rId9"/>
                <a:stretch>
                  <a:fillRect/>
                </a:stretch>
              </a:blipFill>
            </p:spPr>
            <p:txBody>
              <a:bodyPr/>
              <a:lstStyle/>
              <a:p>
                <a:r>
                  <a:rPr lang="en-GB">
                    <a:noFill/>
                  </a:rPr>
                  <a:t> </a:t>
                </a:r>
              </a:p>
            </p:txBody>
          </p:sp>
        </mc:Fallback>
      </mc:AlternateContent>
      <p:sp>
        <p:nvSpPr>
          <p:cNvPr id="15" name="TextBox 14"/>
          <p:cNvSpPr txBox="1"/>
          <p:nvPr/>
        </p:nvSpPr>
        <p:spPr>
          <a:xfrm>
            <a:off x="805218" y="5005936"/>
            <a:ext cx="10968067"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For loss-free operation, the output hydraulic power is equal the input mechanical power</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15"/>
              <p:cNvSpPr txBox="1"/>
              <p:nvPr/>
            </p:nvSpPr>
            <p:spPr>
              <a:xfrm>
                <a:off x="7598005" y="5736013"/>
                <a:ext cx="4093300" cy="369332"/>
              </a:xfrm>
              <a:prstGeom prst="rect">
                <a:avLst/>
              </a:prstGeom>
              <a:noFill/>
            </p:spPr>
            <p:txBody>
              <a:bodyPr wrap="none" rtlCol="0">
                <a:spAutoFit/>
              </a:bodyPr>
              <a:lstStyle/>
              <a:p>
                <a:r>
                  <a:rPr lang="en-US" dirty="0" smtClean="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oMath>
                </a14:m>
                <a:r>
                  <a:rPr lang="en-US" dirty="0" smtClean="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2</m:t>
                        </m:r>
                      </m:sub>
                    </m:sSub>
                  </m:oMath>
                </a14:m>
                <a:r>
                  <a:rPr lang="en-US" dirty="0" smtClean="0"/>
                  <a:t>  are mechanical power</a:t>
                </a:r>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7598005" y="5736013"/>
                <a:ext cx="4093300" cy="369332"/>
              </a:xfrm>
              <a:prstGeom prst="rect">
                <a:avLst/>
              </a:prstGeom>
              <a:blipFill>
                <a:blip r:embed="rId10"/>
                <a:stretch>
                  <a:fillRect l="-1190" t="-9836" b="-24590"/>
                </a:stretch>
              </a:blipFill>
            </p:spPr>
            <p:txBody>
              <a:bodyPr/>
              <a:lstStyle/>
              <a:p>
                <a:r>
                  <a:rPr lang="en-GB">
                    <a:noFill/>
                  </a:rPr>
                  <a:t> </a:t>
                </a:r>
              </a:p>
            </p:txBody>
          </p:sp>
        </mc:Fallback>
      </mc:AlternateContent>
      <p:sp>
        <p:nvSpPr>
          <p:cNvPr id="17" name="TextBox 16"/>
          <p:cNvSpPr txBox="1"/>
          <p:nvPr/>
        </p:nvSpPr>
        <p:spPr>
          <a:xfrm>
            <a:off x="8827471" y="3556426"/>
            <a:ext cx="561626" cy="369332"/>
          </a:xfrm>
          <a:prstGeom prst="rect">
            <a:avLst/>
          </a:prstGeom>
          <a:noFill/>
        </p:spPr>
        <p:txBody>
          <a:bodyPr wrap="square" rtlCol="0">
            <a:spAutoFit/>
          </a:bodyPr>
          <a:lstStyle/>
          <a:p>
            <a:r>
              <a:rPr lang="en-GB" dirty="0">
                <a:latin typeface="Cambria Math" panose="02040503050406030204" pitchFamily="18" charset="0"/>
                <a:ea typeface="Cambria Math" panose="02040503050406030204" pitchFamily="18" charset="0"/>
              </a:rPr>
              <a:t>Or</a:t>
            </a:r>
            <a:endParaRPr lang="en-GB" dirty="0"/>
          </a:p>
        </p:txBody>
      </p:sp>
    </p:spTree>
    <p:extLst>
      <p:ext uri="{BB962C8B-B14F-4D97-AF65-F5344CB8AC3E}">
        <p14:creationId xmlns:p14="http://schemas.microsoft.com/office/powerpoint/2010/main" val="60731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27681"/>
          </a:xfrm>
        </p:spPr>
        <p:txBody>
          <a:bodyPr>
            <a:normAutofit fontScale="90000"/>
          </a:bodyPr>
          <a:lstStyle/>
          <a:p>
            <a:r>
              <a:rPr lang="en-GB" dirty="0"/>
              <a:t>UNIT 4:	 Principles of Hydro-Mechanics</a:t>
            </a:r>
          </a:p>
        </p:txBody>
      </p:sp>
      <p:sp>
        <p:nvSpPr>
          <p:cNvPr id="3" name="Content Placeholder 2"/>
          <p:cNvSpPr>
            <a:spLocks noGrp="1"/>
          </p:cNvSpPr>
          <p:nvPr>
            <p:ph idx="1"/>
          </p:nvPr>
        </p:nvSpPr>
        <p:spPr>
          <a:xfrm>
            <a:off x="825998" y="1325407"/>
            <a:ext cx="10515600" cy="808844"/>
          </a:xfrm>
        </p:spPr>
        <p:txBody>
          <a:bodyPr>
            <a:noAutofit/>
          </a:bodyPr>
          <a:lstStyle/>
          <a:p>
            <a:pPr marL="1198563" indent="-1198563">
              <a:lnSpc>
                <a:spcPct val="140000"/>
              </a:lnSpc>
              <a:buNone/>
            </a:pPr>
            <a:r>
              <a:rPr lang="en-US" sz="2000" b="1" i="1" dirty="0" smtClean="0">
                <a:latin typeface="Constantia" panose="02030602050306030303" pitchFamily="18" charset="0"/>
              </a:rPr>
              <a:t>Example:</a:t>
            </a:r>
            <a:r>
              <a:rPr lang="en-US" sz="2000" dirty="0" smtClean="0">
                <a:latin typeface="Constantia" panose="02030602050306030303" pitchFamily="18" charset="0"/>
              </a:rPr>
              <a:t>   A loss-free hydrostatic drive train in an opened circuit has been assigned the following data:</a:t>
            </a:r>
            <a:endParaRPr lang="en-GB" sz="2000" dirty="0">
              <a:latin typeface="Constantia" panose="02030602050306030303" pitchFamily="18"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23</a:t>
            </a:fld>
            <a:endParaRPr lang="en-GB" dirty="0"/>
          </a:p>
        </p:txBody>
      </p:sp>
      <p:sp>
        <p:nvSpPr>
          <p:cNvPr id="7" name="Oval 6"/>
          <p:cNvSpPr/>
          <p:nvPr/>
        </p:nvSpPr>
        <p:spPr>
          <a:xfrm>
            <a:off x="1653463" y="3802315"/>
            <a:ext cx="807396" cy="80739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Isosceles Triangle 7"/>
          <p:cNvSpPr/>
          <p:nvPr/>
        </p:nvSpPr>
        <p:spPr>
          <a:xfrm>
            <a:off x="1888059" y="3802315"/>
            <a:ext cx="338203" cy="30062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5212935" y="3954715"/>
            <a:ext cx="807396" cy="80739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Isosceles Triangle 9"/>
          <p:cNvSpPr/>
          <p:nvPr/>
        </p:nvSpPr>
        <p:spPr>
          <a:xfrm flipV="1">
            <a:off x="5447531" y="3954715"/>
            <a:ext cx="338203" cy="30062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p:cNvCxnSpPr/>
          <p:nvPr/>
        </p:nvCxnSpPr>
        <p:spPr>
          <a:xfrm flipH="1" flipV="1">
            <a:off x="2071628" y="3244242"/>
            <a:ext cx="1" cy="558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059102" y="3256768"/>
            <a:ext cx="35594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631100" y="3244242"/>
            <a:ext cx="1" cy="7104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550533" y="5259554"/>
            <a:ext cx="48976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2109206" y="4609711"/>
            <a:ext cx="1" cy="651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5668678" y="4762111"/>
            <a:ext cx="1"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1550533" y="4762111"/>
            <a:ext cx="0"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6448210" y="4762111"/>
            <a:ext cx="0" cy="49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97446" y="4130857"/>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1039054" y="4233153"/>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6011876" y="4295783"/>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6001438" y="4398079"/>
            <a:ext cx="656017"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Arc 37"/>
          <p:cNvSpPr/>
          <p:nvPr/>
        </p:nvSpPr>
        <p:spPr>
          <a:xfrm>
            <a:off x="682419" y="3802315"/>
            <a:ext cx="806169" cy="806169"/>
          </a:xfrm>
          <a:prstGeom prst="arc">
            <a:avLst>
              <a:gd name="adj1" fmla="val 16200000"/>
              <a:gd name="adj2" fmla="val 4948572"/>
            </a:avLst>
          </a:prstGeom>
          <a:ln w="19050">
            <a:solidFill>
              <a:srgbClr val="FF0000"/>
            </a:solidFill>
            <a:headEnd type="none"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p:cNvSpPr/>
          <p:nvPr/>
        </p:nvSpPr>
        <p:spPr>
          <a:xfrm>
            <a:off x="5694563" y="3940185"/>
            <a:ext cx="806169" cy="806169"/>
          </a:xfrm>
          <a:prstGeom prst="arc">
            <a:avLst>
              <a:gd name="adj1" fmla="val 16200000"/>
              <a:gd name="adj2" fmla="val 4948572"/>
            </a:avLst>
          </a:prstGeom>
          <a:ln w="19050">
            <a:solidFill>
              <a:srgbClr val="FF0000"/>
            </a:solidFill>
            <a:headEnd type="none"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1" name="Straight Arrow Connector 40"/>
          <p:cNvCxnSpPr/>
          <p:nvPr/>
        </p:nvCxnSpPr>
        <p:spPr>
          <a:xfrm>
            <a:off x="3089291" y="3043825"/>
            <a:ext cx="910080" cy="0"/>
          </a:xfrm>
          <a:prstGeom prst="straightConnector1">
            <a:avLst/>
          </a:prstGeom>
          <a:ln w="19050">
            <a:solidFill>
              <a:schemeClr val="accent1"/>
            </a:solidFill>
            <a:tailEnd type="arrow"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4153001" y="2730725"/>
                <a:ext cx="919547" cy="461665"/>
              </a:xfrm>
              <a:prstGeom prst="rect">
                <a:avLst/>
              </a:prstGeom>
              <a:noFill/>
            </p:spPr>
            <p:txBody>
              <a:bodyPr wrap="none" rtlCol="0">
                <a:spAutoFit/>
              </a:bodyPr>
              <a:lstStyle/>
              <a:p>
                <a:r>
                  <a:rPr lang="en-US" sz="2400" dirty="0" smtClean="0">
                    <a:latin typeface="Century Gothic" panose="020B0502020202020204" pitchFamily="34" charset="0"/>
                  </a:rPr>
                  <a:t>Q,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1</m:t>
                        </m:r>
                      </m:sub>
                    </m:sSub>
                  </m:oMath>
                </a14:m>
                <a:endParaRPr lang="en-GB" sz="2400" dirty="0">
                  <a:latin typeface="Century Gothic" panose="020B0502020202020204" pitchFamily="34"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4153001" y="2730725"/>
                <a:ext cx="919547" cy="461665"/>
              </a:xfrm>
              <a:prstGeom prst="rect">
                <a:avLst/>
              </a:prstGeom>
              <a:blipFill>
                <a:blip r:embed="rId2"/>
                <a:stretch>
                  <a:fillRect l="-9934" t="-10526" b="-289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975670" y="3192390"/>
                <a:ext cx="5654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1</m:t>
                          </m:r>
                        </m:sub>
                      </m:sSub>
                    </m:oMath>
                  </m:oMathPara>
                </a14:m>
                <a:endParaRPr lang="en-GB" sz="2400" dirty="0"/>
              </a:p>
            </p:txBody>
          </p:sp>
        </mc:Choice>
        <mc:Fallback xmlns="">
          <p:sp>
            <p:nvSpPr>
              <p:cNvPr id="44" name="Rectangle 43"/>
              <p:cNvSpPr>
                <a:spLocks noRot="1" noChangeAspect="1" noMove="1" noResize="1" noEditPoints="1" noAdjustHandles="1" noChangeArrowheads="1" noChangeShapeType="1" noTextEdit="1"/>
              </p:cNvSpPr>
              <p:nvPr/>
            </p:nvSpPr>
            <p:spPr>
              <a:xfrm>
                <a:off x="975670" y="3192390"/>
                <a:ext cx="565411" cy="461665"/>
              </a:xfrm>
              <a:prstGeom prst="rect">
                <a:avLst/>
              </a:prstGeom>
              <a:blipFill>
                <a:blip r:embed="rId3"/>
                <a:stretch>
                  <a:fillRect b="-1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6326038" y="3626138"/>
                <a:ext cx="5725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oMath>
                  </m:oMathPara>
                </a14:m>
                <a:endParaRPr lang="en-GB" sz="2400" dirty="0"/>
              </a:p>
            </p:txBody>
          </p:sp>
        </mc:Choice>
        <mc:Fallback xmlns="">
          <p:sp>
            <p:nvSpPr>
              <p:cNvPr id="45" name="Rectangle 44"/>
              <p:cNvSpPr>
                <a:spLocks noRot="1" noChangeAspect="1" noMove="1" noResize="1" noEditPoints="1" noAdjustHandles="1" noChangeArrowheads="1" noChangeShapeType="1" noTextEdit="1"/>
              </p:cNvSpPr>
              <p:nvPr/>
            </p:nvSpPr>
            <p:spPr>
              <a:xfrm>
                <a:off x="6326038" y="3626138"/>
                <a:ext cx="572528" cy="461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1803615" y="4006031"/>
                <a:ext cx="61734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i="1">
                              <a:latin typeface="Cambria Math" panose="02040503050406030204" pitchFamily="18" charset="0"/>
                            </a:rPr>
                            <m:t>1</m:t>
                          </m:r>
                        </m:sub>
                      </m:sSub>
                    </m:oMath>
                  </m:oMathPara>
                </a14:m>
                <a:endParaRPr lang="en-GB" sz="2800" dirty="0"/>
              </a:p>
            </p:txBody>
          </p:sp>
        </mc:Choice>
        <mc:Fallback xmlns="">
          <p:sp>
            <p:nvSpPr>
              <p:cNvPr id="46" name="Rectangle 45"/>
              <p:cNvSpPr>
                <a:spLocks noRot="1" noChangeAspect="1" noMove="1" noResize="1" noEditPoints="1" noAdjustHandles="1" noChangeArrowheads="1" noChangeShapeType="1" noTextEdit="1"/>
              </p:cNvSpPr>
              <p:nvPr/>
            </p:nvSpPr>
            <p:spPr>
              <a:xfrm>
                <a:off x="1803615" y="4006031"/>
                <a:ext cx="617348" cy="52322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840082" y="4540354"/>
                <a:ext cx="5387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𝑇</m:t>
                          </m:r>
                        </m:e>
                        <m:sub>
                          <m:r>
                            <a:rPr lang="en-US" sz="2400" i="1">
                              <a:latin typeface="Cambria Math" panose="02040503050406030204" pitchFamily="18" charset="0"/>
                            </a:rPr>
                            <m:t>1</m:t>
                          </m:r>
                        </m:sub>
                      </m:sSub>
                    </m:oMath>
                  </m:oMathPara>
                </a14:m>
                <a:endParaRPr lang="en-GB" sz="2400" dirty="0"/>
              </a:p>
            </p:txBody>
          </p:sp>
        </mc:Choice>
        <mc:Fallback xmlns="">
          <p:sp>
            <p:nvSpPr>
              <p:cNvPr id="47" name="Rectangle 46"/>
              <p:cNvSpPr>
                <a:spLocks noRot="1" noChangeAspect="1" noMove="1" noResize="1" noEditPoints="1" noAdjustHandles="1" noChangeArrowheads="1" noChangeShapeType="1" noTextEdit="1"/>
              </p:cNvSpPr>
              <p:nvPr/>
            </p:nvSpPr>
            <p:spPr>
              <a:xfrm>
                <a:off x="840082" y="4540354"/>
                <a:ext cx="538737" cy="46166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6388402" y="4381744"/>
                <a:ext cx="5458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𝑇</m:t>
                          </m:r>
                        </m:e>
                        <m:sub>
                          <m:r>
                            <a:rPr lang="en-US" sz="2400" b="0" i="1" smtClean="0">
                              <a:latin typeface="Cambria Math" panose="02040503050406030204" pitchFamily="18" charset="0"/>
                            </a:rPr>
                            <m:t>2</m:t>
                          </m:r>
                        </m:sub>
                      </m:sSub>
                    </m:oMath>
                  </m:oMathPara>
                </a14:m>
                <a:endParaRPr lang="en-GB" sz="2400" dirty="0"/>
              </a:p>
            </p:txBody>
          </p:sp>
        </mc:Choice>
        <mc:Fallback xmlns="">
          <p:sp>
            <p:nvSpPr>
              <p:cNvPr id="48" name="Rectangle 47"/>
              <p:cNvSpPr>
                <a:spLocks noRot="1" noChangeAspect="1" noMove="1" noResize="1" noEditPoints="1" noAdjustHandles="1" noChangeArrowheads="1" noChangeShapeType="1" noTextEdit="1"/>
              </p:cNvSpPr>
              <p:nvPr/>
            </p:nvSpPr>
            <p:spPr>
              <a:xfrm>
                <a:off x="6388402" y="4381744"/>
                <a:ext cx="545855" cy="461665"/>
              </a:xfrm>
              <a:prstGeom prst="rect">
                <a:avLst/>
              </a:prstGeom>
              <a:blipFill>
                <a:blip r:embed="rId7"/>
                <a:stretch>
                  <a:fillRect/>
                </a:stretch>
              </a:blipFill>
            </p:spPr>
            <p:txBody>
              <a:bodyPr/>
              <a:lstStyle/>
              <a:p>
                <a:r>
                  <a:rPr lang="en-GB">
                    <a:noFill/>
                  </a:rPr>
                  <a:t> </a:t>
                </a:r>
              </a:p>
            </p:txBody>
          </p:sp>
        </mc:Fallback>
      </mc:AlternateContent>
      <p:sp>
        <p:nvSpPr>
          <p:cNvPr id="49" name="TextBox 48"/>
          <p:cNvSpPr txBox="1"/>
          <p:nvPr/>
        </p:nvSpPr>
        <p:spPr>
          <a:xfrm>
            <a:off x="2541804" y="3933946"/>
            <a:ext cx="1197764" cy="523220"/>
          </a:xfrm>
          <a:prstGeom prst="rect">
            <a:avLst/>
          </a:prstGeom>
          <a:noFill/>
        </p:spPr>
        <p:txBody>
          <a:bodyPr wrap="none" rtlCol="0">
            <a:spAutoFit/>
          </a:bodyPr>
          <a:lstStyle/>
          <a:p>
            <a:r>
              <a:rPr lang="en-US" sz="2800" dirty="0" smtClean="0">
                <a:latin typeface="Century Gothic" panose="020B0502020202020204" pitchFamily="34" charset="0"/>
              </a:rPr>
              <a:t>Pump</a:t>
            </a:r>
            <a:endParaRPr lang="en-GB" sz="2800" dirty="0">
              <a:latin typeface="Century Gothic" panose="020B0502020202020204" pitchFamily="34" charset="0"/>
            </a:endParaRPr>
          </a:p>
        </p:txBody>
      </p:sp>
      <p:sp>
        <p:nvSpPr>
          <p:cNvPr id="50" name="TextBox 49"/>
          <p:cNvSpPr txBox="1"/>
          <p:nvPr/>
        </p:nvSpPr>
        <p:spPr>
          <a:xfrm>
            <a:off x="3973812" y="3892585"/>
            <a:ext cx="1215397" cy="523220"/>
          </a:xfrm>
          <a:prstGeom prst="rect">
            <a:avLst/>
          </a:prstGeom>
          <a:noFill/>
        </p:spPr>
        <p:txBody>
          <a:bodyPr wrap="none" rtlCol="0">
            <a:spAutoFit/>
          </a:bodyPr>
          <a:lstStyle/>
          <a:p>
            <a:r>
              <a:rPr lang="en-US" sz="2800" dirty="0" smtClean="0">
                <a:latin typeface="Century Gothic" panose="020B0502020202020204" pitchFamily="34" charset="0"/>
              </a:rPr>
              <a:t>Motor</a:t>
            </a:r>
            <a:endParaRPr lang="en-GB" sz="2800" dirty="0">
              <a:latin typeface="Century Gothic" panose="020B0502020202020204" pitchFamily="34" charset="0"/>
            </a:endParaRPr>
          </a:p>
        </p:txBody>
      </p:sp>
      <p:sp>
        <p:nvSpPr>
          <p:cNvPr id="51" name="TextBox 50"/>
          <p:cNvSpPr txBox="1"/>
          <p:nvPr/>
        </p:nvSpPr>
        <p:spPr>
          <a:xfrm>
            <a:off x="5203883" y="5242557"/>
            <a:ext cx="867545" cy="461665"/>
          </a:xfrm>
          <a:prstGeom prst="rect">
            <a:avLst/>
          </a:prstGeom>
          <a:noFill/>
        </p:spPr>
        <p:txBody>
          <a:bodyPr wrap="none" rtlCol="0">
            <a:spAutoFit/>
          </a:bodyPr>
          <a:lstStyle/>
          <a:p>
            <a:r>
              <a:rPr lang="en-US" sz="2400" dirty="0" smtClean="0">
                <a:latin typeface="Century Gothic" panose="020B0502020202020204" pitchFamily="34" charset="0"/>
              </a:rPr>
              <a:t>Tank</a:t>
            </a:r>
            <a:endParaRPr lang="en-GB" sz="24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6" name="Rectangle 5"/>
              <p:cNvSpPr/>
              <p:nvPr/>
            </p:nvSpPr>
            <p:spPr>
              <a:xfrm>
                <a:off x="5318892" y="4129441"/>
                <a:ext cx="6256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US" sz="2800" i="1">
                              <a:latin typeface="Cambria Math" panose="02040503050406030204" pitchFamily="18" charset="0"/>
                            </a:rPr>
                            <m:t>𝑣</m:t>
                          </m:r>
                        </m:e>
                        <m:sub>
                          <m:r>
                            <a:rPr lang="en-US" sz="2800" b="0" i="1" smtClean="0">
                              <a:latin typeface="Cambria Math" panose="02040503050406030204" pitchFamily="18" charset="0"/>
                            </a:rPr>
                            <m:t>2</m:t>
                          </m:r>
                        </m:sub>
                      </m:sSub>
                    </m:oMath>
                  </m:oMathPara>
                </a14:m>
                <a:endParaRPr lang="en-GB" sz="2800" dirty="0"/>
              </a:p>
            </p:txBody>
          </p:sp>
        </mc:Choice>
        <mc:Fallback xmlns="">
          <p:sp>
            <p:nvSpPr>
              <p:cNvPr id="6" name="Rectangle 5"/>
              <p:cNvSpPr>
                <a:spLocks noRot="1" noChangeAspect="1" noMove="1" noResize="1" noEditPoints="1" noAdjustHandles="1" noChangeArrowheads="1" noChangeShapeType="1" noTextEdit="1"/>
              </p:cNvSpPr>
              <p:nvPr/>
            </p:nvSpPr>
            <p:spPr>
              <a:xfrm>
                <a:off x="5318892" y="4129441"/>
                <a:ext cx="625619" cy="52322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363586" y="4737677"/>
                <a:ext cx="115384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=0</m:t>
                      </m:r>
                    </m:oMath>
                  </m:oMathPara>
                </a14:m>
                <a:endParaRPr lang="en-GB"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363586" y="4737677"/>
                <a:ext cx="1153842" cy="461665"/>
              </a:xfrm>
              <a:prstGeom prst="rect">
                <a:avLst/>
              </a:prstGeom>
              <a:blipFill>
                <a:blip r:embed="rId9"/>
                <a:stretch>
                  <a:fillRect b="-105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136595" y="1936487"/>
                <a:ext cx="5759749" cy="1421928"/>
              </a:xfrm>
              <a:prstGeom prst="rect">
                <a:avLst/>
              </a:prstGeom>
              <a:noFill/>
            </p:spPr>
            <p:txBody>
              <a:bodyPr wrap="square" rtlCol="0">
                <a:spAutoFit/>
              </a:bodyPr>
              <a:lstStyle/>
              <a:p>
                <a:pPr>
                  <a:lnSpc>
                    <a:spcPct val="120000"/>
                  </a:lnSpc>
                </a:pPr>
                <a14:m>
                  <m:oMath xmlns:m="http://schemas.openxmlformats.org/officeDocument/2006/math">
                    <m:r>
                      <m:rPr>
                        <m:nor/>
                      </m:rPr>
                      <a:rPr lang="en-GB" dirty="0" smtClean="0"/>
                      <m:t>Swept</m:t>
                    </m:r>
                    <m:r>
                      <m:rPr>
                        <m:nor/>
                      </m:rPr>
                      <a:rPr lang="en-GB" dirty="0" smtClean="0"/>
                      <m:t> </m:t>
                    </m:r>
                    <m:r>
                      <m:rPr>
                        <m:nor/>
                      </m:rPr>
                      <a:rPr lang="en-GB" dirty="0" smtClean="0"/>
                      <m:t>volume</m:t>
                    </m:r>
                    <m:r>
                      <m:rPr>
                        <m:nor/>
                      </m:rPr>
                      <a:rPr lang="en-GB" dirty="0" smtClean="0"/>
                      <m:t> </m:t>
                    </m:r>
                    <m:r>
                      <m:rPr>
                        <m:nor/>
                      </m:rPr>
                      <a:rPr lang="en-GB" dirty="0" smtClean="0"/>
                      <m:t>of</m:t>
                    </m:r>
                    <m:r>
                      <m:rPr>
                        <m:nor/>
                      </m:rPr>
                      <a:rPr lang="en-GB" dirty="0" smtClean="0"/>
                      <m:t> </m:t>
                    </m:r>
                    <m:r>
                      <m:rPr>
                        <m:nor/>
                      </m:rPr>
                      <a:rPr lang="en-GB" dirty="0" smtClean="0"/>
                      <m:t>pump</m:t>
                    </m:r>
                  </m:oMath>
                </a14:m>
                <a:r>
                  <a:rPr lang="en-GB" dirty="0" smtClean="0"/>
                  <a:t>,  </a:t>
                </a:r>
                <a14:m>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=0  −  50 </m:t>
                    </m:r>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𝑐𝑚</m:t>
                            </m:r>
                          </m:e>
                          <m:sup>
                            <m:r>
                              <a:rPr lang="en-US" b="0" i="1" smtClean="0">
                                <a:latin typeface="Cambria Math" panose="02040503050406030204" pitchFamily="18" charset="0"/>
                              </a:rPr>
                              <m:t>3</m:t>
                            </m:r>
                          </m:sup>
                        </m:sSup>
                      </m:num>
                      <m:den>
                        <m:r>
                          <a:rPr lang="en-US" b="0" i="1" smtClean="0">
                            <a:latin typeface="Cambria Math" panose="02040503050406030204" pitchFamily="18" charset="0"/>
                          </a:rPr>
                          <m:t>𝑐𝑦𝑐𝑙𝑒</m:t>
                        </m:r>
                      </m:den>
                    </m:f>
                    <m:r>
                      <a:rPr lang="en-US" b="0" i="1" smtClean="0">
                        <a:latin typeface="Cambria Math" panose="02040503050406030204" pitchFamily="18" charset="0"/>
                      </a:rPr>
                      <m:t>,</m:t>
                    </m:r>
                  </m:oMath>
                </a14:m>
                <a:endParaRPr lang="en-US" b="0" dirty="0" smtClean="0"/>
              </a:p>
              <a:p>
                <a:pPr>
                  <a:lnSpc>
                    <a:spcPct val="120000"/>
                  </a:lnSpc>
                </a:pPr>
                <a:r>
                  <a:rPr lang="en-GB" dirty="0" smtClean="0"/>
                  <a:t>Intake volume of motor,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15</m:t>
                    </m:r>
                    <m:r>
                      <a:rPr lang="en-US" i="1">
                        <a:latin typeface="Cambria Math" panose="02040503050406030204" pitchFamily="18" charset="0"/>
                      </a:rPr>
                      <m:t>0 </m:t>
                    </m:r>
                    <m:f>
                      <m:fPr>
                        <m:type m:val="lin"/>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𝑐𝑚</m:t>
                            </m:r>
                          </m:e>
                          <m:sup>
                            <m:r>
                              <a:rPr lang="en-US" i="1">
                                <a:latin typeface="Cambria Math" panose="02040503050406030204" pitchFamily="18" charset="0"/>
                              </a:rPr>
                              <m:t>3</m:t>
                            </m:r>
                          </m:sup>
                        </m:sSup>
                      </m:num>
                      <m:den>
                        <m:r>
                          <a:rPr lang="en-US" i="1">
                            <a:latin typeface="Cambria Math" panose="02040503050406030204" pitchFamily="18" charset="0"/>
                          </a:rPr>
                          <m:t>𝑐𝑦𝑐𝑙𝑒</m:t>
                        </m:r>
                      </m:den>
                    </m:f>
                  </m:oMath>
                </a14:m>
                <a:r>
                  <a:rPr lang="en-GB" dirty="0" smtClean="0"/>
                  <a:t>,</a:t>
                </a:r>
              </a:p>
              <a:p>
                <a:pPr>
                  <a:lnSpc>
                    <a:spcPct val="120000"/>
                  </a:lnSpc>
                </a:pPr>
                <a:r>
                  <a:rPr lang="en-GB" dirty="0" smtClean="0"/>
                  <a:t>Rotational speed of pump,   </a:t>
                </a: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1475 </m:t>
                    </m:r>
                    <m:f>
                      <m:fPr>
                        <m:type m:val="lin"/>
                        <m:ctrlPr>
                          <a:rPr lang="en-US" i="1">
                            <a:latin typeface="Cambria Math" panose="02040503050406030204" pitchFamily="18" charset="0"/>
                          </a:rPr>
                        </m:ctrlPr>
                      </m:fPr>
                      <m:num>
                        <m:r>
                          <a:rPr lang="en-US" b="0" i="1" smtClean="0">
                            <a:latin typeface="Cambria Math" panose="02040503050406030204" pitchFamily="18" charset="0"/>
                          </a:rPr>
                          <m:t>𝑟𝑒𝑣</m:t>
                        </m:r>
                      </m:num>
                      <m:den>
                        <m:r>
                          <a:rPr lang="en-US" b="0" i="1" smtClean="0">
                            <a:latin typeface="Cambria Math" panose="02040503050406030204" pitchFamily="18" charset="0"/>
                          </a:rPr>
                          <m:t>𝑚𝑖𝑛</m:t>
                        </m:r>
                      </m:den>
                    </m:f>
                    <m:r>
                      <a:rPr lang="en-US" b="0" i="1" smtClean="0">
                        <a:latin typeface="Cambria Math" panose="02040503050406030204" pitchFamily="18" charset="0"/>
                      </a:rPr>
                      <m:t>,</m:t>
                    </m:r>
                  </m:oMath>
                </a14:m>
                <a:endParaRPr lang="en-US" b="0" dirty="0" smtClean="0"/>
              </a:p>
              <a:p>
                <a:pPr algn="just">
                  <a:lnSpc>
                    <a:spcPct val="120000"/>
                  </a:lnSpc>
                </a:pPr>
                <a:r>
                  <a:rPr lang="en-GB" dirty="0" smtClean="0"/>
                  <a:t>Output torque,  </a:t>
                </a: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477 </m:t>
                    </m:r>
                    <m:r>
                      <a:rPr lang="en-US" b="0" i="1" smtClean="0">
                        <a:latin typeface="Cambria Math" panose="02040503050406030204" pitchFamily="18" charset="0"/>
                      </a:rPr>
                      <m:t>𝑁𝑚</m:t>
                    </m:r>
                  </m:oMath>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6136595" y="1936487"/>
                <a:ext cx="5759749" cy="1421928"/>
              </a:xfrm>
              <a:prstGeom prst="rect">
                <a:avLst/>
              </a:prstGeom>
              <a:blipFill>
                <a:blip r:embed="rId10"/>
                <a:stretch>
                  <a:fillRect l="-952" t="-27897" b="-210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055864" y="4652661"/>
                <a:ext cx="2202334" cy="369332"/>
              </a:xfrm>
              <a:prstGeom prst="rect">
                <a:avLst/>
              </a:prstGeom>
              <a:noFill/>
            </p:spPr>
            <p:txBody>
              <a:bodyPr wrap="none" rtlCol="0">
                <a:spAutoFit/>
              </a:bodyPr>
              <a:lstStyle/>
              <a:p>
                <a:r>
                  <a:rPr lang="en-GB" dirty="0" smtClean="0"/>
                  <a:t>1 bar=100,000 </a:t>
                </a:r>
                <a14:m>
                  <m:oMath xmlns:m="http://schemas.openxmlformats.org/officeDocument/2006/math">
                    <m:f>
                      <m:fPr>
                        <m:type m:val="lin"/>
                        <m:ctrlPr>
                          <a:rPr lang="en-GB" i="1" smtClean="0">
                            <a:latin typeface="Cambria Math" panose="02040503050406030204" pitchFamily="18" charset="0"/>
                          </a:rPr>
                        </m:ctrlPr>
                      </m:fPr>
                      <m:num>
                        <m:r>
                          <a:rPr lang="en-US" b="0" i="1" smtClean="0">
                            <a:latin typeface="Cambria Math" panose="02040503050406030204" pitchFamily="18" charset="0"/>
                          </a:rPr>
                          <m:t>𝑁</m:t>
                        </m:r>
                      </m:num>
                      <m:den>
                        <m:sSup>
                          <m:sSupPr>
                            <m:ctrlPr>
                              <a:rPr lang="en-GB"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den>
                    </m:f>
                  </m:oMath>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8055864" y="4652661"/>
                <a:ext cx="2202334" cy="369332"/>
              </a:xfrm>
              <a:prstGeom prst="rect">
                <a:avLst/>
              </a:prstGeom>
              <a:blipFill>
                <a:blip r:embed="rId11"/>
                <a:stretch>
                  <a:fillRect l="-2493" t="-116393" r="-14127" b="-175410"/>
                </a:stretch>
              </a:blipFill>
            </p:spPr>
            <p:txBody>
              <a:bodyPr/>
              <a:lstStyle/>
              <a:p>
                <a:r>
                  <a:rPr lang="en-GB">
                    <a:noFill/>
                  </a:rPr>
                  <a:t> </a:t>
                </a:r>
              </a:p>
            </p:txBody>
          </p:sp>
        </mc:Fallback>
      </mc:AlternateContent>
    </p:spTree>
    <p:extLst>
      <p:ext uri="{BB962C8B-B14F-4D97-AF65-F5344CB8AC3E}">
        <p14:creationId xmlns:p14="http://schemas.microsoft.com/office/powerpoint/2010/main" val="3625005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64452"/>
          </a:xfrm>
        </p:spPr>
        <p:txBody>
          <a:bodyPr>
            <a:normAutofit fontScale="90000"/>
          </a:bodyPr>
          <a:lstStyle/>
          <a:p>
            <a:r>
              <a:rPr lang="en-GB" dirty="0"/>
              <a:t>UNIT 4:	 Principles of Hydro-Mechanics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514350" indent="-514350">
                  <a:lnSpc>
                    <a:spcPct val="110000"/>
                  </a:lnSpc>
                  <a:spcBef>
                    <a:spcPts val="0"/>
                  </a:spcBef>
                  <a:spcAft>
                    <a:spcPts val="1200"/>
                  </a:spcAft>
                  <a:buFont typeface="+mj-lt"/>
                  <a:buAutoNum type="alphaLcPeriod"/>
                </a:pPr>
                <a:r>
                  <a:rPr lang="en-GB" dirty="0" smtClean="0"/>
                  <a:t>For a displaced </a:t>
                </a:r>
                <a:r>
                  <a:rPr lang="en-GB" dirty="0" smtClean="0"/>
                  <a:t>volume of the pump within the discharge </a:t>
                </a:r>
                <a:r>
                  <a:rPr lang="en-GB" dirty="0" smtClean="0"/>
                  <a:t>range of </a:t>
                </a:r>
                <a14:m>
                  <m:oMath xmlns:m="http://schemas.openxmlformats.org/officeDocument/2006/math">
                    <m:r>
                      <a:rPr lang="en-US" i="1">
                        <a:latin typeface="Cambria Math" panose="02040503050406030204" pitchFamily="18" charset="0"/>
                      </a:rPr>
                      <m:t>0  −  50 </m:t>
                    </m:r>
                    <m:f>
                      <m:fPr>
                        <m:type m:val="lin"/>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𝑐𝑚</m:t>
                            </m:r>
                          </m:e>
                          <m:sup>
                            <m:r>
                              <a:rPr lang="en-US" i="1">
                                <a:latin typeface="Cambria Math" panose="02040503050406030204" pitchFamily="18" charset="0"/>
                              </a:rPr>
                              <m:t>3</m:t>
                            </m:r>
                          </m:sup>
                        </m:sSup>
                      </m:num>
                      <m:den>
                        <m:r>
                          <a:rPr lang="en-US" i="1">
                            <a:latin typeface="Cambria Math" panose="02040503050406030204" pitchFamily="18" charset="0"/>
                          </a:rPr>
                          <m:t>𝑐𝑦𝑐𝑙𝑒</m:t>
                        </m:r>
                      </m:den>
                    </m:f>
                  </m:oMath>
                </a14:m>
                <a:r>
                  <a:rPr lang="en-GB" dirty="0" smtClean="0"/>
                  <a:t> (varying continuously), calculate </a:t>
                </a:r>
                <a14:m>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𝑚𝑎𝑥</m:t>
                        </m:r>
                      </m:sub>
                    </m:sSub>
                  </m:oMath>
                </a14:m>
                <a:r>
                  <a:rPr lang="en-GB" dirty="0" smtClean="0"/>
                  <a:t>, </a:t>
                </a: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r>
                          <a:rPr lang="en-US" i="1">
                            <a:latin typeface="Cambria Math" panose="02040503050406030204" pitchFamily="18" charset="0"/>
                          </a:rPr>
                          <m:t>𝑚𝑎𝑥</m:t>
                        </m:r>
                      </m:sub>
                    </m:sSub>
                  </m:oMath>
                </a14:m>
                <a:r>
                  <a:rPr lang="en-GB" dirty="0" smtClean="0"/>
                  <a:t>, </a:t>
                </a: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GB" dirty="0" smtClean="0"/>
                  <a:t>, </a:t>
                </a: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r>
                          <a:rPr lang="en-US" i="1">
                            <a:latin typeface="Cambria Math" panose="02040503050406030204" pitchFamily="18" charset="0"/>
                          </a:rPr>
                          <m:t>𝑚𝑎𝑥</m:t>
                        </m:r>
                      </m:sub>
                    </m:sSub>
                  </m:oMath>
                </a14:m>
                <a:endParaRPr lang="en-GB" dirty="0" smtClean="0"/>
              </a:p>
              <a:p>
                <a:pPr marL="514350" indent="-514350">
                  <a:lnSpc>
                    <a:spcPct val="110000"/>
                  </a:lnSpc>
                  <a:spcBef>
                    <a:spcPts val="0"/>
                  </a:spcBef>
                  <a:spcAft>
                    <a:spcPts val="1200"/>
                  </a:spcAft>
                  <a:buFont typeface="+mj-lt"/>
                  <a:buAutoNum type="alphaLcPeriod"/>
                </a:pPr>
                <a:r>
                  <a:rPr lang="en-GB" dirty="0" smtClean="0"/>
                  <a:t>Sketch the characteristic curve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d>
                  </m:oMath>
                </a14:m>
                <a:r>
                  <a:rPr lang="en-GB" dirty="0" smtClean="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e>
                    </m:d>
                  </m:oMath>
                </a14:m>
                <a:r>
                  <a:rPr lang="en-GB" dirty="0" smtClean="0"/>
                  <a:t>,</a:t>
                </a:r>
              </a:p>
              <a:p>
                <a:pPr marL="514350" indent="-514350">
                  <a:lnSpc>
                    <a:spcPct val="110000"/>
                  </a:lnSpc>
                  <a:spcBef>
                    <a:spcPts val="0"/>
                  </a:spcBef>
                  <a:spcAft>
                    <a:spcPts val="1200"/>
                  </a:spcAft>
                  <a:buFont typeface="+mj-lt"/>
                  <a:buAutoNum type="alphaLcPeriod"/>
                </a:pPr>
                <a:r>
                  <a:rPr lang="en-GB" dirty="0" smtClean="0"/>
                  <a:t>If the power of the electric motor is 15 kW, </a:t>
                </a:r>
                <a:r>
                  <a:rPr lang="en-GB" dirty="0" smtClean="0"/>
                  <a:t>at what </a:t>
                </a:r>
                <a:r>
                  <a:rPr lang="en-GB" dirty="0" smtClean="0"/>
                  <a:t>maximum swept-volume </a:t>
                </a:r>
                <a:r>
                  <a:rPr lang="en-GB" dirty="0" smtClean="0"/>
                  <a:t>can the </a:t>
                </a:r>
                <a:r>
                  <a:rPr lang="en-GB" dirty="0" smtClean="0"/>
                  <a:t>pump be </a:t>
                </a:r>
                <a:r>
                  <a:rPr lang="en-GB" dirty="0" smtClean="0"/>
                  <a:t>set?</a:t>
                </a:r>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59" t="-126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24</a:t>
            </a:fld>
            <a:endParaRPr lang="en-GB" dirty="0"/>
          </a:p>
        </p:txBody>
      </p:sp>
    </p:spTree>
    <p:extLst>
      <p:ext uri="{BB962C8B-B14F-4D97-AF65-F5344CB8AC3E}">
        <p14:creationId xmlns:p14="http://schemas.microsoft.com/office/powerpoint/2010/main" val="2145111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373012"/>
          </a:xfrm>
        </p:spPr>
        <p:txBody>
          <a:bodyPr>
            <a:normAutofit fontScale="90000"/>
          </a:bodyPr>
          <a:lstStyle/>
          <a:p>
            <a:r>
              <a:rPr lang="en-GB" dirty="0"/>
              <a:t>UNIT 4:	 Principles of Hydro-Mechanics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28472" y="1469008"/>
                <a:ext cx="10515600" cy="4620895"/>
              </a:xfrm>
            </p:spPr>
            <p:txBody>
              <a:bodyPr>
                <a:normAutofit/>
              </a:bodyPr>
              <a:lstStyle/>
              <a:p>
                <a:pPr>
                  <a:lnSpc>
                    <a:spcPct val="110000"/>
                  </a:lnSpc>
                  <a:spcBef>
                    <a:spcPts val="600"/>
                  </a:spcBef>
                  <a:spcAft>
                    <a:spcPts val="1200"/>
                  </a:spcAft>
                </a:pPr>
                <a14:m>
                  <m:oMath xmlns:m="http://schemas.openxmlformats.org/officeDocument/2006/math">
                    <m:sSub>
                      <m:sSubPr>
                        <m:ctrlPr>
                          <a:rPr lang="en-GB"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𝑚𝑎𝑥</m:t>
                        </m:r>
                      </m:sub>
                    </m:sSub>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1</m:t>
                        </m:r>
                        <m:r>
                          <a:rPr lang="en-US" sz="2000" b="0" i="1" smtClean="0">
                            <a:latin typeface="Cambria Math" panose="02040503050406030204" pitchFamily="18" charset="0"/>
                          </a:rPr>
                          <m:t>𝑚𝑎𝑥</m:t>
                        </m:r>
                      </m:sub>
                    </m:sSub>
                  </m:oMath>
                </a14:m>
                <a:endParaRPr lang="en-US" sz="2000" b="0" i="1" dirty="0" smtClean="0">
                  <a:latin typeface="Cambria Math" panose="02040503050406030204" pitchFamily="18" charset="0"/>
                </a:endParaRPr>
              </a:p>
              <a:p>
                <a:pPr marL="1143000" indent="0">
                  <a:lnSpc>
                    <a:spcPct val="110000"/>
                  </a:lnSpc>
                  <a:spcBef>
                    <a:spcPts val="600"/>
                  </a:spcBef>
                  <a:spcAft>
                    <a:spcPts val="1200"/>
                  </a:spcAft>
                  <a:buNone/>
                </a:pPr>
                <a14:m>
                  <m:oMath xmlns:m="http://schemas.openxmlformats.org/officeDocument/2006/math">
                    <m:r>
                      <a:rPr lang="en-US" sz="2000" b="0" i="1" smtClean="0">
                        <a:latin typeface="Cambria Math" panose="02040503050406030204" pitchFamily="18" charset="0"/>
                      </a:rPr>
                      <m:t>=1475 </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𝑟𝑒𝑣</m:t>
                        </m:r>
                      </m:num>
                      <m:den>
                        <m:r>
                          <a:rPr lang="en-US" sz="2000" b="0" i="1" smtClean="0">
                            <a:latin typeface="Cambria Math" panose="02040503050406030204" pitchFamily="18" charset="0"/>
                          </a:rPr>
                          <m:t>𝑚𝑖𝑛</m:t>
                        </m:r>
                      </m:den>
                    </m:f>
                  </m:oMath>
                </a14:m>
                <a:r>
                  <a:rPr lang="en-GB" sz="2000" dirty="0" smtClean="0"/>
                  <a:t> .50 </a:t>
                </a:r>
                <a14:m>
                  <m:oMath xmlns:m="http://schemas.openxmlformats.org/officeDocument/2006/math">
                    <m:sSup>
                      <m:sSupPr>
                        <m:ctrlPr>
                          <a:rPr lang="en-GB" sz="2000" i="1" smtClean="0">
                            <a:latin typeface="Cambria Math" panose="02040503050406030204" pitchFamily="18" charset="0"/>
                          </a:rPr>
                        </m:ctrlPr>
                      </m:sSupPr>
                      <m:e>
                        <m:r>
                          <a:rPr lang="en-US" sz="2000" b="0" i="1" smtClean="0">
                            <a:latin typeface="Cambria Math" panose="02040503050406030204" pitchFamily="18" charset="0"/>
                          </a:rPr>
                          <m:t>𝑐𝑚</m:t>
                        </m:r>
                      </m:e>
                      <m:sup>
                        <m:r>
                          <a:rPr lang="en-US" sz="2000" b="0" i="1" smtClean="0">
                            <a:latin typeface="Cambria Math" panose="02040503050406030204" pitchFamily="18" charset="0"/>
                          </a:rPr>
                          <m:t>3</m:t>
                        </m:r>
                      </m:sup>
                    </m:sSup>
                  </m:oMath>
                </a14:m>
                <a:r>
                  <a:rPr lang="en-GB" sz="2000" dirty="0" smtClean="0"/>
                  <a:t>=73.750 </a:t>
                </a:r>
                <a14:m>
                  <m:oMath xmlns:m="http://schemas.openxmlformats.org/officeDocument/2006/math">
                    <m:f>
                      <m:fPr>
                        <m:type m:val="lin"/>
                        <m:ctrlPr>
                          <a:rPr lang="en-GB" sz="2000" i="1" smtClean="0">
                            <a:latin typeface="Cambria Math" panose="02040503050406030204" pitchFamily="18" charset="0"/>
                          </a:rPr>
                        </m:ctrlPr>
                      </m:fPr>
                      <m:num>
                        <m:r>
                          <a:rPr lang="en-US" sz="2000" b="0" i="1" smtClean="0">
                            <a:latin typeface="Cambria Math" panose="02040503050406030204" pitchFamily="18" charset="0"/>
                          </a:rPr>
                          <m:t>𝑙</m:t>
                        </m:r>
                      </m:num>
                      <m:den>
                        <m:r>
                          <a:rPr lang="en-US" sz="2000" b="0" i="1" smtClean="0">
                            <a:latin typeface="Cambria Math" panose="02040503050406030204" pitchFamily="18" charset="0"/>
                          </a:rPr>
                          <m:t>𝑚𝑖𝑛</m:t>
                        </m:r>
                      </m:den>
                    </m:f>
                  </m:oMath>
                </a14:m>
                <a:endParaRPr lang="en-GB" sz="2000" dirty="0" smtClean="0"/>
              </a:p>
              <a:p>
                <a:pPr indent="0" algn="just">
                  <a:lnSpc>
                    <a:spcPct val="110000"/>
                  </a:lnSpc>
                  <a:spcBef>
                    <a:spcPts val="600"/>
                  </a:spcBef>
                  <a:spcAft>
                    <a:spcPts val="1200"/>
                  </a:spcAft>
                  <a:buNone/>
                </a:pPr>
                <a14:m>
                  <m:oMathPara xmlns:m="http://schemas.openxmlformats.org/officeDocument/2006/math">
                    <m:oMathParaPr>
                      <m:jc m:val="left"/>
                    </m:oMathParaPr>
                    <m:oMath xmlns:m="http://schemas.openxmlformats.org/officeDocument/2006/math">
                      <m:sSub>
                        <m:sSubPr>
                          <m:ctrlPr>
                            <a:rPr lang="en-GB" sz="2000" i="1">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2</m:t>
                          </m:r>
                          <m:r>
                            <a:rPr lang="en-US" sz="2000" i="1">
                              <a:latin typeface="Cambria Math" panose="02040503050406030204" pitchFamily="18" charset="0"/>
                            </a:rPr>
                            <m:t>𝑚𝑎𝑥</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GB"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𝑚𝑎𝑥</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2</m:t>
                              </m:r>
                            </m:sub>
                          </m:sSub>
                        </m:den>
                      </m:f>
                    </m:oMath>
                  </m:oMathPara>
                </a14:m>
                <a:endParaRPr lang="en-US" sz="2000" b="0" i="1" dirty="0" smtClean="0">
                  <a:latin typeface="Cambria Math" panose="02040503050406030204" pitchFamily="18" charset="0"/>
                </a:endParaRPr>
              </a:p>
              <a:p>
                <a:pPr marL="1262063" indent="0" algn="just">
                  <a:lnSpc>
                    <a:spcPct val="110000"/>
                  </a:lnSpc>
                  <a:spcBef>
                    <a:spcPts val="600"/>
                  </a:spcBef>
                  <a:spcAft>
                    <a:spcPts val="1200"/>
                  </a:spcAft>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m:rPr>
                              <m:nor/>
                            </m:rPr>
                            <a:rPr lang="en-GB" sz="2000" dirty="0"/>
                            <m:t>73750 </m:t>
                          </m:r>
                          <m:f>
                            <m:fPr>
                              <m:type m:val="lin"/>
                              <m:ctrlPr>
                                <a:rPr lang="en-GB" sz="2000" i="1">
                                  <a:latin typeface="Cambria Math" panose="02040503050406030204" pitchFamily="18" charset="0"/>
                                </a:rPr>
                              </m:ctrlPr>
                            </m:fPr>
                            <m:num>
                              <m:sSup>
                                <m:sSupPr>
                                  <m:ctrlPr>
                                    <a:rPr lang="en-GB" sz="2000" i="1" smtClean="0">
                                      <a:latin typeface="Cambria Math" panose="02040503050406030204" pitchFamily="18" charset="0"/>
                                    </a:rPr>
                                  </m:ctrlPr>
                                </m:sSupPr>
                                <m:e>
                                  <m:r>
                                    <a:rPr lang="en-US" sz="2000" b="0" i="1" smtClean="0">
                                      <a:latin typeface="Cambria Math" panose="02040503050406030204" pitchFamily="18" charset="0"/>
                                    </a:rPr>
                                    <m:t>𝑐𝑚</m:t>
                                  </m:r>
                                </m:e>
                                <m:sup>
                                  <m:r>
                                    <a:rPr lang="en-US" sz="2000" b="0" i="1" smtClean="0">
                                      <a:latin typeface="Cambria Math" panose="02040503050406030204" pitchFamily="18" charset="0"/>
                                    </a:rPr>
                                    <m:t>3</m:t>
                                  </m:r>
                                </m:sup>
                              </m:sSup>
                            </m:num>
                            <m:den>
                              <m:r>
                                <a:rPr lang="en-US" sz="2000" i="1">
                                  <a:latin typeface="Cambria Math" panose="02040503050406030204" pitchFamily="18" charset="0"/>
                                </a:rPr>
                                <m:t>𝑚𝑖𝑛</m:t>
                              </m:r>
                            </m:den>
                          </m:f>
                        </m:num>
                        <m:den>
                          <m:r>
                            <a:rPr lang="en-US" sz="2000" b="0" i="1" smtClean="0">
                              <a:latin typeface="Cambria Math" panose="02040503050406030204" pitchFamily="18" charset="0"/>
                            </a:rPr>
                            <m:t>1</m:t>
                          </m:r>
                          <m:r>
                            <m:rPr>
                              <m:nor/>
                            </m:rPr>
                            <a:rPr lang="en-GB" sz="2000" dirty="0"/>
                            <m:t>50 </m:t>
                          </m:r>
                          <m:sSup>
                            <m:sSupPr>
                              <m:ctrlPr>
                                <a:rPr lang="en-GB" sz="2000" i="1">
                                  <a:latin typeface="Cambria Math" panose="02040503050406030204" pitchFamily="18" charset="0"/>
                                </a:rPr>
                              </m:ctrlPr>
                            </m:sSupPr>
                            <m:e>
                              <m:r>
                                <a:rPr lang="en-US" sz="2000" i="1">
                                  <a:latin typeface="Cambria Math" panose="02040503050406030204" pitchFamily="18" charset="0"/>
                                </a:rPr>
                                <m:t>𝑐𝑚</m:t>
                              </m:r>
                            </m:e>
                            <m:sup>
                              <m:r>
                                <a:rPr lang="en-US" sz="2000" i="1">
                                  <a:latin typeface="Cambria Math" panose="02040503050406030204" pitchFamily="18" charset="0"/>
                                </a:rPr>
                                <m:t>3</m:t>
                              </m:r>
                            </m:sup>
                          </m:sSup>
                        </m:den>
                      </m:f>
                      <m:r>
                        <a:rPr lang="en-US" sz="2000" b="0" i="1" smtClean="0">
                          <a:latin typeface="Cambria Math" panose="02040503050406030204" pitchFamily="18" charset="0"/>
                        </a:rPr>
                        <m:t>=492 </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𝑟𝑒𝑣</m:t>
                          </m:r>
                        </m:num>
                        <m:den>
                          <m:r>
                            <a:rPr lang="en-US" sz="2000" b="0" i="1" smtClean="0">
                              <a:latin typeface="Cambria Math" panose="02040503050406030204" pitchFamily="18" charset="0"/>
                            </a:rPr>
                            <m:t>𝑚𝑖𝑛</m:t>
                          </m:r>
                        </m:den>
                      </m:f>
                    </m:oMath>
                  </m:oMathPara>
                </a14:m>
                <a:endParaRPr lang="en-GB" sz="2000" dirty="0" smtClean="0"/>
              </a:p>
              <a:p>
                <a:pPr marL="55563" indent="0" algn="just">
                  <a:lnSpc>
                    <a:spcPct val="120000"/>
                  </a:lnSpc>
                  <a:spcBef>
                    <a:spcPts val="0"/>
                  </a:spcBef>
                  <a:spcAft>
                    <a:spcPts val="1200"/>
                  </a:spcAft>
                  <a:buNone/>
                </a:pPr>
                <a14:m>
                  <m:oMathPara xmlns:m="http://schemas.openxmlformats.org/officeDocument/2006/math">
                    <m:oMathParaPr>
                      <m:jc m:val="left"/>
                    </m:oMathParaPr>
                    <m:oMath xmlns:m="http://schemas.openxmlformats.org/officeDocument/2006/math">
                      <m:sSub>
                        <m:sSubPr>
                          <m:ctrlPr>
                            <a:rPr lang="en-GB" sz="200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2</m:t>
                              </m:r>
                            </m:sub>
                          </m:sSub>
                        </m:num>
                        <m:den>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den>
                      </m:f>
                      <m:r>
                        <a:rPr lang="en-US" sz="2000" b="0" i="1" smtClean="0">
                          <a:latin typeface="Cambria Math" panose="02040503050406030204" pitchFamily="18" charset="0"/>
                        </a:rPr>
                        <m:t> </m:t>
                      </m:r>
                      <m:r>
                        <a:rPr lang="en-US" sz="2000" b="0" i="1" smtClean="0">
                          <a:latin typeface="Cambria Math" panose="02040503050406030204" pitchFamily="18" charset="0"/>
                        </a:rPr>
                        <m:t>𝑎𝑛𝑑</m:t>
                      </m:r>
                      <m:r>
                        <a:rPr lang="en-US" sz="2000" b="0" i="1" smtClean="0">
                          <a:latin typeface="Cambria Math" panose="02040503050406030204" pitchFamily="18" charset="0"/>
                        </a:rPr>
                        <m:t> </m:t>
                      </m:r>
                      <m:sSub>
                        <m:sSubPr>
                          <m:ctrlPr>
                            <a:rPr lang="en-GB" sz="2000" i="1">
                              <a:latin typeface="Cambria Math" panose="02040503050406030204" pitchFamily="18" charset="0"/>
                            </a:rPr>
                          </m:ctrlPr>
                        </m:sSubPr>
                        <m:e>
                          <m:r>
                            <a:rPr lang="en-US" sz="2000" i="1">
                              <a:latin typeface="Cambria Math" panose="02040503050406030204" pitchFamily="18" charset="0"/>
                            </a:rPr>
                            <m:t>𝑇</m:t>
                          </m:r>
                        </m:e>
                        <m:sub>
                          <m:r>
                            <a:rPr lang="en-US" sz="2000" b="0" i="1" smtClean="0">
                              <a:latin typeface="Cambria Math" panose="02040503050406030204" pitchFamily="18" charset="0"/>
                            </a:rPr>
                            <m:t>1</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b="0" i="1" smtClean="0">
                                  <a:latin typeface="Cambria Math" panose="02040503050406030204" pitchFamily="18" charset="0"/>
                                  <a:ea typeface="Cambria Math" panose="02040503050406030204" pitchFamily="18" charset="0"/>
                                </a:rPr>
                                <m:t>1</m:t>
                              </m:r>
                            </m:sub>
                          </m:sSub>
                        </m:num>
                        <m:den>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den>
                      </m:f>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m:t>
                          </m:r>
                        </m:num>
                        <m:den>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𝑇</m:t>
                              </m:r>
                            </m:e>
                            <m:sub>
                              <m:r>
                                <a:rPr lang="en-US" sz="2000" i="1">
                                  <a:latin typeface="Cambria Math" panose="02040503050406030204" pitchFamily="18" charset="0"/>
                                  <a:ea typeface="Cambria Math" panose="02040503050406030204" pitchFamily="18" charset="0"/>
                                </a:rPr>
                                <m:t>1</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1</m:t>
                              </m:r>
                            </m:sub>
                          </m:sSub>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𝑇</m:t>
                              </m:r>
                            </m:e>
                            <m:sub>
                              <m:r>
                                <a:rPr lang="en-US" sz="2000" i="1">
                                  <a:latin typeface="Cambria Math" panose="02040503050406030204" pitchFamily="18" charset="0"/>
                                  <a:ea typeface="Cambria Math" panose="02040503050406030204" pitchFamily="18" charset="0"/>
                                </a:rPr>
                                <m:t>2</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2</m:t>
                              </m:r>
                            </m:sub>
                          </m:sSub>
                        </m:den>
                      </m:f>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𝑝</m:t>
                      </m:r>
                      <m:r>
                        <a:rPr lang="en-US" sz="2000" b="0" i="0"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−0</m:t>
                      </m:r>
                    </m:oMath>
                  </m:oMathPara>
                </a14:m>
                <a:endParaRPr lang="en-US" sz="2000" b="0" i="1" dirty="0" smtClean="0">
                  <a:latin typeface="Cambria Math" panose="02040503050406030204" pitchFamily="18" charset="0"/>
                  <a:ea typeface="Cambria Math" panose="02040503050406030204" pitchFamily="18" charset="0"/>
                </a:endParaRPr>
              </a:p>
              <a:p>
                <a:pPr marL="55563" indent="0" algn="just">
                  <a:lnSpc>
                    <a:spcPct val="120000"/>
                  </a:lnSpc>
                  <a:spcBef>
                    <a:spcPts val="0"/>
                  </a:spcBef>
                  <a:spcAft>
                    <a:spcPts val="1200"/>
                  </a:spcAft>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𝑇</m:t>
                              </m:r>
                            </m:e>
                            <m:sub>
                              <m:r>
                                <a:rPr lang="en-US" sz="2000" i="1">
                                  <a:latin typeface="Cambria Math" panose="02040503050406030204" pitchFamily="18" charset="0"/>
                                  <a:ea typeface="Cambria Math" panose="02040503050406030204" pitchFamily="18" charset="0"/>
                                </a:rPr>
                                <m:t>2</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2</m:t>
                              </m:r>
                            </m:sub>
                          </m:sSub>
                        </m:den>
                      </m:f>
                      <m:r>
                        <a:rPr lang="en-US" sz="2000" b="0" i="0" smtClean="0">
                          <a:latin typeface="Cambria Math" panose="02040503050406030204" pitchFamily="18" charset="0"/>
                          <a:ea typeface="Cambria Math" panose="02040503050406030204" pitchFamily="18" charset="0"/>
                        </a:rPr>
                        <m:t>2</m:t>
                      </m:r>
                      <m:r>
                        <m:rPr>
                          <m:sty m:val="p"/>
                        </m:rPr>
                        <a:rPr lang="el-GR" sz="2000" b="0" i="1" smtClean="0">
                          <a:latin typeface="Cambria Math" panose="02040503050406030204" pitchFamily="18" charset="0"/>
                          <a:ea typeface="Cambria Math" panose="02040503050406030204" pitchFamily="18" charset="0"/>
                        </a:rPr>
                        <m:t>π</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477 </m:t>
                          </m:r>
                          <m:r>
                            <a:rPr lang="en-US" sz="2000" b="0" i="1" smtClean="0">
                              <a:latin typeface="Cambria Math" panose="02040503050406030204" pitchFamily="18" charset="0"/>
                              <a:ea typeface="Cambria Math" panose="02040503050406030204" pitchFamily="18" charset="0"/>
                            </a:rPr>
                            <m:t>𝑁𝑚</m:t>
                          </m:r>
                        </m:num>
                        <m:den>
                          <m:r>
                            <a:rPr lang="en-US" sz="2000" b="0" i="1" smtClean="0">
                              <a:latin typeface="Cambria Math" panose="02040503050406030204" pitchFamily="18" charset="0"/>
                              <a:ea typeface="Cambria Math" panose="02040503050406030204" pitchFamily="18" charset="0"/>
                            </a:rPr>
                            <m:t>1</m:t>
                          </m:r>
                          <m:r>
                            <m:rPr>
                              <m:nor/>
                            </m:rPr>
                            <a:rPr lang="en-GB" sz="2000" dirty="0"/>
                            <m:t>50 </m:t>
                          </m:r>
                          <m:sSup>
                            <m:sSupPr>
                              <m:ctrlPr>
                                <a:rPr lang="en-GB" sz="2000" i="1">
                                  <a:latin typeface="Cambria Math" panose="02040503050406030204" pitchFamily="18" charset="0"/>
                                </a:rPr>
                              </m:ctrlPr>
                            </m:sSupPr>
                            <m:e>
                              <m:r>
                                <a:rPr lang="en-US" sz="2000" i="1">
                                  <a:latin typeface="Cambria Math" panose="02040503050406030204" pitchFamily="18" charset="0"/>
                                </a:rPr>
                                <m:t>𝑐𝑚</m:t>
                              </m:r>
                            </m:e>
                            <m:sup>
                              <m:r>
                                <a:rPr lang="en-US" sz="2000" i="1">
                                  <a:latin typeface="Cambria Math" panose="02040503050406030204" pitchFamily="18" charset="0"/>
                                </a:rPr>
                                <m:t>3</m:t>
                              </m:r>
                            </m:sup>
                          </m:sSup>
                        </m:den>
                      </m:f>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477 </m:t>
                          </m:r>
                          <m:r>
                            <a:rPr lang="en-US" sz="2000" i="1">
                              <a:latin typeface="Cambria Math" panose="02040503050406030204" pitchFamily="18" charset="0"/>
                              <a:ea typeface="Cambria Math" panose="02040503050406030204" pitchFamily="18" charset="0"/>
                            </a:rPr>
                            <m:t>𝑁𝑚</m:t>
                          </m:r>
                        </m:num>
                        <m:den>
                          <m:r>
                            <a:rPr lang="en-US" sz="2000" i="1">
                              <a:latin typeface="Cambria Math" panose="02040503050406030204" pitchFamily="18" charset="0"/>
                            </a:rPr>
                            <m:t>1</m:t>
                          </m:r>
                          <m:r>
                            <m:rPr>
                              <m:nor/>
                            </m:rPr>
                            <a:rPr lang="en-GB" sz="2000" dirty="0"/>
                            <m:t>50 </m:t>
                          </m:r>
                          <m:sSup>
                            <m:sSupPr>
                              <m:ctrlPr>
                                <a:rPr lang="en-GB" sz="2000" i="1">
                                  <a:latin typeface="Cambria Math" panose="02040503050406030204" pitchFamily="18" charset="0"/>
                                </a:rPr>
                              </m:ctrlPr>
                            </m:sSupPr>
                            <m:e>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−6</m:t>
                                  </m:r>
                                </m:sup>
                              </m:sSup>
                              <m:r>
                                <a:rPr lang="en-US" sz="2000" i="1">
                                  <a:latin typeface="Cambria Math" panose="02040503050406030204" pitchFamily="18" charset="0"/>
                                </a:rPr>
                                <m:t>𝑚</m:t>
                              </m:r>
                            </m:e>
                            <m:sup>
                              <m:r>
                                <a:rPr lang="en-US" sz="2000" i="1">
                                  <a:latin typeface="Cambria Math" panose="02040503050406030204" pitchFamily="18" charset="0"/>
                                </a:rPr>
                                <m:t>3</m:t>
                              </m:r>
                            </m:sup>
                          </m:sSup>
                        </m:den>
                      </m:f>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=19.9704 </m:t>
                      </m:r>
                      <m:r>
                        <a:rPr lang="en-US" sz="2000" b="0" i="1" smtClean="0">
                          <a:latin typeface="Cambria Math" panose="02040503050406030204" pitchFamily="18" charset="0"/>
                          <a:ea typeface="Cambria Math" panose="02040503050406030204" pitchFamily="18" charset="0"/>
                        </a:rPr>
                        <m:t>𝑥</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6</m:t>
                          </m:r>
                        </m:sup>
                      </m:sSup>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𝑁</m:t>
                          </m:r>
                        </m:num>
                        <m:den>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𝑚</m:t>
                              </m:r>
                            </m:e>
                            <m:sup>
                              <m:r>
                                <a:rPr lang="en-US" sz="2000" b="0" i="1" smtClean="0">
                                  <a:latin typeface="Cambria Math" panose="02040503050406030204" pitchFamily="18" charset="0"/>
                                  <a:ea typeface="Cambria Math" panose="02040503050406030204" pitchFamily="18" charset="0"/>
                                </a:rPr>
                                <m:t>2</m:t>
                              </m:r>
                            </m:sup>
                          </m:sSup>
                        </m:den>
                      </m:f>
                      <m:r>
                        <a:rPr lang="en-US" sz="2000" b="0" i="1" smtClean="0">
                          <a:latin typeface="Cambria Math" panose="02040503050406030204" pitchFamily="18" charset="0"/>
                          <a:ea typeface="Cambria Math" panose="02040503050406030204" pitchFamily="18" charset="0"/>
                        </a:rPr>
                        <m:t>=</m:t>
                      </m:r>
                      <m:r>
                        <m:rPr>
                          <m:nor/>
                        </m:rPr>
                        <a:rPr lang="en-GB" sz="2000" dirty="0"/>
                        <m:t>199.7 </m:t>
                      </m:r>
                      <m:r>
                        <m:rPr>
                          <m:nor/>
                        </m:rPr>
                        <a:rPr lang="en-GB" sz="2000" dirty="0"/>
                        <m:t>bar</m:t>
                      </m:r>
                    </m:oMath>
                  </m:oMathPara>
                </a14:m>
                <a:endParaRPr lang="en-GB"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28472" y="1469008"/>
                <a:ext cx="10515600" cy="4620895"/>
              </a:xfrm>
              <a:blipFill>
                <a:blip r:embed="rId2"/>
                <a:stretch>
                  <a:fillRect l="-522" t="-264"/>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25</a:t>
            </a:fld>
            <a:endParaRPr lang="en-GB" dirty="0"/>
          </a:p>
        </p:txBody>
      </p:sp>
    </p:spTree>
    <p:extLst>
      <p:ext uri="{BB962C8B-B14F-4D97-AF65-F5344CB8AC3E}">
        <p14:creationId xmlns:p14="http://schemas.microsoft.com/office/powerpoint/2010/main" val="1923690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373012"/>
          </a:xfrm>
        </p:spPr>
        <p:txBody>
          <a:bodyPr>
            <a:normAutofit fontScale="90000"/>
          </a:bodyPr>
          <a:lstStyle/>
          <a:p>
            <a:r>
              <a:rPr lang="en-GB" dirty="0"/>
              <a:t>UNIT 4:	 Principles of Hydro-Mechanics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28472" y="1469008"/>
                <a:ext cx="10515600" cy="4620895"/>
              </a:xfrm>
            </p:spPr>
            <p:txBody>
              <a:bodyPr>
                <a:normAutofit/>
              </a:bodyPr>
              <a:lstStyle/>
              <a:p>
                <a:pPr>
                  <a:lnSpc>
                    <a:spcPct val="110000"/>
                  </a:lnSpc>
                  <a:spcBef>
                    <a:spcPts val="600"/>
                  </a:spcBef>
                  <a:spcAft>
                    <a:spcPts val="1200"/>
                  </a:spcAft>
                </a:pPr>
                <a14:m>
                  <m:oMath xmlns:m="http://schemas.openxmlformats.org/officeDocument/2006/math">
                    <m:sSub>
                      <m:sSubPr>
                        <m:ctrlPr>
                          <a:rPr lang="en-GB" sz="2000" i="1" smtClean="0">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1</m:t>
                        </m:r>
                        <m:r>
                          <a:rPr lang="en-US" sz="2000" b="0" i="1" smtClean="0">
                            <a:latin typeface="Cambria Math" panose="02040503050406030204" pitchFamily="18" charset="0"/>
                          </a:rPr>
                          <m:t>𝑚𝑎𝑥</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𝑚𝑎𝑥</m:t>
                            </m:r>
                          </m:sub>
                        </m:sSub>
                      </m:num>
                      <m:den>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d>
                          <m:dPr>
                            <m:ctrlPr>
                              <a:rPr lang="en-US" sz="2000" b="0" i="1" smtClean="0">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19.9704 </m:t>
                            </m:r>
                            <m:r>
                              <a:rPr lang="en-US" sz="2000" i="1">
                                <a:latin typeface="Cambria Math" panose="02040503050406030204" pitchFamily="18" charset="0"/>
                                <a:ea typeface="Cambria Math" panose="02040503050406030204" pitchFamily="18" charset="0"/>
                              </a:rPr>
                              <m:t>𝑥</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10</m:t>
                                </m:r>
                              </m:e>
                              <m:sup>
                                <m:r>
                                  <a:rPr lang="en-US" sz="2000" i="1">
                                    <a:latin typeface="Cambria Math" panose="02040503050406030204" pitchFamily="18" charset="0"/>
                                    <a:ea typeface="Cambria Math" panose="02040503050406030204" pitchFamily="18" charset="0"/>
                                  </a:rPr>
                                  <m:t>6</m:t>
                                </m:r>
                              </m:sup>
                            </m:sSup>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𝑁</m:t>
                                </m:r>
                              </m:num>
                              <m:den>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𝑚</m:t>
                                    </m:r>
                                  </m:e>
                                  <m:sup>
                                    <m:r>
                                      <a:rPr lang="en-US" sz="2000" i="1">
                                        <a:latin typeface="Cambria Math" panose="02040503050406030204" pitchFamily="18" charset="0"/>
                                        <a:ea typeface="Cambria Math" panose="02040503050406030204" pitchFamily="18" charset="0"/>
                                      </a:rPr>
                                      <m:t>2</m:t>
                                    </m:r>
                                  </m:sup>
                                </m:sSup>
                              </m:den>
                            </m:f>
                          </m:e>
                        </m:d>
                        <m:r>
                          <m:rPr>
                            <m:nor/>
                          </m:rPr>
                          <a:rPr lang="en-GB" sz="2000" dirty="0"/>
                          <m:t>50 </m:t>
                        </m:r>
                        <m:r>
                          <m:rPr>
                            <m:nor/>
                          </m:rPr>
                          <a:rPr lang="en-US" sz="2000" b="0" i="0" dirty="0" smtClean="0"/>
                          <m:t>x</m:t>
                        </m:r>
                        <m:r>
                          <m:rPr>
                            <m:nor/>
                          </m:rPr>
                          <a:rPr lang="en-US" sz="2000" b="0" i="0" dirty="0" smtClean="0"/>
                          <m:t> </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10</m:t>
                            </m:r>
                          </m:e>
                          <m:sup>
                            <m:r>
                              <a:rPr lang="en-US" sz="2000" b="0" i="1" dirty="0" smtClean="0">
                                <a:latin typeface="Cambria Math" panose="02040503050406030204" pitchFamily="18" charset="0"/>
                              </a:rPr>
                              <m:t>−6</m:t>
                            </m:r>
                          </m:sup>
                        </m:sSup>
                        <m:sSup>
                          <m:sSupPr>
                            <m:ctrlPr>
                              <a:rPr lang="en-GB"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3</m:t>
                            </m:r>
                          </m:sup>
                        </m:sSup>
                      </m:num>
                      <m:den>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𝜋</m:t>
                        </m:r>
                      </m:den>
                    </m:f>
                    <m:r>
                      <a:rPr lang="en-US" sz="2000" b="0" i="1" smtClean="0">
                        <a:latin typeface="Cambria Math" panose="02040503050406030204" pitchFamily="18" charset="0"/>
                        <a:ea typeface="Cambria Math" panose="02040503050406030204" pitchFamily="18" charset="0"/>
                      </a:rPr>
                      <m:t>=159 </m:t>
                    </m:r>
                    <m:r>
                      <a:rPr lang="en-US" sz="2000" b="0" i="1" smtClean="0">
                        <a:latin typeface="Cambria Math" panose="02040503050406030204" pitchFamily="18" charset="0"/>
                        <a:ea typeface="Cambria Math" panose="02040503050406030204" pitchFamily="18" charset="0"/>
                      </a:rPr>
                      <m:t>𝑁𝑚</m:t>
                    </m:r>
                  </m:oMath>
                </a14:m>
                <a:endParaRPr lang="en-US" sz="2000" b="0" i="1" dirty="0" smtClean="0">
                  <a:latin typeface="Cambria Math" panose="02040503050406030204" pitchFamily="18" charset="0"/>
                  <a:ea typeface="Cambria Math" panose="02040503050406030204" pitchFamily="18" charset="0"/>
                </a:endParaRPr>
              </a:p>
              <a:p>
                <a:pPr marL="576263" indent="-457200">
                  <a:lnSpc>
                    <a:spcPct val="110000"/>
                  </a:lnSpc>
                  <a:spcBef>
                    <a:spcPts val="600"/>
                  </a:spcBef>
                  <a:spcAft>
                    <a:spcPts val="1200"/>
                  </a:spcAft>
                  <a:buFont typeface="+mj-lt"/>
                  <a:buAutoNum type="alphaLcPeriod"/>
                </a:pP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𝑇</m:t>
                            </m:r>
                          </m:e>
                          <m:sub>
                            <m:r>
                              <a:rPr lang="en-US" sz="2000" i="1">
                                <a:latin typeface="Cambria Math" panose="02040503050406030204" pitchFamily="18" charset="0"/>
                                <a:ea typeface="Cambria Math" panose="02040503050406030204" pitchFamily="18" charset="0"/>
                              </a:rPr>
                              <m:t>2</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𝑉</m:t>
                            </m:r>
                          </m:e>
                          <m:sub>
                            <m:r>
                              <a:rPr lang="en-US" sz="2000" i="1">
                                <a:latin typeface="Cambria Math" panose="02040503050406030204" pitchFamily="18" charset="0"/>
                                <a:ea typeface="Cambria Math" panose="02040503050406030204" pitchFamily="18" charset="0"/>
                              </a:rPr>
                              <m:t>2</m:t>
                            </m:r>
                          </m:sub>
                        </m:sSub>
                      </m:den>
                    </m:f>
                    <m:r>
                      <a:rPr lang="en-US" sz="2000">
                        <a:latin typeface="Cambria Math" panose="02040503050406030204" pitchFamily="18" charset="0"/>
                        <a:ea typeface="Cambria Math" panose="02040503050406030204" pitchFamily="18" charset="0"/>
                      </a:rPr>
                      <m:t>2</m:t>
                    </m:r>
                    <m:r>
                      <m:rPr>
                        <m:sty m:val="p"/>
                      </m:rPr>
                      <a:rPr lang="el-GR" sz="2000" i="1">
                        <a:latin typeface="Cambria Math" panose="02040503050406030204" pitchFamily="18" charset="0"/>
                        <a:ea typeface="Cambria Math" panose="02040503050406030204" pitchFamily="18" charset="0"/>
                      </a:rPr>
                      <m:t>π</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sSub>
                          <m:sSubPr>
                            <m:ctrlPr>
                              <a:rPr lang="en-GB" sz="2000" i="1">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2</m:t>
                            </m:r>
                          </m:sub>
                        </m:sSub>
                      </m:e>
                    </m:d>
                  </m:oMath>
                </a14:m>
                <a:endParaRPr lang="en-GB" sz="2000" dirty="0" smtClean="0"/>
              </a:p>
              <a:p>
                <a:pPr marL="576263" indent="-457200">
                  <a:lnSpc>
                    <a:spcPct val="110000"/>
                  </a:lnSpc>
                  <a:spcBef>
                    <a:spcPts val="600"/>
                  </a:spcBef>
                  <a:spcAft>
                    <a:spcPts val="1200"/>
                  </a:spcAft>
                  <a:buFont typeface="+mj-lt"/>
                  <a:buAutoNum type="alphaLcPeriod"/>
                </a:pPr>
                <a14:m>
                  <m:oMath xmlns:m="http://schemas.openxmlformats.org/officeDocument/2006/math">
                    <m:f>
                      <m:fPr>
                        <m:ctrlPr>
                          <a:rPr lang="en-GB" sz="2000" i="1">
                            <a:latin typeface="Cambria Math" panose="02040503050406030204" pitchFamily="18" charset="0"/>
                          </a:rPr>
                        </m:ctrlPr>
                      </m:fPr>
                      <m:num>
                        <m:sSub>
                          <m:sSubPr>
                            <m:ctrlPr>
                              <a:rPr lang="en-GB"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num>
                      <m:den>
                        <m:sSub>
                          <m:sSubPr>
                            <m:ctrlPr>
                              <a:rPr lang="en-GB"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1</m:t>
                            </m:r>
                          </m:sub>
                        </m:sSub>
                      </m:den>
                    </m:f>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𝑛</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f>
                      <m:fPr>
                        <m:ctrlPr>
                          <a:rPr lang="en-US" sz="2000" i="1">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i="1">
                                <a:latin typeface="Cambria Math" panose="02040503050406030204" pitchFamily="18" charset="0"/>
                              </a:rPr>
                              <m:t>𝑉</m:t>
                            </m:r>
                          </m:e>
                          <m:sub>
                            <m:r>
                              <a:rPr lang="en-US" sz="2000" b="0" i="1" smtClean="0">
                                <a:latin typeface="Cambria Math" panose="02040503050406030204" pitchFamily="18" charset="0"/>
                              </a:rPr>
                              <m:t>1</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b="0" i="1" smtClean="0">
                                <a:latin typeface="Cambria Math" panose="02040503050406030204" pitchFamily="18" charset="0"/>
                              </a:rPr>
                              <m:t>2</m:t>
                            </m:r>
                          </m:sub>
                        </m:sSub>
                      </m:den>
                    </m:f>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GB" sz="2000" i="1">
                                <a:latin typeface="Cambria Math" panose="02040503050406030204" pitchFamily="18" charset="0"/>
                              </a:rPr>
                            </m:ctrlPr>
                          </m:sSubPr>
                          <m:e>
                            <m:r>
                              <a:rPr lang="en-US" sz="2000" b="0" i="1" smtClean="0">
                                <a:latin typeface="Cambria Math" panose="02040503050406030204" pitchFamily="18" charset="0"/>
                              </a:rPr>
                              <m:t>𝑉</m:t>
                            </m:r>
                          </m:e>
                          <m:sub>
                            <m:r>
                              <a:rPr lang="en-US" sz="2000" i="1">
                                <a:latin typeface="Cambria Math" panose="02040503050406030204" pitchFamily="18" charset="0"/>
                              </a:rPr>
                              <m:t>1</m:t>
                            </m:r>
                          </m:sub>
                        </m:sSub>
                      </m:e>
                    </m:d>
                  </m:oMath>
                </a14:m>
                <a:endParaRPr lang="en-GB" sz="2000"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28472" y="1469008"/>
                <a:ext cx="10515600" cy="4620895"/>
              </a:xfrm>
              <a:blipFill>
                <a:blip r:embed="rId2"/>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26</a:t>
            </a:fld>
            <a:endParaRPr lang="en-GB" dirty="0"/>
          </a:p>
        </p:txBody>
      </p:sp>
    </p:spTree>
    <p:extLst>
      <p:ext uri="{BB962C8B-B14F-4D97-AF65-F5344CB8AC3E}">
        <p14:creationId xmlns:p14="http://schemas.microsoft.com/office/powerpoint/2010/main" val="3633212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431" y="788275"/>
            <a:ext cx="11024969" cy="557925"/>
          </a:xfrm>
        </p:spPr>
        <p:txBody>
          <a:bodyPr>
            <a:normAutofit fontScale="90000"/>
          </a:bodyPr>
          <a:lstStyle/>
          <a:p>
            <a:r>
              <a:rPr lang="en-GB" dirty="0"/>
              <a:t>UNIT 4</a:t>
            </a:r>
            <a:r>
              <a:rPr lang="en-GB" dirty="0" smtClean="0"/>
              <a:t>:  Theory of Lubrication</a:t>
            </a:r>
            <a:endParaRPr lang="en-GB" dirty="0"/>
          </a:p>
        </p:txBody>
      </p:sp>
      <p:sp>
        <p:nvSpPr>
          <p:cNvPr id="3" name="Content Placeholder 2"/>
          <p:cNvSpPr>
            <a:spLocks noGrp="1"/>
          </p:cNvSpPr>
          <p:nvPr>
            <p:ph idx="1"/>
          </p:nvPr>
        </p:nvSpPr>
        <p:spPr>
          <a:xfrm>
            <a:off x="838200" y="1346200"/>
            <a:ext cx="10744200" cy="5118539"/>
          </a:xfrm>
        </p:spPr>
        <p:txBody>
          <a:bodyPr>
            <a:normAutofit/>
          </a:bodyPr>
          <a:lstStyle/>
          <a:p>
            <a:pPr marL="0" indent="0">
              <a:buNone/>
            </a:pPr>
            <a:r>
              <a:rPr lang="en-GB" dirty="0" smtClean="0"/>
              <a:t>Design </a:t>
            </a:r>
            <a:r>
              <a:rPr lang="en-GB" dirty="0"/>
              <a:t>and construction of machines are </a:t>
            </a:r>
            <a:r>
              <a:rPr lang="en-GB" dirty="0" smtClean="0"/>
              <a:t>based </a:t>
            </a:r>
            <a:r>
              <a:rPr lang="en-GB" dirty="0"/>
              <a:t>on certain </a:t>
            </a:r>
            <a:r>
              <a:rPr lang="en-GB" dirty="0" smtClean="0"/>
              <a:t>criteria such as:</a:t>
            </a:r>
          </a:p>
          <a:p>
            <a:pPr marL="514350" indent="-514350">
              <a:buFont typeface="+mj-lt"/>
              <a:buAutoNum type="arabicPeriod"/>
            </a:pPr>
            <a:r>
              <a:rPr lang="en-GB" dirty="0" smtClean="0">
                <a:solidFill>
                  <a:srgbClr val="FF0000"/>
                </a:solidFill>
              </a:rPr>
              <a:t>Operational </a:t>
            </a:r>
            <a:r>
              <a:rPr lang="en-GB" dirty="0">
                <a:solidFill>
                  <a:srgbClr val="FF0000"/>
                </a:solidFill>
              </a:rPr>
              <a:t>safety</a:t>
            </a:r>
            <a:r>
              <a:rPr lang="en-GB" dirty="0"/>
              <a:t> dimensioning and </a:t>
            </a:r>
            <a:r>
              <a:rPr lang="en-GB" dirty="0" smtClean="0"/>
              <a:t>shaping </a:t>
            </a:r>
            <a:r>
              <a:rPr lang="en-GB" dirty="0"/>
              <a:t>of </a:t>
            </a:r>
            <a:r>
              <a:rPr lang="en-GB" dirty="0" smtClean="0"/>
              <a:t>machine </a:t>
            </a:r>
            <a:r>
              <a:rPr lang="en-GB" dirty="0"/>
              <a:t>elements for a given expected </a:t>
            </a:r>
            <a:r>
              <a:rPr lang="en-GB" dirty="0" smtClean="0">
                <a:solidFill>
                  <a:srgbClr val="FF0000"/>
                </a:solidFill>
              </a:rPr>
              <a:t>life-span</a:t>
            </a:r>
            <a:r>
              <a:rPr lang="en-GB" dirty="0" smtClean="0"/>
              <a:t> depend upon:</a:t>
            </a:r>
            <a:endParaRPr lang="en-GB" dirty="0"/>
          </a:p>
          <a:p>
            <a:pPr marL="1346200"/>
            <a:r>
              <a:rPr lang="en-US" i="1" dirty="0" smtClean="0"/>
              <a:t>forces</a:t>
            </a:r>
            <a:endParaRPr lang="en-GB" dirty="0" smtClean="0"/>
          </a:p>
          <a:p>
            <a:pPr marL="1346200"/>
            <a:r>
              <a:rPr lang="en-GB" i="1" dirty="0" smtClean="0"/>
              <a:t>Geometric form</a:t>
            </a:r>
            <a:r>
              <a:rPr lang="en-GB" dirty="0" smtClean="0"/>
              <a:t> </a:t>
            </a:r>
          </a:p>
          <a:p>
            <a:pPr marL="1346200"/>
            <a:r>
              <a:rPr lang="en-US" i="1" dirty="0" smtClean="0"/>
              <a:t>Material of element</a:t>
            </a:r>
            <a:endParaRPr lang="en-GB" dirty="0" smtClean="0"/>
          </a:p>
          <a:p>
            <a:pPr marL="514350" indent="-514350">
              <a:buFont typeface="+mj-lt"/>
              <a:buAutoNum type="arabicPeriod" startAt="2"/>
            </a:pPr>
            <a:r>
              <a:rPr lang="en-GB" dirty="0" smtClean="0"/>
              <a:t>Guaranteed functioning of a machine depends on:</a:t>
            </a:r>
          </a:p>
          <a:p>
            <a:pPr marL="990600"/>
            <a:r>
              <a:rPr lang="en-GB" dirty="0" smtClean="0"/>
              <a:t>co-existence of pairing elements at the point of contact (Technical mating system=Fits and Tolerance) </a:t>
            </a:r>
          </a:p>
        </p:txBody>
      </p:sp>
      <p:sp>
        <p:nvSpPr>
          <p:cNvPr id="4" name="Slide Number Placeholder 3"/>
          <p:cNvSpPr>
            <a:spLocks noGrp="1"/>
          </p:cNvSpPr>
          <p:nvPr>
            <p:ph type="sldNum" sz="quarter" idx="12"/>
          </p:nvPr>
        </p:nvSpPr>
        <p:spPr/>
        <p:txBody>
          <a:bodyPr/>
          <a:lstStyle/>
          <a:p>
            <a:fld id="{7E50C373-F1D0-494F-8D6D-366C958B3429}" type="slidenum">
              <a:rPr lang="en-GB" smtClean="0"/>
              <a:pPr/>
              <a:t>27</a:t>
            </a:fld>
            <a:endParaRPr lang="en-GB" dirty="0"/>
          </a:p>
        </p:txBody>
      </p:sp>
    </p:spTree>
    <p:extLst>
      <p:ext uri="{BB962C8B-B14F-4D97-AF65-F5344CB8AC3E}">
        <p14:creationId xmlns:p14="http://schemas.microsoft.com/office/powerpoint/2010/main" val="355874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56324"/>
          </a:xfrm>
        </p:spPr>
        <p:txBody>
          <a:bodyPr>
            <a:normAutofit fontScale="90000"/>
          </a:bodyPr>
          <a:lstStyle/>
          <a:p>
            <a:r>
              <a:rPr lang="en-GB" dirty="0"/>
              <a:t>UNIT 4:  Theory of Lubrication</a:t>
            </a:r>
          </a:p>
        </p:txBody>
      </p:sp>
      <p:sp>
        <p:nvSpPr>
          <p:cNvPr id="3" name="Content Placeholder 2"/>
          <p:cNvSpPr>
            <a:spLocks noGrp="1"/>
          </p:cNvSpPr>
          <p:nvPr>
            <p:ph idx="1"/>
          </p:nvPr>
        </p:nvSpPr>
        <p:spPr>
          <a:xfrm>
            <a:off x="838200" y="1244601"/>
            <a:ext cx="10515600" cy="5220138"/>
          </a:xfrm>
        </p:spPr>
        <p:txBody>
          <a:bodyPr>
            <a:normAutofit lnSpcReduction="10000"/>
          </a:bodyPr>
          <a:lstStyle/>
          <a:p>
            <a:pPr marL="0" indent="0">
              <a:lnSpc>
                <a:spcPct val="120000"/>
              </a:lnSpc>
              <a:spcBef>
                <a:spcPts val="0"/>
              </a:spcBef>
              <a:spcAft>
                <a:spcPts val="600"/>
              </a:spcAft>
              <a:buNone/>
            </a:pPr>
            <a:r>
              <a:rPr lang="en-US" b="1" i="1" dirty="0" smtClean="0"/>
              <a:t>Technical Mating System</a:t>
            </a:r>
            <a:endParaRPr lang="en-GB" b="1" i="1" dirty="0" smtClean="0"/>
          </a:p>
          <a:p>
            <a:pPr algn="just">
              <a:lnSpc>
                <a:spcPct val="120000"/>
              </a:lnSpc>
              <a:spcAft>
                <a:spcPts val="0"/>
              </a:spcAft>
            </a:pPr>
            <a:r>
              <a:rPr lang="en-GB" dirty="0">
                <a:latin typeface="Times New Roman" panose="02020603050405020304" pitchFamily="18" charset="0"/>
                <a:ea typeface="Times New Roman" panose="02020603050405020304" pitchFamily="18" charset="0"/>
              </a:rPr>
              <a:t>The elements found within the technical mating system are:</a:t>
            </a:r>
            <a:endParaRPr lang="en-GB" dirty="0">
              <a:latin typeface="Times New Roman" panose="02020603050405020304" pitchFamily="18" charset="0"/>
              <a:ea typeface="Calibri" panose="020F0502020204030204" pitchFamily="34" charset="0"/>
            </a:endParaRPr>
          </a:p>
          <a:p>
            <a:pPr marL="742950" lvl="1" indent="-285750" algn="just">
              <a:lnSpc>
                <a:spcPct val="120000"/>
              </a:lnSpc>
              <a:spcAft>
                <a:spcPts val="0"/>
              </a:spcAft>
              <a:buFont typeface="+mj-lt"/>
              <a:buAutoNum type="arabicPeriod"/>
              <a:tabLst>
                <a:tab pos="971550" algn="l"/>
              </a:tabLst>
            </a:pPr>
            <a:r>
              <a:rPr lang="en-GB" dirty="0">
                <a:latin typeface="Times New Roman" panose="02020603050405020304" pitchFamily="18" charset="0"/>
                <a:ea typeface="Times New Roman" panose="02020603050405020304" pitchFamily="18" charset="0"/>
              </a:rPr>
              <a:t>Primary body,</a:t>
            </a:r>
            <a:endParaRPr lang="en-GB" dirty="0">
              <a:latin typeface="Times New Roman" panose="02020603050405020304" pitchFamily="18" charset="0"/>
              <a:ea typeface="Calibri" panose="020F0502020204030204" pitchFamily="34" charset="0"/>
            </a:endParaRPr>
          </a:p>
          <a:p>
            <a:pPr marL="742950" lvl="1" indent="-285750" algn="just">
              <a:lnSpc>
                <a:spcPct val="120000"/>
              </a:lnSpc>
              <a:spcAft>
                <a:spcPts val="0"/>
              </a:spcAft>
              <a:buFont typeface="+mj-lt"/>
              <a:buAutoNum type="arabicPeriod"/>
              <a:tabLst>
                <a:tab pos="971550" algn="l"/>
              </a:tabLst>
            </a:pPr>
            <a:r>
              <a:rPr lang="en-GB" dirty="0">
                <a:latin typeface="Times New Roman" panose="02020603050405020304" pitchFamily="18" charset="0"/>
                <a:ea typeface="Times New Roman" panose="02020603050405020304" pitchFamily="18" charset="0"/>
              </a:rPr>
              <a:t>Secondary body,</a:t>
            </a:r>
            <a:endParaRPr lang="en-GB" dirty="0">
              <a:latin typeface="Times New Roman" panose="02020603050405020304" pitchFamily="18" charset="0"/>
              <a:ea typeface="Calibri" panose="020F0502020204030204" pitchFamily="34" charset="0"/>
            </a:endParaRPr>
          </a:p>
          <a:p>
            <a:pPr marL="742950" lvl="1" indent="-285750" algn="just">
              <a:lnSpc>
                <a:spcPct val="120000"/>
              </a:lnSpc>
              <a:spcAft>
                <a:spcPts val="0"/>
              </a:spcAft>
              <a:buFont typeface="+mj-lt"/>
              <a:buAutoNum type="arabicPeriod"/>
              <a:tabLst>
                <a:tab pos="971550" algn="l"/>
              </a:tabLst>
            </a:pPr>
            <a:r>
              <a:rPr lang="en-GB" dirty="0">
                <a:latin typeface="Times New Roman" panose="02020603050405020304" pitchFamily="18" charset="0"/>
                <a:ea typeface="Times New Roman" panose="02020603050405020304" pitchFamily="18" charset="0"/>
              </a:rPr>
              <a:t>Intermediary medium and</a:t>
            </a:r>
            <a:endParaRPr lang="en-GB" dirty="0">
              <a:latin typeface="Times New Roman" panose="02020603050405020304" pitchFamily="18" charset="0"/>
              <a:ea typeface="Calibri" panose="020F0502020204030204" pitchFamily="34" charset="0"/>
            </a:endParaRPr>
          </a:p>
          <a:p>
            <a:pPr marL="742950" lvl="1" indent="-285750" algn="just">
              <a:lnSpc>
                <a:spcPct val="120000"/>
              </a:lnSpc>
              <a:spcAft>
                <a:spcPts val="600"/>
              </a:spcAft>
              <a:buFont typeface="+mj-lt"/>
              <a:buAutoNum type="arabicPeriod"/>
              <a:tabLst>
                <a:tab pos="971550" algn="l"/>
              </a:tabLst>
            </a:pPr>
            <a:r>
              <a:rPr lang="en-GB" dirty="0">
                <a:latin typeface="Times New Roman" panose="02020603050405020304" pitchFamily="18" charset="0"/>
                <a:ea typeface="Times New Roman" panose="02020603050405020304" pitchFamily="18" charset="0"/>
              </a:rPr>
              <a:t>Environment</a:t>
            </a:r>
            <a:r>
              <a:rPr lang="en-GB" dirty="0" smtClean="0">
                <a:latin typeface="Times New Roman" panose="02020603050405020304" pitchFamily="18" charset="0"/>
                <a:ea typeface="Times New Roman" panose="02020603050405020304" pitchFamily="18" charset="0"/>
              </a:rPr>
              <a:t>.</a:t>
            </a:r>
            <a:endParaRPr lang="en-GB" dirty="0">
              <a:latin typeface="Times New Roman" panose="02020603050405020304" pitchFamily="18" charset="0"/>
              <a:ea typeface="Times New Roman" panose="02020603050405020304" pitchFamily="18" charset="0"/>
            </a:endParaRPr>
          </a:p>
          <a:p>
            <a:pPr algn="just">
              <a:lnSpc>
                <a:spcPct val="120000"/>
              </a:lnSpc>
              <a:spcAft>
                <a:spcPts val="0"/>
              </a:spcAft>
            </a:pPr>
            <a:r>
              <a:rPr lang="en-GB" dirty="0">
                <a:latin typeface="Times New Roman" panose="02020603050405020304" pitchFamily="18" charset="0"/>
                <a:ea typeface="Times New Roman" panose="02020603050405020304" pitchFamily="18" charset="0"/>
              </a:rPr>
              <a:t>Properties of the elements are:</a:t>
            </a:r>
            <a:endParaRPr lang="en-GB" dirty="0">
              <a:latin typeface="Times New Roman" panose="02020603050405020304" pitchFamily="18" charset="0"/>
              <a:ea typeface="Calibri" panose="020F0502020204030204" pitchFamily="34" charset="0"/>
            </a:endParaRPr>
          </a:p>
          <a:p>
            <a:pPr marL="914400" lvl="1" indent="-457200" algn="just">
              <a:lnSpc>
                <a:spcPct val="120000"/>
              </a:lnSpc>
              <a:spcAft>
                <a:spcPts val="0"/>
              </a:spcAft>
              <a:buFont typeface="+mj-lt"/>
              <a:buAutoNum type="alphaLcPeriod"/>
              <a:tabLst>
                <a:tab pos="971550" algn="l"/>
              </a:tabLst>
            </a:pPr>
            <a:r>
              <a:rPr lang="en-GB" dirty="0">
                <a:latin typeface="Times New Roman" panose="02020603050405020304" pitchFamily="18" charset="0"/>
                <a:ea typeface="Times New Roman" panose="02020603050405020304" pitchFamily="18" charset="0"/>
              </a:rPr>
              <a:t>Material properties of the elements,</a:t>
            </a:r>
            <a:endParaRPr lang="en-GB" dirty="0">
              <a:latin typeface="Times New Roman" panose="02020603050405020304" pitchFamily="18" charset="0"/>
              <a:ea typeface="Calibri" panose="020F0502020204030204" pitchFamily="34" charset="0"/>
            </a:endParaRPr>
          </a:p>
          <a:p>
            <a:pPr marL="914400" lvl="1" indent="-457200" algn="just">
              <a:lnSpc>
                <a:spcPct val="120000"/>
              </a:lnSpc>
              <a:spcAft>
                <a:spcPts val="0"/>
              </a:spcAft>
              <a:buFont typeface="+mj-lt"/>
              <a:buAutoNum type="alphaLcPeriod"/>
              <a:tabLst>
                <a:tab pos="971550" algn="l"/>
              </a:tabLst>
            </a:pPr>
            <a:r>
              <a:rPr lang="en-GB" dirty="0">
                <a:latin typeface="Times New Roman" panose="02020603050405020304" pitchFamily="18" charset="0"/>
                <a:ea typeface="Times New Roman" panose="02020603050405020304" pitchFamily="18" charset="0"/>
              </a:rPr>
              <a:t>Form properties of the elements and</a:t>
            </a:r>
            <a:endParaRPr lang="en-GB" dirty="0">
              <a:latin typeface="Times New Roman" panose="02020603050405020304" pitchFamily="18" charset="0"/>
              <a:ea typeface="Calibri" panose="020F0502020204030204" pitchFamily="34" charset="0"/>
            </a:endParaRPr>
          </a:p>
          <a:p>
            <a:pPr marL="914400" lvl="1" indent="-457200" algn="just">
              <a:lnSpc>
                <a:spcPct val="120000"/>
              </a:lnSpc>
              <a:spcAft>
                <a:spcPts val="600"/>
              </a:spcAft>
              <a:buFont typeface="+mj-lt"/>
              <a:buAutoNum type="alphaLcPeriod"/>
              <a:tabLst>
                <a:tab pos="971550" algn="l"/>
              </a:tabLst>
            </a:pPr>
            <a:r>
              <a:rPr lang="en-GB" dirty="0">
                <a:latin typeface="Times New Roman" panose="02020603050405020304" pitchFamily="18" charset="0"/>
                <a:ea typeface="Times New Roman" panose="02020603050405020304" pitchFamily="18" charset="0"/>
              </a:rPr>
              <a:t>Surface properties of the elements</a:t>
            </a:r>
            <a:r>
              <a:rPr lang="en-GB" dirty="0" smtClean="0">
                <a:latin typeface="Times New Roman" panose="02020603050405020304" pitchFamily="18" charset="0"/>
                <a:ea typeface="Times New Roman" panose="02020603050405020304" pitchFamily="18" charset="0"/>
              </a:rPr>
              <a:t>.</a:t>
            </a:r>
            <a:endParaRPr lang="en-GB" dirty="0">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28</a:t>
            </a:fld>
            <a:endParaRPr lang="en-GB" dirty="0"/>
          </a:p>
        </p:txBody>
      </p:sp>
      <p:pic>
        <p:nvPicPr>
          <p:cNvPr id="5" name="Picture 4"/>
          <p:cNvPicPr>
            <a:picLocks noChangeAspect="1"/>
          </p:cNvPicPr>
          <p:nvPr/>
        </p:nvPicPr>
        <p:blipFill>
          <a:blip r:embed="rId2" cstate="print"/>
          <a:srcRect/>
          <a:stretch>
            <a:fillRect/>
          </a:stretch>
        </p:blipFill>
        <p:spPr bwMode="auto">
          <a:xfrm>
            <a:off x="7638569" y="2614515"/>
            <a:ext cx="3996000" cy="2480310"/>
          </a:xfrm>
          <a:prstGeom prst="rect">
            <a:avLst/>
          </a:prstGeom>
          <a:noFill/>
          <a:ln w="9525">
            <a:noFill/>
            <a:miter lim="800000"/>
            <a:headEnd/>
            <a:tailEnd/>
          </a:ln>
        </p:spPr>
      </p:pic>
    </p:spTree>
    <p:extLst>
      <p:ext uri="{BB962C8B-B14F-4D97-AF65-F5344CB8AC3E}">
        <p14:creationId xmlns:p14="http://schemas.microsoft.com/office/powerpoint/2010/main" val="191044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710324"/>
          </a:xfrm>
        </p:spPr>
        <p:txBody>
          <a:bodyPr/>
          <a:lstStyle/>
          <a:p>
            <a:r>
              <a:rPr lang="en-GB" dirty="0"/>
              <a:t>UNIT 4:  Theory of Lubrication</a:t>
            </a:r>
          </a:p>
        </p:txBody>
      </p:sp>
      <p:sp>
        <p:nvSpPr>
          <p:cNvPr id="3" name="Content Placeholder 2"/>
          <p:cNvSpPr>
            <a:spLocks noGrp="1"/>
          </p:cNvSpPr>
          <p:nvPr>
            <p:ph idx="1"/>
          </p:nvPr>
        </p:nvSpPr>
        <p:spPr>
          <a:xfrm>
            <a:off x="558800" y="1600200"/>
            <a:ext cx="4546600" cy="4661339"/>
          </a:xfrm>
        </p:spPr>
        <p:txBody>
          <a:bodyPr>
            <a:normAutofit/>
          </a:bodyPr>
          <a:lstStyle/>
          <a:p>
            <a:pPr marL="0" lvl="0" indent="0">
              <a:lnSpc>
                <a:spcPct val="120000"/>
              </a:lnSpc>
              <a:spcBef>
                <a:spcPts val="0"/>
              </a:spcBef>
              <a:spcAft>
                <a:spcPts val="600"/>
              </a:spcAft>
              <a:buNone/>
            </a:pPr>
            <a:r>
              <a:rPr lang="en-US" b="1" i="1" dirty="0">
                <a:solidFill>
                  <a:prstClr val="black"/>
                </a:solidFill>
              </a:rPr>
              <a:t>Technical Mating </a:t>
            </a:r>
            <a:r>
              <a:rPr lang="en-US" b="1" i="1" dirty="0" smtClean="0">
                <a:solidFill>
                  <a:prstClr val="black"/>
                </a:solidFill>
              </a:rPr>
              <a:t>System</a:t>
            </a:r>
            <a:endParaRPr lang="en-GB" dirty="0" smtClean="0"/>
          </a:p>
          <a:p>
            <a:r>
              <a:rPr lang="en-GB" dirty="0" smtClean="0"/>
              <a:t>Interactions</a:t>
            </a:r>
          </a:p>
          <a:p>
            <a:pPr marL="0" indent="0">
              <a:buNone/>
            </a:pPr>
            <a:r>
              <a:rPr lang="en-GB" dirty="0" smtClean="0"/>
              <a:t>Example primary body and environment:</a:t>
            </a:r>
          </a:p>
          <a:p>
            <a:pPr marL="534988">
              <a:buFont typeface="Wingdings" panose="05000000000000000000" pitchFamily="2" charset="2"/>
              <a:buChar char="ü"/>
            </a:pPr>
            <a:r>
              <a:rPr lang="en-GB" dirty="0" smtClean="0"/>
              <a:t>Sublimation</a:t>
            </a:r>
          </a:p>
          <a:p>
            <a:pPr marL="534988">
              <a:buFont typeface="Wingdings" panose="05000000000000000000" pitchFamily="2" charset="2"/>
              <a:buChar char="ü"/>
            </a:pPr>
            <a:r>
              <a:rPr lang="en-GB" dirty="0" smtClean="0"/>
              <a:t>Adsorption</a:t>
            </a:r>
          </a:p>
          <a:p>
            <a:pPr marL="534988">
              <a:buFont typeface="Wingdings" panose="05000000000000000000" pitchFamily="2" charset="2"/>
              <a:buChar char="ü"/>
            </a:pPr>
            <a:r>
              <a:rPr lang="en-GB" dirty="0" smtClean="0"/>
              <a:t>Chemical reaction</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29</a:t>
            </a:fld>
            <a:endParaRPr lang="en-GB" dirty="0"/>
          </a:p>
        </p:txBody>
      </p:sp>
      <p:pic>
        <p:nvPicPr>
          <p:cNvPr id="6" name="Picture 5"/>
          <p:cNvPicPr>
            <a:picLocks noChangeAspect="1"/>
          </p:cNvPicPr>
          <p:nvPr/>
        </p:nvPicPr>
        <p:blipFill>
          <a:blip r:embed="rId2" cstate="print"/>
          <a:srcRect/>
          <a:stretch>
            <a:fillRect/>
          </a:stretch>
        </p:blipFill>
        <p:spPr bwMode="auto">
          <a:xfrm>
            <a:off x="5029200" y="1415896"/>
            <a:ext cx="6732000" cy="5148495"/>
          </a:xfrm>
          <a:prstGeom prst="rect">
            <a:avLst/>
          </a:prstGeom>
          <a:noFill/>
          <a:ln w="9525">
            <a:noFill/>
            <a:miter lim="800000"/>
            <a:headEnd/>
            <a:tailEnd/>
          </a:ln>
        </p:spPr>
      </p:pic>
    </p:spTree>
    <p:extLst>
      <p:ext uri="{BB962C8B-B14F-4D97-AF65-F5344CB8AC3E}">
        <p14:creationId xmlns:p14="http://schemas.microsoft.com/office/powerpoint/2010/main" val="299575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380124"/>
          </a:xfrm>
        </p:spPr>
        <p:txBody>
          <a:bodyPr>
            <a:normAutofit fontScale="90000"/>
          </a:bodyPr>
          <a:lstStyle/>
          <a:p>
            <a:r>
              <a:rPr lang="en-GB" dirty="0"/>
              <a:t>UNIT 4:  Theory of Lubrication</a:t>
            </a:r>
          </a:p>
        </p:txBody>
      </p:sp>
      <p:sp>
        <p:nvSpPr>
          <p:cNvPr id="3" name="Content Placeholder 2"/>
          <p:cNvSpPr>
            <a:spLocks noGrp="1"/>
          </p:cNvSpPr>
          <p:nvPr>
            <p:ph idx="1"/>
          </p:nvPr>
        </p:nvSpPr>
        <p:spPr>
          <a:xfrm>
            <a:off x="838200" y="1270000"/>
            <a:ext cx="10515600" cy="5059363"/>
          </a:xfrm>
        </p:spPr>
        <p:txBody>
          <a:bodyPr>
            <a:normAutofit/>
          </a:bodyPr>
          <a:lstStyle/>
          <a:p>
            <a:pPr marL="0" lvl="0" indent="0">
              <a:lnSpc>
                <a:spcPct val="120000"/>
              </a:lnSpc>
              <a:spcBef>
                <a:spcPts val="0"/>
              </a:spcBef>
              <a:spcAft>
                <a:spcPts val="600"/>
              </a:spcAft>
              <a:buNone/>
            </a:pPr>
            <a:r>
              <a:rPr lang="en-US" b="1" i="1" dirty="0">
                <a:solidFill>
                  <a:prstClr val="black"/>
                </a:solidFill>
              </a:rPr>
              <a:t>Technical Mating System</a:t>
            </a:r>
            <a:endParaRPr lang="en-GB" dirty="0">
              <a:solidFill>
                <a:prstClr val="black"/>
              </a:solidFill>
            </a:endParaRPr>
          </a:p>
          <a:p>
            <a:pPr lvl="0"/>
            <a:r>
              <a:rPr lang="en-GB" dirty="0" smtClean="0">
                <a:solidFill>
                  <a:prstClr val="black"/>
                </a:solidFill>
              </a:rPr>
              <a:t>Metallic Surface:</a:t>
            </a:r>
            <a:endParaRPr lang="en-GB" dirty="0">
              <a:solidFill>
                <a:prstClr val="black"/>
              </a:solidFill>
            </a:endParaRPr>
          </a:p>
          <a:p>
            <a:pPr marL="0" lvl="0" indent="0">
              <a:buNone/>
            </a:pPr>
            <a:r>
              <a:rPr lang="en-GB" dirty="0" smtClean="0">
                <a:solidFill>
                  <a:prstClr val="black"/>
                </a:solidFill>
              </a:rPr>
              <a:t>Consists of</a:t>
            </a:r>
            <a:r>
              <a:rPr lang="en-GB" dirty="0"/>
              <a:t>:</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30</a:t>
            </a:fld>
            <a:endParaRPr lang="en-GB" dirty="0"/>
          </a:p>
        </p:txBody>
      </p:sp>
      <p:pic>
        <p:nvPicPr>
          <p:cNvPr id="6" name="Picture 5"/>
          <p:cNvPicPr>
            <a:picLocks noChangeAspect="1"/>
          </p:cNvPicPr>
          <p:nvPr/>
        </p:nvPicPr>
        <p:blipFill>
          <a:blip r:embed="rId2"/>
          <a:stretch>
            <a:fillRect/>
          </a:stretch>
        </p:blipFill>
        <p:spPr>
          <a:xfrm>
            <a:off x="3951202" y="1938338"/>
            <a:ext cx="4981575" cy="4543425"/>
          </a:xfrm>
          <a:prstGeom prst="rect">
            <a:avLst/>
          </a:prstGeom>
        </p:spPr>
      </p:pic>
      <p:sp>
        <p:nvSpPr>
          <p:cNvPr id="8" name="TextBox 7"/>
          <p:cNvSpPr txBox="1"/>
          <p:nvPr/>
        </p:nvSpPr>
        <p:spPr>
          <a:xfrm flipH="1">
            <a:off x="8932777" y="2030137"/>
            <a:ext cx="1649234" cy="400110"/>
          </a:xfrm>
          <a:prstGeom prst="rect">
            <a:avLst/>
          </a:prstGeom>
          <a:noFill/>
        </p:spPr>
        <p:txBody>
          <a:bodyPr wrap="square" rtlCol="0">
            <a:spAutoFit/>
          </a:bodyPr>
          <a:lstStyle/>
          <a:p>
            <a:r>
              <a:rPr lang="en-GB" sz="2000" dirty="0" smtClean="0"/>
              <a:t>Impurities</a:t>
            </a:r>
            <a:endParaRPr lang="en-GB" sz="2000" dirty="0"/>
          </a:p>
        </p:txBody>
      </p:sp>
      <p:sp>
        <p:nvSpPr>
          <p:cNvPr id="9" name="TextBox 8"/>
          <p:cNvSpPr txBox="1"/>
          <p:nvPr/>
        </p:nvSpPr>
        <p:spPr>
          <a:xfrm>
            <a:off x="8932777" y="2712291"/>
            <a:ext cx="1816908" cy="400110"/>
          </a:xfrm>
          <a:prstGeom prst="rect">
            <a:avLst/>
          </a:prstGeom>
          <a:noFill/>
        </p:spPr>
        <p:txBody>
          <a:bodyPr wrap="none" rtlCol="0">
            <a:spAutoFit/>
          </a:bodyPr>
          <a:lstStyle/>
          <a:p>
            <a:r>
              <a:rPr lang="en-GB" sz="2000" dirty="0" smtClean="0"/>
              <a:t>Absorbed gases</a:t>
            </a:r>
            <a:endParaRPr lang="en-GB" sz="2000" dirty="0"/>
          </a:p>
        </p:txBody>
      </p:sp>
      <p:sp>
        <p:nvSpPr>
          <p:cNvPr id="10" name="TextBox 9"/>
          <p:cNvSpPr txBox="1"/>
          <p:nvPr/>
        </p:nvSpPr>
        <p:spPr>
          <a:xfrm>
            <a:off x="9088659" y="3394445"/>
            <a:ext cx="1351909" cy="400110"/>
          </a:xfrm>
          <a:prstGeom prst="rect">
            <a:avLst/>
          </a:prstGeom>
          <a:noFill/>
        </p:spPr>
        <p:txBody>
          <a:bodyPr wrap="none" rtlCol="0">
            <a:spAutoFit/>
          </a:bodyPr>
          <a:lstStyle/>
          <a:p>
            <a:r>
              <a:rPr lang="en-GB" sz="2000" dirty="0" smtClean="0"/>
              <a:t>Oxide layer</a:t>
            </a:r>
            <a:endParaRPr lang="en-GB" sz="2000" dirty="0"/>
          </a:p>
        </p:txBody>
      </p:sp>
      <p:sp>
        <p:nvSpPr>
          <p:cNvPr id="11" name="TextBox 10"/>
          <p:cNvSpPr txBox="1"/>
          <p:nvPr/>
        </p:nvSpPr>
        <p:spPr>
          <a:xfrm>
            <a:off x="8932777" y="3995084"/>
            <a:ext cx="2070503" cy="400110"/>
          </a:xfrm>
          <a:prstGeom prst="rect">
            <a:avLst/>
          </a:prstGeom>
          <a:noFill/>
        </p:spPr>
        <p:txBody>
          <a:bodyPr wrap="none" rtlCol="0">
            <a:spAutoFit/>
          </a:bodyPr>
          <a:lstStyle/>
          <a:p>
            <a:r>
              <a:rPr lang="en-GB" sz="2000" dirty="0" smtClean="0"/>
              <a:t>Cold-worked layer</a:t>
            </a:r>
            <a:endParaRPr lang="en-GB" sz="2000" dirty="0"/>
          </a:p>
        </p:txBody>
      </p:sp>
      <p:sp>
        <p:nvSpPr>
          <p:cNvPr id="12" name="TextBox 11"/>
          <p:cNvSpPr txBox="1"/>
          <p:nvPr/>
        </p:nvSpPr>
        <p:spPr>
          <a:xfrm>
            <a:off x="8932777" y="5277877"/>
            <a:ext cx="1604606" cy="400110"/>
          </a:xfrm>
          <a:prstGeom prst="rect">
            <a:avLst/>
          </a:prstGeom>
          <a:noFill/>
        </p:spPr>
        <p:txBody>
          <a:bodyPr wrap="none" rtlCol="0">
            <a:spAutoFit/>
          </a:bodyPr>
          <a:lstStyle/>
          <a:p>
            <a:r>
              <a:rPr lang="en-GB" sz="2000" dirty="0" smtClean="0"/>
              <a:t>Base material</a:t>
            </a:r>
            <a:endParaRPr lang="en-GB" sz="2000" dirty="0"/>
          </a:p>
        </p:txBody>
      </p:sp>
      <p:sp>
        <p:nvSpPr>
          <p:cNvPr id="5" name="TextBox 4"/>
          <p:cNvSpPr txBox="1"/>
          <p:nvPr/>
        </p:nvSpPr>
        <p:spPr>
          <a:xfrm>
            <a:off x="1072080" y="3455014"/>
            <a:ext cx="2723240" cy="954107"/>
          </a:xfrm>
          <a:prstGeom prst="rect">
            <a:avLst/>
          </a:prstGeom>
          <a:noFill/>
        </p:spPr>
        <p:txBody>
          <a:bodyPr wrap="square" rtlCol="0">
            <a:spAutoFit/>
          </a:bodyPr>
          <a:lstStyle/>
          <a:p>
            <a:r>
              <a:rPr lang="en-GB" sz="2800" dirty="0" smtClean="0"/>
              <a:t>On top of metallic surfaces:</a:t>
            </a:r>
            <a:endParaRPr lang="en-GB" sz="2800" dirty="0"/>
          </a:p>
        </p:txBody>
      </p:sp>
    </p:spTree>
    <p:extLst>
      <p:ext uri="{BB962C8B-B14F-4D97-AF65-F5344CB8AC3E}">
        <p14:creationId xmlns:p14="http://schemas.microsoft.com/office/powerpoint/2010/main" val="36911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08724"/>
          </a:xfrm>
        </p:spPr>
        <p:txBody>
          <a:bodyPr/>
          <a:lstStyle/>
          <a:p>
            <a:r>
              <a:rPr lang="en-GB" dirty="0"/>
              <a:t>UNIT 4:  Theory of Lubrication</a:t>
            </a:r>
          </a:p>
        </p:txBody>
      </p:sp>
      <p:sp>
        <p:nvSpPr>
          <p:cNvPr id="3" name="Content Placeholder 2"/>
          <p:cNvSpPr>
            <a:spLocks noGrp="1"/>
          </p:cNvSpPr>
          <p:nvPr>
            <p:ph idx="1"/>
          </p:nvPr>
        </p:nvSpPr>
        <p:spPr>
          <a:xfrm>
            <a:off x="838200" y="1346200"/>
            <a:ext cx="10515600" cy="5118539"/>
          </a:xfrm>
        </p:spPr>
        <p:txBody>
          <a:bodyPr>
            <a:normAutofit lnSpcReduction="10000"/>
          </a:bodyPr>
          <a:lstStyle/>
          <a:p>
            <a:pPr marL="0" lvl="0" indent="0">
              <a:lnSpc>
                <a:spcPct val="120000"/>
              </a:lnSpc>
              <a:spcBef>
                <a:spcPts val="0"/>
              </a:spcBef>
              <a:spcAft>
                <a:spcPts val="600"/>
              </a:spcAft>
              <a:buNone/>
            </a:pPr>
            <a:r>
              <a:rPr lang="en-US" b="1" i="1" dirty="0" smtClean="0">
                <a:solidFill>
                  <a:prstClr val="black"/>
                </a:solidFill>
              </a:rPr>
              <a:t>Wear</a:t>
            </a:r>
            <a:endParaRPr lang="en-GB" dirty="0">
              <a:solidFill>
                <a:prstClr val="black"/>
              </a:solidFill>
            </a:endParaRPr>
          </a:p>
          <a:p>
            <a:pPr>
              <a:lnSpc>
                <a:spcPct val="120000"/>
              </a:lnSpc>
              <a:spcBef>
                <a:spcPts val="0"/>
              </a:spcBef>
              <a:spcAft>
                <a:spcPts val="1000"/>
              </a:spcAft>
            </a:pPr>
            <a:r>
              <a:rPr lang="en-GB" dirty="0" smtClean="0"/>
              <a:t>It </a:t>
            </a:r>
            <a:r>
              <a:rPr lang="en-GB" dirty="0"/>
              <a:t>is the progressive loss of material on </a:t>
            </a:r>
            <a:r>
              <a:rPr lang="en-GB" dirty="0" smtClean="0"/>
              <a:t>surface </a:t>
            </a:r>
            <a:r>
              <a:rPr lang="en-GB" dirty="0"/>
              <a:t>of a </a:t>
            </a:r>
            <a:r>
              <a:rPr lang="en-GB" dirty="0">
                <a:solidFill>
                  <a:schemeClr val="accent5"/>
                </a:solidFill>
              </a:rPr>
              <a:t>solid</a:t>
            </a:r>
            <a:r>
              <a:rPr lang="en-GB" dirty="0"/>
              <a:t> body</a:t>
            </a:r>
            <a:r>
              <a:rPr lang="en-GB" dirty="0" smtClean="0"/>
              <a:t>.</a:t>
            </a:r>
          </a:p>
          <a:p>
            <a:pPr>
              <a:lnSpc>
                <a:spcPct val="120000"/>
              </a:lnSpc>
              <a:spcBef>
                <a:spcPts val="0"/>
              </a:spcBef>
              <a:spcAft>
                <a:spcPts val="1000"/>
              </a:spcAft>
            </a:pPr>
            <a:r>
              <a:rPr lang="en-GB" dirty="0" smtClean="0"/>
              <a:t>It is </a:t>
            </a:r>
            <a:r>
              <a:rPr lang="en-GB" dirty="0"/>
              <a:t>due to </a:t>
            </a:r>
            <a:r>
              <a:rPr lang="en-GB" b="1" dirty="0">
                <a:solidFill>
                  <a:srgbClr val="FF0000"/>
                </a:solidFill>
              </a:rPr>
              <a:t>contact</a:t>
            </a:r>
            <a:r>
              <a:rPr lang="en-GB" dirty="0"/>
              <a:t> and </a:t>
            </a:r>
            <a:r>
              <a:rPr lang="en-GB" b="1" dirty="0">
                <a:solidFill>
                  <a:srgbClr val="FF0000"/>
                </a:solidFill>
              </a:rPr>
              <a:t>relative motion</a:t>
            </a:r>
            <a:r>
              <a:rPr lang="en-GB" dirty="0"/>
              <a:t> of a solid body to a </a:t>
            </a:r>
            <a:r>
              <a:rPr lang="en-GB" dirty="0">
                <a:solidFill>
                  <a:schemeClr val="accent5"/>
                </a:solidFill>
              </a:rPr>
              <a:t>solid</a:t>
            </a:r>
            <a:r>
              <a:rPr lang="en-GB" dirty="0"/>
              <a:t>, </a:t>
            </a:r>
            <a:r>
              <a:rPr lang="en-GB" dirty="0">
                <a:solidFill>
                  <a:schemeClr val="accent5"/>
                </a:solidFill>
              </a:rPr>
              <a:t>liquid</a:t>
            </a:r>
            <a:r>
              <a:rPr lang="en-GB" dirty="0"/>
              <a:t> or </a:t>
            </a:r>
            <a:r>
              <a:rPr lang="en-GB" dirty="0">
                <a:solidFill>
                  <a:schemeClr val="accent5"/>
                </a:solidFill>
              </a:rPr>
              <a:t>gas</a:t>
            </a:r>
            <a:r>
              <a:rPr lang="en-GB" dirty="0"/>
              <a:t> </a:t>
            </a:r>
            <a:r>
              <a:rPr lang="en-GB" dirty="0" smtClean="0"/>
              <a:t>medium</a:t>
            </a:r>
          </a:p>
          <a:p>
            <a:pPr>
              <a:lnSpc>
                <a:spcPct val="120000"/>
              </a:lnSpc>
              <a:spcBef>
                <a:spcPts val="0"/>
              </a:spcBef>
              <a:spcAft>
                <a:spcPts val="1000"/>
              </a:spcAft>
            </a:pPr>
            <a:r>
              <a:rPr lang="en-US" b="0" i="1" dirty="0" smtClean="0"/>
              <a:t>It is recognized  by:</a:t>
            </a:r>
          </a:p>
          <a:p>
            <a:pPr marL="1879600" lvl="0" algn="just">
              <a:lnSpc>
                <a:spcPct val="120000"/>
              </a:lnSpc>
              <a:spcAft>
                <a:spcPts val="0"/>
              </a:spcAft>
              <a:buFont typeface="+mj-lt"/>
              <a:buAutoNum type="arabicPeriod"/>
              <a:tabLst>
                <a:tab pos="912495" algn="l"/>
              </a:tabLst>
            </a:pPr>
            <a:r>
              <a:rPr lang="en-GB" dirty="0" smtClean="0">
                <a:ea typeface="Times New Roman" panose="02020603050405020304" pitchFamily="18" charset="0"/>
              </a:rPr>
              <a:t>  Presence </a:t>
            </a:r>
            <a:r>
              <a:rPr lang="en-GB" dirty="0">
                <a:ea typeface="Times New Roman" panose="02020603050405020304" pitchFamily="18" charset="0"/>
              </a:rPr>
              <a:t>of loose particles,</a:t>
            </a:r>
            <a:endParaRPr lang="en-GB" dirty="0">
              <a:ea typeface="Calibri" panose="020F0502020204030204" pitchFamily="34" charset="0"/>
            </a:endParaRPr>
          </a:p>
          <a:p>
            <a:pPr marL="1879600" lvl="0" algn="just">
              <a:lnSpc>
                <a:spcPct val="120000"/>
              </a:lnSpc>
              <a:spcAft>
                <a:spcPts val="0"/>
              </a:spcAft>
              <a:buFont typeface="+mj-lt"/>
              <a:buAutoNum type="arabicPeriod"/>
              <a:tabLst>
                <a:tab pos="912495" algn="l"/>
              </a:tabLst>
            </a:pPr>
            <a:r>
              <a:rPr lang="en-GB" dirty="0" smtClean="0">
                <a:ea typeface="Times New Roman" panose="02020603050405020304" pitchFamily="18" charset="0"/>
              </a:rPr>
              <a:t>  Change </a:t>
            </a:r>
            <a:r>
              <a:rPr lang="en-GB" dirty="0">
                <a:ea typeface="Times New Roman" panose="02020603050405020304" pitchFamily="18" charset="0"/>
              </a:rPr>
              <a:t>in material properties, and</a:t>
            </a:r>
            <a:endParaRPr lang="en-GB" dirty="0">
              <a:ea typeface="Calibri" panose="020F0502020204030204" pitchFamily="34" charset="0"/>
            </a:endParaRPr>
          </a:p>
          <a:p>
            <a:pPr marL="2165350" indent="-514350">
              <a:buFont typeface="+mj-lt"/>
              <a:buAutoNum type="arabicPeriod"/>
            </a:pPr>
            <a:r>
              <a:rPr lang="en-GB" dirty="0">
                <a:ea typeface="Times New Roman" panose="02020603050405020304" pitchFamily="18" charset="0"/>
              </a:rPr>
              <a:t>Change in form.</a:t>
            </a:r>
            <a:endParaRPr lang="en-US" b="0" i="1" dirty="0" smtClean="0"/>
          </a:p>
        </p:txBody>
      </p:sp>
      <p:sp>
        <p:nvSpPr>
          <p:cNvPr id="4" name="Slide Number Placeholder 3"/>
          <p:cNvSpPr>
            <a:spLocks noGrp="1"/>
          </p:cNvSpPr>
          <p:nvPr>
            <p:ph type="sldNum" sz="quarter" idx="12"/>
          </p:nvPr>
        </p:nvSpPr>
        <p:spPr/>
        <p:txBody>
          <a:bodyPr/>
          <a:lstStyle/>
          <a:p>
            <a:fld id="{7E50C373-F1D0-494F-8D6D-366C958B3429}" type="slidenum">
              <a:rPr lang="en-GB" smtClean="0"/>
              <a:pPr/>
              <a:t>31</a:t>
            </a:fld>
            <a:endParaRPr lang="en-GB"/>
          </a:p>
        </p:txBody>
      </p:sp>
    </p:spTree>
    <p:extLst>
      <p:ext uri="{BB962C8B-B14F-4D97-AF65-F5344CB8AC3E}">
        <p14:creationId xmlns:p14="http://schemas.microsoft.com/office/powerpoint/2010/main" val="421048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481724"/>
          </a:xfrm>
        </p:spPr>
        <p:txBody>
          <a:bodyPr>
            <a:normAutofit fontScale="90000"/>
          </a:bodyPr>
          <a:lstStyle/>
          <a:p>
            <a:r>
              <a:rPr lang="en-GB" dirty="0"/>
              <a:t>UNIT 4:  Theory of Lubrication</a:t>
            </a:r>
          </a:p>
        </p:txBody>
      </p:sp>
      <p:sp>
        <p:nvSpPr>
          <p:cNvPr id="3" name="Content Placeholder 2"/>
          <p:cNvSpPr>
            <a:spLocks noGrp="1"/>
          </p:cNvSpPr>
          <p:nvPr>
            <p:ph idx="1"/>
          </p:nvPr>
        </p:nvSpPr>
        <p:spPr>
          <a:xfrm>
            <a:off x="838200" y="1393825"/>
            <a:ext cx="10515600" cy="5070914"/>
          </a:xfrm>
        </p:spPr>
        <p:txBody>
          <a:bodyPr>
            <a:normAutofit fontScale="85000" lnSpcReduction="10000"/>
          </a:bodyPr>
          <a:lstStyle/>
          <a:p>
            <a:pPr marL="0" lvl="0" indent="0">
              <a:lnSpc>
                <a:spcPct val="120000"/>
              </a:lnSpc>
              <a:spcBef>
                <a:spcPts val="0"/>
              </a:spcBef>
              <a:spcAft>
                <a:spcPts val="600"/>
              </a:spcAft>
              <a:buNone/>
            </a:pPr>
            <a:r>
              <a:rPr lang="en-US" b="1" i="1" dirty="0" smtClean="0">
                <a:solidFill>
                  <a:prstClr val="black"/>
                </a:solidFill>
              </a:rPr>
              <a:t>Factors Affecting Wear</a:t>
            </a:r>
            <a:endParaRPr lang="en-GB" dirty="0">
              <a:solidFill>
                <a:prstClr val="black"/>
              </a:solidFill>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Type of motion (sliding, rolling, impact etc.)</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Trend of motion (continuous, intermittent, reversible, oscillation)</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Forces/stresses (compression, tensile, </a:t>
            </a:r>
            <a:r>
              <a:rPr lang="en-GB" dirty="0" err="1">
                <a:latin typeface="Times New Roman" panose="02020603050405020304" pitchFamily="18" charset="0"/>
                <a:ea typeface="Times New Roman" panose="02020603050405020304" pitchFamily="18" charset="0"/>
              </a:rPr>
              <a:t>etc</a:t>
            </a:r>
            <a:r>
              <a:rPr lang="en-GB" dirty="0">
                <a:latin typeface="Times New Roman" panose="02020603050405020304" pitchFamily="18" charset="0"/>
                <a:ea typeface="Times New Roman" panose="02020603050405020304" pitchFamily="18" charset="0"/>
              </a:rPr>
              <a:t>)</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Speed</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Temperature</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Duration or distance travelled</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Properties of material</a:t>
            </a:r>
            <a:endParaRPr lang="en-GB" dirty="0">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mj-lt"/>
              <a:buAutoNum type="arabicPeriod"/>
              <a:tabLst>
                <a:tab pos="912495" algn="l"/>
              </a:tabLst>
            </a:pPr>
            <a:r>
              <a:rPr lang="en-GB" dirty="0">
                <a:latin typeface="Times New Roman" panose="02020603050405020304" pitchFamily="18" charset="0"/>
                <a:ea typeface="Times New Roman" panose="02020603050405020304" pitchFamily="18" charset="0"/>
              </a:rPr>
              <a:t>Form and nature of contact surfaces </a:t>
            </a:r>
            <a:r>
              <a:rPr lang="en-GB" dirty="0" err="1">
                <a:latin typeface="Times New Roman" panose="02020603050405020304" pitchFamily="18" charset="0"/>
                <a:ea typeface="Times New Roman" panose="02020603050405020304" pitchFamily="18" charset="0"/>
              </a:rPr>
              <a:t>eg</a:t>
            </a:r>
            <a:r>
              <a:rPr lang="en-GB" dirty="0">
                <a:latin typeface="Times New Roman" panose="02020603050405020304" pitchFamily="18" charset="0"/>
                <a:ea typeface="Times New Roman" panose="02020603050405020304" pitchFamily="18" charset="0"/>
              </a:rPr>
              <a:t> concave-convex surfaces, roughness</a:t>
            </a:r>
            <a:endParaRPr lang="en-GB" dirty="0">
              <a:latin typeface="Times New Roman" panose="02020603050405020304" pitchFamily="18" charset="0"/>
              <a:ea typeface="Calibri" panose="020F0502020204030204" pitchFamily="34" charset="0"/>
            </a:endParaRPr>
          </a:p>
          <a:p>
            <a:pPr marL="0" indent="0">
              <a:buNone/>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32</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418971"/>
          </a:xfrm>
        </p:spPr>
        <p:txBody>
          <a:bodyPr>
            <a:normAutofit fontScale="90000"/>
          </a:bodyPr>
          <a:lstStyle/>
          <a:p>
            <a:r>
              <a:rPr lang="en-GB" dirty="0"/>
              <a:t>UNIT 4:  Theory of Lubrication</a:t>
            </a:r>
          </a:p>
        </p:txBody>
      </p:sp>
      <p:sp>
        <p:nvSpPr>
          <p:cNvPr id="3" name="Content Placeholder 2"/>
          <p:cNvSpPr>
            <a:spLocks noGrp="1"/>
          </p:cNvSpPr>
          <p:nvPr>
            <p:ph idx="1"/>
          </p:nvPr>
        </p:nvSpPr>
        <p:spPr>
          <a:xfrm>
            <a:off x="838200" y="1317812"/>
            <a:ext cx="10515600" cy="5146927"/>
          </a:xfrm>
        </p:spPr>
        <p:txBody>
          <a:bodyPr>
            <a:normAutofit fontScale="85000" lnSpcReduction="10000"/>
          </a:bodyPr>
          <a:lstStyle/>
          <a:p>
            <a:pPr marL="0" lvl="0" indent="0">
              <a:lnSpc>
                <a:spcPct val="120000"/>
              </a:lnSpc>
              <a:spcBef>
                <a:spcPts val="0"/>
              </a:spcBef>
              <a:spcAft>
                <a:spcPts val="600"/>
              </a:spcAft>
              <a:buNone/>
            </a:pPr>
            <a:r>
              <a:rPr lang="en-US" b="1" i="1" dirty="0" smtClean="0">
                <a:solidFill>
                  <a:prstClr val="black"/>
                </a:solidFill>
              </a:rPr>
              <a:t>Types of Wear (Mechanisms of Wear)</a:t>
            </a:r>
            <a:endParaRPr lang="en-GB" dirty="0">
              <a:solidFill>
                <a:prstClr val="black"/>
              </a:solidFill>
            </a:endParaRPr>
          </a:p>
          <a:p>
            <a:pPr marL="514350" indent="-514350">
              <a:lnSpc>
                <a:spcPct val="120000"/>
              </a:lnSpc>
              <a:buFont typeface="+mj-lt"/>
              <a:buAutoNum type="arabicPeriod"/>
            </a:pPr>
            <a:r>
              <a:rPr lang="en-GB" u="sng" dirty="0">
                <a:ea typeface="Times New Roman" panose="02020603050405020304" pitchFamily="18" charset="0"/>
              </a:rPr>
              <a:t>Tribo-oxidation</a:t>
            </a:r>
            <a:r>
              <a:rPr lang="en-GB" dirty="0">
                <a:ea typeface="Times New Roman" panose="02020603050405020304" pitchFamily="18" charset="0"/>
              </a:rPr>
              <a:t> (Oxidative Wear</a:t>
            </a:r>
            <a:r>
              <a:rPr lang="en-GB" dirty="0" smtClean="0">
                <a:ea typeface="Times New Roman" panose="02020603050405020304" pitchFamily="18" charset="0"/>
              </a:rPr>
              <a:t>) is the removal of oxide-layer (layer activated by surface friction, medium and environment)</a:t>
            </a:r>
          </a:p>
          <a:p>
            <a:pPr marL="514350" indent="-514350">
              <a:lnSpc>
                <a:spcPct val="120000"/>
              </a:lnSpc>
              <a:buFont typeface="+mj-lt"/>
              <a:buAutoNum type="arabicPeriod"/>
            </a:pPr>
            <a:r>
              <a:rPr lang="en-GB" u="sng" dirty="0">
                <a:ea typeface="Times New Roman" panose="02020603050405020304" pitchFamily="18" charset="0"/>
              </a:rPr>
              <a:t>Adhesive </a:t>
            </a:r>
            <a:r>
              <a:rPr lang="en-GB" u="sng" dirty="0" smtClean="0">
                <a:ea typeface="Times New Roman" panose="02020603050405020304" pitchFamily="18" charset="0"/>
              </a:rPr>
              <a:t>Wear</a:t>
            </a:r>
            <a:r>
              <a:rPr lang="en-GB" dirty="0" smtClean="0">
                <a:ea typeface="Times New Roman" panose="02020603050405020304" pitchFamily="18" charset="0"/>
              </a:rPr>
              <a:t> is </a:t>
            </a:r>
            <a:r>
              <a:rPr lang="en-GB" dirty="0" smtClean="0"/>
              <a:t>characterised </a:t>
            </a:r>
            <a:r>
              <a:rPr lang="en-GB" dirty="0"/>
              <a:t>by </a:t>
            </a:r>
            <a:r>
              <a:rPr lang="en-GB" dirty="0" smtClean="0"/>
              <a:t>building </a:t>
            </a:r>
            <a:r>
              <a:rPr lang="en-GB" dirty="0"/>
              <a:t>and breaking down of “welded” </a:t>
            </a:r>
            <a:r>
              <a:rPr lang="en-GB" dirty="0" smtClean="0"/>
              <a:t>bridges (First, requires </a:t>
            </a:r>
            <a:r>
              <a:rPr lang="en-GB" dirty="0"/>
              <a:t>the break-down of the </a:t>
            </a:r>
            <a:r>
              <a:rPr lang="en-GB" dirty="0" smtClean="0"/>
              <a:t>oxide-layer)</a:t>
            </a:r>
            <a:endParaRPr lang="en-GB" u="sng" dirty="0" smtClean="0">
              <a:ea typeface="Times New Roman" panose="02020603050405020304" pitchFamily="18" charset="0"/>
            </a:endParaRPr>
          </a:p>
          <a:p>
            <a:pPr marL="514350" indent="-514350">
              <a:lnSpc>
                <a:spcPct val="120000"/>
              </a:lnSpc>
              <a:buFont typeface="+mj-lt"/>
              <a:buAutoNum type="arabicPeriod"/>
            </a:pPr>
            <a:r>
              <a:rPr lang="en-GB" u="sng" dirty="0"/>
              <a:t>Abrasive </a:t>
            </a:r>
            <a:r>
              <a:rPr lang="en-GB" u="sng" dirty="0" smtClean="0"/>
              <a:t>Wear</a:t>
            </a:r>
            <a:r>
              <a:rPr lang="en-GB" dirty="0" smtClean="0"/>
              <a:t> </a:t>
            </a:r>
            <a:r>
              <a:rPr lang="en-GB" dirty="0"/>
              <a:t>caused either by </a:t>
            </a:r>
            <a:r>
              <a:rPr lang="en-GB" i="1" u="sng" dirty="0"/>
              <a:t>hard tips</a:t>
            </a:r>
            <a:r>
              <a:rPr lang="en-GB" dirty="0"/>
              <a:t> surface-profile </a:t>
            </a:r>
            <a:r>
              <a:rPr lang="en-GB" dirty="0" smtClean="0"/>
              <a:t>or </a:t>
            </a:r>
            <a:r>
              <a:rPr lang="en-GB" dirty="0"/>
              <a:t>by the presence of hard foreign particles</a:t>
            </a:r>
            <a:endParaRPr lang="en-GB" u="sng" dirty="0" smtClean="0"/>
          </a:p>
          <a:p>
            <a:pPr marL="514350" indent="-514350">
              <a:lnSpc>
                <a:spcPct val="120000"/>
              </a:lnSpc>
              <a:buFont typeface="+mj-lt"/>
              <a:buAutoNum type="arabicPeriod"/>
            </a:pPr>
            <a:r>
              <a:rPr lang="en-GB" u="sng" dirty="0"/>
              <a:t>Surface Disruption</a:t>
            </a:r>
            <a:r>
              <a:rPr lang="en-GB" dirty="0"/>
              <a:t> (surface fatigue</a:t>
            </a:r>
            <a:r>
              <a:rPr lang="en-GB" dirty="0" smtClean="0"/>
              <a:t>) </a:t>
            </a:r>
            <a:r>
              <a:rPr lang="en-GB" dirty="0"/>
              <a:t>characterised by micro-cracks and breaking away of surface particles due to </a:t>
            </a:r>
            <a:r>
              <a:rPr lang="en-GB" i="1" u="sng" dirty="0"/>
              <a:t>alternating mechanical stress</a:t>
            </a:r>
            <a:r>
              <a:rPr lang="en-GB" dirty="0"/>
              <a:t> </a:t>
            </a:r>
            <a:r>
              <a:rPr lang="en-GB" dirty="0" smtClean="0"/>
              <a:t>. E.g..  pitting </a:t>
            </a:r>
            <a:endParaRPr lang="en-US" dirty="0" smtClean="0"/>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33</a:t>
            </a:fld>
            <a:endParaRPr lang="en-GB"/>
          </a:p>
        </p:txBody>
      </p:sp>
    </p:spTree>
    <p:extLst>
      <p:ext uri="{BB962C8B-B14F-4D97-AF65-F5344CB8AC3E}">
        <p14:creationId xmlns:p14="http://schemas.microsoft.com/office/powerpoint/2010/main" val="154987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Theory of Lubrication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pPr marL="0" indent="0">
                  <a:buNone/>
                </a:pPr>
                <a:r>
                  <a:rPr lang="en-US" b="1" i="1" dirty="0" smtClean="0"/>
                  <a:t>Units of Wear</a:t>
                </a:r>
              </a:p>
              <a:p>
                <a:pPr marL="712788">
                  <a:lnSpc>
                    <a:spcPct val="120000"/>
                  </a:lnSpc>
                  <a:spcBef>
                    <a:spcPts val="600"/>
                  </a:spcBef>
                </a:pPr>
                <a:r>
                  <a:rPr lang="en-GB" b="1" i="1" dirty="0"/>
                  <a:t>coefficient of wear, k,</a:t>
                </a:r>
                <a:r>
                  <a:rPr lang="en-GB" dirty="0"/>
                  <a:t> is the most frequent applied wear </a:t>
                </a:r>
                <a:r>
                  <a:rPr lang="en-GB" dirty="0" smtClean="0"/>
                  <a:t>characteristic </a:t>
                </a:r>
                <a:r>
                  <a:rPr lang="en-GB" dirty="0"/>
                  <a:t>parameter involving paired </a:t>
                </a:r>
                <a:r>
                  <a:rPr lang="en-GB" dirty="0" smtClean="0"/>
                  <a:t>materials:</a:t>
                </a:r>
              </a:p>
              <a:p>
                <a:pPr marL="0" indent="0" algn="just">
                  <a:lnSpc>
                    <a:spcPct val="120000"/>
                  </a:lnSpc>
                  <a:spcAft>
                    <a:spcPts val="600"/>
                  </a:spcAft>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Times New Roman" panose="02020603050405020304" pitchFamily="18" charset="0"/>
                        </a:rPr>
                        <m:t>𝑘</m:t>
                      </m:r>
                      <m:r>
                        <a:rPr lang="en-GB" i="1">
                          <a:latin typeface="Cambria Math" panose="02040503050406030204" pitchFamily="18" charset="0"/>
                          <a:ea typeface="Times New Roman" panose="02020603050405020304" pitchFamily="18" charset="0"/>
                        </a:rPr>
                        <m:t>=</m:t>
                      </m:r>
                      <m:f>
                        <m:fPr>
                          <m:ctrlPr>
                            <a:rPr lang="en-GB" i="1">
                              <a:effectLst/>
                              <a:latin typeface="Cambria Math" panose="02040503050406030204" pitchFamily="18" charset="0"/>
                              <a:ea typeface="Times New Roman" panose="02020603050405020304" pitchFamily="18" charset="0"/>
                            </a:rPr>
                          </m:ctrlPr>
                        </m:fPr>
                        <m:num>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𝑊</m:t>
                              </m:r>
                            </m:e>
                            <m:sub>
                              <m:r>
                                <a:rPr lang="en-GB" i="1">
                                  <a:effectLst/>
                                  <a:latin typeface="Cambria Math" panose="02040503050406030204" pitchFamily="18" charset="0"/>
                                  <a:ea typeface="Times New Roman" panose="02020603050405020304" pitchFamily="18" charset="0"/>
                                </a:rPr>
                                <m:t>𝑉</m:t>
                              </m:r>
                            </m:sub>
                          </m:sSub>
                        </m:num>
                        <m:den>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𝐹</m:t>
                              </m:r>
                            </m:e>
                            <m:sub>
                              <m:r>
                                <a:rPr lang="en-GB" i="1">
                                  <a:effectLst/>
                                  <a:latin typeface="Cambria Math" panose="02040503050406030204" pitchFamily="18" charset="0"/>
                                  <a:ea typeface="Times New Roman" panose="02020603050405020304" pitchFamily="18" charset="0"/>
                                </a:rPr>
                                <m:t>𝑁</m:t>
                              </m:r>
                            </m:sub>
                          </m:sSub>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𝑠</m:t>
                          </m:r>
                        </m:den>
                      </m:f>
                      <m:r>
                        <a:rPr lang="en-GB" i="1">
                          <a:effectLst/>
                          <a:latin typeface="Cambria Math" panose="02040503050406030204" pitchFamily="18" charset="0"/>
                          <a:ea typeface="Times New Roman" panose="02020603050405020304" pitchFamily="18" charset="0"/>
                        </a:rPr>
                        <m:t>=</m:t>
                      </m:r>
                      <m:f>
                        <m:fPr>
                          <m:ctrlPr>
                            <a:rPr lang="en-GB" i="1">
                              <a:effectLst/>
                              <a:latin typeface="Cambria Math" panose="02040503050406030204" pitchFamily="18" charset="0"/>
                              <a:ea typeface="Times New Roman" panose="02020603050405020304" pitchFamily="18" charset="0"/>
                            </a:rPr>
                          </m:ctrlPr>
                        </m:fPr>
                        <m:num>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𝑊</m:t>
                              </m:r>
                            </m:e>
                            <m:sub>
                              <m:r>
                                <a:rPr lang="en-GB" i="1">
                                  <a:effectLst/>
                                  <a:latin typeface="Cambria Math" panose="02040503050406030204" pitchFamily="18" charset="0"/>
                                  <a:ea typeface="Times New Roman" panose="02020603050405020304" pitchFamily="18" charset="0"/>
                                </a:rPr>
                                <m:t>𝐿</m:t>
                              </m:r>
                            </m:sub>
                          </m:sSub>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𝐴</m:t>
                          </m:r>
                        </m:num>
                        <m:den>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𝐹</m:t>
                              </m:r>
                            </m:e>
                            <m:sub>
                              <m:r>
                                <a:rPr lang="en-GB" i="1">
                                  <a:effectLst/>
                                  <a:latin typeface="Cambria Math" panose="02040503050406030204" pitchFamily="18" charset="0"/>
                                  <a:ea typeface="Times New Roman" panose="02020603050405020304" pitchFamily="18" charset="0"/>
                                </a:rPr>
                                <m:t>𝑁</m:t>
                              </m:r>
                            </m:sub>
                          </m:sSub>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𝑠</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𝐿</m:t>
                              </m:r>
                            </m:sub>
                          </m:sSub>
                        </m:num>
                        <m:den>
                          <m:d>
                            <m:dPr>
                              <m:ctrlPr>
                                <a:rPr lang="en-GB" i="1">
                                  <a:latin typeface="Cambria Math" panose="02040503050406030204" pitchFamily="18" charset="0"/>
                                </a:rPr>
                              </m:ctrlPr>
                            </m:dPr>
                            <m:e>
                              <m:f>
                                <m:fPr>
                                  <m:type m:val="lin"/>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𝑁</m:t>
                                      </m:r>
                                    </m:sub>
                                  </m:sSub>
                                </m:num>
                                <m:den>
                                  <m:r>
                                    <a:rPr lang="en-GB" i="1">
                                      <a:latin typeface="Cambria Math" panose="02040503050406030204" pitchFamily="18" charset="0"/>
                                    </a:rPr>
                                    <m:t>𝐴</m:t>
                                  </m:r>
                                </m:den>
                              </m:f>
                            </m:e>
                          </m:d>
                          <m:r>
                            <a:rPr lang="en-GB" i="1">
                              <a:latin typeface="Cambria Math" panose="02040503050406030204" pitchFamily="18" charset="0"/>
                            </a:rPr>
                            <m:t>𝑠</m:t>
                          </m:r>
                        </m:den>
                      </m:f>
                      <m:r>
                        <a:rPr lang="en-US" b="0" i="1" smtClean="0">
                          <a:latin typeface="Cambria Math" panose="02040503050406030204" pitchFamily="18" charset="0"/>
                        </a:rPr>
                        <m:t>,       </m:t>
                      </m:r>
                      <m:d>
                        <m:dPr>
                          <m:begChr m:val="["/>
                          <m:endChr m:val="]"/>
                          <m:ctrlPr>
                            <a:rPr lang="en-GB" i="1">
                              <a:effectLst/>
                              <a:latin typeface="Cambria Math" panose="02040503050406030204" pitchFamily="18" charset="0"/>
                              <a:ea typeface="Times New Roman" panose="02020603050405020304" pitchFamily="18" charset="0"/>
                            </a:rPr>
                          </m:ctrlPr>
                        </m:dPr>
                        <m:e>
                          <m:f>
                            <m:fPr>
                              <m:ctrlPr>
                                <a:rPr lang="en-GB" i="1">
                                  <a:effectLst/>
                                  <a:latin typeface="Cambria Math" panose="02040503050406030204" pitchFamily="18" charset="0"/>
                                  <a:ea typeface="Times New Roman" panose="02020603050405020304" pitchFamily="18" charset="0"/>
                                </a:rPr>
                              </m:ctrlPr>
                            </m:fPr>
                            <m:num>
                              <m:sSup>
                                <m:sSupPr>
                                  <m:ctrlPr>
                                    <a:rPr lang="en-GB" i="1">
                                      <a:effectLst/>
                                      <a:latin typeface="Cambria Math" panose="02040503050406030204" pitchFamily="18" charset="0"/>
                                      <a:ea typeface="Times New Roman" panose="02020603050405020304" pitchFamily="18" charset="0"/>
                                    </a:rPr>
                                  </m:ctrlPr>
                                </m:sSupPr>
                                <m:e>
                                  <m:r>
                                    <a:rPr lang="en-GB" i="1">
                                      <a:effectLst/>
                                      <a:latin typeface="Cambria Math" panose="02040503050406030204" pitchFamily="18" charset="0"/>
                                      <a:ea typeface="Times New Roman" panose="02020603050405020304" pitchFamily="18" charset="0"/>
                                    </a:rPr>
                                    <m:t>10</m:t>
                                  </m:r>
                                </m:e>
                                <m:sup>
                                  <m:r>
                                    <a:rPr lang="en-GB" i="1">
                                      <a:effectLst/>
                                      <a:latin typeface="Cambria Math" panose="02040503050406030204" pitchFamily="18" charset="0"/>
                                      <a:ea typeface="Times New Roman" panose="02020603050405020304" pitchFamily="18" charset="0"/>
                                    </a:rPr>
                                    <m:t>−5</m:t>
                                  </m:r>
                                </m:sup>
                              </m:sSup>
                              <m:sSup>
                                <m:sSupPr>
                                  <m:ctrlPr>
                                    <a:rPr lang="en-GB" i="1">
                                      <a:effectLst/>
                                      <a:latin typeface="Cambria Math" panose="02040503050406030204" pitchFamily="18" charset="0"/>
                                      <a:ea typeface="Times New Roman" panose="02020603050405020304" pitchFamily="18" charset="0"/>
                                    </a:rPr>
                                  </m:ctrlPr>
                                </m:sSupPr>
                                <m:e>
                                  <m:r>
                                    <a:rPr lang="en-GB" i="1">
                                      <a:effectLst/>
                                      <a:latin typeface="Cambria Math" panose="02040503050406030204" pitchFamily="18" charset="0"/>
                                      <a:ea typeface="Times New Roman" panose="02020603050405020304" pitchFamily="18" charset="0"/>
                                    </a:rPr>
                                    <m:t>𝑚𝑚</m:t>
                                  </m:r>
                                </m:e>
                                <m:sup>
                                  <m:r>
                                    <a:rPr lang="en-GB" i="1">
                                      <a:effectLst/>
                                      <a:latin typeface="Cambria Math" panose="02040503050406030204" pitchFamily="18" charset="0"/>
                                      <a:ea typeface="Times New Roman" panose="02020603050405020304" pitchFamily="18" charset="0"/>
                                    </a:rPr>
                                    <m:t>3</m:t>
                                  </m:r>
                                </m:sup>
                              </m:sSup>
                            </m:num>
                            <m:den>
                              <m:r>
                                <a:rPr lang="en-GB" i="1">
                                  <a:effectLst/>
                                  <a:latin typeface="Cambria Math" panose="02040503050406030204" pitchFamily="18" charset="0"/>
                                  <a:ea typeface="Times New Roman" panose="02020603050405020304" pitchFamily="18" charset="0"/>
                                </a:rPr>
                                <m:t>𝑁𝑚</m:t>
                              </m:r>
                            </m:den>
                          </m:f>
                        </m:e>
                      </m:d>
                    </m:oMath>
                  </m:oMathPara>
                </a14:m>
                <a:endParaRPr lang="en-GB" dirty="0">
                  <a:effectLst/>
                  <a:latin typeface="Times New Roman" panose="02020603050405020304" pitchFamily="18" charset="0"/>
                  <a:ea typeface="Calibri" panose="020F0502020204030204" pitchFamily="34" charset="0"/>
                </a:endParaRPr>
              </a:p>
              <a:p>
                <a:pPr marL="538163" indent="0" algn="just">
                  <a:lnSpc>
                    <a:spcPct val="120000"/>
                  </a:lnSpc>
                  <a:spcAft>
                    <a:spcPts val="600"/>
                  </a:spcAft>
                  <a:buNone/>
                </a:pPr>
                <a:r>
                  <a:rPr lang="en-GB" dirty="0" smtClean="0">
                    <a:effectLst/>
                    <a:latin typeface="Times New Roman" panose="02020603050405020304" pitchFamily="18" charset="0"/>
                    <a:ea typeface="Times New Roman" panose="02020603050405020304" pitchFamily="18" charset="0"/>
                  </a:rPr>
                  <a:t>Where</a:t>
                </a:r>
                <a:endParaRPr lang="en-GB" dirty="0">
                  <a:effectLst/>
                  <a:latin typeface="Times New Roman" panose="02020603050405020304" pitchFamily="18" charset="0"/>
                  <a:ea typeface="Calibri" panose="020F0502020204030204" pitchFamily="34" charset="0"/>
                </a:endParaRPr>
              </a:p>
              <a:p>
                <a:pPr marL="0" indent="0" algn="just">
                  <a:lnSpc>
                    <a:spcPct val="120000"/>
                  </a:lnSpc>
                  <a:spcAft>
                    <a:spcPts val="0"/>
                  </a:spcAft>
                  <a:buNone/>
                </a:pPr>
                <a14:m>
                  <m:oMathPara xmlns:m="http://schemas.openxmlformats.org/officeDocument/2006/math">
                    <m:oMathParaPr>
                      <m:jc m:val="centerGroup"/>
                    </m:oMathParaPr>
                    <m:oMath xmlns:m="http://schemas.openxmlformats.org/officeDocument/2006/math">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𝑊</m:t>
                          </m:r>
                        </m:e>
                        <m:sub>
                          <m:r>
                            <a:rPr lang="en-GB" i="1">
                              <a:effectLst/>
                              <a:latin typeface="Cambria Math" panose="02040503050406030204" pitchFamily="18" charset="0"/>
                              <a:ea typeface="Times New Roman" panose="02020603050405020304" pitchFamily="18" charset="0"/>
                            </a:rPr>
                            <m:t>𝑉</m:t>
                          </m:r>
                        </m:sub>
                      </m:sSub>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𝑉𝑜𝑙𝑢𝑚𝑒𝑡𝑟𝑖𝑐</m:t>
                      </m:r>
                      <m:r>
                        <a:rPr lang="en-GB" i="1">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𝑤𝑒𝑎𝑟</m:t>
                      </m:r>
                      <m:r>
                        <a:rPr lang="en-US" b="0" i="1" smtClean="0">
                          <a:effectLst/>
                          <a:latin typeface="Cambria Math" panose="02040503050406030204" pitchFamily="18" charset="0"/>
                          <a:ea typeface="Times New Roman" panose="02020603050405020304" pitchFamily="18" charset="0"/>
                        </a:rPr>
                        <m:t>,  </m:t>
                      </m:r>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𝑊</m:t>
                          </m:r>
                        </m:e>
                        <m:sub>
                          <m:r>
                            <a:rPr lang="en-GB" i="1">
                              <a:effectLst/>
                              <a:latin typeface="Cambria Math" panose="02040503050406030204" pitchFamily="18" charset="0"/>
                              <a:ea typeface="Times New Roman" panose="02020603050405020304" pitchFamily="18" charset="0"/>
                            </a:rPr>
                            <m:t>𝐿</m:t>
                          </m:r>
                        </m:sub>
                      </m:sSub>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𝐿𝑖𝑛𝑒𝑎𝑟</m:t>
                      </m:r>
                      <m:r>
                        <a:rPr lang="en-GB" i="1">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𝑤𝑒𝑎𝑟</m:t>
                      </m:r>
                      <m:r>
                        <a:rPr lang="en-US" b="0" i="1" smtClean="0">
                          <a:effectLst/>
                          <a:latin typeface="Cambria Math" panose="02040503050406030204" pitchFamily="18" charset="0"/>
                          <a:ea typeface="Times New Roman" panose="02020603050405020304" pitchFamily="18" charset="0"/>
                        </a:rPr>
                        <m:t> (</m:t>
                      </m:r>
                      <m:r>
                        <a:rPr lang="en-US" b="0" i="1" smtClean="0">
                          <a:effectLst/>
                          <a:latin typeface="Cambria Math" panose="02040503050406030204" pitchFamily="18" charset="0"/>
                          <a:ea typeface="Times New Roman" panose="02020603050405020304" pitchFamily="18" charset="0"/>
                        </a:rPr>
                        <m:t>𝑑𝑒𝑝𝑡h</m:t>
                      </m:r>
                      <m:r>
                        <a:rPr lang="en-US" b="0" i="1" smtClean="0">
                          <a:effectLst/>
                          <a:latin typeface="Cambria Math" panose="02040503050406030204" pitchFamily="18" charset="0"/>
                          <a:ea typeface="Times New Roman" panose="02020603050405020304" pitchFamily="18" charset="0"/>
                        </a:rPr>
                        <m:t>)</m:t>
                      </m:r>
                    </m:oMath>
                  </m:oMathPara>
                </a14:m>
                <a:endParaRPr lang="en-GB" dirty="0">
                  <a:effectLst/>
                  <a:latin typeface="Times New Roman" panose="02020603050405020304" pitchFamily="18" charset="0"/>
                  <a:ea typeface="Calibri" panose="020F0502020204030204" pitchFamily="34" charset="0"/>
                </a:endParaRPr>
              </a:p>
              <a:p>
                <a:pPr marL="2021840" indent="0" algn="just">
                  <a:lnSpc>
                    <a:spcPct val="120000"/>
                  </a:lnSpc>
                  <a:spcAft>
                    <a:spcPts val="0"/>
                  </a:spcAft>
                  <a:buNone/>
                </a:pPr>
                <a14:m>
                  <m:oMathPara xmlns:m="http://schemas.openxmlformats.org/officeDocument/2006/math">
                    <m:oMathParaPr>
                      <m:jc m:val="centerGroup"/>
                    </m:oMathParaPr>
                    <m:oMath xmlns:m="http://schemas.openxmlformats.org/officeDocument/2006/math">
                      <m:r>
                        <a:rPr lang="en-GB" i="1">
                          <a:effectLst/>
                          <a:latin typeface="Cambria Math" panose="02040503050406030204" pitchFamily="18" charset="0"/>
                          <a:ea typeface="Times New Roman" panose="02020603050405020304" pitchFamily="18" charset="0"/>
                        </a:rPr>
                        <m:t>𝑠</m:t>
                      </m:r>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𝑆𝑙𝑖𝑑𝑖𝑛𝑔</m:t>
                      </m:r>
                      <m:r>
                        <a:rPr lang="en-GB" i="1">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𝑑𝑖𝑠𝑡𝑎𝑛𝑐𝑒</m:t>
                      </m:r>
                      <m:r>
                        <a:rPr lang="en-US" b="0" i="1" smtClean="0">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𝑝</m:t>
                      </m:r>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𝑃𝑟𝑒𝑠𝑠𝑢𝑟𝑒</m:t>
                      </m:r>
                    </m:oMath>
                  </m:oMathPara>
                </a14:m>
                <a:endParaRPr lang="en-US" i="1" dirty="0" smtClean="0">
                  <a:effectLst/>
                  <a:latin typeface="Cambria Math" panose="02040503050406030204" pitchFamily="18" charset="0"/>
                  <a:ea typeface="Times New Roman" panose="02020603050405020304" pitchFamily="18" charset="0"/>
                </a:endParaRPr>
              </a:p>
              <a:p>
                <a:pPr marL="2021840" indent="0" algn="just">
                  <a:lnSpc>
                    <a:spcPct val="120000"/>
                  </a:lnSpc>
                  <a:spcAft>
                    <a:spcPts val="0"/>
                  </a:spcAft>
                  <a:buNone/>
                </a:pPr>
                <a14:m>
                  <m:oMathPara xmlns:m="http://schemas.openxmlformats.org/officeDocument/2006/math">
                    <m:oMathParaPr>
                      <m:jc m:val="centerGroup"/>
                    </m:oMathParaPr>
                    <m:oMath xmlns:m="http://schemas.openxmlformats.org/officeDocument/2006/math">
                      <m:sSub>
                        <m:sSubPr>
                          <m:ctrlPr>
                            <a:rPr lang="en-GB" i="1">
                              <a:effectLst/>
                              <a:latin typeface="Cambria Math" panose="02040503050406030204" pitchFamily="18" charset="0"/>
                              <a:ea typeface="Times New Roman" panose="02020603050405020304" pitchFamily="18" charset="0"/>
                            </a:rPr>
                          </m:ctrlPr>
                        </m:sSubPr>
                        <m:e>
                          <m:r>
                            <a:rPr lang="en-GB" i="1">
                              <a:effectLst/>
                              <a:latin typeface="Cambria Math" panose="02040503050406030204" pitchFamily="18" charset="0"/>
                              <a:ea typeface="Times New Roman" panose="02020603050405020304" pitchFamily="18" charset="0"/>
                            </a:rPr>
                            <m:t>𝐹</m:t>
                          </m:r>
                        </m:e>
                        <m:sub>
                          <m:r>
                            <a:rPr lang="en-GB" i="1">
                              <a:effectLst/>
                              <a:latin typeface="Cambria Math" panose="02040503050406030204" pitchFamily="18" charset="0"/>
                              <a:ea typeface="Times New Roman" panose="02020603050405020304" pitchFamily="18" charset="0"/>
                            </a:rPr>
                            <m:t>𝑁</m:t>
                          </m:r>
                        </m:sub>
                      </m:sSub>
                      <m:r>
                        <a:rPr lang="en-GB" i="1">
                          <a:effectLst/>
                          <a:latin typeface="Cambria Math" panose="02040503050406030204" pitchFamily="18" charset="0"/>
                          <a:ea typeface="Times New Roman" panose="02020603050405020304" pitchFamily="18" charset="0"/>
                        </a:rPr>
                        <m:t>=</m:t>
                      </m:r>
                      <m:r>
                        <a:rPr lang="en-GB" i="1">
                          <a:latin typeface="Cambria Math" panose="02040503050406030204" pitchFamily="18" charset="0"/>
                          <a:ea typeface="Times New Roman" panose="02020603050405020304" pitchFamily="18" charset="0"/>
                        </a:rPr>
                        <m:t>𝑝</m:t>
                      </m:r>
                      <m:r>
                        <a:rPr lang="en-GB" i="1">
                          <a:latin typeface="Cambria Math" panose="02040503050406030204" pitchFamily="18" charset="0"/>
                          <a:ea typeface="Times New Roman" panose="02020603050405020304" pitchFamily="18" charset="0"/>
                        </a:rPr>
                        <m:t>.</m:t>
                      </m:r>
                      <m:r>
                        <a:rPr lang="en-GB" i="1">
                          <a:latin typeface="Cambria Math" panose="02040503050406030204" pitchFamily="18" charset="0"/>
                          <a:ea typeface="Times New Roman" panose="02020603050405020304" pitchFamily="18" charset="0"/>
                        </a:rPr>
                        <m:t>𝐴</m:t>
                      </m:r>
                      <m:r>
                        <a:rPr lang="en-US" b="0" i="1" smtClean="0">
                          <a:latin typeface="Cambria Math" panose="02040503050406030204" pitchFamily="18" charset="0"/>
                          <a:ea typeface="Times New Roman" panose="02020603050405020304" pitchFamily="18" charset="0"/>
                        </a:rPr>
                        <m:t>   </m:t>
                      </m:r>
                      <m:r>
                        <a:rPr lang="en-US" b="0" i="1" smtClean="0">
                          <a:latin typeface="Cambria Math" panose="02040503050406030204" pitchFamily="18" charset="0"/>
                          <a:ea typeface="Times New Roman" panose="02020603050405020304" pitchFamily="18" charset="0"/>
                        </a:rPr>
                        <m:t>𝑁𝑜𝑟𝑚𝑎𝑙</m:t>
                      </m:r>
                      <m:r>
                        <a:rPr lang="en-GB" i="1">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𝑓𝑜𝑟𝑐𝑒</m:t>
                      </m:r>
                      <m:r>
                        <a:rPr lang="en-US" b="0" i="1" smtClean="0">
                          <a:effectLst/>
                          <a:latin typeface="Cambria Math" panose="02040503050406030204" pitchFamily="18" charset="0"/>
                          <a:ea typeface="Times New Roman" panose="02020603050405020304" pitchFamily="18" charset="0"/>
                        </a:rPr>
                        <m:t>,    </m:t>
                      </m:r>
                      <m:r>
                        <a:rPr lang="en-GB" i="1">
                          <a:effectLst/>
                          <a:latin typeface="Cambria Math" panose="02040503050406030204" pitchFamily="18" charset="0"/>
                          <a:ea typeface="Times New Roman" panose="02020603050405020304" pitchFamily="18" charset="0"/>
                        </a:rPr>
                        <m:t>𝐴</m:t>
                      </m:r>
                      <m:r>
                        <a:rPr lang="en-GB" i="1">
                          <a:effectLst/>
                          <a:latin typeface="Cambria Math" panose="02040503050406030204" pitchFamily="18" charset="0"/>
                          <a:ea typeface="Times New Roman" panose="02020603050405020304" pitchFamily="18" charset="0"/>
                        </a:rPr>
                        <m:t>=</m:t>
                      </m:r>
                      <m:r>
                        <a:rPr lang="en-GB" i="1">
                          <a:effectLst/>
                          <a:latin typeface="Cambria Math" panose="02040503050406030204" pitchFamily="18" charset="0"/>
                          <a:ea typeface="Times New Roman" panose="02020603050405020304" pitchFamily="18" charset="0"/>
                        </a:rPr>
                        <m:t>𝐴𝑟𝑒𝑎</m:t>
                      </m:r>
                    </m:oMath>
                  </m:oMathPara>
                </a14:m>
                <a:endParaRPr lang="en-GB" dirty="0">
                  <a:effectLst/>
                  <a:latin typeface="Times New Roman" panose="02020603050405020304" pitchFamily="18" charset="0"/>
                  <a:ea typeface="Calibri" panose="020F0502020204030204" pitchFamily="34" charset="0"/>
                </a:endParaRPr>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28" t="-280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34</a:t>
            </a:fld>
            <a:endParaRPr lang="en-GB"/>
          </a:p>
        </p:txBody>
      </p:sp>
    </p:spTree>
    <p:extLst>
      <p:ext uri="{BB962C8B-B14F-4D97-AF65-F5344CB8AC3E}">
        <p14:creationId xmlns:p14="http://schemas.microsoft.com/office/powerpoint/2010/main" val="117313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Theory of Lubrication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lnSpc>
                    <a:spcPct val="110000"/>
                  </a:lnSpc>
                  <a:buNone/>
                </a:pPr>
                <a:r>
                  <a:rPr lang="en-US" b="1" i="1" dirty="0" smtClean="0"/>
                  <a:t>Units of Wear</a:t>
                </a:r>
              </a:p>
              <a:p>
                <a:pPr>
                  <a:lnSpc>
                    <a:spcPct val="110000"/>
                  </a:lnSpc>
                </a:pPr>
                <a:r>
                  <a:rPr lang="en-GB" b="1" i="1" dirty="0" smtClean="0"/>
                  <a:t>Linear wear-distance,</a:t>
                </a:r>
                <a14:m>
                  <m:oMath xmlns:m="http://schemas.openxmlformats.org/officeDocument/2006/math">
                    <m:f>
                      <m:fPr>
                        <m:type m:val="lin"/>
                        <m:ctrlPr>
                          <a:rPr lang="en-GB" b="1" i="1">
                            <a:latin typeface="Cambria Math" panose="02040503050406030204" pitchFamily="18" charset="0"/>
                          </a:rPr>
                        </m:ctrlPr>
                      </m:fPr>
                      <m:num>
                        <m:sSub>
                          <m:sSubPr>
                            <m:ctrlPr>
                              <a:rPr lang="en-GB" b="1" i="1">
                                <a:latin typeface="Cambria Math" panose="02040503050406030204" pitchFamily="18" charset="0"/>
                              </a:rPr>
                            </m:ctrlPr>
                          </m:sSubPr>
                          <m:e>
                            <m:r>
                              <a:rPr lang="en-US" b="1" i="1" smtClean="0">
                                <a:latin typeface="Cambria Math" panose="02040503050406030204" pitchFamily="18" charset="0"/>
                              </a:rPr>
                              <m:t>(</m:t>
                            </m:r>
                            <m:r>
                              <a:rPr lang="en-GB" b="1" i="1">
                                <a:latin typeface="Cambria Math" panose="02040503050406030204" pitchFamily="18" charset="0"/>
                              </a:rPr>
                              <m:t>𝑾</m:t>
                            </m:r>
                          </m:e>
                          <m:sub>
                            <m:r>
                              <a:rPr lang="en-GB" b="1" i="1">
                                <a:latin typeface="Cambria Math" panose="02040503050406030204" pitchFamily="18" charset="0"/>
                              </a:rPr>
                              <m:t>𝑳</m:t>
                            </m:r>
                          </m:sub>
                        </m:sSub>
                      </m:num>
                      <m:den>
                        <m:r>
                          <a:rPr lang="en-GB" b="1" i="1">
                            <a:latin typeface="Cambria Math" panose="02040503050406030204" pitchFamily="18" charset="0"/>
                          </a:rPr>
                          <m:t>𝒔</m:t>
                        </m:r>
                        <m:r>
                          <a:rPr lang="en-US" b="1" i="1" smtClean="0">
                            <a:latin typeface="Cambria Math" panose="02040503050406030204" pitchFamily="18" charset="0"/>
                          </a:rPr>
                          <m:t>)</m:t>
                        </m:r>
                      </m:den>
                    </m:f>
                  </m:oMath>
                </a14:m>
                <a:endParaRPr lang="en-US" dirty="0" smtClean="0"/>
              </a:p>
              <a:p>
                <a:pPr marL="355600" indent="0">
                  <a:lnSpc>
                    <a:spcPct val="110000"/>
                  </a:lnSpc>
                  <a:buNone/>
                </a:pPr>
                <a:r>
                  <a:rPr lang="en-GB" dirty="0" smtClean="0"/>
                  <a:t>It </a:t>
                </a:r>
                <a:r>
                  <a:rPr lang="en-GB" dirty="0"/>
                  <a:t>is used to characterise machine </a:t>
                </a:r>
                <a:r>
                  <a:rPr lang="en-GB" dirty="0" smtClean="0"/>
                  <a:t>wear, </a:t>
                </a:r>
                <a:r>
                  <a:rPr lang="en-GB" dirty="0"/>
                  <a:t>because </a:t>
                </a:r>
                <a:r>
                  <a:rPr lang="en-GB" dirty="0" smtClean="0"/>
                  <a:t>depth </a:t>
                </a:r>
                <a:r>
                  <a:rPr lang="en-GB" dirty="0"/>
                  <a:t>of wear </a:t>
                </a:r>
                <a:r>
                  <a:rPr lang="en-GB" dirty="0" smtClean="0"/>
                  <a:t>is </a:t>
                </a:r>
                <a:r>
                  <a:rPr lang="en-GB" dirty="0"/>
                  <a:t>used as a yard-stick for replacement of an </a:t>
                </a:r>
                <a:r>
                  <a:rPr lang="en-GB" dirty="0" smtClean="0"/>
                  <a:t>element:</a:t>
                </a:r>
              </a:p>
              <a:p>
                <a:pPr marL="889000" indent="-412750">
                  <a:lnSpc>
                    <a:spcPct val="110000"/>
                  </a:lnSpc>
                  <a:buFont typeface="+mj-lt"/>
                  <a:buAutoNum type="alphaLcPeriod"/>
                </a:pPr>
                <a14:m>
                  <m:oMath xmlns:m="http://schemas.openxmlformats.org/officeDocument/2006/math">
                    <m:f>
                      <m:fPr>
                        <m:type m:val="lin"/>
                        <m:ctrlPr>
                          <a:rPr lang="en-GB" i="1">
                            <a:latin typeface="Cambria Math" panose="02040503050406030204" pitchFamily="18" charset="0"/>
                          </a:rPr>
                        </m:ctrlPr>
                      </m:fPr>
                      <m:num>
                        <m:sSub>
                          <m:sSubPr>
                            <m:ctrlPr>
                              <a:rPr lang="en-GB" i="1">
                                <a:latin typeface="Cambria Math" panose="02040503050406030204" pitchFamily="18" charset="0"/>
                              </a:rPr>
                            </m:ctrlPr>
                          </m:sSubPr>
                          <m:e>
                            <m:r>
                              <m:rPr>
                                <m:sty m:val="p"/>
                              </m:rPr>
                              <a:rPr lang="en-GB">
                                <a:latin typeface="Cambria Math" panose="02040503050406030204" pitchFamily="18" charset="0"/>
                              </a:rPr>
                              <m:t>W</m:t>
                            </m:r>
                          </m:e>
                          <m:sub>
                            <m:r>
                              <m:rPr>
                                <m:sty m:val="p"/>
                              </m:rPr>
                              <a:rPr lang="en-GB">
                                <a:latin typeface="Cambria Math" panose="02040503050406030204" pitchFamily="18" charset="0"/>
                              </a:rPr>
                              <m:t>L</m:t>
                            </m:r>
                          </m:sub>
                        </m:sSub>
                      </m:num>
                      <m:den>
                        <m:r>
                          <m:rPr>
                            <m:sty m:val="p"/>
                          </m:rPr>
                          <a:rPr lang="en-GB">
                            <a:latin typeface="Cambria Math" panose="02040503050406030204" pitchFamily="18" charset="0"/>
                          </a:rPr>
                          <m:t>s</m:t>
                        </m:r>
                      </m:den>
                    </m:f>
                    <m:r>
                      <a:rPr lang="en-GB">
                        <a:latin typeface="Cambria Math" panose="02040503050406030204" pitchFamily="18" charset="0"/>
                      </a:rPr>
                      <m:t>≤</m:t>
                    </m:r>
                    <m:sSup>
                      <m:sSupPr>
                        <m:ctrlPr>
                          <a:rPr lang="en-GB" i="1">
                            <a:latin typeface="Cambria Math" panose="02040503050406030204" pitchFamily="18" charset="0"/>
                          </a:rPr>
                        </m:ctrlPr>
                      </m:sSupPr>
                      <m:e>
                        <m:r>
                          <a:rPr lang="en-GB">
                            <a:latin typeface="Cambria Math" panose="02040503050406030204" pitchFamily="18" charset="0"/>
                          </a:rPr>
                          <m:t>10</m:t>
                        </m:r>
                      </m:e>
                      <m:sup>
                        <m:r>
                          <a:rPr lang="en-GB" i="1">
                            <a:latin typeface="Cambria Math" panose="02040503050406030204" pitchFamily="18" charset="0"/>
                          </a:rPr>
                          <m:t>−</m:t>
                        </m:r>
                        <m:r>
                          <a:rPr lang="en-GB">
                            <a:latin typeface="Cambria Math" panose="02040503050406030204" pitchFamily="18" charset="0"/>
                          </a:rPr>
                          <m:t>8</m:t>
                        </m:r>
                      </m:sup>
                    </m:sSup>
                    <m:r>
                      <a:rPr lang="en-GB">
                        <a:latin typeface="Cambria Math" panose="02040503050406030204" pitchFamily="18" charset="0"/>
                      </a:rPr>
                      <m:t>=</m:t>
                    </m:r>
                    <m:r>
                      <m:rPr>
                        <m:sty m:val="p"/>
                      </m:rPr>
                      <a:rPr lang="en-GB">
                        <a:latin typeface="Cambria Math" panose="02040503050406030204" pitchFamily="18" charset="0"/>
                      </a:rPr>
                      <m:t>Normal</m:t>
                    </m:r>
                    <m:r>
                      <a:rPr lang="en-GB">
                        <a:latin typeface="Cambria Math" panose="02040503050406030204" pitchFamily="18" charset="0"/>
                      </a:rPr>
                      <m:t> </m:t>
                    </m:r>
                    <m:r>
                      <m:rPr>
                        <m:sty m:val="p"/>
                      </m:rPr>
                      <a:rPr lang="en-GB">
                        <a:latin typeface="Cambria Math" panose="02040503050406030204" pitchFamily="18" charset="0"/>
                      </a:rPr>
                      <m:t>wear</m:t>
                    </m:r>
                  </m:oMath>
                </a14:m>
                <a:endParaRPr lang="en-GB" dirty="0"/>
              </a:p>
              <a:p>
                <a:pPr marL="889000" indent="-412750">
                  <a:lnSpc>
                    <a:spcPct val="110000"/>
                  </a:lnSpc>
                  <a:buFont typeface="+mj-lt"/>
                  <a:buAutoNum type="alphaLcPeriod"/>
                </a:pPr>
                <a14:m>
                  <m:oMath xmlns:m="http://schemas.openxmlformats.org/officeDocument/2006/math">
                    <m:f>
                      <m:fPr>
                        <m:type m:val="lin"/>
                        <m:ctrlPr>
                          <a:rPr lang="en-GB" i="1">
                            <a:latin typeface="Cambria Math" panose="02040503050406030204" pitchFamily="18" charset="0"/>
                          </a:rPr>
                        </m:ctrlPr>
                      </m:fPr>
                      <m:num>
                        <m:sSub>
                          <m:sSubPr>
                            <m:ctrlPr>
                              <a:rPr lang="en-GB" i="1">
                                <a:latin typeface="Cambria Math" panose="02040503050406030204" pitchFamily="18" charset="0"/>
                              </a:rPr>
                            </m:ctrlPr>
                          </m:sSubPr>
                          <m:e>
                            <m:r>
                              <m:rPr>
                                <m:sty m:val="p"/>
                              </m:rPr>
                              <a:rPr lang="en-GB">
                                <a:latin typeface="Cambria Math" panose="02040503050406030204" pitchFamily="18" charset="0"/>
                              </a:rPr>
                              <m:t>W</m:t>
                            </m:r>
                          </m:e>
                          <m:sub>
                            <m:r>
                              <m:rPr>
                                <m:sty m:val="p"/>
                              </m:rPr>
                              <a:rPr lang="en-GB">
                                <a:latin typeface="Cambria Math" panose="02040503050406030204" pitchFamily="18" charset="0"/>
                              </a:rPr>
                              <m:t>L</m:t>
                            </m:r>
                          </m:sub>
                        </m:sSub>
                      </m:num>
                      <m:den>
                        <m:r>
                          <m:rPr>
                            <m:sty m:val="p"/>
                          </m:rPr>
                          <a:rPr lang="en-GB">
                            <a:latin typeface="Cambria Math" panose="02040503050406030204" pitchFamily="18" charset="0"/>
                          </a:rPr>
                          <m:t>s</m:t>
                        </m:r>
                      </m:den>
                    </m:f>
                    <m:r>
                      <a:rPr lang="en-GB" i="1">
                        <a:latin typeface="Cambria Math" panose="02040503050406030204" pitchFamily="18" charset="0"/>
                      </a:rPr>
                      <m:t>≥</m:t>
                    </m:r>
                    <m:sSup>
                      <m:sSupPr>
                        <m:ctrlPr>
                          <a:rPr lang="en-GB" i="1">
                            <a:latin typeface="Cambria Math" panose="02040503050406030204" pitchFamily="18" charset="0"/>
                          </a:rPr>
                        </m:ctrlPr>
                      </m:sSupPr>
                      <m:e>
                        <m:r>
                          <a:rPr lang="en-GB">
                            <a:latin typeface="Cambria Math" panose="02040503050406030204" pitchFamily="18" charset="0"/>
                          </a:rPr>
                          <m:t>10</m:t>
                        </m:r>
                      </m:e>
                      <m:sup>
                        <m:r>
                          <a:rPr lang="en-GB" i="1">
                            <a:latin typeface="Cambria Math" panose="02040503050406030204" pitchFamily="18" charset="0"/>
                          </a:rPr>
                          <m:t>−</m:t>
                        </m:r>
                        <m:r>
                          <a:rPr lang="en-GB">
                            <a:latin typeface="Cambria Math" panose="02040503050406030204" pitchFamily="18" charset="0"/>
                          </a:rPr>
                          <m:t>7</m:t>
                        </m:r>
                      </m:sup>
                    </m:sSup>
                    <m:r>
                      <a:rPr lang="en-GB">
                        <a:latin typeface="Cambria Math" panose="02040503050406030204" pitchFamily="18" charset="0"/>
                      </a:rPr>
                      <m:t>=</m:t>
                    </m:r>
                    <m:r>
                      <m:rPr>
                        <m:sty m:val="p"/>
                      </m:rPr>
                      <a:rPr lang="en-GB">
                        <a:latin typeface="Cambria Math" panose="02040503050406030204" pitchFamily="18" charset="0"/>
                      </a:rPr>
                      <m:t>approx</m:t>
                    </m:r>
                    <m:r>
                      <a:rPr lang="en-US" b="0" i="0" smtClean="0">
                        <a:latin typeface="Cambria Math" panose="02040503050406030204" pitchFamily="18" charset="0"/>
                      </a:rPr>
                      <m:t>.</m:t>
                    </m:r>
                    <m:r>
                      <a:rPr lang="en-GB">
                        <a:latin typeface="Cambria Math" panose="02040503050406030204" pitchFamily="18" charset="0"/>
                      </a:rPr>
                      <m:t> </m:t>
                    </m:r>
                    <m:r>
                      <m:rPr>
                        <m:sty m:val="p"/>
                      </m:rPr>
                      <a:rPr lang="en-US" b="0" i="0" smtClean="0">
                        <a:latin typeface="Cambria Math" panose="02040503050406030204" pitchFamily="18" charset="0"/>
                      </a:rPr>
                      <m:t>a</m:t>
                    </m:r>
                    <m:r>
                      <a:rPr lang="en-GB">
                        <a:latin typeface="Cambria Math" panose="02040503050406030204" pitchFamily="18" charset="0"/>
                      </a:rPr>
                      <m:t> </m:t>
                    </m:r>
                    <m:r>
                      <m:rPr>
                        <m:sty m:val="p"/>
                      </m:rPr>
                      <a:rPr lang="en-GB">
                        <a:latin typeface="Cambria Math" panose="02040503050406030204" pitchFamily="18" charset="0"/>
                      </a:rPr>
                      <m:t>manufacturing</m:t>
                    </m:r>
                    <m:r>
                      <a:rPr lang="en-GB">
                        <a:latin typeface="Cambria Math" panose="02040503050406030204" pitchFamily="18" charset="0"/>
                      </a:rPr>
                      <m:t> </m:t>
                    </m:r>
                    <m:r>
                      <m:rPr>
                        <m:sty m:val="p"/>
                      </m:rPr>
                      <a:rPr lang="en-GB">
                        <a:latin typeface="Cambria Math" panose="02040503050406030204" pitchFamily="18" charset="0"/>
                      </a:rPr>
                      <m:t>process</m:t>
                    </m:r>
                    <m:r>
                      <a:rPr lang="en-GB">
                        <a:latin typeface="Cambria Math" panose="02040503050406030204" pitchFamily="18" charset="0"/>
                      </a:rPr>
                      <m:t>, </m:t>
                    </m:r>
                    <m:r>
                      <m:rPr>
                        <m:sty m:val="p"/>
                      </m:rPr>
                      <a:rPr lang="en-GB">
                        <a:latin typeface="Cambria Math" panose="02040503050406030204" pitchFamily="18" charset="0"/>
                      </a:rPr>
                      <m:t>e</m:t>
                    </m:r>
                    <m:r>
                      <a:rPr lang="en-GB">
                        <a:latin typeface="Cambria Math" panose="02040503050406030204" pitchFamily="18" charset="0"/>
                      </a:rPr>
                      <m:t>.</m:t>
                    </m:r>
                    <m:r>
                      <m:rPr>
                        <m:sty m:val="p"/>
                      </m:rPr>
                      <a:rPr lang="en-GB">
                        <a:latin typeface="Cambria Math" panose="02040503050406030204" pitchFamily="18" charset="0"/>
                      </a:rPr>
                      <m:t>g</m:t>
                    </m:r>
                    <m:r>
                      <a:rPr lang="en-GB">
                        <a:latin typeface="Cambria Math" panose="02040503050406030204" pitchFamily="18" charset="0"/>
                      </a:rPr>
                      <m:t>. </m:t>
                    </m:r>
                    <m:r>
                      <m:rPr>
                        <m:sty m:val="p"/>
                      </m:rPr>
                      <a:rPr lang="en-GB">
                        <a:latin typeface="Cambria Math" panose="02040503050406030204" pitchFamily="18" charset="0"/>
                      </a:rPr>
                      <m:t>milling</m:t>
                    </m:r>
                  </m:oMath>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217" t="-126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35</a:t>
            </a:fld>
            <a:endParaRPr lang="en-GB"/>
          </a:p>
        </p:txBody>
      </p:sp>
    </p:spTree>
    <p:extLst>
      <p:ext uri="{BB962C8B-B14F-4D97-AF65-F5344CB8AC3E}">
        <p14:creationId xmlns:p14="http://schemas.microsoft.com/office/powerpoint/2010/main" val="74020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34124"/>
          </a:xfrm>
        </p:spPr>
        <p:txBody>
          <a:bodyPr/>
          <a:lstStyle/>
          <a:p>
            <a:r>
              <a:rPr lang="en-GB" dirty="0"/>
              <a:t>UNIT 4:  Theory of Lubrication</a:t>
            </a:r>
          </a:p>
        </p:txBody>
      </p:sp>
      <p:sp>
        <p:nvSpPr>
          <p:cNvPr id="3" name="Content Placeholder 2"/>
          <p:cNvSpPr>
            <a:spLocks noGrp="1"/>
          </p:cNvSpPr>
          <p:nvPr>
            <p:ph idx="1"/>
          </p:nvPr>
        </p:nvSpPr>
        <p:spPr>
          <a:xfrm>
            <a:off x="838200" y="1422401"/>
            <a:ext cx="10515600" cy="2463800"/>
          </a:xfrm>
        </p:spPr>
        <p:txBody>
          <a:bodyPr/>
          <a:lstStyle/>
          <a:p>
            <a:r>
              <a:rPr lang="en-US" b="1" i="1" dirty="0" smtClean="0"/>
              <a:t>Stages </a:t>
            </a:r>
            <a:r>
              <a:rPr lang="en-US" b="1" i="1" dirty="0"/>
              <a:t>of Wear</a:t>
            </a:r>
          </a:p>
          <a:p>
            <a:pPr marL="1435100" lvl="0" indent="-431800" algn="just">
              <a:lnSpc>
                <a:spcPct val="120000"/>
              </a:lnSpc>
              <a:spcAft>
                <a:spcPts val="0"/>
              </a:spcAft>
              <a:buFont typeface="+mj-lt"/>
              <a:buAutoNum type="romanUcPeriod"/>
            </a:pPr>
            <a:r>
              <a:rPr lang="en-GB" dirty="0">
                <a:latin typeface="Times New Roman" panose="02020603050405020304" pitchFamily="18" charset="0"/>
                <a:ea typeface="Times New Roman" panose="02020603050405020304" pitchFamily="18" charset="0"/>
              </a:rPr>
              <a:t>Regressive wear (wear-in),</a:t>
            </a:r>
            <a:endParaRPr lang="en-GB" dirty="0">
              <a:latin typeface="Times New Roman" panose="02020603050405020304" pitchFamily="18" charset="0"/>
              <a:ea typeface="Calibri" panose="020F0502020204030204" pitchFamily="34" charset="0"/>
            </a:endParaRPr>
          </a:p>
          <a:p>
            <a:pPr marL="1617663" lvl="0" indent="-614363" algn="just">
              <a:lnSpc>
                <a:spcPct val="120000"/>
              </a:lnSpc>
              <a:spcAft>
                <a:spcPts val="0"/>
              </a:spcAft>
              <a:buFont typeface="+mj-lt"/>
              <a:buAutoNum type="romanUcPeriod"/>
            </a:pPr>
            <a:r>
              <a:rPr lang="en-GB" dirty="0" smtClean="0">
                <a:latin typeface="Times New Roman" panose="02020603050405020304" pitchFamily="18" charset="0"/>
                <a:ea typeface="Times New Roman" panose="02020603050405020304" pitchFamily="18" charset="0"/>
              </a:rPr>
              <a:t> Linear </a:t>
            </a:r>
            <a:r>
              <a:rPr lang="en-GB" dirty="0">
                <a:latin typeface="Times New Roman" panose="02020603050405020304" pitchFamily="18" charset="0"/>
                <a:ea typeface="Times New Roman" panose="02020603050405020304" pitchFamily="18" charset="0"/>
              </a:rPr>
              <a:t>wear,</a:t>
            </a:r>
            <a:endParaRPr lang="en-GB" dirty="0">
              <a:latin typeface="Times New Roman" panose="02020603050405020304" pitchFamily="18" charset="0"/>
              <a:ea typeface="Calibri" panose="020F0502020204030204" pitchFamily="34" charset="0"/>
            </a:endParaRPr>
          </a:p>
          <a:p>
            <a:pPr marL="1617663" lvl="0" indent="-614363" algn="just">
              <a:lnSpc>
                <a:spcPct val="120000"/>
              </a:lnSpc>
              <a:spcAft>
                <a:spcPts val="0"/>
              </a:spcAft>
              <a:buFont typeface="+mj-lt"/>
              <a:buAutoNum type="romanUcPeriod"/>
            </a:pPr>
            <a:r>
              <a:rPr lang="en-GB" dirty="0" smtClean="0">
                <a:latin typeface="Times New Roman" panose="02020603050405020304" pitchFamily="18" charset="0"/>
                <a:ea typeface="Times New Roman" panose="02020603050405020304" pitchFamily="18" charset="0"/>
              </a:rPr>
              <a:t> Progressive</a:t>
            </a:r>
            <a:r>
              <a:rPr lang="en-GB" dirty="0">
                <a:latin typeface="Times New Roman" panose="02020603050405020304" pitchFamily="18" charset="0"/>
                <a:ea typeface="Times New Roman" panose="02020603050405020304" pitchFamily="18" charset="0"/>
              </a:rPr>
              <a:t>.</a:t>
            </a:r>
            <a:endParaRPr lang="en-GB" dirty="0">
              <a:latin typeface="Times New Roman" panose="02020603050405020304" pitchFamily="18" charset="0"/>
              <a:ea typeface="Calibri" panose="020F0502020204030204" pitchFamily="34" charset="0"/>
            </a:endParaRPr>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36</a:t>
            </a:fld>
            <a:endParaRPr lang="en-GB"/>
          </a:p>
        </p:txBody>
      </p:sp>
      <p:pic>
        <p:nvPicPr>
          <p:cNvPr id="7" name="Picture 6"/>
          <p:cNvPicPr>
            <a:picLocks noChangeAspect="1"/>
          </p:cNvPicPr>
          <p:nvPr/>
        </p:nvPicPr>
        <p:blipFill>
          <a:blip r:embed="rId2"/>
          <a:stretch>
            <a:fillRect/>
          </a:stretch>
        </p:blipFill>
        <p:spPr>
          <a:xfrm>
            <a:off x="4881561" y="2762192"/>
            <a:ext cx="6624000" cy="3636740"/>
          </a:xfrm>
          <a:prstGeom prst="rect">
            <a:avLst/>
          </a:prstGeom>
        </p:spPr>
      </p:pic>
    </p:spTree>
    <p:extLst>
      <p:ext uri="{BB962C8B-B14F-4D97-AF65-F5344CB8AC3E}">
        <p14:creationId xmlns:p14="http://schemas.microsoft.com/office/powerpoint/2010/main" val="131175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69821"/>
          </a:xfrm>
        </p:spPr>
        <p:txBody>
          <a:bodyPr/>
          <a:lstStyle/>
          <a:p>
            <a:r>
              <a:rPr lang="en-GB" dirty="0"/>
              <a:t>UNIT 4:  </a:t>
            </a:r>
            <a:r>
              <a:rPr lang="en-GB" dirty="0" smtClean="0"/>
              <a:t>Classification of Hydraulic </a:t>
            </a:r>
            <a:r>
              <a:rPr lang="en-GB" dirty="0"/>
              <a:t>Fluids</a:t>
            </a:r>
          </a:p>
        </p:txBody>
      </p:sp>
      <p:sp>
        <p:nvSpPr>
          <p:cNvPr id="3" name="Content Placeholder 2"/>
          <p:cNvSpPr>
            <a:spLocks noGrp="1"/>
          </p:cNvSpPr>
          <p:nvPr>
            <p:ph idx="1"/>
          </p:nvPr>
        </p:nvSpPr>
        <p:spPr>
          <a:xfrm>
            <a:off x="838200" y="1458097"/>
            <a:ext cx="10515600" cy="5006642"/>
          </a:xfrm>
        </p:spPr>
        <p:txBody>
          <a:bodyPr>
            <a:normAutofit/>
          </a:bodyPr>
          <a:lstStyle/>
          <a:p>
            <a:pPr marL="0" indent="0">
              <a:buNone/>
            </a:pPr>
            <a:r>
              <a:rPr lang="en-GB" dirty="0" smtClean="0"/>
              <a:t>Several </a:t>
            </a:r>
            <a:r>
              <a:rPr lang="en-GB" dirty="0"/>
              <a:t>criteria used to classify hydraulic </a:t>
            </a:r>
            <a:r>
              <a:rPr lang="en-GB" dirty="0" smtClean="0"/>
              <a:t>fluids due to:</a:t>
            </a:r>
          </a:p>
          <a:p>
            <a:pPr marL="712788" lvl="0" indent="-349250"/>
            <a:r>
              <a:rPr lang="en-US" dirty="0" smtClean="0"/>
              <a:t>diverse </a:t>
            </a:r>
            <a:r>
              <a:rPr lang="en-US" dirty="0"/>
              <a:t>areas of application of hydraulic systems,</a:t>
            </a:r>
            <a:endParaRPr lang="en-GB" dirty="0"/>
          </a:p>
          <a:p>
            <a:pPr marL="712788" lvl="0" indent="-349250"/>
            <a:r>
              <a:rPr lang="en-US" dirty="0" smtClean="0"/>
              <a:t>diverse </a:t>
            </a:r>
            <a:r>
              <a:rPr lang="en-US" dirty="0"/>
              <a:t>types of equipment available, and</a:t>
            </a:r>
            <a:endParaRPr lang="en-GB" dirty="0"/>
          </a:p>
          <a:p>
            <a:pPr marL="712788" lvl="0" indent="-349250"/>
            <a:r>
              <a:rPr lang="en-US" dirty="0" smtClean="0"/>
              <a:t>increasing </a:t>
            </a:r>
            <a:r>
              <a:rPr lang="en-US" dirty="0"/>
              <a:t>number </a:t>
            </a:r>
            <a:r>
              <a:rPr lang="en-US" dirty="0" smtClean="0"/>
              <a:t>/types </a:t>
            </a:r>
            <a:r>
              <a:rPr lang="en-US" dirty="0"/>
              <a:t>of hydraulic fluids </a:t>
            </a:r>
            <a:r>
              <a:rPr lang="en-US" dirty="0" smtClean="0"/>
              <a:t>available.</a:t>
            </a:r>
            <a:endParaRPr lang="en-GB" dirty="0"/>
          </a:p>
          <a:p>
            <a:pPr marL="0" indent="0">
              <a:buNone/>
            </a:pPr>
            <a:r>
              <a:rPr lang="en-US" dirty="0"/>
              <a:t>Hydraulic fluids </a:t>
            </a:r>
            <a:r>
              <a:rPr lang="en-US" dirty="0" smtClean="0"/>
              <a:t>can </a:t>
            </a:r>
            <a:r>
              <a:rPr lang="en-US" dirty="0"/>
              <a:t>therefore </a:t>
            </a:r>
            <a:r>
              <a:rPr lang="en-US" dirty="0" smtClean="0"/>
              <a:t>be classified based on:</a:t>
            </a:r>
          </a:p>
          <a:p>
            <a:pPr marL="712788" indent="-349250"/>
            <a:r>
              <a:rPr lang="en-US" dirty="0" smtClean="0"/>
              <a:t> </a:t>
            </a:r>
            <a:r>
              <a:rPr lang="en-US" dirty="0"/>
              <a:t>physical properties, </a:t>
            </a:r>
            <a:endParaRPr lang="en-US" dirty="0" smtClean="0"/>
          </a:p>
          <a:p>
            <a:pPr marL="712788" indent="-349250"/>
            <a:r>
              <a:rPr lang="en-US" dirty="0" smtClean="0"/>
              <a:t>chemical </a:t>
            </a:r>
            <a:r>
              <a:rPr lang="en-US" dirty="0"/>
              <a:t>types</a:t>
            </a:r>
            <a:r>
              <a:rPr lang="en-US" dirty="0" smtClean="0"/>
              <a:t>,</a:t>
            </a:r>
          </a:p>
          <a:p>
            <a:pPr marL="712788" indent="-349250"/>
            <a:r>
              <a:rPr lang="en-US" dirty="0" smtClean="0"/>
              <a:t> </a:t>
            </a:r>
            <a:r>
              <a:rPr lang="en-US" dirty="0"/>
              <a:t>operating capabilities, </a:t>
            </a:r>
            <a:endParaRPr lang="en-US" dirty="0" smtClean="0"/>
          </a:p>
          <a:p>
            <a:pPr marL="712788" indent="-349250"/>
            <a:r>
              <a:rPr lang="en-US" dirty="0" smtClean="0"/>
              <a:t>utility</a:t>
            </a:r>
            <a:r>
              <a:rPr lang="en-US" dirty="0"/>
              <a:t>, or specific applications</a:t>
            </a:r>
            <a:r>
              <a:rPr lang="en-US" dirty="0" smtClean="0"/>
              <a:t>.</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37</a:t>
            </a:fld>
            <a:endParaRPr lang="en-GB" dirty="0"/>
          </a:p>
        </p:txBody>
      </p:sp>
    </p:spTree>
    <p:extLst>
      <p:ext uri="{BB962C8B-B14F-4D97-AF65-F5344CB8AC3E}">
        <p14:creationId xmlns:p14="http://schemas.microsoft.com/office/powerpoint/2010/main" val="303277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95681"/>
          </a:xfrm>
        </p:spPr>
        <p:txBody>
          <a:bodyPr/>
          <a:lstStyle/>
          <a:p>
            <a:r>
              <a:rPr lang="en-GB" dirty="0"/>
              <a:t>UNIT 4:  Classification of Hydraulic Fluids</a:t>
            </a:r>
          </a:p>
        </p:txBody>
      </p:sp>
      <p:sp>
        <p:nvSpPr>
          <p:cNvPr id="3" name="Content Placeholder 2"/>
          <p:cNvSpPr>
            <a:spLocks noGrp="1"/>
          </p:cNvSpPr>
          <p:nvPr>
            <p:ph idx="1"/>
          </p:nvPr>
        </p:nvSpPr>
        <p:spPr>
          <a:xfrm>
            <a:off x="838200" y="1383957"/>
            <a:ext cx="10515600" cy="5080782"/>
          </a:xfrm>
        </p:spPr>
        <p:txBody>
          <a:bodyPr>
            <a:normAutofit fontScale="92500" lnSpcReduction="20000"/>
          </a:bodyPr>
          <a:lstStyle/>
          <a:p>
            <a:pPr marL="0" indent="0">
              <a:lnSpc>
                <a:spcPct val="120000"/>
              </a:lnSpc>
              <a:buNone/>
            </a:pPr>
            <a:r>
              <a:rPr lang="en-US" dirty="0"/>
              <a:t>Common classification criteria of hydraulic fluids are</a:t>
            </a:r>
            <a:r>
              <a:rPr lang="en-US" dirty="0" smtClean="0"/>
              <a:t>:</a:t>
            </a:r>
          </a:p>
          <a:p>
            <a:pPr marL="514350" indent="-514350">
              <a:lnSpc>
                <a:spcPct val="120000"/>
              </a:lnSpc>
              <a:buFont typeface="+mj-lt"/>
              <a:buAutoNum type="arabicPeriod"/>
            </a:pPr>
            <a:r>
              <a:rPr lang="en-GB" b="1" i="1" dirty="0"/>
              <a:t>Classification by chemical properties</a:t>
            </a:r>
            <a:r>
              <a:rPr lang="en-GB" dirty="0"/>
              <a:t>: petroleum and non-petroleum hydraulic fluids</a:t>
            </a:r>
            <a:r>
              <a:rPr lang="en-GB" dirty="0" smtClean="0"/>
              <a:t>.</a:t>
            </a:r>
            <a:endParaRPr lang="en-US" b="1" i="1" dirty="0" smtClean="0"/>
          </a:p>
          <a:p>
            <a:pPr marL="514350" lvl="0" indent="-514350">
              <a:lnSpc>
                <a:spcPct val="120000"/>
              </a:lnSpc>
              <a:buFont typeface="+mj-lt"/>
              <a:buAutoNum type="arabicPeriod"/>
            </a:pPr>
            <a:r>
              <a:rPr lang="en-US" b="1" i="1" dirty="0" smtClean="0"/>
              <a:t>Classification </a:t>
            </a:r>
            <a:r>
              <a:rPr lang="en-US" b="1" i="1" dirty="0"/>
              <a:t>by physical </a:t>
            </a:r>
            <a:r>
              <a:rPr lang="en-US" b="1" i="1" dirty="0" smtClean="0"/>
              <a:t>properties</a:t>
            </a:r>
            <a:r>
              <a:rPr lang="en-US" dirty="0" smtClean="0"/>
              <a:t>:  viscosity</a:t>
            </a:r>
          </a:p>
          <a:p>
            <a:pPr marL="1162050" lvl="0" fontAlgn="base" hangingPunct="0">
              <a:lnSpc>
                <a:spcPct val="120000"/>
              </a:lnSpc>
            </a:pPr>
            <a:r>
              <a:rPr lang="en-GB" dirty="0"/>
              <a:t>1S0-VG,</a:t>
            </a:r>
          </a:p>
          <a:p>
            <a:pPr marL="1162050" lvl="0" fontAlgn="base" hangingPunct="0">
              <a:lnSpc>
                <a:spcPct val="120000"/>
              </a:lnSpc>
            </a:pPr>
            <a:r>
              <a:rPr lang="en-GB" dirty="0" smtClean="0"/>
              <a:t>Redwood-seconds</a:t>
            </a:r>
            <a:endParaRPr lang="en-GB" dirty="0"/>
          </a:p>
          <a:p>
            <a:pPr marL="1162050" lvl="0" fontAlgn="base" hangingPunct="0">
              <a:lnSpc>
                <a:spcPct val="120000"/>
              </a:lnSpc>
            </a:pPr>
            <a:r>
              <a:rPr lang="en-GB" dirty="0"/>
              <a:t>SAE for automobiles</a:t>
            </a:r>
            <a:r>
              <a:rPr lang="en-GB" dirty="0" smtClean="0"/>
              <a:t>.</a:t>
            </a:r>
            <a:endParaRPr lang="en-GB" dirty="0"/>
          </a:p>
          <a:p>
            <a:pPr marL="514350" lvl="0" indent="-514350">
              <a:lnSpc>
                <a:spcPct val="120000"/>
              </a:lnSpc>
              <a:buFont typeface="+mj-lt"/>
              <a:buAutoNum type="arabicPeriod" startAt="3"/>
            </a:pPr>
            <a:r>
              <a:rPr lang="en-US" b="1" i="1" dirty="0"/>
              <a:t>Classification by operating characteristics</a:t>
            </a:r>
            <a:r>
              <a:rPr lang="en-US" dirty="0" smtClean="0"/>
              <a:t>: </a:t>
            </a:r>
            <a:r>
              <a:rPr lang="en-GB" dirty="0"/>
              <a:t>temperature limits and the fire-resistant </a:t>
            </a:r>
            <a:r>
              <a:rPr lang="en-GB" dirty="0" smtClean="0"/>
              <a:t>characteristics (</a:t>
            </a:r>
            <a:r>
              <a:rPr lang="en-GB" dirty="0"/>
              <a:t>DIN 51502 and ISO </a:t>
            </a:r>
            <a:r>
              <a:rPr lang="en-GB" dirty="0" smtClean="0"/>
              <a:t>67434)</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38</a:t>
            </a:fld>
            <a:endParaRPr lang="en-GB" dirty="0"/>
          </a:p>
        </p:txBody>
      </p:sp>
    </p:spTree>
    <p:extLst>
      <p:ext uri="{BB962C8B-B14F-4D97-AF65-F5344CB8AC3E}">
        <p14:creationId xmlns:p14="http://schemas.microsoft.com/office/powerpoint/2010/main" val="105740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70967"/>
          </a:xfrm>
        </p:spPr>
        <p:txBody>
          <a:bodyPr>
            <a:normAutofit fontScale="90000"/>
          </a:bodyPr>
          <a:lstStyle/>
          <a:p>
            <a:r>
              <a:rPr lang="en-GB" dirty="0"/>
              <a:t>UNIT 4:  Classification of Hydraulic Fluids</a:t>
            </a:r>
          </a:p>
        </p:txBody>
      </p:sp>
      <p:sp>
        <p:nvSpPr>
          <p:cNvPr id="3" name="Content Placeholder 2"/>
          <p:cNvSpPr>
            <a:spLocks noGrp="1"/>
          </p:cNvSpPr>
          <p:nvPr>
            <p:ph idx="1"/>
          </p:nvPr>
        </p:nvSpPr>
        <p:spPr>
          <a:xfrm>
            <a:off x="557431" y="1359243"/>
            <a:ext cx="11057920" cy="5105496"/>
          </a:xfrm>
        </p:spPr>
        <p:txBody>
          <a:bodyPr>
            <a:normAutofit fontScale="92500"/>
          </a:bodyPr>
          <a:lstStyle/>
          <a:p>
            <a:pPr marL="1371600" indent="-514350">
              <a:lnSpc>
                <a:spcPct val="110000"/>
              </a:lnSpc>
              <a:buFont typeface="+mj-lt"/>
              <a:buAutoNum type="arabicPeriod"/>
            </a:pPr>
            <a:r>
              <a:rPr lang="en-GB" b="1" i="1" dirty="0" smtClean="0"/>
              <a:t>Petroleum Based </a:t>
            </a:r>
            <a:r>
              <a:rPr lang="en-GB" b="1" i="1" dirty="0"/>
              <a:t>Hydraulic </a:t>
            </a:r>
            <a:r>
              <a:rPr lang="en-GB" b="1" i="1" dirty="0" smtClean="0"/>
              <a:t>Fluids</a:t>
            </a:r>
          </a:p>
          <a:p>
            <a:pPr>
              <a:lnSpc>
                <a:spcPct val="110000"/>
              </a:lnSpc>
            </a:pPr>
            <a:r>
              <a:rPr lang="en-GB" dirty="0" smtClean="0"/>
              <a:t>They were </a:t>
            </a:r>
            <a:r>
              <a:rPr lang="en-GB" dirty="0"/>
              <a:t>among the first liquids employed as </a:t>
            </a:r>
            <a:r>
              <a:rPr lang="en-GB" dirty="0" smtClean="0"/>
              <a:t>hydraulic fluids,</a:t>
            </a:r>
          </a:p>
          <a:p>
            <a:pPr>
              <a:lnSpc>
                <a:spcPct val="110000"/>
              </a:lnSpc>
            </a:pPr>
            <a:r>
              <a:rPr lang="en-GB" i="1" dirty="0" smtClean="0"/>
              <a:t>They</a:t>
            </a:r>
            <a:r>
              <a:rPr lang="en-GB" dirty="0" smtClean="0"/>
              <a:t> </a:t>
            </a:r>
            <a:r>
              <a:rPr lang="en-GB" dirty="0"/>
              <a:t>have </a:t>
            </a:r>
            <a:r>
              <a:rPr lang="en-GB" dirty="0" smtClean="0"/>
              <a:t>bases </a:t>
            </a:r>
            <a:r>
              <a:rPr lang="en-GB" dirty="0"/>
              <a:t>of </a:t>
            </a:r>
            <a:r>
              <a:rPr lang="en-GB" dirty="0">
                <a:solidFill>
                  <a:srgbClr val="FF0000"/>
                </a:solidFill>
              </a:rPr>
              <a:t>paraffin</a:t>
            </a:r>
            <a:r>
              <a:rPr lang="en-GB" dirty="0"/>
              <a:t>, </a:t>
            </a:r>
            <a:r>
              <a:rPr lang="en-GB" dirty="0">
                <a:solidFill>
                  <a:srgbClr val="FF0000"/>
                </a:solidFill>
              </a:rPr>
              <a:t>olefin</a:t>
            </a:r>
            <a:r>
              <a:rPr lang="en-GB" dirty="0"/>
              <a:t>, </a:t>
            </a:r>
            <a:r>
              <a:rPr lang="en-GB" dirty="0">
                <a:solidFill>
                  <a:srgbClr val="FF0000"/>
                </a:solidFill>
              </a:rPr>
              <a:t>naphten</a:t>
            </a:r>
            <a:r>
              <a:rPr lang="en-GB" dirty="0"/>
              <a:t> or </a:t>
            </a:r>
            <a:r>
              <a:rPr lang="en-GB" dirty="0" smtClean="0">
                <a:solidFill>
                  <a:srgbClr val="FF0000"/>
                </a:solidFill>
              </a:rPr>
              <a:t>asphalt</a:t>
            </a:r>
            <a:r>
              <a:rPr lang="en-GB" dirty="0" smtClean="0"/>
              <a:t>,</a:t>
            </a:r>
          </a:p>
          <a:p>
            <a:pPr>
              <a:lnSpc>
                <a:spcPct val="110000"/>
              </a:lnSpc>
            </a:pPr>
            <a:r>
              <a:rPr lang="en-GB" dirty="0" smtClean="0"/>
              <a:t>Their </a:t>
            </a:r>
            <a:r>
              <a:rPr lang="en-GB" dirty="0"/>
              <a:t>properties depend upon:</a:t>
            </a:r>
          </a:p>
          <a:p>
            <a:pPr marL="1087438" indent="-500063">
              <a:lnSpc>
                <a:spcPct val="110000"/>
              </a:lnSpc>
              <a:buFont typeface="Wingdings" panose="05000000000000000000" pitchFamily="2" charset="2"/>
              <a:buChar char="Ø"/>
            </a:pPr>
            <a:r>
              <a:rPr lang="en-GB" dirty="0" smtClean="0"/>
              <a:t>chemical </a:t>
            </a:r>
            <a:r>
              <a:rPr lang="en-GB" dirty="0"/>
              <a:t>composition (origin), and</a:t>
            </a:r>
          </a:p>
          <a:p>
            <a:pPr marL="1087438" indent="-500063">
              <a:lnSpc>
                <a:spcPct val="110000"/>
              </a:lnSpc>
              <a:buFont typeface="Wingdings" panose="05000000000000000000" pitchFamily="2" charset="2"/>
              <a:buChar char="Ø"/>
            </a:pPr>
            <a:r>
              <a:rPr lang="en-GB" dirty="0" smtClean="0"/>
              <a:t>type </a:t>
            </a:r>
            <a:r>
              <a:rPr lang="en-GB" dirty="0"/>
              <a:t>of raffination.</a:t>
            </a:r>
          </a:p>
          <a:p>
            <a:pPr>
              <a:lnSpc>
                <a:spcPct val="110000"/>
              </a:lnSpc>
            </a:pPr>
            <a:r>
              <a:rPr lang="en-GB" dirty="0" smtClean="0"/>
              <a:t>They </a:t>
            </a:r>
            <a:r>
              <a:rPr lang="en-GB" dirty="0"/>
              <a:t>give outstanding performance, long life, good lubricating</a:t>
            </a:r>
            <a:r>
              <a:rPr lang="en-GB" b="1" dirty="0"/>
              <a:t> </a:t>
            </a:r>
            <a:r>
              <a:rPr lang="en-GB" dirty="0"/>
              <a:t>characteristics, and</a:t>
            </a:r>
            <a:r>
              <a:rPr lang="en-GB" b="1" dirty="0"/>
              <a:t> </a:t>
            </a:r>
            <a:r>
              <a:rPr lang="en-GB" dirty="0"/>
              <a:t>protection against </a:t>
            </a:r>
            <a:r>
              <a:rPr lang="en-GB" dirty="0">
                <a:solidFill>
                  <a:schemeClr val="accent5"/>
                </a:solidFill>
              </a:rPr>
              <a:t>rust,</a:t>
            </a:r>
            <a:r>
              <a:rPr lang="en-GB" dirty="0"/>
              <a:t> </a:t>
            </a:r>
            <a:r>
              <a:rPr lang="en-GB" dirty="0">
                <a:solidFill>
                  <a:schemeClr val="accent5"/>
                </a:solidFill>
              </a:rPr>
              <a:t>oxidation</a:t>
            </a:r>
            <a:r>
              <a:rPr lang="en-GB" dirty="0"/>
              <a:t>, </a:t>
            </a:r>
            <a:r>
              <a:rPr lang="en-GB" dirty="0">
                <a:solidFill>
                  <a:schemeClr val="accent5"/>
                </a:solidFill>
              </a:rPr>
              <a:t>corrosion</a:t>
            </a:r>
            <a:r>
              <a:rPr lang="en-GB" dirty="0"/>
              <a:t>, </a:t>
            </a:r>
            <a:r>
              <a:rPr lang="en-GB" dirty="0">
                <a:solidFill>
                  <a:schemeClr val="accent5"/>
                </a:solidFill>
              </a:rPr>
              <a:t>sludge</a:t>
            </a:r>
            <a:r>
              <a:rPr lang="en-GB" b="1" dirty="0"/>
              <a:t>, </a:t>
            </a:r>
            <a:r>
              <a:rPr lang="en-GB" dirty="0"/>
              <a:t>and </a:t>
            </a:r>
            <a:r>
              <a:rPr lang="en-GB" dirty="0">
                <a:solidFill>
                  <a:schemeClr val="accent5"/>
                </a:solidFill>
              </a:rPr>
              <a:t>foam </a:t>
            </a:r>
            <a:r>
              <a:rPr lang="en-GB" dirty="0" smtClean="0">
                <a:solidFill>
                  <a:schemeClr val="accent5"/>
                </a:solidFill>
              </a:rPr>
              <a:t>formation.</a:t>
            </a:r>
          </a:p>
        </p:txBody>
      </p:sp>
      <p:sp>
        <p:nvSpPr>
          <p:cNvPr id="4" name="Slide Number Placeholder 3"/>
          <p:cNvSpPr>
            <a:spLocks noGrp="1"/>
          </p:cNvSpPr>
          <p:nvPr>
            <p:ph type="sldNum" sz="quarter" idx="12"/>
          </p:nvPr>
        </p:nvSpPr>
        <p:spPr/>
        <p:txBody>
          <a:bodyPr/>
          <a:lstStyle/>
          <a:p>
            <a:fld id="{7E50C373-F1D0-494F-8D6D-366C958B3429}" type="slidenum">
              <a:rPr lang="en-GB" smtClean="0"/>
              <a:pPr/>
              <a:t>39</a:t>
            </a:fld>
            <a:endParaRPr lang="en-GB" dirty="0"/>
          </a:p>
        </p:txBody>
      </p:sp>
    </p:spTree>
    <p:extLst>
      <p:ext uri="{BB962C8B-B14F-4D97-AF65-F5344CB8AC3E}">
        <p14:creationId xmlns:p14="http://schemas.microsoft.com/office/powerpoint/2010/main" val="113550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77816"/>
          </a:xfrm>
        </p:spPr>
        <p:txBody>
          <a:bodyPr>
            <a:normAutofit fontScale="90000"/>
          </a:bodyPr>
          <a:lstStyle/>
          <a:p>
            <a:r>
              <a:rPr lang="en-GB" dirty="0"/>
              <a:t>UNIT 4:  Classification of Hydraulic Fluids</a:t>
            </a:r>
          </a:p>
        </p:txBody>
      </p:sp>
      <p:sp>
        <p:nvSpPr>
          <p:cNvPr id="3" name="Content Placeholder 2"/>
          <p:cNvSpPr>
            <a:spLocks noGrp="1"/>
          </p:cNvSpPr>
          <p:nvPr>
            <p:ph idx="1"/>
          </p:nvPr>
        </p:nvSpPr>
        <p:spPr>
          <a:xfrm>
            <a:off x="838200" y="1352144"/>
            <a:ext cx="10515600" cy="5102867"/>
          </a:xfrm>
        </p:spPr>
        <p:txBody>
          <a:bodyPr>
            <a:normAutofit/>
          </a:bodyPr>
          <a:lstStyle/>
          <a:p>
            <a:pPr marL="574675" indent="0">
              <a:lnSpc>
                <a:spcPct val="100000"/>
              </a:lnSpc>
              <a:spcBef>
                <a:spcPts val="1800"/>
              </a:spcBef>
              <a:buNone/>
            </a:pPr>
            <a:r>
              <a:rPr lang="en-GB" b="1" i="1" dirty="0" smtClean="0"/>
              <a:t>ISO Classification </a:t>
            </a:r>
            <a:r>
              <a:rPr lang="en-GB" dirty="0" smtClean="0"/>
              <a:t>of Petroleum based hydraulic fluids (ISO 6743-4) categorises hydraulic fluids that:</a:t>
            </a:r>
          </a:p>
          <a:p>
            <a:pPr marL="1087438" indent="-642938">
              <a:spcBef>
                <a:spcPts val="1800"/>
              </a:spcBef>
              <a:buFont typeface="+mj-lt"/>
              <a:buAutoNum type="alphaLcPeriod"/>
            </a:pPr>
            <a:r>
              <a:rPr lang="en-GB" dirty="0" smtClean="0"/>
              <a:t>do </a:t>
            </a:r>
            <a:r>
              <a:rPr lang="en-GB" dirty="0"/>
              <a:t>not have any </a:t>
            </a:r>
            <a:r>
              <a:rPr lang="en-GB" dirty="0" smtClean="0"/>
              <a:t>additives as </a:t>
            </a:r>
            <a:r>
              <a:rPr lang="en-GB" b="1" i="1" dirty="0" smtClean="0"/>
              <a:t>HH</a:t>
            </a:r>
            <a:r>
              <a:rPr lang="en-GB" dirty="0" smtClean="0"/>
              <a:t>,</a:t>
            </a:r>
            <a:endParaRPr lang="en-GB" dirty="0"/>
          </a:p>
          <a:p>
            <a:pPr marL="1087438" indent="-642938">
              <a:spcBef>
                <a:spcPts val="1800"/>
              </a:spcBef>
              <a:buFont typeface="+mj-lt"/>
              <a:buAutoNum type="alphaLcPeriod"/>
            </a:pPr>
            <a:r>
              <a:rPr lang="en-GB" dirty="0" smtClean="0"/>
              <a:t>contain </a:t>
            </a:r>
            <a:r>
              <a:rPr lang="en-GB" dirty="0"/>
              <a:t>oxidation and rust inhibitors to protect equipment from chemical deterioration and water </a:t>
            </a:r>
            <a:r>
              <a:rPr lang="en-GB" dirty="0" smtClean="0"/>
              <a:t>contamination as </a:t>
            </a:r>
            <a:r>
              <a:rPr lang="en-GB" b="1" i="1" dirty="0" smtClean="0"/>
              <a:t>HL</a:t>
            </a:r>
            <a:r>
              <a:rPr lang="en-GB" dirty="0" smtClean="0"/>
              <a:t>,</a:t>
            </a:r>
          </a:p>
          <a:p>
            <a:pPr marL="1087438" indent="-642938">
              <a:spcBef>
                <a:spcPts val="1800"/>
              </a:spcBef>
              <a:buFont typeface="+mj-lt"/>
              <a:buAutoNum type="alphaLcPeriod"/>
            </a:pPr>
            <a:r>
              <a:rPr lang="en-GB" dirty="0" smtClean="0"/>
              <a:t>are version of HL-type </a:t>
            </a:r>
            <a:r>
              <a:rPr lang="en-GB" dirty="0"/>
              <a:t>fluids with improved anti-wear </a:t>
            </a:r>
            <a:r>
              <a:rPr lang="en-GB" dirty="0" smtClean="0"/>
              <a:t>additives and </a:t>
            </a:r>
            <a:r>
              <a:rPr lang="en-GB" dirty="0"/>
              <a:t>improved high-pressure </a:t>
            </a:r>
            <a:r>
              <a:rPr lang="en-GB" dirty="0" smtClean="0"/>
              <a:t>performance as </a:t>
            </a:r>
            <a:r>
              <a:rPr lang="en-GB" b="1" i="1" dirty="0" smtClean="0"/>
              <a:t>HM</a:t>
            </a:r>
            <a:r>
              <a:rPr lang="en-GB" dirty="0" smtClean="0"/>
              <a:t>.</a:t>
            </a:r>
          </a:p>
        </p:txBody>
      </p:sp>
      <p:sp>
        <p:nvSpPr>
          <p:cNvPr id="4" name="Slide Number Placeholder 3"/>
          <p:cNvSpPr>
            <a:spLocks noGrp="1"/>
          </p:cNvSpPr>
          <p:nvPr>
            <p:ph type="sldNum" sz="quarter" idx="12"/>
          </p:nvPr>
        </p:nvSpPr>
        <p:spPr/>
        <p:txBody>
          <a:bodyPr/>
          <a:lstStyle/>
          <a:p>
            <a:fld id="{7E50C373-F1D0-494F-8D6D-366C958B3429}" type="slidenum">
              <a:rPr lang="en-GB" smtClean="0"/>
              <a:pPr/>
              <a:t>40</a:t>
            </a:fld>
            <a:endParaRPr lang="en-GB" dirty="0"/>
          </a:p>
        </p:txBody>
      </p:sp>
    </p:spTree>
    <p:extLst>
      <p:ext uri="{BB962C8B-B14F-4D97-AF65-F5344CB8AC3E}">
        <p14:creationId xmlns:p14="http://schemas.microsoft.com/office/powerpoint/2010/main" val="216144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45108"/>
          </a:xfrm>
        </p:spPr>
        <p:txBody>
          <a:bodyPr>
            <a:normAutofit/>
          </a:bodyPr>
          <a:lstStyle/>
          <a:p>
            <a:r>
              <a:rPr lang="en-GB" dirty="0"/>
              <a:t>UNIT 4</a:t>
            </a:r>
            <a:r>
              <a:rPr lang="en-GB" dirty="0" smtClean="0"/>
              <a:t>: </a:t>
            </a:r>
            <a:r>
              <a:rPr lang="en-GB" dirty="0"/>
              <a:t>Classification of Hydraulic Fluids</a:t>
            </a:r>
          </a:p>
        </p:txBody>
      </p:sp>
      <p:sp>
        <p:nvSpPr>
          <p:cNvPr id="3" name="Content Placeholder 2"/>
          <p:cNvSpPr>
            <a:spLocks noGrp="1"/>
          </p:cNvSpPr>
          <p:nvPr>
            <p:ph idx="1"/>
          </p:nvPr>
        </p:nvSpPr>
        <p:spPr>
          <a:xfrm>
            <a:off x="838200" y="1652627"/>
            <a:ext cx="10515600" cy="1639213"/>
          </a:xfrm>
        </p:spPr>
        <p:txBody>
          <a:bodyPr/>
          <a:lstStyle/>
          <a:p>
            <a:pPr marL="0" lvl="0" indent="0">
              <a:buNone/>
            </a:pPr>
            <a:r>
              <a:rPr lang="en-GB" sz="2600" b="1" i="1" dirty="0" smtClean="0">
                <a:solidFill>
                  <a:prstClr val="black"/>
                </a:solidFill>
              </a:rPr>
              <a:t>ISO-VG (ISO Viscosity Grades)</a:t>
            </a:r>
            <a:endParaRPr lang="en-GB" sz="2600" dirty="0">
              <a:solidFill>
                <a:prstClr val="black"/>
              </a:solidFill>
            </a:endParaRPr>
          </a:p>
          <a:p>
            <a:pPr marL="715963" indent="-514350" fontAlgn="base" hangingPunct="0">
              <a:lnSpc>
                <a:spcPct val="110000"/>
              </a:lnSpc>
              <a:spcBef>
                <a:spcPts val="1800"/>
              </a:spcBef>
              <a:tabLst>
                <a:tab pos="2057400" algn="l"/>
              </a:tabLst>
            </a:pPr>
            <a:r>
              <a:rPr lang="en-GB" dirty="0" smtClean="0"/>
              <a:t>ISO </a:t>
            </a:r>
            <a:r>
              <a:rPr lang="en-GB" dirty="0"/>
              <a:t>viscosity grades classify hydraulic fluids based upon their </a:t>
            </a:r>
            <a:r>
              <a:rPr lang="en-GB" b="1" i="1" dirty="0"/>
              <a:t>kinematic viscosity</a:t>
            </a:r>
            <a:r>
              <a:rPr lang="en-GB" dirty="0"/>
              <a:t> at 40</a:t>
            </a:r>
            <a:r>
              <a:rPr lang="en-GB" baseline="30000" dirty="0"/>
              <a:t>O</a:t>
            </a:r>
            <a:r>
              <a:rPr lang="en-GB" dirty="0"/>
              <a:t>C</a:t>
            </a:r>
            <a:r>
              <a:rPr lang="en-GB" sz="2400" dirty="0"/>
              <a:t>. </a:t>
            </a:r>
            <a:endParaRPr lang="en-GB" dirty="0">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41</a:t>
            </a:fld>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65519" y="3291817"/>
            <a:ext cx="7884000" cy="3104742"/>
          </a:xfrm>
          <a:prstGeom prst="rect">
            <a:avLst/>
          </a:prstGeom>
          <a:noFill/>
          <a:ln>
            <a:noFill/>
          </a:ln>
        </p:spPr>
      </p:pic>
    </p:spTree>
    <p:extLst>
      <p:ext uri="{BB962C8B-B14F-4D97-AF65-F5344CB8AC3E}">
        <p14:creationId xmlns:p14="http://schemas.microsoft.com/office/powerpoint/2010/main" val="128127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711200"/>
            <a:ext cx="10464800" cy="702908"/>
          </a:xfrm>
        </p:spPr>
        <p:txBody>
          <a:bodyPr>
            <a:normAutofit/>
          </a:bodyPr>
          <a:lstStyle/>
          <a:p>
            <a:r>
              <a:rPr lang="en-GB" dirty="0"/>
              <a:t>UNIT 4 : Classification of Hydraulic Fluids</a:t>
            </a:r>
          </a:p>
        </p:txBody>
      </p:sp>
      <p:sp>
        <p:nvSpPr>
          <p:cNvPr id="3" name="Content Placeholder 2"/>
          <p:cNvSpPr>
            <a:spLocks noGrp="1"/>
          </p:cNvSpPr>
          <p:nvPr>
            <p:ph idx="1"/>
          </p:nvPr>
        </p:nvSpPr>
        <p:spPr>
          <a:xfrm>
            <a:off x="838200" y="1343025"/>
            <a:ext cx="10820400" cy="556113"/>
          </a:xfrm>
        </p:spPr>
        <p:txBody>
          <a:bodyPr>
            <a:normAutofit/>
          </a:bodyPr>
          <a:lstStyle/>
          <a:p>
            <a:pPr marL="711200" lvl="0" indent="-457200">
              <a:buFont typeface="Wingdings" panose="05000000000000000000" pitchFamily="2" charset="2"/>
              <a:buChar char="v"/>
            </a:pPr>
            <a:r>
              <a:rPr lang="en-GB" dirty="0" smtClean="0"/>
              <a:t>Viscosity-temperature diagram</a:t>
            </a:r>
            <a:r>
              <a:rPr lang="en-GB" dirty="0" smtClean="0">
                <a:solidFill>
                  <a:prstClr val="black"/>
                </a:solidFill>
              </a:rPr>
              <a:t>,</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42</a:t>
            </a:fld>
            <a:endParaRPr lang="en-GB"/>
          </a:p>
        </p:txBody>
      </p:sp>
      <p:pic>
        <p:nvPicPr>
          <p:cNvPr id="5" name="Picture 4"/>
          <p:cNvPicPr>
            <a:picLocks noChangeAspect="1"/>
          </p:cNvPicPr>
          <p:nvPr/>
        </p:nvPicPr>
        <p:blipFill>
          <a:blip r:embed="rId2"/>
          <a:stretch>
            <a:fillRect/>
          </a:stretch>
        </p:blipFill>
        <p:spPr>
          <a:xfrm>
            <a:off x="4330113" y="2027262"/>
            <a:ext cx="4500000" cy="4555820"/>
          </a:xfrm>
          <a:prstGeom prst="rect">
            <a:avLst/>
          </a:prstGeom>
        </p:spPr>
      </p:pic>
      <p:cxnSp>
        <p:nvCxnSpPr>
          <p:cNvPr id="10" name="Straight Arrow Connector 9"/>
          <p:cNvCxnSpPr/>
          <p:nvPr/>
        </p:nvCxnSpPr>
        <p:spPr>
          <a:xfrm>
            <a:off x="3826413" y="3530988"/>
            <a:ext cx="827258" cy="0"/>
          </a:xfrm>
          <a:prstGeom prst="straightConnector1">
            <a:avLst/>
          </a:prstGeom>
          <a:ln w="1905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908475" y="4344572"/>
            <a:ext cx="827258" cy="0"/>
          </a:xfrm>
          <a:prstGeom prst="straightConnector1">
            <a:avLst/>
          </a:prstGeom>
          <a:ln w="1905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721970" y="3446579"/>
            <a:ext cx="2397324" cy="954107"/>
          </a:xfrm>
          <a:prstGeom prst="rect">
            <a:avLst/>
          </a:prstGeom>
          <a:noFill/>
        </p:spPr>
        <p:txBody>
          <a:bodyPr wrap="square" rtlCol="0">
            <a:spAutoFit/>
          </a:bodyPr>
          <a:lstStyle/>
          <a:p>
            <a:r>
              <a:rPr lang="en-GB" sz="2800" dirty="0" smtClean="0">
                <a:solidFill>
                  <a:srgbClr val="FF0000"/>
                </a:solidFill>
              </a:rPr>
              <a:t>Recommended Temp. Range</a:t>
            </a:r>
            <a:endParaRPr lang="en-GB" sz="2800" dirty="0">
              <a:solidFill>
                <a:srgbClr val="FF0000"/>
              </a:solidFill>
            </a:endParaRPr>
          </a:p>
        </p:txBody>
      </p:sp>
    </p:spTree>
    <p:extLst>
      <p:ext uri="{BB962C8B-B14F-4D97-AF65-F5344CB8AC3E}">
        <p14:creationId xmlns:p14="http://schemas.microsoft.com/office/powerpoint/2010/main" val="45061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Classification of Hydraulic Fluids</a:t>
            </a:r>
          </a:p>
        </p:txBody>
      </p:sp>
      <p:sp>
        <p:nvSpPr>
          <p:cNvPr id="3" name="Content Placeholder 2"/>
          <p:cNvSpPr>
            <a:spLocks noGrp="1"/>
          </p:cNvSpPr>
          <p:nvPr>
            <p:ph idx="1"/>
          </p:nvPr>
        </p:nvSpPr>
        <p:spPr>
          <a:xfrm>
            <a:off x="838200" y="1825625"/>
            <a:ext cx="10515600" cy="3309083"/>
          </a:xfrm>
        </p:spPr>
        <p:txBody>
          <a:bodyPr>
            <a:normAutofit fontScale="92500" lnSpcReduction="10000"/>
          </a:bodyPr>
          <a:lstStyle/>
          <a:p>
            <a:pPr marL="0" lvl="0" indent="0">
              <a:buNone/>
            </a:pPr>
            <a:r>
              <a:rPr lang="en-GB" b="1" i="1" dirty="0" smtClean="0">
                <a:solidFill>
                  <a:prstClr val="black"/>
                </a:solidFill>
                <a:latin typeface="Times New Roman" panose="02020603050405020304" pitchFamily="18" charset="0"/>
                <a:ea typeface="Times New Roman" panose="02020603050405020304" pitchFamily="18" charset="0"/>
              </a:rPr>
              <a:t>Viscosity:  (ISO-VG</a:t>
            </a:r>
            <a:r>
              <a:rPr lang="en-GB" b="1" i="1" dirty="0">
                <a:solidFill>
                  <a:prstClr val="black"/>
                </a:solidFill>
              </a:rPr>
              <a:t>)</a:t>
            </a:r>
            <a:endParaRPr lang="en-GB" dirty="0">
              <a:solidFill>
                <a:prstClr val="black"/>
              </a:solidFill>
              <a:latin typeface="Times New Roman" panose="02020603050405020304" pitchFamily="18" charset="0"/>
              <a:ea typeface="Calibri" panose="020F0502020204030204" pitchFamily="34" charset="0"/>
            </a:endParaRPr>
          </a:p>
          <a:p>
            <a:pPr marL="717550" lvl="0" indent="-266700" algn="just">
              <a:lnSpc>
                <a:spcPct val="120000"/>
              </a:lnSpc>
              <a:spcAft>
                <a:spcPts val="600"/>
              </a:spcAft>
            </a:pPr>
            <a:r>
              <a:rPr lang="en-GB" dirty="0" smtClean="0">
                <a:solidFill>
                  <a:prstClr val="black"/>
                </a:solidFill>
                <a:latin typeface="Times New Roman" panose="02020603050405020304" pitchFamily="18" charset="0"/>
                <a:ea typeface="Times New Roman" panose="02020603050405020304" pitchFamily="18" charset="0"/>
              </a:rPr>
              <a:t>Specification of </a:t>
            </a:r>
            <a:r>
              <a:rPr lang="en-GB" dirty="0" smtClean="0">
                <a:solidFill>
                  <a:srgbClr val="FF0000"/>
                </a:solidFill>
                <a:latin typeface="Times New Roman" panose="02020603050405020304" pitchFamily="18" charset="0"/>
                <a:ea typeface="Times New Roman" panose="02020603050405020304" pitchFamily="18" charset="0"/>
              </a:rPr>
              <a:t>ISO-VG46</a:t>
            </a:r>
            <a:r>
              <a:rPr lang="en-GB" dirty="0" smtClean="0">
                <a:solidFill>
                  <a:prstClr val="black"/>
                </a:solidFill>
                <a:latin typeface="Times New Roman" panose="02020603050405020304" pitchFamily="18" charset="0"/>
                <a:ea typeface="Times New Roman" panose="02020603050405020304" pitchFamily="18" charset="0"/>
              </a:rPr>
              <a:t> </a:t>
            </a:r>
            <a:r>
              <a:rPr lang="en-GB" dirty="0">
                <a:solidFill>
                  <a:prstClr val="black"/>
                </a:solidFill>
                <a:latin typeface="Times New Roman" panose="02020603050405020304" pitchFamily="18" charset="0"/>
                <a:ea typeface="Times New Roman" panose="02020603050405020304" pitchFamily="18" charset="0"/>
              </a:rPr>
              <a:t>implies </a:t>
            </a:r>
            <a:r>
              <a:rPr lang="en-GB" dirty="0" smtClean="0">
                <a:solidFill>
                  <a:prstClr val="black"/>
                </a:solidFill>
                <a:latin typeface="Times New Roman" panose="02020603050405020304" pitchFamily="18" charset="0"/>
                <a:ea typeface="Times New Roman" panose="02020603050405020304" pitchFamily="18" charset="0"/>
              </a:rPr>
              <a:t>it is an </a:t>
            </a:r>
            <a:r>
              <a:rPr lang="en-GB" dirty="0">
                <a:solidFill>
                  <a:prstClr val="black"/>
                </a:solidFill>
                <a:latin typeface="Times New Roman" panose="02020603050405020304" pitchFamily="18" charset="0"/>
                <a:ea typeface="Times New Roman" panose="02020603050405020304" pitchFamily="18" charset="0"/>
              </a:rPr>
              <a:t>oil of the viscosity class 46</a:t>
            </a:r>
            <a:endParaRPr lang="en-GB" dirty="0">
              <a:solidFill>
                <a:prstClr val="black"/>
              </a:solidFill>
              <a:latin typeface="Times New Roman" panose="02020603050405020304" pitchFamily="18" charset="0"/>
              <a:ea typeface="Calibri" panose="020F0502020204030204" pitchFamily="34" charset="0"/>
            </a:endParaRPr>
          </a:p>
          <a:p>
            <a:pPr marL="717550" lvl="0" indent="-266700" algn="just">
              <a:lnSpc>
                <a:spcPct val="120000"/>
              </a:lnSpc>
            </a:pPr>
            <a:r>
              <a:rPr lang="en-GB" dirty="0" smtClean="0">
                <a:solidFill>
                  <a:prstClr val="black"/>
                </a:solidFill>
                <a:latin typeface="Times New Roman" panose="02020603050405020304" pitchFamily="18" charset="0"/>
                <a:ea typeface="Times New Roman" panose="02020603050405020304" pitchFamily="18" charset="0"/>
              </a:rPr>
              <a:t>Question:</a:t>
            </a:r>
            <a:r>
              <a:rPr lang="en-GB" dirty="0">
                <a:solidFill>
                  <a:prstClr val="black"/>
                </a:solidFill>
                <a:latin typeface="Times New Roman" panose="02020603050405020304" pitchFamily="18" charset="0"/>
                <a:ea typeface="Times New Roman" panose="02020603050405020304" pitchFamily="18" charset="0"/>
              </a:rPr>
              <a:t>	</a:t>
            </a:r>
            <a:endParaRPr lang="en-GB" dirty="0" smtClean="0">
              <a:solidFill>
                <a:prstClr val="black"/>
              </a:solidFill>
              <a:latin typeface="Times New Roman" panose="02020603050405020304" pitchFamily="18" charset="0"/>
              <a:ea typeface="Times New Roman" panose="02020603050405020304" pitchFamily="18" charset="0"/>
            </a:endParaRPr>
          </a:p>
          <a:p>
            <a:pPr marL="1800225" lvl="0" indent="0" algn="just">
              <a:lnSpc>
                <a:spcPct val="120000"/>
              </a:lnSpc>
              <a:buNone/>
            </a:pPr>
            <a:r>
              <a:rPr lang="en-GB" dirty="0" smtClean="0">
                <a:solidFill>
                  <a:prstClr val="black"/>
                </a:solidFill>
                <a:latin typeface="Times New Roman" panose="02020603050405020304" pitchFamily="18" charset="0"/>
                <a:ea typeface="Times New Roman" panose="02020603050405020304" pitchFamily="18" charset="0"/>
              </a:rPr>
              <a:t> Oil with specification ISO-VG100 has a density of 900kg/m</a:t>
            </a:r>
            <a:r>
              <a:rPr lang="en-GB" baseline="30000" dirty="0" smtClean="0">
                <a:solidFill>
                  <a:prstClr val="black"/>
                </a:solidFill>
                <a:latin typeface="Times New Roman" panose="02020603050405020304" pitchFamily="18" charset="0"/>
                <a:ea typeface="Times New Roman" panose="02020603050405020304" pitchFamily="18" charset="0"/>
              </a:rPr>
              <a:t>3</a:t>
            </a:r>
            <a:r>
              <a:rPr lang="en-GB" dirty="0" smtClean="0">
                <a:solidFill>
                  <a:prstClr val="black"/>
                </a:solidFill>
                <a:latin typeface="Times New Roman" panose="02020603050405020304" pitchFamily="18" charset="0"/>
                <a:ea typeface="Times New Roman" panose="02020603050405020304" pitchFamily="18" charset="0"/>
              </a:rPr>
              <a:t>. What is the dynamic viscosity (η)?</a:t>
            </a:r>
            <a:endParaRPr lang="en-GB" dirty="0" smtClean="0">
              <a:solidFill>
                <a:prstClr val="black"/>
              </a:solidFill>
              <a:latin typeface="Times New Roman" panose="02020603050405020304" pitchFamily="18" charset="0"/>
              <a:ea typeface="Calibri" panose="020F0502020204030204" pitchFamily="34" charset="0"/>
            </a:endParaRPr>
          </a:p>
          <a:p>
            <a:pPr marL="717550" lvl="0" indent="0" algn="just">
              <a:lnSpc>
                <a:spcPct val="120000"/>
              </a:lnSpc>
              <a:buNone/>
              <a:tabLst>
                <a:tab pos="1260475" algn="l"/>
              </a:tabLst>
            </a:pPr>
            <a:r>
              <a:rPr lang="en-GB" dirty="0" smtClean="0">
                <a:solidFill>
                  <a:prstClr val="black"/>
                </a:solidFill>
                <a:latin typeface="Times New Roman" panose="02020603050405020304" pitchFamily="18" charset="0"/>
                <a:ea typeface="Times New Roman" panose="02020603050405020304" pitchFamily="18" charset="0"/>
              </a:rPr>
              <a:t>Answer</a:t>
            </a:r>
            <a:r>
              <a:rPr lang="en-GB" dirty="0">
                <a:solidFill>
                  <a:prstClr val="black"/>
                </a:solidFill>
                <a:latin typeface="Times New Roman" panose="02020603050405020304" pitchFamily="18" charset="0"/>
                <a:ea typeface="Times New Roman" panose="02020603050405020304" pitchFamily="18" charset="0"/>
              </a:rPr>
              <a:t>: </a:t>
            </a:r>
            <a:endParaRPr lang="en-GB" dirty="0">
              <a:solidFill>
                <a:prstClr val="black"/>
              </a:solidFill>
              <a:latin typeface="Times New Roman" panose="02020603050405020304" pitchFamily="18" charset="0"/>
              <a:ea typeface="Calibri" panose="020F0502020204030204" pitchFamily="34" charset="0"/>
            </a:endParaRPr>
          </a:p>
          <a:p>
            <a:pPr marL="900113" lvl="0" indent="0" algn="just">
              <a:lnSpc>
                <a:spcPct val="120000"/>
              </a:lnSpc>
              <a:spcAft>
                <a:spcPts val="600"/>
              </a:spcAft>
              <a:buNone/>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43</a:t>
            </a:fld>
            <a:endParaRPr lang="en-GB"/>
          </a:p>
        </p:txBody>
      </p:sp>
      <mc:AlternateContent xmlns:mc="http://schemas.openxmlformats.org/markup-compatibility/2006" xmlns:a14="http://schemas.microsoft.com/office/drawing/2010/main">
        <mc:Choice Requires="a14">
          <p:sp>
            <p:nvSpPr>
              <p:cNvPr id="5" name="TextBox 4"/>
              <p:cNvSpPr txBox="1"/>
              <p:nvPr/>
            </p:nvSpPr>
            <p:spPr>
              <a:xfrm>
                <a:off x="1913206" y="5038812"/>
                <a:ext cx="12815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a:solidFill>
                            <a:prstClr val="black"/>
                          </a:solidFill>
                          <a:latin typeface="Cambria Math" panose="02040503050406030204" pitchFamily="18" charset="0"/>
                          <a:ea typeface="Times New Roman" panose="02020603050405020304" pitchFamily="18" charset="0"/>
                        </a:rPr>
                        <m:t>𝜂</m:t>
                      </m:r>
                      <m:r>
                        <a:rPr lang="en-GB" sz="2400" i="1">
                          <a:solidFill>
                            <a:prstClr val="black"/>
                          </a:solidFill>
                          <a:latin typeface="Cambria Math" panose="02040503050406030204" pitchFamily="18" charset="0"/>
                          <a:ea typeface="Times New Roman" panose="02020603050405020304" pitchFamily="18" charset="0"/>
                        </a:rPr>
                        <m:t>=</m:t>
                      </m:r>
                      <m:r>
                        <a:rPr lang="en-GB" sz="2400" i="1">
                          <a:solidFill>
                            <a:prstClr val="black"/>
                          </a:solidFill>
                          <a:latin typeface="Cambria Math" panose="02040503050406030204" pitchFamily="18" charset="0"/>
                          <a:ea typeface="Times New Roman" panose="02020603050405020304" pitchFamily="18" charset="0"/>
                        </a:rPr>
                        <m:t>𝜈</m:t>
                      </m:r>
                      <m:r>
                        <a:rPr lang="en-GB" sz="2400" i="1">
                          <a:solidFill>
                            <a:prstClr val="black"/>
                          </a:solidFill>
                          <a:latin typeface="Cambria Math" panose="02040503050406030204" pitchFamily="18" charset="0"/>
                          <a:ea typeface="Times New Roman" panose="02020603050405020304" pitchFamily="18" charset="0"/>
                        </a:rPr>
                        <m:t>.</m:t>
                      </m:r>
                      <m:r>
                        <a:rPr lang="en-GB" sz="2400" i="1">
                          <a:solidFill>
                            <a:prstClr val="black"/>
                          </a:solidFill>
                          <a:latin typeface="Cambria Math" panose="02040503050406030204" pitchFamily="18" charset="0"/>
                          <a:ea typeface="Times New Roman" panose="02020603050405020304" pitchFamily="18" charset="0"/>
                        </a:rPr>
                        <m:t>𝜌</m:t>
                      </m:r>
                    </m:oMath>
                  </m:oMathPara>
                </a14:m>
                <a:endParaRPr lang="en-GB"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913206" y="5038812"/>
                <a:ext cx="1281569" cy="461665"/>
              </a:xfrm>
              <a:prstGeom prst="rect">
                <a:avLst/>
              </a:prstGeom>
              <a:blipFill rotWithShape="0">
                <a:blip r:embed="rId2"/>
                <a:stretch>
                  <a:fillRect b="-10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931159" y="4804805"/>
                <a:ext cx="3164841" cy="9296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a:solidFill>
                            <a:prstClr val="black"/>
                          </a:solidFill>
                          <a:latin typeface="Cambria Math" panose="02040503050406030204" pitchFamily="18" charset="0"/>
                          <a:ea typeface="Times New Roman" panose="02020603050405020304" pitchFamily="18" charset="0"/>
                        </a:rPr>
                        <m:t>=</m:t>
                      </m:r>
                      <m:d>
                        <m:dPr>
                          <m:ctrlPr>
                            <a:rPr lang="en-GB" sz="2400" i="1">
                              <a:solidFill>
                                <a:prstClr val="black"/>
                              </a:solidFill>
                              <a:latin typeface="Cambria Math" panose="02040503050406030204" pitchFamily="18" charset="0"/>
                              <a:ea typeface="Times New Roman" panose="02020603050405020304" pitchFamily="18" charset="0"/>
                            </a:rPr>
                          </m:ctrlPr>
                        </m:dPr>
                        <m:e>
                          <m:r>
                            <a:rPr lang="en-GB" sz="2400" i="1">
                              <a:solidFill>
                                <a:prstClr val="black"/>
                              </a:solidFill>
                              <a:latin typeface="Cambria Math" panose="02040503050406030204" pitchFamily="18" charset="0"/>
                              <a:ea typeface="Times New Roman" panose="02020603050405020304" pitchFamily="18" charset="0"/>
                            </a:rPr>
                            <m:t>100</m:t>
                          </m:r>
                          <m:f>
                            <m:fPr>
                              <m:ctrlPr>
                                <a:rPr lang="en-GB" sz="2400" i="1">
                                  <a:solidFill>
                                    <a:prstClr val="black"/>
                                  </a:solidFill>
                                  <a:latin typeface="Cambria Math" panose="02040503050406030204" pitchFamily="18" charset="0"/>
                                  <a:ea typeface="Times New Roman" panose="02020603050405020304" pitchFamily="18" charset="0"/>
                                </a:rPr>
                              </m:ctrlPr>
                            </m:fPr>
                            <m:num>
                              <m:sSup>
                                <m:sSupPr>
                                  <m:ctrlPr>
                                    <a:rPr lang="en-GB" sz="2400" i="1">
                                      <a:solidFill>
                                        <a:prstClr val="black"/>
                                      </a:solidFill>
                                      <a:latin typeface="Cambria Math" panose="02040503050406030204" pitchFamily="18" charset="0"/>
                                      <a:ea typeface="Times New Roman" panose="02020603050405020304" pitchFamily="18" charset="0"/>
                                    </a:rPr>
                                  </m:ctrlPr>
                                </m:sSupPr>
                                <m:e>
                                  <m:r>
                                    <a:rPr lang="en-GB" sz="2400" i="1">
                                      <a:solidFill>
                                        <a:prstClr val="black"/>
                                      </a:solidFill>
                                      <a:latin typeface="Cambria Math" panose="02040503050406030204" pitchFamily="18" charset="0"/>
                                      <a:ea typeface="Times New Roman" panose="02020603050405020304" pitchFamily="18" charset="0"/>
                                    </a:rPr>
                                    <m:t>𝑚𝑚</m:t>
                                  </m:r>
                                </m:e>
                                <m:sup>
                                  <m:r>
                                    <a:rPr lang="en-GB" sz="2400" i="1">
                                      <a:solidFill>
                                        <a:prstClr val="black"/>
                                      </a:solidFill>
                                      <a:latin typeface="Cambria Math" panose="02040503050406030204" pitchFamily="18" charset="0"/>
                                      <a:ea typeface="Times New Roman" panose="02020603050405020304" pitchFamily="18" charset="0"/>
                                    </a:rPr>
                                    <m:t>2</m:t>
                                  </m:r>
                                </m:sup>
                              </m:sSup>
                            </m:num>
                            <m:den>
                              <m:r>
                                <a:rPr lang="en-GB" sz="2400" i="1">
                                  <a:solidFill>
                                    <a:prstClr val="black"/>
                                  </a:solidFill>
                                  <a:latin typeface="Cambria Math" panose="02040503050406030204" pitchFamily="18" charset="0"/>
                                  <a:ea typeface="Times New Roman" panose="02020603050405020304" pitchFamily="18" charset="0"/>
                                </a:rPr>
                                <m:t>𝑠</m:t>
                              </m:r>
                            </m:den>
                          </m:f>
                        </m:e>
                      </m:d>
                      <m:r>
                        <a:rPr lang="en-GB" sz="2400" i="1">
                          <a:solidFill>
                            <a:prstClr val="black"/>
                          </a:solidFill>
                          <a:latin typeface="Cambria Math" panose="02040503050406030204" pitchFamily="18" charset="0"/>
                          <a:ea typeface="Times New Roman" panose="02020603050405020304" pitchFamily="18" charset="0"/>
                        </a:rPr>
                        <m:t>900</m:t>
                      </m:r>
                      <m:f>
                        <m:fPr>
                          <m:ctrlPr>
                            <a:rPr lang="en-GB" sz="2400" i="1">
                              <a:solidFill>
                                <a:prstClr val="black"/>
                              </a:solidFill>
                              <a:latin typeface="Cambria Math" panose="02040503050406030204" pitchFamily="18" charset="0"/>
                              <a:ea typeface="Times New Roman" panose="02020603050405020304" pitchFamily="18" charset="0"/>
                            </a:rPr>
                          </m:ctrlPr>
                        </m:fPr>
                        <m:num>
                          <m:r>
                            <a:rPr lang="en-GB" sz="2400" i="1">
                              <a:solidFill>
                                <a:prstClr val="black"/>
                              </a:solidFill>
                              <a:latin typeface="Cambria Math" panose="02040503050406030204" pitchFamily="18" charset="0"/>
                              <a:ea typeface="Times New Roman" panose="02020603050405020304" pitchFamily="18" charset="0"/>
                            </a:rPr>
                            <m:t>𝑘𝑔</m:t>
                          </m:r>
                        </m:num>
                        <m:den>
                          <m:sSup>
                            <m:sSupPr>
                              <m:ctrlPr>
                                <a:rPr lang="en-GB" sz="2400" i="1">
                                  <a:solidFill>
                                    <a:prstClr val="black"/>
                                  </a:solidFill>
                                  <a:latin typeface="Cambria Math" panose="02040503050406030204" pitchFamily="18" charset="0"/>
                                  <a:ea typeface="Times New Roman" panose="02020603050405020304" pitchFamily="18" charset="0"/>
                                </a:rPr>
                              </m:ctrlPr>
                            </m:sSupPr>
                            <m:e>
                              <m:r>
                                <a:rPr lang="en-GB" sz="2400" i="1">
                                  <a:solidFill>
                                    <a:prstClr val="black"/>
                                  </a:solidFill>
                                  <a:latin typeface="Cambria Math" panose="02040503050406030204" pitchFamily="18" charset="0"/>
                                  <a:ea typeface="Times New Roman" panose="02020603050405020304" pitchFamily="18" charset="0"/>
                                </a:rPr>
                                <m:t>𝑚</m:t>
                              </m:r>
                            </m:e>
                            <m:sup>
                              <m:r>
                                <a:rPr lang="en-GB" sz="2400" i="1">
                                  <a:solidFill>
                                    <a:prstClr val="black"/>
                                  </a:solidFill>
                                  <a:latin typeface="Cambria Math" panose="02040503050406030204" pitchFamily="18" charset="0"/>
                                  <a:ea typeface="Times New Roman" panose="02020603050405020304" pitchFamily="18" charset="0"/>
                                </a:rPr>
                                <m:t>3</m:t>
                              </m:r>
                            </m:sup>
                          </m:sSup>
                        </m:den>
                      </m:f>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2931159" y="4804805"/>
                <a:ext cx="3164841" cy="929678"/>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925107" y="4804805"/>
                <a:ext cx="1798056"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a:solidFill>
                            <a:prstClr val="black"/>
                          </a:solidFill>
                          <a:latin typeface="Cambria Math" panose="02040503050406030204" pitchFamily="18" charset="0"/>
                          <a:ea typeface="Times New Roman" panose="02020603050405020304" pitchFamily="18" charset="0"/>
                        </a:rPr>
                        <m:t>=0.09</m:t>
                      </m:r>
                      <m:f>
                        <m:fPr>
                          <m:ctrlPr>
                            <a:rPr lang="en-GB" sz="2400" i="1">
                              <a:solidFill>
                                <a:prstClr val="black"/>
                              </a:solidFill>
                              <a:latin typeface="Cambria Math" panose="02040503050406030204" pitchFamily="18" charset="0"/>
                              <a:ea typeface="Times New Roman" panose="02020603050405020304" pitchFamily="18" charset="0"/>
                            </a:rPr>
                          </m:ctrlPr>
                        </m:fPr>
                        <m:num>
                          <m:r>
                            <a:rPr lang="en-GB" sz="2400" i="1">
                              <a:solidFill>
                                <a:prstClr val="black"/>
                              </a:solidFill>
                              <a:latin typeface="Cambria Math" panose="02040503050406030204" pitchFamily="18" charset="0"/>
                              <a:ea typeface="Times New Roman" panose="02020603050405020304" pitchFamily="18" charset="0"/>
                            </a:rPr>
                            <m:t>𝑁</m:t>
                          </m:r>
                        </m:num>
                        <m:den>
                          <m:sSup>
                            <m:sSupPr>
                              <m:ctrlPr>
                                <a:rPr lang="en-GB" sz="2400" i="1">
                                  <a:solidFill>
                                    <a:prstClr val="black"/>
                                  </a:solidFill>
                                  <a:latin typeface="Cambria Math" panose="02040503050406030204" pitchFamily="18" charset="0"/>
                                  <a:ea typeface="Times New Roman" panose="02020603050405020304" pitchFamily="18" charset="0"/>
                                </a:rPr>
                              </m:ctrlPr>
                            </m:sSupPr>
                            <m:e>
                              <m:r>
                                <a:rPr lang="en-GB" sz="2400" i="1">
                                  <a:solidFill>
                                    <a:prstClr val="black"/>
                                  </a:solidFill>
                                  <a:latin typeface="Cambria Math" panose="02040503050406030204" pitchFamily="18" charset="0"/>
                                  <a:ea typeface="Times New Roman" panose="02020603050405020304" pitchFamily="18" charset="0"/>
                                </a:rPr>
                                <m:t>𝑚</m:t>
                              </m:r>
                            </m:e>
                            <m:sup>
                              <m:r>
                                <a:rPr lang="en-GB" sz="2400" i="1">
                                  <a:solidFill>
                                    <a:prstClr val="black"/>
                                  </a:solidFill>
                                  <a:latin typeface="Cambria Math" panose="02040503050406030204" pitchFamily="18" charset="0"/>
                                  <a:ea typeface="Times New Roman" panose="02020603050405020304" pitchFamily="18" charset="0"/>
                                </a:rPr>
                                <m:t>2</m:t>
                              </m:r>
                            </m:sup>
                          </m:sSup>
                        </m:den>
                      </m:f>
                      <m:r>
                        <a:rPr lang="en-US" sz="2400" i="1">
                          <a:solidFill>
                            <a:prstClr val="black"/>
                          </a:solidFill>
                          <a:latin typeface="Cambria Math" panose="02040503050406030204" pitchFamily="18" charset="0"/>
                          <a:ea typeface="Times New Roman" panose="02020603050405020304" pitchFamily="18" charset="0"/>
                        </a:rPr>
                        <m:t>𝑠</m:t>
                      </m:r>
                    </m:oMath>
                  </m:oMathPara>
                </a14:m>
                <a:endParaRPr lang="en-GB"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5925107" y="4804805"/>
                <a:ext cx="1798056" cy="783804"/>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555567" y="4976813"/>
                <a:ext cx="2541530" cy="461665"/>
              </a:xfrm>
              <a:prstGeom prst="rect">
                <a:avLst/>
              </a:prstGeom>
              <a:noFill/>
            </p:spPr>
            <p:txBody>
              <a:bodyPr wrap="none" rtlCol="0">
                <a:spAutoFit/>
              </a:bodyPr>
              <a:lstStyle/>
              <a:p>
                <a14:m>
                  <m:oMath xmlns:m="http://schemas.openxmlformats.org/officeDocument/2006/math">
                    <m:r>
                      <a:rPr lang="en-GB" sz="2400" i="1">
                        <a:solidFill>
                          <a:prstClr val="black"/>
                        </a:solidFill>
                        <a:latin typeface="Cambria Math" panose="02040503050406030204" pitchFamily="18" charset="0"/>
                        <a:ea typeface="Times New Roman" panose="02020603050405020304" pitchFamily="18" charset="0"/>
                      </a:rPr>
                      <m:t>=90 </m:t>
                    </m:r>
                    <m:r>
                      <a:rPr lang="en-GB" sz="2400" i="1">
                        <a:solidFill>
                          <a:prstClr val="black"/>
                        </a:solidFill>
                        <a:latin typeface="Cambria Math" panose="02040503050406030204" pitchFamily="18" charset="0"/>
                        <a:ea typeface="Times New Roman" panose="02020603050405020304" pitchFamily="18" charset="0"/>
                      </a:rPr>
                      <m:t>𝑚𝑃𝑎𝑠</m:t>
                    </m:r>
                  </m:oMath>
                </a14:m>
                <a:r>
                  <a:rPr lang="en-GB" sz="2400" dirty="0">
                    <a:solidFill>
                      <a:prstClr val="black"/>
                    </a:solidFill>
                    <a:latin typeface="Times New Roman" panose="02020603050405020304" pitchFamily="18" charset="0"/>
                    <a:ea typeface="Calibri" panose="020F0502020204030204" pitchFamily="34" charset="0"/>
                  </a:rPr>
                  <a:t> at </a:t>
                </a:r>
                <a14:m>
                  <m:oMath xmlns:m="http://schemas.openxmlformats.org/officeDocument/2006/math">
                    <m:sSup>
                      <m:sSupPr>
                        <m:ctrlPr>
                          <a:rPr lang="en-GB"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40</m:t>
                        </m:r>
                      </m:e>
                      <m:sup>
                        <m:r>
                          <a:rPr lang="en-US" sz="2400" i="1">
                            <a:solidFill>
                              <a:prstClr val="black"/>
                            </a:solidFill>
                            <a:latin typeface="Cambria Math" panose="02040503050406030204" pitchFamily="18" charset="0"/>
                          </a:rPr>
                          <m:t>𝑜</m:t>
                        </m:r>
                      </m:sup>
                    </m:sSup>
                  </m:oMath>
                </a14:m>
                <a:endParaRPr lang="en-GB"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555567" y="4976813"/>
                <a:ext cx="2541530" cy="461665"/>
              </a:xfrm>
              <a:prstGeom prst="rect">
                <a:avLst/>
              </a:prstGeom>
              <a:blipFill rotWithShape="0">
                <a:blip r:embed="rId5"/>
                <a:stretch>
                  <a:fillRect t="-11842" b="-27632"/>
                </a:stretch>
              </a:blipFill>
            </p:spPr>
            <p:txBody>
              <a:bodyPr/>
              <a:lstStyle/>
              <a:p>
                <a:r>
                  <a:rPr lang="en-GB">
                    <a:noFill/>
                  </a:rPr>
                  <a:t> </a:t>
                </a:r>
              </a:p>
            </p:txBody>
          </p:sp>
        </mc:Fallback>
      </mc:AlternateContent>
    </p:spTree>
    <p:extLst>
      <p:ext uri="{BB962C8B-B14F-4D97-AF65-F5344CB8AC3E}">
        <p14:creationId xmlns:p14="http://schemas.microsoft.com/office/powerpoint/2010/main" val="234627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Classification of Hydraulic Fluids</a:t>
            </a:r>
          </a:p>
        </p:txBody>
      </p:sp>
      <p:sp>
        <p:nvSpPr>
          <p:cNvPr id="3" name="Content Placeholder 2"/>
          <p:cNvSpPr>
            <a:spLocks noGrp="1"/>
          </p:cNvSpPr>
          <p:nvPr>
            <p:ph idx="1"/>
          </p:nvPr>
        </p:nvSpPr>
        <p:spPr/>
        <p:txBody>
          <a:bodyPr/>
          <a:lstStyle/>
          <a:p>
            <a:pPr marL="0" lvl="0" indent="0">
              <a:spcBef>
                <a:spcPts val="1800"/>
              </a:spcBef>
              <a:spcAft>
                <a:spcPts val="1200"/>
              </a:spcAft>
              <a:buNone/>
            </a:pPr>
            <a:r>
              <a:rPr lang="en-GB" b="1" i="1" dirty="0" smtClean="0">
                <a:solidFill>
                  <a:prstClr val="black"/>
                </a:solidFill>
                <a:latin typeface="Times New Roman" panose="02020603050405020304" pitchFamily="18" charset="0"/>
                <a:ea typeface="Times New Roman" panose="02020603050405020304" pitchFamily="18" charset="0"/>
              </a:rPr>
              <a:t>SAE </a:t>
            </a:r>
            <a:r>
              <a:rPr lang="en-GB" b="1" i="1" dirty="0">
                <a:solidFill>
                  <a:prstClr val="black"/>
                </a:solidFill>
                <a:latin typeface="Times New Roman" panose="02020603050405020304" pitchFamily="18" charset="0"/>
                <a:ea typeface="Times New Roman" panose="02020603050405020304" pitchFamily="18" charset="0"/>
              </a:rPr>
              <a:t>Viscosity </a:t>
            </a:r>
            <a:r>
              <a:rPr lang="en-GB" b="1" i="1" dirty="0" smtClean="0">
                <a:solidFill>
                  <a:prstClr val="black"/>
                </a:solidFill>
                <a:latin typeface="Times New Roman" panose="02020603050405020304" pitchFamily="18" charset="0"/>
                <a:ea typeface="Times New Roman" panose="02020603050405020304" pitchFamily="18" charset="0"/>
              </a:rPr>
              <a:t>Grade</a:t>
            </a:r>
            <a:endParaRPr lang="en-GB" dirty="0">
              <a:solidFill>
                <a:prstClr val="black"/>
              </a:solidFill>
              <a:latin typeface="Times New Roman" panose="02020603050405020304" pitchFamily="18" charset="0"/>
              <a:ea typeface="Calibri" panose="020F0502020204030204" pitchFamily="34" charset="0"/>
            </a:endParaRPr>
          </a:p>
          <a:p>
            <a:pPr marL="1066800" lvl="1" indent="-609600">
              <a:spcBef>
                <a:spcPts val="1800"/>
              </a:spcBef>
              <a:spcAft>
                <a:spcPts val="1200"/>
              </a:spcAft>
              <a:buFont typeface="Wingdings" panose="05000000000000000000" pitchFamily="2" charset="2"/>
              <a:buChar char="v"/>
            </a:pPr>
            <a:r>
              <a:rPr lang="en-GB" sz="2800" dirty="0">
                <a:solidFill>
                  <a:prstClr val="black"/>
                </a:solidFill>
              </a:rPr>
              <a:t>SAE VG </a:t>
            </a:r>
            <a:r>
              <a:rPr lang="en-GB" sz="2800" dirty="0" smtClean="0">
                <a:solidFill>
                  <a:prstClr val="black"/>
                </a:solidFill>
              </a:rPr>
              <a:t>gives </a:t>
            </a:r>
            <a:r>
              <a:rPr lang="en-GB" sz="2800" dirty="0">
                <a:solidFill>
                  <a:prstClr val="black"/>
                </a:solidFill>
              </a:rPr>
              <a:t>no indication of quality and suitability of oil for a given application</a:t>
            </a:r>
            <a:r>
              <a:rPr lang="en-GB" dirty="0">
                <a:solidFill>
                  <a:prstClr val="black"/>
                </a:solidFill>
              </a:rPr>
              <a:t>.</a:t>
            </a:r>
          </a:p>
          <a:p>
            <a:pPr marL="1066800" lvl="1" indent="-609600">
              <a:spcBef>
                <a:spcPts val="1800"/>
              </a:spcBef>
              <a:spcAft>
                <a:spcPts val="1200"/>
              </a:spcAft>
              <a:buFont typeface="Wingdings" panose="05000000000000000000" pitchFamily="2" charset="2"/>
              <a:buChar char="v"/>
            </a:pPr>
            <a:r>
              <a:rPr lang="en-GB" sz="2800" dirty="0">
                <a:solidFill>
                  <a:prstClr val="black"/>
                </a:solidFill>
              </a:rPr>
              <a:t>According to SAE, there are two basic types of oil: </a:t>
            </a:r>
          </a:p>
          <a:p>
            <a:pPr marL="1701800" lvl="1">
              <a:spcBef>
                <a:spcPts val="1800"/>
              </a:spcBef>
              <a:spcAft>
                <a:spcPts val="1200"/>
              </a:spcAft>
            </a:pPr>
            <a:r>
              <a:rPr lang="en-US" sz="2800" dirty="0">
                <a:solidFill>
                  <a:prstClr val="black"/>
                </a:solidFill>
              </a:rPr>
              <a:t>Single grade</a:t>
            </a:r>
          </a:p>
          <a:p>
            <a:pPr marL="1701800" lvl="1">
              <a:spcBef>
                <a:spcPts val="1800"/>
              </a:spcBef>
              <a:spcAft>
                <a:spcPts val="1200"/>
              </a:spcAft>
            </a:pPr>
            <a:r>
              <a:rPr lang="en-US" sz="2800" dirty="0" smtClean="0">
                <a:solidFill>
                  <a:prstClr val="black"/>
                </a:solidFill>
              </a:rPr>
              <a:t>Multi-grade</a:t>
            </a:r>
            <a:endParaRPr lang="en-GB" sz="28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44</a:t>
            </a:fld>
            <a:endParaRPr lang="en-GB"/>
          </a:p>
        </p:txBody>
      </p:sp>
    </p:spTree>
    <p:extLst>
      <p:ext uri="{BB962C8B-B14F-4D97-AF65-F5344CB8AC3E}">
        <p14:creationId xmlns:p14="http://schemas.microsoft.com/office/powerpoint/2010/main" val="337114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Classification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spcBef>
                    <a:spcPts val="0"/>
                  </a:spcBef>
                  <a:spcAft>
                    <a:spcPts val="1200"/>
                  </a:spcAft>
                  <a:buNone/>
                </a:pPr>
                <a:r>
                  <a:rPr lang="en-GB" b="1" i="1" dirty="0" smtClean="0">
                    <a:solidFill>
                      <a:prstClr val="black"/>
                    </a:solidFill>
                    <a:latin typeface="Times New Roman" panose="02020603050405020304" pitchFamily="18" charset="0"/>
                    <a:ea typeface="Times New Roman" panose="02020603050405020304" pitchFamily="18" charset="0"/>
                  </a:rPr>
                  <a:t>SAE </a:t>
                </a:r>
                <a:r>
                  <a:rPr lang="en-GB" b="1" i="1" dirty="0">
                    <a:solidFill>
                      <a:prstClr val="black"/>
                    </a:solidFill>
                    <a:latin typeface="Times New Roman" panose="02020603050405020304" pitchFamily="18" charset="0"/>
                    <a:ea typeface="Times New Roman" panose="02020603050405020304" pitchFamily="18" charset="0"/>
                  </a:rPr>
                  <a:t>Viscosity </a:t>
                </a:r>
                <a:r>
                  <a:rPr lang="en-GB" b="1" i="1" dirty="0" smtClean="0">
                    <a:solidFill>
                      <a:prstClr val="black"/>
                    </a:solidFill>
                    <a:latin typeface="Times New Roman" panose="02020603050405020304" pitchFamily="18" charset="0"/>
                    <a:ea typeface="Times New Roman" panose="02020603050405020304" pitchFamily="18" charset="0"/>
                  </a:rPr>
                  <a:t>Grade</a:t>
                </a:r>
                <a:endParaRPr lang="en-GB" dirty="0">
                  <a:solidFill>
                    <a:prstClr val="black"/>
                  </a:solidFill>
                  <a:latin typeface="Times New Roman" panose="02020603050405020304" pitchFamily="18" charset="0"/>
                  <a:ea typeface="Calibri" panose="020F0502020204030204" pitchFamily="34" charset="0"/>
                </a:endParaRPr>
              </a:p>
              <a:p>
                <a:pPr marL="711200" lvl="0" indent="0">
                  <a:lnSpc>
                    <a:spcPct val="110000"/>
                  </a:lnSpc>
                  <a:spcBef>
                    <a:spcPts val="1800"/>
                  </a:spcBef>
                  <a:buNone/>
                </a:pPr>
                <a:r>
                  <a:rPr lang="en-US" dirty="0">
                    <a:solidFill>
                      <a:prstClr val="black"/>
                    </a:solidFill>
                  </a:rPr>
                  <a:t>Multi-Grade:</a:t>
                </a:r>
              </a:p>
              <a:p>
                <a:pPr marL="1219200" lvl="0" indent="-457200">
                  <a:lnSpc>
                    <a:spcPct val="110000"/>
                  </a:lnSpc>
                  <a:spcBef>
                    <a:spcPts val="1800"/>
                  </a:spcBef>
                </a:pPr>
                <a:r>
                  <a:rPr lang="en-GB" dirty="0">
                    <a:solidFill>
                      <a:prstClr val="black"/>
                    </a:solidFill>
                  </a:rPr>
                  <a:t>Multi-grade oils have a flat viscosity-temperature curve,</a:t>
                </a:r>
              </a:p>
              <a:p>
                <a:pPr marL="1219200" lvl="0" indent="-457200">
                  <a:lnSpc>
                    <a:spcPct val="110000"/>
                  </a:lnSpc>
                  <a:spcBef>
                    <a:spcPts val="1800"/>
                  </a:spcBef>
                </a:pPr>
                <a:r>
                  <a:rPr lang="en-GB" dirty="0">
                    <a:solidFill>
                      <a:prstClr val="black"/>
                    </a:solidFill>
                  </a:rPr>
                  <a:t>Multi-grade oil designations consist of dynamic viscosity, </a:t>
                </a:r>
                <a14:m>
                  <m:oMath xmlns:m="http://schemas.openxmlformats.org/officeDocument/2006/math">
                    <m:r>
                      <a:rPr lang="en-GB" i="1">
                        <a:solidFill>
                          <a:prstClr val="black"/>
                        </a:solidFill>
                        <a:latin typeface="Cambria Math" panose="02040503050406030204" pitchFamily="18" charset="0"/>
                      </a:rPr>
                      <m:t>𝜂</m:t>
                    </m:r>
                    <m:r>
                      <a:rPr lang="en-US" i="1">
                        <a:solidFill>
                          <a:prstClr val="black"/>
                        </a:solidFill>
                        <a:latin typeface="Cambria Math" panose="02040503050406030204" pitchFamily="18" charset="0"/>
                      </a:rPr>
                      <m:t>,</m:t>
                    </m:r>
                  </m:oMath>
                </a14:m>
                <a:r>
                  <a:rPr lang="en-GB" dirty="0">
                    <a:solidFill>
                      <a:prstClr val="black"/>
                    </a:solidFill>
                  </a:rPr>
                  <a:t> at -18°C and kinematic viscosity, </a:t>
                </a:r>
                <a14:m>
                  <m:oMath xmlns:m="http://schemas.openxmlformats.org/officeDocument/2006/math">
                    <m:r>
                      <a:rPr lang="en-GB" i="1">
                        <a:solidFill>
                          <a:prstClr val="black"/>
                        </a:solidFill>
                        <a:latin typeface="Cambria Math" panose="02040503050406030204" pitchFamily="18" charset="0"/>
                      </a:rPr>
                      <m:t>𝜈</m:t>
                    </m:r>
                    <m:r>
                      <a:rPr lang="en-US" i="1">
                        <a:solidFill>
                          <a:prstClr val="black"/>
                        </a:solidFill>
                        <a:latin typeface="Cambria Math" panose="02040503050406030204" pitchFamily="18" charset="0"/>
                      </a:rPr>
                      <m:t>,</m:t>
                    </m:r>
                  </m:oMath>
                </a14:m>
                <a:r>
                  <a:rPr lang="en-GB" dirty="0">
                    <a:solidFill>
                      <a:prstClr val="black"/>
                    </a:solidFill>
                  </a:rPr>
                  <a:t> at 100°C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217" t="-238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45</a:t>
            </a:fld>
            <a:endParaRPr lang="en-GB"/>
          </a:p>
        </p:txBody>
      </p:sp>
    </p:spTree>
    <p:extLst>
      <p:ext uri="{BB962C8B-B14F-4D97-AF65-F5344CB8AC3E}">
        <p14:creationId xmlns:p14="http://schemas.microsoft.com/office/powerpoint/2010/main" val="265138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34124"/>
          </a:xfrm>
        </p:spPr>
        <p:txBody>
          <a:bodyPr/>
          <a:lstStyle/>
          <a:p>
            <a:r>
              <a:rPr lang="en-GB" dirty="0"/>
              <a:t>UNIT 4 : Classification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71601"/>
                <a:ext cx="10515600" cy="1456005"/>
              </a:xfrm>
            </p:spPr>
            <p:txBody>
              <a:bodyPr>
                <a:normAutofit fontScale="77500" lnSpcReduction="20000"/>
              </a:bodyPr>
              <a:lstStyle/>
              <a:p>
                <a:pPr marL="182563" lvl="0" indent="-19050">
                  <a:buNone/>
                </a:pPr>
                <a:r>
                  <a:rPr lang="en-GB" sz="3100" dirty="0" smtClean="0">
                    <a:solidFill>
                      <a:prstClr val="black"/>
                    </a:solidFill>
                  </a:rPr>
                  <a:t>Example:</a:t>
                </a:r>
                <a:r>
                  <a:rPr lang="en-GB" sz="3100" b="1" dirty="0" smtClean="0">
                    <a:solidFill>
                      <a:prstClr val="black"/>
                    </a:solidFill>
                  </a:rPr>
                  <a:t>   SAE 10W-30</a:t>
                </a:r>
              </a:p>
              <a:p>
                <a:pPr marL="803275" lvl="0" indent="-457200"/>
                <a:r>
                  <a:rPr lang="en-GB" dirty="0" smtClean="0">
                    <a:solidFill>
                      <a:prstClr val="black"/>
                    </a:solidFill>
                  </a:rPr>
                  <a:t>Has </a:t>
                </a:r>
                <a:r>
                  <a:rPr lang="en-GB" dirty="0">
                    <a:solidFill>
                      <a:prstClr val="black"/>
                    </a:solidFill>
                  </a:rPr>
                  <a:t>an apparent dynamic viscosity </a:t>
                </a:r>
                <a14:m>
                  <m:oMath xmlns:m="http://schemas.openxmlformats.org/officeDocument/2006/math">
                    <m:r>
                      <a:rPr lang="en-GB" i="1">
                        <a:solidFill>
                          <a:prstClr val="black"/>
                        </a:solidFill>
                        <a:latin typeface="Cambria Math" panose="02040503050406030204" pitchFamily="18" charset="0"/>
                      </a:rPr>
                      <m:t>𝜂</m:t>
                    </m:r>
                  </m:oMath>
                </a14:m>
                <a:r>
                  <a:rPr lang="en-GB" dirty="0">
                    <a:solidFill>
                      <a:prstClr val="black"/>
                    </a:solidFill>
                  </a:rPr>
                  <a:t> of 1500mPa.s at -18°C (SAE 10W), </a:t>
                </a:r>
                <a:endParaRPr lang="en-GB" dirty="0" smtClean="0">
                  <a:solidFill>
                    <a:prstClr val="black"/>
                  </a:solidFill>
                </a:endParaRPr>
              </a:p>
              <a:p>
                <a:pPr marL="803275" lvl="0" indent="-457200"/>
                <a:r>
                  <a:rPr lang="en-GB" dirty="0" smtClean="0">
                    <a:solidFill>
                      <a:prstClr val="black"/>
                    </a:solidFill>
                  </a:rPr>
                  <a:t>Has </a:t>
                </a:r>
                <a:r>
                  <a:rPr lang="en-GB" dirty="0">
                    <a:solidFill>
                      <a:prstClr val="black"/>
                    </a:solidFill>
                  </a:rPr>
                  <a:t>a kinematic viscosity of 10</a:t>
                </a:r>
                <a14:m>
                  <m:oMath xmlns:m="http://schemas.openxmlformats.org/officeDocument/2006/math">
                    <m:f>
                      <m:fPr>
                        <m:type m:val="lin"/>
                        <m:ctrlPr>
                          <a:rPr lang="en-GB" i="1">
                            <a:solidFill>
                              <a:prstClr val="black"/>
                            </a:solidFill>
                            <a:latin typeface="Cambria Math" panose="02040503050406030204" pitchFamily="18" charset="0"/>
                          </a:rPr>
                        </m:ctrlPr>
                      </m:fPr>
                      <m:num>
                        <m:sSup>
                          <m:sSupPr>
                            <m:ctrlPr>
                              <a:rPr lang="en-GB" i="1">
                                <a:solidFill>
                                  <a:prstClr val="black"/>
                                </a:solidFill>
                                <a:latin typeface="Cambria Math" panose="02040503050406030204" pitchFamily="18" charset="0"/>
                              </a:rPr>
                            </m:ctrlPr>
                          </m:sSupPr>
                          <m:e>
                            <m:r>
                              <a:rPr lang="en-GB" i="1">
                                <a:solidFill>
                                  <a:prstClr val="black"/>
                                </a:solidFill>
                                <a:latin typeface="Cambria Math" panose="02040503050406030204" pitchFamily="18" charset="0"/>
                              </a:rPr>
                              <m:t>𝑚𝑚</m:t>
                            </m:r>
                          </m:e>
                          <m:sup>
                            <m:r>
                              <a:rPr lang="en-GB" i="1">
                                <a:solidFill>
                                  <a:prstClr val="black"/>
                                </a:solidFill>
                                <a:latin typeface="Cambria Math" panose="02040503050406030204" pitchFamily="18" charset="0"/>
                              </a:rPr>
                              <m:t>2</m:t>
                            </m:r>
                          </m:sup>
                        </m:sSup>
                      </m:num>
                      <m:den>
                        <m:r>
                          <a:rPr lang="en-GB" i="1">
                            <a:solidFill>
                              <a:prstClr val="black"/>
                            </a:solidFill>
                            <a:latin typeface="Cambria Math" panose="02040503050406030204" pitchFamily="18" charset="0"/>
                          </a:rPr>
                          <m:t>𝑠</m:t>
                        </m:r>
                      </m:den>
                    </m:f>
                  </m:oMath>
                </a14:m>
                <a:r>
                  <a:rPr lang="en-GB" dirty="0">
                    <a:solidFill>
                      <a:prstClr val="black"/>
                    </a:solidFill>
                  </a:rPr>
                  <a:t> at 100°C (SAE30</a:t>
                </a:r>
                <a:r>
                  <a:rPr lang="en-GB" dirty="0" smtClean="0">
                    <a:solidFill>
                      <a:prstClr val="black"/>
                    </a:solidFill>
                  </a:rPr>
                  <a:t>).</a:t>
                </a:r>
              </a:p>
              <a:p>
                <a:pPr marL="803275" lvl="0" indent="-457200"/>
                <a:r>
                  <a:rPr lang="en-GB" dirty="0" smtClean="0">
                    <a:solidFill>
                      <a:prstClr val="black"/>
                    </a:solidFill>
                  </a:rPr>
                  <a:t>It overlaps </a:t>
                </a:r>
                <a:r>
                  <a:rPr lang="en-GB" dirty="0">
                    <a:solidFill>
                      <a:prstClr val="black"/>
                    </a:solidFill>
                  </a:rPr>
                  <a:t>three viscosity </a:t>
                </a:r>
                <a:r>
                  <a:rPr lang="en-GB" dirty="0" smtClean="0">
                    <a:solidFill>
                      <a:prstClr val="black"/>
                    </a:solidFill>
                  </a:rPr>
                  <a:t>grades.</a:t>
                </a:r>
                <a:endParaRPr lang="en-GB" dirty="0">
                  <a:solidFill>
                    <a:prstClr val="black"/>
                  </a:solidFill>
                </a:endParaRPr>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71601"/>
                <a:ext cx="10515600" cy="1456005"/>
              </a:xfrm>
              <a:blipFill rotWithShape="0">
                <a:blip r:embed="rId2"/>
                <a:stretch>
                  <a:fillRect t="-10460" r="-1391" b="-29707"/>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46</a:t>
            </a:fld>
            <a:endParaRPr lang="en-GB"/>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29562136"/>
                  </p:ext>
                </p:extLst>
              </p:nvPr>
            </p:nvGraphicFramePr>
            <p:xfrm>
              <a:off x="1269999" y="3048000"/>
              <a:ext cx="9398001" cy="3371215"/>
            </p:xfrm>
            <a:graphic>
              <a:graphicData uri="http://schemas.openxmlformats.org/drawingml/2006/table">
                <a:tbl>
                  <a:tblPr/>
                  <a:tblGrid>
                    <a:gridCol w="1625601">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548005">
                    <a:tc>
                      <a:txBody>
                        <a:bodyPr/>
                        <a:lstStyle/>
                        <a:p>
                          <a:pPr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SAE Viscosity</a:t>
                          </a:r>
                          <a:endParaRPr lang="en-GB" sz="1600" dirty="0">
                            <a:effectLst/>
                            <a:latin typeface="Times New Roman" panose="02020603050405020304" pitchFamily="18" charset="0"/>
                            <a:ea typeface="Calibri" panose="020F0502020204030204" pitchFamily="34" charset="0"/>
                          </a:endParaRPr>
                        </a:p>
                        <a:p>
                          <a:pPr algn="ctr">
                            <a:lnSpc>
                              <a:spcPct val="120000"/>
                            </a:lnSpc>
                            <a:spcAft>
                              <a:spcPts val="0"/>
                            </a:spcAft>
                          </a:pPr>
                          <a:r>
                            <a:rPr lang="en-GB" sz="1600" dirty="0" smtClean="0">
                              <a:effectLst/>
                              <a:latin typeface="Times New Roman" panose="02020603050405020304" pitchFamily="18" charset="0"/>
                              <a:ea typeface="Times New Roman" panose="02020603050405020304" pitchFamily="18" charset="0"/>
                            </a:rPr>
                            <a:t>Grade</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8740">
                            <a:lnSpc>
                              <a:spcPct val="120000"/>
                            </a:lnSpc>
                            <a:spcAft>
                              <a:spcPts val="0"/>
                            </a:spcAft>
                          </a:pPr>
                          <a:r>
                            <a:rPr lang="en-GB" sz="1600">
                              <a:effectLst/>
                              <a:latin typeface="Times New Roman" panose="02020603050405020304" pitchFamily="18" charset="0"/>
                              <a:ea typeface="Times New Roman" panose="02020603050405020304" pitchFamily="18" charset="0"/>
                            </a:rPr>
                            <a:t>Apparent viscosity η at -18</a:t>
                          </a:r>
                          <a:r>
                            <a:rPr lang="en-GB" sz="1600" baseline="30000">
                              <a:effectLst/>
                              <a:latin typeface="Times New Roman" panose="02020603050405020304" pitchFamily="18" charset="0"/>
                              <a:ea typeface="Times New Roman" panose="02020603050405020304" pitchFamily="18" charset="0"/>
                            </a:rPr>
                            <a:t>°</a:t>
                          </a:r>
                          <a:r>
                            <a:rPr lang="en-GB" sz="1600">
                              <a:effectLst/>
                              <a:latin typeface="Times New Roman" panose="02020603050405020304" pitchFamily="18" charset="0"/>
                              <a:ea typeface="Times New Roman" panose="02020603050405020304" pitchFamily="18" charset="0"/>
                            </a:rPr>
                            <a:t>C</a:t>
                          </a:r>
                          <a:endParaRPr lang="en-GB" sz="1600">
                            <a:effectLst/>
                            <a:latin typeface="Times New Roman" panose="02020603050405020304" pitchFamily="18" charset="0"/>
                            <a:ea typeface="Calibri" panose="020F0502020204030204" pitchFamily="34" charset="0"/>
                          </a:endParaRPr>
                        </a:p>
                        <a:p>
                          <a:pPr algn="ctr">
                            <a:lnSpc>
                              <a:spcPct val="120000"/>
                            </a:lnSpc>
                            <a:spcAft>
                              <a:spcPts val="0"/>
                            </a:spcAft>
                          </a:pPr>
                          <a:r>
                            <a:rPr lang="en-GB" sz="1600">
                              <a:effectLst/>
                              <a:latin typeface="Times New Roman" panose="02020603050405020304" pitchFamily="18" charset="0"/>
                              <a:ea typeface="Times New Roman" panose="02020603050405020304" pitchFamily="18" charset="0"/>
                            </a:rPr>
                            <a:t>as per DIN 51377 (mPa.s)</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78740"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Kinematic viscosity at 100</a:t>
                          </a:r>
                          <a:r>
                            <a:rPr lang="en-GB" sz="1600" baseline="30000" dirty="0">
                              <a:effectLst/>
                              <a:latin typeface="Times New Roman" panose="02020603050405020304" pitchFamily="18" charset="0"/>
                              <a:ea typeface="Times New Roman" panose="02020603050405020304" pitchFamily="18" charset="0"/>
                            </a:rPr>
                            <a:t>°</a:t>
                          </a:r>
                          <a:r>
                            <a:rPr lang="en-GB" sz="1600" dirty="0">
                              <a:effectLst/>
                              <a:latin typeface="Times New Roman" panose="02020603050405020304" pitchFamily="18" charset="0"/>
                              <a:ea typeface="Times New Roman" panose="02020603050405020304" pitchFamily="18" charset="0"/>
                            </a:rPr>
                            <a:t>C as per DIN 51550 (mm</a:t>
                          </a:r>
                          <a:r>
                            <a:rPr lang="en-GB" sz="1600" baseline="30000" dirty="0">
                              <a:effectLst/>
                              <a:latin typeface="Times New Roman" panose="02020603050405020304" pitchFamily="18" charset="0"/>
                              <a:ea typeface="Times New Roman" panose="02020603050405020304" pitchFamily="18" charset="0"/>
                            </a:rPr>
                            <a:t>2</a:t>
                          </a:r>
                          <a:r>
                            <a:rPr lang="en-GB" sz="1600" dirty="0">
                              <a:effectLst/>
                              <a:latin typeface="Times New Roman" panose="02020603050405020304" pitchFamily="18" charset="0"/>
                              <a:ea typeface="Times New Roman" panose="02020603050405020304" pitchFamily="18" charset="0"/>
                            </a:rPr>
                            <a:t>/s)</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0"/>
                      </a:ext>
                    </a:extLst>
                  </a:tr>
                  <a:tr h="222885">
                    <a:tc>
                      <a:txBody>
                        <a:bodyPr/>
                        <a:lstStyle/>
                        <a:p>
                          <a:pPr>
                            <a:lnSpc>
                              <a:spcPct val="120000"/>
                            </a:lnSpc>
                            <a:spcAft>
                              <a:spcPts val="1000"/>
                            </a:spcAft>
                          </a:pPr>
                          <a:r>
                            <a:rPr lang="en-GB" sz="1600" dirty="0">
                              <a:effectLst/>
                              <a:latin typeface="Times New Roman" panose="02020603050405020304" pitchFamily="18" charset="0"/>
                              <a:ea typeface="Times New Roman" panose="02020603050405020304" pitchFamily="18" charset="0"/>
                            </a:rPr>
                            <a:t> </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0"/>
                            </a:spcAft>
                          </a:pPr>
                          <a:r>
                            <a:rPr lang="en-GB" sz="1600">
                              <a:effectLst/>
                              <a:latin typeface="Times New Roman" panose="02020603050405020304" pitchFamily="18" charset="0"/>
                              <a:ea typeface="Times New Roman" panose="02020603050405020304" pitchFamily="18" charset="0"/>
                            </a:rPr>
                            <a:t>Min</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0"/>
                            </a:spcAft>
                          </a:pPr>
                          <a:r>
                            <a:rPr lang="en-GB" sz="1600">
                              <a:effectLst/>
                              <a:latin typeface="Times New Roman" panose="02020603050405020304" pitchFamily="18" charset="0"/>
                              <a:ea typeface="Times New Roman" panose="02020603050405020304" pitchFamily="18" charset="0"/>
                            </a:rPr>
                            <a:t>Max.</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115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5W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...............1250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3.8</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874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369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10W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1250..........2500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4.1</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6390">
                    <a:tc>
                      <a:txBody>
                        <a:bodyPr/>
                        <a:lstStyle/>
                        <a:p>
                          <a:pPr marL="180340">
                            <a:lnSpc>
                              <a:spcPct val="120000"/>
                            </a:lnSpc>
                            <a:spcAft>
                              <a:spcPts val="0"/>
                            </a:spcAft>
                          </a:pPr>
                          <a:r>
                            <a:rPr lang="en-GB" sz="1600" dirty="0" smtClean="0">
                              <a:effectLst/>
                              <a:latin typeface="Times New Roman" panose="02020603050405020304" pitchFamily="18" charset="0"/>
                              <a:ea typeface="Times New Roman" panose="02020603050405020304" pitchFamily="18" charset="0"/>
                            </a:rPr>
                            <a:t>15W,'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2500..........5000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6865">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20W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5000 ........10000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115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20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marR="269875">
                            <a:lnSpc>
                              <a:spcPct val="120000"/>
                            </a:lnSpc>
                            <a:spcAft>
                              <a:spcPts val="0"/>
                            </a:spcAft>
                          </a:pPr>
                          <a14:m>
                            <m:oMathPara xmlns:m="http://schemas.openxmlformats.org/officeDocument/2006/math">
                              <m:oMathParaPr>
                                <m:jc m:val="centerGroup"/>
                              </m:oMathParaPr>
                              <m:oMath xmlns:m="http://schemas.openxmlformats.org/officeDocument/2006/math">
                                <m:r>
                                  <a:rPr lang="en-GB" sz="1600" i="1">
                                    <a:effectLst/>
                                    <a:latin typeface="Cambria Math" panose="02040503050406030204" pitchFamily="18" charset="0"/>
                                    <a:ea typeface="Times New Roman" panose="02020603050405020304" pitchFamily="18" charset="0"/>
                                  </a:rPr>
                                  <m:t>≤9.3</m:t>
                                </m:r>
                              </m:oMath>
                            </m:oMathPara>
                          </a14:m>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2893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30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GB" sz="1600">
                              <a:effectLst/>
                              <a:latin typeface="Times New Roman" panose="02020603050405020304" pitchFamily="18" charset="0"/>
                              <a:ea typeface="Times New Roman" panose="02020603050405020304" pitchFamily="18" charset="0"/>
                            </a:rPr>
                            <a:t>9</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69875" algn="ctr">
                            <a:lnSpc>
                              <a:spcPct val="120000"/>
                            </a:lnSpc>
                            <a:spcAft>
                              <a:spcPts val="0"/>
                            </a:spcAft>
                          </a:pPr>
                          <a14:m>
                            <m:oMath xmlns:m="http://schemas.openxmlformats.org/officeDocument/2006/math">
                              <m:r>
                                <a:rPr lang="en-GB" sz="1600" i="1">
                                  <a:effectLst/>
                                  <a:latin typeface="Cambria Math" panose="02040503050406030204" pitchFamily="18" charset="0"/>
                                  <a:ea typeface="Times New Roman" panose="02020603050405020304" pitchFamily="18" charset="0"/>
                                </a:rPr>
                                <m:t>≤</m:t>
                              </m:r>
                            </m:oMath>
                          </a14:m>
                          <a:r>
                            <a:rPr lang="en-GB" sz="1600">
                              <a:effectLst/>
                              <a:latin typeface="Times New Roman" panose="02020603050405020304" pitchFamily="18" charset="0"/>
                              <a:ea typeface="Times New Roman" panose="02020603050405020304" pitchFamily="18" charset="0"/>
                            </a:rPr>
                            <a:t>12.5</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40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9535" algn="ctr">
                            <a:lnSpc>
                              <a:spcPct val="120000"/>
                            </a:lnSpc>
                            <a:spcAft>
                              <a:spcPts val="0"/>
                            </a:spcAft>
                          </a:pPr>
                          <a:r>
                            <a:rPr lang="en-GB" sz="1600">
                              <a:effectLst/>
                              <a:latin typeface="Times New Roman" panose="02020603050405020304" pitchFamily="18" charset="0"/>
                              <a:ea typeface="Times New Roman" panose="02020603050405020304" pitchFamily="18" charset="0"/>
                            </a:rPr>
                            <a:t>12.6</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69875" algn="ctr">
                            <a:lnSpc>
                              <a:spcPct val="120000"/>
                            </a:lnSpc>
                            <a:spcAft>
                              <a:spcPts val="0"/>
                            </a:spcAft>
                          </a:pPr>
                          <a14:m>
                            <m:oMath xmlns:m="http://schemas.openxmlformats.org/officeDocument/2006/math">
                              <m:r>
                                <a:rPr lang="en-GB" sz="1600" i="1">
                                  <a:effectLst/>
                                  <a:latin typeface="Cambria Math" panose="02040503050406030204" pitchFamily="18" charset="0"/>
                                  <a:ea typeface="Times New Roman" panose="02020603050405020304" pitchFamily="18" charset="0"/>
                                </a:rPr>
                                <m:t>≤</m:t>
                              </m:r>
                            </m:oMath>
                          </a14:m>
                          <a:r>
                            <a:rPr lang="en-GB" sz="1600">
                              <a:effectLst/>
                              <a:latin typeface="Times New Roman" panose="02020603050405020304" pitchFamily="18" charset="0"/>
                              <a:ea typeface="Times New Roman" panose="02020603050405020304" pitchFamily="18" charset="0"/>
                            </a:rPr>
                            <a:t>16.3</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1590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50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dirty="0">
                              <a:effectLst/>
                              <a:latin typeface="Times New Roman" panose="02020603050405020304" pitchFamily="18" charset="0"/>
                              <a:ea typeface="Times New Roman" panose="02020603050405020304" pitchFamily="18" charset="0"/>
                            </a:rPr>
                            <a:t> </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16.3</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69875" algn="ctr">
                            <a:lnSpc>
                              <a:spcPct val="120000"/>
                            </a:lnSpc>
                            <a:spcAft>
                              <a:spcPts val="0"/>
                            </a:spcAft>
                          </a:pPr>
                          <a14:m>
                            <m:oMath xmlns:m="http://schemas.openxmlformats.org/officeDocument/2006/math">
                              <m:r>
                                <a:rPr lang="en-GB" sz="1600" i="1">
                                  <a:effectLst/>
                                  <a:latin typeface="Cambria Math" panose="02040503050406030204" pitchFamily="18" charset="0"/>
                                  <a:ea typeface="Times New Roman" panose="02020603050405020304" pitchFamily="18" charset="0"/>
                                </a:rPr>
                                <m:t>≤</m:t>
                              </m:r>
                            </m:oMath>
                          </a14:m>
                          <a:r>
                            <a:rPr lang="en-GB" sz="1600" dirty="0">
                              <a:effectLst/>
                              <a:latin typeface="Times New Roman" panose="02020603050405020304" pitchFamily="18" charset="0"/>
                              <a:ea typeface="Times New Roman" panose="02020603050405020304" pitchFamily="18" charset="0"/>
                            </a:rPr>
                            <a:t>21.9</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3783084008"/>
                  </p:ext>
                </p:extLst>
              </p:nvPr>
            </p:nvGraphicFramePr>
            <p:xfrm>
              <a:off x="1269999" y="3048000"/>
              <a:ext cx="9398001" cy="3371215"/>
            </p:xfrm>
            <a:graphic>
              <a:graphicData uri="http://schemas.openxmlformats.org/drawingml/2006/table">
                <a:tbl>
                  <a:tblPr/>
                  <a:tblGrid>
                    <a:gridCol w="1625601"/>
                    <a:gridCol w="3810000"/>
                    <a:gridCol w="2717800"/>
                    <a:gridCol w="1244600"/>
                  </a:tblGrid>
                  <a:tr h="585216">
                    <a:tc>
                      <a:txBody>
                        <a:bodyPr/>
                        <a:lstStyle/>
                        <a:p>
                          <a:pPr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SAE Viscosity</a:t>
                          </a:r>
                          <a:endParaRPr lang="en-GB" sz="1600" dirty="0">
                            <a:effectLst/>
                            <a:latin typeface="Times New Roman" panose="02020603050405020304" pitchFamily="18" charset="0"/>
                            <a:ea typeface="Calibri" panose="020F0502020204030204" pitchFamily="34" charset="0"/>
                          </a:endParaRPr>
                        </a:p>
                        <a:p>
                          <a:pPr algn="ctr">
                            <a:lnSpc>
                              <a:spcPct val="120000"/>
                            </a:lnSpc>
                            <a:spcAft>
                              <a:spcPts val="0"/>
                            </a:spcAft>
                          </a:pPr>
                          <a:r>
                            <a:rPr lang="en-GB" sz="1600" dirty="0" smtClean="0">
                              <a:effectLst/>
                              <a:latin typeface="Times New Roman" panose="02020603050405020304" pitchFamily="18" charset="0"/>
                              <a:ea typeface="Times New Roman" panose="02020603050405020304" pitchFamily="18" charset="0"/>
                            </a:rPr>
                            <a:t>Grade</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8740">
                            <a:lnSpc>
                              <a:spcPct val="120000"/>
                            </a:lnSpc>
                            <a:spcAft>
                              <a:spcPts val="0"/>
                            </a:spcAft>
                          </a:pPr>
                          <a:r>
                            <a:rPr lang="en-GB" sz="1600">
                              <a:effectLst/>
                              <a:latin typeface="Times New Roman" panose="02020603050405020304" pitchFamily="18" charset="0"/>
                              <a:ea typeface="Times New Roman" panose="02020603050405020304" pitchFamily="18" charset="0"/>
                            </a:rPr>
                            <a:t>Apparent viscosity η at -18</a:t>
                          </a:r>
                          <a:r>
                            <a:rPr lang="en-GB" sz="1600" baseline="30000">
                              <a:effectLst/>
                              <a:latin typeface="Times New Roman" panose="02020603050405020304" pitchFamily="18" charset="0"/>
                              <a:ea typeface="Times New Roman" panose="02020603050405020304" pitchFamily="18" charset="0"/>
                            </a:rPr>
                            <a:t>°</a:t>
                          </a:r>
                          <a:r>
                            <a:rPr lang="en-GB" sz="1600">
                              <a:effectLst/>
                              <a:latin typeface="Times New Roman" panose="02020603050405020304" pitchFamily="18" charset="0"/>
                              <a:ea typeface="Times New Roman" panose="02020603050405020304" pitchFamily="18" charset="0"/>
                            </a:rPr>
                            <a:t>C</a:t>
                          </a:r>
                          <a:endParaRPr lang="en-GB" sz="1600">
                            <a:effectLst/>
                            <a:latin typeface="Times New Roman" panose="02020603050405020304" pitchFamily="18" charset="0"/>
                            <a:ea typeface="Calibri" panose="020F0502020204030204" pitchFamily="34" charset="0"/>
                          </a:endParaRPr>
                        </a:p>
                        <a:p>
                          <a:pPr algn="ctr">
                            <a:lnSpc>
                              <a:spcPct val="120000"/>
                            </a:lnSpc>
                            <a:spcAft>
                              <a:spcPts val="0"/>
                            </a:spcAft>
                          </a:pPr>
                          <a:r>
                            <a:rPr lang="en-GB" sz="1600">
                              <a:effectLst/>
                              <a:latin typeface="Times New Roman" panose="02020603050405020304" pitchFamily="18" charset="0"/>
                              <a:ea typeface="Times New Roman" panose="02020603050405020304" pitchFamily="18" charset="0"/>
                            </a:rPr>
                            <a:t>as per DIN 51377 (mPa.s)</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78740"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Kinematic viscosity at 100</a:t>
                          </a:r>
                          <a:r>
                            <a:rPr lang="en-GB" sz="1600" baseline="30000" dirty="0">
                              <a:effectLst/>
                              <a:latin typeface="Times New Roman" panose="02020603050405020304" pitchFamily="18" charset="0"/>
                              <a:ea typeface="Times New Roman" panose="02020603050405020304" pitchFamily="18" charset="0"/>
                            </a:rPr>
                            <a:t>°</a:t>
                          </a:r>
                          <a:r>
                            <a:rPr lang="en-GB" sz="1600" dirty="0">
                              <a:effectLst/>
                              <a:latin typeface="Times New Roman" panose="02020603050405020304" pitchFamily="18" charset="0"/>
                              <a:ea typeface="Times New Roman" panose="02020603050405020304" pitchFamily="18" charset="0"/>
                            </a:rPr>
                            <a:t>C as per DIN 51550 (mm</a:t>
                          </a:r>
                          <a:r>
                            <a:rPr lang="en-GB" sz="1600" baseline="30000" dirty="0">
                              <a:effectLst/>
                              <a:latin typeface="Times New Roman" panose="02020603050405020304" pitchFamily="18" charset="0"/>
                              <a:ea typeface="Times New Roman" panose="02020603050405020304" pitchFamily="18" charset="0"/>
                            </a:rPr>
                            <a:t>2</a:t>
                          </a:r>
                          <a:r>
                            <a:rPr lang="en-GB" sz="1600" dirty="0">
                              <a:effectLst/>
                              <a:latin typeface="Times New Roman" panose="02020603050405020304" pitchFamily="18" charset="0"/>
                              <a:ea typeface="Times New Roman" panose="02020603050405020304" pitchFamily="18" charset="0"/>
                            </a:rPr>
                            <a:t>/s)</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r>
                  <a:tr h="292608">
                    <a:tc>
                      <a:txBody>
                        <a:bodyPr/>
                        <a:lstStyle/>
                        <a:p>
                          <a:pPr>
                            <a:lnSpc>
                              <a:spcPct val="120000"/>
                            </a:lnSpc>
                            <a:spcAft>
                              <a:spcPts val="1000"/>
                            </a:spcAft>
                          </a:pPr>
                          <a:r>
                            <a:rPr lang="en-GB" sz="1600" dirty="0">
                              <a:effectLst/>
                              <a:latin typeface="Times New Roman" panose="02020603050405020304" pitchFamily="18" charset="0"/>
                              <a:ea typeface="Times New Roman" panose="02020603050405020304" pitchFamily="18" charset="0"/>
                            </a:rPr>
                            <a:t> </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100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0"/>
                            </a:spcAft>
                          </a:pPr>
                          <a:r>
                            <a:rPr lang="en-GB" sz="1600">
                              <a:effectLst/>
                              <a:latin typeface="Times New Roman" panose="02020603050405020304" pitchFamily="18" charset="0"/>
                              <a:ea typeface="Times New Roman" panose="02020603050405020304" pitchFamily="18" charset="0"/>
                            </a:rPr>
                            <a:t>Min</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20000"/>
                            </a:lnSpc>
                            <a:spcAft>
                              <a:spcPts val="0"/>
                            </a:spcAft>
                          </a:pPr>
                          <a:r>
                            <a:rPr lang="en-GB" sz="1600">
                              <a:effectLst/>
                              <a:latin typeface="Times New Roman" panose="02020603050405020304" pitchFamily="18" charset="0"/>
                              <a:ea typeface="Times New Roman" panose="02020603050405020304" pitchFamily="18" charset="0"/>
                            </a:rPr>
                            <a:t>Max.</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15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5W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...............1250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3.8</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874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369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10W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1250..........2500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4.1</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390">
                    <a:tc>
                      <a:txBody>
                        <a:bodyPr/>
                        <a:lstStyle/>
                        <a:p>
                          <a:pPr marL="180340">
                            <a:lnSpc>
                              <a:spcPct val="120000"/>
                            </a:lnSpc>
                            <a:spcAft>
                              <a:spcPts val="0"/>
                            </a:spcAft>
                          </a:pPr>
                          <a:r>
                            <a:rPr lang="en-GB" sz="1600" dirty="0" smtClean="0">
                              <a:effectLst/>
                              <a:latin typeface="Times New Roman" panose="02020603050405020304" pitchFamily="18" charset="0"/>
                              <a:ea typeface="Times New Roman" panose="02020603050405020304" pitchFamily="18" charset="0"/>
                            </a:rPr>
                            <a:t>15W,'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2500..........5000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865">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20W</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5000 ........10000</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15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20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69875" algn="just">
                            <a:lnSpc>
                              <a:spcPct val="120000"/>
                            </a:lnSpc>
                            <a:spcAft>
                              <a:spcPts val="0"/>
                            </a:spcAft>
                            <a:tabLst>
                              <a:tab pos="269875" algn="l"/>
                            </a:tabLst>
                          </a:pPr>
                          <a:r>
                            <a:rPr lang="en-GB" sz="1600">
                              <a:effectLst/>
                              <a:latin typeface="Times New Roman" panose="02020603050405020304" pitchFamily="18" charset="0"/>
                              <a:ea typeface="Times New Roman" panose="02020603050405020304" pitchFamily="18" charset="0"/>
                            </a:rPr>
                            <a:t>5.6</a:t>
                          </a:r>
                          <a:endParaRPr lang="en-GB" sz="1600">
                            <a:effectLst/>
                            <a:latin typeface="Times New Roman" panose="02020603050405020304" pitchFamily="18" charset="0"/>
                            <a:ea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656373" t="-703922" r="-1471" b="-325490"/>
                          </a:stretch>
                        </a:blipFill>
                      </a:tcPr>
                    </a:tc>
                  </a:tr>
                  <a:tr h="328930">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30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GB" sz="1600">
                              <a:effectLst/>
                              <a:latin typeface="Times New Roman" panose="02020603050405020304" pitchFamily="18" charset="0"/>
                              <a:ea typeface="Times New Roman" panose="02020603050405020304" pitchFamily="18" charset="0"/>
                            </a:rPr>
                            <a:t>9</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656373" t="-759259" r="-1471" b="-207407"/>
                          </a:stretch>
                        </a:blipFill>
                      </a:tcPr>
                    </a:tc>
                  </a:tr>
                  <a:tr h="292608">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40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a:effectLst/>
                              <a:latin typeface="Times New Roman" panose="02020603050405020304" pitchFamily="18" charset="0"/>
                              <a:ea typeface="Times New Roman" panose="02020603050405020304" pitchFamily="18" charset="0"/>
                            </a:rPr>
                            <a:t> </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9535" algn="ctr">
                            <a:lnSpc>
                              <a:spcPct val="120000"/>
                            </a:lnSpc>
                            <a:spcAft>
                              <a:spcPts val="0"/>
                            </a:spcAft>
                          </a:pPr>
                          <a:r>
                            <a:rPr lang="en-GB" sz="1600">
                              <a:effectLst/>
                              <a:latin typeface="Times New Roman" panose="02020603050405020304" pitchFamily="18" charset="0"/>
                              <a:ea typeface="Times New Roman" panose="02020603050405020304" pitchFamily="18" charset="0"/>
                            </a:rPr>
                            <a:t>12.6</a:t>
                          </a:r>
                          <a:endParaRPr lang="en-GB" sz="160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656373" t="-966667" r="-1471" b="-133333"/>
                          </a:stretch>
                        </a:blipFill>
                      </a:tcPr>
                    </a:tc>
                  </a:tr>
                  <a:tr h="292608">
                    <a:tc>
                      <a:txBody>
                        <a:bodyPr/>
                        <a:lstStyle/>
                        <a:p>
                          <a:pPr marL="180340">
                            <a:lnSpc>
                              <a:spcPct val="120000"/>
                            </a:lnSpc>
                            <a:spcAft>
                              <a:spcPts val="0"/>
                            </a:spcAft>
                          </a:pPr>
                          <a:r>
                            <a:rPr lang="en-GB" sz="1600" dirty="0">
                              <a:effectLst/>
                              <a:latin typeface="Times New Roman" panose="02020603050405020304" pitchFamily="18" charset="0"/>
                              <a:ea typeface="Times New Roman" panose="02020603050405020304" pitchFamily="18" charset="0"/>
                            </a:rPr>
                            <a:t>50</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96215" marR="90170">
                            <a:lnSpc>
                              <a:spcPct val="120000"/>
                            </a:lnSpc>
                            <a:spcAft>
                              <a:spcPts val="0"/>
                            </a:spcAft>
                          </a:pPr>
                          <a:r>
                            <a:rPr lang="en-GB" sz="1600" dirty="0">
                              <a:effectLst/>
                              <a:latin typeface="Times New Roman" panose="02020603050405020304" pitchFamily="18" charset="0"/>
                              <a:ea typeface="Times New Roman" panose="02020603050405020304" pitchFamily="18" charset="0"/>
                            </a:rPr>
                            <a:t> </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GB" sz="1600" dirty="0">
                              <a:effectLst/>
                              <a:latin typeface="Times New Roman" panose="02020603050405020304" pitchFamily="18" charset="0"/>
                              <a:ea typeface="Times New Roman" panose="02020603050405020304" pitchFamily="18" charset="0"/>
                            </a:rPr>
                            <a:t>16.3</a:t>
                          </a:r>
                          <a:endParaRPr lang="en-GB" sz="1600" dirty="0">
                            <a:effectLst/>
                            <a:latin typeface="Times New Roman" panose="02020603050405020304" pitchFamily="18" charset="0"/>
                            <a:ea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656373" t="-1066667" r="-1471" b="-33333"/>
                          </a:stretch>
                        </a:blipFill>
                      </a:tcPr>
                    </a:tc>
                  </a:tr>
                </a:tbl>
              </a:graphicData>
            </a:graphic>
          </p:graphicFrame>
        </mc:Fallback>
      </mc:AlternateContent>
    </p:spTree>
    <p:extLst>
      <p:ext uri="{BB962C8B-B14F-4D97-AF65-F5344CB8AC3E}">
        <p14:creationId xmlns:p14="http://schemas.microsoft.com/office/powerpoint/2010/main" val="5366969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UNIT 4:  </a:t>
            </a:r>
            <a:r>
              <a:rPr lang="en-GB" dirty="0" smtClean="0"/>
              <a:t>Additives</a:t>
            </a:r>
            <a:endParaRPr lang="en-GB" dirty="0"/>
          </a:p>
        </p:txBody>
      </p:sp>
      <p:sp>
        <p:nvSpPr>
          <p:cNvPr id="3" name="Content Placeholder 2"/>
          <p:cNvSpPr>
            <a:spLocks noGrp="1"/>
          </p:cNvSpPr>
          <p:nvPr>
            <p:ph idx="1"/>
          </p:nvPr>
        </p:nvSpPr>
        <p:spPr/>
        <p:txBody>
          <a:bodyPr/>
          <a:lstStyle/>
          <a:p>
            <a:pPr marL="365125" lvl="0" indent="-365125"/>
            <a:r>
              <a:rPr lang="en-US" dirty="0" smtClean="0">
                <a:solidFill>
                  <a:prstClr val="black"/>
                </a:solidFill>
              </a:rPr>
              <a:t>Improve the properties of mineral oils based hydraulic fluids,</a:t>
            </a:r>
            <a:endParaRPr lang="en-US" b="1" dirty="0">
              <a:solidFill>
                <a:prstClr val="black"/>
              </a:solidFill>
            </a:endParaRPr>
          </a:p>
          <a:p>
            <a:pPr marL="365125" lvl="0" indent="-365125"/>
            <a:r>
              <a:rPr lang="en-US" dirty="0" smtClean="0">
                <a:solidFill>
                  <a:prstClr val="black"/>
                </a:solidFill>
              </a:rPr>
              <a:t>Types of additives:</a:t>
            </a:r>
            <a:endParaRPr lang="en-US" dirty="0">
              <a:solidFill>
                <a:prstClr val="black"/>
              </a:solidFill>
            </a:endParaRPr>
          </a:p>
          <a:p>
            <a:pPr marL="1976438" lvl="0" indent="-515938" algn="just" fontAlgn="base" hangingPunct="0">
              <a:lnSpc>
                <a:spcPct val="120000"/>
              </a:lnSpc>
              <a:buFont typeface="+mj-lt"/>
              <a:buAutoNum type="alphaLcPeriod"/>
            </a:pPr>
            <a:r>
              <a:rPr lang="en-GB" dirty="0">
                <a:solidFill>
                  <a:prstClr val="black"/>
                </a:solidFill>
                <a:ea typeface="Times New Roman" panose="02020603050405020304" pitchFamily="18" charset="0"/>
              </a:rPr>
              <a:t>viscosity index improver (VI),</a:t>
            </a:r>
            <a:endParaRPr lang="en-GB" dirty="0">
              <a:solidFill>
                <a:prstClr val="black"/>
              </a:solidFill>
            </a:endParaRPr>
          </a:p>
          <a:p>
            <a:pPr marL="1976438" lvl="0" indent="-515938" algn="just" fontAlgn="base" hangingPunct="0">
              <a:lnSpc>
                <a:spcPct val="120000"/>
              </a:lnSpc>
              <a:buFont typeface="+mj-lt"/>
              <a:buAutoNum type="alphaLcPeriod"/>
            </a:pPr>
            <a:r>
              <a:rPr lang="en-GB" dirty="0">
                <a:solidFill>
                  <a:prstClr val="black"/>
                </a:solidFill>
                <a:ea typeface="Times New Roman" panose="02020603050405020304" pitchFamily="18" charset="0"/>
              </a:rPr>
              <a:t>oxidation and corrosion inhibitors,</a:t>
            </a:r>
            <a:endParaRPr lang="en-GB" dirty="0">
              <a:solidFill>
                <a:prstClr val="black"/>
              </a:solidFill>
            </a:endParaRPr>
          </a:p>
          <a:p>
            <a:pPr marL="1976438" lvl="0" indent="-515938" algn="just" fontAlgn="base" hangingPunct="0">
              <a:lnSpc>
                <a:spcPct val="120000"/>
              </a:lnSpc>
              <a:buFont typeface="+mj-lt"/>
              <a:buAutoNum type="alphaLcPeriod"/>
            </a:pPr>
            <a:r>
              <a:rPr lang="en-GB" dirty="0">
                <a:solidFill>
                  <a:prstClr val="black"/>
                </a:solidFill>
                <a:ea typeface="Times New Roman" panose="02020603050405020304" pitchFamily="18" charset="0"/>
              </a:rPr>
              <a:t>high-pressure additives (EP), and</a:t>
            </a:r>
            <a:endParaRPr lang="en-GB" dirty="0">
              <a:solidFill>
                <a:prstClr val="black"/>
              </a:solidFill>
            </a:endParaRPr>
          </a:p>
          <a:p>
            <a:pPr marL="1976438" lvl="0" indent="-515938" algn="just" fontAlgn="base" hangingPunct="0">
              <a:lnSpc>
                <a:spcPct val="120000"/>
              </a:lnSpc>
              <a:spcAft>
                <a:spcPts val="600"/>
              </a:spcAft>
              <a:buFont typeface="+mj-lt"/>
              <a:buAutoNum type="alphaLcPeriod"/>
            </a:pPr>
            <a:r>
              <a:rPr lang="en-GB" dirty="0">
                <a:solidFill>
                  <a:prstClr val="black"/>
                </a:solidFill>
                <a:ea typeface="Times New Roman" panose="02020603050405020304" pitchFamily="18" charset="0"/>
              </a:rPr>
              <a:t>detergents and dispersants</a:t>
            </a:r>
            <a:endParaRPr lang="en-GB" dirty="0">
              <a:solidFill>
                <a:prstClr val="black"/>
              </a:solidFill>
              <a:ea typeface="Calibri" panose="020F0502020204030204" pitchFamily="34"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47</a:t>
            </a:fld>
            <a:endParaRPr lang="en-GB"/>
          </a:p>
        </p:txBody>
      </p:sp>
    </p:spTree>
    <p:extLst>
      <p:ext uri="{BB962C8B-B14F-4D97-AF65-F5344CB8AC3E}">
        <p14:creationId xmlns:p14="http://schemas.microsoft.com/office/powerpoint/2010/main" val="59696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UNIT 4:  </a:t>
            </a:r>
            <a:r>
              <a:rPr lang="en-GB" dirty="0" smtClean="0"/>
              <a:t>Additives</a:t>
            </a:r>
            <a:endParaRPr lang="en-GB" dirty="0"/>
          </a:p>
        </p:txBody>
      </p:sp>
      <p:sp>
        <p:nvSpPr>
          <p:cNvPr id="3" name="Content Placeholder 2"/>
          <p:cNvSpPr>
            <a:spLocks noGrp="1"/>
          </p:cNvSpPr>
          <p:nvPr>
            <p:ph idx="1"/>
          </p:nvPr>
        </p:nvSpPr>
        <p:spPr/>
        <p:txBody>
          <a:bodyPr/>
          <a:lstStyle/>
          <a:p>
            <a:pPr marL="508000" lvl="0" indent="-457200">
              <a:spcAft>
                <a:spcPts val="1200"/>
              </a:spcAft>
            </a:pPr>
            <a:r>
              <a:rPr lang="en-US" dirty="0">
                <a:solidFill>
                  <a:prstClr val="black"/>
                </a:solidFill>
              </a:rPr>
              <a:t>Properties of Fluid improved by additives:</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smtClean="0">
                <a:solidFill>
                  <a:prstClr val="black"/>
                </a:solidFill>
                <a:ea typeface="Times New Roman" panose="02020603050405020304" pitchFamily="18" charset="0"/>
              </a:rPr>
              <a:t>viscosity-temperature </a:t>
            </a:r>
            <a:r>
              <a:rPr lang="en-GB" dirty="0">
                <a:solidFill>
                  <a:prstClr val="black"/>
                </a:solidFill>
                <a:ea typeface="Times New Roman" panose="02020603050405020304" pitchFamily="18" charset="0"/>
              </a:rPr>
              <a:t>relationship,</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smtClean="0">
                <a:solidFill>
                  <a:prstClr val="black"/>
                </a:solidFill>
                <a:ea typeface="Times New Roman" panose="02020603050405020304" pitchFamily="18" charset="0"/>
              </a:rPr>
              <a:t>resistance </a:t>
            </a:r>
            <a:r>
              <a:rPr lang="en-GB" dirty="0">
                <a:solidFill>
                  <a:prstClr val="black"/>
                </a:solidFill>
                <a:ea typeface="Times New Roman" panose="02020603050405020304" pitchFamily="18" charset="0"/>
              </a:rPr>
              <a:t>of the oil to aging</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a:solidFill>
                  <a:prstClr val="black"/>
                </a:solidFill>
                <a:ea typeface="Times New Roman" panose="02020603050405020304" pitchFamily="18" charset="0"/>
              </a:rPr>
              <a:t>corrosive protection capacity,</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smtClean="0">
                <a:solidFill>
                  <a:prstClr val="black"/>
                </a:solidFill>
                <a:ea typeface="Times New Roman" panose="02020603050405020304" pitchFamily="18" charset="0"/>
              </a:rPr>
              <a:t>load </a:t>
            </a:r>
            <a:r>
              <a:rPr lang="en-GB" dirty="0">
                <a:solidFill>
                  <a:prstClr val="black"/>
                </a:solidFill>
                <a:ea typeface="Times New Roman" panose="02020603050405020304" pitchFamily="18" charset="0"/>
              </a:rPr>
              <a:t>carrying capacity in the mixed frictional state,</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smtClean="0">
                <a:solidFill>
                  <a:prstClr val="black"/>
                </a:solidFill>
                <a:ea typeface="Times New Roman" panose="02020603050405020304" pitchFamily="18" charset="0"/>
              </a:rPr>
              <a:t>stock </a:t>
            </a:r>
            <a:r>
              <a:rPr lang="en-GB" dirty="0">
                <a:solidFill>
                  <a:prstClr val="black"/>
                </a:solidFill>
                <a:ea typeface="Times New Roman" panose="02020603050405020304" pitchFamily="18" charset="0"/>
              </a:rPr>
              <a:t>point,</a:t>
            </a:r>
            <a:endParaRPr lang="en-GB" dirty="0">
              <a:solidFill>
                <a:prstClr val="black"/>
              </a:solidFill>
            </a:endParaRPr>
          </a:p>
          <a:p>
            <a:pPr marL="1082675" lvl="1" indent="-442913" algn="just" fontAlgn="base" hangingPunct="0">
              <a:lnSpc>
                <a:spcPct val="120000"/>
              </a:lnSpc>
              <a:buFont typeface="Wingdings" panose="05000000000000000000" pitchFamily="2" charset="2"/>
              <a:buChar char=""/>
            </a:pPr>
            <a:r>
              <a:rPr lang="en-GB" dirty="0" smtClean="0">
                <a:solidFill>
                  <a:prstClr val="black"/>
                </a:solidFill>
                <a:ea typeface="Times New Roman" panose="02020603050405020304" pitchFamily="18" charset="0"/>
              </a:rPr>
              <a:t>foaming </a:t>
            </a:r>
            <a:r>
              <a:rPr lang="en-GB" dirty="0">
                <a:solidFill>
                  <a:prstClr val="black"/>
                </a:solidFill>
                <a:ea typeface="Times New Roman" panose="02020603050405020304" pitchFamily="18" charset="0"/>
              </a:rPr>
              <a:t>tendency, and</a:t>
            </a:r>
            <a:endParaRPr lang="en-GB" dirty="0">
              <a:solidFill>
                <a:prstClr val="black"/>
              </a:solidFill>
            </a:endParaRPr>
          </a:p>
          <a:p>
            <a:pPr marL="1082675" lvl="1" indent="-442913" algn="just" fontAlgn="base" hangingPunct="0">
              <a:lnSpc>
                <a:spcPct val="120000"/>
              </a:lnSpc>
              <a:spcAft>
                <a:spcPts val="600"/>
              </a:spcAft>
              <a:buFont typeface="Wingdings" panose="05000000000000000000" pitchFamily="2" charset="2"/>
              <a:buChar char=""/>
            </a:pPr>
            <a:r>
              <a:rPr lang="en-GB" dirty="0" smtClean="0">
                <a:solidFill>
                  <a:prstClr val="black"/>
                </a:solidFill>
                <a:ea typeface="Times New Roman" panose="02020603050405020304" pitchFamily="18" charset="0"/>
              </a:rPr>
              <a:t>air </a:t>
            </a:r>
            <a:r>
              <a:rPr lang="en-GB" dirty="0">
                <a:solidFill>
                  <a:prstClr val="black"/>
                </a:solidFill>
                <a:ea typeface="Times New Roman" panose="02020603050405020304" pitchFamily="18" charset="0"/>
              </a:rPr>
              <a:t>releasing capacity.</a:t>
            </a:r>
            <a:endParaRPr lang="en-GB" dirty="0">
              <a:solidFill>
                <a:prstClr val="black"/>
              </a:solidFill>
            </a:endParaRPr>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48</a:t>
            </a:fld>
            <a:endParaRPr lang="en-GB"/>
          </a:p>
        </p:txBody>
      </p:sp>
    </p:spTree>
    <p:extLst>
      <p:ext uri="{BB962C8B-B14F-4D97-AF65-F5344CB8AC3E}">
        <p14:creationId xmlns:p14="http://schemas.microsoft.com/office/powerpoint/2010/main" val="28230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753" y="759839"/>
            <a:ext cx="10515600" cy="703200"/>
          </a:xfrm>
        </p:spPr>
        <p:txBody>
          <a:bodyPr/>
          <a:lstStyle/>
          <a:p>
            <a:r>
              <a:rPr lang="en-GB" dirty="0"/>
              <a:t>UNIT 4:  </a:t>
            </a:r>
            <a:r>
              <a:rPr lang="en-GB" dirty="0" smtClean="0"/>
              <a:t>Selection of Hydraulic </a:t>
            </a:r>
            <a:r>
              <a:rPr lang="en-GB" dirty="0"/>
              <a:t>Fluids</a:t>
            </a:r>
          </a:p>
        </p:txBody>
      </p:sp>
      <p:sp>
        <p:nvSpPr>
          <p:cNvPr id="4" name="Slide Number Placeholder 3"/>
          <p:cNvSpPr>
            <a:spLocks noGrp="1"/>
          </p:cNvSpPr>
          <p:nvPr>
            <p:ph type="sldNum" sz="quarter" idx="12"/>
          </p:nvPr>
        </p:nvSpPr>
        <p:spPr/>
        <p:txBody>
          <a:bodyPr/>
          <a:lstStyle/>
          <a:p>
            <a:fld id="{7E50C373-F1D0-494F-8D6D-366C958B3429}" type="slidenum">
              <a:rPr lang="en-GB" smtClean="0"/>
              <a:pPr/>
              <a:t>49</a:t>
            </a:fld>
            <a:endParaRPr lang="en-GB" dirty="0"/>
          </a:p>
        </p:txBody>
      </p:sp>
      <p:sp>
        <p:nvSpPr>
          <p:cNvPr id="6" name="TextBox 5"/>
          <p:cNvSpPr txBox="1"/>
          <p:nvPr/>
        </p:nvSpPr>
        <p:spPr>
          <a:xfrm>
            <a:off x="1493750" y="1641953"/>
            <a:ext cx="8950776" cy="461665"/>
          </a:xfrm>
          <a:prstGeom prst="rect">
            <a:avLst/>
          </a:prstGeom>
          <a:noFill/>
        </p:spPr>
        <p:txBody>
          <a:bodyPr wrap="square" rtlCol="0">
            <a:spAutoFit/>
          </a:bodyPr>
          <a:lstStyle/>
          <a:p>
            <a:r>
              <a:rPr lang="en-GB" sz="2400" dirty="0" smtClean="0"/>
              <a:t>Based </a:t>
            </a:r>
            <a:r>
              <a:rPr lang="en-GB" sz="2400" dirty="0"/>
              <a:t>on compliance with the minimum requirements of DIN 51524</a:t>
            </a:r>
          </a:p>
        </p:txBody>
      </p:sp>
      <p:pic>
        <p:nvPicPr>
          <p:cNvPr id="11" name="Picture 10"/>
          <p:cNvPicPr>
            <a:picLocks noChangeAspect="1"/>
          </p:cNvPicPr>
          <p:nvPr/>
        </p:nvPicPr>
        <p:blipFill>
          <a:blip r:embed="rId2"/>
          <a:stretch>
            <a:fillRect/>
          </a:stretch>
        </p:blipFill>
        <p:spPr>
          <a:xfrm>
            <a:off x="1520043" y="2321364"/>
            <a:ext cx="8515350" cy="4143375"/>
          </a:xfrm>
          <a:prstGeom prst="rect">
            <a:avLst/>
          </a:prstGeom>
        </p:spPr>
      </p:pic>
      <p:pic>
        <p:nvPicPr>
          <p:cNvPr id="3" name="Picture 2"/>
          <p:cNvPicPr>
            <a:picLocks noChangeAspect="1"/>
          </p:cNvPicPr>
          <p:nvPr/>
        </p:nvPicPr>
        <p:blipFill>
          <a:blip r:embed="rId3"/>
          <a:stretch>
            <a:fillRect/>
          </a:stretch>
        </p:blipFill>
        <p:spPr>
          <a:xfrm>
            <a:off x="3053411" y="3186113"/>
            <a:ext cx="1590675" cy="2990850"/>
          </a:xfrm>
          <a:prstGeom prst="rect">
            <a:avLst/>
          </a:prstGeom>
        </p:spPr>
      </p:pic>
      <p:pic>
        <p:nvPicPr>
          <p:cNvPr id="7" name="Picture 6"/>
          <p:cNvPicPr>
            <a:picLocks noChangeAspect="1"/>
          </p:cNvPicPr>
          <p:nvPr/>
        </p:nvPicPr>
        <p:blipFill>
          <a:blip r:embed="rId4"/>
          <a:stretch>
            <a:fillRect/>
          </a:stretch>
        </p:blipFill>
        <p:spPr>
          <a:xfrm>
            <a:off x="4776003" y="3195638"/>
            <a:ext cx="1600200" cy="2981325"/>
          </a:xfrm>
          <a:prstGeom prst="rect">
            <a:avLst/>
          </a:prstGeom>
        </p:spPr>
      </p:pic>
      <p:pic>
        <p:nvPicPr>
          <p:cNvPr id="8" name="Picture 7"/>
          <p:cNvPicPr>
            <a:picLocks noChangeAspect="1"/>
          </p:cNvPicPr>
          <p:nvPr/>
        </p:nvPicPr>
        <p:blipFill>
          <a:blip r:embed="rId5"/>
          <a:stretch>
            <a:fillRect/>
          </a:stretch>
        </p:blipFill>
        <p:spPr>
          <a:xfrm>
            <a:off x="6435948" y="3190875"/>
            <a:ext cx="1609725" cy="2981325"/>
          </a:xfrm>
          <a:prstGeom prst="rect">
            <a:avLst/>
          </a:prstGeom>
        </p:spPr>
      </p:pic>
      <p:pic>
        <p:nvPicPr>
          <p:cNvPr id="9" name="Picture 8"/>
          <p:cNvPicPr>
            <a:picLocks noChangeAspect="1"/>
          </p:cNvPicPr>
          <p:nvPr/>
        </p:nvPicPr>
        <p:blipFill>
          <a:blip r:embed="rId6"/>
          <a:stretch>
            <a:fillRect/>
          </a:stretch>
        </p:blipFill>
        <p:spPr>
          <a:xfrm>
            <a:off x="8133554" y="3209706"/>
            <a:ext cx="1619250" cy="2990850"/>
          </a:xfrm>
          <a:prstGeom prst="rect">
            <a:avLst/>
          </a:prstGeom>
        </p:spPr>
      </p:pic>
    </p:spTree>
    <p:extLst>
      <p:ext uri="{BB962C8B-B14F-4D97-AF65-F5344CB8AC3E}">
        <p14:creationId xmlns:p14="http://schemas.microsoft.com/office/powerpoint/2010/main" val="369753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35613"/>
          </a:xfrm>
        </p:spPr>
        <p:txBody>
          <a:bodyPr>
            <a:normAutofit fontScale="90000"/>
          </a:bodyPr>
          <a:lstStyle/>
          <a:p>
            <a:r>
              <a:rPr lang="en-GB" dirty="0"/>
              <a:t>UNIT 4:  </a:t>
            </a:r>
            <a:r>
              <a:rPr lang="en-GB" dirty="0" smtClean="0"/>
              <a:t>Selection Criteria of Hydraulic Fluids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71625"/>
                <a:ext cx="10515600" cy="4893114"/>
              </a:xfrm>
            </p:spPr>
            <p:txBody>
              <a:bodyPr>
                <a:normAutofit fontScale="85000" lnSpcReduction="20000"/>
              </a:bodyPr>
              <a:lstStyle/>
              <a:p>
                <a:pPr marL="0" lvl="0" indent="0" algn="just" fontAlgn="base" hangingPunct="0">
                  <a:lnSpc>
                    <a:spcPct val="120000"/>
                  </a:lnSpc>
                  <a:spcAft>
                    <a:spcPts val="600"/>
                  </a:spcAft>
                  <a:buNone/>
                </a:pPr>
                <a:r>
                  <a:rPr lang="en-GB" sz="2600" dirty="0" smtClean="0">
                    <a:latin typeface="Cambria" panose="02040503050406030204" pitchFamily="18" charset="0"/>
                  </a:rPr>
                  <a:t>Suitability of Hydraulic </a:t>
                </a:r>
                <a:r>
                  <a:rPr lang="en-GB" sz="2600" dirty="0">
                    <a:latin typeface="Cambria" panose="02040503050406030204" pitchFamily="18" charset="0"/>
                  </a:rPr>
                  <a:t>fluid </a:t>
                </a:r>
                <a:r>
                  <a:rPr lang="en-GB" sz="2600" dirty="0" smtClean="0">
                    <a:latin typeface="Cambria" panose="02040503050406030204" pitchFamily="18" charset="0"/>
                  </a:rPr>
                  <a:t>depend on </a:t>
                </a:r>
                <a:r>
                  <a:rPr lang="en-GB" sz="2600" dirty="0">
                    <a:latin typeface="Cambria" panose="02040503050406030204" pitchFamily="18" charset="0"/>
                  </a:rPr>
                  <a:t>the following factors:</a:t>
                </a:r>
                <a:endParaRPr lang="en-GB" sz="2600" b="1" i="1" dirty="0" smtClean="0">
                  <a:solidFill>
                    <a:prstClr val="black"/>
                  </a:solidFill>
                  <a:latin typeface="Cambria" panose="02040503050406030204" pitchFamily="18" charset="0"/>
                  <a:ea typeface="Times New Roman" panose="02020603050405020304" pitchFamily="18" charset="0"/>
                </a:endParaRPr>
              </a:p>
              <a:p>
                <a:pPr marL="342900" lvl="0" indent="-342900" algn="just" fontAlgn="base" hangingPunct="0">
                  <a:lnSpc>
                    <a:spcPct val="120000"/>
                  </a:lnSpc>
                  <a:spcAft>
                    <a:spcPts val="600"/>
                  </a:spcAft>
                  <a:buFont typeface="+mj-lt"/>
                  <a:buAutoNum type="romanLcPeriod"/>
                </a:pPr>
                <a:r>
                  <a:rPr lang="en-GB" sz="2600" b="1" i="1" dirty="0" smtClean="0">
                    <a:solidFill>
                      <a:prstClr val="black"/>
                    </a:solidFill>
                    <a:latin typeface="Cambria" panose="02040503050406030204" pitchFamily="18" charset="0"/>
                    <a:ea typeface="Times New Roman" panose="02020603050405020304" pitchFamily="18" charset="0"/>
                  </a:rPr>
                  <a:t>Density</a:t>
                </a:r>
                <a:r>
                  <a:rPr lang="en-GB" sz="2600" b="1" i="1" dirty="0">
                    <a:solidFill>
                      <a:prstClr val="black"/>
                    </a:solidFill>
                    <a:latin typeface="Cambria" panose="02040503050406030204" pitchFamily="18" charset="0"/>
                    <a:ea typeface="Times New Roman" panose="02020603050405020304" pitchFamily="18" charset="0"/>
                  </a:rPr>
                  <a:t>, Compressibility</a:t>
                </a:r>
                <a:endParaRPr lang="en-GB" sz="2600" dirty="0">
                  <a:solidFill>
                    <a:prstClr val="black"/>
                  </a:solidFill>
                  <a:latin typeface="Cambria" panose="02040503050406030204" pitchFamily="18" charset="0"/>
                  <a:ea typeface="Calibri" panose="020F0502020204030204" pitchFamily="34" charset="0"/>
                </a:endParaRPr>
              </a:p>
              <a:p>
                <a:pPr marL="736600" lvl="0" indent="-457200">
                  <a:lnSpc>
                    <a:spcPct val="120000"/>
                  </a:lnSpc>
                  <a:buFont typeface="Wingdings" panose="05000000000000000000" pitchFamily="2" charset="2"/>
                  <a:buChar char="v"/>
                </a:pPr>
                <a:r>
                  <a:rPr lang="en-GB" sz="2600" dirty="0">
                    <a:solidFill>
                      <a:prstClr val="black"/>
                    </a:solidFill>
                    <a:latin typeface="Cambria" panose="02040503050406030204" pitchFamily="18" charset="0"/>
                    <a:ea typeface="Times New Roman" panose="02020603050405020304" pitchFamily="18" charset="0"/>
                  </a:rPr>
                  <a:t>Losses in pipes and canals are directly proportional to the density of the operating medium:</a:t>
                </a:r>
              </a:p>
              <a:p>
                <a:pPr marL="717550" lvl="0" indent="0" fontAlgn="base" hangingPunct="0">
                  <a:lnSpc>
                    <a:spcPct val="120000"/>
                  </a:lnSpc>
                  <a:buNone/>
                </a:pPr>
                <a14:m>
                  <m:oMathPara xmlns:m="http://schemas.openxmlformats.org/officeDocument/2006/math">
                    <m:oMathParaPr>
                      <m:jc m:val="left"/>
                    </m:oMathParaPr>
                    <m:oMath xmlns:m="http://schemas.openxmlformats.org/officeDocument/2006/math">
                      <m:r>
                        <m:rPr>
                          <m:sty m:val="p"/>
                        </m:rPr>
                        <a:rPr lang="en-GB" sz="2600">
                          <a:solidFill>
                            <a:prstClr val="black"/>
                          </a:solidFill>
                          <a:latin typeface="Cambria Math" panose="02040503050406030204" pitchFamily="18" charset="0"/>
                          <a:ea typeface="Times New Roman" panose="02020603050405020304" pitchFamily="18" charset="0"/>
                        </a:rPr>
                        <m:t>losses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in</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pipes</m:t>
                      </m:r>
                      <m:r>
                        <a:rPr lang="en-GB" sz="2600">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𝜆</m:t>
                      </m:r>
                      <m:f>
                        <m:fPr>
                          <m:ctrlPr>
                            <a:rPr lang="en-GB" sz="2600" i="1">
                              <a:solidFill>
                                <a:prstClr val="black"/>
                              </a:solidFill>
                              <a:latin typeface="Cambria Math" panose="02040503050406030204" pitchFamily="18" charset="0"/>
                              <a:ea typeface="Times New Roman" panose="02020603050405020304" pitchFamily="18" charset="0"/>
                            </a:rPr>
                          </m:ctrlPr>
                        </m:fPr>
                        <m:num>
                          <m:r>
                            <a:rPr lang="en-GB" sz="2600" i="1">
                              <a:solidFill>
                                <a:prstClr val="black"/>
                              </a:solidFill>
                              <a:latin typeface="Cambria Math" panose="02040503050406030204" pitchFamily="18" charset="0"/>
                              <a:ea typeface="Times New Roman" panose="02020603050405020304" pitchFamily="18" charset="0"/>
                            </a:rPr>
                            <m:t>𝐿</m:t>
                          </m:r>
                        </m:num>
                        <m:den>
                          <m:r>
                            <a:rPr lang="en-GB" sz="2600" i="1">
                              <a:solidFill>
                                <a:prstClr val="black"/>
                              </a:solidFill>
                              <a:latin typeface="Cambria Math" panose="02040503050406030204" pitchFamily="18" charset="0"/>
                              <a:ea typeface="Times New Roman" panose="02020603050405020304" pitchFamily="18" charset="0"/>
                            </a:rPr>
                            <m:t>𝑑</m:t>
                          </m:r>
                        </m:den>
                      </m:f>
                      <m:f>
                        <m:fPr>
                          <m:ctrlPr>
                            <a:rPr lang="en-GB" sz="2600" i="1">
                              <a:solidFill>
                                <a:prstClr val="black"/>
                              </a:solidFill>
                              <a:latin typeface="Cambria Math" panose="02040503050406030204" pitchFamily="18" charset="0"/>
                              <a:ea typeface="Times New Roman" panose="02020603050405020304" pitchFamily="18" charset="0"/>
                            </a:rPr>
                          </m:ctrlPr>
                        </m:fPr>
                        <m:num>
                          <m:r>
                            <a:rPr lang="en-GB" sz="2600" i="1">
                              <a:solidFill>
                                <a:prstClr val="black"/>
                              </a:solidFill>
                              <a:latin typeface="Cambria Math" panose="02040503050406030204" pitchFamily="18" charset="0"/>
                              <a:ea typeface="Times New Roman" panose="02020603050405020304" pitchFamily="18" charset="0"/>
                            </a:rPr>
                            <m:t>𝜌</m:t>
                          </m:r>
                        </m:num>
                        <m:den>
                          <m:r>
                            <a:rPr lang="en-GB" sz="2600" i="1">
                              <a:solidFill>
                                <a:prstClr val="black"/>
                              </a:solidFill>
                              <a:latin typeface="Cambria Math" panose="02040503050406030204" pitchFamily="18" charset="0"/>
                              <a:ea typeface="Times New Roman" panose="02020603050405020304" pitchFamily="18" charset="0"/>
                            </a:rPr>
                            <m:t>2</m:t>
                          </m:r>
                        </m:den>
                      </m:f>
                      <m:sSup>
                        <m:sSupPr>
                          <m:ctrlPr>
                            <a:rPr lang="en-GB" sz="2600" i="1">
                              <a:solidFill>
                                <a:prstClr val="black"/>
                              </a:solidFill>
                              <a:latin typeface="Cambria Math" panose="02040503050406030204" pitchFamily="18" charset="0"/>
                              <a:ea typeface="Times New Roman" panose="02020603050405020304" pitchFamily="18" charset="0"/>
                            </a:rPr>
                          </m:ctrlPr>
                        </m:sSupPr>
                        <m:e>
                          <m:r>
                            <a:rPr lang="en-GB" sz="2600" i="1">
                              <a:solidFill>
                                <a:prstClr val="black"/>
                              </a:solidFill>
                              <a:latin typeface="Cambria Math" panose="02040503050406030204" pitchFamily="18" charset="0"/>
                              <a:ea typeface="Times New Roman" panose="02020603050405020304" pitchFamily="18" charset="0"/>
                            </a:rPr>
                            <m:t>𝑢</m:t>
                          </m:r>
                        </m:e>
                        <m:sup>
                          <m:r>
                            <a:rPr lang="en-GB" sz="2600" i="1">
                              <a:solidFill>
                                <a:prstClr val="black"/>
                              </a:solidFill>
                              <a:latin typeface="Cambria Math" panose="02040503050406030204" pitchFamily="18" charset="0"/>
                              <a:ea typeface="Times New Roman" panose="02020603050405020304" pitchFamily="18" charset="0"/>
                            </a:rPr>
                            <m:t>2</m:t>
                          </m:r>
                        </m:sup>
                      </m:sSup>
                      <m:r>
                        <a:rPr lang="en-GB" sz="2600" i="1">
                          <a:solidFill>
                            <a:prstClr val="black"/>
                          </a:solidFill>
                          <a:latin typeface="Cambria Math" panose="02040503050406030204" pitchFamily="18" charset="0"/>
                          <a:ea typeface="Times New Roman" panose="02020603050405020304" pitchFamily="18" charset="0"/>
                        </a:rPr>
                        <m:t>=</m:t>
                      </m:r>
                      <m:r>
                        <m:rPr>
                          <m:sty m:val="p"/>
                        </m:rPr>
                        <a:rPr lang="en-GB" sz="2600">
                          <a:solidFill>
                            <a:prstClr val="black"/>
                          </a:solidFill>
                          <a:latin typeface="Cambria Math" panose="02040503050406030204" pitchFamily="18" charset="0"/>
                          <a:ea typeface="Times New Roman" panose="02020603050405020304" pitchFamily="18" charset="0"/>
                        </a:rPr>
                        <m:t>Δ</m:t>
                      </m:r>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𝑝</m:t>
                          </m:r>
                        </m:e>
                        <m:sub>
                          <m:r>
                            <a:rPr lang="en-GB" sz="2600" i="1">
                              <a:solidFill>
                                <a:prstClr val="black"/>
                              </a:solidFill>
                              <a:latin typeface="Cambria Math" panose="02040503050406030204" pitchFamily="18" charset="0"/>
                              <a:ea typeface="Times New Roman" panose="02020603050405020304" pitchFamily="18" charset="0"/>
                            </a:rPr>
                            <m:t>𝑓</m:t>
                          </m:r>
                        </m:sub>
                      </m:sSub>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𝜆</m:t>
                      </m:r>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𝑐𝑜𝑒𝑓</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𝑜𝑓</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𝑟𝑒𝑠𝑖𝑠𝑠𝑡𝑖𝑣𝑖𝑡𝑦</m:t>
                      </m:r>
                      <m:r>
                        <a:rPr lang="en-GB" sz="2600" i="1">
                          <a:solidFill>
                            <a:prstClr val="black"/>
                          </a:solidFill>
                          <a:latin typeface="Cambria Math" panose="02040503050406030204" pitchFamily="18" charset="0"/>
                          <a:ea typeface="Times New Roman" panose="02020603050405020304" pitchFamily="18" charset="0"/>
                        </a:rPr>
                        <m:t>,</m:t>
                      </m:r>
                    </m:oMath>
                  </m:oMathPara>
                </a14:m>
                <a:endParaRPr lang="en-GB" sz="2600" dirty="0">
                  <a:solidFill>
                    <a:prstClr val="black"/>
                  </a:solidFill>
                  <a:latin typeface="Cambria" panose="02040503050406030204" pitchFamily="18" charset="0"/>
                  <a:ea typeface="Calibri" panose="020F0502020204030204" pitchFamily="34" charset="0"/>
                </a:endParaRPr>
              </a:p>
              <a:p>
                <a:pPr marL="717550" lvl="0" indent="0" fontAlgn="base" hangingPunct="0">
                  <a:lnSpc>
                    <a:spcPct val="120000"/>
                  </a:lnSpc>
                  <a:buNone/>
                </a:pPr>
                <a14:m>
                  <m:oMathPara xmlns:m="http://schemas.openxmlformats.org/officeDocument/2006/math">
                    <m:oMathParaPr>
                      <m:jc m:val="left"/>
                    </m:oMathParaPr>
                    <m:oMath xmlns:m="http://schemas.openxmlformats.org/officeDocument/2006/math">
                      <m:r>
                        <m:rPr>
                          <m:sty m:val="p"/>
                        </m:rPr>
                        <a:rPr lang="en-GB" sz="2600">
                          <a:solidFill>
                            <a:prstClr val="black"/>
                          </a:solidFill>
                          <a:latin typeface="Cambria Math" panose="02040503050406030204" pitchFamily="18" charset="0"/>
                          <a:ea typeface="Times New Roman" panose="02020603050405020304" pitchFamily="18" charset="0"/>
                        </a:rPr>
                        <m:t>losses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in</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curves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branches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reduction</m:t>
                      </m:r>
                      <m:r>
                        <a:rPr lang="en-GB" sz="2600">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𝜁</m:t>
                      </m:r>
                      <m:f>
                        <m:fPr>
                          <m:ctrlPr>
                            <a:rPr lang="en-GB" sz="2600" i="1">
                              <a:solidFill>
                                <a:prstClr val="black"/>
                              </a:solidFill>
                              <a:latin typeface="Cambria Math" panose="02040503050406030204" pitchFamily="18" charset="0"/>
                              <a:ea typeface="Times New Roman" panose="02020603050405020304" pitchFamily="18" charset="0"/>
                            </a:rPr>
                          </m:ctrlPr>
                        </m:fPr>
                        <m:num>
                          <m:r>
                            <a:rPr lang="en-GB" sz="2600" i="1">
                              <a:solidFill>
                                <a:prstClr val="black"/>
                              </a:solidFill>
                              <a:latin typeface="Cambria Math" panose="02040503050406030204" pitchFamily="18" charset="0"/>
                              <a:ea typeface="Times New Roman" panose="02020603050405020304" pitchFamily="18" charset="0"/>
                            </a:rPr>
                            <m:t>𝜌</m:t>
                          </m:r>
                        </m:num>
                        <m:den>
                          <m:r>
                            <a:rPr lang="en-GB" sz="2600" i="1">
                              <a:solidFill>
                                <a:prstClr val="black"/>
                              </a:solidFill>
                              <a:latin typeface="Cambria Math" panose="02040503050406030204" pitchFamily="18" charset="0"/>
                              <a:ea typeface="Times New Roman" panose="02020603050405020304" pitchFamily="18" charset="0"/>
                            </a:rPr>
                            <m:t>2</m:t>
                          </m:r>
                        </m:den>
                      </m:f>
                      <m:sSup>
                        <m:sSupPr>
                          <m:ctrlPr>
                            <a:rPr lang="en-GB" sz="2600" i="1">
                              <a:solidFill>
                                <a:prstClr val="black"/>
                              </a:solidFill>
                              <a:latin typeface="Cambria Math" panose="02040503050406030204" pitchFamily="18" charset="0"/>
                              <a:ea typeface="Times New Roman" panose="02020603050405020304" pitchFamily="18" charset="0"/>
                            </a:rPr>
                          </m:ctrlPr>
                        </m:sSupPr>
                        <m:e>
                          <m:r>
                            <a:rPr lang="en-GB" sz="2600" i="1">
                              <a:solidFill>
                                <a:prstClr val="black"/>
                              </a:solidFill>
                              <a:latin typeface="Cambria Math" panose="02040503050406030204" pitchFamily="18" charset="0"/>
                              <a:ea typeface="Times New Roman" panose="02020603050405020304" pitchFamily="18" charset="0"/>
                            </a:rPr>
                            <m:t>𝑢</m:t>
                          </m:r>
                        </m:e>
                        <m:sup>
                          <m:r>
                            <a:rPr lang="en-GB" sz="2600" i="1">
                              <a:solidFill>
                                <a:prstClr val="black"/>
                              </a:solidFill>
                              <a:latin typeface="Cambria Math" panose="02040503050406030204" pitchFamily="18" charset="0"/>
                              <a:ea typeface="Times New Roman" panose="02020603050405020304" pitchFamily="18" charset="0"/>
                            </a:rPr>
                            <m:t>2</m:t>
                          </m:r>
                        </m:sup>
                      </m:sSup>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𝜁</m:t>
                      </m:r>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𝑐𝑜𝑒𝑓</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𝑜𝑓</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𝑟𝑒𝑠𝑖𝑠𝑠𝑡𝑖𝑣𝑖𝑡𝑦</m:t>
                      </m:r>
                    </m:oMath>
                  </m:oMathPara>
                </a14:m>
                <a:endParaRPr lang="en-GB" sz="2600" dirty="0">
                  <a:solidFill>
                    <a:prstClr val="black"/>
                  </a:solidFill>
                  <a:latin typeface="Cambria" panose="02040503050406030204" pitchFamily="18" charset="0"/>
                  <a:ea typeface="Calibri" panose="020F0502020204030204" pitchFamily="34" charset="0"/>
                </a:endParaRPr>
              </a:p>
              <a:p>
                <a:pPr marL="717550" lvl="0" indent="0" fontAlgn="base" hangingPunct="0">
                  <a:lnSpc>
                    <a:spcPct val="120000"/>
                  </a:lnSpc>
                  <a:buNone/>
                </a:pPr>
                <a14:m>
                  <m:oMathPara xmlns:m="http://schemas.openxmlformats.org/officeDocument/2006/math">
                    <m:oMathParaPr>
                      <m:jc m:val="left"/>
                    </m:oMathParaPr>
                    <m:oMath xmlns:m="http://schemas.openxmlformats.org/officeDocument/2006/math">
                      <m:r>
                        <m:rPr>
                          <m:sty m:val="p"/>
                        </m:rPr>
                        <a:rPr lang="en-US" sz="2600" b="0" i="0" smtClean="0">
                          <a:solidFill>
                            <a:prstClr val="black"/>
                          </a:solidFill>
                          <a:latin typeface="Cambria Math" panose="02040503050406030204" pitchFamily="18" charset="0"/>
                          <a:ea typeface="Times New Roman" panose="02020603050405020304" pitchFamily="18" charset="0"/>
                        </a:rPr>
                        <m:t>S</m:t>
                      </m:r>
                      <m:r>
                        <m:rPr>
                          <m:sty m:val="p"/>
                        </m:rPr>
                        <a:rPr lang="en-GB" sz="2600">
                          <a:solidFill>
                            <a:prstClr val="black"/>
                          </a:solidFill>
                          <a:latin typeface="Cambria Math" panose="02040503050406030204" pitchFamily="18" charset="0"/>
                          <a:ea typeface="Times New Roman" panose="02020603050405020304" pitchFamily="18" charset="0"/>
                        </a:rPr>
                        <m:t>hock</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losses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across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changes</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in</m:t>
                      </m:r>
                      <m:r>
                        <a:rPr lang="en-GB" sz="2600">
                          <a:solidFill>
                            <a:prstClr val="black"/>
                          </a:solidFill>
                          <a:latin typeface="Cambria Math" panose="02040503050406030204" pitchFamily="18" charset="0"/>
                          <a:ea typeface="Times New Roman" panose="02020603050405020304" pitchFamily="18" charset="0"/>
                        </a:rPr>
                        <m:t> </m:t>
                      </m:r>
                      <m:r>
                        <m:rPr>
                          <m:sty m:val="p"/>
                        </m:rPr>
                        <a:rPr lang="en-GB" sz="2600">
                          <a:solidFill>
                            <a:prstClr val="black"/>
                          </a:solidFill>
                          <a:latin typeface="Cambria Math" panose="02040503050406030204" pitchFamily="18" charset="0"/>
                          <a:ea typeface="Times New Roman" panose="02020603050405020304" pitchFamily="18" charset="0"/>
                        </a:rPr>
                        <m:t>area</m:t>
                      </m:r>
                      <m:r>
                        <a:rPr lang="en-GB" sz="2600">
                          <a:solidFill>
                            <a:prstClr val="black"/>
                          </a:solidFill>
                          <a:latin typeface="Cambria Math" panose="02040503050406030204" pitchFamily="18" charset="0"/>
                          <a:ea typeface="Times New Roman" panose="02020603050405020304" pitchFamily="18" charset="0"/>
                        </a:rPr>
                        <m:t>=</m:t>
                      </m:r>
                      <m:f>
                        <m:fPr>
                          <m:ctrlPr>
                            <a:rPr lang="en-GB" sz="2600" i="1">
                              <a:solidFill>
                                <a:prstClr val="black"/>
                              </a:solidFill>
                              <a:latin typeface="Cambria Math" panose="02040503050406030204" pitchFamily="18" charset="0"/>
                              <a:ea typeface="Times New Roman" panose="02020603050405020304" pitchFamily="18" charset="0"/>
                            </a:rPr>
                          </m:ctrlPr>
                        </m:fPr>
                        <m:num>
                          <m:r>
                            <a:rPr lang="en-GB" sz="2600" i="1">
                              <a:solidFill>
                                <a:prstClr val="black"/>
                              </a:solidFill>
                              <a:latin typeface="Cambria Math" panose="02040503050406030204" pitchFamily="18" charset="0"/>
                              <a:ea typeface="Times New Roman" panose="02020603050405020304" pitchFamily="18" charset="0"/>
                            </a:rPr>
                            <m:t>𝜌</m:t>
                          </m:r>
                        </m:num>
                        <m:den>
                          <m:r>
                            <a:rPr lang="en-GB" sz="2600" i="1">
                              <a:solidFill>
                                <a:prstClr val="black"/>
                              </a:solidFill>
                              <a:latin typeface="Cambria Math" panose="02040503050406030204" pitchFamily="18" charset="0"/>
                              <a:ea typeface="Times New Roman" panose="02020603050405020304" pitchFamily="18" charset="0"/>
                            </a:rPr>
                            <m:t>2</m:t>
                          </m:r>
                        </m:den>
                      </m:f>
                      <m:sSup>
                        <m:sSupPr>
                          <m:ctrlPr>
                            <a:rPr lang="en-GB" sz="2600" i="1">
                              <a:solidFill>
                                <a:prstClr val="black"/>
                              </a:solidFill>
                              <a:latin typeface="Cambria Math" panose="02040503050406030204" pitchFamily="18" charset="0"/>
                              <a:ea typeface="Times New Roman" panose="02020603050405020304" pitchFamily="18" charset="0"/>
                            </a:rPr>
                          </m:ctrlPr>
                        </m:sSupPr>
                        <m:e>
                          <m:d>
                            <m:dPr>
                              <m:ctrlPr>
                                <a:rPr lang="en-GB" sz="2600" i="1">
                                  <a:solidFill>
                                    <a:prstClr val="black"/>
                                  </a:solidFill>
                                  <a:latin typeface="Cambria Math" panose="02040503050406030204" pitchFamily="18" charset="0"/>
                                  <a:ea typeface="Times New Roman" panose="02020603050405020304" pitchFamily="18" charset="0"/>
                                </a:rPr>
                              </m:ctrlPr>
                            </m:dPr>
                            <m:e>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𝑢</m:t>
                                  </m:r>
                                </m:e>
                                <m:sub>
                                  <m:r>
                                    <a:rPr lang="en-GB" sz="2600" i="1">
                                      <a:solidFill>
                                        <a:prstClr val="black"/>
                                      </a:solidFill>
                                      <a:latin typeface="Cambria Math" panose="02040503050406030204" pitchFamily="18" charset="0"/>
                                      <a:ea typeface="Times New Roman" panose="02020603050405020304" pitchFamily="18" charset="0"/>
                                    </a:rPr>
                                    <m:t>1</m:t>
                                  </m:r>
                                </m:sub>
                              </m:sSub>
                              <m:r>
                                <a:rPr lang="en-GB" sz="2600" i="1">
                                  <a:solidFill>
                                    <a:prstClr val="black"/>
                                  </a:solidFill>
                                  <a:latin typeface="Cambria Math" panose="02040503050406030204" pitchFamily="18" charset="0"/>
                                  <a:ea typeface="Times New Roman" panose="02020603050405020304" pitchFamily="18" charset="0"/>
                                </a:rPr>
                                <m:t>−</m:t>
                              </m:r>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𝑢</m:t>
                                  </m:r>
                                </m:e>
                                <m:sub>
                                  <m:r>
                                    <a:rPr lang="en-GB" sz="2600" i="1">
                                      <a:solidFill>
                                        <a:prstClr val="black"/>
                                      </a:solidFill>
                                      <a:latin typeface="Cambria Math" panose="02040503050406030204" pitchFamily="18" charset="0"/>
                                      <a:ea typeface="Times New Roman" panose="02020603050405020304" pitchFamily="18" charset="0"/>
                                    </a:rPr>
                                    <m:t>2</m:t>
                                  </m:r>
                                </m:sub>
                              </m:sSub>
                            </m:e>
                          </m:d>
                        </m:e>
                        <m:sup>
                          <m:r>
                            <a:rPr lang="en-GB" sz="2600" i="1">
                              <a:solidFill>
                                <a:prstClr val="black"/>
                              </a:solidFill>
                              <a:latin typeface="Cambria Math" panose="02040503050406030204" pitchFamily="18" charset="0"/>
                              <a:ea typeface="Times New Roman" panose="02020603050405020304" pitchFamily="18" charset="0"/>
                            </a:rPr>
                            <m:t>2</m:t>
                          </m:r>
                        </m:sup>
                      </m:sSup>
                    </m:oMath>
                  </m:oMathPara>
                </a14:m>
                <a:endParaRPr lang="en-GB" sz="2600" dirty="0">
                  <a:solidFill>
                    <a:prstClr val="black"/>
                  </a:solidFill>
                  <a:latin typeface="Cambria" panose="02040503050406030204" pitchFamily="18" charset="0"/>
                  <a:ea typeface="Calibri" panose="020F0502020204030204" pitchFamily="34" charset="0"/>
                </a:endParaRPr>
              </a:p>
              <a:p>
                <a:pPr marL="635000" lvl="0" indent="-457200">
                  <a:lnSpc>
                    <a:spcPct val="120000"/>
                  </a:lnSpc>
                  <a:buFont typeface="Wingdings" panose="05000000000000000000" pitchFamily="2" charset="2"/>
                  <a:buChar char="v"/>
                </a:pPr>
                <a:r>
                  <a:rPr lang="en-GB" sz="2600" dirty="0">
                    <a:solidFill>
                      <a:prstClr val="black"/>
                    </a:solidFill>
                    <a:latin typeface="Cambria" panose="02040503050406030204" pitchFamily="18" charset="0"/>
                    <a:ea typeface="Times New Roman" panose="02020603050405020304" pitchFamily="18" charset="0"/>
                  </a:rPr>
                  <a:t>Volume of a fluid increases when the temperature increases. Thus, density reduces</a:t>
                </a:r>
                <a:r>
                  <a:rPr lang="en-GB" sz="2600" dirty="0" smtClean="0">
                    <a:solidFill>
                      <a:prstClr val="black"/>
                    </a:solidFill>
                    <a:latin typeface="Cambria" panose="02040503050406030204" pitchFamily="18" charset="0"/>
                    <a:ea typeface="Times New Roman" panose="02020603050405020304" pitchFamily="18" charset="0"/>
                  </a:rPr>
                  <a:t>.</a:t>
                </a:r>
                <a:endParaRPr lang="en-GB" sz="2600" dirty="0">
                  <a:solidFill>
                    <a:prstClr val="black"/>
                  </a:solidFill>
                  <a:latin typeface="Cambria"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71625"/>
                <a:ext cx="10515600" cy="4893114"/>
              </a:xfrm>
              <a:blipFill rotWithShape="0">
                <a:blip r:embed="rId2"/>
                <a:stretch>
                  <a:fillRect l="-754" t="-873"/>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50</a:t>
            </a:fld>
            <a:endParaRPr lang="en-GB"/>
          </a:p>
        </p:txBody>
      </p:sp>
    </p:spTree>
    <p:extLst>
      <p:ext uri="{BB962C8B-B14F-4D97-AF65-F5344CB8AC3E}">
        <p14:creationId xmlns:p14="http://schemas.microsoft.com/office/powerpoint/2010/main" val="40202075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69821"/>
          </a:xfrm>
        </p:spPr>
        <p:txBody>
          <a:bodyPr>
            <a:normAutofit/>
          </a:bodyPr>
          <a:lstStyle/>
          <a:p>
            <a:r>
              <a:rPr lang="en-GB" dirty="0"/>
              <a:t>UNIT 4 :  Selection Criteria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71500" lvl="0" indent="-571500" algn="just" fontAlgn="base" hangingPunct="0">
                  <a:lnSpc>
                    <a:spcPct val="120000"/>
                  </a:lnSpc>
                  <a:spcBef>
                    <a:spcPts val="1200"/>
                  </a:spcBef>
                  <a:spcAft>
                    <a:spcPts val="600"/>
                  </a:spcAft>
                  <a:buFont typeface="+mj-lt"/>
                  <a:buAutoNum type="romanLcPeriod" startAt="2"/>
                </a:pPr>
                <a:r>
                  <a:rPr lang="en-GB" b="1" i="1" dirty="0">
                    <a:solidFill>
                      <a:prstClr val="black"/>
                    </a:solidFill>
                    <a:latin typeface="Times New Roman" panose="02020603050405020304" pitchFamily="18" charset="0"/>
                    <a:ea typeface="Times New Roman" panose="02020603050405020304" pitchFamily="18" charset="0"/>
                  </a:rPr>
                  <a:t>Viscosity:</a:t>
                </a:r>
                <a:endParaRPr lang="en-GB" dirty="0">
                  <a:solidFill>
                    <a:prstClr val="black"/>
                  </a:solidFill>
                  <a:latin typeface="Times New Roman" panose="02020603050405020304" pitchFamily="18" charset="0"/>
                  <a:ea typeface="Calibri" panose="020F0502020204030204" pitchFamily="34" charset="0"/>
                </a:endParaRPr>
              </a:p>
              <a:p>
                <a:pPr marL="711200" lvl="0" indent="-457200" algn="just">
                  <a:lnSpc>
                    <a:spcPct val="120000"/>
                  </a:lnSpc>
                  <a:spcAft>
                    <a:spcPts val="600"/>
                  </a:spcAft>
                  <a:buFont typeface="Wingdings" panose="05000000000000000000" pitchFamily="2" charset="2"/>
                  <a:buChar char="v"/>
                </a:pPr>
                <a:r>
                  <a:rPr lang="en-GB" dirty="0">
                    <a:solidFill>
                      <a:prstClr val="black"/>
                    </a:solidFill>
                    <a:latin typeface="Times New Roman" panose="02020603050405020304" pitchFamily="18" charset="0"/>
                    <a:ea typeface="Times New Roman" panose="02020603050405020304" pitchFamily="18" charset="0"/>
                  </a:rPr>
                  <a:t>It is a measure of the </a:t>
                </a:r>
                <a:r>
                  <a:rPr lang="en-GB" b="1" i="1" dirty="0">
                    <a:solidFill>
                      <a:prstClr val="black"/>
                    </a:solidFill>
                    <a:latin typeface="Times New Roman" panose="02020603050405020304" pitchFamily="18" charset="0"/>
                    <a:ea typeface="Times New Roman" panose="02020603050405020304" pitchFamily="18" charset="0"/>
                  </a:rPr>
                  <a:t>internal friction</a:t>
                </a:r>
                <a:r>
                  <a:rPr lang="en-GB" dirty="0">
                    <a:solidFill>
                      <a:prstClr val="black"/>
                    </a:solidFill>
                    <a:latin typeface="Times New Roman" panose="02020603050405020304" pitchFamily="18" charset="0"/>
                    <a:ea typeface="Times New Roman" panose="02020603050405020304" pitchFamily="18" charset="0"/>
                  </a:rPr>
                  <a:t> of the fluid. </a:t>
                </a:r>
              </a:p>
              <a:p>
                <a:pPr marL="711200" lvl="0" indent="-457200" algn="just">
                  <a:lnSpc>
                    <a:spcPct val="120000"/>
                  </a:lnSpc>
                  <a:spcAft>
                    <a:spcPts val="600"/>
                  </a:spcAft>
                  <a:buFont typeface="Wingdings" panose="05000000000000000000" pitchFamily="2" charset="2"/>
                  <a:buChar char="v"/>
                </a:pPr>
                <a:r>
                  <a:rPr lang="en-GB" dirty="0">
                    <a:solidFill>
                      <a:prstClr val="black"/>
                    </a:solidFill>
                    <a:latin typeface="Times New Roman" panose="02020603050405020304" pitchFamily="18" charset="0"/>
                    <a:ea typeface="Times New Roman" panose="02020603050405020304" pitchFamily="18" charset="0"/>
                  </a:rPr>
                  <a:t>Dynamic viscosity, η, is more of importance than the kinematic viscosity, ν, when describing the load carrying capacity of a fluid</a:t>
                </a:r>
              </a:p>
              <a:p>
                <a:pPr marL="711200" lvl="0" indent="-457200" algn="just">
                  <a:lnSpc>
                    <a:spcPct val="120000"/>
                  </a:lnSpc>
                  <a:spcAft>
                    <a:spcPts val="600"/>
                  </a:spcAft>
                  <a:buFont typeface="Wingdings" panose="05000000000000000000" pitchFamily="2" charset="2"/>
                  <a:buChar char="v"/>
                </a:pPr>
                <a:r>
                  <a:rPr lang="en-GB" dirty="0">
                    <a:solidFill>
                      <a:prstClr val="black"/>
                    </a:solidFill>
                    <a:latin typeface="Times New Roman" panose="02020603050405020304" pitchFamily="18" charset="0"/>
                    <a:ea typeface="Times New Roman" panose="02020603050405020304" pitchFamily="18" charset="0"/>
                  </a:rPr>
                  <a:t>However, fluids are classified based on their kinematic viscosity</a:t>
                </a:r>
                <a:r>
                  <a:rPr lang="en-GB" dirty="0" smtClean="0">
                    <a:solidFill>
                      <a:prstClr val="black"/>
                    </a:solidFill>
                    <a:latin typeface="Times New Roman" panose="02020603050405020304" pitchFamily="18" charset="0"/>
                    <a:ea typeface="Times New Roman" panose="02020603050405020304" pitchFamily="18" charset="0"/>
                  </a:rPr>
                  <a:t>.</a:t>
                </a:r>
                <a:endParaRPr lang="en-GB" dirty="0">
                  <a:solidFill>
                    <a:prstClr val="black"/>
                  </a:solidFill>
                  <a:latin typeface="Times New Roman" panose="02020603050405020304" pitchFamily="18" charset="0"/>
                  <a:ea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cs typeface="Times New Roman" panose="02020603050405020304" pitchFamily="18" charset="0"/>
                        </a:rPr>
                        <m:t>𝜈</m:t>
                      </m:r>
                      <m:r>
                        <a:rPr lang="en-GB" i="1">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a:effectLst/>
                              <a:latin typeface="Cambria Math" panose="02040503050406030204" pitchFamily="18" charset="0"/>
                              <a:ea typeface="Times New Roman" panose="02020603050405020304" pitchFamily="18" charset="0"/>
                            </a:rPr>
                          </m:ctrlPr>
                        </m:fPr>
                        <m:num>
                          <m:r>
                            <a:rPr lang="en-GB" i="1">
                              <a:effectLst/>
                              <a:latin typeface="Cambria Math" panose="02040503050406030204" pitchFamily="18" charset="0"/>
                              <a:ea typeface="Times New Roman" panose="02020603050405020304" pitchFamily="18" charset="0"/>
                              <a:cs typeface="Times New Roman" panose="02020603050405020304" pitchFamily="18" charset="0"/>
                            </a:rPr>
                            <m:t>𝜂</m:t>
                          </m:r>
                        </m:num>
                        <m:den>
                          <m:r>
                            <a:rPr lang="en-GB" i="1">
                              <a:effectLst/>
                              <a:latin typeface="Cambria Math" panose="02040503050406030204" pitchFamily="18" charset="0"/>
                              <a:ea typeface="Times New Roman" panose="02020603050405020304" pitchFamily="18" charset="0"/>
                              <a:cs typeface="Times New Roman" panose="02020603050405020304" pitchFamily="18" charset="0"/>
                            </a:rPr>
                            <m:t>𝜌</m:t>
                          </m:r>
                        </m:den>
                      </m:f>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i="1">
                              <a:effectLst/>
                              <a:latin typeface="Cambria Math" panose="02040503050406030204" pitchFamily="18" charset="0"/>
                              <a:ea typeface="Times New Roman" panose="02020603050405020304" pitchFamily="18" charset="0"/>
                            </a:rPr>
                          </m:ctrlPr>
                        </m:dPr>
                        <m:e>
                          <m:f>
                            <m:fPr>
                              <m:ctrlPr>
                                <a:rPr lang="en-GB" i="1">
                                  <a:effectLst/>
                                  <a:latin typeface="Cambria Math" panose="02040503050406030204" pitchFamily="18" charset="0"/>
                                  <a:ea typeface="Times New Roman" panose="02020603050405020304" pitchFamily="18" charset="0"/>
                                </a:rPr>
                              </m:ctrlPr>
                            </m:fPr>
                            <m:num>
                              <m:sSup>
                                <m:sSupPr>
                                  <m:ctrlPr>
                                    <a:rPr lang="en-GB" i="1">
                                      <a:effectLst/>
                                      <a:latin typeface="Cambria Math" panose="02040503050406030204" pitchFamily="18" charset="0"/>
                                      <a:ea typeface="Times New Roman" panose="02020603050405020304" pitchFamily="18" charset="0"/>
                                    </a:rPr>
                                  </m:ctrlPr>
                                </m:sSupPr>
                                <m:e>
                                  <m:r>
                                    <a:rPr lang="en-GB" i="1">
                                      <a:effectLst/>
                                      <a:latin typeface="Cambria Math" panose="02040503050406030204" pitchFamily="18" charset="0"/>
                                      <a:ea typeface="Times New Roman" panose="02020603050405020304" pitchFamily="18" charset="0"/>
                                      <a:cs typeface="Times New Roman" panose="02020603050405020304" pitchFamily="18" charset="0"/>
                                    </a:rPr>
                                    <m:t>𝑚𝑚</m:t>
                                  </m:r>
                                </m:e>
                                <m:sup>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r>
                                <a:rPr lang="en-GB"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𝜏</m:t>
                      </m:r>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𝜂</m:t>
                      </m:r>
                      <m:f>
                        <m:fPr>
                          <m:ctrlPr>
                            <a:rPr lang="en-GB" i="1">
                              <a:effectLst/>
                              <a:latin typeface="Cambria Math" panose="02040503050406030204" pitchFamily="18" charset="0"/>
                              <a:ea typeface="Times New Roman" panose="02020603050405020304" pitchFamily="18" charset="0"/>
                            </a:rPr>
                          </m:ctrlPr>
                        </m:fPr>
                        <m:num>
                          <m:r>
                            <a:rPr lang="en-GB" i="1">
                              <a:effectLst/>
                              <a:latin typeface="Cambria Math" panose="02040503050406030204" pitchFamily="18" charset="0"/>
                              <a:ea typeface="Times New Roman" panose="02020603050405020304" pitchFamily="18" charset="0"/>
                              <a:cs typeface="Times New Roman" panose="02020603050405020304" pitchFamily="18" charset="0"/>
                            </a:rPr>
                            <m:t>𝑑𝑢</m:t>
                          </m:r>
                        </m:num>
                        <m:den>
                          <m:r>
                            <a:rPr lang="en-GB" i="1">
                              <a:effectLst/>
                              <a:latin typeface="Cambria Math" panose="02040503050406030204" pitchFamily="18" charset="0"/>
                              <a:ea typeface="Times New Roman" panose="02020603050405020304" pitchFamily="18" charset="0"/>
                              <a:cs typeface="Times New Roman" panose="02020603050405020304" pitchFamily="18" charset="0"/>
                            </a:rPr>
                            <m:t>𝑑𝑦</m:t>
                          </m:r>
                        </m:den>
                      </m:f>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i="1">
                              <a:effectLst/>
                              <a:latin typeface="Cambria Math" panose="02040503050406030204" pitchFamily="18" charset="0"/>
                              <a:ea typeface="Times New Roman" panose="02020603050405020304" pitchFamily="18" charset="0"/>
                            </a:rPr>
                          </m:ctrlPr>
                        </m:dPr>
                        <m:e>
                          <m:f>
                            <m:fPr>
                              <m:ctrlPr>
                                <a:rPr lang="en-GB" i="1">
                                  <a:effectLst/>
                                  <a:latin typeface="Cambria Math" panose="02040503050406030204" pitchFamily="18" charset="0"/>
                                  <a:ea typeface="Times New Roman" panose="02020603050405020304" pitchFamily="18" charset="0"/>
                                </a:rPr>
                              </m:ctrlPr>
                            </m:fPr>
                            <m:num>
                              <m:r>
                                <a:rPr lang="en-GB" i="1">
                                  <a:effectLst/>
                                  <a:latin typeface="Cambria Math" panose="02040503050406030204" pitchFamily="18" charset="0"/>
                                  <a:ea typeface="Times New Roman" panose="02020603050405020304" pitchFamily="18" charset="0"/>
                                  <a:cs typeface="Times New Roman" panose="02020603050405020304" pitchFamily="18" charset="0"/>
                                </a:rPr>
                                <m:t>𝑁</m:t>
                              </m:r>
                            </m:num>
                            <m:den>
                              <m:sSup>
                                <m:sSupPr>
                                  <m:ctrlPr>
                                    <a:rPr lang="en-GB" i="1">
                                      <a:effectLst/>
                                      <a:latin typeface="Cambria Math" panose="02040503050406030204" pitchFamily="18" charset="0"/>
                                      <a:ea typeface="Times New Roman" panose="02020603050405020304" pitchFamily="18" charset="0"/>
                                    </a:rPr>
                                  </m:ctrlPr>
                                </m:sSupPr>
                                <m:e>
                                  <m:r>
                                    <a:rPr lang="en-GB"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e>
                      </m:d>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𝜂</m:t>
                      </m:r>
                      <m:r>
                        <a:rPr lang="en-GB"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i="1">
                              <a:effectLst/>
                              <a:latin typeface="Cambria Math" panose="02040503050406030204" pitchFamily="18" charset="0"/>
                              <a:ea typeface="Times New Roman" panose="02020603050405020304" pitchFamily="18" charset="0"/>
                            </a:rPr>
                          </m:ctrlPr>
                        </m:dPr>
                        <m:e>
                          <m:f>
                            <m:fPr>
                              <m:ctrlPr>
                                <a:rPr lang="en-GB" i="1">
                                  <a:effectLst/>
                                  <a:latin typeface="Cambria Math" panose="02040503050406030204" pitchFamily="18" charset="0"/>
                                  <a:ea typeface="Times New Roman" panose="02020603050405020304" pitchFamily="18" charset="0"/>
                                </a:rPr>
                              </m:ctrlPr>
                            </m:fPr>
                            <m:num>
                              <m:r>
                                <a:rPr lang="en-GB" i="1">
                                  <a:effectLst/>
                                  <a:latin typeface="Cambria Math" panose="02040503050406030204" pitchFamily="18" charset="0"/>
                                  <a:ea typeface="Times New Roman" panose="02020603050405020304" pitchFamily="18" charset="0"/>
                                  <a:cs typeface="Times New Roman" panose="02020603050405020304" pitchFamily="18" charset="0"/>
                                </a:rPr>
                                <m:t>𝑁</m:t>
                              </m:r>
                            </m:num>
                            <m:den>
                              <m:sSup>
                                <m:sSupPr>
                                  <m:ctrlPr>
                                    <a:rPr lang="en-GB" i="1">
                                      <a:effectLst/>
                                      <a:latin typeface="Cambria Math" panose="02040503050406030204" pitchFamily="18" charset="0"/>
                                      <a:ea typeface="Times New Roman" panose="02020603050405020304" pitchFamily="18" charset="0"/>
                                    </a:rPr>
                                  </m:ctrlPr>
                                </m:sSupPr>
                                <m:e>
                                  <m:r>
                                    <a:rPr lang="en-GB"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GB"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𝑠</m:t>
                          </m:r>
                        </m:e>
                      </m:d>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GB" i="1">
                              <a:effectLst/>
                              <a:latin typeface="Cambria Math" panose="02040503050406030204" pitchFamily="18" charset="0"/>
                              <a:ea typeface="Times New Roman" panose="02020603050405020304" pitchFamily="18" charset="0"/>
                            </a:rPr>
                          </m:ctrlPr>
                        </m:dPr>
                        <m:e>
                          <m:r>
                            <a:rPr lang="en-GB" i="1">
                              <a:effectLst/>
                              <a:latin typeface="Cambria Math" panose="02040503050406030204" pitchFamily="18" charset="0"/>
                              <a:ea typeface="Times New Roman" panose="02020603050405020304" pitchFamily="18" charset="0"/>
                              <a:cs typeface="Times New Roman" panose="02020603050405020304" pitchFamily="18" charset="0"/>
                            </a:rPr>
                            <m:t>𝑃𝑎</m:t>
                          </m:r>
                          <m:r>
                            <a:rPr lang="en-GB" i="1">
                              <a:effectLst/>
                              <a:latin typeface="Cambria Math" panose="02040503050406030204" pitchFamily="18" charset="0"/>
                              <a:ea typeface="Times New Roman" panose="02020603050405020304" pitchFamily="18" charset="0"/>
                              <a:cs typeface="Times New Roman" panose="02020603050405020304" pitchFamily="18" charset="0"/>
                            </a:rPr>
                            <m:t>.</m:t>
                          </m:r>
                          <m:r>
                            <a:rPr lang="en-GB" i="1">
                              <a:effectLst/>
                              <a:latin typeface="Cambria Math" panose="02040503050406030204" pitchFamily="18" charset="0"/>
                              <a:ea typeface="Times New Roman" panose="02020603050405020304" pitchFamily="18" charset="0"/>
                              <a:cs typeface="Times New Roman" panose="02020603050405020304" pitchFamily="18" charset="0"/>
                            </a:rPr>
                            <m:t>𝑠</m:t>
                          </m:r>
                        </m:e>
                      </m:d>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420" r="-115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51</a:t>
            </a:fld>
            <a:endParaRPr lang="en-GB"/>
          </a:p>
        </p:txBody>
      </p:sp>
    </p:spTree>
    <p:extLst>
      <p:ext uri="{BB962C8B-B14F-4D97-AF65-F5344CB8AC3E}">
        <p14:creationId xmlns:p14="http://schemas.microsoft.com/office/powerpoint/2010/main" val="36263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normAutofit fontScale="92500"/>
          </a:bodyPr>
          <a:lstStyle/>
          <a:p>
            <a:pPr marL="571500" indent="-571500">
              <a:lnSpc>
                <a:spcPct val="110000"/>
              </a:lnSpc>
              <a:spcBef>
                <a:spcPts val="1800"/>
              </a:spcBef>
              <a:buFont typeface="+mj-lt"/>
              <a:buAutoNum type="romanLcPeriod" startAt="2"/>
            </a:pPr>
            <a:r>
              <a:rPr lang="en-GB" b="1" i="1" dirty="0">
                <a:solidFill>
                  <a:prstClr val="black"/>
                </a:solidFill>
                <a:latin typeface="Times New Roman" panose="02020603050405020304" pitchFamily="18" charset="0"/>
                <a:ea typeface="Times New Roman" panose="02020603050405020304" pitchFamily="18" charset="0"/>
              </a:rPr>
              <a:t>Viscosity</a:t>
            </a:r>
            <a:r>
              <a:rPr lang="en-GB" b="1" i="1" dirty="0" smtClean="0">
                <a:solidFill>
                  <a:prstClr val="black"/>
                </a:solidFill>
                <a:latin typeface="Times New Roman" panose="02020603050405020304" pitchFamily="18" charset="0"/>
                <a:ea typeface="Times New Roman" panose="02020603050405020304" pitchFamily="18" charset="0"/>
              </a:rPr>
              <a:t>:</a:t>
            </a:r>
            <a:endParaRPr lang="en-GB" dirty="0" smtClean="0"/>
          </a:p>
          <a:p>
            <a:pPr marL="534988">
              <a:lnSpc>
                <a:spcPct val="110000"/>
              </a:lnSpc>
              <a:spcBef>
                <a:spcPts val="1800"/>
              </a:spcBef>
            </a:pPr>
            <a:r>
              <a:rPr lang="en-GB" dirty="0" smtClean="0"/>
              <a:t>Permissible </a:t>
            </a:r>
            <a:r>
              <a:rPr lang="en-GB" dirty="0"/>
              <a:t>viscosity range </a:t>
            </a:r>
            <a:r>
              <a:rPr lang="en-GB" dirty="0" smtClean="0"/>
              <a:t>of a </a:t>
            </a:r>
            <a:r>
              <a:rPr lang="en-GB" dirty="0"/>
              <a:t>complete systems </a:t>
            </a:r>
            <a:r>
              <a:rPr lang="en-GB" dirty="0" smtClean="0"/>
              <a:t>takes </a:t>
            </a:r>
            <a:r>
              <a:rPr lang="en-GB" dirty="0"/>
              <a:t>account of the permissible viscosity of all </a:t>
            </a:r>
            <a:r>
              <a:rPr lang="en-GB" dirty="0" smtClean="0"/>
              <a:t>components,</a:t>
            </a:r>
          </a:p>
          <a:p>
            <a:pPr marL="534988">
              <a:lnSpc>
                <a:spcPct val="110000"/>
              </a:lnSpc>
              <a:spcBef>
                <a:spcPts val="1800"/>
              </a:spcBef>
            </a:pPr>
            <a:r>
              <a:rPr lang="en-GB" dirty="0" smtClean="0"/>
              <a:t>Optimum </a:t>
            </a:r>
            <a:r>
              <a:rPr lang="en-GB" dirty="0"/>
              <a:t>operating viscosity range of each component should be kept within the permissible temperature </a:t>
            </a:r>
            <a:r>
              <a:rPr lang="en-GB" dirty="0" smtClean="0"/>
              <a:t>range by:</a:t>
            </a:r>
          </a:p>
          <a:p>
            <a:pPr marL="1435100" indent="-457200">
              <a:lnSpc>
                <a:spcPct val="110000"/>
              </a:lnSpc>
              <a:spcBef>
                <a:spcPts val="1800"/>
              </a:spcBef>
              <a:buFont typeface="Wingdings" panose="05000000000000000000" pitchFamily="2" charset="2"/>
              <a:buChar char="ü"/>
            </a:pPr>
            <a:r>
              <a:rPr lang="en-GB" dirty="0" smtClean="0"/>
              <a:t>either </a:t>
            </a:r>
            <a:r>
              <a:rPr lang="en-GB" dirty="0"/>
              <a:t>cooling </a:t>
            </a:r>
            <a:r>
              <a:rPr lang="en-GB" dirty="0" smtClean="0"/>
              <a:t>or</a:t>
            </a:r>
          </a:p>
          <a:p>
            <a:pPr marL="1435100" indent="-457200">
              <a:lnSpc>
                <a:spcPct val="110000"/>
              </a:lnSpc>
              <a:spcBef>
                <a:spcPts val="1800"/>
              </a:spcBef>
              <a:buFont typeface="Wingdings" panose="05000000000000000000" pitchFamily="2" charset="2"/>
              <a:buChar char="ü"/>
            </a:pPr>
            <a:r>
              <a:rPr lang="en-GB" dirty="0" smtClean="0"/>
              <a:t>heating</a:t>
            </a:r>
            <a:r>
              <a:rPr lang="en-GB" dirty="0"/>
              <a:t>, or both</a:t>
            </a:r>
          </a:p>
        </p:txBody>
      </p:sp>
      <p:sp>
        <p:nvSpPr>
          <p:cNvPr id="4" name="Slide Number Placeholder 3"/>
          <p:cNvSpPr>
            <a:spLocks noGrp="1"/>
          </p:cNvSpPr>
          <p:nvPr>
            <p:ph type="sldNum" sz="quarter" idx="12"/>
          </p:nvPr>
        </p:nvSpPr>
        <p:spPr/>
        <p:txBody>
          <a:bodyPr/>
          <a:lstStyle/>
          <a:p>
            <a:fld id="{7E50C373-F1D0-494F-8D6D-366C958B3429}" type="slidenum">
              <a:rPr lang="en-GB" smtClean="0"/>
              <a:pPr/>
              <a:t>52</a:t>
            </a:fld>
            <a:endParaRPr lang="en-GB" dirty="0"/>
          </a:p>
        </p:txBody>
      </p:sp>
    </p:spTree>
    <p:extLst>
      <p:ext uri="{BB962C8B-B14F-4D97-AF65-F5344CB8AC3E}">
        <p14:creationId xmlns:p14="http://schemas.microsoft.com/office/powerpoint/2010/main" val="363575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normAutofit/>
          </a:bodyPr>
          <a:lstStyle/>
          <a:p>
            <a:pPr marL="571500" lvl="0" indent="-571500">
              <a:lnSpc>
                <a:spcPct val="110000"/>
              </a:lnSpc>
              <a:spcBef>
                <a:spcPts val="1800"/>
              </a:spcBef>
              <a:buFont typeface="+mj-lt"/>
              <a:buAutoNum type="romanLcPeriod" startAt="2"/>
            </a:pPr>
            <a:r>
              <a:rPr lang="en-GB" sz="2600" b="1" i="1" dirty="0">
                <a:solidFill>
                  <a:prstClr val="black"/>
                </a:solidFill>
                <a:latin typeface="Times New Roman" panose="02020603050405020304" pitchFamily="18" charset="0"/>
                <a:ea typeface="Times New Roman" panose="02020603050405020304" pitchFamily="18" charset="0"/>
              </a:rPr>
              <a:t>Viscosity</a:t>
            </a:r>
            <a:r>
              <a:rPr lang="en-GB" sz="2600" b="1" i="1" dirty="0" smtClean="0">
                <a:solidFill>
                  <a:prstClr val="black"/>
                </a:solidFill>
                <a:latin typeface="Times New Roman" panose="02020603050405020304" pitchFamily="18" charset="0"/>
                <a:ea typeface="Times New Roman" panose="02020603050405020304" pitchFamily="18" charset="0"/>
              </a:rPr>
              <a:t>:</a:t>
            </a:r>
            <a:endParaRPr lang="en-GB" dirty="0" smtClean="0"/>
          </a:p>
          <a:p>
            <a:pPr marL="0" indent="0">
              <a:lnSpc>
                <a:spcPct val="110000"/>
              </a:lnSpc>
              <a:spcBef>
                <a:spcPts val="1800"/>
              </a:spcBef>
              <a:buNone/>
            </a:pPr>
            <a:r>
              <a:rPr lang="en-GB" dirty="0" smtClean="0"/>
              <a:t>Viscosity </a:t>
            </a:r>
            <a:r>
              <a:rPr lang="en-GB" dirty="0"/>
              <a:t>at operating temperature </a:t>
            </a:r>
            <a:r>
              <a:rPr lang="en-GB" dirty="0" smtClean="0"/>
              <a:t>determines:</a:t>
            </a:r>
          </a:p>
          <a:p>
            <a:pPr marL="717550" indent="-352425">
              <a:lnSpc>
                <a:spcPct val="110000"/>
              </a:lnSpc>
              <a:spcBef>
                <a:spcPts val="1800"/>
              </a:spcBef>
            </a:pPr>
            <a:r>
              <a:rPr lang="en-GB" dirty="0" smtClean="0"/>
              <a:t>the </a:t>
            </a:r>
            <a:r>
              <a:rPr lang="en-GB" dirty="0"/>
              <a:t>response characteristics of closed control loops, </a:t>
            </a:r>
            <a:endParaRPr lang="en-GB" dirty="0" smtClean="0"/>
          </a:p>
          <a:p>
            <a:pPr marL="717550" indent="-352425">
              <a:lnSpc>
                <a:spcPct val="110000"/>
              </a:lnSpc>
              <a:spcBef>
                <a:spcPts val="1800"/>
              </a:spcBef>
            </a:pPr>
            <a:r>
              <a:rPr lang="en-GB" dirty="0"/>
              <a:t>s</a:t>
            </a:r>
            <a:r>
              <a:rPr lang="en-GB" dirty="0" smtClean="0"/>
              <a:t>tability </a:t>
            </a:r>
            <a:r>
              <a:rPr lang="en-GB" dirty="0"/>
              <a:t>and damping of </a:t>
            </a:r>
            <a:r>
              <a:rPr lang="en-GB" dirty="0" smtClean="0"/>
              <a:t>system,</a:t>
            </a:r>
          </a:p>
          <a:p>
            <a:pPr marL="717550" indent="-352425">
              <a:lnSpc>
                <a:spcPct val="110000"/>
              </a:lnSpc>
              <a:spcBef>
                <a:spcPts val="1800"/>
              </a:spcBef>
            </a:pPr>
            <a:r>
              <a:rPr lang="en-GB" dirty="0" smtClean="0"/>
              <a:t>the </a:t>
            </a:r>
            <a:r>
              <a:rPr lang="en-GB" dirty="0"/>
              <a:t>efficiency factor </a:t>
            </a:r>
            <a:r>
              <a:rPr lang="en-GB" dirty="0" smtClean="0"/>
              <a:t>and</a:t>
            </a:r>
          </a:p>
          <a:p>
            <a:pPr marL="717550" indent="-352425">
              <a:lnSpc>
                <a:spcPct val="110000"/>
              </a:lnSpc>
              <a:spcBef>
                <a:spcPts val="1800"/>
              </a:spcBef>
            </a:pPr>
            <a:r>
              <a:rPr lang="en-GB" dirty="0" smtClean="0"/>
              <a:t>the </a:t>
            </a:r>
            <a:r>
              <a:rPr lang="en-GB" dirty="0"/>
              <a:t>degree of wear</a:t>
            </a:r>
            <a:r>
              <a:rPr lang="en-GB" dirty="0" smtClean="0"/>
              <a:t>,</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53</a:t>
            </a:fld>
            <a:endParaRPr lang="en-GB" dirty="0"/>
          </a:p>
        </p:txBody>
      </p:sp>
    </p:spTree>
    <p:extLst>
      <p:ext uri="{BB962C8B-B14F-4D97-AF65-F5344CB8AC3E}">
        <p14:creationId xmlns:p14="http://schemas.microsoft.com/office/powerpoint/2010/main" val="197791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59524"/>
          </a:xfrm>
        </p:spPr>
        <p:txBody>
          <a:bodyPr/>
          <a:lstStyle/>
          <a:p>
            <a:r>
              <a:rPr lang="en-GB" dirty="0"/>
              <a:t>UNIT 4 :  Selection Criteria of Hydraulic Fluids</a:t>
            </a:r>
          </a:p>
        </p:txBody>
      </p:sp>
      <p:sp>
        <p:nvSpPr>
          <p:cNvPr id="3" name="Content Placeholder 2"/>
          <p:cNvSpPr>
            <a:spLocks noGrp="1"/>
          </p:cNvSpPr>
          <p:nvPr>
            <p:ph idx="1"/>
          </p:nvPr>
        </p:nvSpPr>
        <p:spPr>
          <a:xfrm>
            <a:off x="838200" y="1419225"/>
            <a:ext cx="10515600" cy="3076575"/>
          </a:xfrm>
        </p:spPr>
        <p:txBody>
          <a:bodyPr>
            <a:normAutofit/>
          </a:bodyPr>
          <a:lstStyle/>
          <a:p>
            <a:pPr marL="571500" lvl="0" indent="-571500" algn="just" fontAlgn="base" hangingPunct="0">
              <a:lnSpc>
                <a:spcPct val="120000"/>
              </a:lnSpc>
              <a:spcBef>
                <a:spcPts val="1200"/>
              </a:spcBef>
              <a:spcAft>
                <a:spcPts val="600"/>
              </a:spcAft>
              <a:buFont typeface="+mj-lt"/>
              <a:buAutoNum type="romanLcPeriod" startAt="2"/>
            </a:pPr>
            <a:r>
              <a:rPr lang="en-GB" b="1" i="1" dirty="0">
                <a:solidFill>
                  <a:prstClr val="black"/>
                </a:solidFill>
                <a:latin typeface="Times New Roman" panose="02020603050405020304" pitchFamily="18" charset="0"/>
                <a:ea typeface="Times New Roman" panose="02020603050405020304" pitchFamily="18" charset="0"/>
              </a:rPr>
              <a:t>Viscosity:  (</a:t>
            </a:r>
            <a:r>
              <a:rPr lang="en-GB" b="1" i="1" dirty="0">
                <a:solidFill>
                  <a:prstClr val="black"/>
                </a:solidFill>
              </a:rPr>
              <a:t>Viscosity-Temperature Relationship)</a:t>
            </a:r>
            <a:endParaRPr lang="en-GB" dirty="0">
              <a:solidFill>
                <a:prstClr val="black"/>
              </a:solidFill>
              <a:latin typeface="Times New Roman" panose="02020603050405020304" pitchFamily="18" charset="0"/>
              <a:ea typeface="Calibri" panose="020F0502020204030204" pitchFamily="34" charset="0"/>
            </a:endParaRPr>
          </a:p>
          <a:p>
            <a:pPr marL="828675" lvl="0" indent="-457200"/>
            <a:r>
              <a:rPr lang="en-GB" dirty="0"/>
              <a:t>Viscosity </a:t>
            </a:r>
            <a:r>
              <a:rPr lang="en-GB" dirty="0" smtClean="0"/>
              <a:t>drops </a:t>
            </a:r>
            <a:r>
              <a:rPr lang="en-GB" dirty="0"/>
              <a:t>when the temperature increases and rises when the temperature </a:t>
            </a:r>
            <a:r>
              <a:rPr lang="en-GB" dirty="0" smtClean="0"/>
              <a:t>decreases,</a:t>
            </a:r>
          </a:p>
          <a:p>
            <a:pPr marL="828675" lvl="0" indent="-457200"/>
            <a:r>
              <a:rPr lang="en-US" dirty="0" smtClean="0">
                <a:solidFill>
                  <a:prstClr val="black"/>
                </a:solidFill>
              </a:rPr>
              <a:t>Fluids </a:t>
            </a:r>
            <a:r>
              <a:rPr lang="en-US" dirty="0">
                <a:solidFill>
                  <a:prstClr val="black"/>
                </a:solidFill>
              </a:rPr>
              <a:t>with a low slope are suitable when used as hydraulic fluid,</a:t>
            </a:r>
          </a:p>
          <a:p>
            <a:pPr marL="822325" lvl="0" indent="-457200"/>
            <a:r>
              <a:rPr lang="en-US" dirty="0">
                <a:solidFill>
                  <a:prstClr val="black"/>
                </a:solidFill>
              </a:rPr>
              <a:t>A high VI means less temperature </a:t>
            </a:r>
            <a:r>
              <a:rPr lang="en-US" dirty="0" smtClean="0">
                <a:solidFill>
                  <a:prstClr val="black"/>
                </a:solidFill>
              </a:rPr>
              <a:t>dependence</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54</a:t>
            </a:fld>
            <a:endParaRPr lang="en-GB"/>
          </a:p>
        </p:txBody>
      </p:sp>
      <p:pic>
        <p:nvPicPr>
          <p:cNvPr id="5" name="Picture 4"/>
          <p:cNvPicPr>
            <a:picLocks noChangeAspect="1"/>
          </p:cNvPicPr>
          <p:nvPr/>
        </p:nvPicPr>
        <p:blipFill>
          <a:blip r:embed="rId2"/>
          <a:stretch>
            <a:fillRect/>
          </a:stretch>
        </p:blipFill>
        <p:spPr>
          <a:xfrm>
            <a:off x="2820986" y="4724401"/>
            <a:ext cx="4536000" cy="2043502"/>
          </a:xfrm>
          <a:prstGeom prst="rect">
            <a:avLst/>
          </a:prstGeom>
        </p:spPr>
      </p:pic>
    </p:spTree>
    <p:extLst>
      <p:ext uri="{BB962C8B-B14F-4D97-AF65-F5344CB8AC3E}">
        <p14:creationId xmlns:p14="http://schemas.microsoft.com/office/powerpoint/2010/main" val="361118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8848"/>
            <a:ext cx="10515600" cy="669821"/>
          </a:xfrm>
        </p:spPr>
        <p:txBody>
          <a:bodyPr/>
          <a:lstStyle/>
          <a:p>
            <a:r>
              <a:rPr lang="en-GB" dirty="0"/>
              <a:t>UNIT 4 : Selection Criteria of Hydraulic Fluids</a:t>
            </a:r>
          </a:p>
        </p:txBody>
      </p:sp>
      <p:sp>
        <p:nvSpPr>
          <p:cNvPr id="3" name="Content Placeholder 2"/>
          <p:cNvSpPr>
            <a:spLocks noGrp="1"/>
          </p:cNvSpPr>
          <p:nvPr>
            <p:ph idx="1"/>
          </p:nvPr>
        </p:nvSpPr>
        <p:spPr>
          <a:xfrm>
            <a:off x="675249" y="1422737"/>
            <a:ext cx="10678551" cy="2767915"/>
          </a:xfrm>
        </p:spPr>
        <p:txBody>
          <a:bodyPr>
            <a:normAutofit fontScale="92500" lnSpcReduction="10000"/>
          </a:bodyPr>
          <a:lstStyle/>
          <a:p>
            <a:pPr marL="0" indent="0">
              <a:buNone/>
            </a:pPr>
            <a:r>
              <a:rPr lang="en-GB" dirty="0" smtClean="0"/>
              <a:t>Determining </a:t>
            </a:r>
            <a:r>
              <a:rPr lang="en-GB" dirty="0"/>
              <a:t>the correct viscosity grade for a particular </a:t>
            </a:r>
            <a:r>
              <a:rPr lang="en-GB" dirty="0" smtClean="0"/>
              <a:t>application:   Note</a:t>
            </a:r>
          </a:p>
          <a:p>
            <a:pPr marL="534988" lvl="0"/>
            <a:r>
              <a:rPr lang="en-GB" dirty="0" smtClean="0"/>
              <a:t>Start (maximum) </a:t>
            </a:r>
            <a:r>
              <a:rPr lang="en-GB" dirty="0"/>
              <a:t>viscosity at minimum ambient temperature,</a:t>
            </a:r>
          </a:p>
          <a:p>
            <a:pPr marL="534988" lvl="0"/>
            <a:r>
              <a:rPr lang="en-GB" dirty="0" smtClean="0"/>
              <a:t>Minimum viscosity at maximum </a:t>
            </a:r>
            <a:r>
              <a:rPr lang="en-GB" dirty="0"/>
              <a:t>expected operating temperature,</a:t>
            </a:r>
          </a:p>
          <a:p>
            <a:pPr marL="534988"/>
            <a:r>
              <a:rPr lang="en-GB" dirty="0"/>
              <a:t>Permissible and optimum viscosity range for </a:t>
            </a:r>
            <a:r>
              <a:rPr lang="en-GB" dirty="0" smtClean="0"/>
              <a:t>system </a:t>
            </a:r>
            <a:r>
              <a:rPr lang="en-GB" dirty="0"/>
              <a:t>components.</a:t>
            </a:r>
          </a:p>
        </p:txBody>
      </p:sp>
      <p:sp>
        <p:nvSpPr>
          <p:cNvPr id="4" name="Slide Number Placeholder 3"/>
          <p:cNvSpPr>
            <a:spLocks noGrp="1"/>
          </p:cNvSpPr>
          <p:nvPr>
            <p:ph type="sldNum" sz="quarter" idx="12"/>
          </p:nvPr>
        </p:nvSpPr>
        <p:spPr/>
        <p:txBody>
          <a:bodyPr/>
          <a:lstStyle/>
          <a:p>
            <a:fld id="{7E50C373-F1D0-494F-8D6D-366C958B3429}" type="slidenum">
              <a:rPr lang="en-GB" smtClean="0"/>
              <a:pPr/>
              <a:t>55</a:t>
            </a:fld>
            <a:endParaRPr lang="en-GB"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36991"/>
          <a:stretch/>
        </p:blipFill>
        <p:spPr bwMode="auto">
          <a:xfrm>
            <a:off x="1528291" y="4052355"/>
            <a:ext cx="8352000" cy="2512272"/>
          </a:xfrm>
          <a:prstGeom prst="rect">
            <a:avLst/>
          </a:prstGeom>
          <a:noFill/>
          <a:ln>
            <a:noFill/>
          </a:ln>
        </p:spPr>
      </p:pic>
    </p:spTree>
    <p:extLst>
      <p:ext uri="{BB962C8B-B14F-4D97-AF65-F5344CB8AC3E}">
        <p14:creationId xmlns:p14="http://schemas.microsoft.com/office/powerpoint/2010/main" val="55261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08724"/>
          </a:xfrm>
        </p:spPr>
        <p:txBody>
          <a:bodyPr/>
          <a:lstStyle/>
          <a:p>
            <a:r>
              <a:rPr lang="en-GB" dirty="0"/>
              <a:t>UNIT 4 : Selection Criteria of Hydraulic Fluids</a:t>
            </a:r>
          </a:p>
        </p:txBody>
      </p:sp>
      <p:sp>
        <p:nvSpPr>
          <p:cNvPr id="3" name="Content Placeholder 2"/>
          <p:cNvSpPr>
            <a:spLocks noGrp="1"/>
          </p:cNvSpPr>
          <p:nvPr>
            <p:ph idx="1"/>
          </p:nvPr>
        </p:nvSpPr>
        <p:spPr>
          <a:xfrm>
            <a:off x="838200" y="1346200"/>
            <a:ext cx="10515600" cy="5118539"/>
          </a:xfrm>
        </p:spPr>
        <p:txBody>
          <a:bodyPr>
            <a:normAutofit/>
          </a:bodyPr>
          <a:lstStyle/>
          <a:p>
            <a:pPr marL="571500" lvl="0" indent="-571500" algn="just" fontAlgn="base" hangingPunct="0">
              <a:lnSpc>
                <a:spcPct val="120000"/>
              </a:lnSpc>
              <a:spcBef>
                <a:spcPts val="1200"/>
              </a:spcBef>
              <a:spcAft>
                <a:spcPts val="600"/>
              </a:spcAft>
              <a:buFont typeface="+mj-lt"/>
              <a:buAutoNum type="romanLcPeriod" startAt="2"/>
            </a:pPr>
            <a:r>
              <a:rPr lang="en-GB" sz="2600" b="1" i="1" dirty="0">
                <a:solidFill>
                  <a:prstClr val="black"/>
                </a:solidFill>
                <a:latin typeface="Times New Roman" panose="02020603050405020304" pitchFamily="18" charset="0"/>
                <a:ea typeface="Times New Roman" panose="02020603050405020304" pitchFamily="18" charset="0"/>
              </a:rPr>
              <a:t>Viscosity:  (</a:t>
            </a:r>
            <a:r>
              <a:rPr lang="en-GB" sz="2600" b="1" i="1" dirty="0">
                <a:solidFill>
                  <a:prstClr val="black"/>
                </a:solidFill>
              </a:rPr>
              <a:t>Viscosity-Pressure Relationship)</a:t>
            </a:r>
            <a:endParaRPr lang="en-GB" sz="2600" dirty="0">
              <a:solidFill>
                <a:prstClr val="black"/>
              </a:solidFill>
              <a:latin typeface="Times New Roman" panose="02020603050405020304" pitchFamily="18" charset="0"/>
              <a:ea typeface="Calibri" panose="020F0502020204030204" pitchFamily="34" charset="0"/>
            </a:endParaRPr>
          </a:p>
          <a:p>
            <a:pPr marL="889000" lvl="0" indent="-406400">
              <a:buFont typeface="Wingdings" panose="05000000000000000000" pitchFamily="2" charset="2"/>
              <a:buChar char="v"/>
            </a:pPr>
            <a:r>
              <a:rPr lang="en-GB" sz="2600" dirty="0">
                <a:solidFill>
                  <a:prstClr val="black"/>
                </a:solidFill>
              </a:rPr>
              <a:t>This relationship is responsible for the loading ability of lubricating fluids,</a:t>
            </a:r>
          </a:p>
          <a:p>
            <a:pPr marL="889000" lvl="0" indent="-406400">
              <a:buFont typeface="Wingdings" panose="05000000000000000000" pitchFamily="2" charset="2"/>
              <a:buChar char="v"/>
            </a:pPr>
            <a:r>
              <a:rPr lang="en-GB" sz="2600" dirty="0">
                <a:solidFill>
                  <a:prstClr val="black"/>
                </a:solidFill>
              </a:rPr>
              <a:t>increase in viscosity with an increase in pressure has a  self-strengthening effect</a:t>
            </a:r>
            <a:r>
              <a:rPr lang="en-GB" sz="2600" dirty="0" smtClean="0">
                <a:solidFill>
                  <a:prstClr val="black"/>
                </a:solidFill>
              </a:rPr>
              <a:t>.</a:t>
            </a:r>
            <a:endParaRPr lang="en-GB" sz="26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56</a:t>
            </a:fld>
            <a:endParaRPr lang="en-GB"/>
          </a:p>
        </p:txBody>
      </p:sp>
    </p:spTree>
    <p:extLst>
      <p:ext uri="{BB962C8B-B14F-4D97-AF65-F5344CB8AC3E}">
        <p14:creationId xmlns:p14="http://schemas.microsoft.com/office/powerpoint/2010/main" val="271800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507124"/>
          </a:xfrm>
        </p:spPr>
        <p:txBody>
          <a:bodyPr>
            <a:normAutofit fontScale="90000"/>
          </a:bodyPr>
          <a:lstStyle/>
          <a:p>
            <a:r>
              <a:rPr lang="en-GB" dirty="0"/>
              <a:t>UNIT 4 : Selection Criteria of Hydraulic Fluids</a:t>
            </a:r>
          </a:p>
        </p:txBody>
      </p:sp>
      <p:sp>
        <p:nvSpPr>
          <p:cNvPr id="3" name="Content Placeholder 2"/>
          <p:cNvSpPr>
            <a:spLocks noGrp="1"/>
          </p:cNvSpPr>
          <p:nvPr>
            <p:ph idx="1"/>
          </p:nvPr>
        </p:nvSpPr>
        <p:spPr>
          <a:xfrm>
            <a:off x="838200" y="1244600"/>
            <a:ext cx="10515600" cy="5585264"/>
          </a:xfrm>
        </p:spPr>
        <p:txBody>
          <a:bodyPr>
            <a:normAutofit/>
          </a:bodyPr>
          <a:lstStyle/>
          <a:p>
            <a:pPr marL="571500" lvl="0" indent="-571500" algn="just" fontAlgn="base" hangingPunct="0">
              <a:lnSpc>
                <a:spcPct val="120000"/>
              </a:lnSpc>
              <a:spcAft>
                <a:spcPts val="600"/>
              </a:spcAft>
              <a:buFont typeface="+mj-lt"/>
              <a:buAutoNum type="romanLcPeriod" startAt="3"/>
              <a:tabLst>
                <a:tab pos="684530" algn="l"/>
              </a:tabLst>
            </a:pPr>
            <a:r>
              <a:rPr lang="en-GB" b="1" i="1" dirty="0" smtClean="0">
                <a:solidFill>
                  <a:prstClr val="black"/>
                </a:solidFill>
                <a:ea typeface="Times New Roman" panose="02020603050405020304" pitchFamily="18" charset="0"/>
              </a:rPr>
              <a:t>Wear protection capability</a:t>
            </a:r>
            <a:endParaRPr lang="en-GB" dirty="0">
              <a:solidFill>
                <a:prstClr val="black"/>
              </a:solidFill>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endParaRPr lang="en-US" dirty="0"/>
          </a:p>
          <a:p>
            <a:pPr marL="711200" indent="0">
              <a:buNone/>
            </a:pPr>
            <a:r>
              <a:rPr lang="en-US" b="1" i="1" dirty="0" smtClean="0"/>
              <a:t>Figure 4:</a:t>
            </a:r>
            <a:r>
              <a:rPr lang="en-US" dirty="0" smtClean="0"/>
              <a:t>  </a:t>
            </a:r>
            <a:r>
              <a:rPr lang="en-US" dirty="0" err="1" smtClean="0"/>
              <a:t>Stribeck’s</a:t>
            </a:r>
            <a:r>
              <a:rPr lang="en-US" dirty="0" smtClean="0"/>
              <a:t> curve</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57</a:t>
            </a:fld>
            <a:endParaRPr lang="en-GB"/>
          </a:p>
        </p:txBody>
      </p:sp>
      <p:sp>
        <p:nvSpPr>
          <p:cNvPr id="6" name="TextBox 5"/>
          <p:cNvSpPr txBox="1"/>
          <p:nvPr/>
        </p:nvSpPr>
        <p:spPr>
          <a:xfrm>
            <a:off x="6495932" y="1969477"/>
            <a:ext cx="5292793" cy="830997"/>
          </a:xfrm>
          <a:prstGeom prst="rect">
            <a:avLst/>
          </a:prstGeom>
          <a:noFill/>
        </p:spPr>
        <p:txBody>
          <a:bodyPr wrap="square" rtlCol="0">
            <a:spAutoFit/>
          </a:bodyPr>
          <a:lstStyle/>
          <a:p>
            <a:pPr marL="342900" indent="-342900">
              <a:buFont typeface="Arial" panose="020B0604020202020204" pitchFamily="34" charset="0"/>
              <a:buChar char="•"/>
            </a:pPr>
            <a:r>
              <a:rPr lang="en-GB" sz="2400" dirty="0" smtClean="0"/>
              <a:t>Hydrodynamic lubrication requires high relative speeds between objects,</a:t>
            </a:r>
            <a:endParaRPr lang="en-GB" sz="2400" dirty="0"/>
          </a:p>
        </p:txBody>
      </p:sp>
      <p:sp>
        <p:nvSpPr>
          <p:cNvPr id="7" name="TextBox 6"/>
          <p:cNvSpPr txBox="1"/>
          <p:nvPr/>
        </p:nvSpPr>
        <p:spPr>
          <a:xfrm>
            <a:off x="6495932" y="3018227"/>
            <a:ext cx="5115600" cy="830997"/>
          </a:xfrm>
          <a:prstGeom prst="rect">
            <a:avLst/>
          </a:prstGeom>
          <a:noFill/>
        </p:spPr>
        <p:txBody>
          <a:bodyPr wrap="square" rtlCol="0">
            <a:spAutoFit/>
          </a:bodyPr>
          <a:lstStyle/>
          <a:p>
            <a:pPr marL="342900" indent="-342900">
              <a:buFont typeface="Arial" panose="020B0604020202020204" pitchFamily="34" charset="0"/>
              <a:buChar char="•"/>
            </a:pPr>
            <a:r>
              <a:rPr lang="en-GB" sz="2400" dirty="0" smtClean="0"/>
              <a:t>From start to final speed, the objects experience:</a:t>
            </a:r>
            <a:endParaRPr lang="en-GB" sz="2400" dirty="0"/>
          </a:p>
        </p:txBody>
      </p:sp>
      <p:sp>
        <p:nvSpPr>
          <p:cNvPr id="8" name="TextBox 7"/>
          <p:cNvSpPr txBox="1"/>
          <p:nvPr/>
        </p:nvSpPr>
        <p:spPr>
          <a:xfrm>
            <a:off x="7061982" y="4037232"/>
            <a:ext cx="2864246" cy="461665"/>
          </a:xfrm>
          <a:prstGeom prst="rect">
            <a:avLst/>
          </a:prstGeom>
          <a:noFill/>
        </p:spPr>
        <p:txBody>
          <a:bodyPr wrap="none" rtlCol="0">
            <a:spAutoFit/>
          </a:bodyPr>
          <a:lstStyle/>
          <a:p>
            <a:pPr marL="342900" indent="-342900">
              <a:buFont typeface="Wingdings" panose="05000000000000000000" pitchFamily="2" charset="2"/>
              <a:buChar char="Ø"/>
            </a:pPr>
            <a:r>
              <a:rPr lang="en-GB" sz="2400" dirty="0" smtClean="0"/>
              <a:t>Solid friction state,</a:t>
            </a:r>
            <a:endParaRPr lang="en-GB" sz="2400" dirty="0"/>
          </a:p>
        </p:txBody>
      </p:sp>
      <p:sp>
        <p:nvSpPr>
          <p:cNvPr id="9" name="TextBox 8"/>
          <p:cNvSpPr txBox="1"/>
          <p:nvPr/>
        </p:nvSpPr>
        <p:spPr>
          <a:xfrm flipH="1">
            <a:off x="7061982" y="4553042"/>
            <a:ext cx="3200489" cy="461665"/>
          </a:xfrm>
          <a:prstGeom prst="rect">
            <a:avLst/>
          </a:prstGeom>
          <a:noFill/>
        </p:spPr>
        <p:txBody>
          <a:bodyPr wrap="square" rtlCol="0">
            <a:spAutoFit/>
          </a:bodyPr>
          <a:lstStyle/>
          <a:p>
            <a:pPr marL="342900" indent="-342900">
              <a:buFont typeface="Wingdings" panose="05000000000000000000" pitchFamily="2" charset="2"/>
              <a:buChar char="Ø"/>
            </a:pPr>
            <a:r>
              <a:rPr lang="en-GB" sz="2400" dirty="0" smtClean="0"/>
              <a:t>Mixed friction state,</a:t>
            </a:r>
            <a:endParaRPr lang="en-GB" sz="2400" dirty="0"/>
          </a:p>
        </p:txBody>
      </p:sp>
      <p:sp>
        <p:nvSpPr>
          <p:cNvPr id="10" name="TextBox 9"/>
          <p:cNvSpPr txBox="1"/>
          <p:nvPr/>
        </p:nvSpPr>
        <p:spPr>
          <a:xfrm>
            <a:off x="7061982" y="5158210"/>
            <a:ext cx="3066756" cy="461665"/>
          </a:xfrm>
          <a:prstGeom prst="rect">
            <a:avLst/>
          </a:prstGeom>
          <a:noFill/>
        </p:spPr>
        <p:txBody>
          <a:bodyPr wrap="square" rtlCol="0">
            <a:spAutoFit/>
          </a:bodyPr>
          <a:lstStyle/>
          <a:p>
            <a:pPr marL="342900" indent="-342900">
              <a:buFont typeface="Wingdings" panose="05000000000000000000" pitchFamily="2" charset="2"/>
              <a:buChar char="Ø"/>
            </a:pPr>
            <a:r>
              <a:rPr lang="en-GB" sz="2400" dirty="0" smtClean="0"/>
              <a:t>Fluid friction state.</a:t>
            </a:r>
            <a:endParaRPr lang="en-GB" sz="2400" dirty="0"/>
          </a:p>
        </p:txBody>
      </p:sp>
      <p:pic>
        <p:nvPicPr>
          <p:cNvPr id="14" name="Picture 13"/>
          <p:cNvPicPr>
            <a:picLocks noChangeAspect="1"/>
          </p:cNvPicPr>
          <p:nvPr/>
        </p:nvPicPr>
        <p:blipFill>
          <a:blip r:embed="rId2"/>
          <a:stretch>
            <a:fillRect/>
          </a:stretch>
        </p:blipFill>
        <p:spPr>
          <a:xfrm>
            <a:off x="894420" y="2094132"/>
            <a:ext cx="5105400" cy="3886200"/>
          </a:xfrm>
          <a:prstGeom prst="rect">
            <a:avLst/>
          </a:prstGeom>
        </p:spPr>
      </p:pic>
      <p:pic>
        <p:nvPicPr>
          <p:cNvPr id="11" name="Picture 10"/>
          <p:cNvPicPr>
            <a:picLocks noChangeAspect="1"/>
          </p:cNvPicPr>
          <p:nvPr/>
        </p:nvPicPr>
        <p:blipFill>
          <a:blip r:embed="rId3"/>
          <a:stretch>
            <a:fillRect/>
          </a:stretch>
        </p:blipFill>
        <p:spPr>
          <a:xfrm>
            <a:off x="4342749" y="2484514"/>
            <a:ext cx="1190625" cy="1533525"/>
          </a:xfrm>
          <a:prstGeom prst="rect">
            <a:avLst/>
          </a:prstGeom>
        </p:spPr>
      </p:pic>
      <p:pic>
        <p:nvPicPr>
          <p:cNvPr id="12" name="Picture 11"/>
          <p:cNvPicPr>
            <a:picLocks noChangeAspect="1"/>
          </p:cNvPicPr>
          <p:nvPr/>
        </p:nvPicPr>
        <p:blipFill>
          <a:blip r:embed="rId4"/>
          <a:stretch>
            <a:fillRect/>
          </a:stretch>
        </p:blipFill>
        <p:spPr>
          <a:xfrm>
            <a:off x="2418575" y="2546313"/>
            <a:ext cx="1333500" cy="1333500"/>
          </a:xfrm>
          <a:prstGeom prst="rect">
            <a:avLst/>
          </a:prstGeom>
        </p:spPr>
      </p:pic>
      <p:pic>
        <p:nvPicPr>
          <p:cNvPr id="13" name="Picture 12"/>
          <p:cNvPicPr>
            <a:picLocks noChangeAspect="1"/>
          </p:cNvPicPr>
          <p:nvPr/>
        </p:nvPicPr>
        <p:blipFill>
          <a:blip r:embed="rId5"/>
          <a:stretch>
            <a:fillRect/>
          </a:stretch>
        </p:blipFill>
        <p:spPr>
          <a:xfrm>
            <a:off x="1422238" y="2315699"/>
            <a:ext cx="942975" cy="1133475"/>
          </a:xfrm>
          <a:prstGeom prst="rect">
            <a:avLst/>
          </a:prstGeom>
        </p:spPr>
      </p:pic>
      <p:cxnSp>
        <p:nvCxnSpPr>
          <p:cNvPr id="16" name="Straight Connector 15"/>
          <p:cNvCxnSpPr/>
          <p:nvPr/>
        </p:nvCxnSpPr>
        <p:spPr>
          <a:xfrm>
            <a:off x="2294873" y="2094132"/>
            <a:ext cx="0" cy="1923907"/>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70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532524"/>
          </a:xfrm>
        </p:spPr>
        <p:txBody>
          <a:bodyPr>
            <a:normAutofit fontScale="90000"/>
          </a:bodyPr>
          <a:lstStyle/>
          <a:p>
            <a:r>
              <a:rPr lang="en-GB" dirty="0"/>
              <a:t>UNIT 4 : Selection Criteria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70000"/>
                <a:ext cx="10515600" cy="5194739"/>
              </a:xfrm>
            </p:spPr>
            <p:txBody>
              <a:bodyPr>
                <a:normAutofit/>
              </a:bodyPr>
              <a:lstStyle/>
              <a:p>
                <a:pPr marL="571500" lvl="0" indent="-571500" algn="just" fontAlgn="base" hangingPunct="0">
                  <a:lnSpc>
                    <a:spcPct val="120000"/>
                  </a:lnSpc>
                  <a:spcAft>
                    <a:spcPts val="600"/>
                  </a:spcAft>
                  <a:buFont typeface="+mj-lt"/>
                  <a:buAutoNum type="romanLcPeriod" startAt="3"/>
                  <a:tabLst>
                    <a:tab pos="684530" algn="l"/>
                  </a:tabLst>
                </a:pPr>
                <a:r>
                  <a:rPr lang="en-GB" b="1" i="1" dirty="0" smtClean="0">
                    <a:solidFill>
                      <a:prstClr val="black"/>
                    </a:solidFill>
                    <a:ea typeface="Times New Roman" panose="02020603050405020304" pitchFamily="18" charset="0"/>
                  </a:rPr>
                  <a:t>Wear protection capability</a:t>
                </a:r>
                <a:endParaRPr lang="en-GB" dirty="0">
                  <a:solidFill>
                    <a:prstClr val="black"/>
                  </a:solidFill>
                </a:endParaRPr>
              </a:p>
              <a:p>
                <a:pPr marL="711200" lvl="0" indent="-482600">
                  <a:spcBef>
                    <a:spcPts val="1800"/>
                  </a:spcBef>
                  <a:buFont typeface="Wingdings" panose="05000000000000000000" pitchFamily="2" charset="2"/>
                  <a:buChar char="v"/>
                </a:pPr>
                <a:r>
                  <a:rPr lang="en-GB" b="1" i="1" dirty="0" smtClean="0">
                    <a:solidFill>
                      <a:prstClr val="black"/>
                    </a:solidFill>
                    <a:ea typeface="Times New Roman" panose="02020603050405020304" pitchFamily="18" charset="0"/>
                  </a:rPr>
                  <a:t>Hydrodynamic lubrication</a:t>
                </a:r>
                <a:r>
                  <a:rPr lang="en-GB" dirty="0" smtClean="0">
                    <a:solidFill>
                      <a:prstClr val="black"/>
                    </a:solidFill>
                    <a:ea typeface="Times New Roman" panose="02020603050405020304" pitchFamily="18" charset="0"/>
                  </a:rPr>
                  <a:t>:  </a:t>
                </a:r>
                <a14:m>
                  <m:oMath xmlns:m="http://schemas.openxmlformats.org/officeDocument/2006/math">
                    <m:r>
                      <a:rPr lang="en-GB"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𝜂</m:t>
                    </m:r>
                  </m:oMath>
                </a14:m>
                <a:r>
                  <a:rPr lang="en-GB" dirty="0">
                    <a:solidFill>
                      <a:prstClr val="black"/>
                    </a:solidFill>
                    <a:ea typeface="Times New Roman" panose="02020603050405020304" pitchFamily="18" charset="0"/>
                  </a:rPr>
                  <a:t> is the determining factor for the protection of wear,</a:t>
                </a:r>
              </a:p>
              <a:p>
                <a:pPr marL="711200" lvl="0" indent="-482600">
                  <a:spcBef>
                    <a:spcPts val="1800"/>
                  </a:spcBef>
                  <a:buFont typeface="Wingdings" panose="05000000000000000000" pitchFamily="2" charset="2"/>
                  <a:buChar char="v"/>
                </a:pPr>
                <a:r>
                  <a:rPr lang="en-GB" dirty="0" smtClean="0">
                    <a:solidFill>
                      <a:prstClr val="black"/>
                    </a:solidFill>
                  </a:rPr>
                  <a:t>In </a:t>
                </a:r>
                <a:r>
                  <a:rPr lang="en-GB" dirty="0">
                    <a:solidFill>
                      <a:prstClr val="black"/>
                    </a:solidFill>
                  </a:rPr>
                  <a:t>mixed </a:t>
                </a:r>
                <a:r>
                  <a:rPr lang="en-GB" b="1" i="1" dirty="0">
                    <a:solidFill>
                      <a:prstClr val="black"/>
                    </a:solidFill>
                  </a:rPr>
                  <a:t>frictional </a:t>
                </a:r>
                <a:r>
                  <a:rPr lang="en-GB" b="1" i="1" dirty="0" smtClean="0">
                    <a:solidFill>
                      <a:prstClr val="black"/>
                    </a:solidFill>
                  </a:rPr>
                  <a:t>state:</a:t>
                </a:r>
                <a:endParaRPr lang="en-GB" dirty="0">
                  <a:solidFill>
                    <a:prstClr val="black"/>
                  </a:solidFill>
                </a:endParaRPr>
              </a:p>
              <a:p>
                <a:pPr marL="889000" lvl="0" fontAlgn="base" hangingPunct="0">
                  <a:spcBef>
                    <a:spcPts val="1800"/>
                  </a:spcBef>
                </a:pPr>
                <a14:m>
                  <m:oMath xmlns:m="http://schemas.openxmlformats.org/officeDocument/2006/math">
                    <m:r>
                      <a:rPr lang="en-GB"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𝜂</m:t>
                    </m:r>
                  </m:oMath>
                </a14:m>
                <a:r>
                  <a:rPr lang="en-GB" dirty="0">
                    <a:solidFill>
                      <a:prstClr val="black"/>
                    </a:solidFill>
                    <a:ea typeface="Times New Roman" panose="02020603050405020304" pitchFamily="18" charset="0"/>
                  </a:rPr>
                  <a:t> should be above </a:t>
                </a:r>
                <a:r>
                  <a:rPr lang="en-GB" dirty="0" smtClean="0">
                    <a:solidFill>
                      <a:prstClr val="black"/>
                    </a:solidFill>
                    <a:ea typeface="Times New Roman" panose="02020603050405020304" pitchFamily="18" charset="0"/>
                  </a:rPr>
                  <a:t>a </a:t>
                </a:r>
                <a:r>
                  <a:rPr lang="en-GB" dirty="0" smtClean="0">
                    <a:solidFill>
                      <a:prstClr val="black"/>
                    </a:solidFill>
                  </a:rPr>
                  <a:t>critical value, in order to</a:t>
                </a:r>
                <a:endParaRPr lang="en-GB" dirty="0">
                  <a:solidFill>
                    <a:prstClr val="black"/>
                  </a:solidFill>
                </a:endParaRPr>
              </a:p>
              <a:p>
                <a:pPr marL="889000" lvl="0">
                  <a:spcBef>
                    <a:spcPts val="1800"/>
                  </a:spcBef>
                </a:pPr>
                <a:r>
                  <a:rPr lang="en-GB" dirty="0" smtClean="0">
                    <a:solidFill>
                      <a:prstClr val="black"/>
                    </a:solidFill>
                  </a:rPr>
                  <a:t>Be able </a:t>
                </a:r>
                <a:r>
                  <a:rPr lang="en-GB" dirty="0">
                    <a:solidFill>
                      <a:prstClr val="black"/>
                    </a:solidFill>
                  </a:rPr>
                  <a:t>to keep the two rubbing surfaces apart, </a:t>
                </a:r>
                <a:r>
                  <a:rPr lang="en-GB" dirty="0" smtClean="0">
                    <a:solidFill>
                      <a:prstClr val="black"/>
                    </a:solidFill>
                  </a:rPr>
                  <a:t>and</a:t>
                </a:r>
                <a:endParaRPr lang="en-GB" dirty="0">
                  <a:solidFill>
                    <a:prstClr val="black"/>
                  </a:solidFill>
                </a:endParaRPr>
              </a:p>
              <a:p>
                <a:pPr marL="889000" lvl="0">
                  <a:spcBef>
                    <a:spcPts val="1800"/>
                  </a:spcBef>
                </a:pPr>
                <a:r>
                  <a:rPr lang="en-GB" dirty="0" smtClean="0">
                    <a:solidFill>
                      <a:prstClr val="black"/>
                    </a:solidFill>
                  </a:rPr>
                  <a:t>Thus, prevent </a:t>
                </a:r>
                <a:r>
                  <a:rPr lang="en-GB" dirty="0">
                    <a:solidFill>
                      <a:prstClr val="black"/>
                    </a:solidFill>
                  </a:rPr>
                  <a:t>wear</a:t>
                </a:r>
                <a:r>
                  <a:rPr lang="en-US" dirty="0" smtClean="0">
                    <a:solidFill>
                      <a:prstClr val="black"/>
                    </a:solidFill>
                  </a:rPr>
                  <a:t>.</a:t>
                </a:r>
                <a:endParaRPr lang="en-GB" dirty="0">
                  <a:solidFill>
                    <a:prstClr val="black"/>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70000"/>
                <a:ext cx="10515600" cy="5194739"/>
              </a:xfrm>
              <a:blipFill rotWithShape="0">
                <a:blip r:embed="rId2"/>
                <a:stretch>
                  <a:fillRect l="-1217" t="-587"/>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58</a:t>
            </a:fld>
            <a:endParaRPr lang="en-GB"/>
          </a:p>
        </p:txBody>
      </p:sp>
    </p:spTree>
    <p:extLst>
      <p:ext uri="{BB962C8B-B14F-4D97-AF65-F5344CB8AC3E}">
        <p14:creationId xmlns:p14="http://schemas.microsoft.com/office/powerpoint/2010/main" val="279963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32561"/>
          </a:xfrm>
        </p:spPr>
        <p:txBody>
          <a:bodyPr/>
          <a:lstStyle/>
          <a:p>
            <a:r>
              <a:rPr lang="en-GB" dirty="0"/>
              <a:t>UNIT 4 : Selection Criteria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711200" lvl="0" indent="-482600">
                  <a:lnSpc>
                    <a:spcPct val="110000"/>
                  </a:lnSpc>
                  <a:spcBef>
                    <a:spcPts val="2400"/>
                  </a:spcBef>
                  <a:buFont typeface="Wingdings" panose="05000000000000000000" pitchFamily="2" charset="2"/>
                  <a:buChar char="v"/>
                </a:pPr>
                <a:r>
                  <a:rPr lang="en-GB" dirty="0">
                    <a:solidFill>
                      <a:prstClr val="black"/>
                    </a:solidFill>
                  </a:rPr>
                  <a:t>In mixed </a:t>
                </a:r>
                <a:r>
                  <a:rPr lang="en-GB" b="1" i="1" dirty="0">
                    <a:solidFill>
                      <a:prstClr val="black"/>
                    </a:solidFill>
                  </a:rPr>
                  <a:t>frictional state</a:t>
                </a:r>
                <a:r>
                  <a:rPr lang="en-GB" dirty="0">
                    <a:solidFill>
                      <a:prstClr val="black"/>
                    </a:solidFill>
                  </a:rPr>
                  <a:t>, should </a:t>
                </a:r>
                <a14:m>
                  <m:oMath xmlns:m="http://schemas.openxmlformats.org/officeDocument/2006/math">
                    <m:r>
                      <a:rPr lang="en-GB"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𝜂</m:t>
                    </m:r>
                  </m:oMath>
                </a14:m>
                <a:r>
                  <a:rPr lang="en-GB" dirty="0">
                    <a:solidFill>
                      <a:prstClr val="black"/>
                    </a:solidFill>
                    <a:ea typeface="Times New Roman" panose="02020603050405020304" pitchFamily="18" charset="0"/>
                  </a:rPr>
                  <a:t> </a:t>
                </a:r>
                <a:r>
                  <a:rPr lang="en-GB" dirty="0">
                    <a:solidFill>
                      <a:prstClr val="black"/>
                    </a:solidFill>
                  </a:rPr>
                  <a:t>drop below a critical value and therefore unable to keep the two rubbing surfaces apart, then protection of wear would depend upon:</a:t>
                </a:r>
              </a:p>
              <a:p>
                <a:pPr marL="889000" lvl="0" fontAlgn="base" hangingPunct="0">
                  <a:lnSpc>
                    <a:spcPct val="110000"/>
                  </a:lnSpc>
                  <a:spcBef>
                    <a:spcPts val="2400"/>
                  </a:spcBef>
                </a:pPr>
                <a:r>
                  <a:rPr lang="en-GB" dirty="0">
                    <a:solidFill>
                      <a:prstClr val="black"/>
                    </a:solidFill>
                  </a:rPr>
                  <a:t>Chemical reactions on the surfaces,</a:t>
                </a:r>
              </a:p>
              <a:p>
                <a:pPr marL="889000" lvl="0">
                  <a:lnSpc>
                    <a:spcPct val="110000"/>
                  </a:lnSpc>
                  <a:spcBef>
                    <a:spcPts val="2400"/>
                  </a:spcBef>
                </a:pPr>
                <a:r>
                  <a:rPr lang="en-GB" dirty="0">
                    <a:solidFill>
                      <a:prstClr val="black"/>
                    </a:solidFill>
                  </a:rPr>
                  <a:t>Ability of the hydraulic fluid to spread over the surfaces, and</a:t>
                </a:r>
              </a:p>
              <a:p>
                <a:pPr marL="889000" lvl="0">
                  <a:lnSpc>
                    <a:spcPct val="110000"/>
                  </a:lnSpc>
                  <a:spcBef>
                    <a:spcPts val="2400"/>
                  </a:spcBef>
                </a:pPr>
                <a:r>
                  <a:rPr lang="en-US" dirty="0">
                    <a:solidFill>
                      <a:prstClr val="black"/>
                    </a:solidFill>
                  </a:rPr>
                  <a:t>Presence of wear-protective additive</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1120" r="-139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59</a:t>
            </a:fld>
            <a:endParaRPr lang="en-GB" dirty="0"/>
          </a:p>
        </p:txBody>
      </p:sp>
    </p:spTree>
    <p:extLst>
      <p:ext uri="{BB962C8B-B14F-4D97-AF65-F5344CB8AC3E}">
        <p14:creationId xmlns:p14="http://schemas.microsoft.com/office/powerpoint/2010/main" val="366951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583324"/>
          </a:xfrm>
        </p:spPr>
        <p:txBody>
          <a:bodyPr>
            <a:normAutofit fontScale="90000"/>
          </a:bodyPr>
          <a:lstStyle/>
          <a:p>
            <a:r>
              <a:rPr lang="en-GB" dirty="0"/>
              <a:t>UNIT 4 : Selection Criteria of Hydraulic Fluids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20800"/>
                <a:ext cx="10515600" cy="5143939"/>
              </a:xfrm>
            </p:spPr>
            <p:txBody>
              <a:bodyPr>
                <a:normAutofit/>
              </a:bodyPr>
              <a:lstStyle/>
              <a:p>
                <a:pPr marL="571500" lvl="0" indent="-571500" algn="just" fontAlgn="base" hangingPunct="0">
                  <a:lnSpc>
                    <a:spcPct val="120000"/>
                  </a:lnSpc>
                  <a:spcBef>
                    <a:spcPts val="600"/>
                  </a:spcBef>
                  <a:spcAft>
                    <a:spcPts val="600"/>
                  </a:spcAft>
                  <a:buFont typeface="+mj-lt"/>
                  <a:buAutoNum type="romanLcPeriod" startAt="4"/>
                </a:pPr>
                <a:r>
                  <a:rPr lang="en-GB" sz="2600" b="1" i="1" dirty="0" smtClean="0">
                    <a:solidFill>
                      <a:prstClr val="black"/>
                    </a:solidFill>
                    <a:ea typeface="Times New Roman" panose="02020603050405020304" pitchFamily="18" charset="0"/>
                  </a:rPr>
                  <a:t>Dissolution of Gases</a:t>
                </a:r>
                <a:endParaRPr lang="en-GB" sz="2600" dirty="0">
                  <a:solidFill>
                    <a:prstClr val="black"/>
                  </a:solidFill>
                </a:endParaRPr>
              </a:p>
              <a:p>
                <a:pPr marL="635000" lvl="0" indent="-406400">
                  <a:buFont typeface="Wingdings" panose="05000000000000000000" pitchFamily="2" charset="2"/>
                  <a:buChar char="v"/>
                </a:pPr>
                <a:r>
                  <a:rPr lang="en-GB" sz="2600" dirty="0">
                    <a:solidFill>
                      <a:prstClr val="black"/>
                    </a:solidFill>
                  </a:rPr>
                  <a:t>Pressure fluids do dissolve a certain proportion of gases,</a:t>
                </a:r>
              </a:p>
              <a:p>
                <a:pPr marL="635000" lvl="0" indent="-406400">
                  <a:buFont typeface="Wingdings" panose="05000000000000000000" pitchFamily="2" charset="2"/>
                  <a:buChar char="v"/>
                </a:pPr>
                <a:r>
                  <a:rPr lang="en-GB" sz="2600" dirty="0">
                    <a:solidFill>
                      <a:prstClr val="black"/>
                    </a:solidFill>
                  </a:rPr>
                  <a:t>Capacity to dissolve these gases is proportional to the pressure if the pressure is less than 300bar and</a:t>
                </a:r>
              </a:p>
              <a:p>
                <a:pPr marL="635000" lvl="0" indent="-406400">
                  <a:buFont typeface="Wingdings" panose="05000000000000000000" pitchFamily="2" charset="2"/>
                  <a:buChar char="v"/>
                </a:pPr>
                <a:r>
                  <a:rPr lang="en-GB" sz="2600" dirty="0">
                    <a:solidFill>
                      <a:prstClr val="black"/>
                    </a:solidFill>
                  </a:rPr>
                  <a:t>Amount of gas dissolved is expressed by Dalton equation:</a:t>
                </a:r>
              </a:p>
              <a:p>
                <a:pPr marL="889000" lvl="0" indent="0" algn="just">
                  <a:lnSpc>
                    <a:spcPct val="120000"/>
                  </a:lnSpc>
                  <a:spcAft>
                    <a:spcPts val="600"/>
                  </a:spcAft>
                  <a:buNone/>
                </a:pPr>
                <a14:m>
                  <m:oMathPara xmlns:m="http://schemas.openxmlformats.org/officeDocument/2006/math">
                    <m:oMathParaPr>
                      <m:jc m:val="left"/>
                    </m:oMathParaPr>
                    <m:oMath xmlns:m="http://schemas.openxmlformats.org/officeDocument/2006/math">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𝑉</m:t>
                          </m:r>
                        </m:e>
                        <m:sub>
                          <m:r>
                            <a:rPr lang="en-GB" sz="2600" i="1">
                              <a:solidFill>
                                <a:prstClr val="black"/>
                              </a:solidFill>
                              <a:latin typeface="Cambria Math" panose="02040503050406030204" pitchFamily="18" charset="0"/>
                              <a:ea typeface="Times New Roman" panose="02020603050405020304" pitchFamily="18" charset="0"/>
                            </a:rPr>
                            <m:t>𝐺</m:t>
                          </m:r>
                        </m:sub>
                      </m:sSub>
                      <m:r>
                        <a:rPr lang="en-GB" sz="2600" i="1">
                          <a:solidFill>
                            <a:prstClr val="black"/>
                          </a:solidFill>
                          <a:latin typeface="Cambria Math" panose="02040503050406030204" pitchFamily="18" charset="0"/>
                          <a:ea typeface="Times New Roman" panose="02020603050405020304" pitchFamily="18" charset="0"/>
                        </a:rPr>
                        <m:t>=</m:t>
                      </m:r>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𝑉</m:t>
                          </m:r>
                        </m:e>
                        <m:sub>
                          <m:r>
                            <a:rPr lang="en-GB" sz="2600" i="1">
                              <a:solidFill>
                                <a:prstClr val="black"/>
                              </a:solidFill>
                              <a:latin typeface="Cambria Math" panose="02040503050406030204" pitchFamily="18" charset="0"/>
                              <a:ea typeface="Times New Roman" panose="02020603050405020304" pitchFamily="18" charset="0"/>
                            </a:rPr>
                            <m:t>𝑓</m:t>
                          </m:r>
                        </m:sub>
                      </m:sSub>
                      <m:d>
                        <m:dPr>
                          <m:ctrlPr>
                            <a:rPr lang="en-GB" sz="2600" i="1">
                              <a:solidFill>
                                <a:prstClr val="black"/>
                              </a:solidFill>
                              <a:latin typeface="Cambria Math" panose="02040503050406030204" pitchFamily="18" charset="0"/>
                              <a:ea typeface="Times New Roman" panose="02020603050405020304" pitchFamily="18" charset="0"/>
                            </a:rPr>
                          </m:ctrlPr>
                        </m:dPr>
                        <m:e>
                          <m:f>
                            <m:fPr>
                              <m:ctrlPr>
                                <a:rPr lang="en-GB" sz="2600" i="1">
                                  <a:solidFill>
                                    <a:prstClr val="black"/>
                                  </a:solidFill>
                                  <a:latin typeface="Cambria Math" panose="02040503050406030204" pitchFamily="18" charset="0"/>
                                  <a:ea typeface="Times New Roman" panose="02020603050405020304" pitchFamily="18" charset="0"/>
                                </a:rPr>
                              </m:ctrlPr>
                            </m:fPr>
                            <m:num>
                              <m:r>
                                <a:rPr lang="en-GB" sz="2600" i="1">
                                  <a:solidFill>
                                    <a:prstClr val="black"/>
                                  </a:solidFill>
                                  <a:latin typeface="Cambria Math" panose="02040503050406030204" pitchFamily="18" charset="0"/>
                                  <a:ea typeface="Times New Roman" panose="02020603050405020304" pitchFamily="18" charset="0"/>
                                </a:rPr>
                                <m:t>𝑝</m:t>
                              </m:r>
                            </m:num>
                            <m:den>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𝑝</m:t>
                                  </m:r>
                                </m:e>
                                <m:sub>
                                  <m:r>
                                    <a:rPr lang="en-GB" sz="2600" i="1">
                                      <a:solidFill>
                                        <a:prstClr val="black"/>
                                      </a:solidFill>
                                      <a:latin typeface="Cambria Math" panose="02040503050406030204" pitchFamily="18" charset="0"/>
                                      <a:ea typeface="Times New Roman" panose="02020603050405020304" pitchFamily="18" charset="0"/>
                                    </a:rPr>
                                    <m:t>0</m:t>
                                  </m:r>
                                </m:sub>
                              </m:sSub>
                            </m:den>
                          </m:f>
                        </m:e>
                      </m:d>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𝑎</m:t>
                          </m:r>
                        </m:e>
                        <m:sub>
                          <m:r>
                            <a:rPr lang="en-GB" sz="2600" i="1">
                              <a:solidFill>
                                <a:prstClr val="black"/>
                              </a:solidFill>
                              <a:latin typeface="Cambria Math" panose="02040503050406030204" pitchFamily="18" charset="0"/>
                              <a:ea typeface="Times New Roman" panose="02020603050405020304" pitchFamily="18" charset="0"/>
                            </a:rPr>
                            <m:t>𝑁</m:t>
                          </m:r>
                        </m:sub>
                      </m:sSub>
                    </m:oMath>
                  </m:oMathPara>
                </a14:m>
                <a:endParaRPr lang="en-US" sz="2600" dirty="0" smtClean="0">
                  <a:solidFill>
                    <a:prstClr val="black"/>
                  </a:solidFill>
                  <a:latin typeface="Times New Roman" panose="02020603050405020304" pitchFamily="18" charset="0"/>
                  <a:ea typeface="Times New Roman" panose="02020603050405020304" pitchFamily="18" charset="0"/>
                </a:endParaRPr>
              </a:p>
              <a:p>
                <a:pPr marL="2021840" lvl="0" indent="0" algn="just">
                  <a:lnSpc>
                    <a:spcPct val="120000"/>
                  </a:lnSpc>
                  <a:spcAft>
                    <a:spcPts val="600"/>
                  </a:spcAft>
                  <a:buNone/>
                </a:pPr>
                <a14:m>
                  <m:oMathPara xmlns:m="http://schemas.openxmlformats.org/officeDocument/2006/math">
                    <m:oMathParaPr>
                      <m:jc m:val="centerGroup"/>
                    </m:oMathParaPr>
                    <m:oMath xmlns:m="http://schemas.openxmlformats.org/officeDocument/2006/math">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𝑉</m:t>
                          </m:r>
                        </m:e>
                        <m:sub>
                          <m:r>
                            <a:rPr lang="en-GB" sz="2600" i="1">
                              <a:solidFill>
                                <a:prstClr val="black"/>
                              </a:solidFill>
                              <a:latin typeface="Cambria Math" panose="02040503050406030204" pitchFamily="18" charset="0"/>
                              <a:ea typeface="Times New Roman" panose="02020603050405020304" pitchFamily="18" charset="0"/>
                            </a:rPr>
                            <m:t>𝐺</m:t>
                          </m:r>
                        </m:sub>
                      </m:sSub>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𝑣𝑜𝑙𝑢𝑚𝑒</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𝑜𝑓</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𝑔𝑎𝑠</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𝑑𝑖𝑠𝑠𝑜𝑙𝑣𝑒𝑑</m:t>
                      </m:r>
                      <m:r>
                        <a:rPr lang="en-GB" sz="2600" i="1">
                          <a:solidFill>
                            <a:prstClr val="black"/>
                          </a:solidFill>
                          <a:latin typeface="Cambria Math" panose="02040503050406030204" pitchFamily="18" charset="0"/>
                          <a:ea typeface="Times New Roman" panose="02020603050405020304" pitchFamily="18" charset="0"/>
                        </a:rPr>
                        <m:t>      </m:t>
                      </m:r>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𝑉</m:t>
                          </m:r>
                        </m:e>
                        <m:sub>
                          <m:r>
                            <a:rPr lang="en-GB" sz="2600" i="1">
                              <a:solidFill>
                                <a:prstClr val="black"/>
                              </a:solidFill>
                              <a:latin typeface="Cambria Math" panose="02040503050406030204" pitchFamily="18" charset="0"/>
                              <a:ea typeface="Times New Roman" panose="02020603050405020304" pitchFamily="18" charset="0"/>
                            </a:rPr>
                            <m:t>𝑓</m:t>
                          </m:r>
                        </m:sub>
                      </m:sSub>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𝑣𝑜𝑙𝑢𝑚𝑒</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𝑜𝑓𝑓𝑙𝑢𝑖𝑑</m:t>
                      </m:r>
                    </m:oMath>
                  </m:oMathPara>
                </a14:m>
                <a:endParaRPr lang="en-GB" sz="2600" dirty="0">
                  <a:solidFill>
                    <a:prstClr val="black"/>
                  </a:solidFill>
                  <a:latin typeface="Times New Roman" panose="02020603050405020304" pitchFamily="18" charset="0"/>
                  <a:ea typeface="Calibri" panose="020F0502020204030204" pitchFamily="34" charset="0"/>
                </a:endParaRPr>
              </a:p>
              <a:p>
                <a:pPr marL="2021840" lvl="0" indent="0" algn="just">
                  <a:lnSpc>
                    <a:spcPct val="120000"/>
                  </a:lnSpc>
                  <a:spcAft>
                    <a:spcPts val="600"/>
                  </a:spcAft>
                  <a:buNone/>
                </a:pPr>
                <a14:m>
                  <m:oMathPara xmlns:m="http://schemas.openxmlformats.org/officeDocument/2006/math">
                    <m:oMathParaPr>
                      <m:jc m:val="centerGroup"/>
                    </m:oMathParaPr>
                    <m:oMath xmlns:m="http://schemas.openxmlformats.org/officeDocument/2006/math">
                      <m:r>
                        <a:rPr lang="en-GB" sz="2600" i="1">
                          <a:solidFill>
                            <a:prstClr val="black"/>
                          </a:solidFill>
                          <a:latin typeface="Cambria Math" panose="02040503050406030204" pitchFamily="18" charset="0"/>
                          <a:ea typeface="Times New Roman" panose="02020603050405020304" pitchFamily="18" charset="0"/>
                        </a:rPr>
                        <m:t>𝑝</m:t>
                      </m:r>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𝑎𝑏𝑠𝑜𝑙𝑢𝑡𝑒</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𝑝𝑟𝑒𝑠𝑠𝑢𝑟𝑒</m:t>
                      </m:r>
                      <m:r>
                        <a:rPr lang="en-US" sz="2600" i="1">
                          <a:solidFill>
                            <a:prstClr val="black"/>
                          </a:solidFill>
                          <a:latin typeface="Cambria Math" panose="02040503050406030204" pitchFamily="18" charset="0"/>
                          <a:ea typeface="Times New Roman" panose="02020603050405020304" pitchFamily="18" charset="0"/>
                        </a:rPr>
                        <m:t>,   </m:t>
                      </m:r>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rPr>
                            <m:t>𝑝</m:t>
                          </m:r>
                        </m:e>
                        <m:sub>
                          <m:r>
                            <a:rPr lang="en-GB" sz="2600" i="1">
                              <a:solidFill>
                                <a:prstClr val="black"/>
                              </a:solidFill>
                              <a:latin typeface="Cambria Math" panose="02040503050406030204" pitchFamily="18" charset="0"/>
                              <a:ea typeface="Times New Roman" panose="02020603050405020304" pitchFamily="18" charset="0"/>
                            </a:rPr>
                            <m:t>0</m:t>
                          </m:r>
                        </m:sub>
                      </m:sSub>
                      <m:r>
                        <a:rPr lang="en-GB" sz="2600" i="1">
                          <a:solidFill>
                            <a:prstClr val="black"/>
                          </a:solidFill>
                          <a:latin typeface="Cambria Math" panose="02040503050406030204" pitchFamily="18" charset="0"/>
                          <a:ea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rPr>
                        <m:t>𝑎𝑡𝑚𝑜𝑠𝑝h𝑒𝑟𝑖𝑐</m:t>
                      </m:r>
                      <m:r>
                        <a:rPr lang="en-GB" sz="2600" i="1">
                          <a:solidFill>
                            <a:prstClr val="black"/>
                          </a:solidFill>
                          <a:latin typeface="Cambria Math" panose="02040503050406030204" pitchFamily="18" charset="0"/>
                          <a:ea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rPr>
                        <m:t>𝑝𝑟𝑒𝑠𝑠𝑢𝑟</m:t>
                      </m:r>
                    </m:oMath>
                  </m:oMathPara>
                </a14:m>
                <a:endParaRPr lang="en-GB" sz="2600" dirty="0">
                  <a:solidFill>
                    <a:prstClr val="black"/>
                  </a:solidFill>
                  <a:latin typeface="Times New Roman" panose="02020603050405020304" pitchFamily="18" charset="0"/>
                  <a:ea typeface="Calibri" panose="020F0502020204030204" pitchFamily="34"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GB" sz="2600" i="1">
                              <a:solidFill>
                                <a:prstClr val="black"/>
                              </a:solidFill>
                              <a:latin typeface="Cambria Math" panose="02040503050406030204" pitchFamily="18" charset="0"/>
                              <a:ea typeface="Times New Roman" panose="02020603050405020304" pitchFamily="18" charset="0"/>
                            </a:rPr>
                          </m:ctrlPr>
                        </m:sSubPr>
                        <m:e>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𝑎</m:t>
                          </m:r>
                        </m:e>
                        <m:sub>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𝑁</m:t>
                          </m:r>
                        </m:sub>
                      </m:sSub>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m:t>
                      </m:r>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𝐵𝑢𝑛𝑠𝑒𝑛</m:t>
                      </m:r>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 </m:t>
                      </m:r>
                      <m:r>
                        <a:rPr lang="en-GB" sz="2600" i="1">
                          <a:solidFill>
                            <a:prstClr val="black"/>
                          </a:solidFill>
                          <a:latin typeface="Cambria Math" panose="02040503050406030204" pitchFamily="18" charset="0"/>
                          <a:ea typeface="Times New Roman" panose="02020603050405020304" pitchFamily="18" charset="0"/>
                          <a:cs typeface="Times New Roman" panose="02020603050405020304" pitchFamily="18" charset="0"/>
                        </a:rPr>
                        <m:t>𝑐𝑜𝑒𝑓𝑓𝑖𝑐𝑖𝑒𝑛𝑡</m:t>
                      </m:r>
                    </m:oMath>
                  </m:oMathPara>
                </a14:m>
                <a:endParaRPr lang="en-GB" sz="2600" dirty="0">
                  <a:solidFill>
                    <a:prstClr val="black"/>
                  </a:solidFill>
                </a:endParaRPr>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20800"/>
                <a:ext cx="10515600" cy="5143939"/>
              </a:xfrm>
              <a:blipFill rotWithShape="0">
                <a:blip r:embed="rId2"/>
                <a:stretch>
                  <a:fillRect l="-1101" t="-593" b="-94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60</a:t>
            </a:fld>
            <a:endParaRPr lang="en-GB"/>
          </a:p>
        </p:txBody>
      </p:sp>
    </p:spTree>
    <p:extLst>
      <p:ext uri="{BB962C8B-B14F-4D97-AF65-F5344CB8AC3E}">
        <p14:creationId xmlns:p14="http://schemas.microsoft.com/office/powerpoint/2010/main" val="127194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34124"/>
          </a:xfrm>
        </p:spPr>
        <p:txBody>
          <a:bodyPr/>
          <a:lstStyle/>
          <a:p>
            <a:r>
              <a:rPr lang="en-GB" dirty="0"/>
              <a:t>UNIT 4 : Selection Criteria of Hydraulic Fluids</a:t>
            </a:r>
          </a:p>
        </p:txBody>
      </p:sp>
      <p:sp>
        <p:nvSpPr>
          <p:cNvPr id="3" name="Content Placeholder 2"/>
          <p:cNvSpPr>
            <a:spLocks noGrp="1"/>
          </p:cNvSpPr>
          <p:nvPr>
            <p:ph idx="1"/>
          </p:nvPr>
        </p:nvSpPr>
        <p:spPr>
          <a:xfrm>
            <a:off x="838200" y="1422400"/>
            <a:ext cx="10515600" cy="5042339"/>
          </a:xfrm>
        </p:spPr>
        <p:txBody>
          <a:bodyPr>
            <a:normAutofit/>
          </a:bodyPr>
          <a:lstStyle/>
          <a:p>
            <a:pPr marL="571500" lvl="0" indent="-571500" algn="just" fontAlgn="base" hangingPunct="0">
              <a:lnSpc>
                <a:spcPct val="120000"/>
              </a:lnSpc>
              <a:spcBef>
                <a:spcPts val="1200"/>
              </a:spcBef>
              <a:spcAft>
                <a:spcPts val="600"/>
              </a:spcAft>
              <a:buFont typeface="+mj-lt"/>
              <a:buAutoNum type="romanLcPeriod" startAt="5"/>
            </a:pPr>
            <a:r>
              <a:rPr lang="en-GB" b="1" i="1" dirty="0">
                <a:solidFill>
                  <a:prstClr val="black"/>
                </a:solidFill>
                <a:ea typeface="Times New Roman" panose="02020603050405020304" pitchFamily="18" charset="0"/>
              </a:rPr>
              <a:t>Cavitation</a:t>
            </a:r>
            <a:endParaRPr lang="en-GB" dirty="0">
              <a:solidFill>
                <a:prstClr val="black"/>
              </a:solidFill>
            </a:endParaRPr>
          </a:p>
          <a:p>
            <a:pPr marL="538163" lvl="0" indent="-182563"/>
            <a:r>
              <a:rPr lang="en-GB" dirty="0">
                <a:solidFill>
                  <a:prstClr val="black"/>
                </a:solidFill>
                <a:latin typeface="Times New Roman" panose="02020603050405020304" pitchFamily="18" charset="0"/>
                <a:ea typeface="Times New Roman" panose="02020603050405020304" pitchFamily="18" charset="0"/>
              </a:rPr>
              <a:t>Due to dissolved gases or air coming out of a fluid forming bubbles,</a:t>
            </a:r>
          </a:p>
          <a:p>
            <a:pPr marL="538163" lvl="0" indent="-182563"/>
            <a:r>
              <a:rPr lang="en-GB" dirty="0">
                <a:solidFill>
                  <a:prstClr val="black"/>
                </a:solidFill>
                <a:latin typeface="Times New Roman" panose="02020603050405020304" pitchFamily="18" charset="0"/>
                <a:ea typeface="Times New Roman" panose="02020603050405020304" pitchFamily="18" charset="0"/>
              </a:rPr>
              <a:t>Even if dissolved gases are not present, the fluid may ''boil'' </a:t>
            </a:r>
            <a:r>
              <a:rPr lang="en-GB" dirty="0">
                <a:solidFill>
                  <a:prstClr val="black"/>
                </a:solidFill>
                <a:latin typeface="Times New Roman" panose="02020603050405020304" pitchFamily="18" charset="0"/>
                <a:ea typeface="Calibri" panose="020F0502020204030204" pitchFamily="34" charset="0"/>
              </a:rPr>
              <a:t>when its pressure becomes too low, or its temperature too high</a:t>
            </a:r>
            <a:r>
              <a:rPr lang="en-GB" dirty="0">
                <a:solidFill>
                  <a:prstClr val="black"/>
                </a:solidFill>
                <a:latin typeface="Times New Roman" panose="02020603050405020304" pitchFamily="18" charset="0"/>
                <a:ea typeface="Times New Roman" panose="02020603050405020304" pitchFamily="18" charset="0"/>
              </a:rPr>
              <a:t>.</a:t>
            </a:r>
          </a:p>
          <a:p>
            <a:pPr marL="538163" lvl="0" indent="-182563"/>
            <a:r>
              <a:rPr lang="en-GB" dirty="0">
                <a:solidFill>
                  <a:prstClr val="black"/>
                </a:solidFill>
                <a:latin typeface="Times New Roman" panose="02020603050405020304" pitchFamily="18" charset="0"/>
                <a:ea typeface="Times New Roman" panose="02020603050405020304" pitchFamily="18" charset="0"/>
              </a:rPr>
              <a:t>Evaporation or boiling occurs at atmospheric temperature when the pressure is reduced </a:t>
            </a:r>
            <a:r>
              <a:rPr lang="en-GB" dirty="0" smtClean="0">
                <a:solidFill>
                  <a:prstClr val="black"/>
                </a:solidFill>
                <a:latin typeface="Times New Roman" panose="02020603050405020304" pitchFamily="18" charset="0"/>
                <a:ea typeface="Times New Roman" panose="02020603050405020304" pitchFamily="18" charset="0"/>
              </a:rPr>
              <a:t>below </a:t>
            </a:r>
            <a:r>
              <a:rPr lang="en-GB" dirty="0">
                <a:solidFill>
                  <a:prstClr val="black"/>
                </a:solidFill>
                <a:latin typeface="Times New Roman" panose="02020603050405020304" pitchFamily="18" charset="0"/>
                <a:ea typeface="Times New Roman" panose="02020603050405020304" pitchFamily="18" charset="0"/>
              </a:rPr>
              <a:t>the saturation vapour pressure,</a:t>
            </a:r>
          </a:p>
          <a:p>
            <a:pPr marL="538163" lvl="0" indent="-182563"/>
            <a:r>
              <a:rPr lang="en-GB" dirty="0">
                <a:solidFill>
                  <a:prstClr val="black"/>
                </a:solidFill>
                <a:latin typeface="Times New Roman" panose="02020603050405020304" pitchFamily="18" charset="0"/>
                <a:ea typeface="Times New Roman" panose="02020603050405020304" pitchFamily="18" charset="0"/>
              </a:rPr>
              <a:t>This can result out of a higher fluid velocity,</a:t>
            </a:r>
          </a:p>
          <a:p>
            <a:pPr marL="538163" lvl="0" indent="-182563"/>
            <a:r>
              <a:rPr lang="en-GB" dirty="0">
                <a:solidFill>
                  <a:prstClr val="black"/>
                </a:solidFill>
                <a:latin typeface="Times New Roman" panose="02020603050405020304" pitchFamily="18" charset="0"/>
                <a:ea typeface="Times New Roman" panose="02020603050405020304" pitchFamily="18" charset="0"/>
              </a:rPr>
              <a:t>Actual problem is the high explosive nature of these gases near surfaces when the fluid re-enters a high pressure zones</a:t>
            </a:r>
            <a:r>
              <a:rPr lang="en-GB" dirty="0" smtClean="0">
                <a:solidFill>
                  <a:prstClr val="black"/>
                </a:solidFill>
                <a:latin typeface="Times New Roman" panose="02020603050405020304" pitchFamily="18" charset="0"/>
                <a:ea typeface="Times New Roman" panose="02020603050405020304" pitchFamily="18" charset="0"/>
              </a:rPr>
              <a:t>.</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61</a:t>
            </a:fld>
            <a:endParaRPr lang="en-GB"/>
          </a:p>
        </p:txBody>
      </p:sp>
    </p:spTree>
    <p:extLst>
      <p:ext uri="{BB962C8B-B14F-4D97-AF65-F5344CB8AC3E}">
        <p14:creationId xmlns:p14="http://schemas.microsoft.com/office/powerpoint/2010/main" val="14036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1200"/>
            <a:ext cx="10515600" cy="635000"/>
          </a:xfrm>
        </p:spPr>
        <p:txBody>
          <a:bodyPr/>
          <a:lstStyle/>
          <a:p>
            <a:r>
              <a:rPr lang="en-GB" dirty="0"/>
              <a:t>UNIT 4 : Selection Criteria of Hydraulic Fluids</a:t>
            </a:r>
          </a:p>
        </p:txBody>
      </p:sp>
      <p:sp>
        <p:nvSpPr>
          <p:cNvPr id="3" name="Content Placeholder 2"/>
          <p:cNvSpPr>
            <a:spLocks noGrp="1"/>
          </p:cNvSpPr>
          <p:nvPr>
            <p:ph idx="1"/>
          </p:nvPr>
        </p:nvSpPr>
        <p:spPr>
          <a:xfrm>
            <a:off x="838200" y="1346200"/>
            <a:ext cx="10515600" cy="5118539"/>
          </a:xfrm>
        </p:spPr>
        <p:txBody>
          <a:bodyPr>
            <a:normAutofit lnSpcReduction="10000"/>
          </a:bodyPr>
          <a:lstStyle/>
          <a:p>
            <a:pPr lvl="0">
              <a:lnSpc>
                <a:spcPct val="120000"/>
              </a:lnSpc>
              <a:spcBef>
                <a:spcPts val="0"/>
              </a:spcBef>
              <a:spcAft>
                <a:spcPts val="600"/>
              </a:spcAft>
            </a:pPr>
            <a:r>
              <a:rPr lang="en-GB" sz="2400" b="1" i="1" dirty="0">
                <a:solidFill>
                  <a:prstClr val="black"/>
                </a:solidFill>
              </a:rPr>
              <a:t>Cavitation can take place in</a:t>
            </a:r>
            <a:r>
              <a:rPr lang="en-GB" sz="2400" dirty="0">
                <a:solidFill>
                  <a:prstClr val="black"/>
                </a:solidFill>
              </a:rPr>
              <a:t>:</a:t>
            </a:r>
          </a:p>
          <a:p>
            <a:pPr marL="355600" lvl="0" indent="0">
              <a:lnSpc>
                <a:spcPct val="120000"/>
              </a:lnSpc>
              <a:spcBef>
                <a:spcPts val="0"/>
              </a:spcBef>
              <a:spcAft>
                <a:spcPts val="600"/>
              </a:spcAft>
              <a:buNone/>
              <a:tabLst>
                <a:tab pos="548640" algn="l"/>
              </a:tabLst>
            </a:pPr>
            <a:r>
              <a:rPr lang="en-GB" sz="2400" dirty="0">
                <a:solidFill>
                  <a:prstClr val="black"/>
                </a:solidFill>
                <a:latin typeface="Times New Roman" panose="02020603050405020304" pitchFamily="18" charset="0"/>
                <a:ea typeface="Times New Roman" panose="02020603050405020304" pitchFamily="18" charset="0"/>
              </a:rPr>
              <a:t>a.	suction pipe lines and canals of pumps,</a:t>
            </a:r>
            <a:endParaRPr lang="en-GB" sz="2400" dirty="0">
              <a:solidFill>
                <a:prstClr val="black"/>
              </a:solidFill>
              <a:latin typeface="Times New Roman" panose="02020603050405020304" pitchFamily="18" charset="0"/>
              <a:ea typeface="Calibri" panose="020F0502020204030204" pitchFamily="34" charset="0"/>
            </a:endParaRPr>
          </a:p>
          <a:p>
            <a:pPr marL="1981200" lvl="0" indent="-1168400">
              <a:lnSpc>
                <a:spcPct val="120000"/>
              </a:lnSpc>
              <a:spcBef>
                <a:spcPts val="0"/>
              </a:spcBef>
              <a:spcAft>
                <a:spcPts val="600"/>
              </a:spcAft>
              <a:buNone/>
            </a:pPr>
            <a:r>
              <a:rPr lang="en-GB" sz="2400" dirty="0">
                <a:solidFill>
                  <a:prstClr val="black"/>
                </a:solidFill>
                <a:latin typeface="Times New Roman" panose="02020603050405020304" pitchFamily="18" charset="0"/>
                <a:ea typeface="Times New Roman" panose="02020603050405020304" pitchFamily="18" charset="0"/>
              </a:rPr>
              <a:t>Causes:	Lower absolute pressure due to:</a:t>
            </a:r>
            <a:endParaRPr lang="en-GB" sz="2400" dirty="0">
              <a:solidFill>
                <a:prstClr val="black"/>
              </a:solidFill>
              <a:latin typeface="Times New Roman" panose="02020603050405020304" pitchFamily="18" charset="0"/>
              <a:ea typeface="Calibri" panose="020F0502020204030204" pitchFamily="34" charset="0"/>
            </a:endParaRPr>
          </a:p>
          <a:p>
            <a:pPr marL="1447800" marR="822960" lvl="1" indent="-279400" fontAlgn="base" hangingPunct="0">
              <a:lnSpc>
                <a:spcPct val="120000"/>
              </a:lnSpc>
              <a:spcBef>
                <a:spcPts val="0"/>
              </a:spcBef>
              <a:spcAft>
                <a:spcPts val="600"/>
              </a:spcAft>
              <a:buFont typeface="+mj-lt"/>
              <a:buAutoNum type="romanLcPeriod"/>
            </a:pPr>
            <a:r>
              <a:rPr lang="en-GB" sz="2000" dirty="0">
                <a:solidFill>
                  <a:prstClr val="black"/>
                </a:solidFill>
                <a:ea typeface="Times New Roman" panose="02020603050405020304" pitchFamily="18" charset="0"/>
              </a:rPr>
              <a:t>losses in fittings, curves, reduced cross-sectional areas,</a:t>
            </a:r>
          </a:p>
          <a:p>
            <a:pPr marL="1447800" marR="822960" lvl="1" indent="-279400" fontAlgn="base" hangingPunct="0">
              <a:lnSpc>
                <a:spcPct val="120000"/>
              </a:lnSpc>
              <a:spcBef>
                <a:spcPts val="0"/>
              </a:spcBef>
              <a:spcAft>
                <a:spcPts val="600"/>
              </a:spcAft>
              <a:buFont typeface="+mj-lt"/>
              <a:buAutoNum type="romanLcPeriod"/>
            </a:pPr>
            <a:r>
              <a:rPr lang="en-GB" sz="2000" dirty="0">
                <a:solidFill>
                  <a:prstClr val="black"/>
                </a:solidFill>
                <a:ea typeface="Times New Roman" panose="02020603050405020304" pitchFamily="18" charset="0"/>
              </a:rPr>
              <a:t>long suction heights,</a:t>
            </a:r>
            <a:endParaRPr lang="en-GB" sz="2000" dirty="0">
              <a:solidFill>
                <a:prstClr val="black"/>
              </a:solidFill>
            </a:endParaRPr>
          </a:p>
          <a:p>
            <a:pPr marL="1447800" marR="822960" lvl="1" indent="-279400" fontAlgn="base" hangingPunct="0">
              <a:lnSpc>
                <a:spcPct val="120000"/>
              </a:lnSpc>
              <a:spcBef>
                <a:spcPts val="0"/>
              </a:spcBef>
              <a:spcAft>
                <a:spcPts val="600"/>
              </a:spcAft>
              <a:buFont typeface="+mj-lt"/>
              <a:buAutoNum type="romanLcPeriod"/>
            </a:pPr>
            <a:r>
              <a:rPr lang="en-GB" sz="2000" dirty="0">
                <a:solidFill>
                  <a:prstClr val="black"/>
                </a:solidFill>
                <a:latin typeface="Times New Roman" panose="02020603050405020304" pitchFamily="18" charset="0"/>
                <a:ea typeface="Times New Roman" panose="02020603050405020304" pitchFamily="18" charset="0"/>
              </a:rPr>
              <a:t>higher velocities.</a:t>
            </a:r>
            <a:endParaRPr lang="en-GB" sz="2000" dirty="0">
              <a:solidFill>
                <a:prstClr val="black"/>
              </a:solidFill>
              <a:latin typeface="Times New Roman" panose="02020603050405020304" pitchFamily="18" charset="0"/>
              <a:ea typeface="Calibri" panose="020F0502020204030204" pitchFamily="34" charset="0"/>
            </a:endParaRPr>
          </a:p>
          <a:p>
            <a:pPr marL="1879600" lvl="0" indent="-1066800" algn="just">
              <a:lnSpc>
                <a:spcPct val="120000"/>
              </a:lnSpc>
              <a:spcBef>
                <a:spcPts val="0"/>
              </a:spcBef>
              <a:spcAft>
                <a:spcPts val="600"/>
              </a:spcAft>
              <a:buNone/>
            </a:pPr>
            <a:r>
              <a:rPr lang="en-GB" sz="2400" dirty="0">
                <a:solidFill>
                  <a:prstClr val="black"/>
                </a:solidFill>
                <a:latin typeface="Times New Roman" panose="02020603050405020304" pitchFamily="18" charset="0"/>
                <a:ea typeface="Times New Roman" panose="02020603050405020304" pitchFamily="18" charset="0"/>
              </a:rPr>
              <a:t>Effects:	erosion of parts, power losses, high noise, pressure shocks etc.</a:t>
            </a:r>
            <a:endParaRPr lang="en-GB" sz="2400" dirty="0">
              <a:solidFill>
                <a:prstClr val="black"/>
              </a:solidFill>
              <a:latin typeface="Times New Roman" panose="02020603050405020304" pitchFamily="18" charset="0"/>
              <a:ea typeface="Calibri" panose="020F0502020204030204" pitchFamily="34" charset="0"/>
            </a:endParaRPr>
          </a:p>
          <a:p>
            <a:pPr marL="812800" lvl="0" indent="-457200">
              <a:lnSpc>
                <a:spcPct val="120000"/>
              </a:lnSpc>
              <a:spcBef>
                <a:spcPts val="0"/>
              </a:spcBef>
              <a:spcAft>
                <a:spcPts val="600"/>
              </a:spcAft>
              <a:buNone/>
            </a:pPr>
            <a:r>
              <a:rPr lang="en-GB" sz="2400" dirty="0">
                <a:solidFill>
                  <a:prstClr val="black"/>
                </a:solidFill>
                <a:latin typeface="Times New Roman" panose="02020603050405020304" pitchFamily="18" charset="0"/>
                <a:ea typeface="Times New Roman" panose="02020603050405020304" pitchFamily="18" charset="0"/>
              </a:rPr>
              <a:t>b.	Throttles, orifices, etc.</a:t>
            </a:r>
            <a:endParaRPr lang="en-GB" sz="2400" dirty="0">
              <a:solidFill>
                <a:prstClr val="black"/>
              </a:solidFill>
              <a:latin typeface="Times New Roman" panose="02020603050405020304" pitchFamily="18" charset="0"/>
              <a:ea typeface="Calibri" panose="020F0502020204030204" pitchFamily="34" charset="0"/>
            </a:endParaRPr>
          </a:p>
          <a:p>
            <a:pPr marL="812800" lvl="0" indent="0">
              <a:lnSpc>
                <a:spcPct val="120000"/>
              </a:lnSpc>
              <a:spcBef>
                <a:spcPts val="0"/>
              </a:spcBef>
              <a:spcAft>
                <a:spcPts val="600"/>
              </a:spcAft>
              <a:buNone/>
            </a:pPr>
            <a:r>
              <a:rPr lang="en-GB" sz="2400" dirty="0">
                <a:solidFill>
                  <a:prstClr val="black"/>
                </a:solidFill>
                <a:latin typeface="Times New Roman" panose="02020603050405020304" pitchFamily="18" charset="0"/>
                <a:ea typeface="Times New Roman" panose="02020603050405020304" pitchFamily="18" charset="0"/>
              </a:rPr>
              <a:t>Causes:	Lower pressures due to high velocities</a:t>
            </a:r>
            <a:endParaRPr lang="en-GB" sz="2400" dirty="0">
              <a:solidFill>
                <a:prstClr val="black"/>
              </a:solidFill>
              <a:latin typeface="Times New Roman" panose="02020603050405020304" pitchFamily="18" charset="0"/>
              <a:ea typeface="Calibri" panose="020F0502020204030204" pitchFamily="34" charset="0"/>
            </a:endParaRPr>
          </a:p>
          <a:p>
            <a:pPr marL="1981200" lvl="0" indent="-1168400">
              <a:lnSpc>
                <a:spcPct val="110000"/>
              </a:lnSpc>
              <a:spcBef>
                <a:spcPts val="0"/>
              </a:spcBef>
              <a:spcAft>
                <a:spcPts val="600"/>
              </a:spcAft>
              <a:buNone/>
            </a:pPr>
            <a:r>
              <a:rPr lang="en-GB" sz="2400" dirty="0">
                <a:solidFill>
                  <a:prstClr val="black"/>
                </a:solidFill>
                <a:latin typeface="Times New Roman" panose="02020603050405020304" pitchFamily="18" charset="0"/>
                <a:ea typeface="Times New Roman" panose="02020603050405020304" pitchFamily="18" charset="0"/>
              </a:rPr>
              <a:t>Effects:	high noise, erosion, instability of their controls, change in the flow </a:t>
            </a:r>
            <a:r>
              <a:rPr lang="en-GB" sz="2400" dirty="0" smtClean="0">
                <a:solidFill>
                  <a:prstClr val="black"/>
                </a:solidFill>
                <a:latin typeface="Times New Roman" panose="02020603050405020304" pitchFamily="18" charset="0"/>
                <a:ea typeface="Times New Roman" panose="02020603050405020304" pitchFamily="18" charset="0"/>
              </a:rPr>
              <a:t>characteristics</a:t>
            </a:r>
            <a:endParaRPr lang="en-GB" sz="24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62</a:t>
            </a:fld>
            <a:endParaRPr lang="en-GB"/>
          </a:p>
        </p:txBody>
      </p:sp>
    </p:spTree>
    <p:extLst>
      <p:ext uri="{BB962C8B-B14F-4D97-AF65-F5344CB8AC3E}">
        <p14:creationId xmlns:p14="http://schemas.microsoft.com/office/powerpoint/2010/main" val="311377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lstStyle/>
          <a:p>
            <a:pPr lvl="0"/>
            <a:r>
              <a:rPr lang="en-GB" b="1" i="1" dirty="0">
                <a:solidFill>
                  <a:prstClr val="black"/>
                </a:solidFill>
              </a:rPr>
              <a:t>Cavitation Protective Measures:</a:t>
            </a:r>
          </a:p>
          <a:p>
            <a:pPr marL="635000" lvl="0" indent="-355600" fontAlgn="base" hangingPunct="0">
              <a:lnSpc>
                <a:spcPct val="120000"/>
              </a:lnSpc>
              <a:spcAft>
                <a:spcPts val="360"/>
              </a:spcAft>
              <a:buFont typeface="Wingdings" panose="05000000000000000000" pitchFamily="2" charset="2"/>
              <a:buChar char="v"/>
              <a:tabLst>
                <a:tab pos="900430" algn="l"/>
              </a:tabLst>
            </a:pPr>
            <a:r>
              <a:rPr lang="en-GB" dirty="0">
                <a:solidFill>
                  <a:prstClr val="black"/>
                </a:solidFill>
                <a:ea typeface="Times New Roman" panose="02020603050405020304" pitchFamily="18" charset="0"/>
              </a:rPr>
              <a:t>Choice </a:t>
            </a:r>
            <a:r>
              <a:rPr lang="en-GB" i="1" dirty="0">
                <a:solidFill>
                  <a:prstClr val="black"/>
                </a:solidFill>
                <a:ea typeface="Times New Roman" panose="02020603050405020304" pitchFamily="18" charset="0"/>
              </a:rPr>
              <a:t>of </a:t>
            </a:r>
            <a:r>
              <a:rPr lang="en-GB" dirty="0">
                <a:solidFill>
                  <a:prstClr val="black"/>
                </a:solidFill>
                <a:ea typeface="Times New Roman" panose="02020603050405020304" pitchFamily="18" charset="0"/>
              </a:rPr>
              <a:t>material with resistance to erosion on surface,</a:t>
            </a:r>
            <a:endParaRPr lang="en-GB" dirty="0">
              <a:solidFill>
                <a:prstClr val="black"/>
              </a:solidFill>
            </a:endParaRPr>
          </a:p>
          <a:p>
            <a:pPr marL="635000" lvl="0" indent="-355600" fontAlgn="base" hangingPunct="0">
              <a:lnSpc>
                <a:spcPct val="120000"/>
              </a:lnSpc>
              <a:spcAft>
                <a:spcPts val="600"/>
              </a:spcAft>
              <a:buFont typeface="Wingdings" panose="05000000000000000000" pitchFamily="2" charset="2"/>
              <a:buChar char="v"/>
              <a:tabLst>
                <a:tab pos="900430" algn="l"/>
              </a:tabLst>
            </a:pPr>
            <a:r>
              <a:rPr lang="en-GB" dirty="0">
                <a:solidFill>
                  <a:prstClr val="black"/>
                </a:solidFill>
                <a:ea typeface="Times New Roman" panose="02020603050405020304" pitchFamily="18" charset="0"/>
              </a:rPr>
              <a:t>Reducing the pressure differences on a single pressure reducing element (serial connection of such elements),</a:t>
            </a:r>
            <a:endParaRPr lang="en-GB" dirty="0">
              <a:solidFill>
                <a:prstClr val="black"/>
              </a:solidFill>
            </a:endParaRPr>
          </a:p>
          <a:p>
            <a:pPr marL="635000" lvl="0" indent="-355600">
              <a:buFont typeface="Wingdings" panose="05000000000000000000" pitchFamily="2" charset="2"/>
              <a:buChar char="v"/>
            </a:pPr>
            <a:r>
              <a:rPr lang="en-GB" dirty="0">
                <a:solidFill>
                  <a:prstClr val="black"/>
                </a:solidFill>
                <a:ea typeface="Times New Roman" panose="02020603050405020304" pitchFamily="18" charset="0"/>
              </a:rPr>
              <a:t>Deviating the cavitation’s jet away from critical </a:t>
            </a:r>
            <a:r>
              <a:rPr lang="en-GB" dirty="0" smtClean="0">
                <a:solidFill>
                  <a:prstClr val="black"/>
                </a:solidFill>
                <a:ea typeface="Times New Roman" panose="02020603050405020304" pitchFamily="18" charset="0"/>
              </a:rPr>
              <a:t>areas</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63</a:t>
            </a:fld>
            <a:endParaRPr lang="en-GB"/>
          </a:p>
        </p:txBody>
      </p:sp>
    </p:spTree>
    <p:extLst>
      <p:ext uri="{BB962C8B-B14F-4D97-AF65-F5344CB8AC3E}">
        <p14:creationId xmlns:p14="http://schemas.microsoft.com/office/powerpoint/2010/main" val="399270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a:xfrm>
            <a:off x="838200" y="1825625"/>
            <a:ext cx="10515600" cy="2425099"/>
          </a:xfrm>
        </p:spPr>
        <p:txBody>
          <a:bodyPr/>
          <a:lstStyle/>
          <a:p>
            <a:pPr marL="571500" lvl="0" indent="-571500" algn="just" fontAlgn="base" hangingPunct="0">
              <a:lnSpc>
                <a:spcPct val="120000"/>
              </a:lnSpc>
              <a:spcBef>
                <a:spcPts val="1200"/>
              </a:spcBef>
              <a:spcAft>
                <a:spcPts val="600"/>
              </a:spcAft>
              <a:buFont typeface="+mj-lt"/>
              <a:buAutoNum type="romanLcPeriod" startAt="6"/>
            </a:pPr>
            <a:r>
              <a:rPr lang="en-GB" b="1" i="1" dirty="0" smtClean="0">
                <a:solidFill>
                  <a:prstClr val="black"/>
                </a:solidFill>
                <a:latin typeface="Times New Roman" panose="02020603050405020304" pitchFamily="18" charset="0"/>
                <a:ea typeface="Times New Roman" panose="02020603050405020304" pitchFamily="18" charset="0"/>
              </a:rPr>
              <a:t>Material compatibility</a:t>
            </a:r>
          </a:p>
          <a:p>
            <a:pPr algn="just" fontAlgn="base" hangingPunct="0">
              <a:lnSpc>
                <a:spcPct val="120000"/>
              </a:lnSpc>
              <a:spcBef>
                <a:spcPts val="1200"/>
              </a:spcBef>
              <a:spcAft>
                <a:spcPts val="600"/>
              </a:spcAft>
            </a:pPr>
            <a:r>
              <a:rPr lang="en-GB" dirty="0" smtClean="0"/>
              <a:t>Hydraulic </a:t>
            </a:r>
            <a:r>
              <a:rPr lang="en-GB" dirty="0"/>
              <a:t>fluid must not negatively affect the materials of components such as coatings, seals, hoses, metals and plastics</a:t>
            </a:r>
            <a:endParaRPr lang="en-GB" dirty="0">
              <a:solidFill>
                <a:prstClr val="black"/>
              </a:solidFill>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64</a:t>
            </a:fld>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69623" y="4250724"/>
            <a:ext cx="6624000" cy="1863931"/>
          </a:xfrm>
          <a:prstGeom prst="rect">
            <a:avLst/>
          </a:prstGeom>
          <a:noFill/>
          <a:ln>
            <a:noFill/>
          </a:ln>
        </p:spPr>
      </p:pic>
    </p:spTree>
    <p:extLst>
      <p:ext uri="{BB962C8B-B14F-4D97-AF65-F5344CB8AC3E}">
        <p14:creationId xmlns:p14="http://schemas.microsoft.com/office/powerpoint/2010/main" val="417793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476"/>
            <a:ext cx="10515600" cy="608724"/>
          </a:xfrm>
        </p:spPr>
        <p:txBody>
          <a:bodyPr/>
          <a:lstStyle/>
          <a:p>
            <a:r>
              <a:rPr lang="en-GB" dirty="0"/>
              <a:t>UNIT 4 : Selection Criteria of Hydraulic Fluids</a:t>
            </a:r>
          </a:p>
        </p:txBody>
      </p:sp>
      <p:sp>
        <p:nvSpPr>
          <p:cNvPr id="3" name="Content Placeholder 2"/>
          <p:cNvSpPr>
            <a:spLocks noGrp="1"/>
          </p:cNvSpPr>
          <p:nvPr>
            <p:ph idx="1"/>
          </p:nvPr>
        </p:nvSpPr>
        <p:spPr>
          <a:xfrm>
            <a:off x="838200" y="1346200"/>
            <a:ext cx="10515600" cy="5118539"/>
          </a:xfrm>
        </p:spPr>
        <p:txBody>
          <a:bodyPr>
            <a:normAutofit fontScale="92500"/>
          </a:bodyPr>
          <a:lstStyle/>
          <a:p>
            <a:pPr marL="571500" lvl="0" indent="-571500" algn="just" fontAlgn="base" hangingPunct="0">
              <a:lnSpc>
                <a:spcPct val="120000"/>
              </a:lnSpc>
              <a:spcBef>
                <a:spcPts val="1200"/>
              </a:spcBef>
              <a:spcAft>
                <a:spcPts val="600"/>
              </a:spcAft>
              <a:buFont typeface="+mj-lt"/>
              <a:buAutoNum type="romanLcPeriod" startAt="7"/>
            </a:pPr>
            <a:r>
              <a:rPr lang="en-GB" sz="3100" b="1" i="1" dirty="0">
                <a:solidFill>
                  <a:prstClr val="black"/>
                </a:solidFill>
                <a:latin typeface="Times New Roman" panose="02020603050405020304" pitchFamily="18" charset="0"/>
                <a:ea typeface="Times New Roman" panose="02020603050405020304" pitchFamily="18" charset="0"/>
              </a:rPr>
              <a:t>Aging (oxidation and Polymerisation)</a:t>
            </a:r>
            <a:endParaRPr lang="en-GB" sz="3100" dirty="0">
              <a:solidFill>
                <a:prstClr val="black"/>
              </a:solidFill>
              <a:latin typeface="Times New Roman" panose="02020603050405020304" pitchFamily="18" charset="0"/>
              <a:ea typeface="Calibri" panose="020F0502020204030204" pitchFamily="34" charset="0"/>
            </a:endParaRPr>
          </a:p>
          <a:p>
            <a:pPr marL="863600" lvl="0" indent="-457200">
              <a:lnSpc>
                <a:spcPct val="110000"/>
              </a:lnSpc>
              <a:spcBef>
                <a:spcPts val="0"/>
              </a:spcBef>
              <a:spcAft>
                <a:spcPts val="1000"/>
              </a:spcAft>
              <a:buFont typeface="Wingdings" panose="05000000000000000000" pitchFamily="2" charset="2"/>
              <a:buChar char="v"/>
            </a:pPr>
            <a:r>
              <a:rPr lang="en-GB" sz="3100" dirty="0">
                <a:solidFill>
                  <a:prstClr val="black"/>
                </a:solidFill>
                <a:latin typeface="Times New Roman" panose="02020603050405020304" pitchFamily="18" charset="0"/>
                <a:ea typeface="Times New Roman" panose="02020603050405020304" pitchFamily="18" charset="0"/>
              </a:rPr>
              <a:t>Oxidation is a reaction with oxygen to form acidic bases.</a:t>
            </a:r>
            <a:endParaRPr lang="en-GB" sz="3100" dirty="0">
              <a:solidFill>
                <a:prstClr val="black"/>
              </a:solidFill>
              <a:latin typeface="Times New Roman" panose="02020603050405020304" pitchFamily="18" charset="0"/>
              <a:ea typeface="Calibri" panose="020F0502020204030204" pitchFamily="34" charset="0"/>
            </a:endParaRPr>
          </a:p>
          <a:p>
            <a:pPr marL="863600" lvl="0" indent="-457200">
              <a:lnSpc>
                <a:spcPct val="110000"/>
              </a:lnSpc>
              <a:spcBef>
                <a:spcPts val="0"/>
              </a:spcBef>
              <a:spcAft>
                <a:spcPts val="1000"/>
              </a:spcAft>
              <a:buFont typeface="Wingdings" panose="05000000000000000000" pitchFamily="2" charset="2"/>
              <a:buChar char="v"/>
            </a:pPr>
            <a:r>
              <a:rPr lang="en-GB" sz="3100" dirty="0">
                <a:solidFill>
                  <a:prstClr val="black"/>
                </a:solidFill>
                <a:latin typeface="Times New Roman" panose="02020603050405020304" pitchFamily="18" charset="0"/>
                <a:ea typeface="Times New Roman" panose="02020603050405020304" pitchFamily="18" charset="0"/>
              </a:rPr>
              <a:t>Polymerisation is the increase in the length of the C-H chain, and it leads to the formation of sludge,</a:t>
            </a:r>
          </a:p>
          <a:p>
            <a:pPr marL="863600" lvl="0" indent="-457200">
              <a:lnSpc>
                <a:spcPct val="110000"/>
              </a:lnSpc>
              <a:spcBef>
                <a:spcPts val="0"/>
              </a:spcBef>
              <a:spcAft>
                <a:spcPts val="1000"/>
              </a:spcAft>
              <a:buFont typeface="Wingdings" panose="05000000000000000000" pitchFamily="2" charset="2"/>
              <a:buChar char="v"/>
            </a:pPr>
            <a:r>
              <a:rPr lang="en-GB" sz="3100" dirty="0">
                <a:solidFill>
                  <a:prstClr val="black"/>
                </a:solidFill>
                <a:latin typeface="Times New Roman" panose="02020603050405020304" pitchFamily="18" charset="0"/>
                <a:ea typeface="Times New Roman" panose="02020603050405020304" pitchFamily="18" charset="0"/>
              </a:rPr>
              <a:t>Acceleration of aging can be due to:</a:t>
            </a:r>
          </a:p>
          <a:p>
            <a:pPr marL="1295400" lvl="0" indent="-457200" algn="just" fontAlgn="base" hangingPunct="0">
              <a:lnSpc>
                <a:spcPct val="120000"/>
              </a:lnSpc>
              <a:spcBef>
                <a:spcPts val="0"/>
              </a:spcBef>
              <a:spcAft>
                <a:spcPts val="600"/>
              </a:spcAft>
              <a:buFont typeface="Wingdings" panose="05000000000000000000" pitchFamily="2" charset="2"/>
              <a:buChar char="§"/>
              <a:tabLst>
                <a:tab pos="990600" algn="l"/>
              </a:tabLst>
            </a:pPr>
            <a:r>
              <a:rPr lang="en-GB" dirty="0">
                <a:solidFill>
                  <a:prstClr val="black"/>
                </a:solidFill>
                <a:ea typeface="Times New Roman" panose="02020603050405020304" pitchFamily="18" charset="0"/>
              </a:rPr>
              <a:t>High operating temperatures.</a:t>
            </a:r>
            <a:endParaRPr lang="en-GB" dirty="0">
              <a:solidFill>
                <a:prstClr val="black"/>
              </a:solidFill>
            </a:endParaRPr>
          </a:p>
          <a:p>
            <a:pPr marL="1295400" lvl="0" indent="-457200" algn="just" fontAlgn="base" hangingPunct="0">
              <a:lnSpc>
                <a:spcPct val="120000"/>
              </a:lnSpc>
              <a:spcBef>
                <a:spcPts val="0"/>
              </a:spcBef>
              <a:spcAft>
                <a:spcPts val="600"/>
              </a:spcAft>
              <a:buFont typeface="Wingdings" panose="05000000000000000000" pitchFamily="2" charset="2"/>
              <a:buChar char="§"/>
              <a:tabLst>
                <a:tab pos="990600" algn="l"/>
              </a:tabLst>
            </a:pPr>
            <a:r>
              <a:rPr lang="en-GB" dirty="0">
                <a:solidFill>
                  <a:prstClr val="black"/>
                </a:solidFill>
                <a:ea typeface="Times New Roman" panose="02020603050405020304" pitchFamily="18" charset="0"/>
              </a:rPr>
              <a:t>Presence </a:t>
            </a:r>
            <a:r>
              <a:rPr lang="en-GB" i="1" dirty="0">
                <a:solidFill>
                  <a:prstClr val="black"/>
                </a:solidFill>
                <a:ea typeface="Times New Roman" panose="02020603050405020304" pitchFamily="18" charset="0"/>
              </a:rPr>
              <a:t>of </a:t>
            </a:r>
            <a:r>
              <a:rPr lang="en-GB" dirty="0">
                <a:solidFill>
                  <a:prstClr val="black"/>
                </a:solidFill>
                <a:ea typeface="Times New Roman" panose="02020603050405020304" pitchFamily="18" charset="0"/>
              </a:rPr>
              <a:t>foreign air,</a:t>
            </a:r>
            <a:endParaRPr lang="en-GB" dirty="0">
              <a:solidFill>
                <a:prstClr val="black"/>
              </a:solidFill>
            </a:endParaRPr>
          </a:p>
          <a:p>
            <a:pPr marL="1295400" lvl="0" indent="-457200" algn="just" fontAlgn="base" hangingPunct="0">
              <a:lnSpc>
                <a:spcPct val="120000"/>
              </a:lnSpc>
              <a:spcBef>
                <a:spcPts val="0"/>
              </a:spcBef>
              <a:spcAft>
                <a:spcPts val="600"/>
              </a:spcAft>
              <a:buFont typeface="Wingdings" panose="05000000000000000000" pitchFamily="2" charset="2"/>
              <a:buChar char="§"/>
              <a:tabLst>
                <a:tab pos="990600" algn="l"/>
              </a:tabLst>
            </a:pPr>
            <a:r>
              <a:rPr lang="en-GB" dirty="0">
                <a:solidFill>
                  <a:prstClr val="black"/>
                </a:solidFill>
                <a:ea typeface="Times New Roman" panose="02020603050405020304" pitchFamily="18" charset="0"/>
              </a:rPr>
              <a:t>Presence of water and other impurities,</a:t>
            </a:r>
            <a:endParaRPr lang="en-GB" dirty="0">
              <a:solidFill>
                <a:prstClr val="black"/>
              </a:solidFill>
            </a:endParaRPr>
          </a:p>
          <a:p>
            <a:pPr marL="1295400" lvl="0" indent="-457200">
              <a:spcBef>
                <a:spcPts val="0"/>
              </a:spcBef>
              <a:spcAft>
                <a:spcPts val="600"/>
              </a:spcAft>
              <a:buFont typeface="Wingdings" panose="05000000000000000000" pitchFamily="2" charset="2"/>
              <a:buChar char="§"/>
            </a:pPr>
            <a:r>
              <a:rPr lang="en-GB" dirty="0">
                <a:solidFill>
                  <a:prstClr val="black"/>
                </a:solidFill>
                <a:ea typeface="Times New Roman" panose="02020603050405020304" pitchFamily="18" charset="0"/>
              </a:rPr>
              <a:t>Presence of metallic catalyst (mostly Cu and Cu-alloys</a:t>
            </a:r>
            <a:r>
              <a:rPr lang="en-GB" sz="1700" dirty="0" smtClean="0">
                <a:solidFill>
                  <a:prstClr val="black"/>
                </a:solidFill>
                <a:latin typeface="Times New Roman" panose="02020603050405020304" pitchFamily="18" charset="0"/>
                <a:ea typeface="Times New Roman" panose="02020603050405020304" pitchFamily="18" charset="0"/>
              </a:rPr>
              <a:t>)</a:t>
            </a:r>
            <a:endParaRPr lang="en-GB" sz="26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65</a:t>
            </a:fld>
            <a:endParaRPr lang="en-GB"/>
          </a:p>
        </p:txBody>
      </p:sp>
    </p:spTree>
    <p:extLst>
      <p:ext uri="{BB962C8B-B14F-4D97-AF65-F5344CB8AC3E}">
        <p14:creationId xmlns:p14="http://schemas.microsoft.com/office/powerpoint/2010/main" val="381603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lstStyle/>
          <a:p>
            <a:pPr lvl="0">
              <a:spcAft>
                <a:spcPts val="1200"/>
              </a:spcAft>
            </a:pPr>
            <a:r>
              <a:rPr lang="en-GB" sz="2400" b="1" i="1" dirty="0">
                <a:solidFill>
                  <a:prstClr val="black"/>
                </a:solidFill>
              </a:rPr>
              <a:t>Aging (oxidation and </a:t>
            </a:r>
            <a:r>
              <a:rPr lang="en-GB" sz="2400" b="1" i="1" dirty="0" smtClean="0">
                <a:solidFill>
                  <a:prstClr val="black"/>
                </a:solidFill>
              </a:rPr>
              <a:t>Polymerisation) Neutralisation</a:t>
            </a:r>
            <a:r>
              <a:rPr lang="en-US" sz="2400" b="1" i="1" dirty="0" smtClean="0">
                <a:solidFill>
                  <a:prstClr val="black"/>
                </a:solidFill>
              </a:rPr>
              <a:t> </a:t>
            </a:r>
            <a:r>
              <a:rPr lang="en-US" sz="2400" b="1" i="1" dirty="0">
                <a:solidFill>
                  <a:prstClr val="black"/>
                </a:solidFill>
              </a:rPr>
              <a:t>Number:</a:t>
            </a:r>
            <a:endParaRPr lang="en-GB" sz="2400" b="1" i="1" dirty="0">
              <a:solidFill>
                <a:prstClr val="black"/>
              </a:solidFill>
            </a:endParaRPr>
          </a:p>
          <a:p>
            <a:pPr marL="812800" lvl="0" indent="-457200">
              <a:buFont typeface="Wingdings" panose="05000000000000000000" pitchFamily="2" charset="2"/>
              <a:buChar char="v"/>
            </a:pPr>
            <a:r>
              <a:rPr lang="en-GB" dirty="0">
                <a:solidFill>
                  <a:prstClr val="black"/>
                </a:solidFill>
              </a:rPr>
              <a:t>It is a scale for determining the aging state of fluids,</a:t>
            </a:r>
          </a:p>
          <a:p>
            <a:pPr marL="812800" lvl="0" indent="-457200">
              <a:buFont typeface="Wingdings" panose="05000000000000000000" pitchFamily="2" charset="2"/>
              <a:buChar char="v"/>
            </a:pPr>
            <a:r>
              <a:rPr lang="en-GB" dirty="0">
                <a:solidFill>
                  <a:prstClr val="black"/>
                </a:solidFill>
                <a:latin typeface="Times New Roman" panose="02020603050405020304" pitchFamily="18" charset="0"/>
                <a:ea typeface="Times New Roman" panose="02020603050405020304" pitchFamily="18" charset="0"/>
              </a:rPr>
              <a:t>it specifies the amount of</a:t>
            </a:r>
            <a:r>
              <a:rPr lang="en-GB" baseline="30000" dirty="0">
                <a:solidFill>
                  <a:prstClr val="black"/>
                </a:solidFill>
                <a:latin typeface="Times New Roman" panose="02020603050405020304" pitchFamily="18" charset="0"/>
                <a:ea typeface="Times New Roman" panose="02020603050405020304" pitchFamily="18" charset="0"/>
              </a:rPr>
              <a:t>-</a:t>
            </a:r>
            <a:r>
              <a:rPr lang="en-GB" dirty="0">
                <a:solidFill>
                  <a:prstClr val="black"/>
                </a:solidFill>
                <a:latin typeface="Times New Roman" panose="02020603050405020304" pitchFamily="18" charset="0"/>
                <a:ea typeface="Times New Roman" panose="02020603050405020304" pitchFamily="18" charset="0"/>
              </a:rPr>
              <a:t>KOH necessary to neutralise 1g of the fluid</a:t>
            </a:r>
            <a:r>
              <a:rPr lang="en-GB" dirty="0" smtClean="0">
                <a:solidFill>
                  <a:prstClr val="black"/>
                </a:solidFill>
                <a:latin typeface="Times New Roman" panose="02020603050405020304" pitchFamily="18" charset="0"/>
                <a:ea typeface="Times New Roman" panose="02020603050405020304" pitchFamily="18" charset="0"/>
              </a:rPr>
              <a:t>.</a:t>
            </a:r>
            <a:endParaRPr lang="en-GB"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66</a:t>
            </a:fld>
            <a:endParaRPr lang="en-GB" dirty="0"/>
          </a:p>
        </p:txBody>
      </p:sp>
    </p:spTree>
    <p:extLst>
      <p:ext uri="{BB962C8B-B14F-4D97-AF65-F5344CB8AC3E}">
        <p14:creationId xmlns:p14="http://schemas.microsoft.com/office/powerpoint/2010/main" val="85532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94535"/>
          </a:xfrm>
        </p:spPr>
        <p:txBody>
          <a:bodyPr/>
          <a:lstStyle/>
          <a:p>
            <a:r>
              <a:rPr lang="en-GB" dirty="0"/>
              <a:t>UNIT 4 : Selection Criteria of Hydraulic Fluids</a:t>
            </a:r>
          </a:p>
        </p:txBody>
      </p:sp>
      <p:sp>
        <p:nvSpPr>
          <p:cNvPr id="3" name="Content Placeholder 2"/>
          <p:cNvSpPr>
            <a:spLocks noGrp="1"/>
          </p:cNvSpPr>
          <p:nvPr>
            <p:ph idx="1"/>
          </p:nvPr>
        </p:nvSpPr>
        <p:spPr>
          <a:xfrm>
            <a:off x="838200" y="1729946"/>
            <a:ext cx="10515600" cy="4734793"/>
          </a:xfrm>
        </p:spPr>
        <p:txBody>
          <a:bodyPr>
            <a:normAutofit fontScale="92500" lnSpcReduction="10000"/>
          </a:bodyPr>
          <a:lstStyle/>
          <a:p>
            <a:pPr marL="715963" lvl="0" indent="-715963" algn="just" fontAlgn="base" hangingPunct="0">
              <a:lnSpc>
                <a:spcPct val="120000"/>
              </a:lnSpc>
              <a:spcBef>
                <a:spcPts val="1200"/>
              </a:spcBef>
              <a:spcAft>
                <a:spcPts val="600"/>
              </a:spcAft>
              <a:buFont typeface="+mj-lt"/>
              <a:buAutoNum type="romanLcPeriod" startAt="8"/>
            </a:pPr>
            <a:r>
              <a:rPr lang="en-GB" b="1" i="1" dirty="0"/>
              <a:t>Air separation ability (ASA</a:t>
            </a:r>
            <a:r>
              <a:rPr lang="en-GB" b="1" i="1" dirty="0" smtClean="0"/>
              <a:t>)</a:t>
            </a:r>
            <a:endParaRPr lang="en-GB" b="1" i="1" dirty="0"/>
          </a:p>
          <a:p>
            <a:pPr marL="542925" algn="just" fontAlgn="base" hangingPunct="0">
              <a:lnSpc>
                <a:spcPct val="120000"/>
              </a:lnSpc>
              <a:spcBef>
                <a:spcPts val="1200"/>
              </a:spcBef>
              <a:spcAft>
                <a:spcPts val="600"/>
              </a:spcAft>
            </a:pPr>
            <a:r>
              <a:rPr lang="en-GB" dirty="0" smtClean="0"/>
              <a:t>Property </a:t>
            </a:r>
            <a:r>
              <a:rPr lang="en-GB" dirty="0"/>
              <a:t>of a hydraulic fluid to separate undissolved </a:t>
            </a:r>
            <a:r>
              <a:rPr lang="en-GB" dirty="0" smtClean="0"/>
              <a:t>air</a:t>
            </a:r>
          </a:p>
          <a:p>
            <a:pPr marL="542925" algn="just" fontAlgn="base" hangingPunct="0">
              <a:lnSpc>
                <a:spcPct val="120000"/>
              </a:lnSpc>
              <a:spcBef>
                <a:spcPts val="1200"/>
              </a:spcBef>
              <a:spcAft>
                <a:spcPts val="600"/>
              </a:spcAft>
            </a:pPr>
            <a:r>
              <a:rPr lang="en-GB" dirty="0" smtClean="0"/>
              <a:t>Hydraulic </a:t>
            </a:r>
            <a:r>
              <a:rPr lang="en-GB" dirty="0"/>
              <a:t>fluids always contain dissolved </a:t>
            </a:r>
            <a:r>
              <a:rPr lang="en-GB" dirty="0" smtClean="0"/>
              <a:t>air,</a:t>
            </a:r>
          </a:p>
          <a:p>
            <a:pPr marL="542925" algn="just" fontAlgn="base" hangingPunct="0">
              <a:lnSpc>
                <a:spcPct val="120000"/>
              </a:lnSpc>
              <a:spcBef>
                <a:spcPts val="1200"/>
              </a:spcBef>
              <a:spcAft>
                <a:spcPts val="600"/>
              </a:spcAft>
            </a:pPr>
            <a:r>
              <a:rPr lang="en-GB" dirty="0"/>
              <a:t>During operation, dissolved air may be transformed into undissolved air, leading to </a:t>
            </a:r>
            <a:r>
              <a:rPr lang="en-GB" dirty="0" smtClean="0"/>
              <a:t>cavitation,</a:t>
            </a:r>
          </a:p>
          <a:p>
            <a:pPr marL="542925" algn="just" fontAlgn="base" hangingPunct="0">
              <a:lnSpc>
                <a:spcPct val="120000"/>
              </a:lnSpc>
              <a:spcBef>
                <a:spcPts val="1200"/>
              </a:spcBef>
              <a:spcAft>
                <a:spcPts val="600"/>
              </a:spcAft>
            </a:pPr>
            <a:r>
              <a:rPr lang="en-GB" dirty="0"/>
              <a:t>air separation capacity depends on the viscosity, temperature, basic fluid and </a:t>
            </a:r>
            <a:r>
              <a:rPr lang="en-GB" dirty="0" smtClean="0"/>
              <a:t>aging,</a:t>
            </a:r>
          </a:p>
          <a:p>
            <a:pPr marL="542925" algn="just" fontAlgn="base" hangingPunct="0">
              <a:lnSpc>
                <a:spcPct val="120000"/>
              </a:lnSpc>
              <a:spcBef>
                <a:spcPts val="1200"/>
              </a:spcBef>
              <a:spcAft>
                <a:spcPts val="600"/>
              </a:spcAft>
            </a:pPr>
            <a:r>
              <a:rPr lang="en-GB" dirty="0" smtClean="0"/>
              <a:t> </a:t>
            </a:r>
            <a:r>
              <a:rPr lang="en-GB" dirty="0"/>
              <a:t>It cannot be improved by additives.</a:t>
            </a:r>
            <a:endParaRPr lang="en-GB" dirty="0">
              <a:solidFill>
                <a:prstClr val="black"/>
              </a:solidFill>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67</a:t>
            </a:fld>
            <a:endParaRPr lang="en-GB" dirty="0"/>
          </a:p>
        </p:txBody>
      </p:sp>
    </p:spTree>
    <p:extLst>
      <p:ext uri="{BB962C8B-B14F-4D97-AF65-F5344CB8AC3E}">
        <p14:creationId xmlns:p14="http://schemas.microsoft.com/office/powerpoint/2010/main" val="231875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69821"/>
          </a:xfrm>
        </p:spPr>
        <p:txBody>
          <a:bodyPr/>
          <a:lstStyle/>
          <a:p>
            <a:r>
              <a:rPr lang="en-GB" dirty="0"/>
              <a:t>UNIT 4 : Selection Criteria of Hydraulic Fluids</a:t>
            </a:r>
          </a:p>
        </p:txBody>
      </p:sp>
      <p:sp>
        <p:nvSpPr>
          <p:cNvPr id="3" name="Content Placeholder 2"/>
          <p:cNvSpPr>
            <a:spLocks noGrp="1"/>
          </p:cNvSpPr>
          <p:nvPr>
            <p:ph idx="1"/>
          </p:nvPr>
        </p:nvSpPr>
        <p:spPr/>
        <p:txBody>
          <a:bodyPr>
            <a:normAutofit/>
          </a:bodyPr>
          <a:lstStyle/>
          <a:p>
            <a:pPr marL="715963" lvl="0" indent="-715963" algn="just" fontAlgn="base" hangingPunct="0">
              <a:lnSpc>
                <a:spcPct val="120000"/>
              </a:lnSpc>
              <a:spcBef>
                <a:spcPts val="1200"/>
              </a:spcBef>
              <a:spcAft>
                <a:spcPts val="600"/>
              </a:spcAft>
              <a:buFont typeface="+mj-lt"/>
              <a:buAutoNum type="romanLcPeriod" startAt="9"/>
            </a:pPr>
            <a:r>
              <a:rPr lang="en-GB" b="1" i="1" dirty="0"/>
              <a:t>Demulsifying ability and water </a:t>
            </a:r>
            <a:r>
              <a:rPr lang="en-GB" b="1" i="1" dirty="0" smtClean="0"/>
              <a:t>solubility</a:t>
            </a:r>
            <a:endParaRPr lang="en-GB" b="1" i="1" dirty="0"/>
          </a:p>
          <a:p>
            <a:pPr algn="just" fontAlgn="base" hangingPunct="0">
              <a:lnSpc>
                <a:spcPct val="120000"/>
              </a:lnSpc>
              <a:spcBef>
                <a:spcPts val="1200"/>
              </a:spcBef>
              <a:spcAft>
                <a:spcPts val="600"/>
              </a:spcAft>
            </a:pPr>
            <a:r>
              <a:rPr lang="en-GB" dirty="0"/>
              <a:t>The capacity of a hydraulic fluid to separate water at a defined temperature is known as demulsifying </a:t>
            </a:r>
            <a:r>
              <a:rPr lang="en-GB" dirty="0" smtClean="0"/>
              <a:t>ability,</a:t>
            </a:r>
          </a:p>
          <a:p>
            <a:pPr algn="just" fontAlgn="base" hangingPunct="0">
              <a:lnSpc>
                <a:spcPct val="120000"/>
              </a:lnSpc>
              <a:spcBef>
                <a:spcPts val="1200"/>
              </a:spcBef>
              <a:spcAft>
                <a:spcPts val="600"/>
              </a:spcAft>
            </a:pPr>
            <a:r>
              <a:rPr lang="en-GB" dirty="0"/>
              <a:t>For larger systems with permanent monitoring, a demulsifying fluid with good water separation capability (WSC) is recommended</a:t>
            </a:r>
          </a:p>
        </p:txBody>
      </p:sp>
      <p:sp>
        <p:nvSpPr>
          <p:cNvPr id="4" name="Slide Number Placeholder 3"/>
          <p:cNvSpPr>
            <a:spLocks noGrp="1"/>
          </p:cNvSpPr>
          <p:nvPr>
            <p:ph type="sldNum" sz="quarter" idx="12"/>
          </p:nvPr>
        </p:nvSpPr>
        <p:spPr/>
        <p:txBody>
          <a:bodyPr/>
          <a:lstStyle/>
          <a:p>
            <a:fld id="{7E50C373-F1D0-494F-8D6D-366C958B3429}" type="slidenum">
              <a:rPr lang="en-GB" smtClean="0"/>
              <a:pPr/>
              <a:t>68</a:t>
            </a:fld>
            <a:endParaRPr lang="en-GB" dirty="0"/>
          </a:p>
        </p:txBody>
      </p:sp>
    </p:spTree>
    <p:extLst>
      <p:ext uri="{BB962C8B-B14F-4D97-AF65-F5344CB8AC3E}">
        <p14:creationId xmlns:p14="http://schemas.microsoft.com/office/powerpoint/2010/main" val="244465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lstStyle/>
          <a:p>
            <a:pPr marL="715963" lvl="0" indent="-715963" algn="just" fontAlgn="base" hangingPunct="0">
              <a:lnSpc>
                <a:spcPct val="120000"/>
              </a:lnSpc>
              <a:spcBef>
                <a:spcPts val="1200"/>
              </a:spcBef>
              <a:spcAft>
                <a:spcPts val="600"/>
              </a:spcAft>
              <a:buFont typeface="+mj-lt"/>
              <a:buAutoNum type="romanLcPeriod" startAt="10"/>
            </a:pPr>
            <a:r>
              <a:rPr lang="en-GB" b="1" i="1" dirty="0" smtClean="0">
                <a:solidFill>
                  <a:prstClr val="black"/>
                </a:solidFill>
              </a:rPr>
              <a:t>Filterability</a:t>
            </a:r>
            <a:endParaRPr lang="en-GB" b="1" i="1" dirty="0">
              <a:solidFill>
                <a:prstClr val="black"/>
              </a:solidFill>
            </a:endParaRPr>
          </a:p>
          <a:p>
            <a:r>
              <a:rPr lang="en-GB" dirty="0"/>
              <a:t>Filterability describes the ability of a hydraulic fluid to pass through a filter, removing solid </a:t>
            </a:r>
            <a:r>
              <a:rPr lang="en-GB" dirty="0" smtClean="0"/>
              <a:t>contaminants,</a:t>
            </a:r>
          </a:p>
          <a:p>
            <a:r>
              <a:rPr lang="en-GB" dirty="0" smtClean="0"/>
              <a:t>Filterability </a:t>
            </a:r>
            <a:r>
              <a:rPr lang="en-GB" dirty="0"/>
              <a:t>is a basic prerequisite for cleanliness, servicing and filtration of hydraulic fluids</a:t>
            </a:r>
          </a:p>
        </p:txBody>
      </p:sp>
      <p:sp>
        <p:nvSpPr>
          <p:cNvPr id="4" name="Slide Number Placeholder 3"/>
          <p:cNvSpPr>
            <a:spLocks noGrp="1"/>
          </p:cNvSpPr>
          <p:nvPr>
            <p:ph type="sldNum" sz="quarter" idx="12"/>
          </p:nvPr>
        </p:nvSpPr>
        <p:spPr/>
        <p:txBody>
          <a:bodyPr/>
          <a:lstStyle/>
          <a:p>
            <a:fld id="{7E50C373-F1D0-494F-8D6D-366C958B3429}" type="slidenum">
              <a:rPr lang="en-GB" smtClean="0"/>
              <a:pPr/>
              <a:t>69</a:t>
            </a:fld>
            <a:endParaRPr lang="en-GB" dirty="0"/>
          </a:p>
        </p:txBody>
      </p:sp>
    </p:spTree>
    <p:extLst>
      <p:ext uri="{BB962C8B-B14F-4D97-AF65-F5344CB8AC3E}">
        <p14:creationId xmlns:p14="http://schemas.microsoft.com/office/powerpoint/2010/main" val="177406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4 : Selection Criteria of Hydraulic Fluids</a:t>
            </a:r>
          </a:p>
        </p:txBody>
      </p:sp>
      <p:sp>
        <p:nvSpPr>
          <p:cNvPr id="3" name="Content Placeholder 2"/>
          <p:cNvSpPr>
            <a:spLocks noGrp="1"/>
          </p:cNvSpPr>
          <p:nvPr>
            <p:ph idx="1"/>
          </p:nvPr>
        </p:nvSpPr>
        <p:spPr/>
        <p:txBody>
          <a:bodyPr>
            <a:normAutofit lnSpcReduction="10000"/>
          </a:bodyPr>
          <a:lstStyle/>
          <a:p>
            <a:pPr marL="715963" lvl="0" indent="-715963" algn="just" fontAlgn="base" hangingPunct="0">
              <a:lnSpc>
                <a:spcPct val="120000"/>
              </a:lnSpc>
              <a:spcBef>
                <a:spcPts val="1200"/>
              </a:spcBef>
              <a:spcAft>
                <a:spcPts val="600"/>
              </a:spcAft>
              <a:buFont typeface="+mj-lt"/>
              <a:buAutoNum type="romanLcPeriod" startAt="11"/>
            </a:pPr>
            <a:r>
              <a:rPr lang="en-GB" b="1" i="1" dirty="0" smtClean="0">
                <a:solidFill>
                  <a:prstClr val="black"/>
                </a:solidFill>
              </a:rPr>
              <a:t>Additivation</a:t>
            </a:r>
            <a:endParaRPr lang="en-GB" b="1" i="1" dirty="0">
              <a:solidFill>
                <a:prstClr val="black"/>
              </a:solidFill>
            </a:endParaRPr>
          </a:p>
          <a:p>
            <a:r>
              <a:rPr lang="en-GB" dirty="0" smtClean="0"/>
              <a:t>Properties of fluids </a:t>
            </a:r>
            <a:r>
              <a:rPr lang="en-GB" dirty="0"/>
              <a:t>can be modified with </a:t>
            </a:r>
            <a:r>
              <a:rPr lang="en-GB" dirty="0" smtClean="0"/>
              <a:t>suitable additives,</a:t>
            </a:r>
          </a:p>
          <a:p>
            <a:r>
              <a:rPr lang="en-GB" dirty="0" smtClean="0"/>
              <a:t>Distinction </a:t>
            </a:r>
            <a:r>
              <a:rPr lang="en-GB" dirty="0"/>
              <a:t>is made for fluids between heavy metal-free and heavy metal-containing (generally zinc) additives </a:t>
            </a:r>
            <a:r>
              <a:rPr lang="en-GB" dirty="0" smtClean="0"/>
              <a:t>systems,</a:t>
            </a:r>
          </a:p>
          <a:p>
            <a:r>
              <a:rPr lang="en-GB" dirty="0"/>
              <a:t>Both additive systems are most often incompatible with each </a:t>
            </a:r>
            <a:r>
              <a:rPr lang="en-GB" dirty="0" smtClean="0"/>
              <a:t>other,</a:t>
            </a:r>
          </a:p>
          <a:p>
            <a:r>
              <a:rPr lang="en-GB" dirty="0"/>
              <a:t>Increasing additivation generally leads to deteriorated air separation ability (ASA) and water separation capability (WSC) of the hydraulic fluid</a:t>
            </a:r>
          </a:p>
        </p:txBody>
      </p:sp>
      <p:sp>
        <p:nvSpPr>
          <p:cNvPr id="4" name="Slide Number Placeholder 3"/>
          <p:cNvSpPr>
            <a:spLocks noGrp="1"/>
          </p:cNvSpPr>
          <p:nvPr>
            <p:ph type="sldNum" sz="quarter" idx="12"/>
          </p:nvPr>
        </p:nvSpPr>
        <p:spPr/>
        <p:txBody>
          <a:bodyPr/>
          <a:lstStyle/>
          <a:p>
            <a:fld id="{7E50C373-F1D0-494F-8D6D-366C958B3429}" type="slidenum">
              <a:rPr lang="en-GB" smtClean="0"/>
              <a:pPr/>
              <a:t>70</a:t>
            </a:fld>
            <a:endParaRPr lang="en-GB" dirty="0"/>
          </a:p>
        </p:txBody>
      </p:sp>
    </p:spTree>
    <p:extLst>
      <p:ext uri="{BB962C8B-B14F-4D97-AF65-F5344CB8AC3E}">
        <p14:creationId xmlns:p14="http://schemas.microsoft.com/office/powerpoint/2010/main" val="203640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84924"/>
          </a:xfrm>
        </p:spPr>
        <p:txBody>
          <a:bodyPr/>
          <a:lstStyle/>
          <a:p>
            <a:r>
              <a:rPr lang="en-GB" dirty="0"/>
              <a:t>UNIT 4 : Selection Criteria of Hydraulic Fluids</a:t>
            </a:r>
          </a:p>
        </p:txBody>
      </p:sp>
      <p:sp>
        <p:nvSpPr>
          <p:cNvPr id="3" name="Content Placeholder 2"/>
          <p:cNvSpPr>
            <a:spLocks noGrp="1"/>
          </p:cNvSpPr>
          <p:nvPr>
            <p:ph idx="1"/>
          </p:nvPr>
        </p:nvSpPr>
        <p:spPr/>
        <p:txBody>
          <a:bodyPr/>
          <a:lstStyle/>
          <a:p>
            <a:pPr lvl="0" fontAlgn="base" hangingPunct="0">
              <a:buFont typeface="Wingdings" panose="05000000000000000000" pitchFamily="2" charset="2"/>
              <a:buChar char="v"/>
            </a:pPr>
            <a:r>
              <a:rPr lang="en-US" dirty="0" smtClean="0">
                <a:solidFill>
                  <a:prstClr val="black"/>
                </a:solidFill>
              </a:rPr>
              <a:t>Measures taken when changing type of fluid:</a:t>
            </a:r>
            <a:endParaRPr lang="en-GB" dirty="0" smtClean="0">
              <a:solidFill>
                <a:prstClr val="black"/>
              </a:solidFill>
            </a:endParaRPr>
          </a:p>
          <a:p>
            <a:pPr marL="711200" lvl="0" indent="-355600" fontAlgn="base" hangingPunct="0"/>
            <a:r>
              <a:rPr lang="en-GB" dirty="0" smtClean="0">
                <a:solidFill>
                  <a:prstClr val="black"/>
                </a:solidFill>
              </a:rPr>
              <a:t>thoroughly </a:t>
            </a:r>
            <a:r>
              <a:rPr lang="en-GB" dirty="0">
                <a:solidFill>
                  <a:prstClr val="black"/>
                </a:solidFill>
              </a:rPr>
              <a:t>cleaning of the plant,</a:t>
            </a:r>
          </a:p>
          <a:p>
            <a:pPr marL="711200" lvl="0" indent="-355600" fontAlgn="base" hangingPunct="0"/>
            <a:r>
              <a:rPr lang="en-GB" dirty="0">
                <a:solidFill>
                  <a:prstClr val="black"/>
                </a:solidFill>
              </a:rPr>
              <a:t>Replacing the seals,</a:t>
            </a:r>
          </a:p>
          <a:p>
            <a:pPr marL="711200" lvl="0" indent="-355600" fontAlgn="base" hangingPunct="0"/>
            <a:r>
              <a:rPr lang="en-GB" dirty="0">
                <a:solidFill>
                  <a:prstClr val="black"/>
                </a:solidFill>
              </a:rPr>
              <a:t>Inspect / test the suction behaviour, filter and container construction,</a:t>
            </a:r>
          </a:p>
          <a:p>
            <a:pPr marL="711200" lvl="0" indent="-355600"/>
            <a:r>
              <a:rPr lang="en-GB" dirty="0">
                <a:solidFill>
                  <a:prstClr val="black"/>
                </a:solidFill>
              </a:rPr>
              <a:t>Inspect the paintings of the container</a:t>
            </a:r>
          </a:p>
        </p:txBody>
      </p:sp>
      <p:sp>
        <p:nvSpPr>
          <p:cNvPr id="4" name="Slide Number Placeholder 3"/>
          <p:cNvSpPr>
            <a:spLocks noGrp="1"/>
          </p:cNvSpPr>
          <p:nvPr>
            <p:ph type="sldNum" sz="quarter" idx="12"/>
          </p:nvPr>
        </p:nvSpPr>
        <p:spPr/>
        <p:txBody>
          <a:bodyPr/>
          <a:lstStyle/>
          <a:p>
            <a:fld id="{7E50C373-F1D0-494F-8D6D-366C958B3429}" type="slidenum">
              <a:rPr lang="en-GB" smtClean="0"/>
              <a:pPr/>
              <a:t>71</a:t>
            </a:fld>
            <a:endParaRPr lang="en-GB" dirty="0"/>
          </a:p>
        </p:txBody>
      </p:sp>
    </p:spTree>
    <p:extLst>
      <p:ext uri="{BB962C8B-B14F-4D97-AF65-F5344CB8AC3E}">
        <p14:creationId xmlns:p14="http://schemas.microsoft.com/office/powerpoint/2010/main" val="269887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62753"/>
            <a:ext cx="9144000" cy="1247210"/>
          </a:xfrm>
        </p:spPr>
        <p:txBody>
          <a:bodyPr/>
          <a:lstStyle/>
          <a:p>
            <a:r>
              <a:rPr lang="en-GB" dirty="0" smtClean="0"/>
              <a:t>Thank You</a:t>
            </a:r>
            <a:endParaRPr lang="en-GB" dirty="0"/>
          </a:p>
        </p:txBody>
      </p:sp>
      <p:sp>
        <p:nvSpPr>
          <p:cNvPr id="5" name="Subtitle 4"/>
          <p:cNvSpPr>
            <a:spLocks noGrp="1"/>
          </p:cNvSpPr>
          <p:nvPr>
            <p:ph type="subTitle" idx="1"/>
          </p:nvPr>
        </p:nvSpPr>
        <p:spPr/>
        <p:txBody>
          <a:bodyPr>
            <a:normAutofit lnSpcReduction="10000"/>
          </a:bodyPr>
          <a:lstStyle/>
          <a:p>
            <a:r>
              <a:rPr lang="en-GB" dirty="0" smtClean="0"/>
              <a:t>For any concerns, please contact</a:t>
            </a:r>
          </a:p>
          <a:p>
            <a:r>
              <a:rPr lang="en-GB" b="1" dirty="0" smtClean="0"/>
              <a:t>elearning@knust.edu.gh</a:t>
            </a:r>
          </a:p>
          <a:p>
            <a:r>
              <a:rPr lang="en-GB" b="1" dirty="0" smtClean="0"/>
              <a:t>elearningknust@gmail.com </a:t>
            </a:r>
          </a:p>
          <a:p>
            <a:r>
              <a:rPr lang="en-GB" b="1" dirty="0" smtClean="0"/>
              <a:t>0322 191132</a:t>
            </a:r>
          </a:p>
          <a:p>
            <a:endParaRPr lang="en-GB" dirty="0"/>
          </a:p>
        </p:txBody>
      </p:sp>
    </p:spTree>
    <p:extLst>
      <p:ext uri="{BB962C8B-B14F-4D97-AF65-F5344CB8AC3E}">
        <p14:creationId xmlns:p14="http://schemas.microsoft.com/office/powerpoint/2010/main" val="1624691109"/>
      </p:ext>
    </p:extLst>
  </p:cSld>
  <p:clrMapOvr>
    <a:masterClrMapping/>
  </p:clrMapOvr>
  <p:timing>
    <p:tnLst>
      <p:par>
        <p:cTn id="1" dur="indefinite" restart="never" nodeType="tmRoot"/>
      </p:par>
    </p:tnLst>
  </p:timing>
</p:sld>
</file>

<file path=ppt/theme/theme1.xml><?xml version="1.0" encoding="utf-8"?>
<a:theme xmlns:a="http://schemas.openxmlformats.org/drawingml/2006/main" name="IDL ppt temp">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62A9560-2E7B-41A3-9F82-82295C59A7BE}" vid="{DD833A61-242F-4440-8F8C-EA11C2DDA7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IDL ppt temp</Template>
  <TotalTime>6294</TotalTime>
  <Words>3050</Words>
  <Application>Microsoft Office PowerPoint</Application>
  <PresentationFormat>Widescreen</PresentationFormat>
  <Paragraphs>691</Paragraphs>
  <Slides>73</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73</vt:i4>
      </vt:variant>
    </vt:vector>
  </HeadingPairs>
  <TitlesOfParts>
    <vt:vector size="83" baseType="lpstr">
      <vt:lpstr>Arial</vt:lpstr>
      <vt:lpstr>Calibri</vt:lpstr>
      <vt:lpstr>Cambria</vt:lpstr>
      <vt:lpstr>Cambria Math</vt:lpstr>
      <vt:lpstr>Century Gothic</vt:lpstr>
      <vt:lpstr>Constantia</vt:lpstr>
      <vt:lpstr>Futura Md BT</vt:lpstr>
      <vt:lpstr>Times New Roman</vt:lpstr>
      <vt:lpstr>Wingdings</vt:lpstr>
      <vt:lpstr>IDL ppt temp</vt:lpstr>
      <vt:lpstr>AE 482</vt:lpstr>
      <vt:lpstr>Introduction</vt:lpstr>
      <vt:lpstr>UNIT 4: Learning Objectives</vt:lpstr>
      <vt:lpstr>UNIT 4:  Introduction</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Comparison of Energy Transmission</vt:lpstr>
      <vt:lpstr>UNIT 4:  Electrical-Mechanical Energy Conversion</vt:lpstr>
      <vt:lpstr>UNIT 4:  Electrical-Mechanical Energy Conversion</vt:lpstr>
      <vt:lpstr>UNIT 4:  Fluid Energy Transmission</vt:lpstr>
      <vt:lpstr>UNIT 4:  Fluid Energy Transmission</vt:lpstr>
      <vt:lpstr>UNIT 4:  Fluid Energy Transmission</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Principles of Hydro-Mechanics</vt:lpstr>
      <vt:lpstr>UNIT 4:  Theory of Lubrication</vt:lpstr>
      <vt:lpstr>UNIT 4:  Theory of Lubrication</vt:lpstr>
      <vt:lpstr>UNIT 4:  Theory of Lubrication</vt:lpstr>
      <vt:lpstr>UNIT 4:  Theory of Lubrication</vt:lpstr>
      <vt:lpstr>UNIT 4:  Theory of Lubrication</vt:lpstr>
      <vt:lpstr>UNIT 4:  Theory of Lubrication</vt:lpstr>
      <vt:lpstr>UNIT 4:  Theory of Lubrication</vt:lpstr>
      <vt:lpstr>UNIT 4:  Theory of Lubrication</vt:lpstr>
      <vt:lpstr>UNIT 4:  Theory of Lubrication</vt:lpstr>
      <vt:lpstr>UNIT 4:  Theory of Lubrication</vt:lpstr>
      <vt:lpstr>UNIT 4:  Classification of Hydraulic Fluids</vt:lpstr>
      <vt:lpstr>UNIT 4:  Classification of Hydraulic Fluids</vt:lpstr>
      <vt:lpstr>UNIT 4:  Classification of Hydraulic Fluids</vt:lpstr>
      <vt:lpstr>UNIT 4:  Classification of Hydraulic Fluids</vt:lpstr>
      <vt:lpstr>UNIT 4: Classification of Hydraulic Fluids</vt:lpstr>
      <vt:lpstr>UNIT 4 : Classification of Hydraulic Fluids</vt:lpstr>
      <vt:lpstr>UNIT 4 : Classification of Hydraulic Fluids</vt:lpstr>
      <vt:lpstr>UNIT 4 : Classification of Hydraulic Fluids</vt:lpstr>
      <vt:lpstr>UNIT 4 : Classification of Hydraulic Fluids</vt:lpstr>
      <vt:lpstr>UNIT 4 : Classification of Hydraulic Fluids</vt:lpstr>
      <vt:lpstr>UNIT 4:  Additives</vt:lpstr>
      <vt:lpstr>UNIT 4:  Additives</vt:lpstr>
      <vt:lpstr>UNIT 4:  Selection of Hydraulic Fluids</vt:lpstr>
      <vt:lpstr>UNIT 4: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UNIT 4 : Selection Criteria of Hydraulic Fluids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ISD 458</dc:title>
  <dc:creator>A K O</dc:creator>
  <cp:lastModifiedBy>Joseph Aveyire</cp:lastModifiedBy>
  <cp:revision>402</cp:revision>
  <dcterms:created xsi:type="dcterms:W3CDTF">2014-04-14T16:55:09Z</dcterms:created>
  <dcterms:modified xsi:type="dcterms:W3CDTF">2020-03-11T15:57:10Z</dcterms:modified>
</cp:coreProperties>
</file>