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9" r:id="rId4"/>
    <p:sldId id="260" r:id="rId5"/>
    <p:sldId id="284" r:id="rId6"/>
    <p:sldId id="285" r:id="rId7"/>
    <p:sldId id="286" r:id="rId8"/>
    <p:sldId id="288" r:id="rId9"/>
    <p:sldId id="289" r:id="rId10"/>
    <p:sldId id="287" r:id="rId11"/>
    <p:sldId id="269" r:id="rId12"/>
    <p:sldId id="270" r:id="rId13"/>
    <p:sldId id="279" r:id="rId14"/>
    <p:sldId id="273" r:id="rId15"/>
    <p:sldId id="265" r:id="rId16"/>
    <p:sldId id="290" r:id="rId17"/>
    <p:sldId id="291" r:id="rId18"/>
    <p:sldId id="292" r:id="rId19"/>
    <p:sldId id="293" r:id="rId20"/>
    <p:sldId id="294" r:id="rId21"/>
    <p:sldId id="295" r:id="rId22"/>
    <p:sldId id="281" r:id="rId23"/>
    <p:sldId id="296" r:id="rId24"/>
    <p:sldId id="297" r:id="rId25"/>
    <p:sldId id="298" r:id="rId26"/>
    <p:sldId id="299" r:id="rId27"/>
    <p:sldId id="330" r:id="rId28"/>
    <p:sldId id="331" r:id="rId29"/>
    <p:sldId id="332" r:id="rId30"/>
    <p:sldId id="333" r:id="rId31"/>
    <p:sldId id="327" r:id="rId32"/>
    <p:sldId id="311" r:id="rId33"/>
    <p:sldId id="312" r:id="rId34"/>
    <p:sldId id="313" r:id="rId35"/>
    <p:sldId id="314" r:id="rId36"/>
    <p:sldId id="315" r:id="rId37"/>
    <p:sldId id="302" r:id="rId38"/>
    <p:sldId id="303" r:id="rId39"/>
    <p:sldId id="334" r:id="rId40"/>
    <p:sldId id="304" r:id="rId41"/>
    <p:sldId id="308" r:id="rId42"/>
    <p:sldId id="335" r:id="rId43"/>
    <p:sldId id="342" r:id="rId44"/>
    <p:sldId id="309" r:id="rId45"/>
    <p:sldId id="336" r:id="rId46"/>
    <p:sldId id="310" r:id="rId47"/>
    <p:sldId id="317" r:id="rId48"/>
    <p:sldId id="316" r:id="rId49"/>
    <p:sldId id="343" r:id="rId50"/>
    <p:sldId id="318" r:id="rId51"/>
    <p:sldId id="319" r:id="rId52"/>
    <p:sldId id="320" r:id="rId53"/>
    <p:sldId id="321" r:id="rId54"/>
    <p:sldId id="337" r:id="rId55"/>
    <p:sldId id="322" r:id="rId56"/>
    <p:sldId id="323" r:id="rId57"/>
    <p:sldId id="338" r:id="rId58"/>
    <p:sldId id="339" r:id="rId59"/>
    <p:sldId id="340" r:id="rId60"/>
    <p:sldId id="341" r:id="rId61"/>
    <p:sldId id="324" r:id="rId62"/>
    <p:sldId id="258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551"/>
    <a:srgbClr val="055D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71" d="100"/>
          <a:sy n="71" d="100"/>
        </p:scale>
        <p:origin x="49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8384BE-9D6B-4024-A985-C0EE99A58AEA}" type="datetimeFigureOut">
              <a:rPr lang="en-GB" smtClean="0"/>
              <a:pPr/>
              <a:t>29/11/2016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F05C70-BB3D-46DD-9A54-15208EA29EC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6860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F05C70-BB3D-46DD-9A54-15208EA29ECC}" type="slidenum">
              <a:rPr lang="en-GB" smtClean="0"/>
              <a:pPr/>
              <a:t>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040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F05C70-BB3D-46DD-9A54-15208EA29ECC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7831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F05C70-BB3D-46DD-9A54-15208EA29ECC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4225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F05C70-BB3D-46DD-9A54-15208EA29ECC}" type="slidenum">
              <a:rPr lang="en-GB" smtClean="0"/>
              <a:pPr/>
              <a:t>61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743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8F721-6F68-4281-A6F5-3635F5EFCA78}" type="datetime1">
              <a:rPr lang="en-GB" smtClean="0"/>
              <a:t>29/11/2016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1235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1EDC1-4A4A-4B81-B140-68197ACABD37}" type="datetime1">
              <a:rPr lang="en-GB" smtClean="0"/>
              <a:t>29/11/2016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0385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1957-0AB4-49AC-ADC1-B392104686F6}" type="datetime1">
              <a:rPr lang="en-GB" smtClean="0"/>
              <a:t>29/11/2016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3777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4F8BB-6A86-4F10-8DFC-889E309E5409}" type="datetime1">
              <a:rPr lang="en-GB" smtClean="0"/>
              <a:t>29/11/2016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6987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37C16-4287-4F0E-B14C-C2ED7143420C}" type="datetime1">
              <a:rPr lang="en-GB" smtClean="0"/>
              <a:t>29/11/2016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2826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30E3-A980-460F-A93D-BAAE5FEB1209}" type="datetime1">
              <a:rPr lang="en-GB" smtClean="0"/>
              <a:t>29/11/2016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045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ED47E-3A31-4998-B89C-71B4314C08AF}" type="datetime1">
              <a:rPr lang="en-GB" smtClean="0"/>
              <a:t>29/11/2016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3164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ED792-3560-4AB8-96D4-556A12BCDFD4}" type="datetime1">
              <a:rPr lang="en-GB" smtClean="0"/>
              <a:t>29/11/2016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8239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A90B0-D054-467A-9B0F-E826486D130D}" type="datetime1">
              <a:rPr lang="en-GB" smtClean="0"/>
              <a:t>29/11/2016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0322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EC064-CF94-4AD3-99E4-FBB91D0F4480}" type="datetime1">
              <a:rPr lang="en-GB" smtClean="0"/>
              <a:t>29/11/2016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160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43C13-85A5-4BA0-8FEE-91222B8EA2B7}" type="datetime1">
              <a:rPr lang="en-GB" smtClean="0"/>
              <a:t>29/11/2016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2794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902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8E76C-A46B-4EE2-83A3-C80A17B5AA95}" type="datetime1">
              <a:rPr lang="en-GB" smtClean="0"/>
              <a:t>29/11/2016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8296" y="6464739"/>
            <a:ext cx="4091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rgbClr val="FFC551"/>
                </a:solidFill>
                <a:latin typeface="Century Gothic" panose="020B0502020202020204" pitchFamily="34" charset="0"/>
              </a:defRPr>
            </a:lvl1pPr>
          </a:lstStyle>
          <a:p>
            <a:fld id="{7E50C373-F1D0-494F-8D6D-366C958B34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4290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055D13"/>
          </a:solidFill>
          <a:latin typeface="Futura Md BT" panose="020B06020202040203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7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17255" y="2454045"/>
            <a:ext cx="3357489" cy="835131"/>
          </a:xfrm>
        </p:spPr>
        <p:txBody>
          <a:bodyPr>
            <a:normAutofit/>
          </a:bodyPr>
          <a:lstStyle/>
          <a:p>
            <a:r>
              <a:rPr lang="en-GB" sz="4000" dirty="0" smtClean="0"/>
              <a:t>AE 482</a:t>
            </a:r>
            <a:endParaRPr lang="en-GB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999" y="4286126"/>
            <a:ext cx="9144000" cy="484764"/>
          </a:xfrm>
        </p:spPr>
        <p:txBody>
          <a:bodyPr>
            <a:noAutofit/>
          </a:bodyPr>
          <a:lstStyle/>
          <a:p>
            <a:r>
              <a:rPr lang="en-GB" sz="3200" dirty="0" smtClean="0"/>
              <a:t>UNIT 4:  Hydraulic Fluids</a:t>
            </a:r>
            <a:endParaRPr lang="en-GB" sz="32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640101" y="3309498"/>
            <a:ext cx="7256930" cy="664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055D13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GB" sz="4000" smtClean="0">
                <a:solidFill>
                  <a:srgbClr val="0070C0"/>
                </a:solidFill>
              </a:rPr>
              <a:t>Farm </a:t>
            </a:r>
            <a:r>
              <a:rPr lang="en-GB" sz="4000" dirty="0" smtClean="0">
                <a:solidFill>
                  <a:srgbClr val="0070C0"/>
                </a:solidFill>
              </a:rPr>
              <a:t>Machine Design </a:t>
            </a:r>
            <a:endParaRPr lang="en-GB" sz="4000" dirty="0">
              <a:solidFill>
                <a:srgbClr val="0070C0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23999" y="5212956"/>
            <a:ext cx="9144000" cy="59953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055D13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GB" sz="4000" dirty="0" smtClean="0">
                <a:solidFill>
                  <a:schemeClr val="tx1"/>
                </a:solidFill>
              </a:rPr>
              <a:t>Mr. Joseph AVEYIRE</a:t>
            </a:r>
            <a:endParaRPr lang="en-GB" sz="4000" dirty="0">
              <a:solidFill>
                <a:schemeClr val="tx1"/>
              </a:solidFill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1568546" y="5812487"/>
            <a:ext cx="9144000" cy="440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aveyire@yahoo.com // 024 4652593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6527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Introduction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dirty="0" smtClean="0"/>
              <a:t>Unit four identifies hydraulic power transmission and hydraulic fluids.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Section 1-4 Explains the principle of hydraulic</a:t>
            </a:r>
            <a:r>
              <a:rPr lang="en-GB" dirty="0" smtClean="0"/>
              <a:t>, and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Section 2-4 </a:t>
            </a:r>
            <a:r>
              <a:rPr lang="en-GB" dirty="0" smtClean="0"/>
              <a:t>On </a:t>
            </a:r>
            <a:r>
              <a:rPr lang="en-GB" dirty="0"/>
              <a:t>the other hand handles hydraulic </a:t>
            </a:r>
            <a:r>
              <a:rPr lang="en-GB" dirty="0" smtClean="0"/>
              <a:t>fluids.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380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UNIT 4:	Learning Objectives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67435"/>
            <a:ext cx="10515600" cy="4797304"/>
          </a:xfrm>
        </p:spPr>
        <p:txBody>
          <a:bodyPr>
            <a:normAutofit/>
          </a:bodyPr>
          <a:lstStyle/>
          <a:p>
            <a:pPr lvl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GB" dirty="0"/>
              <a:t>Explains hydraulic transmission of energy,</a:t>
            </a:r>
          </a:p>
          <a:p>
            <a:pPr lvl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GB" dirty="0"/>
              <a:t>Describes the theory of lubrication,</a:t>
            </a:r>
          </a:p>
          <a:p>
            <a:pPr lvl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GB" dirty="0" smtClean="0"/>
              <a:t>Explains the classification of hydraulic </a:t>
            </a:r>
            <a:r>
              <a:rPr lang="en-GB" dirty="0"/>
              <a:t>fluids</a:t>
            </a:r>
            <a:r>
              <a:rPr lang="en-GB" dirty="0" smtClean="0"/>
              <a:t>,</a:t>
            </a:r>
          </a:p>
          <a:p>
            <a:pPr lvl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GB" dirty="0" smtClean="0"/>
              <a:t>Explains the selection of hydraulic fluids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1590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UNIT 4:	Principles of Hydraulics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39114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b="1" dirty="0"/>
              <a:t>Hydraulic Transmission of </a:t>
            </a:r>
            <a:r>
              <a:rPr lang="en-GB" b="1" dirty="0" smtClean="0"/>
              <a:t>Energy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There are two forms of </a:t>
            </a:r>
            <a:r>
              <a:rPr lang="en-GB" dirty="0" smtClean="0"/>
              <a:t>science </a:t>
            </a:r>
            <a:r>
              <a:rPr lang="en-GB" dirty="0"/>
              <a:t>of hydraulics</a:t>
            </a:r>
            <a:r>
              <a:rPr lang="en-GB" dirty="0" smtClean="0"/>
              <a:t>:</a:t>
            </a:r>
          </a:p>
          <a:p>
            <a:pPr marL="1117600" indent="-4572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GB" dirty="0" smtClean="0"/>
              <a:t>Hydrodynamics: Principle of moment of momentum </a:t>
            </a:r>
            <a:r>
              <a:rPr lang="en-GB" dirty="0"/>
              <a:t>and </a:t>
            </a:r>
            <a:endParaRPr lang="en-GB" dirty="0" smtClean="0"/>
          </a:p>
          <a:p>
            <a:pPr marL="1117600" indent="-4572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GB" dirty="0" smtClean="0"/>
              <a:t>Hydrostatics : Principles of positive displacement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8325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08448"/>
            <a:ext cx="10515600" cy="380123"/>
          </a:xfrm>
        </p:spPr>
        <p:txBody>
          <a:bodyPr>
            <a:normAutofit fontScale="90000"/>
          </a:bodyPr>
          <a:lstStyle/>
          <a:p>
            <a:r>
              <a:rPr lang="en-GB" dirty="0"/>
              <a:t>UNIT 4:	Principles of Hydraulics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88571"/>
                <a:ext cx="10515600" cy="5510639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lnSpc>
                    <a:spcPct val="110000"/>
                  </a:lnSpc>
                  <a:spcBef>
                    <a:spcPts val="600"/>
                  </a:spcBef>
                  <a:buNone/>
                </a:pPr>
                <a:r>
                  <a:rPr lang="en-GB" b="1" dirty="0"/>
                  <a:t>Hydraulic Transmission of </a:t>
                </a:r>
                <a:r>
                  <a:rPr lang="en-GB" b="1" dirty="0" smtClean="0"/>
                  <a:t>Energy</a:t>
                </a:r>
                <a:r>
                  <a:rPr lang="en-GB" dirty="0" smtClean="0"/>
                  <a:t>:</a:t>
                </a:r>
                <a:endParaRPr lang="en-GB" dirty="0"/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en-GB" dirty="0"/>
                  <a:t>Bernoulli </a:t>
                </a:r>
                <a:r>
                  <a:rPr lang="en-GB" dirty="0" smtClean="0"/>
                  <a:t>equation:</a:t>
                </a:r>
                <a:endParaRPr lang="en-GB" dirty="0"/>
              </a:p>
              <a:p>
                <a:pPr marL="0" indent="0">
                  <a:lnSpc>
                    <a:spcPct val="11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acc>
                            <m:accPr>
                              <m:chr m:val="̇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𝑑𝑠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1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𝑠𝑝𝑒𝑐𝑖𝑓𝑖𝑐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𝑓𝑙𝑢𝑖𝑑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𝑒𝑛𝑒𝑟𝑔𝑦</m:t>
                      </m:r>
                    </m:oMath>
                  </m:oMathPara>
                </a14:m>
                <a:endParaRPr lang="en-GB" dirty="0"/>
              </a:p>
              <a:p>
                <a:pPr marL="1250950" indent="0">
                  <a:lnSpc>
                    <a:spcPct val="11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𝑒𝑛𝑡h𝑎𝑙𝑝𝑦</m:t>
                      </m:r>
                    </m:oMath>
                  </m:oMathPara>
                </a14:m>
                <a:endParaRPr lang="en-GB" dirty="0"/>
              </a:p>
              <a:p>
                <a:pPr marL="1169988" indent="0">
                  <a:lnSpc>
                    <a:spcPct val="11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𝑣𝑒𝑙𝑜𝑐𝑖𝑡𝑦</m:t>
                      </m:r>
                    </m:oMath>
                  </m:oMathPara>
                </a14:m>
                <a:endParaRPr lang="en-GB" dirty="0"/>
              </a:p>
              <a:p>
                <a:pPr marL="1169988" indent="0">
                  <a:lnSpc>
                    <a:spcPct val="11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𝑔𝑒𝑜𝑑𝑒𝑡𝑖𝑐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h𝑒𝑖𝑔h𝑡</m:t>
                      </m:r>
                    </m:oMath>
                  </m:oMathPara>
                </a14:m>
                <a:endParaRPr lang="en-GB" dirty="0"/>
              </a:p>
              <a:p>
                <a:pPr marL="1169988" indent="0">
                  <a:lnSpc>
                    <a:spcPct val="11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𝑑𝑠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𝑑𝑖𝑠𝑝𝑙𝑎𝑐𝑒𝑚𝑒𝑛𝑡</m:t>
                      </m:r>
                    </m:oMath>
                  </m:oMathPara>
                </a14:m>
                <a:endParaRPr lang="en-GB" dirty="0"/>
              </a:p>
              <a:p>
                <a:pPr marL="1169988" indent="0">
                  <a:lnSpc>
                    <a:spcPct val="11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𝑚𝑎𝑠𝑠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𝑟𝑎𝑡𝑒</m:t>
                      </m:r>
                    </m:oMath>
                  </m:oMathPara>
                </a14:m>
                <a:endParaRPr lang="en-GB" dirty="0"/>
              </a:p>
              <a:p>
                <a:pPr marL="1169988" indent="0">
                  <a:lnSpc>
                    <a:spcPct val="11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𝑡𝑖𝑚𝑒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88571"/>
                <a:ext cx="10515600" cy="5510639"/>
              </a:xfrm>
              <a:blipFill rotWithShape="0">
                <a:blip r:embed="rId3"/>
                <a:stretch>
                  <a:fillRect l="-1043" t="-9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4092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96686"/>
            <a:ext cx="10515600" cy="420914"/>
          </a:xfrm>
        </p:spPr>
        <p:txBody>
          <a:bodyPr>
            <a:normAutofit fontScale="90000"/>
          </a:bodyPr>
          <a:lstStyle/>
          <a:p>
            <a:r>
              <a:rPr lang="en-GB" dirty="0"/>
              <a:t>UNIT </a:t>
            </a:r>
            <a:r>
              <a:rPr lang="en-GB" dirty="0" smtClean="0"/>
              <a:t>4:</a:t>
            </a:r>
            <a:r>
              <a:rPr lang="en-GB" dirty="0"/>
              <a:t>	 Principles of Hydraulics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7600"/>
                <a:ext cx="10515600" cy="5347139"/>
              </a:xfrm>
            </p:spPr>
            <p:txBody>
              <a:bodyPr>
                <a:normAutofit fontScale="85000" lnSpcReduction="10000"/>
              </a:bodyPr>
              <a:lstStyle/>
              <a:p>
                <a:pPr lvl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 smtClean="0">
                    <a:solidFill>
                      <a:prstClr val="black"/>
                    </a:solidFill>
                  </a:rPr>
                  <a:t>Energy transformation (between Mechanical </a:t>
                </a:r>
                <a:r>
                  <a:rPr lang="en-US" dirty="0">
                    <a:solidFill>
                      <a:prstClr val="black"/>
                    </a:solidFill>
                  </a:rPr>
                  <a:t>and Fluid Energy)</a:t>
                </a:r>
                <a:r>
                  <a:rPr lang="en-GB" dirty="0" smtClean="0">
                    <a:solidFill>
                      <a:prstClr val="black"/>
                    </a:solidFill>
                  </a:rPr>
                  <a:t>:</a:t>
                </a:r>
              </a:p>
              <a:p>
                <a:pPr marL="261938" lv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GB" dirty="0" smtClean="0"/>
              </a:p>
              <a:p>
                <a:pPr marL="261938" lv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GB" dirty="0"/>
              </a:p>
              <a:p>
                <a:pPr marL="261938" lv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GB" dirty="0" smtClean="0"/>
              </a:p>
              <a:p>
                <a:pPr marL="261938" lv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GB" dirty="0" smtClean="0"/>
                  <a:t>Steady </a:t>
                </a:r>
                <a:r>
                  <a:rPr lang="en-GB" dirty="0"/>
                  <a:t>flow</a:t>
                </a:r>
                <a:r>
                  <a:rPr lang="en-GB" dirty="0" smtClean="0"/>
                  <a:t>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i="1" dirty="0" smtClean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L="261938" lvl="0" indent="0" algn="just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GB" dirty="0" smtClean="0">
                    <a:solidFill>
                      <a:prstClr val="black"/>
                    </a:solidFill>
                  </a:rPr>
                  <a:t>Specific Energy flow: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acc>
                          <m:accPr>
                            <m:chr m:val="̇"/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den>
                    </m:f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=0, </m:t>
                    </m:r>
                  </m:oMath>
                </a14:m>
                <a:endParaRPr lang="en-US" i="1" dirty="0" smtClean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L="0" lvl="0" indent="0" algn="just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acc>
                            <m:accPr>
                              <m:chr m:val="̇"/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den>
                      </m:f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L="711200" lvl="0" indent="0" algn="just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acc>
                            <m:accPr>
                              <m:chr m:val="̇"/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den>
                      </m:f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7600"/>
                <a:ext cx="10515600" cy="5347139"/>
              </a:xfrm>
              <a:blipFill rotWithShape="0">
                <a:blip r:embed="rId7"/>
                <a:stretch>
                  <a:fillRect l="-812" t="-7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5</a:t>
            </a:fld>
            <a:endParaRPr lang="en-GB" dirty="0"/>
          </a:p>
        </p:txBody>
      </p:sp>
      <p:pic>
        <p:nvPicPr>
          <p:cNvPr id="5" name="Picture 4"/>
          <p:cNvPicPr preferRelativeResize="0">
            <a:picLocks noChangeAspect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257788" y="1914892"/>
            <a:ext cx="5868000" cy="1876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20984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62000"/>
            <a:ext cx="10515600" cy="635000"/>
          </a:xfrm>
        </p:spPr>
        <p:txBody>
          <a:bodyPr>
            <a:normAutofit/>
          </a:bodyPr>
          <a:lstStyle/>
          <a:p>
            <a:r>
              <a:rPr lang="en-GB" dirty="0"/>
              <a:t>UNIT </a:t>
            </a:r>
            <a:r>
              <a:rPr lang="en-GB" dirty="0" smtClean="0"/>
              <a:t>4:</a:t>
            </a:r>
            <a:r>
              <a:rPr lang="en-GB" dirty="0"/>
              <a:t>	</a:t>
            </a:r>
            <a:r>
              <a:rPr lang="en-GB" dirty="0" smtClean="0"/>
              <a:t>Principles of Hydraulics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57431" y="1397000"/>
                <a:ext cx="11380569" cy="5067739"/>
              </a:xfrm>
            </p:spPr>
            <p:txBody>
              <a:bodyPr>
                <a:normAutofit lnSpcReduction="10000"/>
              </a:bodyPr>
              <a:lstStyle/>
              <a:p>
                <a:pPr>
                  <a:spcAft>
                    <a:spcPts val="1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num>
                      <m:den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endParaRPr lang="en-GB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dirty="0" smtClean="0">
                    <a:solidFill>
                      <a:prstClr val="black"/>
                    </a:solidFill>
                  </a:rPr>
                  <a:t>Hydrostatic fluid Transmission</a:t>
                </a:r>
                <a:endParaRPr lang="en-US" sz="2400" dirty="0">
                  <a:solidFill>
                    <a:prstClr val="black"/>
                  </a:solidFill>
                </a:endParaRPr>
              </a:p>
              <a:p>
                <a:pPr marL="0" lvl="0" indent="0">
                  <a:lnSpc>
                    <a:spcPct val="13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𝑎𝑟𝑒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𝑛𝑒𝑔𝑙𝑖𝑔𝑖𝑏𝑙𝑒</m:t>
                      </m:r>
                    </m:oMath>
                  </m:oMathPara>
                </a14:m>
                <a:endParaRPr lang="en-GB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spcAft>
                    <a:spcPts val="1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num>
                      <m:den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  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𝑖𝑠𝑒𝑛𝑡𝑟𝑜𝑝𝑒</m:t>
                    </m:r>
                  </m:oMath>
                </a14:m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spcAft>
                    <a:spcPts val="1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𝑟𝑒𝑣𝑒𝑟𝑠𝑖𝑏𝑙𝑒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𝑠𝑝𝑒𝑐𝑖𝑓𝑖𝑐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𝑤𝑜𝑟𝑘</m:t>
                    </m:r>
                  </m:oMath>
                </a14:m>
                <a:r>
                  <a:rPr lang="en-US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+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𝑖𝑟𝑟𝑒𝑣𝑒𝑟𝑠𝑖𝑏𝑙𝑒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𝑠𝑝𝑒𝑐𝑖𝑓𝑖𝑐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𝑤𝑜𝑟𝑘</m:t>
                    </m:r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𝑟𝑒𝑣𝑒𝑟𝑠𝑖𝑏𝑙𝑒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𝑠𝑝𝑒𝑐𝑖𝑓𝑖𝑐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𝑤𝑜𝑟𝑘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𝑖𝑟𝑟𝑒𝑣𝑒𝑟𝑠𝑖𝑏𝑙𝑒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𝑠𝑝𝑒𝑐𝑖𝑓𝑖𝑐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𝑤𝑜𝑟𝑘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num>
                        <m:den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7431" y="1397000"/>
                <a:ext cx="11380569" cy="5067739"/>
              </a:xfrm>
              <a:blipFill rotWithShape="0">
                <a:blip r:embed="rId2"/>
                <a:stretch>
                  <a:fillRect l="-696" t="-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7030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59248"/>
            <a:ext cx="10515600" cy="430923"/>
          </a:xfrm>
        </p:spPr>
        <p:txBody>
          <a:bodyPr>
            <a:normAutofit fontScale="90000"/>
          </a:bodyPr>
          <a:lstStyle/>
          <a:p>
            <a:r>
              <a:rPr lang="en-GB" dirty="0"/>
              <a:t>UNIT </a:t>
            </a:r>
            <a:r>
              <a:rPr lang="en-GB" dirty="0" smtClean="0"/>
              <a:t>4:</a:t>
            </a:r>
            <a:r>
              <a:rPr lang="en-GB" dirty="0"/>
              <a:t>	</a:t>
            </a:r>
            <a:r>
              <a:rPr lang="en-GB" dirty="0" smtClean="0"/>
              <a:t>Principles of Hydraulics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78857"/>
                <a:ext cx="10972800" cy="4882682"/>
              </a:xfrm>
            </p:spPr>
            <p:txBody>
              <a:bodyPr>
                <a:normAutofit/>
              </a:bodyPr>
              <a:lstStyle/>
              <a:p>
                <a:pPr marL="363538" lvl="0" indent="0">
                  <a:lnSpc>
                    <a:spcPct val="13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⇒ </m:t>
                      </m:r>
                      <m:sSub>
                        <m:sSub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acc>
                            <m:accPr>
                              <m:chr m:val="̇"/>
                              <m:ctrlP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den>
                      </m:f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GB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num>
                        <m:den>
                          <m:acc>
                            <m:accPr>
                              <m:chr m:val="̇"/>
                              <m:ctrlP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en-GB" dirty="0">
                  <a:solidFill>
                    <a:prstClr val="black"/>
                  </a:solidFill>
                </a:endParaRPr>
              </a:p>
              <a:p>
                <a:pPr marL="363538" lvl="0" indent="0">
                  <a:lnSpc>
                    <a:spcPct val="13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𝑚𝑒𝑐h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 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𝑒𝑛𝑒𝑟𝑔𝑦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𝑓𝑙𝑢𝑖𝑑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𝑒𝑛𝑒𝑟𝑔𝑦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𝑙𝑜𝑠𝑠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i="1" dirty="0" smtClean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L="363538" lvl="0" indent="0">
                  <a:lnSpc>
                    <a:spcPct val="13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𝐸𝑓𝑓𝑖𝑐𝑖𝑒𝑛𝑐𝑦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𝑂𝑢𝑡𝑝𝑢𝑡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𝑒𝑛𝑒𝑟𝑔𝑦</m:t>
                          </m:r>
                        </m:num>
                        <m:den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𝐼𝑛𝑝𝑢𝑡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𝑒𝑛𝑒𝑟𝑔𝑦</m:t>
                          </m:r>
                        </m:den>
                      </m:f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∴  </m:t>
                      </m:r>
                      <m:sSub>
                        <m:sSub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p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±1</m:t>
                          </m:r>
                        </m:sup>
                      </m:sSup>
                    </m:oMath>
                  </m:oMathPara>
                </a14:m>
                <a:endParaRPr lang="en-GB" dirty="0">
                  <a:solidFill>
                    <a:prstClr val="black"/>
                  </a:solidFill>
                </a:endParaRPr>
              </a:p>
              <a:p>
                <a:pPr marL="711200" lvl="0" indent="0">
                  <a:lnSpc>
                    <a:spcPct val="13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</m:oMath>
                  </m:oMathPara>
                </a14:m>
                <a:endParaRPr lang="en-GB" dirty="0">
                  <a:solidFill>
                    <a:prstClr val="black"/>
                  </a:solidFill>
                </a:endParaRPr>
              </a:p>
              <a:p>
                <a:pPr marL="1447800" lvl="0" indent="0" algn="just">
                  <a:lnSpc>
                    <a:spcPct val="130000"/>
                  </a:lnSpc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𝑚𝑜𝑡𝑜𝑟</m:t>
                    </m:r>
                  </m:oMath>
                </a14:m>
                <a:r>
                  <a:rPr lang="en-GB" dirty="0">
                    <a:solidFill>
                      <a:prstClr val="black"/>
                    </a:solidFill>
                  </a:rPr>
                  <a:t>, output is mechanical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GB" dirty="0">
                  <a:solidFill>
                    <a:prstClr val="black"/>
                  </a:solidFill>
                </a:endParaRPr>
              </a:p>
              <a:p>
                <a:pPr marL="1447800" lvl="0" indent="0">
                  <a:lnSpc>
                    <a:spcPct val="130000"/>
                  </a:lnSpc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−1 </m:t>
                    </m:r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𝑔𝑒𝑛𝑒𝑟𝑎𝑡𝑜𝑟</m:t>
                    </m:r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𝑝𝑢𝑚𝑝</m:t>
                    </m:r>
                  </m:oMath>
                </a14:m>
                <a:r>
                  <a:rPr lang="en-GB" dirty="0">
                    <a:solidFill>
                      <a:prstClr val="black"/>
                    </a:solidFill>
                  </a:rPr>
                  <a:t>, output is hydraulic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GB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GB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GB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78857"/>
                <a:ext cx="10972800" cy="4882682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8644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761124"/>
          </a:xfrm>
        </p:spPr>
        <p:txBody>
          <a:bodyPr>
            <a:normAutofit/>
          </a:bodyPr>
          <a:lstStyle/>
          <a:p>
            <a:r>
              <a:rPr lang="en-GB" dirty="0"/>
              <a:t>UNIT </a:t>
            </a:r>
            <a:r>
              <a:rPr lang="en-GB" dirty="0" smtClean="0"/>
              <a:t>4:</a:t>
            </a:r>
            <a:r>
              <a:rPr lang="en-GB" dirty="0"/>
              <a:t>	</a:t>
            </a:r>
            <a:r>
              <a:rPr lang="en-GB" dirty="0" smtClean="0"/>
              <a:t>Principles of Hydraulics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76519" y="1458349"/>
                <a:ext cx="11483788" cy="4043363"/>
              </a:xfrm>
            </p:spPr>
            <p:txBody>
              <a:bodyPr>
                <a:normAutofit/>
              </a:bodyPr>
              <a:lstStyle/>
              <a:p>
                <a:pPr lvl="0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US" dirty="0">
                    <a:solidFill>
                      <a:prstClr val="black"/>
                    </a:solidFill>
                  </a:rPr>
                  <a:t>Applying thermodynamics:</a:t>
                </a:r>
              </a:p>
              <a:p>
                <a:pPr marL="0" lvl="0" indent="0">
                  <a:lnSpc>
                    <a:spcPct val="12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𝑑𝑝</m:t>
                          </m:r>
                        </m:e>
                      </m:nary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limLoc m:val="undOvr"/>
                                  <m:ctrlPr>
                                    <a:rPr lang="en-GB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GB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  <m:e>
                                  <m:r>
                                    <a:rPr lang="en-GB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en-GB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GB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𝑑𝑝</m:t>
                                  </m:r>
                                </m:e>
                              </m:nary>
                            </m:e>
                          </m:d>
                        </m:e>
                        <m:sub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GB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num>
                        <m:den>
                          <m:acc>
                            <m:accPr>
                              <m:chr m:val="̇"/>
                              <m:ctrlP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den>
                      </m:f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i="1" dirty="0">
                  <a:solidFill>
                    <a:prstClr val="black"/>
                  </a:solidFill>
                </a:endParaRPr>
              </a:p>
              <a:p>
                <a:pPr marL="990600" lvl="0" indent="0">
                  <a:lnSpc>
                    <a:spcPct val="12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𝑠𝑝𝑒𝑐𝑖𝑎𝑙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𝑣𝑜𝑙𝑢𝑚𝑒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prstClr val="black"/>
                  </a:solidFill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6519" y="1458349"/>
                <a:ext cx="11483788" cy="4043363"/>
              </a:xfrm>
              <a:blipFill rotWithShape="0">
                <a:blip r:embed="rId3"/>
                <a:stretch>
                  <a:fillRect l="-955" t="-6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6985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39076"/>
            <a:ext cx="10515600" cy="659524"/>
          </a:xfrm>
        </p:spPr>
        <p:txBody>
          <a:bodyPr>
            <a:normAutofit/>
          </a:bodyPr>
          <a:lstStyle/>
          <a:p>
            <a:r>
              <a:rPr lang="en-GB" dirty="0"/>
              <a:t>UNIT </a:t>
            </a:r>
            <a:r>
              <a:rPr lang="en-GB" dirty="0" smtClean="0"/>
              <a:t>4:</a:t>
            </a:r>
            <a:r>
              <a:rPr lang="en-GB" dirty="0"/>
              <a:t>	</a:t>
            </a:r>
            <a:r>
              <a:rPr lang="en-GB" dirty="0" smtClean="0"/>
              <a:t>Principles of Hydraulics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8600"/>
                <a:ext cx="10515600" cy="4966139"/>
              </a:xfrm>
            </p:spPr>
            <p:txBody>
              <a:bodyPr>
                <a:normAutofit fontScale="92500"/>
              </a:bodyPr>
              <a:lstStyle/>
              <a:p>
                <a:pPr lvl="0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US" dirty="0">
                    <a:solidFill>
                      <a:prstClr val="black"/>
                    </a:solidFill>
                  </a:rPr>
                  <a:t>Hydraulic fluids are </a:t>
                </a:r>
                <a:r>
                  <a:rPr lang="en-US" dirty="0" smtClean="0">
                    <a:solidFill>
                      <a:prstClr val="black"/>
                    </a:solidFill>
                  </a:rPr>
                  <a:t>assumed </a:t>
                </a:r>
                <a:r>
                  <a:rPr lang="en-US" dirty="0">
                    <a:solidFill>
                      <a:prstClr val="black"/>
                    </a:solidFill>
                  </a:rPr>
                  <a:t>incompressible:</a:t>
                </a:r>
              </a:p>
              <a:p>
                <a:pPr marL="0" lvl="0" indent="0">
                  <a:lnSpc>
                    <a:spcPct val="12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limLoc m:val="undOvr"/>
                                  <m:ctrlPr>
                                    <a:rPr lang="en-GB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GB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  <m:e>
                                  <m:r>
                                    <a:rPr lang="en-GB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en-GB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GB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𝑑𝑝</m:t>
                                  </m:r>
                                </m:e>
                              </m:nary>
                            </m:e>
                          </m:d>
                        </m:e>
                        <m:sub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𝜈</m:t>
                      </m:r>
                      <m:nary>
                        <m:naryPr>
                          <m:limLoc m:val="undOvr"/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𝑑𝑝</m:t>
                          </m:r>
                        </m:e>
                      </m:nary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GB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GB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  <m:sub>
                              <m: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num>
                        <m:den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type m:val="lin"/>
                                  <m:ctrlPr>
                                    <a:rPr lang="en-GB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GB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𝑚𝑚</m:t>
                                      </m:r>
                                    </m:e>
                                    <m:sup>
                                      <m:r>
                                        <a:rPr lang="en-GB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num>
                            <m:den>
                              <m:f>
                                <m:fPr>
                                  <m:type m:val="lin"/>
                                  <m:ctrlPr>
                                    <a:rPr lang="en-GB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𝑘𝑔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GB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𝑚𝑚</m:t>
                                      </m:r>
                                    </m:e>
                                    <m:sup>
                                      <m:r>
                                        <a:rPr lang="en-GB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den>
                              </m:f>
                            </m:den>
                          </m:f>
                        </m:e>
                      </m:d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𝑖𝑠𝑜𝑐h𝑜𝑟𝑖𝑐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𝑐𝑜𝑛𝑠𝑡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𝑣𝑜𝑙𝑢𝑚𝑒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prstClr val="black"/>
                  </a:solidFill>
                </a:endParaRPr>
              </a:p>
              <a:p>
                <a:pPr lvl="0">
                  <a:lnSpc>
                    <a:spcPct val="120000"/>
                  </a:lnSpc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dirty="0">
                    <a:solidFill>
                      <a:prstClr val="black"/>
                    </a:solidFill>
                  </a:rPr>
                  <a:t>For constant mass flow rate= constant volumetric flow rate where density is constant:</a:t>
                </a:r>
                <a:endParaRPr lang="en-GB" dirty="0">
                  <a:solidFill>
                    <a:prstClr val="black"/>
                  </a:solidFill>
                </a:endParaRPr>
              </a:p>
              <a:p>
                <a:pPr marL="0" lvl="0" indent="0">
                  <a:lnSpc>
                    <a:spcPct val="12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𝑑𝐸</m:t>
                          </m:r>
                        </m:num>
                        <m:den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GB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GB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GB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  <m:sub>
                              <m: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num>
                        <m:den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𝑆𝑡𝑒𝑎𝑑𝑦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h𝑦𝑑𝑟𝑎𝑢𝑙𝑖𝑐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𝑓𝑙𝑜𝑤</m:t>
                      </m:r>
                    </m:oMath>
                  </m:oMathPara>
                </a14:m>
                <a:endParaRPr lang="en-GB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8600"/>
                <a:ext cx="10515600" cy="4966139"/>
              </a:xfrm>
              <a:blipFill rotWithShape="0">
                <a:blip r:embed="rId2"/>
                <a:stretch>
                  <a:fillRect l="-928" t="-3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5773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62876"/>
            <a:ext cx="10515600" cy="735724"/>
          </a:xfrm>
        </p:spPr>
        <p:txBody>
          <a:bodyPr>
            <a:normAutofit/>
          </a:bodyPr>
          <a:lstStyle/>
          <a:p>
            <a:r>
              <a:rPr lang="en-GB" dirty="0"/>
              <a:t>UNIT </a:t>
            </a:r>
            <a:r>
              <a:rPr lang="en-GB" dirty="0" smtClean="0"/>
              <a:t>4:</a:t>
            </a:r>
            <a:r>
              <a:rPr lang="en-GB" dirty="0"/>
              <a:t>	</a:t>
            </a:r>
            <a:r>
              <a:rPr lang="en-GB" dirty="0" smtClean="0"/>
              <a:t>Principles of Hydraulics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8601"/>
            <a:ext cx="10515600" cy="3074036"/>
          </a:xfrm>
        </p:spPr>
        <p:txBody>
          <a:bodyPr>
            <a:normAutofit/>
          </a:bodyPr>
          <a:lstStyle/>
          <a:p>
            <a:pPr lvl="0"/>
            <a:r>
              <a:rPr lang="en-US" b="1" dirty="0">
                <a:solidFill>
                  <a:prstClr val="black"/>
                </a:solidFill>
              </a:rPr>
              <a:t>Comparison of Hydraulic Transmission to other Forms:</a:t>
            </a:r>
            <a:endParaRPr lang="en-GB" b="1" dirty="0">
              <a:solidFill>
                <a:prstClr val="black"/>
              </a:solidFill>
            </a:endParaRPr>
          </a:p>
          <a:p>
            <a:pPr lvl="0">
              <a:buFont typeface="Wingdings" panose="05000000000000000000" pitchFamily="2" charset="2"/>
              <a:buChar char="v"/>
            </a:pPr>
            <a:r>
              <a:rPr lang="en-GB" i="1" dirty="0">
                <a:solidFill>
                  <a:prstClr val="black"/>
                </a:solidFill>
              </a:rPr>
              <a:t>Force Density</a:t>
            </a:r>
            <a:r>
              <a:rPr lang="en-GB" dirty="0">
                <a:solidFill>
                  <a:prstClr val="black"/>
                </a:solidFill>
              </a:rPr>
              <a:t>:	 Electric motor</a:t>
            </a:r>
          </a:p>
          <a:p>
            <a:pPr marL="457200" indent="0">
              <a:lnSpc>
                <a:spcPct val="120000"/>
              </a:lnSpc>
              <a:buNone/>
              <a:tabLst>
                <a:tab pos="457200" algn="l"/>
              </a:tabLst>
            </a:pPr>
            <a:r>
              <a:rPr lang="en-US" dirty="0"/>
              <a:t>A conductor carrying an electric electrical current in a magnetic </a:t>
            </a:r>
            <a:r>
              <a:rPr lang="en-GB" dirty="0"/>
              <a:t>field experiences an electrical force </a:t>
            </a:r>
            <a:r>
              <a:rPr lang="en-GB" u="sng" dirty="0"/>
              <a:t>g</a:t>
            </a:r>
            <a:r>
              <a:rPr lang="en-GB" dirty="0"/>
              <a:t>overned by the </a:t>
            </a:r>
            <a:r>
              <a:rPr lang="en-GB" i="1" u="sng" dirty="0">
                <a:solidFill>
                  <a:prstClr val="black"/>
                </a:solidFill>
              </a:rPr>
              <a:t>Fleming’s left-hand rule</a:t>
            </a:r>
            <a:r>
              <a:rPr lang="en-GB" dirty="0">
                <a:solidFill>
                  <a:prstClr val="black"/>
                </a:solidFill>
              </a:rPr>
              <a:t> (As in Electric motor)</a:t>
            </a:r>
            <a:r>
              <a:rPr lang="en-GB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10</a:t>
            </a:fld>
            <a:endParaRPr lang="en-GB" dirty="0"/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630" y="4632326"/>
            <a:ext cx="1907540" cy="175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572637"/>
            <a:ext cx="2195830" cy="1802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608724"/>
          </a:xfrm>
        </p:spPr>
        <p:txBody>
          <a:bodyPr>
            <a:normAutofit/>
          </a:bodyPr>
          <a:lstStyle/>
          <a:p>
            <a:r>
              <a:rPr lang="en-GB" dirty="0"/>
              <a:t>UNIT </a:t>
            </a:r>
            <a:r>
              <a:rPr lang="en-GB" dirty="0" smtClean="0"/>
              <a:t>4:</a:t>
            </a:r>
            <a:r>
              <a:rPr lang="en-GB" dirty="0"/>
              <a:t>	</a:t>
            </a:r>
            <a:r>
              <a:rPr lang="en-GB" dirty="0" smtClean="0"/>
              <a:t>Principles of Hydraulics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7000"/>
                <a:ext cx="10515600" cy="4968173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lang="en-US" b="1" dirty="0" smtClean="0">
                    <a:solidFill>
                      <a:prstClr val="black"/>
                    </a:solidFill>
                  </a:rPr>
                  <a:t>Comparison of Hydraulic Transmission to other Forms:</a:t>
                </a:r>
                <a:endParaRPr lang="en-GB" b="1" dirty="0">
                  <a:solidFill>
                    <a:prstClr val="black"/>
                  </a:solidFill>
                </a:endParaRPr>
              </a:p>
              <a:p>
                <a:pPr lvl="0">
                  <a:buFont typeface="Wingdings" panose="05000000000000000000" pitchFamily="2" charset="2"/>
                  <a:buChar char="v"/>
                </a:pPr>
                <a:r>
                  <a:rPr lang="en-GB" i="1" dirty="0">
                    <a:solidFill>
                      <a:prstClr val="black"/>
                    </a:solidFill>
                  </a:rPr>
                  <a:t>Force Density</a:t>
                </a:r>
                <a:r>
                  <a:rPr lang="en-GB" dirty="0" smtClean="0">
                    <a:solidFill>
                      <a:prstClr val="black"/>
                    </a:solidFill>
                  </a:rPr>
                  <a:t>:</a:t>
                </a:r>
              </a:p>
              <a:p>
                <a:pPr marL="538163" lvl="0"/>
                <a:r>
                  <a:rPr lang="en-GB" b="1" dirty="0" smtClean="0">
                    <a:solidFill>
                      <a:prstClr val="black"/>
                    </a:solidFill>
                  </a:rPr>
                  <a:t>Electric motor:</a:t>
                </a:r>
                <a:endParaRPr lang="en-GB" b="1" dirty="0">
                  <a:solidFill>
                    <a:prstClr val="black"/>
                  </a:solidFill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𝐹𝑜𝑟𝑐𝑒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𝐼𝐵𝐿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func>
                        <m:func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𝐹𝑜𝑟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90</m:t>
                          </m:r>
                        </m:e>
                        <m:sup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𝑡𝑜𝑟𝑞𝑢𝑒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𝐼𝐵𝐿</m:t>
                      </m:r>
                      <m:d>
                        <m:d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dirty="0">
                  <a:solidFill>
                    <a:prstClr val="black"/>
                  </a:solidFill>
                </a:endParaRPr>
              </a:p>
              <a:p>
                <a:pPr marL="1438275" lvl="0" indent="0">
                  <a:lnSpc>
                    <a:spcPct val="110000"/>
                  </a:lnSpc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𝑤h𝑒𝑟𝑒</m:t>
                    </m:r>
                    <m:r>
                      <a:rPr lang="en-US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𝑎h</m:t>
                    </m:r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𝑟𝑒𝑐𝑡𝑎𝑛𝑔𝑢𝑙𝑎𝑟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𝑠𝑒𝑐𝑡𝑖𝑜𝑛</m:t>
                    </m:r>
                  </m:oMath>
                </a14:m>
                <a:r>
                  <a:rPr lang="en-GB" dirty="0" smtClean="0">
                    <a:solidFill>
                      <a:prstClr val="black"/>
                    </a:solidFill>
                  </a:rPr>
                  <a:t> </a:t>
                </a:r>
                <a:endParaRPr lang="en-GB" dirty="0">
                  <a:solidFill>
                    <a:prstClr val="black"/>
                  </a:solidFill>
                </a:endParaRPr>
              </a:p>
              <a:p>
                <a:pPr marL="0" lvl="0" indent="0">
                  <a:lnSpc>
                    <a:spcPct val="11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𝑃𝑜𝑤𝑒𝑟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     ⇒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𝐼𝐵𝐿</m:t>
                          </m:r>
                          <m:f>
                            <m:fPr>
                              <m:ctrlP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f>
                            <m:fPr>
                              <m:ctrlP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GB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 dirty="0">
                  <a:solidFill>
                    <a:prstClr val="black"/>
                  </a:solidFill>
                </a:endParaRPr>
              </a:p>
              <a:p>
                <a:pPr marL="0" lvl="0" indent="0">
                  <a:lnSpc>
                    <a:spcPct val="11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sty m:val="p"/>
                        </m:rPr>
                        <a:rPr lang="el-GR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Λ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;     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𝐹𝑜𝑟𝑐𝑒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𝑑𝑒𝑛𝑠𝑖𝑡𝑦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 ∧=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GB" dirty="0">
                  <a:solidFill>
                    <a:prstClr val="black"/>
                  </a:solidFill>
                </a:endParaRPr>
              </a:p>
              <a:p>
                <a:pPr marL="538163" lvl="0"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en-GB" b="1" i="1" dirty="0">
                    <a:solidFill>
                      <a:prstClr val="black"/>
                    </a:solidFill>
                  </a:rPr>
                  <a:t>Hydraulic motor:</a:t>
                </a:r>
                <a:endParaRPr lang="en-GB" dirty="0">
                  <a:solidFill>
                    <a:prstClr val="black"/>
                  </a:solidFill>
                </a:endParaRPr>
              </a:p>
              <a:p>
                <a:pPr marL="0" lvl="0" indent="0">
                  <a:lnSpc>
                    <a:spcPct val="11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𝑃𝑜𝑤𝑒𝑟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.∆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   ⇒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𝐹𝑜𝑟𝑐𝑒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𝑑𝑒𝑛𝑠𝑖𝑡𝑦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GB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=∆</m:t>
                      </m:r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GB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7000"/>
                <a:ext cx="10515600" cy="4968173"/>
              </a:xfrm>
              <a:blipFill rotWithShape="0">
                <a:blip r:embed="rId2"/>
                <a:stretch>
                  <a:fillRect l="-1043" t="-26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11</a:t>
            </a:fld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48808"/>
            <a:ext cx="10515600" cy="362540"/>
          </a:xfrm>
        </p:spPr>
        <p:txBody>
          <a:bodyPr>
            <a:normAutofit fontScale="90000"/>
          </a:bodyPr>
          <a:lstStyle/>
          <a:p>
            <a:r>
              <a:rPr lang="en-GB" dirty="0"/>
              <a:t>UNIT </a:t>
            </a:r>
            <a:r>
              <a:rPr lang="en-GB" dirty="0" smtClean="0"/>
              <a:t>4:</a:t>
            </a:r>
            <a:r>
              <a:rPr lang="en-GB" dirty="0"/>
              <a:t>	</a:t>
            </a:r>
            <a:r>
              <a:rPr lang="en-GB" dirty="0" smtClean="0"/>
              <a:t>Principles of Hydraulics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2702"/>
            <a:ext cx="10515600" cy="5072037"/>
          </a:xfrm>
        </p:spPr>
        <p:txBody>
          <a:bodyPr>
            <a:normAutofit/>
          </a:bodyPr>
          <a:lstStyle/>
          <a:p>
            <a:pPr marL="0" lv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solidFill>
                  <a:prstClr val="black"/>
                </a:solidFill>
              </a:rPr>
              <a:t>Comparison of Hydraulic Transmission to other Forms:</a:t>
            </a:r>
            <a:endParaRPr lang="en-GB" b="1" dirty="0">
              <a:solidFill>
                <a:prstClr val="black"/>
              </a:solidFill>
            </a:endParaRPr>
          </a:p>
          <a:p>
            <a:pPr lvl="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GB" i="1" dirty="0">
                <a:solidFill>
                  <a:prstClr val="black"/>
                </a:solidFill>
              </a:rPr>
              <a:t>Distance</a:t>
            </a:r>
            <a:r>
              <a:rPr lang="en-GB" dirty="0">
                <a:solidFill>
                  <a:prstClr val="black"/>
                </a:solidFill>
              </a:rPr>
              <a:t>:	Possible to connect components at distances apart with hoses and pipes,</a:t>
            </a:r>
          </a:p>
          <a:p>
            <a:pPr lvl="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dirty="0">
                <a:solidFill>
                  <a:prstClr val="black"/>
                </a:solidFill>
              </a:rPr>
              <a:t>Control:	</a:t>
            </a:r>
            <a:r>
              <a:rPr lang="en-GB" dirty="0">
                <a:solidFill>
                  <a:prstClr val="black"/>
                </a:solidFill>
              </a:rPr>
              <a:t>There are simple standard parts available for both hydraulic and electrical transmissions controls.</a:t>
            </a:r>
          </a:p>
          <a:p>
            <a:pPr lvl="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dirty="0">
                <a:solidFill>
                  <a:prstClr val="black"/>
                </a:solidFill>
              </a:rPr>
              <a:t>Efficiency:	Low due to </a:t>
            </a:r>
            <a:r>
              <a:rPr lang="en-US" dirty="0" smtClean="0">
                <a:solidFill>
                  <a:prstClr val="black"/>
                </a:solidFill>
              </a:rPr>
              <a:t>presence of </a:t>
            </a:r>
            <a:r>
              <a:rPr lang="en-GB" dirty="0" smtClean="0">
                <a:solidFill>
                  <a:prstClr val="black"/>
                </a:solidFill>
              </a:rPr>
              <a:t>complex </a:t>
            </a:r>
            <a:r>
              <a:rPr lang="en-GB" dirty="0">
                <a:solidFill>
                  <a:prstClr val="black"/>
                </a:solidFill>
              </a:rPr>
              <a:t>resistance </a:t>
            </a:r>
            <a:r>
              <a:rPr lang="en-GB" dirty="0" smtClean="0">
                <a:solidFill>
                  <a:prstClr val="black"/>
                </a:solidFill>
              </a:rPr>
              <a:t>(ohm</a:t>
            </a:r>
            <a:r>
              <a:rPr lang="en-GB" dirty="0">
                <a:solidFill>
                  <a:prstClr val="black"/>
                </a:solidFill>
              </a:rPr>
              <a:t>, capacitance and </a:t>
            </a:r>
            <a:r>
              <a:rPr lang="en-GB" dirty="0" smtClean="0">
                <a:solidFill>
                  <a:prstClr val="black"/>
                </a:solidFill>
              </a:rPr>
              <a:t>inductance) </a:t>
            </a:r>
            <a:r>
              <a:rPr lang="en-GB" dirty="0">
                <a:solidFill>
                  <a:prstClr val="black"/>
                </a:solidFill>
              </a:rPr>
              <a:t>in hydraulic transmissions</a:t>
            </a:r>
          </a:p>
          <a:p>
            <a:pPr lvl="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dirty="0">
                <a:solidFill>
                  <a:prstClr val="black"/>
                </a:solidFill>
              </a:rPr>
              <a:t>Size:	Small due to high force density</a:t>
            </a:r>
            <a:r>
              <a:rPr lang="en-US" dirty="0" smtClean="0">
                <a:solidFill>
                  <a:prstClr val="black"/>
                </a:solidFill>
              </a:rPr>
              <a:t>.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12</a:t>
            </a:fld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456324"/>
          </a:xfrm>
        </p:spPr>
        <p:txBody>
          <a:bodyPr>
            <a:normAutofit fontScale="90000"/>
          </a:bodyPr>
          <a:lstStyle/>
          <a:p>
            <a:r>
              <a:rPr lang="en-GB" dirty="0"/>
              <a:t>UNIT </a:t>
            </a:r>
            <a:r>
              <a:rPr lang="en-GB" dirty="0" smtClean="0"/>
              <a:t>4:</a:t>
            </a:r>
            <a:r>
              <a:rPr lang="en-GB" dirty="0"/>
              <a:t>	</a:t>
            </a:r>
            <a:r>
              <a:rPr lang="en-GB" dirty="0" smtClean="0"/>
              <a:t>Principles of Hydraulics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4600"/>
            <a:ext cx="10515600" cy="5220139"/>
          </a:xfrm>
        </p:spPr>
        <p:txBody>
          <a:bodyPr>
            <a:normAutofit/>
          </a:bodyPr>
          <a:lstStyle/>
          <a:p>
            <a:pPr lvl="0"/>
            <a:r>
              <a:rPr lang="en-US" sz="2400" b="1" dirty="0">
                <a:solidFill>
                  <a:prstClr val="black"/>
                </a:solidFill>
              </a:rPr>
              <a:t>Disadvantages of Hydraulic Transmission:</a:t>
            </a:r>
            <a:endParaRPr lang="en-GB" sz="2400" b="1" dirty="0">
              <a:solidFill>
                <a:prstClr val="black"/>
              </a:solidFill>
            </a:endParaRPr>
          </a:p>
          <a:p>
            <a:pPr marL="342900" lvl="0" indent="-342900" algn="just" fontAlgn="base" hangingPunct="0">
              <a:lnSpc>
                <a:spcPct val="120000"/>
              </a:lnSpc>
              <a:spcAft>
                <a:spcPts val="600"/>
              </a:spcAft>
              <a:buFont typeface="+mj-lt"/>
              <a:buAutoNum type="alphaLcPeriod"/>
              <a:tabLst>
                <a:tab pos="630555" algn="l"/>
                <a:tab pos="1620520" algn="l"/>
              </a:tabLst>
            </a:pPr>
            <a:r>
              <a:rPr lang="en-GB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High Losses:	Due to fluid friction in flows through pipes, hoses, changes in cross-sectional area; and losses due to leakages at high pressure and clearances.</a:t>
            </a:r>
            <a:endParaRPr lang="en-GB" sz="24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 fontAlgn="base" hangingPunct="0">
              <a:lnSpc>
                <a:spcPct val="120000"/>
              </a:lnSpc>
              <a:spcAft>
                <a:spcPts val="600"/>
              </a:spcAft>
              <a:buFont typeface="+mj-lt"/>
              <a:buAutoNum type="alphaLcPeriod"/>
              <a:tabLst>
                <a:tab pos="630555" algn="l"/>
                <a:tab pos="1620520" algn="l"/>
              </a:tabLst>
            </a:pPr>
            <a:r>
              <a:rPr lang="en-GB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Sensitivity:	Sensitive to foreign particles.</a:t>
            </a:r>
            <a:endParaRPr lang="en-GB" sz="24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 fontAlgn="base" hangingPunct="0">
              <a:lnSpc>
                <a:spcPct val="120000"/>
              </a:lnSpc>
              <a:spcAft>
                <a:spcPts val="600"/>
              </a:spcAft>
              <a:buFont typeface="+mj-lt"/>
              <a:buAutoNum type="alphaLcPeriod"/>
              <a:tabLst>
                <a:tab pos="630555" algn="l"/>
                <a:tab pos="1620520" algn="l"/>
              </a:tabLst>
            </a:pPr>
            <a:r>
              <a:rPr lang="en-GB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Dependence:	Depends on the properties of the fluid (maxi. Temperature, compressibility)</a:t>
            </a:r>
            <a:endParaRPr lang="en-GB" sz="24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 fontAlgn="base" hangingPunct="0">
              <a:lnSpc>
                <a:spcPct val="120000"/>
              </a:lnSpc>
              <a:spcAft>
                <a:spcPts val="600"/>
              </a:spcAft>
              <a:buFont typeface="+mj-lt"/>
              <a:buAutoNum type="alphaLcPeriod"/>
              <a:tabLst>
                <a:tab pos="630555" algn="l"/>
                <a:tab pos="1620520" algn="l"/>
              </a:tabLst>
            </a:pPr>
            <a:r>
              <a:rPr lang="en-GB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Slip:	</a:t>
            </a:r>
            <a:r>
              <a:rPr lang="en-GB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Slip during rotation </a:t>
            </a:r>
            <a:r>
              <a:rPr lang="en-GB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(n)</a:t>
            </a:r>
            <a:endParaRPr lang="en-GB" sz="24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 fontAlgn="base" hangingPunct="0">
              <a:lnSpc>
                <a:spcPct val="120000"/>
              </a:lnSpc>
              <a:spcAft>
                <a:spcPts val="600"/>
              </a:spcAft>
              <a:buFont typeface="+mj-lt"/>
              <a:buAutoNum type="alphaLcPeriod"/>
              <a:tabLst>
                <a:tab pos="630555" algn="l"/>
                <a:tab pos="1620520" algn="l"/>
              </a:tabLst>
            </a:pPr>
            <a:r>
              <a:rPr lang="en-GB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Danger:	Leakages and bursting of pipes are dangers to life and property.</a:t>
            </a:r>
          </a:p>
          <a:p>
            <a:pPr marL="342900" lvl="0" indent="-342900" algn="just" fontAlgn="base" hangingPunct="0">
              <a:lnSpc>
                <a:spcPct val="120000"/>
              </a:lnSpc>
              <a:spcAft>
                <a:spcPts val="600"/>
              </a:spcAft>
              <a:buFont typeface="+mj-lt"/>
              <a:buAutoNum type="alphaLcPeriod"/>
              <a:tabLst>
                <a:tab pos="630555" algn="l"/>
                <a:tab pos="1620520" algn="l"/>
              </a:tabLst>
            </a:pPr>
            <a:r>
              <a:rPr lang="en-GB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Low-life:	The high force density results in high frictional wear</a:t>
            </a:r>
            <a:endParaRPr lang="en-GB" sz="2400" dirty="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13</a:t>
            </a:fld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690900"/>
          </a:xfrm>
        </p:spPr>
        <p:txBody>
          <a:bodyPr>
            <a:normAutofit/>
          </a:bodyPr>
          <a:lstStyle/>
          <a:p>
            <a:pPr algn="just"/>
            <a:r>
              <a:rPr lang="en-GB" dirty="0"/>
              <a:t>UNIT </a:t>
            </a:r>
            <a:r>
              <a:rPr lang="en-GB" dirty="0" smtClean="0"/>
              <a:t>4:</a:t>
            </a:r>
            <a:r>
              <a:rPr lang="en-GB" dirty="0"/>
              <a:t>	</a:t>
            </a:r>
            <a:r>
              <a:rPr lang="en-GB" dirty="0" smtClean="0"/>
              <a:t>Principles of Hydraulics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9859"/>
            <a:ext cx="10515600" cy="599142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b="1" dirty="0" smtClean="0"/>
              <a:t>Summary </a:t>
            </a:r>
            <a:r>
              <a:rPr lang="en-US" b="1" dirty="0"/>
              <a:t>of Hydraulic Transmission to other Forms</a:t>
            </a:r>
            <a:r>
              <a:rPr lang="en-US" b="1" dirty="0" smtClean="0"/>
              <a:t>:</a:t>
            </a: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14</a:t>
            </a:fld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930749"/>
              </p:ext>
            </p:extLst>
          </p:nvPr>
        </p:nvGraphicFramePr>
        <p:xfrm>
          <a:off x="838200" y="2239684"/>
          <a:ext cx="10515601" cy="4222892"/>
        </p:xfrm>
        <a:graphic>
          <a:graphicData uri="http://schemas.openxmlformats.org/drawingml/2006/table">
            <a:tbl>
              <a:tblPr/>
              <a:tblGrid>
                <a:gridCol w="3019105"/>
                <a:gridCol w="3086950"/>
                <a:gridCol w="2204773"/>
                <a:gridCol w="2204773"/>
              </a:tblGrid>
              <a:tr h="71159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b="1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Criteria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b="1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Mechanical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b="1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Hydraulic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b="1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Electrical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96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Force Density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very good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good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bad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96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Transmission Distance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bad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good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very good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96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Control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bad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good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good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96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Safety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Approximately the     same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7096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Efficiency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good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bad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bad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96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Flexibility in structure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bad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good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very good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96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Cost of elements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expensive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expensive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cheap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96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Size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big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small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big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15932" marR="1159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47935"/>
            <a:ext cx="10515600" cy="596771"/>
          </a:xfrm>
        </p:spPr>
        <p:txBody>
          <a:bodyPr>
            <a:normAutofit/>
          </a:bodyPr>
          <a:lstStyle/>
          <a:p>
            <a:r>
              <a:rPr lang="en-GB" dirty="0"/>
              <a:t>UNIT </a:t>
            </a:r>
            <a:r>
              <a:rPr lang="en-GB" dirty="0" smtClean="0"/>
              <a:t>4:</a:t>
            </a:r>
            <a:r>
              <a:rPr lang="en-GB" dirty="0"/>
              <a:t>	</a:t>
            </a:r>
            <a:r>
              <a:rPr lang="en-GB" dirty="0" smtClean="0"/>
              <a:t>Principles of Hydraulics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4706"/>
            <a:ext cx="10515600" cy="4832257"/>
          </a:xfrm>
        </p:spPr>
        <p:txBody>
          <a:bodyPr>
            <a:normAutofit/>
          </a:bodyPr>
          <a:lstStyle/>
          <a:p>
            <a:pPr lvl="0">
              <a:lnSpc>
                <a:spcPct val="120000"/>
              </a:lnSpc>
            </a:pPr>
            <a:r>
              <a:rPr lang="en-US" dirty="0">
                <a:solidFill>
                  <a:prstClr val="black"/>
                </a:solidFill>
              </a:rPr>
              <a:t>Applications of Fluid Power Transmission: </a:t>
            </a:r>
          </a:p>
          <a:p>
            <a:pPr marL="177800" lvl="0" indent="0">
              <a:lnSpc>
                <a:spcPct val="120000"/>
              </a:lnSpc>
              <a:buNone/>
            </a:pPr>
            <a:r>
              <a:rPr lang="en-US" dirty="0">
                <a:solidFill>
                  <a:prstClr val="black"/>
                </a:solidFill>
              </a:rPr>
              <a:t>Fluid power is pervasive</a:t>
            </a:r>
            <a:endParaRPr lang="en-GB" dirty="0">
              <a:solidFill>
                <a:prstClr val="black"/>
              </a:solidFill>
            </a:endParaRPr>
          </a:p>
          <a:p>
            <a:pPr marL="812800" lvl="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prstClr val="black"/>
                </a:solidFill>
              </a:rPr>
              <a:t>Gas springs in office chairs</a:t>
            </a:r>
          </a:p>
          <a:p>
            <a:pPr marL="812800" lvl="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prstClr val="black"/>
                </a:solidFill>
              </a:rPr>
              <a:t>Air drills used by dentists,</a:t>
            </a:r>
          </a:p>
          <a:p>
            <a:pPr marL="812800" lvl="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prstClr val="black"/>
                </a:solidFill>
              </a:rPr>
              <a:t>Brakes in automobiles,</a:t>
            </a:r>
          </a:p>
          <a:p>
            <a:pPr marL="812800" lvl="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prstClr val="black"/>
                </a:solidFill>
              </a:rPr>
              <a:t>Practically to every large agriculture, construction and mining machine including harvesters, drills and excavators.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3473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431" y="788275"/>
            <a:ext cx="11024969" cy="557925"/>
          </a:xfrm>
        </p:spPr>
        <p:txBody>
          <a:bodyPr>
            <a:normAutofit fontScale="90000"/>
          </a:bodyPr>
          <a:lstStyle/>
          <a:p>
            <a:r>
              <a:rPr lang="en-GB" dirty="0"/>
              <a:t>UNIT 4</a:t>
            </a:r>
            <a:r>
              <a:rPr lang="en-GB" dirty="0" smtClean="0"/>
              <a:t>:  Theory of Lubrication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6200"/>
            <a:ext cx="10744200" cy="51185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/>
              <a:t>Design </a:t>
            </a:r>
            <a:r>
              <a:rPr lang="en-GB" dirty="0"/>
              <a:t>and construction of machines are </a:t>
            </a:r>
            <a:r>
              <a:rPr lang="en-GB" dirty="0" smtClean="0"/>
              <a:t>based </a:t>
            </a:r>
            <a:r>
              <a:rPr lang="en-GB" dirty="0"/>
              <a:t>on certain </a:t>
            </a:r>
            <a:r>
              <a:rPr lang="en-GB" dirty="0" smtClean="0"/>
              <a:t>criteria such as: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smtClean="0">
                <a:solidFill>
                  <a:srgbClr val="FF0000"/>
                </a:solidFill>
              </a:rPr>
              <a:t>Operational </a:t>
            </a:r>
            <a:r>
              <a:rPr lang="en-GB" dirty="0">
                <a:solidFill>
                  <a:srgbClr val="FF0000"/>
                </a:solidFill>
              </a:rPr>
              <a:t>safety</a:t>
            </a:r>
            <a:r>
              <a:rPr lang="en-GB" dirty="0"/>
              <a:t> dimensioning and forming of </a:t>
            </a:r>
            <a:r>
              <a:rPr lang="en-GB" dirty="0" smtClean="0"/>
              <a:t>machine </a:t>
            </a:r>
            <a:r>
              <a:rPr lang="en-GB" dirty="0"/>
              <a:t>elements for a given expected </a:t>
            </a:r>
            <a:r>
              <a:rPr lang="en-GB" dirty="0" smtClean="0">
                <a:solidFill>
                  <a:srgbClr val="FF0000"/>
                </a:solidFill>
              </a:rPr>
              <a:t>life-span</a:t>
            </a:r>
            <a:r>
              <a:rPr lang="en-GB" dirty="0" smtClean="0"/>
              <a:t> depend upon:</a:t>
            </a:r>
            <a:endParaRPr lang="en-GB" dirty="0"/>
          </a:p>
          <a:p>
            <a:pPr marL="1346200"/>
            <a:r>
              <a:rPr lang="en-US" i="1" dirty="0" smtClean="0"/>
              <a:t>forces</a:t>
            </a:r>
            <a:endParaRPr lang="en-GB" dirty="0" smtClean="0"/>
          </a:p>
          <a:p>
            <a:pPr marL="1346200"/>
            <a:r>
              <a:rPr lang="en-GB" i="1" dirty="0" smtClean="0"/>
              <a:t>Geometric form</a:t>
            </a:r>
            <a:r>
              <a:rPr lang="en-GB" dirty="0" smtClean="0"/>
              <a:t> </a:t>
            </a:r>
          </a:p>
          <a:p>
            <a:pPr marL="1346200"/>
            <a:r>
              <a:rPr lang="en-US" i="1" dirty="0" smtClean="0"/>
              <a:t>Material of element</a:t>
            </a:r>
            <a:endParaRPr lang="en-GB" dirty="0" smtClean="0"/>
          </a:p>
          <a:p>
            <a:pPr marL="514350" indent="-514350">
              <a:buFont typeface="+mj-lt"/>
              <a:buAutoNum type="arabicPeriod" startAt="2"/>
            </a:pPr>
            <a:r>
              <a:rPr lang="en-GB" dirty="0" smtClean="0"/>
              <a:t>Guaranteed functioning of a machine depends on:</a:t>
            </a:r>
          </a:p>
          <a:p>
            <a:pPr marL="990600"/>
            <a:r>
              <a:rPr lang="en-GB" dirty="0" smtClean="0"/>
              <a:t>co-existence of pairing elements at the point of contact (Technical mating system)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8743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456324"/>
          </a:xfrm>
        </p:spPr>
        <p:txBody>
          <a:bodyPr>
            <a:normAutofit fontScale="90000"/>
          </a:bodyPr>
          <a:lstStyle/>
          <a:p>
            <a:r>
              <a:rPr lang="en-GB" dirty="0"/>
              <a:t>UNIT 4:  Theory of Lubrication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4601"/>
            <a:ext cx="10515600" cy="52201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b="1" i="1" dirty="0" smtClean="0"/>
              <a:t>Technical Mating System</a:t>
            </a:r>
            <a:endParaRPr lang="en-GB" b="1" i="1" dirty="0" smtClean="0"/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 elements found within the technical mating system are:</a:t>
            </a:r>
            <a:endParaRPr lang="en-GB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742950" lvl="1" indent="-285750" algn="just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  <a:tabLst>
                <a:tab pos="971550" algn="l"/>
              </a:tabLst>
            </a:pP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Primary body,</a:t>
            </a:r>
            <a:endParaRPr lang="en-GB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742950" lvl="1" indent="-285750" algn="just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  <a:tabLst>
                <a:tab pos="971550" algn="l"/>
              </a:tabLst>
            </a:pP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Secondary body,</a:t>
            </a:r>
            <a:endParaRPr lang="en-GB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742950" lvl="1" indent="-285750" algn="just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  <a:tabLst>
                <a:tab pos="971550" algn="l"/>
              </a:tabLst>
            </a:pP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Intermediary medium and</a:t>
            </a:r>
            <a:endParaRPr lang="en-GB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742950" lvl="1" indent="-285750" algn="just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  <a:tabLst>
                <a:tab pos="971550" algn="l"/>
              </a:tabLst>
            </a:pP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</a:rPr>
              <a:t>Environment</a:t>
            </a:r>
            <a:r>
              <a:rPr lang="en-GB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Properties of the elements are:</a:t>
            </a:r>
            <a:endParaRPr lang="en-GB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914400" lvl="1" indent="-457200" algn="just">
              <a:lnSpc>
                <a:spcPct val="120000"/>
              </a:lnSpc>
              <a:spcAft>
                <a:spcPts val="0"/>
              </a:spcAft>
              <a:buFont typeface="+mj-lt"/>
              <a:buAutoNum type="alphaLcPeriod"/>
              <a:tabLst>
                <a:tab pos="971550" algn="l"/>
              </a:tabLst>
            </a:pP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Material properties of the elements,</a:t>
            </a:r>
            <a:endParaRPr lang="en-GB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914400" lvl="1" indent="-457200" algn="just">
              <a:lnSpc>
                <a:spcPct val="120000"/>
              </a:lnSpc>
              <a:spcAft>
                <a:spcPts val="0"/>
              </a:spcAft>
              <a:buFont typeface="+mj-lt"/>
              <a:buAutoNum type="alphaLcPeriod"/>
              <a:tabLst>
                <a:tab pos="971550" algn="l"/>
              </a:tabLst>
            </a:pP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</a:rPr>
              <a:t>Form properties of the elements and</a:t>
            </a:r>
            <a:endParaRPr lang="en-GB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914400" lvl="1" indent="-457200" algn="just">
              <a:lnSpc>
                <a:spcPct val="120000"/>
              </a:lnSpc>
              <a:spcAft>
                <a:spcPts val="600"/>
              </a:spcAft>
              <a:buFont typeface="+mj-lt"/>
              <a:buAutoNum type="alphaLcPeriod"/>
              <a:tabLst>
                <a:tab pos="971550" algn="l"/>
              </a:tabLst>
            </a:pP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</a:rPr>
              <a:t>Surface properties of the elements</a:t>
            </a:r>
            <a:r>
              <a:rPr lang="en-GB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GB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17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38569" y="2614515"/>
            <a:ext cx="3996000" cy="2480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1044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37476"/>
            <a:ext cx="10515600" cy="710324"/>
          </a:xfrm>
        </p:spPr>
        <p:txBody>
          <a:bodyPr/>
          <a:lstStyle/>
          <a:p>
            <a:r>
              <a:rPr lang="en-GB" dirty="0"/>
              <a:t>UNIT 4:  Theory of Lubrication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600200"/>
            <a:ext cx="4546600" cy="4661339"/>
          </a:xfrm>
        </p:spPr>
        <p:txBody>
          <a:bodyPr>
            <a:normAutofit/>
          </a:bodyPr>
          <a:lstStyle/>
          <a:p>
            <a:pPr marL="0" lv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b="1" i="1" dirty="0">
                <a:solidFill>
                  <a:prstClr val="black"/>
                </a:solidFill>
              </a:rPr>
              <a:t>Technical Mating </a:t>
            </a:r>
            <a:r>
              <a:rPr lang="en-US" b="1" i="1" dirty="0" smtClean="0">
                <a:solidFill>
                  <a:prstClr val="black"/>
                </a:solidFill>
              </a:rPr>
              <a:t>System</a:t>
            </a:r>
            <a:endParaRPr lang="en-GB" dirty="0" smtClean="0"/>
          </a:p>
          <a:p>
            <a:r>
              <a:rPr lang="en-GB" dirty="0" smtClean="0"/>
              <a:t>Interactions</a:t>
            </a:r>
          </a:p>
          <a:p>
            <a:pPr marL="0" indent="0">
              <a:buNone/>
            </a:pPr>
            <a:r>
              <a:rPr lang="en-GB" dirty="0" smtClean="0"/>
              <a:t>Example primary body and environment:</a:t>
            </a:r>
          </a:p>
          <a:p>
            <a:pPr marL="534988">
              <a:buFont typeface="Wingdings" panose="05000000000000000000" pitchFamily="2" charset="2"/>
              <a:buChar char="ü"/>
            </a:pPr>
            <a:r>
              <a:rPr lang="en-GB" dirty="0" smtClean="0"/>
              <a:t>Sublimation</a:t>
            </a:r>
          </a:p>
          <a:p>
            <a:pPr marL="534988">
              <a:buFont typeface="Wingdings" panose="05000000000000000000" pitchFamily="2" charset="2"/>
              <a:buChar char="ü"/>
            </a:pPr>
            <a:r>
              <a:rPr lang="en-GB" dirty="0" smtClean="0"/>
              <a:t>Adsorption</a:t>
            </a:r>
          </a:p>
          <a:p>
            <a:pPr marL="534988">
              <a:buFont typeface="Wingdings" panose="05000000000000000000" pitchFamily="2" charset="2"/>
              <a:buChar char="ü"/>
            </a:pPr>
            <a:r>
              <a:rPr lang="en-GB" dirty="0" smtClean="0"/>
              <a:t>Chemical reaction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18</a:t>
            </a:fld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1415896"/>
            <a:ext cx="6732000" cy="5148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95754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37476"/>
            <a:ext cx="10515600" cy="380124"/>
          </a:xfrm>
        </p:spPr>
        <p:txBody>
          <a:bodyPr>
            <a:normAutofit fontScale="90000"/>
          </a:bodyPr>
          <a:lstStyle/>
          <a:p>
            <a:r>
              <a:rPr lang="en-GB" dirty="0"/>
              <a:t>UNIT 4:  Theory of Lubrication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0000"/>
            <a:ext cx="10515600" cy="5059363"/>
          </a:xfrm>
        </p:spPr>
        <p:txBody>
          <a:bodyPr>
            <a:normAutofit/>
          </a:bodyPr>
          <a:lstStyle/>
          <a:p>
            <a:pPr marL="0" lv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b="1" i="1" dirty="0">
                <a:solidFill>
                  <a:prstClr val="black"/>
                </a:solidFill>
              </a:rPr>
              <a:t>Technical Mating System</a:t>
            </a:r>
            <a:endParaRPr lang="en-GB" dirty="0">
              <a:solidFill>
                <a:prstClr val="black"/>
              </a:solidFill>
            </a:endParaRPr>
          </a:p>
          <a:p>
            <a:pPr lvl="0"/>
            <a:r>
              <a:rPr lang="en-GB" dirty="0" smtClean="0">
                <a:solidFill>
                  <a:prstClr val="black"/>
                </a:solidFill>
              </a:rPr>
              <a:t>Metallic Surface:</a:t>
            </a:r>
            <a:endParaRPr lang="en-GB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en-GB" dirty="0" smtClean="0">
                <a:solidFill>
                  <a:prstClr val="black"/>
                </a:solidFill>
              </a:rPr>
              <a:t>Consists of</a:t>
            </a:r>
            <a:r>
              <a:rPr lang="en-GB" dirty="0"/>
              <a:t>: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19</a:t>
            </a:fld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1202" y="1938338"/>
            <a:ext cx="4981575" cy="45434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 flipH="1">
            <a:off x="8932777" y="2030137"/>
            <a:ext cx="1649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/>
              <a:t>Impurities</a:t>
            </a:r>
            <a:endParaRPr lang="en-GB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8932777" y="2712291"/>
            <a:ext cx="1816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 smtClean="0"/>
              <a:t>Absorbed gases</a:t>
            </a:r>
            <a:endParaRPr lang="en-GB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9088659" y="3394445"/>
            <a:ext cx="13519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 smtClean="0"/>
              <a:t>Oxide layer</a:t>
            </a:r>
            <a:endParaRPr lang="en-GB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8932777" y="3995084"/>
            <a:ext cx="20705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 smtClean="0"/>
              <a:t>Cold-worked layer</a:t>
            </a:r>
            <a:endParaRPr lang="en-GB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8932777" y="5277877"/>
            <a:ext cx="16046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 smtClean="0"/>
              <a:t>Base material</a:t>
            </a:r>
            <a:endParaRPr lang="en-GB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1072080" y="3455014"/>
            <a:ext cx="27232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/>
              <a:t>On top of metallic surfaces: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69117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37476"/>
            <a:ext cx="10515600" cy="608724"/>
          </a:xfrm>
        </p:spPr>
        <p:txBody>
          <a:bodyPr/>
          <a:lstStyle/>
          <a:p>
            <a:r>
              <a:rPr lang="en-GB" dirty="0"/>
              <a:t>UNIT 4:  Theory of Lubrication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6200"/>
            <a:ext cx="10515600" cy="5118539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b="1" i="1" dirty="0" smtClean="0">
                <a:solidFill>
                  <a:prstClr val="black"/>
                </a:solidFill>
              </a:rPr>
              <a:t>Wear</a:t>
            </a:r>
            <a:endParaRPr lang="en-GB" dirty="0">
              <a:solidFill>
                <a:prstClr val="black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GB" dirty="0" smtClean="0"/>
              <a:t>It </a:t>
            </a:r>
            <a:r>
              <a:rPr lang="en-GB" dirty="0"/>
              <a:t>is the progressive loss of material on </a:t>
            </a:r>
            <a:r>
              <a:rPr lang="en-GB" dirty="0" smtClean="0"/>
              <a:t>surface </a:t>
            </a:r>
            <a:r>
              <a:rPr lang="en-GB" dirty="0"/>
              <a:t>of a </a:t>
            </a:r>
            <a:r>
              <a:rPr lang="en-GB" dirty="0">
                <a:solidFill>
                  <a:schemeClr val="accent5"/>
                </a:solidFill>
              </a:rPr>
              <a:t>solid</a:t>
            </a:r>
            <a:r>
              <a:rPr lang="en-GB" dirty="0"/>
              <a:t> body</a:t>
            </a:r>
            <a:r>
              <a:rPr lang="en-GB" dirty="0" smtClean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GB" dirty="0" smtClean="0"/>
              <a:t>It is </a:t>
            </a:r>
            <a:r>
              <a:rPr lang="en-GB" dirty="0"/>
              <a:t>due to </a:t>
            </a:r>
            <a:r>
              <a:rPr lang="en-GB" b="1" dirty="0">
                <a:solidFill>
                  <a:srgbClr val="FF0000"/>
                </a:solidFill>
              </a:rPr>
              <a:t>contact</a:t>
            </a:r>
            <a:r>
              <a:rPr lang="en-GB" dirty="0"/>
              <a:t> and </a:t>
            </a:r>
            <a:r>
              <a:rPr lang="en-GB" b="1" dirty="0">
                <a:solidFill>
                  <a:srgbClr val="FF0000"/>
                </a:solidFill>
              </a:rPr>
              <a:t>relative motion</a:t>
            </a:r>
            <a:r>
              <a:rPr lang="en-GB" dirty="0"/>
              <a:t> of a solid body to a </a:t>
            </a:r>
            <a:r>
              <a:rPr lang="en-GB" dirty="0">
                <a:solidFill>
                  <a:schemeClr val="accent5"/>
                </a:solidFill>
              </a:rPr>
              <a:t>solid</a:t>
            </a:r>
            <a:r>
              <a:rPr lang="en-GB" dirty="0"/>
              <a:t>, </a:t>
            </a:r>
            <a:r>
              <a:rPr lang="en-GB" dirty="0">
                <a:solidFill>
                  <a:schemeClr val="accent5"/>
                </a:solidFill>
              </a:rPr>
              <a:t>liquid</a:t>
            </a:r>
            <a:r>
              <a:rPr lang="en-GB" dirty="0"/>
              <a:t> or </a:t>
            </a:r>
            <a:r>
              <a:rPr lang="en-GB" dirty="0">
                <a:solidFill>
                  <a:schemeClr val="accent5"/>
                </a:solidFill>
              </a:rPr>
              <a:t>gas</a:t>
            </a:r>
            <a:r>
              <a:rPr lang="en-GB" dirty="0"/>
              <a:t> </a:t>
            </a:r>
            <a:r>
              <a:rPr lang="en-GB" dirty="0" smtClean="0"/>
              <a:t>medium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b="0" i="1" dirty="0" smtClean="0"/>
              <a:t>It is recognized  by:</a:t>
            </a:r>
          </a:p>
          <a:p>
            <a:pPr marL="1879600" lvl="0" algn="just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  <a:tabLst>
                <a:tab pos="912495" algn="l"/>
              </a:tabLst>
            </a:pPr>
            <a:r>
              <a:rPr lang="en-GB" dirty="0" smtClean="0">
                <a:ea typeface="Times New Roman" panose="02020603050405020304" pitchFamily="18" charset="0"/>
              </a:rPr>
              <a:t>  Presence </a:t>
            </a:r>
            <a:r>
              <a:rPr lang="en-GB" dirty="0">
                <a:ea typeface="Times New Roman" panose="02020603050405020304" pitchFamily="18" charset="0"/>
              </a:rPr>
              <a:t>of loose particles,</a:t>
            </a:r>
            <a:endParaRPr lang="en-GB" dirty="0">
              <a:ea typeface="Calibri" panose="020F0502020204030204" pitchFamily="34" charset="0"/>
            </a:endParaRPr>
          </a:p>
          <a:p>
            <a:pPr marL="1879600" lvl="0" algn="just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  <a:tabLst>
                <a:tab pos="912495" algn="l"/>
              </a:tabLst>
            </a:pPr>
            <a:r>
              <a:rPr lang="en-GB" dirty="0" smtClean="0">
                <a:ea typeface="Times New Roman" panose="02020603050405020304" pitchFamily="18" charset="0"/>
              </a:rPr>
              <a:t>  Change </a:t>
            </a:r>
            <a:r>
              <a:rPr lang="en-GB" dirty="0">
                <a:ea typeface="Times New Roman" panose="02020603050405020304" pitchFamily="18" charset="0"/>
              </a:rPr>
              <a:t>in material properties, and</a:t>
            </a:r>
            <a:endParaRPr lang="en-GB" dirty="0">
              <a:ea typeface="Calibri" panose="020F0502020204030204" pitchFamily="34" charset="0"/>
            </a:endParaRPr>
          </a:p>
          <a:p>
            <a:pPr marL="2165350" indent="-514350">
              <a:buFont typeface="+mj-lt"/>
              <a:buAutoNum type="arabicPeriod"/>
            </a:pPr>
            <a:r>
              <a:rPr lang="en-GB" dirty="0">
                <a:ea typeface="Times New Roman" panose="02020603050405020304" pitchFamily="18" charset="0"/>
              </a:rPr>
              <a:t>Change in form.</a:t>
            </a:r>
            <a:endParaRPr lang="en-US" b="0" i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485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37476"/>
            <a:ext cx="10515600" cy="481724"/>
          </a:xfrm>
        </p:spPr>
        <p:txBody>
          <a:bodyPr>
            <a:normAutofit fontScale="90000"/>
          </a:bodyPr>
          <a:lstStyle/>
          <a:p>
            <a:r>
              <a:rPr lang="en-GB" dirty="0"/>
              <a:t>UNIT 4:  Theory of Lubrication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3825"/>
            <a:ext cx="10515600" cy="5070914"/>
          </a:xfrm>
        </p:spPr>
        <p:txBody>
          <a:bodyPr>
            <a:normAutofit fontScale="85000" lnSpcReduction="10000"/>
          </a:bodyPr>
          <a:lstStyle/>
          <a:p>
            <a:pPr marL="0" lv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b="1" i="1" dirty="0" smtClean="0">
                <a:solidFill>
                  <a:prstClr val="black"/>
                </a:solidFill>
              </a:rPr>
              <a:t>Factors Affecting Wear</a:t>
            </a:r>
            <a:endParaRPr lang="en-GB" dirty="0">
              <a:solidFill>
                <a:prstClr val="black"/>
              </a:solidFill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  <a:tabLst>
                <a:tab pos="912495" algn="l"/>
              </a:tabLst>
            </a:pP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</a:rPr>
              <a:t>Type of motion (sliding, rolling, impact etc.)</a:t>
            </a:r>
            <a:endParaRPr lang="en-GB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  <a:tabLst>
                <a:tab pos="912495" algn="l"/>
              </a:tabLst>
            </a:pP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</a:rPr>
              <a:t>Trend of motion (continuous, intermittent, reversible, oscillation)</a:t>
            </a:r>
            <a:endParaRPr lang="en-GB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  <a:tabLst>
                <a:tab pos="912495" algn="l"/>
              </a:tabLst>
            </a:pP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</a:rPr>
              <a:t>Forces/stresses (compression, tensile, </a:t>
            </a:r>
            <a:r>
              <a:rPr lang="en-GB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etc</a:t>
            </a: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GB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  <a:tabLst>
                <a:tab pos="912495" algn="l"/>
              </a:tabLst>
            </a:pP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</a:rPr>
              <a:t>Speed</a:t>
            </a:r>
            <a:endParaRPr lang="en-GB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  <a:tabLst>
                <a:tab pos="912495" algn="l"/>
              </a:tabLst>
            </a:pP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</a:rPr>
              <a:t>Temperature</a:t>
            </a:r>
            <a:endParaRPr lang="en-GB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  <a:tabLst>
                <a:tab pos="912495" algn="l"/>
              </a:tabLst>
            </a:pP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</a:rPr>
              <a:t>Duration or distance travelled</a:t>
            </a:r>
            <a:endParaRPr lang="en-GB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  <a:tabLst>
                <a:tab pos="912495" algn="l"/>
              </a:tabLst>
            </a:pP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Properties of material</a:t>
            </a:r>
            <a:endParaRPr lang="en-GB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  <a:tabLst>
                <a:tab pos="912495" algn="l"/>
              </a:tabLst>
            </a:pP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</a:rPr>
              <a:t>Form and nature of contact surfaces </a:t>
            </a:r>
            <a:r>
              <a:rPr lang="en-GB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eg</a:t>
            </a: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concave-convex surfaces, roughness</a:t>
            </a:r>
            <a:endParaRPr lang="en-GB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21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37476"/>
            <a:ext cx="10515600" cy="418971"/>
          </a:xfrm>
        </p:spPr>
        <p:txBody>
          <a:bodyPr>
            <a:normAutofit fontScale="90000"/>
          </a:bodyPr>
          <a:lstStyle/>
          <a:p>
            <a:r>
              <a:rPr lang="en-GB" dirty="0"/>
              <a:t>UNIT 4:  Theory of Lubrication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7812"/>
            <a:ext cx="10515600" cy="5146927"/>
          </a:xfrm>
        </p:spPr>
        <p:txBody>
          <a:bodyPr>
            <a:normAutofit fontScale="85000" lnSpcReduction="10000"/>
          </a:bodyPr>
          <a:lstStyle/>
          <a:p>
            <a:pPr marL="0" lv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b="1" i="1" dirty="0" smtClean="0">
                <a:solidFill>
                  <a:prstClr val="black"/>
                </a:solidFill>
              </a:rPr>
              <a:t>Types of Wear (Mechanisms of Wear)</a:t>
            </a:r>
            <a:endParaRPr lang="en-GB" dirty="0">
              <a:solidFill>
                <a:prstClr val="black"/>
              </a:solidFill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GB" u="sng" dirty="0">
                <a:ea typeface="Times New Roman" panose="02020603050405020304" pitchFamily="18" charset="0"/>
              </a:rPr>
              <a:t>Tribo-oxidation</a:t>
            </a:r>
            <a:r>
              <a:rPr lang="en-GB" dirty="0">
                <a:ea typeface="Times New Roman" panose="02020603050405020304" pitchFamily="18" charset="0"/>
              </a:rPr>
              <a:t> (Oxidative Wear</a:t>
            </a:r>
            <a:r>
              <a:rPr lang="en-GB" dirty="0" smtClean="0">
                <a:ea typeface="Times New Roman" panose="02020603050405020304" pitchFamily="18" charset="0"/>
              </a:rPr>
              <a:t>) is the removal of oxide-layer (layer activated by surface friction, medium and environment)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GB" u="sng" dirty="0">
                <a:ea typeface="Times New Roman" panose="02020603050405020304" pitchFamily="18" charset="0"/>
              </a:rPr>
              <a:t>Adhesive </a:t>
            </a:r>
            <a:r>
              <a:rPr lang="en-GB" u="sng" dirty="0" smtClean="0">
                <a:ea typeface="Times New Roman" panose="02020603050405020304" pitchFamily="18" charset="0"/>
              </a:rPr>
              <a:t>Wear</a:t>
            </a:r>
            <a:r>
              <a:rPr lang="en-GB" dirty="0" smtClean="0">
                <a:ea typeface="Times New Roman" panose="02020603050405020304" pitchFamily="18" charset="0"/>
              </a:rPr>
              <a:t> is </a:t>
            </a:r>
            <a:r>
              <a:rPr lang="en-GB" dirty="0" smtClean="0"/>
              <a:t>characterised </a:t>
            </a:r>
            <a:r>
              <a:rPr lang="en-GB" dirty="0"/>
              <a:t>by </a:t>
            </a:r>
            <a:r>
              <a:rPr lang="en-GB" dirty="0" smtClean="0"/>
              <a:t>building </a:t>
            </a:r>
            <a:r>
              <a:rPr lang="en-GB" dirty="0"/>
              <a:t>and breaking down of “welded” </a:t>
            </a:r>
            <a:r>
              <a:rPr lang="en-GB" dirty="0" smtClean="0"/>
              <a:t>bridges (First, requires </a:t>
            </a:r>
            <a:r>
              <a:rPr lang="en-GB" dirty="0"/>
              <a:t>the break-down of the </a:t>
            </a:r>
            <a:r>
              <a:rPr lang="en-GB" dirty="0" smtClean="0"/>
              <a:t>oxide-layer)</a:t>
            </a:r>
            <a:endParaRPr lang="en-GB" u="sng" dirty="0" smtClean="0">
              <a:ea typeface="Times New Roman" panose="02020603050405020304" pitchFamily="18" charset="0"/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GB" u="sng" dirty="0"/>
              <a:t>Abrasive </a:t>
            </a:r>
            <a:r>
              <a:rPr lang="en-GB" u="sng" dirty="0" smtClean="0"/>
              <a:t>Wear</a:t>
            </a:r>
            <a:r>
              <a:rPr lang="en-GB" dirty="0" smtClean="0"/>
              <a:t> </a:t>
            </a:r>
            <a:r>
              <a:rPr lang="en-GB" dirty="0"/>
              <a:t>caused either by </a:t>
            </a:r>
            <a:r>
              <a:rPr lang="en-GB" i="1" u="sng" dirty="0"/>
              <a:t>hard tips</a:t>
            </a:r>
            <a:r>
              <a:rPr lang="en-GB" dirty="0"/>
              <a:t> surface-profile </a:t>
            </a:r>
            <a:r>
              <a:rPr lang="en-GB" dirty="0" smtClean="0"/>
              <a:t>or </a:t>
            </a:r>
            <a:r>
              <a:rPr lang="en-GB" dirty="0"/>
              <a:t>by the presence of hard foreign particles</a:t>
            </a:r>
            <a:endParaRPr lang="en-GB" u="sng" dirty="0" smtClean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GB" u="sng" dirty="0"/>
              <a:t>Surface Disruption</a:t>
            </a:r>
            <a:r>
              <a:rPr lang="en-GB" dirty="0"/>
              <a:t> (surface fatigue</a:t>
            </a:r>
            <a:r>
              <a:rPr lang="en-GB" dirty="0" smtClean="0"/>
              <a:t>) </a:t>
            </a:r>
            <a:r>
              <a:rPr lang="en-GB" dirty="0"/>
              <a:t>characterised by micro-cracks and breaking away of surface particles due to </a:t>
            </a:r>
            <a:r>
              <a:rPr lang="en-GB" i="1" u="sng" dirty="0"/>
              <a:t>alternating mechanical stress</a:t>
            </a:r>
            <a:r>
              <a:rPr lang="en-GB" dirty="0"/>
              <a:t> </a:t>
            </a:r>
            <a:r>
              <a:rPr lang="en-GB" dirty="0" smtClean="0"/>
              <a:t>. E.g..  pitting </a:t>
            </a:r>
            <a:endParaRPr lang="en-US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875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4:  Theory of Lubrication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b="1" i="1" dirty="0" smtClean="0"/>
                  <a:t>Units of Wear</a:t>
                </a:r>
              </a:p>
              <a:p>
                <a:pPr marL="712788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GB" b="1" i="1" dirty="0"/>
                  <a:t>coefficient of wear, k,</a:t>
                </a:r>
                <a:r>
                  <a:rPr lang="en-GB" dirty="0"/>
                  <a:t> is the most frequent applied wear </a:t>
                </a:r>
                <a:r>
                  <a:rPr lang="en-GB" dirty="0" smtClean="0"/>
                  <a:t>characteristic </a:t>
                </a:r>
                <a:r>
                  <a:rPr lang="en-GB" dirty="0"/>
                  <a:t>parameter involving paired </a:t>
                </a:r>
                <a:r>
                  <a:rPr lang="en-GB" dirty="0" smtClean="0"/>
                  <a:t>materials:</a:t>
                </a:r>
              </a:p>
              <a:p>
                <a:pPr marL="0" indent="0" algn="just">
                  <a:lnSpc>
                    <a:spcPct val="120000"/>
                  </a:lnSpc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𝑘</m:t>
                      </m:r>
                      <m:r>
                        <a:rPr lang="en-GB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𝑉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𝑁</m:t>
                              </m:r>
                            </m:sub>
                          </m:sSub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.</m:t>
                          </m:r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𝑠</m:t>
                          </m:r>
                        </m:den>
                      </m:f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.</m:t>
                          </m:r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𝐴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𝑁</m:t>
                              </m:r>
                            </m:sub>
                          </m:sSub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.</m:t>
                          </m:r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𝑠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den>
                              </m:f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 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−5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𝑚𝑚</m:t>
                                  </m:r>
                                </m:e>
                                <m:sup>
                                  <m: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𝑁𝑚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marL="538163" indent="0" algn="just">
                  <a:lnSpc>
                    <a:spcPct val="120000"/>
                  </a:lnSpc>
                  <a:spcAft>
                    <a:spcPts val="600"/>
                  </a:spcAft>
                  <a:buNone/>
                </a:pPr>
                <a:r>
                  <a:rPr lang="en-GB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Where</a:t>
                </a:r>
                <a:endParaRPr lang="en-GB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marL="0" indent="0" algn="just">
                  <a:lnSpc>
                    <a:spcPct val="12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𝑉𝑜𝑙𝑢𝑚𝑒𝑡𝑟𝑖𝑐</m:t>
                      </m:r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𝑤𝑒𝑎𝑟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𝐿𝑖𝑛𝑒𝑎𝑟</m:t>
                      </m:r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𝑤𝑒𝑎𝑟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(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𝑑𝑒𝑝𝑡h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GB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marL="2021840" indent="0" algn="just">
                  <a:lnSpc>
                    <a:spcPct val="12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𝑠</m:t>
                      </m:r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𝑆𝑙𝑖𝑑𝑖𝑛𝑔</m:t>
                      </m:r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𝑑𝑖𝑠𝑡𝑎𝑛𝑐𝑒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   </m:t>
                      </m:r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𝑝</m:t>
                      </m:r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𝑃𝑟𝑒𝑠𝑠𝑢𝑟𝑒</m:t>
                      </m:r>
                    </m:oMath>
                  </m:oMathPara>
                </a14:m>
                <a:endParaRPr lang="en-US" i="1" dirty="0" smtClean="0">
                  <a:effectLst/>
                  <a:latin typeface="Cambria Math" panose="02040503050406030204" pitchFamily="18" charset="0"/>
                  <a:ea typeface="Times New Roman" panose="02020603050405020304" pitchFamily="18" charset="0"/>
                </a:endParaRPr>
              </a:p>
              <a:p>
                <a:pPr marL="2021840" indent="0" algn="just">
                  <a:lnSpc>
                    <a:spcPct val="12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𝑝</m:t>
                      </m:r>
                      <m:r>
                        <a:rPr lang="en-GB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.</m:t>
                      </m:r>
                      <m:r>
                        <a:rPr lang="en-GB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𝑁𝑜𝑟𝑚𝑎𝑙</m:t>
                      </m:r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𝑓𝑜𝑟𝑐𝑒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   </m:t>
                      </m:r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𝐴</m:t>
                      </m:r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𝐴𝑟𝑒𝑎</m:t>
                      </m:r>
                    </m:oMath>
                  </m:oMathPara>
                </a14:m>
                <a:endParaRPr lang="en-GB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3139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4:  Theory of Lubrication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b="1" i="1" dirty="0" smtClean="0"/>
                  <a:t>Units of Wear</a:t>
                </a:r>
              </a:p>
              <a:p>
                <a:pPr>
                  <a:lnSpc>
                    <a:spcPct val="110000"/>
                  </a:lnSpc>
                </a:pPr>
                <a:r>
                  <a:rPr lang="en-GB" b="1" i="1" dirty="0" smtClean="0"/>
                  <a:t>Linear wear-distance,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𝑳</m:t>
                            </m:r>
                          </m:sub>
                        </m:sSub>
                      </m:num>
                      <m:den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marL="355600" indent="0">
                  <a:lnSpc>
                    <a:spcPct val="110000"/>
                  </a:lnSpc>
                  <a:buNone/>
                </a:pPr>
                <a:r>
                  <a:rPr lang="en-GB" dirty="0" smtClean="0"/>
                  <a:t>It </a:t>
                </a:r>
                <a:r>
                  <a:rPr lang="en-GB" dirty="0"/>
                  <a:t>is used to characterise machine </a:t>
                </a:r>
                <a:r>
                  <a:rPr lang="en-GB" dirty="0" smtClean="0"/>
                  <a:t>wear, </a:t>
                </a:r>
                <a:r>
                  <a:rPr lang="en-GB" dirty="0"/>
                  <a:t>because </a:t>
                </a:r>
                <a:r>
                  <a:rPr lang="en-GB" dirty="0" smtClean="0"/>
                  <a:t>depth </a:t>
                </a:r>
                <a:r>
                  <a:rPr lang="en-GB" dirty="0"/>
                  <a:t>of wear </a:t>
                </a:r>
                <a:r>
                  <a:rPr lang="en-GB" dirty="0" smtClean="0"/>
                  <a:t>is </a:t>
                </a:r>
                <a:r>
                  <a:rPr lang="en-GB" dirty="0"/>
                  <a:t>used as a yard-stick for replacement of an </a:t>
                </a:r>
                <a:r>
                  <a:rPr lang="en-GB" dirty="0" smtClean="0"/>
                  <a:t>element:</a:t>
                </a:r>
              </a:p>
              <a:p>
                <a:pPr marL="889000" indent="-412750">
                  <a:lnSpc>
                    <a:spcPct val="110000"/>
                  </a:lnSpc>
                  <a:buFont typeface="+mj-lt"/>
                  <a:buAutoNum type="alphaLcPeriod"/>
                </a:pP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L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</m:t>
                        </m:r>
                      </m:den>
                    </m:f>
                    <m:r>
                      <a:rPr lang="en-GB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Normal</m:t>
                    </m:r>
                    <m:r>
                      <a:rPr lang="en-GB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wear</m:t>
                    </m:r>
                  </m:oMath>
                </a14:m>
                <a:endParaRPr lang="en-GB" dirty="0"/>
              </a:p>
              <a:p>
                <a:pPr marL="889000" indent="-412750">
                  <a:lnSpc>
                    <a:spcPct val="110000"/>
                  </a:lnSpc>
                  <a:buFont typeface="+mj-lt"/>
                  <a:buAutoNum type="alphaLcPeriod"/>
                </a:pP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L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approx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GB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manufacturing</m:t>
                    </m:r>
                    <m:r>
                      <a:rPr lang="en-GB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process</m:t>
                    </m:r>
                    <m:r>
                      <a:rPr lang="en-GB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e</m:t>
                    </m:r>
                    <m:r>
                      <a:rPr lang="en-GB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g</m:t>
                    </m:r>
                    <m:r>
                      <a:rPr lang="en-GB">
                        <a:latin typeface="Cambria Math" panose="02040503050406030204" pitchFamily="18" charset="0"/>
                      </a:rPr>
                      <m:t>. 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milling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12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0200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634124"/>
          </a:xfrm>
        </p:spPr>
        <p:txBody>
          <a:bodyPr/>
          <a:lstStyle/>
          <a:p>
            <a:r>
              <a:rPr lang="en-GB" dirty="0"/>
              <a:t>UNIT 4:  Theory of Lubrication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2401"/>
            <a:ext cx="10515600" cy="2463800"/>
          </a:xfrm>
        </p:spPr>
        <p:txBody>
          <a:bodyPr/>
          <a:lstStyle/>
          <a:p>
            <a:r>
              <a:rPr lang="en-US" b="1" i="1" dirty="0" smtClean="0"/>
              <a:t>Stages </a:t>
            </a:r>
            <a:r>
              <a:rPr lang="en-US" b="1" i="1" dirty="0"/>
              <a:t>of Wear</a:t>
            </a:r>
          </a:p>
          <a:p>
            <a:pPr marL="1435100" lvl="0" indent="-431800" algn="just">
              <a:lnSpc>
                <a:spcPct val="120000"/>
              </a:lnSpc>
              <a:spcAft>
                <a:spcPts val="0"/>
              </a:spcAft>
              <a:buFont typeface="+mj-lt"/>
              <a:buAutoNum type="romanUcPeriod"/>
            </a:pP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Regressive wear (wear-in),</a:t>
            </a:r>
            <a:endParaRPr lang="en-GB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1617663" lvl="0" indent="-614363" algn="just">
              <a:lnSpc>
                <a:spcPct val="120000"/>
              </a:lnSpc>
              <a:spcAft>
                <a:spcPts val="0"/>
              </a:spcAft>
              <a:buFont typeface="+mj-lt"/>
              <a:buAutoNum type="romanUcPeriod"/>
            </a:pPr>
            <a:r>
              <a:rPr lang="en-GB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Linear </a:t>
            </a: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</a:rPr>
              <a:t>wear,</a:t>
            </a:r>
            <a:endParaRPr lang="en-GB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1617663" lvl="0" indent="-614363" algn="just">
              <a:lnSpc>
                <a:spcPct val="120000"/>
              </a:lnSpc>
              <a:spcAft>
                <a:spcPts val="0"/>
              </a:spcAft>
              <a:buFont typeface="+mj-lt"/>
              <a:buAutoNum type="romanUcPeriod"/>
            </a:pPr>
            <a:r>
              <a:rPr lang="en-GB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Progressive</a:t>
            </a: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GB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25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561" y="2762192"/>
            <a:ext cx="6624000" cy="363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759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669821"/>
          </a:xfrm>
        </p:spPr>
        <p:txBody>
          <a:bodyPr/>
          <a:lstStyle/>
          <a:p>
            <a:r>
              <a:rPr lang="en-GB" dirty="0"/>
              <a:t>UNIT 4:  </a:t>
            </a:r>
            <a:r>
              <a:rPr lang="en-GB" dirty="0" smtClean="0"/>
              <a:t>Classification of Hydraulic </a:t>
            </a:r>
            <a:r>
              <a:rPr lang="en-GB" dirty="0"/>
              <a:t>Fluids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8097"/>
            <a:ext cx="10515600" cy="50066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/>
              <a:t>Several </a:t>
            </a:r>
            <a:r>
              <a:rPr lang="en-GB" dirty="0"/>
              <a:t>criteria used to classify hydraulic </a:t>
            </a:r>
            <a:r>
              <a:rPr lang="en-GB" dirty="0" smtClean="0"/>
              <a:t>fluids due to:</a:t>
            </a:r>
          </a:p>
          <a:p>
            <a:pPr marL="712788" lvl="0" indent="-349250"/>
            <a:r>
              <a:rPr lang="en-US" dirty="0" smtClean="0"/>
              <a:t>diverse </a:t>
            </a:r>
            <a:r>
              <a:rPr lang="en-US" dirty="0"/>
              <a:t>areas of application of hydraulic systems,</a:t>
            </a:r>
            <a:endParaRPr lang="en-GB" dirty="0"/>
          </a:p>
          <a:p>
            <a:pPr marL="712788" lvl="0" indent="-349250"/>
            <a:r>
              <a:rPr lang="en-US" dirty="0" smtClean="0"/>
              <a:t>diverse </a:t>
            </a:r>
            <a:r>
              <a:rPr lang="en-US" dirty="0"/>
              <a:t>types of equipment available, and</a:t>
            </a:r>
            <a:endParaRPr lang="en-GB" dirty="0"/>
          </a:p>
          <a:p>
            <a:pPr marL="712788" lvl="0" indent="-349250"/>
            <a:r>
              <a:rPr lang="en-US" dirty="0" smtClean="0"/>
              <a:t>increasing </a:t>
            </a:r>
            <a:r>
              <a:rPr lang="en-US" dirty="0"/>
              <a:t>number </a:t>
            </a:r>
            <a:r>
              <a:rPr lang="en-US" dirty="0" smtClean="0"/>
              <a:t>/types </a:t>
            </a:r>
            <a:r>
              <a:rPr lang="en-US" dirty="0"/>
              <a:t>of hydraulic fluids </a:t>
            </a:r>
            <a:r>
              <a:rPr lang="en-US" dirty="0" smtClean="0"/>
              <a:t>available.</a:t>
            </a:r>
            <a:endParaRPr lang="en-GB" dirty="0"/>
          </a:p>
          <a:p>
            <a:pPr marL="0" indent="0">
              <a:buNone/>
            </a:pPr>
            <a:r>
              <a:rPr lang="en-US" dirty="0"/>
              <a:t>Hydraulic fluids </a:t>
            </a:r>
            <a:r>
              <a:rPr lang="en-US" dirty="0" smtClean="0"/>
              <a:t>can </a:t>
            </a:r>
            <a:r>
              <a:rPr lang="en-US" dirty="0"/>
              <a:t>therefore </a:t>
            </a:r>
            <a:r>
              <a:rPr lang="en-US" dirty="0" smtClean="0"/>
              <a:t>be classified based on:</a:t>
            </a:r>
          </a:p>
          <a:p>
            <a:pPr marL="712788" indent="-349250"/>
            <a:r>
              <a:rPr lang="en-US" dirty="0" smtClean="0"/>
              <a:t> </a:t>
            </a:r>
            <a:r>
              <a:rPr lang="en-US" dirty="0"/>
              <a:t>physical properties, </a:t>
            </a:r>
            <a:endParaRPr lang="en-US" dirty="0" smtClean="0"/>
          </a:p>
          <a:p>
            <a:pPr marL="712788" indent="-349250"/>
            <a:r>
              <a:rPr lang="en-US" dirty="0" smtClean="0"/>
              <a:t>chemical </a:t>
            </a:r>
            <a:r>
              <a:rPr lang="en-US" dirty="0"/>
              <a:t>types</a:t>
            </a:r>
            <a:r>
              <a:rPr lang="en-US" dirty="0" smtClean="0"/>
              <a:t>,</a:t>
            </a:r>
          </a:p>
          <a:p>
            <a:pPr marL="712788" indent="-349250"/>
            <a:r>
              <a:rPr lang="en-US" dirty="0" smtClean="0"/>
              <a:t> </a:t>
            </a:r>
            <a:r>
              <a:rPr lang="en-US" dirty="0"/>
              <a:t>operating capabilities, </a:t>
            </a:r>
            <a:endParaRPr lang="en-US" dirty="0" smtClean="0"/>
          </a:p>
          <a:p>
            <a:pPr marL="712788" indent="-349250"/>
            <a:r>
              <a:rPr lang="en-US" dirty="0" smtClean="0"/>
              <a:t>utility</a:t>
            </a:r>
            <a:r>
              <a:rPr lang="en-US" dirty="0"/>
              <a:t>, or specific applications</a:t>
            </a:r>
            <a:r>
              <a:rPr lang="en-US" dirty="0" smtClean="0"/>
              <a:t>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2772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595681"/>
          </a:xfrm>
        </p:spPr>
        <p:txBody>
          <a:bodyPr/>
          <a:lstStyle/>
          <a:p>
            <a:r>
              <a:rPr lang="en-GB" dirty="0"/>
              <a:t>UNIT 4:  Classification of Hydraulic Fluids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3957"/>
            <a:ext cx="10515600" cy="5080782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Common classification criteria of hydraulic fluids are</a:t>
            </a:r>
            <a:r>
              <a:rPr lang="en-US" dirty="0" smtClean="0"/>
              <a:t>:</a:t>
            </a:r>
          </a:p>
          <a:p>
            <a:pPr>
              <a:lnSpc>
                <a:spcPct val="120000"/>
              </a:lnSpc>
            </a:pPr>
            <a:r>
              <a:rPr lang="en-GB" b="1" i="1" dirty="0"/>
              <a:t>Classification by chemical properties</a:t>
            </a:r>
            <a:r>
              <a:rPr lang="en-GB" dirty="0"/>
              <a:t>: petroleum and non-petroleum hydraulic fluids</a:t>
            </a:r>
            <a:r>
              <a:rPr lang="en-GB" dirty="0" smtClean="0"/>
              <a:t>.</a:t>
            </a:r>
            <a:endParaRPr lang="en-US" b="1" i="1" dirty="0" smtClean="0"/>
          </a:p>
          <a:p>
            <a:pPr lvl="0">
              <a:lnSpc>
                <a:spcPct val="120000"/>
              </a:lnSpc>
            </a:pPr>
            <a:r>
              <a:rPr lang="en-US" b="1" i="1" dirty="0" smtClean="0"/>
              <a:t>Classification </a:t>
            </a:r>
            <a:r>
              <a:rPr lang="en-US" b="1" i="1" dirty="0"/>
              <a:t>by physical </a:t>
            </a:r>
            <a:r>
              <a:rPr lang="en-US" b="1" i="1" dirty="0" smtClean="0"/>
              <a:t>properties</a:t>
            </a:r>
            <a:r>
              <a:rPr lang="en-US" dirty="0" smtClean="0"/>
              <a:t>:  viscosity</a:t>
            </a:r>
          </a:p>
          <a:p>
            <a:pPr marL="1162050" lvl="0" fontAlgn="base" hangingPunct="0">
              <a:lnSpc>
                <a:spcPct val="120000"/>
              </a:lnSpc>
            </a:pPr>
            <a:r>
              <a:rPr lang="en-GB" dirty="0"/>
              <a:t>1S0-VG,</a:t>
            </a:r>
          </a:p>
          <a:p>
            <a:pPr marL="1162050" lvl="0" fontAlgn="base" hangingPunct="0">
              <a:lnSpc>
                <a:spcPct val="120000"/>
              </a:lnSpc>
            </a:pPr>
            <a:r>
              <a:rPr lang="en-GB" dirty="0" smtClean="0"/>
              <a:t>Redwood-seconds</a:t>
            </a:r>
            <a:endParaRPr lang="en-GB" dirty="0"/>
          </a:p>
          <a:p>
            <a:pPr marL="1162050" lvl="0" fontAlgn="base" hangingPunct="0">
              <a:lnSpc>
                <a:spcPct val="120000"/>
              </a:lnSpc>
            </a:pPr>
            <a:r>
              <a:rPr lang="en-GB" dirty="0"/>
              <a:t>SAE for automobiles</a:t>
            </a:r>
            <a:r>
              <a:rPr lang="en-GB" dirty="0" smtClean="0"/>
              <a:t>.</a:t>
            </a:r>
            <a:endParaRPr lang="en-GB" dirty="0"/>
          </a:p>
          <a:p>
            <a:pPr lvl="0">
              <a:lnSpc>
                <a:spcPct val="120000"/>
              </a:lnSpc>
            </a:pPr>
            <a:r>
              <a:rPr lang="en-US" b="1" i="1" dirty="0"/>
              <a:t>Classification by operating characteristics</a:t>
            </a:r>
            <a:r>
              <a:rPr lang="en-US" dirty="0" smtClean="0"/>
              <a:t>: </a:t>
            </a:r>
            <a:r>
              <a:rPr lang="en-GB" dirty="0"/>
              <a:t>temperature limits and the fire-resistant </a:t>
            </a:r>
            <a:r>
              <a:rPr lang="en-GB" dirty="0" smtClean="0"/>
              <a:t>characteristics (</a:t>
            </a:r>
            <a:r>
              <a:rPr lang="en-GB" dirty="0"/>
              <a:t>DIN 51502 and ISO </a:t>
            </a:r>
            <a:r>
              <a:rPr lang="en-GB" dirty="0" smtClean="0"/>
              <a:t>67434)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7401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570967"/>
          </a:xfrm>
        </p:spPr>
        <p:txBody>
          <a:bodyPr>
            <a:normAutofit fontScale="90000"/>
          </a:bodyPr>
          <a:lstStyle/>
          <a:p>
            <a:r>
              <a:rPr lang="en-GB" dirty="0"/>
              <a:t>UNIT 4:  Classification of Hydraulic Fluids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7431" y="1359243"/>
            <a:ext cx="11057920" cy="5105496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GB" b="1" i="1" dirty="0" smtClean="0"/>
              <a:t>Petroleum Based </a:t>
            </a:r>
            <a:r>
              <a:rPr lang="en-GB" b="1" i="1" dirty="0"/>
              <a:t>Hydraulic </a:t>
            </a:r>
            <a:r>
              <a:rPr lang="en-GB" b="1" i="1" dirty="0" smtClean="0"/>
              <a:t>Fluids</a:t>
            </a:r>
          </a:p>
          <a:p>
            <a:pPr>
              <a:lnSpc>
                <a:spcPct val="110000"/>
              </a:lnSpc>
            </a:pPr>
            <a:r>
              <a:rPr lang="en-GB" dirty="0" smtClean="0"/>
              <a:t>They were </a:t>
            </a:r>
            <a:r>
              <a:rPr lang="en-GB" dirty="0"/>
              <a:t>among the first liquids employed as </a:t>
            </a:r>
            <a:r>
              <a:rPr lang="en-GB" dirty="0" smtClean="0"/>
              <a:t>hydraulic fluids,</a:t>
            </a:r>
          </a:p>
          <a:p>
            <a:pPr>
              <a:lnSpc>
                <a:spcPct val="110000"/>
              </a:lnSpc>
            </a:pPr>
            <a:r>
              <a:rPr lang="en-GB" i="1" dirty="0" smtClean="0"/>
              <a:t>They</a:t>
            </a:r>
            <a:r>
              <a:rPr lang="en-GB" dirty="0" smtClean="0"/>
              <a:t> </a:t>
            </a:r>
            <a:r>
              <a:rPr lang="en-GB" dirty="0"/>
              <a:t>have the bases of </a:t>
            </a:r>
            <a:r>
              <a:rPr lang="en-GB" dirty="0">
                <a:solidFill>
                  <a:srgbClr val="FF0000"/>
                </a:solidFill>
              </a:rPr>
              <a:t>paraffin</a:t>
            </a:r>
            <a:r>
              <a:rPr lang="en-GB" dirty="0"/>
              <a:t>, </a:t>
            </a:r>
            <a:r>
              <a:rPr lang="en-GB" dirty="0">
                <a:solidFill>
                  <a:srgbClr val="FF0000"/>
                </a:solidFill>
              </a:rPr>
              <a:t>olefin</a:t>
            </a:r>
            <a:r>
              <a:rPr lang="en-GB" dirty="0"/>
              <a:t>, </a:t>
            </a:r>
            <a:r>
              <a:rPr lang="en-GB" dirty="0">
                <a:solidFill>
                  <a:srgbClr val="FF0000"/>
                </a:solidFill>
              </a:rPr>
              <a:t>naphten</a:t>
            </a:r>
            <a:r>
              <a:rPr lang="en-GB" dirty="0"/>
              <a:t> or </a:t>
            </a:r>
            <a:r>
              <a:rPr lang="en-GB" dirty="0" smtClean="0">
                <a:solidFill>
                  <a:srgbClr val="FF0000"/>
                </a:solidFill>
              </a:rPr>
              <a:t>asphalt</a:t>
            </a:r>
            <a:r>
              <a:rPr lang="en-GB" dirty="0" smtClean="0"/>
              <a:t>,</a:t>
            </a:r>
          </a:p>
          <a:p>
            <a:pPr>
              <a:lnSpc>
                <a:spcPct val="110000"/>
              </a:lnSpc>
            </a:pPr>
            <a:r>
              <a:rPr lang="en-GB" dirty="0" smtClean="0"/>
              <a:t>Their </a:t>
            </a:r>
            <a:r>
              <a:rPr lang="en-GB" dirty="0"/>
              <a:t>properties depend upon:</a:t>
            </a:r>
          </a:p>
          <a:p>
            <a:pPr marL="1087438" indent="-500063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GB" dirty="0" smtClean="0"/>
              <a:t>chemical </a:t>
            </a:r>
            <a:r>
              <a:rPr lang="en-GB" dirty="0"/>
              <a:t>composition (origin), and</a:t>
            </a:r>
          </a:p>
          <a:p>
            <a:pPr marL="1087438" indent="-500063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GB" dirty="0" smtClean="0"/>
              <a:t>type </a:t>
            </a:r>
            <a:r>
              <a:rPr lang="en-GB" dirty="0"/>
              <a:t>of raffination.</a:t>
            </a:r>
          </a:p>
          <a:p>
            <a:pPr>
              <a:lnSpc>
                <a:spcPct val="110000"/>
              </a:lnSpc>
            </a:pPr>
            <a:r>
              <a:rPr lang="en-GB" dirty="0" smtClean="0"/>
              <a:t>They </a:t>
            </a:r>
            <a:r>
              <a:rPr lang="en-GB" dirty="0"/>
              <a:t>give outstanding performance, long life, good lubricating</a:t>
            </a:r>
            <a:r>
              <a:rPr lang="en-GB" b="1" dirty="0"/>
              <a:t> </a:t>
            </a:r>
            <a:r>
              <a:rPr lang="en-GB" dirty="0"/>
              <a:t>characteristics, and</a:t>
            </a:r>
            <a:r>
              <a:rPr lang="en-GB" b="1" dirty="0"/>
              <a:t> </a:t>
            </a:r>
            <a:r>
              <a:rPr lang="en-GB" dirty="0"/>
              <a:t>protection against </a:t>
            </a:r>
            <a:r>
              <a:rPr lang="en-GB" dirty="0">
                <a:solidFill>
                  <a:schemeClr val="accent5"/>
                </a:solidFill>
              </a:rPr>
              <a:t>rust,</a:t>
            </a:r>
            <a:r>
              <a:rPr lang="en-GB" dirty="0"/>
              <a:t> </a:t>
            </a:r>
            <a:r>
              <a:rPr lang="en-GB" dirty="0">
                <a:solidFill>
                  <a:schemeClr val="accent5"/>
                </a:solidFill>
              </a:rPr>
              <a:t>oxidation</a:t>
            </a:r>
            <a:r>
              <a:rPr lang="en-GB" dirty="0"/>
              <a:t>, </a:t>
            </a:r>
            <a:r>
              <a:rPr lang="en-GB" dirty="0">
                <a:solidFill>
                  <a:schemeClr val="accent5"/>
                </a:solidFill>
              </a:rPr>
              <a:t>corrosion</a:t>
            </a:r>
            <a:r>
              <a:rPr lang="en-GB" dirty="0"/>
              <a:t>, </a:t>
            </a:r>
            <a:r>
              <a:rPr lang="en-GB" dirty="0">
                <a:solidFill>
                  <a:schemeClr val="accent5"/>
                </a:solidFill>
              </a:rPr>
              <a:t>sludge</a:t>
            </a:r>
            <a:r>
              <a:rPr lang="en-GB" b="1" dirty="0"/>
              <a:t>, </a:t>
            </a:r>
            <a:r>
              <a:rPr lang="en-GB" dirty="0"/>
              <a:t>and </a:t>
            </a:r>
            <a:r>
              <a:rPr lang="en-GB" dirty="0">
                <a:solidFill>
                  <a:schemeClr val="accent5"/>
                </a:solidFill>
              </a:rPr>
              <a:t>foam </a:t>
            </a:r>
            <a:r>
              <a:rPr lang="en-GB" dirty="0" smtClean="0">
                <a:solidFill>
                  <a:schemeClr val="accent5"/>
                </a:solidFill>
              </a:rPr>
              <a:t>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550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477816"/>
          </a:xfrm>
        </p:spPr>
        <p:txBody>
          <a:bodyPr>
            <a:normAutofit fontScale="90000"/>
          </a:bodyPr>
          <a:lstStyle/>
          <a:p>
            <a:r>
              <a:rPr lang="en-GB" dirty="0"/>
              <a:t>UNIT 4:  Classification of Hydraulic Fluids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31852"/>
            <a:ext cx="10515600" cy="4545111"/>
          </a:xfrm>
        </p:spPr>
        <p:txBody>
          <a:bodyPr>
            <a:normAutofit/>
          </a:bodyPr>
          <a:lstStyle/>
          <a:p>
            <a:pPr marL="0" indent="0">
              <a:spcBef>
                <a:spcPts val="1800"/>
              </a:spcBef>
              <a:buNone/>
            </a:pPr>
            <a:r>
              <a:rPr lang="en-GB" b="1" dirty="0" smtClean="0"/>
              <a:t>ISO Classification of Hydraulic Fluids (ISO 6743-4)</a:t>
            </a:r>
          </a:p>
          <a:p>
            <a:pPr>
              <a:spcBef>
                <a:spcPts val="1800"/>
              </a:spcBef>
            </a:pPr>
            <a:r>
              <a:rPr lang="en-GB" b="1" i="1" dirty="0"/>
              <a:t>Petroleum Based Hydraulic </a:t>
            </a:r>
            <a:r>
              <a:rPr lang="en-GB" b="1" i="1" dirty="0" smtClean="0"/>
              <a:t>Fluids</a:t>
            </a:r>
            <a:r>
              <a:rPr lang="en-GB" dirty="0" smtClean="0"/>
              <a:t> are categorized as:</a:t>
            </a:r>
          </a:p>
          <a:p>
            <a:pPr marL="1087438" indent="-642938">
              <a:spcBef>
                <a:spcPts val="1800"/>
              </a:spcBef>
              <a:buFont typeface="+mj-lt"/>
              <a:buAutoNum type="alphaLcPeriod"/>
            </a:pPr>
            <a:r>
              <a:rPr lang="en-GB" b="1" dirty="0" smtClean="0"/>
              <a:t>HH</a:t>
            </a:r>
            <a:r>
              <a:rPr lang="en-GB" dirty="0" smtClean="0"/>
              <a:t> </a:t>
            </a:r>
            <a:r>
              <a:rPr lang="en-GB" dirty="0"/>
              <a:t>hydraulic fluids do not have any </a:t>
            </a:r>
            <a:r>
              <a:rPr lang="en-GB" dirty="0" smtClean="0"/>
              <a:t>additives,</a:t>
            </a:r>
            <a:endParaRPr lang="en-GB" dirty="0"/>
          </a:p>
          <a:p>
            <a:pPr marL="1087438" indent="-642938">
              <a:spcBef>
                <a:spcPts val="1800"/>
              </a:spcBef>
              <a:buFont typeface="+mj-lt"/>
              <a:buAutoNum type="alphaLcPeriod"/>
            </a:pPr>
            <a:r>
              <a:rPr lang="en-GB" b="1" dirty="0"/>
              <a:t>HL</a:t>
            </a:r>
            <a:r>
              <a:rPr lang="en-GB" dirty="0"/>
              <a:t> type oils contain oxidation and rust inhibitors to protect equipment from chemical deterioration and water </a:t>
            </a:r>
            <a:r>
              <a:rPr lang="en-GB" dirty="0" smtClean="0"/>
              <a:t>contamination,</a:t>
            </a:r>
          </a:p>
          <a:p>
            <a:pPr marL="1087438" indent="-642938">
              <a:spcBef>
                <a:spcPts val="1800"/>
              </a:spcBef>
              <a:buFont typeface="+mj-lt"/>
              <a:buAutoNum type="alphaLcPeriod"/>
            </a:pPr>
            <a:r>
              <a:rPr lang="en-GB" b="1" dirty="0"/>
              <a:t>HM</a:t>
            </a:r>
            <a:r>
              <a:rPr lang="en-GB" dirty="0"/>
              <a:t> are a version of HL-type fluids with improved anti-wear </a:t>
            </a:r>
            <a:r>
              <a:rPr lang="en-GB" dirty="0" smtClean="0"/>
              <a:t>additives and </a:t>
            </a:r>
            <a:r>
              <a:rPr lang="en-GB" dirty="0"/>
              <a:t>improved high-pressure </a:t>
            </a:r>
            <a:r>
              <a:rPr lang="en-GB" dirty="0" smtClean="0"/>
              <a:t>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1444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645108"/>
          </a:xfrm>
        </p:spPr>
        <p:txBody>
          <a:bodyPr>
            <a:normAutofit/>
          </a:bodyPr>
          <a:lstStyle/>
          <a:p>
            <a:r>
              <a:rPr lang="en-GB" dirty="0"/>
              <a:t>UNIT 4</a:t>
            </a:r>
            <a:r>
              <a:rPr lang="en-GB" dirty="0" smtClean="0"/>
              <a:t>: </a:t>
            </a:r>
            <a:r>
              <a:rPr lang="en-GB" dirty="0"/>
              <a:t>Classification of Hydraulic Fluids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52627"/>
            <a:ext cx="10515600" cy="1639213"/>
          </a:xfrm>
        </p:spPr>
        <p:txBody>
          <a:bodyPr/>
          <a:lstStyle/>
          <a:p>
            <a:pPr marL="0" lvl="0" indent="0">
              <a:buNone/>
            </a:pPr>
            <a:r>
              <a:rPr lang="en-GB" sz="2600" b="1" i="1" dirty="0" smtClean="0">
                <a:solidFill>
                  <a:prstClr val="black"/>
                </a:solidFill>
              </a:rPr>
              <a:t>ISO-VG (ISO Viscosity Grades)</a:t>
            </a:r>
            <a:endParaRPr lang="en-GB" sz="2600" dirty="0">
              <a:solidFill>
                <a:prstClr val="black"/>
              </a:solidFill>
            </a:endParaRPr>
          </a:p>
          <a:p>
            <a:pPr marL="715963" indent="-514350" fontAlgn="base" hangingPunct="0">
              <a:lnSpc>
                <a:spcPct val="110000"/>
              </a:lnSpc>
              <a:spcBef>
                <a:spcPts val="1800"/>
              </a:spcBef>
              <a:tabLst>
                <a:tab pos="2057400" algn="l"/>
              </a:tabLst>
            </a:pPr>
            <a:r>
              <a:rPr lang="en-GB" dirty="0" smtClean="0"/>
              <a:t>ISO </a:t>
            </a:r>
            <a:r>
              <a:rPr lang="en-GB" dirty="0"/>
              <a:t>viscosity grades classify hydraulic fluids based upon their </a:t>
            </a:r>
            <a:r>
              <a:rPr lang="en-GB" b="1" i="1" dirty="0"/>
              <a:t>kinematic viscosity</a:t>
            </a:r>
            <a:r>
              <a:rPr lang="en-GB" dirty="0"/>
              <a:t> at 40</a:t>
            </a:r>
            <a:r>
              <a:rPr lang="en-GB" baseline="30000" dirty="0"/>
              <a:t>O</a:t>
            </a:r>
            <a:r>
              <a:rPr lang="en-GB" dirty="0"/>
              <a:t>C</a:t>
            </a:r>
            <a:r>
              <a:rPr lang="en-GB" sz="2400" dirty="0"/>
              <a:t>. </a:t>
            </a:r>
            <a:endParaRPr lang="en-GB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30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5519" y="3291817"/>
            <a:ext cx="7884000" cy="31047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1278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800" y="711200"/>
            <a:ext cx="10464800" cy="702908"/>
          </a:xfrm>
        </p:spPr>
        <p:txBody>
          <a:bodyPr>
            <a:normAutofit/>
          </a:bodyPr>
          <a:lstStyle/>
          <a:p>
            <a:r>
              <a:rPr lang="en-GB" dirty="0"/>
              <a:t>UNIT 4 : Classification of Hydraulic Fluids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3025"/>
            <a:ext cx="10820400" cy="556113"/>
          </a:xfrm>
        </p:spPr>
        <p:txBody>
          <a:bodyPr>
            <a:normAutofit/>
          </a:bodyPr>
          <a:lstStyle/>
          <a:p>
            <a:pPr marL="711200" lvl="0" indent="-457200">
              <a:buFont typeface="Wingdings" panose="05000000000000000000" pitchFamily="2" charset="2"/>
              <a:buChar char="v"/>
            </a:pPr>
            <a:r>
              <a:rPr lang="en-GB" dirty="0" smtClean="0"/>
              <a:t>Viscosity-temperature diagram</a:t>
            </a:r>
            <a:r>
              <a:rPr lang="en-GB" dirty="0" smtClean="0">
                <a:solidFill>
                  <a:prstClr val="black"/>
                </a:solidFill>
              </a:rPr>
              <a:t>,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31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113" y="2027262"/>
            <a:ext cx="4500000" cy="4555820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3826413" y="3530988"/>
            <a:ext cx="827258" cy="0"/>
          </a:xfrm>
          <a:prstGeom prst="straightConnector1">
            <a:avLst/>
          </a:prstGeom>
          <a:ln w="19050">
            <a:solidFill>
              <a:srgbClr val="FF00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908475" y="4344572"/>
            <a:ext cx="827258" cy="0"/>
          </a:xfrm>
          <a:prstGeom prst="straightConnector1">
            <a:avLst/>
          </a:prstGeom>
          <a:ln w="19050">
            <a:solidFill>
              <a:srgbClr val="FF00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721970" y="3446579"/>
            <a:ext cx="239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rgbClr val="FF0000"/>
                </a:solidFill>
              </a:rPr>
              <a:t>Recommended Temp. Range</a:t>
            </a:r>
            <a:endParaRPr lang="en-GB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616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4 : Classification of Hydraulic Fluids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09083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GB" b="1" i="1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Viscosity:  (ISO-VG</a:t>
            </a:r>
            <a:r>
              <a:rPr lang="en-GB" b="1" i="1" dirty="0">
                <a:solidFill>
                  <a:prstClr val="black"/>
                </a:solidFill>
              </a:rPr>
              <a:t>)</a:t>
            </a:r>
            <a:endParaRPr lang="en-GB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717550" lvl="0" indent="-266700" algn="just">
              <a:lnSpc>
                <a:spcPct val="120000"/>
              </a:lnSpc>
              <a:spcAft>
                <a:spcPts val="600"/>
              </a:spcAft>
            </a:pPr>
            <a:r>
              <a:rPr lang="en-GB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Specification of </a:t>
            </a:r>
            <a:r>
              <a:rPr lang="en-GB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ISO-VG46</a:t>
            </a:r>
            <a:r>
              <a:rPr lang="en-GB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implies </a:t>
            </a:r>
            <a:r>
              <a:rPr lang="en-GB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it is an </a:t>
            </a:r>
            <a:r>
              <a:rPr lang="en-GB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oil of the viscosity class 46</a:t>
            </a:r>
            <a:endParaRPr lang="en-GB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717550" lvl="0" indent="-266700" algn="just">
              <a:lnSpc>
                <a:spcPct val="120000"/>
              </a:lnSpc>
            </a:pPr>
            <a:r>
              <a:rPr lang="en-GB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Question:</a:t>
            </a:r>
            <a:r>
              <a:rPr lang="en-GB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GB" dirty="0" smtClean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00225" lvl="0" indent="0" algn="just">
              <a:lnSpc>
                <a:spcPct val="120000"/>
              </a:lnSpc>
              <a:buNone/>
            </a:pPr>
            <a:r>
              <a:rPr lang="en-GB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Oil with specification ISO-VG100 has a density of 900kg/m</a:t>
            </a:r>
            <a:r>
              <a:rPr lang="en-GB" baseline="30000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GB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What is the dynamic viscosity (η)?</a:t>
            </a:r>
            <a:endParaRPr lang="en-GB" dirty="0" smtClean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717550" lvl="0" indent="0" algn="just">
              <a:lnSpc>
                <a:spcPct val="120000"/>
              </a:lnSpc>
              <a:buNone/>
              <a:tabLst>
                <a:tab pos="1260475" algn="l"/>
              </a:tabLst>
            </a:pPr>
            <a:r>
              <a:rPr lang="en-GB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Answer</a:t>
            </a:r>
            <a:r>
              <a:rPr lang="en-GB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endParaRPr lang="en-GB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900113" lvl="0" indent="0" algn="just">
              <a:lnSpc>
                <a:spcPct val="120000"/>
              </a:lnSpc>
              <a:spcAft>
                <a:spcPts val="600"/>
              </a:spcAft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32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13206" y="5038812"/>
                <a:ext cx="128156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𝜂</m:t>
                      </m:r>
                      <m:r>
                        <a:rPr lang="en-GB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en-GB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𝜈</m:t>
                      </m:r>
                      <m:r>
                        <a:rPr lang="en-GB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.</m:t>
                      </m:r>
                      <m:r>
                        <a:rPr lang="en-GB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𝜌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206" y="5038812"/>
                <a:ext cx="1281569" cy="461665"/>
              </a:xfrm>
              <a:prstGeom prst="rect">
                <a:avLst/>
              </a:prstGeom>
              <a:blipFill rotWithShape="0">
                <a:blip r:embed="rId2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931159" y="4804805"/>
                <a:ext cx="3164841" cy="9296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100</m:t>
                          </m:r>
                          <m:f>
                            <m:fPr>
                              <m:ctrlP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𝑚𝑚</m:t>
                                  </m:r>
                                </m:e>
                                <m:sup>
                                  <m: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𝑠</m:t>
                              </m:r>
                            </m:den>
                          </m:f>
                        </m:e>
                      </m:d>
                      <m:r>
                        <a:rPr lang="en-GB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900</m:t>
                      </m:r>
                      <m:f>
                        <m:fPr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𝑘𝑔</m:t>
                          </m:r>
                        </m:num>
                        <m:den>
                          <m:sSup>
                            <m:sSupPr>
                              <m:ctrlP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1159" y="4804805"/>
                <a:ext cx="3164841" cy="92967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925107" y="4804805"/>
                <a:ext cx="1798056" cy="783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=0.09</m:t>
                      </m:r>
                      <m:f>
                        <m:fPr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𝑁</m:t>
                          </m:r>
                        </m:num>
                        <m:den>
                          <m:sSup>
                            <m:sSupPr>
                              <m:ctrlP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𝑠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5107" y="4804805"/>
                <a:ext cx="1798056" cy="78380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555567" y="4976813"/>
                <a:ext cx="254153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=90 </m:t>
                    </m:r>
                    <m:r>
                      <a:rPr lang="en-GB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𝑚𝑃𝑎𝑠</m:t>
                    </m:r>
                  </m:oMath>
                </a14:m>
                <a:r>
                  <a:rPr lang="en-GB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567" y="4976813"/>
                <a:ext cx="2541530" cy="461665"/>
              </a:xfrm>
              <a:prstGeom prst="rect">
                <a:avLst/>
              </a:prstGeom>
              <a:blipFill rotWithShape="0">
                <a:blip r:embed="rId5"/>
                <a:stretch>
                  <a:fillRect t="-11842" b="-276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6273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4 : Classification of Hydraulic Fluids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b="1" i="1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SAE </a:t>
            </a:r>
            <a:r>
              <a:rPr lang="en-GB" b="1" i="1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Viscosity </a:t>
            </a:r>
            <a:r>
              <a:rPr lang="en-GB" b="1" i="1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Grade</a:t>
            </a:r>
            <a:endParaRPr lang="en-GB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1066800" lvl="1" indent="-609600">
              <a:spcBef>
                <a:spcPts val="18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GB" sz="2800" dirty="0">
                <a:solidFill>
                  <a:prstClr val="black"/>
                </a:solidFill>
              </a:rPr>
              <a:t>SAE VG </a:t>
            </a:r>
            <a:r>
              <a:rPr lang="en-GB" sz="2800" dirty="0" smtClean="0">
                <a:solidFill>
                  <a:prstClr val="black"/>
                </a:solidFill>
              </a:rPr>
              <a:t>gives </a:t>
            </a:r>
            <a:r>
              <a:rPr lang="en-GB" sz="2800" dirty="0">
                <a:solidFill>
                  <a:prstClr val="black"/>
                </a:solidFill>
              </a:rPr>
              <a:t>no indication of quality and suitability of oil for a given application</a:t>
            </a:r>
            <a:r>
              <a:rPr lang="en-GB" dirty="0">
                <a:solidFill>
                  <a:prstClr val="black"/>
                </a:solidFill>
              </a:rPr>
              <a:t>.</a:t>
            </a:r>
          </a:p>
          <a:p>
            <a:pPr marL="1066800" lvl="1" indent="-609600">
              <a:spcBef>
                <a:spcPts val="18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GB" sz="2800" dirty="0">
                <a:solidFill>
                  <a:prstClr val="black"/>
                </a:solidFill>
              </a:rPr>
              <a:t>According to SAE, there are two basic types of oil: </a:t>
            </a:r>
          </a:p>
          <a:p>
            <a:pPr marL="1701800" lvl="1">
              <a:spcBef>
                <a:spcPts val="1800"/>
              </a:spcBef>
              <a:spcAft>
                <a:spcPts val="1200"/>
              </a:spcAft>
            </a:pPr>
            <a:r>
              <a:rPr lang="en-US" sz="2800" dirty="0">
                <a:solidFill>
                  <a:prstClr val="black"/>
                </a:solidFill>
              </a:rPr>
              <a:t>Single grade</a:t>
            </a:r>
          </a:p>
          <a:p>
            <a:pPr marL="1701800" lvl="1">
              <a:spcBef>
                <a:spcPts val="1800"/>
              </a:spcBef>
              <a:spcAft>
                <a:spcPts val="1200"/>
              </a:spcAft>
            </a:pPr>
            <a:r>
              <a:rPr lang="en-US" sz="2800" dirty="0" smtClean="0">
                <a:solidFill>
                  <a:prstClr val="black"/>
                </a:solidFill>
              </a:rPr>
              <a:t>Multi-grade</a:t>
            </a:r>
            <a:endParaRPr lang="en-GB" sz="2800" dirty="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1144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4 : Classification of Hydraulic Fluids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b="1" i="1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SAE </a:t>
                </a:r>
                <a:r>
                  <a:rPr lang="en-GB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Viscosity </a:t>
                </a:r>
                <a:r>
                  <a:rPr lang="en-GB" b="1" i="1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Grade</a:t>
                </a:r>
                <a:endParaRPr lang="en-GB" dirty="0">
                  <a:solidFill>
                    <a:prstClr val="black"/>
                  </a:solidFill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marL="711200" lvl="0" indent="0">
                  <a:lnSpc>
                    <a:spcPct val="110000"/>
                  </a:lnSpc>
                  <a:spcBef>
                    <a:spcPts val="1800"/>
                  </a:spcBef>
                  <a:buNone/>
                </a:pPr>
                <a:r>
                  <a:rPr lang="en-US" dirty="0">
                    <a:solidFill>
                      <a:prstClr val="black"/>
                    </a:solidFill>
                  </a:rPr>
                  <a:t>Multi-Grade:</a:t>
                </a:r>
              </a:p>
              <a:p>
                <a:pPr marL="1219200" lvl="0" indent="-457200">
                  <a:lnSpc>
                    <a:spcPct val="110000"/>
                  </a:lnSpc>
                  <a:spcBef>
                    <a:spcPts val="1800"/>
                  </a:spcBef>
                </a:pPr>
                <a:r>
                  <a:rPr lang="en-GB" dirty="0">
                    <a:solidFill>
                      <a:prstClr val="black"/>
                    </a:solidFill>
                  </a:rPr>
                  <a:t>Multi-grade oils have a flat viscosity-temperature curve,</a:t>
                </a:r>
              </a:p>
              <a:p>
                <a:pPr marL="1219200" lvl="0" indent="-457200">
                  <a:lnSpc>
                    <a:spcPct val="110000"/>
                  </a:lnSpc>
                  <a:spcBef>
                    <a:spcPts val="1800"/>
                  </a:spcBef>
                </a:pPr>
                <a:r>
                  <a:rPr lang="en-GB" dirty="0">
                    <a:solidFill>
                      <a:prstClr val="black"/>
                    </a:solidFill>
                  </a:rPr>
                  <a:t>Multi-grade oil designations consist of dynamic viscosity,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dirty="0">
                    <a:solidFill>
                      <a:prstClr val="black"/>
                    </a:solidFill>
                  </a:rPr>
                  <a:t> at -18°C and kinematic viscosity,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dirty="0">
                    <a:solidFill>
                      <a:prstClr val="black"/>
                    </a:solidFill>
                  </a:rPr>
                  <a:t> at 100°C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388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37476"/>
            <a:ext cx="10515600" cy="634124"/>
          </a:xfrm>
        </p:spPr>
        <p:txBody>
          <a:bodyPr/>
          <a:lstStyle/>
          <a:p>
            <a:r>
              <a:rPr lang="en-GB" dirty="0"/>
              <a:t>UNIT 4 : Classification of Hydraulic Fluids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71601"/>
                <a:ext cx="10515600" cy="1456005"/>
              </a:xfrm>
            </p:spPr>
            <p:txBody>
              <a:bodyPr>
                <a:normAutofit fontScale="77500" lnSpcReduction="20000"/>
              </a:bodyPr>
              <a:lstStyle/>
              <a:p>
                <a:pPr marL="182563" lvl="0" indent="-19050">
                  <a:buNone/>
                </a:pPr>
                <a:r>
                  <a:rPr lang="en-GB" sz="3100" dirty="0" smtClean="0">
                    <a:solidFill>
                      <a:prstClr val="black"/>
                    </a:solidFill>
                  </a:rPr>
                  <a:t>Example:</a:t>
                </a:r>
                <a:r>
                  <a:rPr lang="en-GB" sz="3100" b="1" dirty="0" smtClean="0">
                    <a:solidFill>
                      <a:prstClr val="black"/>
                    </a:solidFill>
                  </a:rPr>
                  <a:t>   SAE 10W-30</a:t>
                </a:r>
              </a:p>
              <a:p>
                <a:pPr marL="803275" lvl="0" indent="-457200"/>
                <a:r>
                  <a:rPr lang="en-GB" dirty="0" smtClean="0">
                    <a:solidFill>
                      <a:prstClr val="black"/>
                    </a:solidFill>
                  </a:rPr>
                  <a:t>Has </a:t>
                </a:r>
                <a:r>
                  <a:rPr lang="en-GB" dirty="0">
                    <a:solidFill>
                      <a:prstClr val="black"/>
                    </a:solidFill>
                  </a:rPr>
                  <a:t>an apparent dynamic viscosity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GB" dirty="0">
                    <a:solidFill>
                      <a:prstClr val="black"/>
                    </a:solidFill>
                  </a:rPr>
                  <a:t> of 1500mPa.s at -18°C (SAE 10W), </a:t>
                </a:r>
                <a:endParaRPr lang="en-GB" dirty="0" smtClean="0">
                  <a:solidFill>
                    <a:prstClr val="black"/>
                  </a:solidFill>
                </a:endParaRPr>
              </a:p>
              <a:p>
                <a:pPr marL="803275" lvl="0" indent="-457200"/>
                <a:r>
                  <a:rPr lang="en-GB" dirty="0" smtClean="0">
                    <a:solidFill>
                      <a:prstClr val="black"/>
                    </a:solidFill>
                  </a:rPr>
                  <a:t>Has </a:t>
                </a:r>
                <a:r>
                  <a:rPr lang="en-GB" dirty="0">
                    <a:solidFill>
                      <a:prstClr val="black"/>
                    </a:solidFill>
                  </a:rPr>
                  <a:t>a kinematic viscosity of 10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𝑚𝑚</m:t>
                            </m:r>
                          </m:e>
                          <m:sup>
                            <m:r>
                              <a:rPr lang="en-GB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GB" dirty="0">
                    <a:solidFill>
                      <a:prstClr val="black"/>
                    </a:solidFill>
                  </a:rPr>
                  <a:t> at 100°C (SAE30</a:t>
                </a:r>
                <a:r>
                  <a:rPr lang="en-GB" dirty="0" smtClean="0">
                    <a:solidFill>
                      <a:prstClr val="black"/>
                    </a:solidFill>
                  </a:rPr>
                  <a:t>).</a:t>
                </a:r>
              </a:p>
              <a:p>
                <a:pPr marL="803275" lvl="0" indent="-457200"/>
                <a:r>
                  <a:rPr lang="en-GB" dirty="0" smtClean="0">
                    <a:solidFill>
                      <a:prstClr val="black"/>
                    </a:solidFill>
                  </a:rPr>
                  <a:t>It overlaps </a:t>
                </a:r>
                <a:r>
                  <a:rPr lang="en-GB" dirty="0">
                    <a:solidFill>
                      <a:prstClr val="black"/>
                    </a:solidFill>
                  </a:rPr>
                  <a:t>three viscosity </a:t>
                </a:r>
                <a:r>
                  <a:rPr lang="en-GB" dirty="0" smtClean="0">
                    <a:solidFill>
                      <a:prstClr val="black"/>
                    </a:solidFill>
                  </a:rPr>
                  <a:t>grades.</a:t>
                </a:r>
                <a:endParaRPr lang="en-GB" dirty="0">
                  <a:solidFill>
                    <a:prstClr val="black"/>
                  </a:solidFill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71601"/>
                <a:ext cx="10515600" cy="1456005"/>
              </a:xfrm>
              <a:blipFill rotWithShape="0">
                <a:blip r:embed="rId2"/>
                <a:stretch>
                  <a:fillRect t="-10460" r="-1391" b="-297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35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9562136"/>
                  </p:ext>
                </p:extLst>
              </p:nvPr>
            </p:nvGraphicFramePr>
            <p:xfrm>
              <a:off x="1269999" y="3048000"/>
              <a:ext cx="9398001" cy="3371215"/>
            </p:xfrm>
            <a:graphic>
              <a:graphicData uri="http://schemas.openxmlformats.org/drawingml/2006/table">
                <a:tbl>
                  <a:tblPr/>
                  <a:tblGrid>
                    <a:gridCol w="1625601"/>
                    <a:gridCol w="3810000"/>
                    <a:gridCol w="2717800"/>
                    <a:gridCol w="1244600"/>
                  </a:tblGrid>
                  <a:tr h="54800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SAE Viscosity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  <a:p>
                          <a:pPr algn="ctr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Grade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7874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Apparent viscosity η at -18</a:t>
                          </a:r>
                          <a:r>
                            <a:rPr lang="en-GB" sz="1600" baseline="300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°</a:t>
                          </a: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C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  <a:p>
                          <a:pPr algn="ctr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as per DIN 51377 (mPa.s)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marL="78740" algn="ctr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Kinematic viscosity at 100</a:t>
                          </a:r>
                          <a:r>
                            <a:rPr lang="en-GB" sz="1600" baseline="30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°</a:t>
                          </a:r>
                          <a:r>
                            <a:rPr lang="en-GB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C as per DIN 51550 (mm</a:t>
                          </a:r>
                          <a:r>
                            <a:rPr lang="en-GB" sz="1600" baseline="30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2</a:t>
                          </a:r>
                          <a:r>
                            <a:rPr lang="en-GB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/s)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</a:tr>
                  <a:tr h="2228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GB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Min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Max.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11150">
                    <a:tc>
                      <a:txBody>
                        <a:bodyPr/>
                        <a:lstStyle/>
                        <a:p>
                          <a:pPr marL="18034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5W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96215" marR="9017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...............1250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9875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  <a:tabLst>
                              <a:tab pos="269875" algn="l"/>
                            </a:tabLs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3.8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7874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13690">
                    <a:tc>
                      <a:txBody>
                        <a:bodyPr/>
                        <a:lstStyle/>
                        <a:p>
                          <a:pPr marL="18034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10W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96215" marR="9017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1250..........2500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9875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  <a:tabLst>
                              <a:tab pos="269875" algn="l"/>
                            </a:tabLs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4.1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9875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26390">
                    <a:tc>
                      <a:txBody>
                        <a:bodyPr/>
                        <a:lstStyle/>
                        <a:p>
                          <a:pPr marL="18034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15W,'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96215" marR="9017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2500..........5000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9875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  <a:tabLst>
                              <a:tab pos="269875" algn="l"/>
                            </a:tabLs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5.6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9875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16865">
                    <a:tc>
                      <a:txBody>
                        <a:bodyPr/>
                        <a:lstStyle/>
                        <a:p>
                          <a:pPr marL="18034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20W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96215" marR="9017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5000 ........10000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9875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  <a:tabLst>
                              <a:tab pos="269875" algn="l"/>
                            </a:tabLs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5.6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9875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11150">
                    <a:tc>
                      <a:txBody>
                        <a:bodyPr/>
                        <a:lstStyle/>
                        <a:p>
                          <a:pPr marL="18034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20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96215" marR="9017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9875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  <a:tabLst>
                              <a:tab pos="269875" algn="l"/>
                            </a:tabLs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5.6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9875" marR="269875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≤9.3</m:t>
                                </m:r>
                              </m:oMath>
                            </m:oMathPara>
                          </a14:m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28930">
                    <a:tc>
                      <a:txBody>
                        <a:bodyPr/>
                        <a:lstStyle/>
                        <a:p>
                          <a:pPr marL="18034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30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96215" marR="9017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9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69875" algn="ctr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GB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12.5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marL="18034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40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96215" marR="9017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89535" algn="ctr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12.6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69875" algn="ctr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GB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16.3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15900">
                    <a:tc>
                      <a:txBody>
                        <a:bodyPr/>
                        <a:lstStyle/>
                        <a:p>
                          <a:pPr marL="18034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50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96215" marR="9017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16.3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69875" algn="ctr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GB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en-GB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21.9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3084008"/>
                  </p:ext>
                </p:extLst>
              </p:nvPr>
            </p:nvGraphicFramePr>
            <p:xfrm>
              <a:off x="1269999" y="3048000"/>
              <a:ext cx="9398001" cy="3371215"/>
            </p:xfrm>
            <a:graphic>
              <a:graphicData uri="http://schemas.openxmlformats.org/drawingml/2006/table">
                <a:tbl>
                  <a:tblPr/>
                  <a:tblGrid>
                    <a:gridCol w="1625601"/>
                    <a:gridCol w="3810000"/>
                    <a:gridCol w="2717800"/>
                    <a:gridCol w="1244600"/>
                  </a:tblGrid>
                  <a:tr h="58521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SAE Viscosity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  <a:p>
                          <a:pPr algn="ctr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Grade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7874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Apparent viscosity η at -18</a:t>
                          </a:r>
                          <a:r>
                            <a:rPr lang="en-GB" sz="1600" baseline="300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°</a:t>
                          </a: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C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  <a:p>
                          <a:pPr algn="ctr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as per DIN 51377 (mPa.s)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marL="78740" algn="ctr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Kinematic viscosity at 100</a:t>
                          </a:r>
                          <a:r>
                            <a:rPr lang="en-GB" sz="1600" baseline="30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°</a:t>
                          </a:r>
                          <a:r>
                            <a:rPr lang="en-GB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C as per DIN 51550 (mm</a:t>
                          </a:r>
                          <a:r>
                            <a:rPr lang="en-GB" sz="1600" baseline="30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2</a:t>
                          </a:r>
                          <a:r>
                            <a:rPr lang="en-GB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/s)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</a:tr>
                  <a:tr h="29260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GB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Min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Max.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11150">
                    <a:tc>
                      <a:txBody>
                        <a:bodyPr/>
                        <a:lstStyle/>
                        <a:p>
                          <a:pPr marL="18034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5W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96215" marR="9017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...............1250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9875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  <a:tabLst>
                              <a:tab pos="269875" algn="l"/>
                            </a:tabLs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3.8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7874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13690">
                    <a:tc>
                      <a:txBody>
                        <a:bodyPr/>
                        <a:lstStyle/>
                        <a:p>
                          <a:pPr marL="18034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10W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96215" marR="9017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1250..........2500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9875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  <a:tabLst>
                              <a:tab pos="269875" algn="l"/>
                            </a:tabLs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4.1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9875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26390">
                    <a:tc>
                      <a:txBody>
                        <a:bodyPr/>
                        <a:lstStyle/>
                        <a:p>
                          <a:pPr marL="18034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15W,'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96215" marR="9017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2500..........5000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9875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  <a:tabLst>
                              <a:tab pos="269875" algn="l"/>
                            </a:tabLs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5.6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9875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16865">
                    <a:tc>
                      <a:txBody>
                        <a:bodyPr/>
                        <a:lstStyle/>
                        <a:p>
                          <a:pPr marL="18034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20W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96215" marR="9017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5000 ........10000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9875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  <a:tabLst>
                              <a:tab pos="269875" algn="l"/>
                            </a:tabLs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5.6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9875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11150">
                    <a:tc>
                      <a:txBody>
                        <a:bodyPr/>
                        <a:lstStyle/>
                        <a:p>
                          <a:pPr marL="18034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20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96215" marR="9017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9875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  <a:tabLst>
                              <a:tab pos="269875" algn="l"/>
                            </a:tabLs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5.6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656373" t="-703922" r="-1471" b="-325490"/>
                          </a:stretch>
                        </a:blipFill>
                      </a:tcPr>
                    </a:tc>
                  </a:tr>
                  <a:tr h="328930">
                    <a:tc>
                      <a:txBody>
                        <a:bodyPr/>
                        <a:lstStyle/>
                        <a:p>
                          <a:pPr marL="18034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30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96215" marR="9017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9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656373" t="-759259" r="-1471" b="-207407"/>
                          </a:stretch>
                        </a:blipFill>
                      </a:tcPr>
                    </a:tc>
                  </a:tr>
                  <a:tr h="292608">
                    <a:tc>
                      <a:txBody>
                        <a:bodyPr/>
                        <a:lstStyle/>
                        <a:p>
                          <a:pPr marL="18034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40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96215" marR="9017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89535" algn="ctr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12.6</a:t>
                          </a:r>
                          <a:endParaRPr lang="en-GB" sz="16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656373" t="-966667" r="-1471" b="-133333"/>
                          </a:stretch>
                        </a:blipFill>
                      </a:tcPr>
                    </a:tc>
                  </a:tr>
                  <a:tr h="292608">
                    <a:tc>
                      <a:txBody>
                        <a:bodyPr/>
                        <a:lstStyle/>
                        <a:p>
                          <a:pPr marL="18034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50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96215" marR="90170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16.3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656373" t="-1066667" r="-1471" b="-3333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36696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UNIT 4:  </a:t>
            </a:r>
            <a:r>
              <a:rPr lang="en-GB" dirty="0" smtClean="0"/>
              <a:t>Additives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125" lvl="0" indent="-365125"/>
            <a:r>
              <a:rPr lang="en-US" dirty="0" smtClean="0">
                <a:solidFill>
                  <a:prstClr val="black"/>
                </a:solidFill>
              </a:rPr>
              <a:t>Improve the properties of mineral oils based hydraulic fluids,</a:t>
            </a:r>
            <a:endParaRPr lang="en-US" b="1" dirty="0">
              <a:solidFill>
                <a:prstClr val="black"/>
              </a:solidFill>
            </a:endParaRPr>
          </a:p>
          <a:p>
            <a:pPr marL="365125" lvl="0" indent="-365125"/>
            <a:r>
              <a:rPr lang="en-US" dirty="0" smtClean="0">
                <a:solidFill>
                  <a:prstClr val="black"/>
                </a:solidFill>
              </a:rPr>
              <a:t>Types of additives:</a:t>
            </a:r>
            <a:endParaRPr lang="en-US" dirty="0">
              <a:solidFill>
                <a:prstClr val="black"/>
              </a:solidFill>
            </a:endParaRPr>
          </a:p>
          <a:p>
            <a:pPr marL="1976438" lvl="0" indent="-515938" algn="just" fontAlgn="base" hangingPunct="0">
              <a:lnSpc>
                <a:spcPct val="120000"/>
              </a:lnSpc>
              <a:buFont typeface="+mj-lt"/>
              <a:buAutoNum type="alphaLcPeriod"/>
            </a:pPr>
            <a:r>
              <a:rPr lang="en-GB" dirty="0">
                <a:solidFill>
                  <a:prstClr val="black"/>
                </a:solidFill>
                <a:ea typeface="Times New Roman" panose="02020603050405020304" pitchFamily="18" charset="0"/>
              </a:rPr>
              <a:t>viscosity index improver (VI),</a:t>
            </a:r>
            <a:endParaRPr lang="en-GB" dirty="0">
              <a:solidFill>
                <a:prstClr val="black"/>
              </a:solidFill>
            </a:endParaRPr>
          </a:p>
          <a:p>
            <a:pPr marL="1976438" lvl="0" indent="-515938" algn="just" fontAlgn="base" hangingPunct="0">
              <a:lnSpc>
                <a:spcPct val="120000"/>
              </a:lnSpc>
              <a:buFont typeface="+mj-lt"/>
              <a:buAutoNum type="alphaLcPeriod"/>
            </a:pPr>
            <a:r>
              <a:rPr lang="en-GB" dirty="0">
                <a:solidFill>
                  <a:prstClr val="black"/>
                </a:solidFill>
                <a:ea typeface="Times New Roman" panose="02020603050405020304" pitchFamily="18" charset="0"/>
              </a:rPr>
              <a:t>oxidation and corrosion inhibitors,</a:t>
            </a:r>
            <a:endParaRPr lang="en-GB" dirty="0">
              <a:solidFill>
                <a:prstClr val="black"/>
              </a:solidFill>
            </a:endParaRPr>
          </a:p>
          <a:p>
            <a:pPr marL="1976438" lvl="0" indent="-515938" algn="just" fontAlgn="base" hangingPunct="0">
              <a:lnSpc>
                <a:spcPct val="120000"/>
              </a:lnSpc>
              <a:buFont typeface="+mj-lt"/>
              <a:buAutoNum type="alphaLcPeriod"/>
            </a:pPr>
            <a:r>
              <a:rPr lang="en-GB" dirty="0">
                <a:solidFill>
                  <a:prstClr val="black"/>
                </a:solidFill>
                <a:ea typeface="Times New Roman" panose="02020603050405020304" pitchFamily="18" charset="0"/>
              </a:rPr>
              <a:t>high-pressure additives (EP), and</a:t>
            </a:r>
            <a:endParaRPr lang="en-GB" dirty="0">
              <a:solidFill>
                <a:prstClr val="black"/>
              </a:solidFill>
            </a:endParaRPr>
          </a:p>
          <a:p>
            <a:pPr marL="1976438" lvl="0" indent="-515938" algn="just" fontAlgn="base" hangingPunct="0">
              <a:lnSpc>
                <a:spcPct val="120000"/>
              </a:lnSpc>
              <a:spcAft>
                <a:spcPts val="600"/>
              </a:spcAft>
              <a:buFont typeface="+mj-lt"/>
              <a:buAutoNum type="alphaLcPeriod"/>
            </a:pPr>
            <a:r>
              <a:rPr lang="en-GB" dirty="0">
                <a:solidFill>
                  <a:prstClr val="black"/>
                </a:solidFill>
                <a:ea typeface="Times New Roman" panose="02020603050405020304" pitchFamily="18" charset="0"/>
              </a:rPr>
              <a:t>detergents and dispersants</a:t>
            </a:r>
            <a:endParaRPr lang="en-GB" dirty="0">
              <a:solidFill>
                <a:prstClr val="black"/>
              </a:solidFill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6964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UNIT 4:  </a:t>
            </a:r>
            <a:r>
              <a:rPr lang="en-GB" dirty="0" smtClean="0"/>
              <a:t>Additives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8000" lvl="0" indent="-457200">
              <a:spcAft>
                <a:spcPts val="1200"/>
              </a:spcAft>
            </a:pPr>
            <a:r>
              <a:rPr lang="en-US" dirty="0">
                <a:solidFill>
                  <a:prstClr val="black"/>
                </a:solidFill>
              </a:rPr>
              <a:t>Properties of Fluid improved by additives:</a:t>
            </a:r>
            <a:endParaRPr lang="en-GB" dirty="0">
              <a:solidFill>
                <a:prstClr val="black"/>
              </a:solidFill>
            </a:endParaRPr>
          </a:p>
          <a:p>
            <a:pPr marL="1082675" lvl="1" indent="-442913" algn="just" fontAlgn="base" hangingPunct="0">
              <a:lnSpc>
                <a:spcPct val="120000"/>
              </a:lnSpc>
              <a:buFont typeface="Wingdings" panose="05000000000000000000" pitchFamily="2" charset="2"/>
              <a:buChar char=""/>
            </a:pPr>
            <a:r>
              <a:rPr lang="en-GB" dirty="0" smtClean="0">
                <a:solidFill>
                  <a:prstClr val="black"/>
                </a:solidFill>
                <a:ea typeface="Times New Roman" panose="02020603050405020304" pitchFamily="18" charset="0"/>
              </a:rPr>
              <a:t>viscosity-temperature </a:t>
            </a:r>
            <a:r>
              <a:rPr lang="en-GB" dirty="0">
                <a:solidFill>
                  <a:prstClr val="black"/>
                </a:solidFill>
                <a:ea typeface="Times New Roman" panose="02020603050405020304" pitchFamily="18" charset="0"/>
              </a:rPr>
              <a:t>relationship,</a:t>
            </a:r>
            <a:endParaRPr lang="en-GB" dirty="0">
              <a:solidFill>
                <a:prstClr val="black"/>
              </a:solidFill>
            </a:endParaRPr>
          </a:p>
          <a:p>
            <a:pPr marL="1082675" lvl="1" indent="-442913" algn="just" fontAlgn="base" hangingPunct="0">
              <a:lnSpc>
                <a:spcPct val="120000"/>
              </a:lnSpc>
              <a:buFont typeface="Wingdings" panose="05000000000000000000" pitchFamily="2" charset="2"/>
              <a:buChar char=""/>
            </a:pPr>
            <a:r>
              <a:rPr lang="en-GB" dirty="0" smtClean="0">
                <a:solidFill>
                  <a:prstClr val="black"/>
                </a:solidFill>
                <a:ea typeface="Times New Roman" panose="02020603050405020304" pitchFamily="18" charset="0"/>
              </a:rPr>
              <a:t>resistance </a:t>
            </a:r>
            <a:r>
              <a:rPr lang="en-GB" dirty="0">
                <a:solidFill>
                  <a:prstClr val="black"/>
                </a:solidFill>
                <a:ea typeface="Times New Roman" panose="02020603050405020304" pitchFamily="18" charset="0"/>
              </a:rPr>
              <a:t>of the oil to aging</a:t>
            </a:r>
            <a:endParaRPr lang="en-GB" dirty="0">
              <a:solidFill>
                <a:prstClr val="black"/>
              </a:solidFill>
            </a:endParaRPr>
          </a:p>
          <a:p>
            <a:pPr marL="1082675" lvl="1" indent="-442913" algn="just" fontAlgn="base" hangingPunct="0">
              <a:lnSpc>
                <a:spcPct val="120000"/>
              </a:lnSpc>
              <a:buFont typeface="Wingdings" panose="05000000000000000000" pitchFamily="2" charset="2"/>
              <a:buChar char=""/>
            </a:pPr>
            <a:r>
              <a:rPr lang="en-GB" dirty="0">
                <a:solidFill>
                  <a:prstClr val="black"/>
                </a:solidFill>
                <a:ea typeface="Times New Roman" panose="02020603050405020304" pitchFamily="18" charset="0"/>
              </a:rPr>
              <a:t>corrosive protection capacity,</a:t>
            </a:r>
            <a:endParaRPr lang="en-GB" dirty="0">
              <a:solidFill>
                <a:prstClr val="black"/>
              </a:solidFill>
            </a:endParaRPr>
          </a:p>
          <a:p>
            <a:pPr marL="1082675" lvl="1" indent="-442913" algn="just" fontAlgn="base" hangingPunct="0">
              <a:lnSpc>
                <a:spcPct val="120000"/>
              </a:lnSpc>
              <a:buFont typeface="Wingdings" panose="05000000000000000000" pitchFamily="2" charset="2"/>
              <a:buChar char=""/>
            </a:pPr>
            <a:r>
              <a:rPr lang="en-GB" dirty="0" smtClean="0">
                <a:solidFill>
                  <a:prstClr val="black"/>
                </a:solidFill>
                <a:ea typeface="Times New Roman" panose="02020603050405020304" pitchFamily="18" charset="0"/>
              </a:rPr>
              <a:t>load </a:t>
            </a:r>
            <a:r>
              <a:rPr lang="en-GB" dirty="0">
                <a:solidFill>
                  <a:prstClr val="black"/>
                </a:solidFill>
                <a:ea typeface="Times New Roman" panose="02020603050405020304" pitchFamily="18" charset="0"/>
              </a:rPr>
              <a:t>carrying capacity in the mixed frictional state,</a:t>
            </a:r>
            <a:endParaRPr lang="en-GB" dirty="0">
              <a:solidFill>
                <a:prstClr val="black"/>
              </a:solidFill>
            </a:endParaRPr>
          </a:p>
          <a:p>
            <a:pPr marL="1082675" lvl="1" indent="-442913" algn="just" fontAlgn="base" hangingPunct="0">
              <a:lnSpc>
                <a:spcPct val="120000"/>
              </a:lnSpc>
              <a:buFont typeface="Wingdings" panose="05000000000000000000" pitchFamily="2" charset="2"/>
              <a:buChar char=""/>
            </a:pPr>
            <a:r>
              <a:rPr lang="en-GB" dirty="0" smtClean="0">
                <a:solidFill>
                  <a:prstClr val="black"/>
                </a:solidFill>
                <a:ea typeface="Times New Roman" panose="02020603050405020304" pitchFamily="18" charset="0"/>
              </a:rPr>
              <a:t>stock </a:t>
            </a:r>
            <a:r>
              <a:rPr lang="en-GB" dirty="0">
                <a:solidFill>
                  <a:prstClr val="black"/>
                </a:solidFill>
                <a:ea typeface="Times New Roman" panose="02020603050405020304" pitchFamily="18" charset="0"/>
              </a:rPr>
              <a:t>point,</a:t>
            </a:r>
            <a:endParaRPr lang="en-GB" dirty="0">
              <a:solidFill>
                <a:prstClr val="black"/>
              </a:solidFill>
            </a:endParaRPr>
          </a:p>
          <a:p>
            <a:pPr marL="1082675" lvl="1" indent="-442913" algn="just" fontAlgn="base" hangingPunct="0">
              <a:lnSpc>
                <a:spcPct val="120000"/>
              </a:lnSpc>
              <a:buFont typeface="Wingdings" panose="05000000000000000000" pitchFamily="2" charset="2"/>
              <a:buChar char=""/>
            </a:pPr>
            <a:r>
              <a:rPr lang="en-GB" dirty="0" smtClean="0">
                <a:solidFill>
                  <a:prstClr val="black"/>
                </a:solidFill>
                <a:ea typeface="Times New Roman" panose="02020603050405020304" pitchFamily="18" charset="0"/>
              </a:rPr>
              <a:t>foaming </a:t>
            </a:r>
            <a:r>
              <a:rPr lang="en-GB" dirty="0">
                <a:solidFill>
                  <a:prstClr val="black"/>
                </a:solidFill>
                <a:ea typeface="Times New Roman" panose="02020603050405020304" pitchFamily="18" charset="0"/>
              </a:rPr>
              <a:t>tendency, and</a:t>
            </a:r>
            <a:endParaRPr lang="en-GB" dirty="0">
              <a:solidFill>
                <a:prstClr val="black"/>
              </a:solidFill>
            </a:endParaRPr>
          </a:p>
          <a:p>
            <a:pPr marL="1082675" lvl="1" indent="-442913" algn="just" fontAlgn="base" hangingPunct="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GB" dirty="0" smtClean="0">
                <a:solidFill>
                  <a:prstClr val="black"/>
                </a:solidFill>
                <a:ea typeface="Times New Roman" panose="02020603050405020304" pitchFamily="18" charset="0"/>
              </a:rPr>
              <a:t>air </a:t>
            </a:r>
            <a:r>
              <a:rPr lang="en-GB" dirty="0">
                <a:solidFill>
                  <a:prstClr val="black"/>
                </a:solidFill>
                <a:ea typeface="Times New Roman" panose="02020603050405020304" pitchFamily="18" charset="0"/>
              </a:rPr>
              <a:t>releasing capacity.</a:t>
            </a:r>
            <a:endParaRPr lang="en-GB" dirty="0">
              <a:solidFill>
                <a:prstClr val="black"/>
              </a:solidFill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03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4753" y="759839"/>
            <a:ext cx="10515600" cy="703200"/>
          </a:xfrm>
        </p:spPr>
        <p:txBody>
          <a:bodyPr/>
          <a:lstStyle/>
          <a:p>
            <a:r>
              <a:rPr lang="en-GB" dirty="0"/>
              <a:t>UNIT 4:  </a:t>
            </a:r>
            <a:r>
              <a:rPr lang="en-GB" dirty="0" smtClean="0"/>
              <a:t>Selection of Hydraulic </a:t>
            </a:r>
            <a:r>
              <a:rPr lang="en-GB" dirty="0"/>
              <a:t>Fluids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38</a:t>
            </a:fld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493750" y="1641953"/>
            <a:ext cx="8950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Based </a:t>
            </a:r>
            <a:r>
              <a:rPr lang="en-GB" sz="2400" dirty="0"/>
              <a:t>on compliance with the minimum requirements of DIN 51524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043" y="2321364"/>
            <a:ext cx="8515350" cy="41433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3411" y="3186113"/>
            <a:ext cx="1590675" cy="29908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6003" y="3195638"/>
            <a:ext cx="1600200" cy="29813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5948" y="3190875"/>
            <a:ext cx="1609725" cy="29813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3554" y="3209706"/>
            <a:ext cx="1619250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532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435613"/>
          </a:xfrm>
        </p:spPr>
        <p:txBody>
          <a:bodyPr>
            <a:normAutofit fontScale="90000"/>
          </a:bodyPr>
          <a:lstStyle/>
          <a:p>
            <a:r>
              <a:rPr lang="en-GB" dirty="0"/>
              <a:t>UNIT 4:  </a:t>
            </a:r>
            <a:r>
              <a:rPr lang="en-GB" dirty="0" smtClean="0"/>
              <a:t>Selection Criteria of Hydraulic Fluids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71625"/>
                <a:ext cx="10515600" cy="4893114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 algn="just" fontAlgn="base" hangingPunct="0">
                  <a:lnSpc>
                    <a:spcPct val="120000"/>
                  </a:lnSpc>
                  <a:spcAft>
                    <a:spcPts val="600"/>
                  </a:spcAft>
                  <a:buNone/>
                </a:pPr>
                <a:r>
                  <a:rPr lang="en-GB" sz="2600" dirty="0" smtClean="0">
                    <a:latin typeface="Cambria" panose="02040503050406030204" pitchFamily="18" charset="0"/>
                  </a:rPr>
                  <a:t>Suitability of Hydraulic </a:t>
                </a:r>
                <a:r>
                  <a:rPr lang="en-GB" sz="2600" dirty="0">
                    <a:latin typeface="Cambria" panose="02040503050406030204" pitchFamily="18" charset="0"/>
                  </a:rPr>
                  <a:t>fluid </a:t>
                </a:r>
                <a:r>
                  <a:rPr lang="en-GB" sz="2600" dirty="0" smtClean="0">
                    <a:latin typeface="Cambria" panose="02040503050406030204" pitchFamily="18" charset="0"/>
                  </a:rPr>
                  <a:t>depend on </a:t>
                </a:r>
                <a:r>
                  <a:rPr lang="en-GB" sz="2600" dirty="0">
                    <a:latin typeface="Cambria" panose="02040503050406030204" pitchFamily="18" charset="0"/>
                  </a:rPr>
                  <a:t>the following factors:</a:t>
                </a:r>
                <a:endParaRPr lang="en-GB" sz="2600" b="1" i="1" dirty="0" smtClean="0">
                  <a:solidFill>
                    <a:prstClr val="black"/>
                  </a:solidFill>
                  <a:latin typeface="Cambria" panose="02040503050406030204" pitchFamily="18" charset="0"/>
                  <a:ea typeface="Times New Roman" panose="02020603050405020304" pitchFamily="18" charset="0"/>
                </a:endParaRPr>
              </a:p>
              <a:p>
                <a:pPr marL="342900" lvl="0" indent="-342900" algn="just" fontAlgn="base" hangingPunct="0">
                  <a:lnSpc>
                    <a:spcPct val="120000"/>
                  </a:lnSpc>
                  <a:spcAft>
                    <a:spcPts val="600"/>
                  </a:spcAft>
                  <a:buFont typeface="+mj-lt"/>
                  <a:buAutoNum type="romanLcPeriod"/>
                </a:pPr>
                <a:r>
                  <a:rPr lang="en-GB" sz="2600" b="1" i="1" dirty="0" smtClean="0">
                    <a:solidFill>
                      <a:prstClr val="black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</a:rPr>
                  <a:t>Density</a:t>
                </a:r>
                <a:r>
                  <a:rPr lang="en-GB" sz="2600" b="1" i="1" dirty="0">
                    <a:solidFill>
                      <a:prstClr val="black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</a:rPr>
                  <a:t>, Compressibility</a:t>
                </a:r>
                <a:endParaRPr lang="en-GB" sz="2600" dirty="0">
                  <a:solidFill>
                    <a:prstClr val="black"/>
                  </a:solidFill>
                  <a:latin typeface="Cambria" panose="02040503050406030204" pitchFamily="18" charset="0"/>
                  <a:ea typeface="Calibri" panose="020F0502020204030204" pitchFamily="34" charset="0"/>
                </a:endParaRPr>
              </a:p>
              <a:p>
                <a:pPr marL="736600" lvl="0" indent="-457200">
                  <a:lnSpc>
                    <a:spcPct val="120000"/>
                  </a:lnSpc>
                  <a:buFont typeface="Wingdings" panose="05000000000000000000" pitchFamily="2" charset="2"/>
                  <a:buChar char="v"/>
                </a:pPr>
                <a:r>
                  <a:rPr lang="en-GB" sz="2600" dirty="0">
                    <a:solidFill>
                      <a:prstClr val="black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</a:rPr>
                  <a:t>Losses in pipes and canals are directly proportional to the density of the operating medium:</a:t>
                </a:r>
              </a:p>
              <a:p>
                <a:pPr marL="717550" lvl="0" indent="0" fontAlgn="base" hangingPunc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losses</m:t>
                      </m:r>
                      <m:r>
                        <a:rPr lang="en-GB" sz="2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in</m:t>
                      </m:r>
                      <m:r>
                        <a:rPr lang="en-GB" sz="2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pipes</m:t>
                      </m:r>
                      <m:r>
                        <a:rPr lang="en-GB" sz="2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𝜆</m:t>
                      </m:r>
                      <m:f>
                        <m:fPr>
                          <m:ctrlP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𝑑</m:t>
                          </m:r>
                        </m:den>
                      </m:f>
                      <m:f>
                        <m:fPr>
                          <m:ctrlP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2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;  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𝜆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𝑐𝑜𝑒𝑓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𝑜𝑓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𝑟𝑒𝑠𝑖𝑠𝑠𝑡𝑖𝑣𝑖𝑡𝑦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GB" sz="2600" dirty="0">
                  <a:solidFill>
                    <a:prstClr val="black"/>
                  </a:solidFill>
                  <a:latin typeface="Cambria" panose="02040503050406030204" pitchFamily="18" charset="0"/>
                  <a:ea typeface="Calibri" panose="020F0502020204030204" pitchFamily="34" charset="0"/>
                </a:endParaRPr>
              </a:p>
              <a:p>
                <a:pPr marL="717550" lvl="0" indent="0" fontAlgn="base" hangingPunc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losses</m:t>
                      </m:r>
                      <m:r>
                        <a:rPr lang="en-GB" sz="2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in</m:t>
                      </m:r>
                      <m:r>
                        <a:rPr lang="en-GB" sz="2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curves</m:t>
                      </m:r>
                      <m:r>
                        <a:rPr lang="en-GB" sz="2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GB" sz="2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branches</m:t>
                      </m:r>
                      <m:r>
                        <a:rPr lang="en-GB" sz="2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GB" sz="2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reduction</m:t>
                      </m:r>
                      <m:r>
                        <a:rPr lang="en-GB" sz="2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𝜁</m:t>
                      </m:r>
                      <m:f>
                        <m:fPr>
                          <m:ctrlP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 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𝜁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𝑐𝑜𝑒𝑓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. 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𝑜𝑓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𝑟𝑒𝑠𝑖𝑠𝑠𝑡𝑖𝑣𝑖𝑡𝑦</m:t>
                      </m:r>
                    </m:oMath>
                  </m:oMathPara>
                </a14:m>
                <a:endParaRPr lang="en-GB" sz="2600" dirty="0">
                  <a:solidFill>
                    <a:prstClr val="black"/>
                  </a:solidFill>
                  <a:latin typeface="Cambria" panose="02040503050406030204" pitchFamily="18" charset="0"/>
                  <a:ea typeface="Calibri" panose="020F0502020204030204" pitchFamily="34" charset="0"/>
                </a:endParaRPr>
              </a:p>
              <a:p>
                <a:pPr marL="717550" lvl="0" indent="0" fontAlgn="base" hangingPunc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6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GB" sz="2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hock</m:t>
                      </m:r>
                      <m:r>
                        <a:rPr lang="en-GB" sz="2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losses</m:t>
                      </m:r>
                      <m:r>
                        <a:rPr lang="en-GB" sz="2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across</m:t>
                      </m:r>
                      <m:r>
                        <a:rPr lang="en-GB" sz="2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changes</m:t>
                      </m:r>
                      <m:r>
                        <a:rPr lang="en-GB" sz="2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in</m:t>
                      </m:r>
                      <m:r>
                        <a:rPr lang="en-GB" sz="2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area</m:t>
                      </m:r>
                      <m:r>
                        <a:rPr lang="en-GB" sz="2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2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GB" sz="2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2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sz="2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GB" sz="2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600" dirty="0">
                  <a:solidFill>
                    <a:prstClr val="black"/>
                  </a:solidFill>
                  <a:latin typeface="Cambria" panose="02040503050406030204" pitchFamily="18" charset="0"/>
                  <a:ea typeface="Calibri" panose="020F0502020204030204" pitchFamily="34" charset="0"/>
                </a:endParaRPr>
              </a:p>
              <a:p>
                <a:pPr marL="635000" lvl="0" indent="-457200">
                  <a:lnSpc>
                    <a:spcPct val="120000"/>
                  </a:lnSpc>
                  <a:buFont typeface="Wingdings" panose="05000000000000000000" pitchFamily="2" charset="2"/>
                  <a:buChar char="v"/>
                </a:pPr>
                <a:r>
                  <a:rPr lang="en-GB" sz="2600" dirty="0">
                    <a:solidFill>
                      <a:prstClr val="black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</a:rPr>
                  <a:t>Volume of a fluid increases when the temperature increases. Thus, density reduces</a:t>
                </a:r>
                <a:r>
                  <a:rPr lang="en-GB" sz="2600" dirty="0" smtClean="0">
                    <a:solidFill>
                      <a:prstClr val="black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</a:rPr>
                  <a:t>.</a:t>
                </a:r>
                <a:endParaRPr lang="en-GB" sz="2600" dirty="0">
                  <a:solidFill>
                    <a:prstClr val="black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71625"/>
                <a:ext cx="10515600" cy="4893114"/>
              </a:xfrm>
              <a:blipFill rotWithShape="0">
                <a:blip r:embed="rId2"/>
                <a:stretch>
                  <a:fillRect l="-754" t="-8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207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669821"/>
          </a:xfrm>
        </p:spPr>
        <p:txBody>
          <a:bodyPr>
            <a:normAutofit/>
          </a:bodyPr>
          <a:lstStyle/>
          <a:p>
            <a:r>
              <a:rPr lang="en-GB" dirty="0"/>
              <a:t>UNIT 4 :  Selection Criteria of Hydraulic Fluids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71500" lvl="0" indent="-571500" algn="just" fontAlgn="base" hangingPunct="0">
                  <a:lnSpc>
                    <a:spcPct val="120000"/>
                  </a:lnSpc>
                  <a:spcBef>
                    <a:spcPts val="1200"/>
                  </a:spcBef>
                  <a:spcAft>
                    <a:spcPts val="600"/>
                  </a:spcAft>
                  <a:buFont typeface="+mj-lt"/>
                  <a:buAutoNum type="romanLcPeriod" startAt="2"/>
                </a:pPr>
                <a:r>
                  <a:rPr lang="en-GB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Viscosity:</a:t>
                </a:r>
                <a:endParaRPr lang="en-GB" dirty="0">
                  <a:solidFill>
                    <a:prstClr val="black"/>
                  </a:solidFill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marL="711200" lvl="0" indent="-457200" algn="just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It is a measure of the </a:t>
                </a:r>
                <a:r>
                  <a:rPr lang="en-GB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internal friction</a:t>
                </a:r>
                <a:r>
                  <a:rPr lang="en-GB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of the fluid. </a:t>
                </a:r>
              </a:p>
              <a:p>
                <a:pPr marL="711200" lvl="0" indent="-457200" algn="just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Dynamic viscosity, η, is more of importance than the kinematic viscosity, ν, when describing the load carrying capacity of a fluid</a:t>
                </a:r>
              </a:p>
              <a:p>
                <a:pPr marL="711200" lvl="0" indent="-457200" algn="just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However, fluids are classified based on their kinematic viscosity</a:t>
                </a:r>
                <a:r>
                  <a:rPr lang="en-GB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en-GB" dirty="0">
                  <a:solidFill>
                    <a:prstClr val="black"/>
                  </a:solidFill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𝜈</m:t>
                      </m:r>
                      <m:r>
                        <a:rPr lang="en-GB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𝜂</m:t>
                          </m:r>
                        </m:num>
                        <m:den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𝜌</m:t>
                          </m:r>
                        </m:den>
                      </m:f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𝑚𝑚</m:t>
                                  </m:r>
                                </m:e>
                                <m:sup>
                                  <m: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den>
                          </m:f>
                        </m:e>
                      </m:d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;     </m:t>
                      </m:r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𝜏</m:t>
                      </m:r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𝜂</m:t>
                      </m:r>
                      <m:f>
                        <m:f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  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;       </m:t>
                      </m:r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𝜂</m:t>
                      </m:r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  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𝑃𝑎</m:t>
                          </m:r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420" r="-11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63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4 :  Selection Criteria of Hydraulic Fluids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71500" indent="-571500">
              <a:lnSpc>
                <a:spcPct val="110000"/>
              </a:lnSpc>
              <a:spcBef>
                <a:spcPts val="1800"/>
              </a:spcBef>
              <a:buFont typeface="+mj-lt"/>
              <a:buAutoNum type="romanLcPeriod" startAt="2"/>
            </a:pPr>
            <a:r>
              <a:rPr lang="en-GB" b="1" i="1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Viscosity</a:t>
            </a:r>
            <a:r>
              <a:rPr lang="en-GB" b="1" i="1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GB" dirty="0" smtClean="0"/>
          </a:p>
          <a:p>
            <a:pPr marL="534988">
              <a:lnSpc>
                <a:spcPct val="110000"/>
              </a:lnSpc>
              <a:spcBef>
                <a:spcPts val="1800"/>
              </a:spcBef>
            </a:pPr>
            <a:r>
              <a:rPr lang="en-GB" dirty="0" smtClean="0"/>
              <a:t>Permissible </a:t>
            </a:r>
            <a:r>
              <a:rPr lang="en-GB" dirty="0"/>
              <a:t>viscosity range </a:t>
            </a:r>
            <a:r>
              <a:rPr lang="en-GB" dirty="0" smtClean="0"/>
              <a:t>of a </a:t>
            </a:r>
            <a:r>
              <a:rPr lang="en-GB" dirty="0"/>
              <a:t>complete systems </a:t>
            </a:r>
            <a:r>
              <a:rPr lang="en-GB" dirty="0" smtClean="0"/>
              <a:t>takes </a:t>
            </a:r>
            <a:r>
              <a:rPr lang="en-GB" dirty="0"/>
              <a:t>account of the permissible viscosity of all </a:t>
            </a:r>
            <a:r>
              <a:rPr lang="en-GB" dirty="0" smtClean="0"/>
              <a:t>components,</a:t>
            </a:r>
          </a:p>
          <a:p>
            <a:pPr marL="534988">
              <a:lnSpc>
                <a:spcPct val="110000"/>
              </a:lnSpc>
              <a:spcBef>
                <a:spcPts val="1800"/>
              </a:spcBef>
            </a:pPr>
            <a:r>
              <a:rPr lang="en-GB" dirty="0" smtClean="0"/>
              <a:t>Optimum </a:t>
            </a:r>
            <a:r>
              <a:rPr lang="en-GB" dirty="0"/>
              <a:t>operating viscosity range of each component should be kept within the permissible temperature </a:t>
            </a:r>
            <a:r>
              <a:rPr lang="en-GB" dirty="0" smtClean="0"/>
              <a:t>range by:</a:t>
            </a:r>
          </a:p>
          <a:p>
            <a:pPr marL="1435100" indent="-457200">
              <a:lnSpc>
                <a:spcPct val="110000"/>
              </a:lnSpc>
              <a:spcBef>
                <a:spcPts val="1800"/>
              </a:spcBef>
              <a:buFont typeface="Wingdings" panose="05000000000000000000" pitchFamily="2" charset="2"/>
              <a:buChar char="ü"/>
            </a:pPr>
            <a:r>
              <a:rPr lang="en-GB" dirty="0" smtClean="0"/>
              <a:t>either </a:t>
            </a:r>
            <a:r>
              <a:rPr lang="en-GB" dirty="0"/>
              <a:t>cooling </a:t>
            </a:r>
            <a:r>
              <a:rPr lang="en-GB" dirty="0" smtClean="0"/>
              <a:t>or</a:t>
            </a:r>
          </a:p>
          <a:p>
            <a:pPr marL="1435100" indent="-457200">
              <a:lnSpc>
                <a:spcPct val="110000"/>
              </a:lnSpc>
              <a:spcBef>
                <a:spcPts val="1800"/>
              </a:spcBef>
              <a:buFont typeface="Wingdings" panose="05000000000000000000" pitchFamily="2" charset="2"/>
              <a:buChar char="ü"/>
            </a:pPr>
            <a:r>
              <a:rPr lang="en-GB" dirty="0" smtClean="0"/>
              <a:t>heating</a:t>
            </a:r>
            <a:r>
              <a:rPr lang="en-GB" dirty="0"/>
              <a:t>, or both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41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5755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4 :  Selection Criteria of Hydraulic Fluids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lvl="0" indent="-571500">
              <a:lnSpc>
                <a:spcPct val="110000"/>
              </a:lnSpc>
              <a:spcBef>
                <a:spcPts val="1800"/>
              </a:spcBef>
              <a:buFont typeface="+mj-lt"/>
              <a:buAutoNum type="romanLcPeriod" startAt="2"/>
            </a:pPr>
            <a:r>
              <a:rPr lang="en-GB" sz="2600" b="1" i="1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Viscosity</a:t>
            </a:r>
            <a:r>
              <a:rPr lang="en-GB" sz="2600" b="1" i="1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GB" dirty="0" smtClean="0"/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GB" dirty="0" smtClean="0"/>
              <a:t>Viscosity </a:t>
            </a:r>
            <a:r>
              <a:rPr lang="en-GB" dirty="0"/>
              <a:t>at operating temperature </a:t>
            </a:r>
            <a:r>
              <a:rPr lang="en-GB" dirty="0" smtClean="0"/>
              <a:t>determines:</a:t>
            </a:r>
          </a:p>
          <a:p>
            <a:pPr marL="717550" indent="-352425">
              <a:lnSpc>
                <a:spcPct val="110000"/>
              </a:lnSpc>
              <a:spcBef>
                <a:spcPts val="1800"/>
              </a:spcBef>
            </a:pPr>
            <a:r>
              <a:rPr lang="en-GB" dirty="0" smtClean="0"/>
              <a:t>the </a:t>
            </a:r>
            <a:r>
              <a:rPr lang="en-GB" dirty="0"/>
              <a:t>response characteristics of closed control loops, </a:t>
            </a:r>
            <a:endParaRPr lang="en-GB" dirty="0" smtClean="0"/>
          </a:p>
          <a:p>
            <a:pPr marL="717550" indent="-352425">
              <a:lnSpc>
                <a:spcPct val="110000"/>
              </a:lnSpc>
              <a:spcBef>
                <a:spcPts val="1800"/>
              </a:spcBef>
            </a:pPr>
            <a:r>
              <a:rPr lang="en-GB" dirty="0"/>
              <a:t>s</a:t>
            </a:r>
            <a:r>
              <a:rPr lang="en-GB" dirty="0" smtClean="0"/>
              <a:t>tability </a:t>
            </a:r>
            <a:r>
              <a:rPr lang="en-GB" dirty="0"/>
              <a:t>and damping of </a:t>
            </a:r>
            <a:r>
              <a:rPr lang="en-GB" dirty="0" smtClean="0"/>
              <a:t>system,</a:t>
            </a:r>
          </a:p>
          <a:p>
            <a:pPr marL="717550" indent="-352425">
              <a:lnSpc>
                <a:spcPct val="110000"/>
              </a:lnSpc>
              <a:spcBef>
                <a:spcPts val="1800"/>
              </a:spcBef>
            </a:pPr>
            <a:r>
              <a:rPr lang="en-GB" dirty="0" smtClean="0"/>
              <a:t>the </a:t>
            </a:r>
            <a:r>
              <a:rPr lang="en-GB" dirty="0"/>
              <a:t>efficiency factor </a:t>
            </a:r>
            <a:r>
              <a:rPr lang="en-GB" dirty="0" smtClean="0"/>
              <a:t>and</a:t>
            </a:r>
          </a:p>
          <a:p>
            <a:pPr marL="717550" indent="-352425">
              <a:lnSpc>
                <a:spcPct val="110000"/>
              </a:lnSpc>
              <a:spcBef>
                <a:spcPts val="1800"/>
              </a:spcBef>
            </a:pPr>
            <a:r>
              <a:rPr lang="en-GB" dirty="0" smtClean="0"/>
              <a:t>the </a:t>
            </a:r>
            <a:r>
              <a:rPr lang="en-GB" dirty="0"/>
              <a:t>degree of wear</a:t>
            </a:r>
            <a:r>
              <a:rPr lang="en-GB" dirty="0" smtClean="0"/>
              <a:t>,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42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7915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37476"/>
            <a:ext cx="10515600" cy="659524"/>
          </a:xfrm>
        </p:spPr>
        <p:txBody>
          <a:bodyPr/>
          <a:lstStyle/>
          <a:p>
            <a:r>
              <a:rPr lang="en-GB" dirty="0"/>
              <a:t>UNIT 4 :  Selection Criteria of Hydraulic Fluids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9225"/>
            <a:ext cx="10515600" cy="3076575"/>
          </a:xfrm>
        </p:spPr>
        <p:txBody>
          <a:bodyPr>
            <a:normAutofit/>
          </a:bodyPr>
          <a:lstStyle/>
          <a:p>
            <a:pPr marL="571500" lvl="0" indent="-571500" algn="just" fontAlgn="base" hangingPunct="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+mj-lt"/>
              <a:buAutoNum type="romanLcPeriod" startAt="2"/>
            </a:pPr>
            <a:r>
              <a:rPr lang="en-GB" b="1" i="1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Viscosity:  (</a:t>
            </a:r>
            <a:r>
              <a:rPr lang="en-GB" b="1" i="1" dirty="0">
                <a:solidFill>
                  <a:prstClr val="black"/>
                </a:solidFill>
              </a:rPr>
              <a:t>Viscosity-Temperature Relationship)</a:t>
            </a:r>
            <a:endParaRPr lang="en-GB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828675" lvl="0" indent="-457200"/>
            <a:r>
              <a:rPr lang="en-GB" dirty="0"/>
              <a:t>Viscosity </a:t>
            </a:r>
            <a:r>
              <a:rPr lang="en-GB" dirty="0" smtClean="0"/>
              <a:t>drops </a:t>
            </a:r>
            <a:r>
              <a:rPr lang="en-GB" dirty="0"/>
              <a:t>when the temperature increases and rises when the temperature </a:t>
            </a:r>
            <a:r>
              <a:rPr lang="en-GB" dirty="0" smtClean="0"/>
              <a:t>decreases,</a:t>
            </a:r>
          </a:p>
          <a:p>
            <a:pPr marL="828675" lvl="0" indent="-457200"/>
            <a:r>
              <a:rPr lang="en-US" dirty="0" smtClean="0">
                <a:solidFill>
                  <a:prstClr val="black"/>
                </a:solidFill>
              </a:rPr>
              <a:t>Fluids </a:t>
            </a:r>
            <a:r>
              <a:rPr lang="en-US" dirty="0">
                <a:solidFill>
                  <a:prstClr val="black"/>
                </a:solidFill>
              </a:rPr>
              <a:t>with a low slope are suitable when used as hydraulic fluid,</a:t>
            </a:r>
          </a:p>
          <a:p>
            <a:pPr marL="822325" lvl="0" indent="-457200"/>
            <a:r>
              <a:rPr lang="en-US" dirty="0">
                <a:solidFill>
                  <a:prstClr val="black"/>
                </a:solidFill>
              </a:rPr>
              <a:t>A high VI means less temperature </a:t>
            </a:r>
            <a:r>
              <a:rPr lang="en-US" dirty="0" smtClean="0">
                <a:solidFill>
                  <a:prstClr val="black"/>
                </a:solidFill>
              </a:rPr>
              <a:t>dependence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43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986" y="4724401"/>
            <a:ext cx="4536000" cy="204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188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38848"/>
            <a:ext cx="10515600" cy="669821"/>
          </a:xfrm>
        </p:spPr>
        <p:txBody>
          <a:bodyPr/>
          <a:lstStyle/>
          <a:p>
            <a:r>
              <a:rPr lang="en-GB" dirty="0"/>
              <a:t>UNIT 4 : Selection Criteria of Hydraulic Fluids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249" y="1422737"/>
            <a:ext cx="10678551" cy="276791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 smtClean="0"/>
              <a:t>Determining </a:t>
            </a:r>
            <a:r>
              <a:rPr lang="en-GB" dirty="0"/>
              <a:t>the correct viscosity grade for a particular </a:t>
            </a:r>
            <a:r>
              <a:rPr lang="en-GB" dirty="0" smtClean="0"/>
              <a:t>application:   Note</a:t>
            </a:r>
          </a:p>
          <a:p>
            <a:pPr marL="534988" lvl="0"/>
            <a:r>
              <a:rPr lang="en-GB" dirty="0" smtClean="0"/>
              <a:t>Start (maximum) </a:t>
            </a:r>
            <a:r>
              <a:rPr lang="en-GB" dirty="0"/>
              <a:t>viscosity at minimum ambient temperature,</a:t>
            </a:r>
          </a:p>
          <a:p>
            <a:pPr marL="534988" lvl="0"/>
            <a:r>
              <a:rPr lang="en-GB" dirty="0" smtClean="0"/>
              <a:t>Minimum viscosity at maximum </a:t>
            </a:r>
            <a:r>
              <a:rPr lang="en-GB" dirty="0"/>
              <a:t>expected operating temperature,</a:t>
            </a:r>
          </a:p>
          <a:p>
            <a:pPr marL="534988"/>
            <a:r>
              <a:rPr lang="en-GB" dirty="0"/>
              <a:t>Permissible and optimum viscosity range for the system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44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991"/>
          <a:stretch/>
        </p:blipFill>
        <p:spPr bwMode="auto">
          <a:xfrm>
            <a:off x="1528291" y="4052355"/>
            <a:ext cx="8352000" cy="2512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2613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37476"/>
            <a:ext cx="10515600" cy="608724"/>
          </a:xfrm>
        </p:spPr>
        <p:txBody>
          <a:bodyPr/>
          <a:lstStyle/>
          <a:p>
            <a:r>
              <a:rPr lang="en-GB" dirty="0"/>
              <a:t>UNIT 4 : Selection Criteria of Hydraulic Fluids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6200"/>
            <a:ext cx="10515600" cy="5118539"/>
          </a:xfrm>
        </p:spPr>
        <p:txBody>
          <a:bodyPr>
            <a:normAutofit/>
          </a:bodyPr>
          <a:lstStyle/>
          <a:p>
            <a:pPr marL="571500" lvl="0" indent="-571500" algn="just" fontAlgn="base" hangingPunct="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+mj-lt"/>
              <a:buAutoNum type="romanLcPeriod" startAt="2"/>
            </a:pPr>
            <a:r>
              <a:rPr lang="en-GB" sz="2600" b="1" i="1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Viscosity:  (</a:t>
            </a:r>
            <a:r>
              <a:rPr lang="en-GB" sz="2600" b="1" i="1" dirty="0">
                <a:solidFill>
                  <a:prstClr val="black"/>
                </a:solidFill>
              </a:rPr>
              <a:t>Viscosity-Pressure Relationship)</a:t>
            </a:r>
            <a:endParaRPr lang="en-GB" sz="26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889000" lvl="0" indent="-406400">
              <a:buFont typeface="Wingdings" panose="05000000000000000000" pitchFamily="2" charset="2"/>
              <a:buChar char="v"/>
            </a:pPr>
            <a:r>
              <a:rPr lang="en-GB" sz="2600" dirty="0">
                <a:solidFill>
                  <a:prstClr val="black"/>
                </a:solidFill>
              </a:rPr>
              <a:t>This relationship is responsible for the loading ability of lubricating fluids,</a:t>
            </a:r>
          </a:p>
          <a:p>
            <a:pPr marL="889000" lvl="0" indent="-406400">
              <a:buFont typeface="Wingdings" panose="05000000000000000000" pitchFamily="2" charset="2"/>
              <a:buChar char="v"/>
            </a:pPr>
            <a:r>
              <a:rPr lang="en-GB" sz="2600" dirty="0">
                <a:solidFill>
                  <a:prstClr val="black"/>
                </a:solidFill>
              </a:rPr>
              <a:t>increase in viscosity with an increase in pressure has a  self-strengthening effect</a:t>
            </a:r>
            <a:r>
              <a:rPr lang="en-GB" sz="2600" dirty="0" smtClean="0">
                <a:solidFill>
                  <a:prstClr val="black"/>
                </a:solidFill>
              </a:rPr>
              <a:t>.</a:t>
            </a:r>
            <a:endParaRPr lang="en-GB" sz="2600" dirty="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8007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37476"/>
            <a:ext cx="10515600" cy="507124"/>
          </a:xfrm>
        </p:spPr>
        <p:txBody>
          <a:bodyPr>
            <a:normAutofit fontScale="90000"/>
          </a:bodyPr>
          <a:lstStyle/>
          <a:p>
            <a:r>
              <a:rPr lang="en-GB" dirty="0"/>
              <a:t>UNIT 4 : Selection Criteria of Hydraulic Fluids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4600"/>
            <a:ext cx="10515600" cy="5585264"/>
          </a:xfrm>
        </p:spPr>
        <p:txBody>
          <a:bodyPr>
            <a:normAutofit/>
          </a:bodyPr>
          <a:lstStyle/>
          <a:p>
            <a:pPr marL="571500" lvl="0" indent="-571500" algn="just" fontAlgn="base" hangingPunct="0">
              <a:lnSpc>
                <a:spcPct val="120000"/>
              </a:lnSpc>
              <a:spcAft>
                <a:spcPts val="600"/>
              </a:spcAft>
              <a:buFont typeface="+mj-lt"/>
              <a:buAutoNum type="romanLcPeriod" startAt="3"/>
              <a:tabLst>
                <a:tab pos="684530" algn="l"/>
              </a:tabLst>
            </a:pPr>
            <a:r>
              <a:rPr lang="en-GB" b="1" i="1" dirty="0" smtClean="0">
                <a:solidFill>
                  <a:prstClr val="black"/>
                </a:solidFill>
                <a:ea typeface="Times New Roman" panose="02020603050405020304" pitchFamily="18" charset="0"/>
              </a:rPr>
              <a:t>Wear protection capability</a:t>
            </a:r>
            <a:endParaRPr lang="en-GB" dirty="0">
              <a:solidFill>
                <a:prstClr val="black"/>
              </a:solidFill>
            </a:endParaRP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711200" indent="0">
              <a:buNone/>
            </a:pPr>
            <a:r>
              <a:rPr lang="en-US" b="1" i="1" dirty="0" smtClean="0"/>
              <a:t>Figure 4:</a:t>
            </a:r>
            <a:r>
              <a:rPr lang="en-US" dirty="0" smtClean="0"/>
              <a:t>  </a:t>
            </a:r>
            <a:r>
              <a:rPr lang="en-US" dirty="0" err="1" smtClean="0"/>
              <a:t>Stribeck’s</a:t>
            </a:r>
            <a:r>
              <a:rPr lang="en-US" dirty="0" smtClean="0"/>
              <a:t> curve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46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6495932" y="1969477"/>
            <a:ext cx="52927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/>
              <a:t>Hydrodynamic lubrication requires high relative speeds between objects,</a:t>
            </a:r>
            <a:endParaRPr lang="en-GB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6495932" y="3018227"/>
            <a:ext cx="51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/>
              <a:t>From start to final speed, the objects experience:</a:t>
            </a:r>
            <a:endParaRPr lang="en-GB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7061982" y="4037232"/>
            <a:ext cx="2864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dirty="0" smtClean="0"/>
              <a:t>Solid friction state,</a:t>
            </a:r>
            <a:endParaRPr lang="en-GB" sz="2400" dirty="0"/>
          </a:p>
        </p:txBody>
      </p:sp>
      <p:sp>
        <p:nvSpPr>
          <p:cNvPr id="9" name="TextBox 8"/>
          <p:cNvSpPr txBox="1"/>
          <p:nvPr/>
        </p:nvSpPr>
        <p:spPr>
          <a:xfrm flipH="1">
            <a:off x="7061982" y="4553042"/>
            <a:ext cx="32004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dirty="0" smtClean="0"/>
              <a:t>Mixed friction state,</a:t>
            </a:r>
            <a:endParaRPr lang="en-GB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7061982" y="5158210"/>
            <a:ext cx="3066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dirty="0" smtClean="0"/>
              <a:t>Fluid friction state.</a:t>
            </a:r>
            <a:endParaRPr lang="en-GB" sz="24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420" y="2094132"/>
            <a:ext cx="5105400" cy="3886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2749" y="2484514"/>
            <a:ext cx="1190625" cy="15335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8575" y="2546313"/>
            <a:ext cx="1333500" cy="13335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2238" y="2315699"/>
            <a:ext cx="942975" cy="1133475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>
          <a:xfrm>
            <a:off x="2294873" y="2094132"/>
            <a:ext cx="0" cy="1923907"/>
          </a:xfrm>
          <a:prstGeom prst="line">
            <a:avLst/>
          </a:prstGeom>
          <a:ln w="15875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707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37476"/>
            <a:ext cx="10515600" cy="532524"/>
          </a:xfrm>
        </p:spPr>
        <p:txBody>
          <a:bodyPr>
            <a:normAutofit fontScale="90000"/>
          </a:bodyPr>
          <a:lstStyle/>
          <a:p>
            <a:r>
              <a:rPr lang="en-GB" dirty="0"/>
              <a:t>UNIT 4 : Selection Criteria of Hydraulic Fluids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70000"/>
                <a:ext cx="10515600" cy="5194739"/>
              </a:xfrm>
            </p:spPr>
            <p:txBody>
              <a:bodyPr>
                <a:normAutofit/>
              </a:bodyPr>
              <a:lstStyle/>
              <a:p>
                <a:pPr marL="571500" lvl="0" indent="-571500" algn="just" fontAlgn="base" hangingPunct="0">
                  <a:lnSpc>
                    <a:spcPct val="120000"/>
                  </a:lnSpc>
                  <a:spcAft>
                    <a:spcPts val="600"/>
                  </a:spcAft>
                  <a:buFont typeface="+mj-lt"/>
                  <a:buAutoNum type="romanLcPeriod" startAt="3"/>
                  <a:tabLst>
                    <a:tab pos="684530" algn="l"/>
                  </a:tabLst>
                </a:pPr>
                <a:r>
                  <a:rPr lang="en-GB" b="1" i="1" dirty="0" smtClean="0">
                    <a:solidFill>
                      <a:prstClr val="black"/>
                    </a:solidFill>
                    <a:ea typeface="Times New Roman" panose="02020603050405020304" pitchFamily="18" charset="0"/>
                  </a:rPr>
                  <a:t>Wear protection capability</a:t>
                </a:r>
                <a:endParaRPr lang="en-GB" dirty="0">
                  <a:solidFill>
                    <a:prstClr val="black"/>
                  </a:solidFill>
                </a:endParaRPr>
              </a:p>
              <a:p>
                <a:pPr marL="711200" lvl="0" indent="-482600">
                  <a:spcBef>
                    <a:spcPts val="1800"/>
                  </a:spcBef>
                  <a:buFont typeface="Wingdings" panose="05000000000000000000" pitchFamily="2" charset="2"/>
                  <a:buChar char="v"/>
                </a:pPr>
                <a:r>
                  <a:rPr lang="en-GB" b="1" i="1" dirty="0" smtClean="0">
                    <a:solidFill>
                      <a:prstClr val="black"/>
                    </a:solidFill>
                    <a:ea typeface="Times New Roman" panose="02020603050405020304" pitchFamily="18" charset="0"/>
                  </a:rPr>
                  <a:t>Hydrodynamic lubrication</a:t>
                </a:r>
                <a:r>
                  <a:rPr lang="en-GB" dirty="0" smtClean="0">
                    <a:solidFill>
                      <a:prstClr val="black"/>
                    </a:solidFill>
                    <a:ea typeface="Times New Roman" panose="02020603050405020304" pitchFamily="18" charset="0"/>
                  </a:rPr>
                  <a:t>: 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𝜂</m:t>
                    </m:r>
                  </m:oMath>
                </a14:m>
                <a:r>
                  <a:rPr lang="en-GB" dirty="0">
                    <a:solidFill>
                      <a:prstClr val="black"/>
                    </a:solidFill>
                    <a:ea typeface="Times New Roman" panose="02020603050405020304" pitchFamily="18" charset="0"/>
                  </a:rPr>
                  <a:t> is the determining factor for the protection of wear,</a:t>
                </a:r>
              </a:p>
              <a:p>
                <a:pPr marL="711200" lvl="0" indent="-482600">
                  <a:spcBef>
                    <a:spcPts val="1800"/>
                  </a:spcBef>
                  <a:buFont typeface="Wingdings" panose="05000000000000000000" pitchFamily="2" charset="2"/>
                  <a:buChar char="v"/>
                </a:pPr>
                <a:r>
                  <a:rPr lang="en-GB" dirty="0" smtClean="0">
                    <a:solidFill>
                      <a:prstClr val="black"/>
                    </a:solidFill>
                  </a:rPr>
                  <a:t>In </a:t>
                </a:r>
                <a:r>
                  <a:rPr lang="en-GB" dirty="0">
                    <a:solidFill>
                      <a:prstClr val="black"/>
                    </a:solidFill>
                  </a:rPr>
                  <a:t>mixed </a:t>
                </a:r>
                <a:r>
                  <a:rPr lang="en-GB" b="1" i="1" dirty="0">
                    <a:solidFill>
                      <a:prstClr val="black"/>
                    </a:solidFill>
                  </a:rPr>
                  <a:t>frictional </a:t>
                </a:r>
                <a:r>
                  <a:rPr lang="en-GB" b="1" i="1" dirty="0" smtClean="0">
                    <a:solidFill>
                      <a:prstClr val="black"/>
                    </a:solidFill>
                  </a:rPr>
                  <a:t>state:</a:t>
                </a:r>
                <a:endParaRPr lang="en-GB" dirty="0">
                  <a:solidFill>
                    <a:prstClr val="black"/>
                  </a:solidFill>
                </a:endParaRPr>
              </a:p>
              <a:p>
                <a:pPr marL="889000" lvl="0" fontAlgn="base" hangingPunct="0">
                  <a:spcBef>
                    <a:spcPts val="1800"/>
                  </a:spcBef>
                </a:pPr>
                <a14:m>
                  <m:oMath xmlns:m="http://schemas.openxmlformats.org/officeDocument/2006/math"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𝜂</m:t>
                    </m:r>
                  </m:oMath>
                </a14:m>
                <a:r>
                  <a:rPr lang="en-GB" dirty="0">
                    <a:solidFill>
                      <a:prstClr val="black"/>
                    </a:solidFill>
                    <a:ea typeface="Times New Roman" panose="02020603050405020304" pitchFamily="18" charset="0"/>
                  </a:rPr>
                  <a:t> should be above </a:t>
                </a:r>
                <a:r>
                  <a:rPr lang="en-GB" dirty="0" smtClean="0">
                    <a:solidFill>
                      <a:prstClr val="black"/>
                    </a:solidFill>
                    <a:ea typeface="Times New Roman" panose="02020603050405020304" pitchFamily="18" charset="0"/>
                  </a:rPr>
                  <a:t>a </a:t>
                </a:r>
                <a:r>
                  <a:rPr lang="en-GB" dirty="0" smtClean="0">
                    <a:solidFill>
                      <a:prstClr val="black"/>
                    </a:solidFill>
                  </a:rPr>
                  <a:t>critical value, </a:t>
                </a:r>
                <a:r>
                  <a:rPr lang="en-GB" dirty="0" smtClean="0">
                    <a:solidFill>
                      <a:prstClr val="black"/>
                    </a:solidFill>
                  </a:rPr>
                  <a:t>in order to</a:t>
                </a:r>
                <a:endParaRPr lang="en-GB" dirty="0">
                  <a:solidFill>
                    <a:prstClr val="black"/>
                  </a:solidFill>
                </a:endParaRPr>
              </a:p>
              <a:p>
                <a:pPr marL="889000" lvl="0">
                  <a:spcBef>
                    <a:spcPts val="1800"/>
                  </a:spcBef>
                </a:pPr>
                <a:r>
                  <a:rPr lang="en-GB" dirty="0" smtClean="0">
                    <a:solidFill>
                      <a:prstClr val="black"/>
                    </a:solidFill>
                  </a:rPr>
                  <a:t>Be able </a:t>
                </a:r>
                <a:r>
                  <a:rPr lang="en-GB" dirty="0">
                    <a:solidFill>
                      <a:prstClr val="black"/>
                    </a:solidFill>
                  </a:rPr>
                  <a:t>to keep the two rubbing surfaces apart, </a:t>
                </a:r>
                <a:r>
                  <a:rPr lang="en-GB" dirty="0" smtClean="0">
                    <a:solidFill>
                      <a:prstClr val="black"/>
                    </a:solidFill>
                  </a:rPr>
                  <a:t>and</a:t>
                </a:r>
                <a:endParaRPr lang="en-GB" dirty="0">
                  <a:solidFill>
                    <a:prstClr val="black"/>
                  </a:solidFill>
                </a:endParaRPr>
              </a:p>
              <a:p>
                <a:pPr marL="889000" lvl="0">
                  <a:spcBef>
                    <a:spcPts val="1800"/>
                  </a:spcBef>
                </a:pPr>
                <a:r>
                  <a:rPr lang="en-GB" dirty="0" smtClean="0">
                    <a:solidFill>
                      <a:prstClr val="black"/>
                    </a:solidFill>
                  </a:rPr>
                  <a:t>Thus, prevent </a:t>
                </a:r>
                <a:r>
                  <a:rPr lang="en-GB" dirty="0">
                    <a:solidFill>
                      <a:prstClr val="black"/>
                    </a:solidFill>
                  </a:rPr>
                  <a:t>wear</a:t>
                </a:r>
                <a:r>
                  <a:rPr lang="en-US" dirty="0" smtClean="0">
                    <a:solidFill>
                      <a:prstClr val="black"/>
                    </a:solidFill>
                  </a:rPr>
                  <a:t>.</a:t>
                </a:r>
                <a:endParaRPr lang="en-GB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70000"/>
                <a:ext cx="10515600" cy="5194739"/>
              </a:xfrm>
              <a:blipFill rotWithShape="0">
                <a:blip r:embed="rId2"/>
                <a:stretch>
                  <a:fillRect l="-1217" t="-5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63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632561"/>
          </a:xfrm>
        </p:spPr>
        <p:txBody>
          <a:bodyPr/>
          <a:lstStyle/>
          <a:p>
            <a:r>
              <a:rPr lang="en-GB" dirty="0"/>
              <a:t>UNIT 4 : Selection Criteria of Hydraulic Fluids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711200" lvl="0" indent="-482600">
                  <a:lnSpc>
                    <a:spcPct val="110000"/>
                  </a:lnSpc>
                  <a:spcBef>
                    <a:spcPts val="2400"/>
                  </a:spcBef>
                  <a:buFont typeface="Wingdings" panose="05000000000000000000" pitchFamily="2" charset="2"/>
                  <a:buChar char="v"/>
                </a:pPr>
                <a:r>
                  <a:rPr lang="en-GB" dirty="0">
                    <a:solidFill>
                      <a:prstClr val="black"/>
                    </a:solidFill>
                  </a:rPr>
                  <a:t>In mixed </a:t>
                </a:r>
                <a:r>
                  <a:rPr lang="en-GB" b="1" i="1" dirty="0">
                    <a:solidFill>
                      <a:prstClr val="black"/>
                    </a:solidFill>
                  </a:rPr>
                  <a:t>frictional state</a:t>
                </a:r>
                <a:r>
                  <a:rPr lang="en-GB" dirty="0">
                    <a:solidFill>
                      <a:prstClr val="black"/>
                    </a:solidFill>
                  </a:rPr>
                  <a:t>, should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𝜂</m:t>
                    </m:r>
                  </m:oMath>
                </a14:m>
                <a:r>
                  <a:rPr lang="en-GB" dirty="0">
                    <a:solidFill>
                      <a:prstClr val="black"/>
                    </a:solidFill>
                    <a:ea typeface="Times New Roman" panose="02020603050405020304" pitchFamily="18" charset="0"/>
                  </a:rPr>
                  <a:t> </a:t>
                </a:r>
                <a:r>
                  <a:rPr lang="en-GB" dirty="0">
                    <a:solidFill>
                      <a:prstClr val="black"/>
                    </a:solidFill>
                  </a:rPr>
                  <a:t>drop below a critical value and therefore unable to keep the two rubbing surfaces apart, then protection of wear would depend upon:</a:t>
                </a:r>
              </a:p>
              <a:p>
                <a:pPr marL="889000" lvl="0" fontAlgn="base" hangingPunct="0">
                  <a:lnSpc>
                    <a:spcPct val="110000"/>
                  </a:lnSpc>
                  <a:spcBef>
                    <a:spcPts val="2400"/>
                  </a:spcBef>
                </a:pPr>
                <a:r>
                  <a:rPr lang="en-GB" dirty="0">
                    <a:solidFill>
                      <a:prstClr val="black"/>
                    </a:solidFill>
                  </a:rPr>
                  <a:t>Chemical reactions on the surfaces,</a:t>
                </a:r>
              </a:p>
              <a:p>
                <a:pPr marL="889000" lvl="0">
                  <a:lnSpc>
                    <a:spcPct val="110000"/>
                  </a:lnSpc>
                  <a:spcBef>
                    <a:spcPts val="2400"/>
                  </a:spcBef>
                </a:pPr>
                <a:r>
                  <a:rPr lang="en-GB" dirty="0">
                    <a:solidFill>
                      <a:prstClr val="black"/>
                    </a:solidFill>
                  </a:rPr>
                  <a:t>Ability of the hydraulic fluid to spread over the surfaces, and</a:t>
                </a:r>
              </a:p>
              <a:p>
                <a:pPr marL="889000" lvl="0">
                  <a:lnSpc>
                    <a:spcPct val="110000"/>
                  </a:lnSpc>
                  <a:spcBef>
                    <a:spcPts val="2400"/>
                  </a:spcBef>
                </a:pPr>
                <a:r>
                  <a:rPr lang="en-US" dirty="0">
                    <a:solidFill>
                      <a:prstClr val="black"/>
                    </a:solidFill>
                  </a:rPr>
                  <a:t>Presence of wear-protective additive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120" r="-13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48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9516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37476"/>
            <a:ext cx="10515600" cy="583324"/>
          </a:xfrm>
        </p:spPr>
        <p:txBody>
          <a:bodyPr>
            <a:normAutofit fontScale="90000"/>
          </a:bodyPr>
          <a:lstStyle/>
          <a:p>
            <a:r>
              <a:rPr lang="en-GB" dirty="0"/>
              <a:t>UNIT 4 : Selection Criteria of Hydraulic Fluids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20800"/>
                <a:ext cx="10515600" cy="5143939"/>
              </a:xfrm>
            </p:spPr>
            <p:txBody>
              <a:bodyPr>
                <a:normAutofit/>
              </a:bodyPr>
              <a:lstStyle/>
              <a:p>
                <a:pPr marL="571500" lvl="0" indent="-571500" algn="just" fontAlgn="base" hangingPunct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romanLcPeriod" startAt="4"/>
                </a:pPr>
                <a:r>
                  <a:rPr lang="en-GB" sz="2600" b="1" i="1" dirty="0" smtClean="0">
                    <a:solidFill>
                      <a:prstClr val="black"/>
                    </a:solidFill>
                    <a:ea typeface="Times New Roman" panose="02020603050405020304" pitchFamily="18" charset="0"/>
                  </a:rPr>
                  <a:t>Dissolution of Gases</a:t>
                </a:r>
                <a:endParaRPr lang="en-GB" sz="2600" dirty="0">
                  <a:solidFill>
                    <a:prstClr val="black"/>
                  </a:solidFill>
                </a:endParaRPr>
              </a:p>
              <a:p>
                <a:pPr marL="635000" lvl="0" indent="-406400">
                  <a:buFont typeface="Wingdings" panose="05000000000000000000" pitchFamily="2" charset="2"/>
                  <a:buChar char="v"/>
                </a:pPr>
                <a:r>
                  <a:rPr lang="en-GB" sz="2600" dirty="0">
                    <a:solidFill>
                      <a:prstClr val="black"/>
                    </a:solidFill>
                  </a:rPr>
                  <a:t>Pressure fluids do dissolve a certain proportion of gases,</a:t>
                </a:r>
              </a:p>
              <a:p>
                <a:pPr marL="635000" lvl="0" indent="-406400">
                  <a:buFont typeface="Wingdings" panose="05000000000000000000" pitchFamily="2" charset="2"/>
                  <a:buChar char="v"/>
                </a:pPr>
                <a:r>
                  <a:rPr lang="en-GB" sz="2600" dirty="0">
                    <a:solidFill>
                      <a:prstClr val="black"/>
                    </a:solidFill>
                  </a:rPr>
                  <a:t>Capacity to dissolve these gases is proportional to the pressure if the pressure is less than 300bar and</a:t>
                </a:r>
              </a:p>
              <a:p>
                <a:pPr marL="635000" lvl="0" indent="-406400">
                  <a:buFont typeface="Wingdings" panose="05000000000000000000" pitchFamily="2" charset="2"/>
                  <a:buChar char="v"/>
                </a:pPr>
                <a:r>
                  <a:rPr lang="en-GB" sz="2600" dirty="0">
                    <a:solidFill>
                      <a:prstClr val="black"/>
                    </a:solidFill>
                  </a:rPr>
                  <a:t>Amount of gas dissolved is expressed by Dalton equation:</a:t>
                </a:r>
              </a:p>
              <a:p>
                <a:pPr marL="889000" lvl="0" indent="0" algn="just">
                  <a:lnSpc>
                    <a:spcPct val="120000"/>
                  </a:lnSpc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2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𝑝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GB" sz="2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GB" sz="2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sSub>
                        <m:sSubPr>
                          <m:ctrlP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sz="2600" dirty="0" smtClean="0">
                  <a:solidFill>
                    <a:prstClr val="black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2021840" lvl="0" indent="0" algn="just">
                  <a:lnSpc>
                    <a:spcPct val="120000"/>
                  </a:lnSpc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𝑣𝑜𝑙𝑢𝑚𝑒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𝑜𝑓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𝑔𝑎𝑠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𝑑𝑖𝑠𝑠𝑜𝑙𝑣𝑒𝑑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     </m:t>
                      </m:r>
                      <m:sSub>
                        <m:sSubPr>
                          <m:ctrlP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𝑣𝑜𝑙𝑢𝑚𝑒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𝑜𝑓𝑓𝑙𝑢𝑖𝑑</m:t>
                      </m:r>
                    </m:oMath>
                  </m:oMathPara>
                </a14:m>
                <a:endParaRPr lang="en-GB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marL="2021840" lvl="0" indent="0" algn="just">
                  <a:lnSpc>
                    <a:spcPct val="120000"/>
                  </a:lnSpc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𝑝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𝑎𝑏𝑠𝑜𝑙𝑢𝑡𝑒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𝑝𝑟𝑒𝑠𝑠𝑢𝑟𝑒</m:t>
                      </m:r>
                      <m:r>
                        <a:rPr lang="en-US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  </m:t>
                      </m:r>
                      <m:sSub>
                        <m:sSubPr>
                          <m:ctrlP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𝑎𝑡𝑚𝑜𝑠𝑝h𝑒𝑟𝑖𝑐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𝑝𝑟𝑒𝑠𝑠𝑢𝑟</m:t>
                      </m:r>
                    </m:oMath>
                  </m:oMathPara>
                </a14:m>
                <a:endParaRPr lang="en-GB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𝐵𝑢𝑛𝑠𝑒𝑛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𝑐𝑜𝑒𝑓𝑓𝑖𝑐𝑖𝑒𝑛𝑡</m:t>
                      </m:r>
                    </m:oMath>
                  </m:oMathPara>
                </a14:m>
                <a:endParaRPr lang="en-GB" sz="2600" dirty="0">
                  <a:solidFill>
                    <a:prstClr val="black"/>
                  </a:solidFill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20800"/>
                <a:ext cx="10515600" cy="5143939"/>
              </a:xfrm>
              <a:blipFill rotWithShape="0">
                <a:blip r:embed="rId2"/>
                <a:stretch>
                  <a:fillRect l="-1101" t="-593" b="-9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1944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37476"/>
            <a:ext cx="10515600" cy="634124"/>
          </a:xfrm>
        </p:spPr>
        <p:txBody>
          <a:bodyPr/>
          <a:lstStyle/>
          <a:p>
            <a:r>
              <a:rPr lang="en-GB" dirty="0"/>
              <a:t>UNIT 4 : Selection Criteria of Hydraulic Fluids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2400"/>
            <a:ext cx="10515600" cy="5042339"/>
          </a:xfrm>
        </p:spPr>
        <p:txBody>
          <a:bodyPr>
            <a:normAutofit/>
          </a:bodyPr>
          <a:lstStyle/>
          <a:p>
            <a:pPr marL="571500" lvl="0" indent="-571500" algn="just" fontAlgn="base" hangingPunct="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+mj-lt"/>
              <a:buAutoNum type="romanLcPeriod" startAt="5"/>
            </a:pPr>
            <a:r>
              <a:rPr lang="en-GB" b="1" i="1" dirty="0">
                <a:solidFill>
                  <a:prstClr val="black"/>
                </a:solidFill>
                <a:ea typeface="Times New Roman" panose="02020603050405020304" pitchFamily="18" charset="0"/>
              </a:rPr>
              <a:t>Cavitation</a:t>
            </a:r>
            <a:endParaRPr lang="en-GB" dirty="0">
              <a:solidFill>
                <a:prstClr val="black"/>
              </a:solidFill>
            </a:endParaRPr>
          </a:p>
          <a:p>
            <a:pPr marL="538163" lvl="0" indent="-182563"/>
            <a:r>
              <a:rPr lang="en-GB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Due to dissolved gases or air coming out of a fluid forming bubbles,</a:t>
            </a:r>
          </a:p>
          <a:p>
            <a:pPr marL="538163" lvl="0" indent="-182563"/>
            <a:r>
              <a:rPr lang="en-GB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Even if dissolved gases are not present, the fluid may ''boil'' </a:t>
            </a:r>
            <a:r>
              <a:rPr lang="en-GB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when its pressure becomes too low, or its temperature too high</a:t>
            </a:r>
            <a:r>
              <a:rPr lang="en-GB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538163" lvl="0" indent="-182563"/>
            <a:r>
              <a:rPr lang="en-GB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Evaporation or boiling occurs at atmospheric temperature when the pressure is reduced to the saturation vapour pressure,</a:t>
            </a:r>
          </a:p>
          <a:p>
            <a:pPr marL="538163" lvl="0" indent="-182563"/>
            <a:r>
              <a:rPr lang="en-GB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This can result out of a higher fluid velocity,</a:t>
            </a:r>
          </a:p>
          <a:p>
            <a:pPr marL="538163" lvl="0" indent="-182563"/>
            <a:r>
              <a:rPr lang="en-GB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Actual problem is the high explosive nature of these gases near surfaces when the fluid re-enters a high pressure zones</a:t>
            </a:r>
            <a:r>
              <a:rPr lang="en-GB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361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11200"/>
            <a:ext cx="10515600" cy="635000"/>
          </a:xfrm>
        </p:spPr>
        <p:txBody>
          <a:bodyPr/>
          <a:lstStyle/>
          <a:p>
            <a:r>
              <a:rPr lang="en-GB" dirty="0"/>
              <a:t>UNIT 4 : Selection Criteria of Hydraulic Fluids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6200"/>
            <a:ext cx="10515600" cy="5118539"/>
          </a:xfrm>
        </p:spPr>
        <p:txBody>
          <a:bodyPr>
            <a:normAutofit lnSpcReduction="10000"/>
          </a:bodyPr>
          <a:lstStyle/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2400" b="1" i="1" dirty="0">
                <a:solidFill>
                  <a:prstClr val="black"/>
                </a:solidFill>
              </a:rPr>
              <a:t>Cavitation can take place in</a:t>
            </a:r>
            <a:r>
              <a:rPr lang="en-GB" sz="2400" dirty="0">
                <a:solidFill>
                  <a:prstClr val="black"/>
                </a:solidFill>
              </a:rPr>
              <a:t>:</a:t>
            </a:r>
          </a:p>
          <a:p>
            <a:pPr marL="355600" lv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548640" algn="l"/>
              </a:tabLst>
            </a:pPr>
            <a:r>
              <a:rPr lang="en-GB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	suction pipe lines and canals of pumps,</a:t>
            </a:r>
            <a:endParaRPr lang="en-GB" sz="24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1981200" lvl="0" indent="-1168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Causes:	Lower absolute pressure due to:</a:t>
            </a:r>
            <a:endParaRPr lang="en-GB" sz="24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1447800" marR="822960" lvl="1" indent="-279400" fontAlgn="base" hangingPunc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LcPeriod"/>
            </a:pPr>
            <a:r>
              <a:rPr lang="en-GB" sz="2000" dirty="0">
                <a:solidFill>
                  <a:prstClr val="black"/>
                </a:solidFill>
                <a:ea typeface="Times New Roman" panose="02020603050405020304" pitchFamily="18" charset="0"/>
              </a:rPr>
              <a:t>losses in fittings, curves, reduced cross-sectional areas,</a:t>
            </a:r>
          </a:p>
          <a:p>
            <a:pPr marL="1447800" marR="822960" lvl="1" indent="-279400" fontAlgn="base" hangingPunc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LcPeriod"/>
            </a:pPr>
            <a:r>
              <a:rPr lang="en-GB" sz="2000" dirty="0">
                <a:solidFill>
                  <a:prstClr val="black"/>
                </a:solidFill>
                <a:ea typeface="Times New Roman" panose="02020603050405020304" pitchFamily="18" charset="0"/>
              </a:rPr>
              <a:t>long suction heights,</a:t>
            </a:r>
            <a:endParaRPr lang="en-GB" sz="2000" dirty="0">
              <a:solidFill>
                <a:prstClr val="black"/>
              </a:solidFill>
            </a:endParaRPr>
          </a:p>
          <a:p>
            <a:pPr marL="1447800" marR="822960" lvl="1" indent="-279400" fontAlgn="base" hangingPunc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LcPeriod"/>
            </a:pPr>
            <a:r>
              <a:rPr lang="en-GB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higher velocities.</a:t>
            </a:r>
            <a:endParaRPr lang="en-GB" sz="20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1879600" lvl="0" indent="-1066800" algn="just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Effects:	erosion of parts, power losses, high noise, pressure shocks etc.</a:t>
            </a:r>
            <a:endParaRPr lang="en-GB" sz="24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812800" lvl="0" indent="-457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	Throttles, orifices, etc.</a:t>
            </a:r>
            <a:endParaRPr lang="en-GB" sz="24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812800" lv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Causes:	Lower pressures due to high velocities</a:t>
            </a:r>
            <a:endParaRPr lang="en-GB" sz="24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1981200" lvl="0" indent="-11684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Effects:	high noise, erosion, instability of their controls, change in the flow </a:t>
            </a:r>
            <a:r>
              <a:rPr lang="en-GB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characteristics</a:t>
            </a:r>
            <a:endParaRPr lang="en-GB" sz="2400" dirty="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3775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4 : Selection Criteria of Hydraulic Fluids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i="1" dirty="0">
                <a:solidFill>
                  <a:prstClr val="black"/>
                </a:solidFill>
              </a:rPr>
              <a:t>Cavitation Protective Measures:</a:t>
            </a:r>
          </a:p>
          <a:p>
            <a:pPr marL="635000" lvl="0" indent="-355600" fontAlgn="base" hangingPunct="0">
              <a:lnSpc>
                <a:spcPct val="120000"/>
              </a:lnSpc>
              <a:spcAft>
                <a:spcPts val="360"/>
              </a:spcAft>
              <a:buFont typeface="Wingdings" panose="05000000000000000000" pitchFamily="2" charset="2"/>
              <a:buChar char="v"/>
              <a:tabLst>
                <a:tab pos="900430" algn="l"/>
              </a:tabLst>
            </a:pPr>
            <a:r>
              <a:rPr lang="en-GB" dirty="0">
                <a:solidFill>
                  <a:prstClr val="black"/>
                </a:solidFill>
                <a:ea typeface="Times New Roman" panose="02020603050405020304" pitchFamily="18" charset="0"/>
              </a:rPr>
              <a:t>Choice </a:t>
            </a:r>
            <a:r>
              <a:rPr lang="en-GB" i="1" dirty="0">
                <a:solidFill>
                  <a:prstClr val="black"/>
                </a:solidFill>
                <a:ea typeface="Times New Roman" panose="02020603050405020304" pitchFamily="18" charset="0"/>
              </a:rPr>
              <a:t>of </a:t>
            </a:r>
            <a:r>
              <a:rPr lang="en-GB" dirty="0">
                <a:solidFill>
                  <a:prstClr val="black"/>
                </a:solidFill>
                <a:ea typeface="Times New Roman" panose="02020603050405020304" pitchFamily="18" charset="0"/>
              </a:rPr>
              <a:t>material with resistance to erosion on surface,</a:t>
            </a:r>
            <a:endParaRPr lang="en-GB" dirty="0">
              <a:solidFill>
                <a:prstClr val="black"/>
              </a:solidFill>
            </a:endParaRPr>
          </a:p>
          <a:p>
            <a:pPr marL="635000" lvl="0" indent="-355600" fontAlgn="base" hangingPunct="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v"/>
              <a:tabLst>
                <a:tab pos="900430" algn="l"/>
              </a:tabLst>
            </a:pPr>
            <a:r>
              <a:rPr lang="en-GB" dirty="0">
                <a:solidFill>
                  <a:prstClr val="black"/>
                </a:solidFill>
                <a:ea typeface="Times New Roman" panose="02020603050405020304" pitchFamily="18" charset="0"/>
              </a:rPr>
              <a:t>Reducing the pressure differences on a single pressure reducing element (serial connection of such elements),</a:t>
            </a:r>
            <a:endParaRPr lang="en-GB" dirty="0">
              <a:solidFill>
                <a:prstClr val="black"/>
              </a:solidFill>
            </a:endParaRPr>
          </a:p>
          <a:p>
            <a:pPr marL="635000" lvl="0" indent="-355600">
              <a:buFont typeface="Wingdings" panose="05000000000000000000" pitchFamily="2" charset="2"/>
              <a:buChar char="v"/>
            </a:pPr>
            <a:r>
              <a:rPr lang="en-GB" dirty="0">
                <a:solidFill>
                  <a:prstClr val="black"/>
                </a:solidFill>
                <a:ea typeface="Times New Roman" panose="02020603050405020304" pitchFamily="18" charset="0"/>
              </a:rPr>
              <a:t>Deviating the cavitation’s jet away from critical </a:t>
            </a:r>
            <a:r>
              <a:rPr lang="en-GB" dirty="0" smtClean="0">
                <a:solidFill>
                  <a:prstClr val="black"/>
                </a:solidFill>
                <a:ea typeface="Times New Roman" panose="02020603050405020304" pitchFamily="18" charset="0"/>
              </a:rPr>
              <a:t>areas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2709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4 : Selection Criteria of Hydraulic Fluids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25099"/>
          </a:xfrm>
        </p:spPr>
        <p:txBody>
          <a:bodyPr/>
          <a:lstStyle/>
          <a:p>
            <a:pPr marL="571500" lvl="0" indent="-571500" algn="just" fontAlgn="base" hangingPunct="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+mj-lt"/>
              <a:buAutoNum type="romanLcPeriod" startAt="6"/>
            </a:pPr>
            <a:r>
              <a:rPr lang="en-GB" b="1" i="1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Material compatibility</a:t>
            </a:r>
          </a:p>
          <a:p>
            <a:pPr algn="just" fontAlgn="base" hangingPunct="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GB" dirty="0" smtClean="0"/>
              <a:t>Hydraulic </a:t>
            </a:r>
            <a:r>
              <a:rPr lang="en-GB" dirty="0"/>
              <a:t>fluid must not negatively affect the materials of components such as coatings, seals, hoses, metals and plastics</a:t>
            </a:r>
            <a:endParaRPr lang="en-GB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53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9623" y="4250724"/>
            <a:ext cx="6624000" cy="18639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7930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37476"/>
            <a:ext cx="10515600" cy="608724"/>
          </a:xfrm>
        </p:spPr>
        <p:txBody>
          <a:bodyPr/>
          <a:lstStyle/>
          <a:p>
            <a:r>
              <a:rPr lang="en-GB" dirty="0"/>
              <a:t>UNIT 4 : Selection Criteria of Hydraulic Fluids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6200"/>
            <a:ext cx="10515600" cy="5118539"/>
          </a:xfrm>
        </p:spPr>
        <p:txBody>
          <a:bodyPr>
            <a:normAutofit fontScale="92500"/>
          </a:bodyPr>
          <a:lstStyle/>
          <a:p>
            <a:pPr marL="571500" lvl="0" indent="-571500" algn="just" fontAlgn="base" hangingPunct="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+mj-lt"/>
              <a:buAutoNum type="romanLcPeriod" startAt="7"/>
            </a:pPr>
            <a:r>
              <a:rPr lang="en-GB" sz="3100" b="1" i="1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Aging (oxidation and Polymerisation)</a:t>
            </a:r>
            <a:endParaRPr lang="en-GB" sz="31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863600" lvl="0" indent="-4572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en-GB" sz="31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Oxidation is a reaction with oxygen to form acidic bases.</a:t>
            </a:r>
            <a:endParaRPr lang="en-GB" sz="31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863600" lvl="0" indent="-4572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en-GB" sz="31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Polymerisation is the increase in the length of the C-H chain, and it leads to the formation of sludge,</a:t>
            </a:r>
          </a:p>
          <a:p>
            <a:pPr marL="863600" lvl="0" indent="-4572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en-GB" sz="31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Acceleration of aging can be due to:</a:t>
            </a:r>
          </a:p>
          <a:p>
            <a:pPr marL="1295400" lvl="0" indent="-457200" algn="just" fontAlgn="base" hangingPunc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990600" algn="l"/>
              </a:tabLst>
            </a:pPr>
            <a:r>
              <a:rPr lang="en-GB" dirty="0">
                <a:solidFill>
                  <a:prstClr val="black"/>
                </a:solidFill>
                <a:ea typeface="Times New Roman" panose="02020603050405020304" pitchFamily="18" charset="0"/>
              </a:rPr>
              <a:t>High operating temperatures.</a:t>
            </a:r>
            <a:endParaRPr lang="en-GB" dirty="0">
              <a:solidFill>
                <a:prstClr val="black"/>
              </a:solidFill>
            </a:endParaRPr>
          </a:p>
          <a:p>
            <a:pPr marL="1295400" lvl="0" indent="-457200" algn="just" fontAlgn="base" hangingPunc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990600" algn="l"/>
              </a:tabLst>
            </a:pPr>
            <a:r>
              <a:rPr lang="en-GB" dirty="0">
                <a:solidFill>
                  <a:prstClr val="black"/>
                </a:solidFill>
                <a:ea typeface="Times New Roman" panose="02020603050405020304" pitchFamily="18" charset="0"/>
              </a:rPr>
              <a:t>Presence </a:t>
            </a:r>
            <a:r>
              <a:rPr lang="en-GB" i="1" dirty="0">
                <a:solidFill>
                  <a:prstClr val="black"/>
                </a:solidFill>
                <a:ea typeface="Times New Roman" panose="02020603050405020304" pitchFamily="18" charset="0"/>
              </a:rPr>
              <a:t>of </a:t>
            </a:r>
            <a:r>
              <a:rPr lang="en-GB" dirty="0">
                <a:solidFill>
                  <a:prstClr val="black"/>
                </a:solidFill>
                <a:ea typeface="Times New Roman" panose="02020603050405020304" pitchFamily="18" charset="0"/>
              </a:rPr>
              <a:t>foreign air,</a:t>
            </a:r>
            <a:endParaRPr lang="en-GB" dirty="0">
              <a:solidFill>
                <a:prstClr val="black"/>
              </a:solidFill>
            </a:endParaRPr>
          </a:p>
          <a:p>
            <a:pPr marL="1295400" lvl="0" indent="-457200" algn="just" fontAlgn="base" hangingPunc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990600" algn="l"/>
              </a:tabLst>
            </a:pPr>
            <a:r>
              <a:rPr lang="en-GB" dirty="0">
                <a:solidFill>
                  <a:prstClr val="black"/>
                </a:solidFill>
                <a:ea typeface="Times New Roman" panose="02020603050405020304" pitchFamily="18" charset="0"/>
              </a:rPr>
              <a:t>Presence of water and other impurities,</a:t>
            </a:r>
            <a:endParaRPr lang="en-GB" dirty="0">
              <a:solidFill>
                <a:prstClr val="black"/>
              </a:solidFill>
            </a:endParaRPr>
          </a:p>
          <a:p>
            <a:pPr marL="1295400" lvl="0" indent="-45720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>
                <a:solidFill>
                  <a:prstClr val="black"/>
                </a:solidFill>
                <a:ea typeface="Times New Roman" panose="02020603050405020304" pitchFamily="18" charset="0"/>
              </a:rPr>
              <a:t>Presence of metallic catalyst (mostly Cu and Cu-alloys</a:t>
            </a:r>
            <a:r>
              <a:rPr lang="en-GB" sz="1700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GB" sz="2600" dirty="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6039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4 : Selection Criteria of Hydraulic Fluids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Aft>
                <a:spcPts val="1200"/>
              </a:spcAft>
            </a:pPr>
            <a:r>
              <a:rPr lang="en-GB" sz="2400" b="1" i="1" dirty="0">
                <a:solidFill>
                  <a:prstClr val="black"/>
                </a:solidFill>
              </a:rPr>
              <a:t>Aging (oxidation and </a:t>
            </a:r>
            <a:r>
              <a:rPr lang="en-GB" sz="2400" b="1" i="1" dirty="0" smtClean="0">
                <a:solidFill>
                  <a:prstClr val="black"/>
                </a:solidFill>
              </a:rPr>
              <a:t>Polymerisation) Neutralisation</a:t>
            </a:r>
            <a:r>
              <a:rPr lang="en-US" sz="2400" b="1" i="1" dirty="0" smtClean="0">
                <a:solidFill>
                  <a:prstClr val="black"/>
                </a:solidFill>
              </a:rPr>
              <a:t> </a:t>
            </a:r>
            <a:r>
              <a:rPr lang="en-US" sz="2400" b="1" i="1" dirty="0">
                <a:solidFill>
                  <a:prstClr val="black"/>
                </a:solidFill>
              </a:rPr>
              <a:t>Number:</a:t>
            </a:r>
            <a:endParaRPr lang="en-GB" sz="2400" b="1" i="1" dirty="0">
              <a:solidFill>
                <a:prstClr val="black"/>
              </a:solidFill>
            </a:endParaRPr>
          </a:p>
          <a:p>
            <a:pPr marL="812800" lvl="0" indent="-457200">
              <a:buFont typeface="Wingdings" panose="05000000000000000000" pitchFamily="2" charset="2"/>
              <a:buChar char="v"/>
            </a:pPr>
            <a:r>
              <a:rPr lang="en-GB" dirty="0">
                <a:solidFill>
                  <a:prstClr val="black"/>
                </a:solidFill>
              </a:rPr>
              <a:t>It is a scale for determining the aging state of fluids,</a:t>
            </a:r>
          </a:p>
          <a:p>
            <a:pPr marL="812800" lvl="0" indent="-457200">
              <a:buFont typeface="Wingdings" panose="05000000000000000000" pitchFamily="2" charset="2"/>
              <a:buChar char="v"/>
            </a:pPr>
            <a:r>
              <a:rPr lang="en-GB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it specifies the amount of</a:t>
            </a:r>
            <a:r>
              <a:rPr lang="en-GB" baseline="30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n-GB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KOH necessary to neutralise 1g of the fluid</a:t>
            </a:r>
            <a:r>
              <a:rPr lang="en-GB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55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5328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694535"/>
          </a:xfrm>
        </p:spPr>
        <p:txBody>
          <a:bodyPr/>
          <a:lstStyle/>
          <a:p>
            <a:r>
              <a:rPr lang="en-GB" dirty="0"/>
              <a:t>UNIT 4 : Selection Criteria of Hydraulic Fluids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29946"/>
            <a:ext cx="10515600" cy="4734793"/>
          </a:xfrm>
        </p:spPr>
        <p:txBody>
          <a:bodyPr>
            <a:normAutofit fontScale="92500" lnSpcReduction="10000"/>
          </a:bodyPr>
          <a:lstStyle/>
          <a:p>
            <a:pPr marL="715963" lvl="0" indent="-715963" algn="just" fontAlgn="base" hangingPunct="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+mj-lt"/>
              <a:buAutoNum type="romanLcPeriod" startAt="8"/>
            </a:pPr>
            <a:r>
              <a:rPr lang="en-GB" b="1" i="1" dirty="0"/>
              <a:t>Air separation ability (ASA</a:t>
            </a:r>
            <a:r>
              <a:rPr lang="en-GB" b="1" i="1" dirty="0" smtClean="0"/>
              <a:t>)</a:t>
            </a:r>
            <a:endParaRPr lang="en-GB" b="1" i="1" dirty="0"/>
          </a:p>
          <a:p>
            <a:pPr marL="542925" algn="just" fontAlgn="base" hangingPunct="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GB" dirty="0" smtClean="0"/>
              <a:t>Property </a:t>
            </a:r>
            <a:r>
              <a:rPr lang="en-GB" dirty="0"/>
              <a:t>of a hydraulic fluid to separate undissolved </a:t>
            </a:r>
            <a:r>
              <a:rPr lang="en-GB" dirty="0" smtClean="0"/>
              <a:t>air</a:t>
            </a:r>
          </a:p>
          <a:p>
            <a:pPr marL="542925" algn="just" fontAlgn="base" hangingPunct="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GB" dirty="0" smtClean="0"/>
              <a:t>Hydraulic </a:t>
            </a:r>
            <a:r>
              <a:rPr lang="en-GB" dirty="0"/>
              <a:t>fluids always contain dissolved </a:t>
            </a:r>
            <a:r>
              <a:rPr lang="en-GB" dirty="0" smtClean="0"/>
              <a:t>air,</a:t>
            </a:r>
          </a:p>
          <a:p>
            <a:pPr marL="542925" algn="just" fontAlgn="base" hangingPunct="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GB" dirty="0"/>
              <a:t>During operation, dissolved air may be transformed into undissolved air, leading to </a:t>
            </a:r>
            <a:r>
              <a:rPr lang="en-GB" dirty="0" smtClean="0"/>
              <a:t>cavitation,</a:t>
            </a:r>
          </a:p>
          <a:p>
            <a:pPr marL="542925" algn="just" fontAlgn="base" hangingPunct="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GB" dirty="0"/>
              <a:t>air separation capacity depends on the viscosity, temperature, basic fluid and </a:t>
            </a:r>
            <a:r>
              <a:rPr lang="en-GB" dirty="0" smtClean="0"/>
              <a:t>aging,</a:t>
            </a:r>
          </a:p>
          <a:p>
            <a:pPr marL="542925" algn="just" fontAlgn="base" hangingPunct="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GB" dirty="0" smtClean="0"/>
              <a:t> </a:t>
            </a:r>
            <a:r>
              <a:rPr lang="en-GB" dirty="0"/>
              <a:t>It cannot be improved by additives.</a:t>
            </a:r>
            <a:endParaRPr lang="en-GB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56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8752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669821"/>
          </a:xfrm>
        </p:spPr>
        <p:txBody>
          <a:bodyPr/>
          <a:lstStyle/>
          <a:p>
            <a:r>
              <a:rPr lang="en-GB" dirty="0"/>
              <a:t>UNIT 4 : Selection Criteria of Hydraulic Fluids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15963" lvl="0" indent="-715963" algn="just" fontAlgn="base" hangingPunct="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+mj-lt"/>
              <a:buAutoNum type="romanLcPeriod" startAt="9"/>
            </a:pPr>
            <a:r>
              <a:rPr lang="en-GB" b="1" i="1" dirty="0"/>
              <a:t>Demulsifying ability and water </a:t>
            </a:r>
            <a:r>
              <a:rPr lang="en-GB" b="1" i="1" dirty="0" smtClean="0"/>
              <a:t>solubility</a:t>
            </a:r>
            <a:endParaRPr lang="en-GB" b="1" i="1" dirty="0"/>
          </a:p>
          <a:p>
            <a:pPr algn="just" fontAlgn="base" hangingPunct="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GB" dirty="0"/>
              <a:t>The capacity of a hydraulic fluid to separate water at a defined temperature is known as demulsifying </a:t>
            </a:r>
            <a:r>
              <a:rPr lang="en-GB" dirty="0" smtClean="0"/>
              <a:t>ability,</a:t>
            </a:r>
          </a:p>
          <a:p>
            <a:pPr algn="just" fontAlgn="base" hangingPunct="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GB" dirty="0"/>
              <a:t>For larger systems with permanent monitoring, a demulsifying fluid with good water separation capability (WSC) is recommended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57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465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4 : Selection Criteria of Hydraulic Fluids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5963" lvl="0" indent="-715963" algn="just" fontAlgn="base" hangingPunct="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+mj-lt"/>
              <a:buAutoNum type="romanLcPeriod" startAt="10"/>
            </a:pPr>
            <a:r>
              <a:rPr lang="en-GB" b="1" i="1" dirty="0" smtClean="0">
                <a:solidFill>
                  <a:prstClr val="black"/>
                </a:solidFill>
              </a:rPr>
              <a:t>Filterability</a:t>
            </a:r>
            <a:endParaRPr lang="en-GB" b="1" i="1" dirty="0">
              <a:solidFill>
                <a:prstClr val="black"/>
              </a:solidFill>
            </a:endParaRPr>
          </a:p>
          <a:p>
            <a:r>
              <a:rPr lang="en-GB" dirty="0"/>
              <a:t>Filterability describes the ability of a hydraulic fluid to pass through a filter, removing solid </a:t>
            </a:r>
            <a:r>
              <a:rPr lang="en-GB" dirty="0" smtClean="0"/>
              <a:t>contaminants,</a:t>
            </a:r>
          </a:p>
          <a:p>
            <a:r>
              <a:rPr lang="en-GB" dirty="0" smtClean="0"/>
              <a:t>Filterability </a:t>
            </a:r>
            <a:r>
              <a:rPr lang="en-GB" dirty="0"/>
              <a:t>is a basic prerequisite for cleanliness, servicing and filtration of hydraulic fluids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58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4060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4 : Selection Criteria of Hydraulic Fluids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715963" lvl="0" indent="-715963" algn="just" fontAlgn="base" hangingPunct="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+mj-lt"/>
              <a:buAutoNum type="romanLcPeriod" startAt="11"/>
            </a:pPr>
            <a:r>
              <a:rPr lang="en-GB" b="1" i="1" dirty="0" smtClean="0">
                <a:solidFill>
                  <a:prstClr val="black"/>
                </a:solidFill>
              </a:rPr>
              <a:t>Additivation</a:t>
            </a:r>
            <a:endParaRPr lang="en-GB" b="1" i="1" dirty="0">
              <a:solidFill>
                <a:prstClr val="black"/>
              </a:solidFill>
            </a:endParaRPr>
          </a:p>
          <a:p>
            <a:r>
              <a:rPr lang="en-GB" dirty="0" smtClean="0"/>
              <a:t>Properties of fluids </a:t>
            </a:r>
            <a:r>
              <a:rPr lang="en-GB" dirty="0"/>
              <a:t>can be modified with </a:t>
            </a:r>
            <a:r>
              <a:rPr lang="en-GB" dirty="0" smtClean="0"/>
              <a:t>suitable additives,</a:t>
            </a:r>
          </a:p>
          <a:p>
            <a:r>
              <a:rPr lang="en-GB" dirty="0" smtClean="0"/>
              <a:t>Distinction </a:t>
            </a:r>
            <a:r>
              <a:rPr lang="en-GB" dirty="0"/>
              <a:t>is made for fluids between heavy metal-free and heavy metal-containing (generally zinc) additives </a:t>
            </a:r>
            <a:r>
              <a:rPr lang="en-GB" dirty="0" smtClean="0"/>
              <a:t>systems,</a:t>
            </a:r>
          </a:p>
          <a:p>
            <a:r>
              <a:rPr lang="en-GB" dirty="0"/>
              <a:t>Both additive systems are most often incompatible with each </a:t>
            </a:r>
            <a:r>
              <a:rPr lang="en-GB" dirty="0" smtClean="0"/>
              <a:t>other,</a:t>
            </a:r>
          </a:p>
          <a:p>
            <a:r>
              <a:rPr lang="en-GB" dirty="0"/>
              <a:t>Increasing additivation generally leads to deteriorated air separation ability (ASA) and water separation capability (WSC) of the hydraulic fluid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59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6401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684924"/>
          </a:xfrm>
        </p:spPr>
        <p:txBody>
          <a:bodyPr/>
          <a:lstStyle/>
          <a:p>
            <a:r>
              <a:rPr lang="en-GB" dirty="0"/>
              <a:t>UNIT 4 : Selection Criteria of Hydraulic Fluids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 hangingPunct="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prstClr val="black"/>
                </a:solidFill>
              </a:rPr>
              <a:t>Measures taken when changing type of fluid:</a:t>
            </a:r>
            <a:endParaRPr lang="en-GB" dirty="0" smtClean="0">
              <a:solidFill>
                <a:prstClr val="black"/>
              </a:solidFill>
            </a:endParaRPr>
          </a:p>
          <a:p>
            <a:pPr marL="711200" lvl="0" indent="-355600" fontAlgn="base" hangingPunct="0"/>
            <a:r>
              <a:rPr lang="en-GB" dirty="0" smtClean="0">
                <a:solidFill>
                  <a:prstClr val="black"/>
                </a:solidFill>
              </a:rPr>
              <a:t>thoroughly </a:t>
            </a:r>
            <a:r>
              <a:rPr lang="en-GB" dirty="0">
                <a:solidFill>
                  <a:prstClr val="black"/>
                </a:solidFill>
              </a:rPr>
              <a:t>cleaning of the plant,</a:t>
            </a:r>
          </a:p>
          <a:p>
            <a:pPr marL="711200" lvl="0" indent="-355600" fontAlgn="base" hangingPunct="0"/>
            <a:r>
              <a:rPr lang="en-GB" dirty="0">
                <a:solidFill>
                  <a:prstClr val="black"/>
                </a:solidFill>
              </a:rPr>
              <a:t>Replacing the seals,</a:t>
            </a:r>
          </a:p>
          <a:p>
            <a:pPr marL="711200" lvl="0" indent="-355600" fontAlgn="base" hangingPunct="0"/>
            <a:r>
              <a:rPr lang="en-GB" dirty="0">
                <a:solidFill>
                  <a:prstClr val="black"/>
                </a:solidFill>
              </a:rPr>
              <a:t>Inspect / test the suction behaviour, filter and container construction,</a:t>
            </a:r>
          </a:p>
          <a:p>
            <a:pPr marL="711200" lvl="0" indent="-355600"/>
            <a:r>
              <a:rPr lang="en-GB" dirty="0">
                <a:solidFill>
                  <a:prstClr val="black"/>
                </a:solidFill>
              </a:rPr>
              <a:t>Inspect the paintings of the container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60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8871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62753"/>
            <a:ext cx="9144000" cy="1247210"/>
          </a:xfrm>
        </p:spPr>
        <p:txBody>
          <a:bodyPr/>
          <a:lstStyle/>
          <a:p>
            <a:r>
              <a:rPr lang="en-GB" dirty="0" smtClean="0"/>
              <a:t>Thank You</a:t>
            </a:r>
            <a:endParaRPr lang="en-GB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For any concerns, please contact</a:t>
            </a:r>
          </a:p>
          <a:p>
            <a:r>
              <a:rPr lang="en-GB" b="1" dirty="0" smtClean="0"/>
              <a:t>elearning@knust.edu.gh</a:t>
            </a:r>
          </a:p>
          <a:p>
            <a:r>
              <a:rPr lang="en-GB" b="1" dirty="0" smtClean="0"/>
              <a:t>elearningknust@gmail.com </a:t>
            </a:r>
          </a:p>
          <a:p>
            <a:r>
              <a:rPr lang="en-GB" b="1" dirty="0" smtClean="0"/>
              <a:t>0322 191132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4691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DL ppt tem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62A9560-2E7B-41A3-9F82-82295C59A7BE}" vid="{DD833A61-242F-4440-8F8C-EA11C2DDA7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IDL ppt temp</Template>
  <TotalTime>4140</TotalTime>
  <Words>2611</Words>
  <Application>Microsoft Office PowerPoint</Application>
  <PresentationFormat>Widescreen</PresentationFormat>
  <Paragraphs>549</Paragraphs>
  <Slides>62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1" baseType="lpstr">
      <vt:lpstr>Arial</vt:lpstr>
      <vt:lpstr>Calibri</vt:lpstr>
      <vt:lpstr>Cambria</vt:lpstr>
      <vt:lpstr>Cambria Math</vt:lpstr>
      <vt:lpstr>Century Gothic</vt:lpstr>
      <vt:lpstr>Futura Md BT</vt:lpstr>
      <vt:lpstr>Times New Roman</vt:lpstr>
      <vt:lpstr>Wingdings</vt:lpstr>
      <vt:lpstr>IDL ppt temp</vt:lpstr>
      <vt:lpstr>AE 482</vt:lpstr>
      <vt:lpstr>Introduction</vt:lpstr>
      <vt:lpstr>UNIT 4: Learning Objectives</vt:lpstr>
      <vt:lpstr>UNIT 4: Principles of Hydraulics</vt:lpstr>
      <vt:lpstr>UNIT 4: Principles of Hydraulics</vt:lpstr>
      <vt:lpstr>UNIT 4:  Principles of Hydraulics</vt:lpstr>
      <vt:lpstr>UNIT 4: Principles of Hydraulics</vt:lpstr>
      <vt:lpstr>UNIT 4: Principles of Hydraulics</vt:lpstr>
      <vt:lpstr>UNIT 4: Principles of Hydraulics</vt:lpstr>
      <vt:lpstr>UNIT 4: Principles of Hydraulics</vt:lpstr>
      <vt:lpstr>UNIT 4: Principles of Hydraulics</vt:lpstr>
      <vt:lpstr>UNIT 4: Principles of Hydraulics</vt:lpstr>
      <vt:lpstr>UNIT 4: Principles of Hydraulics</vt:lpstr>
      <vt:lpstr>UNIT 4: Principles of Hydraulics</vt:lpstr>
      <vt:lpstr>UNIT 4: Principles of Hydraulics</vt:lpstr>
      <vt:lpstr>UNIT 4: Principles of Hydraulics</vt:lpstr>
      <vt:lpstr>UNIT 4:  Theory of Lubrication</vt:lpstr>
      <vt:lpstr>UNIT 4:  Theory of Lubrication</vt:lpstr>
      <vt:lpstr>UNIT 4:  Theory of Lubrication</vt:lpstr>
      <vt:lpstr>UNIT 4:  Theory of Lubrication</vt:lpstr>
      <vt:lpstr>UNIT 4:  Theory of Lubrication</vt:lpstr>
      <vt:lpstr>UNIT 4:  Theory of Lubrication</vt:lpstr>
      <vt:lpstr>UNIT 4:  Theory of Lubrication</vt:lpstr>
      <vt:lpstr>UNIT 4:  Theory of Lubrication</vt:lpstr>
      <vt:lpstr>UNIT 4:  Theory of Lubrication</vt:lpstr>
      <vt:lpstr>UNIT 4:  Theory of Lubrication</vt:lpstr>
      <vt:lpstr>UNIT 4:  Classification of Hydraulic Fluids</vt:lpstr>
      <vt:lpstr>UNIT 4:  Classification of Hydraulic Fluids</vt:lpstr>
      <vt:lpstr>UNIT 4:  Classification of Hydraulic Fluids</vt:lpstr>
      <vt:lpstr>UNIT 4:  Classification of Hydraulic Fluids</vt:lpstr>
      <vt:lpstr>UNIT 4: Classification of Hydraulic Fluids</vt:lpstr>
      <vt:lpstr>UNIT 4 : Classification of Hydraulic Fluids</vt:lpstr>
      <vt:lpstr>UNIT 4 : Classification of Hydraulic Fluids</vt:lpstr>
      <vt:lpstr>UNIT 4 : Classification of Hydraulic Fluids</vt:lpstr>
      <vt:lpstr>UNIT 4 : Classification of Hydraulic Fluids</vt:lpstr>
      <vt:lpstr>UNIT 4 : Classification of Hydraulic Fluids</vt:lpstr>
      <vt:lpstr>UNIT 4:  Additives</vt:lpstr>
      <vt:lpstr>UNIT 4:  Additives</vt:lpstr>
      <vt:lpstr>UNIT 4:  Selection of Hydraulic Fluids</vt:lpstr>
      <vt:lpstr>UNIT 4:  Selection Criteria of Hydraulic Fluids</vt:lpstr>
      <vt:lpstr>UNIT 4 :  Selection Criteria of Hydraulic Fluids</vt:lpstr>
      <vt:lpstr>UNIT 4 :  Selection Criteria of Hydraulic Fluids</vt:lpstr>
      <vt:lpstr>UNIT 4 :  Selection Criteria of Hydraulic Fluids</vt:lpstr>
      <vt:lpstr>UNIT 4 :  Selection Criteria of Hydraulic Fluids</vt:lpstr>
      <vt:lpstr>UNIT 4 : Selection Criteria of Hydraulic Fluids</vt:lpstr>
      <vt:lpstr>UNIT 4 : Selection Criteria of Hydraulic Fluids</vt:lpstr>
      <vt:lpstr>UNIT 4 : Selection Criteria of Hydraulic Fluids</vt:lpstr>
      <vt:lpstr>UNIT 4 : Selection Criteria of Hydraulic Fluids</vt:lpstr>
      <vt:lpstr>UNIT 4 : Selection Criteria of Hydraulic Fluids</vt:lpstr>
      <vt:lpstr>UNIT 4 : Selection Criteria of Hydraulic Fluids</vt:lpstr>
      <vt:lpstr>UNIT 4 : Selection Criteria of Hydraulic Fluids</vt:lpstr>
      <vt:lpstr>UNIT 4 : Selection Criteria of Hydraulic Fluids</vt:lpstr>
      <vt:lpstr>UNIT 4 : Selection Criteria of Hydraulic Fluids</vt:lpstr>
      <vt:lpstr>UNIT 4 : Selection Criteria of Hydraulic Fluids</vt:lpstr>
      <vt:lpstr>UNIT 4 : Selection Criteria of Hydraulic Fluids</vt:lpstr>
      <vt:lpstr>UNIT 4 : Selection Criteria of Hydraulic Fluids</vt:lpstr>
      <vt:lpstr>UNIT 4 : Selection Criteria of Hydraulic Fluids</vt:lpstr>
      <vt:lpstr>UNIT 4 : Selection Criteria of Hydraulic Fluids</vt:lpstr>
      <vt:lpstr>UNIT 4 : Selection Criteria of Hydraulic Fluids</vt:lpstr>
      <vt:lpstr>UNIT 4 : Selection Criteria of Hydraulic Fluids</vt:lpstr>
      <vt:lpstr>UNIT 4 : Selection Criteria of Hydraulic Fluids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ISD 458</dc:title>
  <dc:creator>A K O</dc:creator>
  <cp:lastModifiedBy>Joseph Aveyire</cp:lastModifiedBy>
  <cp:revision>306</cp:revision>
  <dcterms:created xsi:type="dcterms:W3CDTF">2014-04-14T16:55:09Z</dcterms:created>
  <dcterms:modified xsi:type="dcterms:W3CDTF">2016-11-29T13:21:06Z</dcterms:modified>
</cp:coreProperties>
</file>