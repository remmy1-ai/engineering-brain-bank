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62" r:id="rId4"/>
    <p:sldId id="263" r:id="rId5"/>
    <p:sldId id="293" r:id="rId6"/>
    <p:sldId id="295" r:id="rId7"/>
    <p:sldId id="291" r:id="rId8"/>
    <p:sldId id="286" r:id="rId9"/>
    <p:sldId id="264" r:id="rId10"/>
    <p:sldId id="297" r:id="rId11"/>
    <p:sldId id="265" r:id="rId12"/>
    <p:sldId id="287" r:id="rId13"/>
    <p:sldId id="298" r:id="rId14"/>
    <p:sldId id="299" r:id="rId15"/>
    <p:sldId id="259" r:id="rId16"/>
    <p:sldId id="260" r:id="rId17"/>
    <p:sldId id="266" r:id="rId18"/>
    <p:sldId id="288" r:id="rId19"/>
    <p:sldId id="289" r:id="rId20"/>
    <p:sldId id="300" r:id="rId21"/>
    <p:sldId id="290" r:id="rId22"/>
    <p:sldId id="269" r:id="rId23"/>
    <p:sldId id="270" r:id="rId24"/>
    <p:sldId id="271" r:id="rId25"/>
    <p:sldId id="284" r:id="rId26"/>
    <p:sldId id="272" r:id="rId27"/>
    <p:sldId id="273" r:id="rId28"/>
    <p:sldId id="267" r:id="rId29"/>
    <p:sldId id="268" r:id="rId30"/>
    <p:sldId id="274" r:id="rId31"/>
    <p:sldId id="292" r:id="rId32"/>
    <p:sldId id="275" r:id="rId33"/>
    <p:sldId id="258" r:id="rId34"/>
  </p:sldIdLst>
  <p:sldSz cx="12192000" cy="86868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736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551"/>
    <a:srgbClr val="055D1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39" autoAdjust="0"/>
    <p:restoredTop sz="94660"/>
  </p:normalViewPr>
  <p:slideViewPr>
    <p:cSldViewPr snapToGrid="0">
      <p:cViewPr varScale="1">
        <p:scale>
          <a:sx n="56" d="100"/>
          <a:sy n="56" d="100"/>
        </p:scale>
        <p:origin x="972" y="54"/>
      </p:cViewPr>
      <p:guideLst>
        <p:guide orient="horz" pos="2736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8384BE-9D6B-4024-A985-C0EE99A58AEA}" type="datetimeFigureOut">
              <a:rPr lang="en-GB" smtClean="0"/>
              <a:pPr/>
              <a:t>30/09/2016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63650" y="1143000"/>
            <a:ext cx="4330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F05C70-BB3D-46DD-9A54-15208EA29EC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68604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63650" y="1143000"/>
            <a:ext cx="43307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F05C70-BB3D-46DD-9A54-15208EA29ECC}" type="slidenum">
              <a:rPr lang="en-GB" smtClean="0"/>
              <a:pPr/>
              <a:t>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0409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63650" y="1143000"/>
            <a:ext cx="43307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F05C70-BB3D-46DD-9A54-15208EA29ECC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78315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6C8D21A0-A2A9-4E2D-8271-F01A9D55EE5F}" type="slidenum">
              <a:rPr lang="en-GB"/>
              <a:pPr algn="r"/>
              <a:t>5</a:t>
            </a:fld>
            <a:endParaRPr lang="en-GB"/>
          </a:p>
        </p:txBody>
      </p:sp>
      <p:sp>
        <p:nvSpPr>
          <p:cNvPr id="9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4139456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9749EBDB-3BC6-41B8-A9C0-DF34B04E5461}" type="slidenum">
              <a:rPr lang="en-GB"/>
              <a:pPr algn="r"/>
              <a:t>9</a:t>
            </a:fld>
            <a:endParaRPr lang="en-GB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5718528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45E2CE40-0EE6-47FA-A210-2CC13A3AE5EC}" type="slidenum">
              <a:rPr lang="en-GB"/>
              <a:pPr algn="r"/>
              <a:t>12</a:t>
            </a:fld>
            <a:endParaRPr lang="en-GB"/>
          </a:p>
        </p:txBody>
      </p:sp>
      <p:sp>
        <p:nvSpPr>
          <p:cNvPr id="112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7424514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92039714-E49F-49C1-B001-777D6AD3F88C}" type="slidenum">
              <a:rPr lang="en-GB"/>
              <a:pPr algn="r"/>
              <a:t>13</a:t>
            </a:fld>
            <a:endParaRPr lang="en-GB"/>
          </a:p>
        </p:txBody>
      </p:sp>
      <p:sp>
        <p:nvSpPr>
          <p:cNvPr id="13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6893985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F05C70-BB3D-46DD-9A54-15208EA29ECC}" type="slidenum">
              <a:rPr lang="en-GB" smtClean="0"/>
              <a:pPr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18052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63650" y="1143000"/>
            <a:ext cx="43307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F05C70-BB3D-46DD-9A54-15208EA29ECC}" type="slidenum">
              <a:rPr lang="en-GB" smtClean="0"/>
              <a:pPr/>
              <a:t>32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7431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421661"/>
            <a:ext cx="9144000" cy="302429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562582"/>
            <a:ext cx="9144000" cy="2097299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A36ED-2655-4C9E-8238-9E1AC381F723}" type="datetime1">
              <a:rPr lang="en-GB" smtClean="0"/>
              <a:pPr/>
              <a:t>30/09/2016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12353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C8644-480C-453D-8744-E89F274AE230}" type="datetime1">
              <a:rPr lang="en-GB" smtClean="0"/>
              <a:pPr/>
              <a:t>30/09/2016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03855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2165670"/>
            <a:ext cx="10515600" cy="3613467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5813321"/>
            <a:ext cx="10515600" cy="190023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09890-E927-4619-80BA-BBAB8952703D}" type="datetime1">
              <a:rPr lang="en-GB" smtClean="0"/>
              <a:pPr/>
              <a:t>30/09/2016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37772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1" y="2312459"/>
            <a:ext cx="5181600" cy="551169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1" y="2312459"/>
            <a:ext cx="5181600" cy="551169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612A9-8B8A-4D76-8338-090742D648FA}" type="datetime1">
              <a:rPr lang="en-GB" smtClean="0"/>
              <a:pPr/>
              <a:t>30/09/2016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69879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62493"/>
            <a:ext cx="10515600" cy="1679046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90" y="2129473"/>
            <a:ext cx="5157787" cy="10436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90" y="3173096"/>
            <a:ext cx="5157787" cy="466714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2" y="2129473"/>
            <a:ext cx="5183187" cy="10436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2" y="3173096"/>
            <a:ext cx="5183187" cy="466714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1A052-6A62-4DEB-B39A-DF865DC294D7}" type="datetime1">
              <a:rPr lang="en-GB" smtClean="0"/>
              <a:pPr/>
              <a:t>30/09/2016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28267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AB992-C49D-4348-A525-E164DFDC1373}" type="datetime1">
              <a:rPr lang="en-GB" smtClean="0"/>
              <a:pPr/>
              <a:t>30/09/2016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0456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6EBD4-D843-440F-970F-CE2EAFC7B9B6}" type="datetime1">
              <a:rPr lang="en-GB" smtClean="0"/>
              <a:pPr/>
              <a:t>30/09/2016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31642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579120"/>
            <a:ext cx="3932237" cy="202692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250739"/>
            <a:ext cx="6172201" cy="6173258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606041"/>
            <a:ext cx="3932237" cy="482801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A8E3E-CF5D-4FA7-AE13-1DBF934E5A7C}" type="datetime1">
              <a:rPr lang="en-GB" smtClean="0"/>
              <a:pPr/>
              <a:t>30/09/2016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82397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579120"/>
            <a:ext cx="3932237" cy="202692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1250739"/>
            <a:ext cx="6172201" cy="617325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606041"/>
            <a:ext cx="3932237" cy="482801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247F5-100F-4260-9B69-A3B55AF74742}" type="datetime1">
              <a:rPr lang="en-GB" smtClean="0"/>
              <a:pPr/>
              <a:t>30/09/2016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03225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5382A-FB3C-41FB-984A-BFFAA7F5560F}" type="datetime1">
              <a:rPr lang="en-GB" smtClean="0"/>
              <a:pPr/>
              <a:t>30/09/2016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1601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62492"/>
            <a:ext cx="2628900" cy="736166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62492"/>
            <a:ext cx="7734300" cy="736166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BEA2C-DD99-4E79-ABCE-86762D8C2888}" type="datetime1">
              <a:rPr lang="en-GB" smtClean="0"/>
              <a:pPr/>
              <a:t>30/09/2016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27946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347875"/>
            <a:ext cx="9734551" cy="63944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059710"/>
            <a:ext cx="5384800" cy="693134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059710"/>
            <a:ext cx="5384800" cy="693134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3D4846-A214-4C00-BCCB-A4F31C1CB531}" type="datetime1">
              <a:rPr lang="en-GB"/>
              <a:pPr>
                <a:defRPr/>
              </a:pPr>
              <a:t>30/09/2016</a:t>
            </a:fld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F039FF-F841-4C34-BB86-BFB42B25E59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24460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1" y="998483"/>
            <a:ext cx="10515600" cy="11430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1" y="2312459"/>
            <a:ext cx="10515600" cy="55116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1" y="8051377"/>
            <a:ext cx="2743200" cy="4624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FBCB05-1F2F-4A45-AFF2-CC62B780D79B}" type="datetime1">
              <a:rPr lang="en-GB" smtClean="0"/>
              <a:pPr/>
              <a:t>30/09/2016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1" y="8051377"/>
            <a:ext cx="4114800" cy="4624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48298" y="8188670"/>
            <a:ext cx="409135" cy="4624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rgbClr val="FFC551"/>
                </a:solidFill>
                <a:latin typeface="Century Gothic" panose="020B0502020202020204" pitchFamily="34" charset="0"/>
              </a:defRPr>
            </a:lvl1pPr>
          </a:lstStyle>
          <a:p>
            <a:fld id="{7E50C373-F1D0-494F-8D6D-366C958B34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342900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rgbClr val="055D13"/>
          </a:solidFill>
          <a:latin typeface="Futura Md BT" panose="020B0602020204020303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image" Target="../media/image3.jpeg"/><Relationship Id="rId7" Type="http://schemas.openxmlformats.org/officeDocument/2006/relationships/image" Target="../media/image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eg"/><Relationship Id="rId3" Type="http://schemas.openxmlformats.org/officeDocument/2006/relationships/image" Target="../media/image13.jpeg"/><Relationship Id="rId7" Type="http://schemas.openxmlformats.org/officeDocument/2006/relationships/image" Target="../media/image1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6.jpeg"/><Relationship Id="rId5" Type="http://schemas.openxmlformats.org/officeDocument/2006/relationships/image" Target="../media/image15.jpeg"/><Relationship Id="rId4" Type="http://schemas.openxmlformats.org/officeDocument/2006/relationships/image" Target="../media/image14.jpe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jpeg"/><Relationship Id="rId3" Type="http://schemas.openxmlformats.org/officeDocument/2006/relationships/image" Target="../media/image19.jpeg"/><Relationship Id="rId7" Type="http://schemas.openxmlformats.org/officeDocument/2006/relationships/image" Target="../media/image2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2.jpeg"/><Relationship Id="rId5" Type="http://schemas.openxmlformats.org/officeDocument/2006/relationships/image" Target="../media/image21.jpeg"/><Relationship Id="rId4" Type="http://schemas.openxmlformats.org/officeDocument/2006/relationships/image" Target="../media/image20.jpeg"/><Relationship Id="rId9" Type="http://schemas.openxmlformats.org/officeDocument/2006/relationships/image" Target="../media/image25.jpe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17257" y="2811545"/>
            <a:ext cx="3357489" cy="1612132"/>
          </a:xfrm>
        </p:spPr>
        <p:txBody>
          <a:bodyPr>
            <a:normAutofit/>
          </a:bodyPr>
          <a:lstStyle/>
          <a:p>
            <a:r>
              <a:rPr lang="en-GB" sz="4000" dirty="0" smtClean="0"/>
              <a:t>AE 482</a:t>
            </a:r>
            <a:endParaRPr lang="en-GB" sz="4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8546" y="5562538"/>
            <a:ext cx="9144000" cy="593809"/>
          </a:xfrm>
        </p:spPr>
        <p:txBody>
          <a:bodyPr>
            <a:normAutofit/>
          </a:bodyPr>
          <a:lstStyle/>
          <a:p>
            <a:r>
              <a:rPr lang="en-GB" sz="3200" dirty="0" smtClean="0"/>
              <a:t>Unit 1:	</a:t>
            </a:r>
            <a:r>
              <a:rPr lang="en-GB" sz="3200" dirty="0"/>
              <a:t> Engineering </a:t>
            </a:r>
            <a:r>
              <a:rPr lang="en-GB" sz="3200" dirty="0" smtClean="0"/>
              <a:t>Materials</a:t>
            </a:r>
            <a:endParaRPr lang="en-GB" sz="32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61759" y="8188670"/>
            <a:ext cx="1243819" cy="462492"/>
          </a:xfrm>
        </p:spPr>
        <p:txBody>
          <a:bodyPr/>
          <a:lstStyle/>
          <a:p>
            <a:r>
              <a:rPr lang="en-GB" sz="1400" b="1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Jan 2014</a:t>
            </a:r>
            <a:endParaRPr lang="en-GB" sz="14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633045" y="4192031"/>
            <a:ext cx="11015004" cy="84122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rgbClr val="055D13"/>
                </a:solidFill>
                <a:latin typeface="Futura Md BT" panose="020B0602020204020303" pitchFamily="34" charset="0"/>
                <a:ea typeface="+mj-ea"/>
                <a:cs typeface="+mj-cs"/>
              </a:defRPr>
            </a:lvl1pPr>
          </a:lstStyle>
          <a:p>
            <a:r>
              <a:rPr lang="en-GB" sz="4000" dirty="0" smtClean="0">
                <a:solidFill>
                  <a:srgbClr val="0070C0"/>
                </a:solidFill>
              </a:rPr>
              <a:t>Farm Machine Design </a:t>
            </a:r>
            <a:endParaRPr lang="en-GB" sz="4000" dirty="0">
              <a:solidFill>
                <a:srgbClr val="0070C0"/>
              </a:solidFill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1523999" y="6603078"/>
            <a:ext cx="9144000" cy="75940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rgbClr val="055D13"/>
                </a:solidFill>
                <a:latin typeface="Futura Md BT" panose="020B0602020204020303" pitchFamily="34" charset="0"/>
                <a:ea typeface="+mj-ea"/>
                <a:cs typeface="+mj-cs"/>
              </a:defRPr>
            </a:lvl1pPr>
          </a:lstStyle>
          <a:p>
            <a:r>
              <a:rPr lang="en-GB" sz="4000" dirty="0" smtClean="0">
                <a:solidFill>
                  <a:schemeClr val="tx1"/>
                </a:solidFill>
              </a:rPr>
              <a:t>Mr. Joseph AVEYIRE</a:t>
            </a:r>
            <a:endParaRPr lang="en-GB" sz="4000" dirty="0">
              <a:solidFill>
                <a:schemeClr val="tx1"/>
              </a:solidFill>
            </a:endParaRPr>
          </a:p>
        </p:txBody>
      </p:sp>
      <p:sp>
        <p:nvSpPr>
          <p:cNvPr id="7" name="Subtitle 2"/>
          <p:cNvSpPr txBox="1">
            <a:spLocks/>
          </p:cNvSpPr>
          <p:nvPr/>
        </p:nvSpPr>
        <p:spPr>
          <a:xfrm>
            <a:off x="1568546" y="7362484"/>
            <a:ext cx="9144000" cy="5582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 smtClean="0"/>
              <a:t>aveyire@yahoo.com // 024 4652593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96527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UNIT 1:	Introduction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3200" dirty="0" smtClean="0"/>
              <a:t>This unit </a:t>
            </a:r>
            <a:r>
              <a:rPr lang="en-GB" sz="3200" dirty="0"/>
              <a:t>describes engineering materials and determines factors that affect the choice of engineering </a:t>
            </a:r>
            <a:r>
              <a:rPr lang="en-GB" sz="3200" dirty="0" smtClean="0"/>
              <a:t>materials: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3200" dirty="0" smtClean="0"/>
              <a:t> 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sz="3200" dirty="0"/>
              <a:t>Section 1-2 handles engineering materials</a:t>
            </a:r>
            <a:endParaRPr lang="en-GB" sz="3200" dirty="0" smtClean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sz="3200" dirty="0"/>
              <a:t>Section 2-2 tackles factors considered in choosing engineering materials</a:t>
            </a:r>
            <a:endParaRPr lang="en-GB" sz="32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3803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UNIT 1:	Learning Objectives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2141538"/>
            <a:ext cx="10515600" cy="5605461"/>
          </a:xfrm>
        </p:spPr>
        <p:txBody>
          <a:bodyPr>
            <a:noAutofit/>
          </a:bodyPr>
          <a:lstStyle/>
          <a:p>
            <a:pPr lvl="0"/>
            <a:r>
              <a:rPr lang="en-GB" sz="3200" dirty="0"/>
              <a:t>Classify engineering materials</a:t>
            </a:r>
          </a:p>
          <a:p>
            <a:pPr lvl="0"/>
            <a:r>
              <a:rPr lang="en-GB" sz="3200" dirty="0"/>
              <a:t>Identify properties of engineering materials</a:t>
            </a:r>
          </a:p>
          <a:p>
            <a:pPr lvl="0"/>
            <a:r>
              <a:rPr lang="en-GB" sz="3200" dirty="0"/>
              <a:t>Determine engineering requirements of materials</a:t>
            </a:r>
          </a:p>
          <a:p>
            <a:pPr lvl="0"/>
            <a:r>
              <a:rPr lang="en-GB" sz="3200" dirty="0"/>
              <a:t>Explain the effect of strength of materials</a:t>
            </a:r>
          </a:p>
          <a:p>
            <a:pPr lvl="0"/>
            <a:r>
              <a:rPr lang="en-US" sz="3200" dirty="0"/>
              <a:t>Explain the effect of material cost </a:t>
            </a:r>
            <a:endParaRPr lang="en-GB" sz="3200" dirty="0"/>
          </a:p>
          <a:p>
            <a:pPr lvl="0"/>
            <a:r>
              <a:rPr lang="en-GB" sz="3200" dirty="0"/>
              <a:t>Explain the effect of engineering manufacturing processes</a:t>
            </a:r>
          </a:p>
          <a:p>
            <a:r>
              <a:rPr lang="en-GB" sz="3200" dirty="0"/>
              <a:t>Effect of life span and light weight of component</a:t>
            </a:r>
            <a:endParaRPr lang="en-GB" sz="32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2</a:t>
            </a:fld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1" y="998485"/>
            <a:ext cx="10515600" cy="738876"/>
          </a:xfrm>
        </p:spPr>
        <p:txBody>
          <a:bodyPr>
            <a:normAutofit/>
          </a:bodyPr>
          <a:lstStyle/>
          <a:p>
            <a:r>
              <a:rPr lang="en-GB" dirty="0" smtClean="0"/>
              <a:t>UNIT 1:	Engineering Materials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805492"/>
            <a:ext cx="10515600" cy="6302189"/>
          </a:xfrm>
        </p:spPr>
        <p:txBody>
          <a:bodyPr>
            <a:noAutofit/>
          </a:bodyPr>
          <a:lstStyle/>
          <a:p>
            <a:pPr marL="617538" indent="-617538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3200" dirty="0" smtClean="0"/>
              <a:t>Definition:</a:t>
            </a:r>
            <a:r>
              <a:rPr lang="en-GB" sz="3200" dirty="0"/>
              <a:t>	A material is that out of which anything is or may be made of. A material relates itself to matter.</a:t>
            </a:r>
          </a:p>
          <a:p>
            <a:pPr marL="354012" indent="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3200" dirty="0" smtClean="0"/>
              <a:t>Based </a:t>
            </a:r>
            <a:r>
              <a:rPr lang="en-GB" sz="3200" dirty="0"/>
              <a:t>on chemical make-up and atomic structure, solid materials are grouped </a:t>
            </a:r>
            <a:r>
              <a:rPr lang="en-GB" sz="3200" dirty="0" smtClean="0"/>
              <a:t>into:</a:t>
            </a:r>
          </a:p>
          <a:p>
            <a:pPr marL="1447800" indent="-55880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sz="3200" dirty="0" smtClean="0"/>
              <a:t>Metals</a:t>
            </a:r>
          </a:p>
          <a:p>
            <a:pPr marL="1371600" indent="-45720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tabLst>
                <a:tab pos="1625600" algn="l"/>
              </a:tabLst>
            </a:pPr>
            <a:r>
              <a:rPr lang="en-US" sz="3200" dirty="0" smtClean="0"/>
              <a:t>Ceramics, and</a:t>
            </a:r>
          </a:p>
          <a:p>
            <a:pPr marL="1371600" indent="-45720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tabLst>
                <a:tab pos="1625600" algn="l"/>
              </a:tabLst>
            </a:pPr>
            <a:r>
              <a:rPr lang="en-US" sz="3200" dirty="0" smtClean="0"/>
              <a:t>Organic materials</a:t>
            </a:r>
            <a:endParaRPr lang="en-GB" sz="3200" dirty="0" smtClean="0"/>
          </a:p>
          <a:p>
            <a:pPr marL="355600" indent="-1588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625600" algn="l"/>
              </a:tabLst>
            </a:pPr>
            <a:endParaRPr lang="en-US" sz="24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3</a:t>
            </a:fld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1" y="998483"/>
            <a:ext cx="10515600" cy="754117"/>
          </a:xfrm>
        </p:spPr>
        <p:txBody>
          <a:bodyPr/>
          <a:lstStyle/>
          <a:p>
            <a:r>
              <a:rPr lang="en-GB" dirty="0"/>
              <a:t>UNIT 1:	Engineering Materials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81201"/>
            <a:ext cx="10744199" cy="5842954"/>
          </a:xfrm>
        </p:spPr>
        <p:txBody>
          <a:bodyPr/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lang="en-GB" dirty="0"/>
              <a:t>some materials </a:t>
            </a:r>
            <a:r>
              <a:rPr lang="en-GB" dirty="0" smtClean="0"/>
              <a:t>fall </a:t>
            </a:r>
            <a:r>
              <a:rPr lang="en-GB" dirty="0"/>
              <a:t>between certain categories and </a:t>
            </a:r>
            <a:endParaRPr lang="en-GB" dirty="0" smtClean="0"/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lang="en-GB" dirty="0" smtClean="0"/>
              <a:t>some </a:t>
            </a:r>
            <a:r>
              <a:rPr lang="en-GB" dirty="0"/>
              <a:t>have been </a:t>
            </a:r>
            <a:r>
              <a:rPr lang="en-GB" dirty="0" smtClean="0"/>
              <a:t>engineered</a:t>
            </a:r>
            <a:endParaRPr lang="en-GB" dirty="0"/>
          </a:p>
          <a:p>
            <a:pPr marL="355600" indent="0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dirty="0" smtClean="0"/>
              <a:t>Examples are:</a:t>
            </a:r>
            <a:endParaRPr lang="en-GB" dirty="0" smtClean="0"/>
          </a:p>
          <a:p>
            <a:pPr marL="1066800" lvl="0" indent="-355600">
              <a:buFont typeface="Wingdings" panose="05000000000000000000" pitchFamily="2" charset="2"/>
              <a:buChar char="v"/>
            </a:pPr>
            <a:r>
              <a:rPr lang="en-GB" i="1" dirty="0"/>
              <a:t>Composites, semiconductors </a:t>
            </a:r>
            <a:r>
              <a:rPr lang="en-GB" dirty="0"/>
              <a:t>and </a:t>
            </a:r>
            <a:r>
              <a:rPr lang="en-GB" i="1" dirty="0"/>
              <a:t>biomaterials </a:t>
            </a:r>
            <a:endParaRPr lang="en-GB" dirty="0"/>
          </a:p>
          <a:p>
            <a:pPr marL="1066800" lvl="0" indent="-355600">
              <a:buFont typeface="Wingdings" panose="05000000000000000000" pitchFamily="2" charset="2"/>
              <a:buChar char="v"/>
            </a:pPr>
            <a:r>
              <a:rPr lang="en-GB" i="1" dirty="0"/>
              <a:t>Smart </a:t>
            </a:r>
            <a:r>
              <a:rPr lang="en-GB" dirty="0"/>
              <a:t>(or </a:t>
            </a:r>
            <a:r>
              <a:rPr lang="en-GB" i="1" dirty="0"/>
              <a:t>intelligent</a:t>
            </a:r>
            <a:r>
              <a:rPr lang="en-GB" dirty="0"/>
              <a:t>) materials: utilized in high-technology (or high-tech)</a:t>
            </a:r>
          </a:p>
          <a:p>
            <a:pPr marL="1066800" lvl="0" indent="-355600">
              <a:buFont typeface="Wingdings" panose="05000000000000000000" pitchFamily="2" charset="2"/>
              <a:buChar char="v"/>
            </a:pPr>
            <a:r>
              <a:rPr lang="en-GB" i="1" dirty="0"/>
              <a:t>Nano-engineering </a:t>
            </a:r>
            <a:r>
              <a:rPr lang="en-GB" i="1" dirty="0" smtClean="0"/>
              <a:t>materials (</a:t>
            </a:r>
            <a:r>
              <a:rPr lang="en-GB" dirty="0" smtClean="0"/>
              <a:t>very </a:t>
            </a:r>
            <a:r>
              <a:rPr lang="en-GB" dirty="0"/>
              <a:t>recently </a:t>
            </a:r>
            <a:r>
              <a:rPr lang="en-GB" dirty="0" smtClean="0"/>
              <a:t>developed)</a:t>
            </a:r>
            <a:endParaRPr lang="en-GB" dirty="0"/>
          </a:p>
          <a:p>
            <a:pPr marL="1066800" indent="-355600" algn="r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v"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3822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1" y="998483"/>
            <a:ext cx="10515600" cy="728717"/>
          </a:xfrm>
        </p:spPr>
        <p:txBody>
          <a:bodyPr>
            <a:normAutofit/>
          </a:bodyPr>
          <a:lstStyle/>
          <a:p>
            <a:r>
              <a:rPr lang="en-GB" dirty="0"/>
              <a:t>UNIT 1:	Engineering Materials</a:t>
            </a:r>
            <a:endParaRPr lang="en-GB" b="1" dirty="0">
              <a:solidFill>
                <a:srgbClr val="FF6600"/>
              </a:solidFill>
            </a:endParaRPr>
          </a:p>
        </p:txBody>
      </p:sp>
      <p:sp>
        <p:nvSpPr>
          <p:cNvPr id="2222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1" y="1727201"/>
            <a:ext cx="10515600" cy="6434666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endParaRPr lang="en-IE" dirty="0" smtClean="0"/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IE" dirty="0" smtClean="0"/>
              <a:t>Materials used in the design and manufacture of products include:</a:t>
            </a:r>
          </a:p>
          <a:p>
            <a:pPr eaLnBrk="1" hangingPunct="1">
              <a:lnSpc>
                <a:spcPct val="90000"/>
              </a:lnSpc>
            </a:pPr>
            <a:endParaRPr lang="en-IE" dirty="0" smtClean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v"/>
            </a:pPr>
            <a:r>
              <a:rPr lang="en-IE" dirty="0" smtClean="0"/>
              <a:t>Plastics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v"/>
            </a:pPr>
            <a:r>
              <a:rPr lang="en-IE" dirty="0" smtClean="0"/>
              <a:t>Wood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v"/>
            </a:pPr>
            <a:r>
              <a:rPr lang="en-IE" dirty="0" smtClean="0"/>
              <a:t>Composites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v"/>
            </a:pPr>
            <a:r>
              <a:rPr lang="en-IE" dirty="0" smtClean="0"/>
              <a:t>Ceramics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v"/>
            </a:pPr>
            <a:r>
              <a:rPr lang="en-IE" dirty="0" smtClean="0"/>
              <a:t>Metals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v"/>
            </a:pPr>
            <a:r>
              <a:rPr lang="en-IE" dirty="0" smtClean="0"/>
              <a:t>Fabrics		</a:t>
            </a:r>
          </a:p>
          <a:p>
            <a:pPr eaLnBrk="1" hangingPunct="1">
              <a:lnSpc>
                <a:spcPct val="90000"/>
              </a:lnSpc>
            </a:pPr>
            <a:endParaRPr lang="en-GB" dirty="0" smtClean="0"/>
          </a:p>
        </p:txBody>
      </p:sp>
      <p:pic>
        <p:nvPicPr>
          <p:cNvPr id="222221" name="Picture 13" descr="PP Acrylic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2533" y="3209291"/>
            <a:ext cx="4449975" cy="35350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2222" name="Picture 14" descr="PP Balsa Wood Model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5311" y="3235432"/>
            <a:ext cx="4677198" cy="35089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2223" name="Picture 15" descr="PP CD's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5311" y="3235432"/>
            <a:ext cx="4677198" cy="35089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2226" name="Picture 18" descr="ceramic Tool Holder 1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5311" y="2943861"/>
            <a:ext cx="4677198" cy="3800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2227" name="Picture 19" descr="PP Bicycle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3144" y="2933806"/>
            <a:ext cx="5079365" cy="38105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2228" name="Picture 20" descr="PP Early Flight Wood &amp; Fabric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3144" y="2935817"/>
            <a:ext cx="5079365" cy="38085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2229" name="Text Box 21"/>
          <p:cNvSpPr txBox="1">
            <a:spLocks noChangeArrowheads="1"/>
          </p:cNvSpPr>
          <p:nvPr/>
        </p:nvSpPr>
        <p:spPr bwMode="auto">
          <a:xfrm>
            <a:off x="5691823" y="6967538"/>
            <a:ext cx="3400319" cy="638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sz="3547"/>
              <a:t>Acrylic</a:t>
            </a:r>
            <a:r>
              <a:rPr lang="en-GB" sz="2280"/>
              <a:t> </a:t>
            </a:r>
            <a:r>
              <a:rPr lang="en-GB" sz="3547"/>
              <a:t>lens</a:t>
            </a:r>
            <a:endParaRPr lang="en-US" sz="3547"/>
          </a:p>
        </p:txBody>
      </p:sp>
      <p:sp>
        <p:nvSpPr>
          <p:cNvPr id="222230" name="Text Box 22"/>
          <p:cNvSpPr txBox="1">
            <a:spLocks noChangeArrowheads="1"/>
          </p:cNvSpPr>
          <p:nvPr/>
        </p:nvSpPr>
        <p:spPr bwMode="auto">
          <a:xfrm>
            <a:off x="4823144" y="6967538"/>
            <a:ext cx="5079365" cy="638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sz="3547"/>
              <a:t>Balsa wood model</a:t>
            </a:r>
            <a:endParaRPr lang="en-US" sz="3547"/>
          </a:p>
        </p:txBody>
      </p:sp>
      <p:sp>
        <p:nvSpPr>
          <p:cNvPr id="222231" name="Text Box 23"/>
          <p:cNvSpPr txBox="1">
            <a:spLocks noChangeArrowheads="1"/>
          </p:cNvSpPr>
          <p:nvPr/>
        </p:nvSpPr>
        <p:spPr bwMode="auto">
          <a:xfrm>
            <a:off x="4348587" y="6792596"/>
            <a:ext cx="5553922" cy="11840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sz="3547" dirty="0"/>
              <a:t>Layers of polycarbonate, aluminium &amp; acrylic</a:t>
            </a:r>
            <a:endParaRPr lang="en-US" sz="3547" dirty="0"/>
          </a:p>
        </p:txBody>
      </p:sp>
      <p:sp>
        <p:nvSpPr>
          <p:cNvPr id="222233" name="Text Box 25"/>
          <p:cNvSpPr txBox="1">
            <a:spLocks noChangeArrowheads="1"/>
          </p:cNvSpPr>
          <p:nvPr/>
        </p:nvSpPr>
        <p:spPr bwMode="auto">
          <a:xfrm>
            <a:off x="4348586" y="6792595"/>
            <a:ext cx="6030489" cy="638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sz="3547"/>
              <a:t>Tungsten carbide tool bit</a:t>
            </a:r>
            <a:endParaRPr lang="en-US" sz="3547"/>
          </a:p>
        </p:txBody>
      </p:sp>
      <p:sp>
        <p:nvSpPr>
          <p:cNvPr id="222234" name="Text Box 26"/>
          <p:cNvSpPr txBox="1">
            <a:spLocks noChangeArrowheads="1"/>
          </p:cNvSpPr>
          <p:nvPr/>
        </p:nvSpPr>
        <p:spPr bwMode="auto">
          <a:xfrm>
            <a:off x="4823144" y="6792595"/>
            <a:ext cx="5079365" cy="638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sz="3547"/>
              <a:t>Steel, aluminium</a:t>
            </a:r>
            <a:endParaRPr lang="en-US" sz="3547"/>
          </a:p>
        </p:txBody>
      </p:sp>
      <p:sp>
        <p:nvSpPr>
          <p:cNvPr id="222235" name="Text Box 27"/>
          <p:cNvSpPr txBox="1">
            <a:spLocks noChangeArrowheads="1"/>
          </p:cNvSpPr>
          <p:nvPr/>
        </p:nvSpPr>
        <p:spPr bwMode="auto">
          <a:xfrm>
            <a:off x="4348586" y="6744335"/>
            <a:ext cx="5783157" cy="638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sz="3547" dirty="0"/>
              <a:t>Linen, cotton, nylon, Kevlar</a:t>
            </a:r>
            <a:endParaRPr lang="en-US" sz="3547" dirty="0"/>
          </a:p>
        </p:txBody>
      </p:sp>
    </p:spTree>
    <p:extLst>
      <p:ext uri="{BB962C8B-B14F-4D97-AF65-F5344CB8AC3E}">
        <p14:creationId xmlns:p14="http://schemas.microsoft.com/office/powerpoint/2010/main" val="1708301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22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22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22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22222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22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222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222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22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22223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22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222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222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222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2223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22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222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222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222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22223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22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222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222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222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2222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222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222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222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222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2222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2222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22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2229" grpId="0"/>
      <p:bldP spid="222230" grpId="0"/>
      <p:bldP spid="222231" grpId="0"/>
      <p:bldP spid="222233" grpId="0"/>
      <p:bldP spid="22223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1" y="998483"/>
            <a:ext cx="10515600" cy="779517"/>
          </a:xfrm>
        </p:spPr>
        <p:txBody>
          <a:bodyPr/>
          <a:lstStyle/>
          <a:p>
            <a:r>
              <a:rPr lang="en-GB" dirty="0"/>
              <a:t>UNIT 1:	 Engineering Materials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778001"/>
            <a:ext cx="10515600" cy="948266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sz="3200" dirty="0" smtClean="0"/>
              <a:t>Engineering materials can be broken down based on specific criteria as shown in Figure 1.1:</a:t>
            </a:r>
            <a:endParaRPr lang="en-US" sz="32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6</a:t>
            </a:fld>
            <a:endParaRPr lang="en-GB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200" y="3028466"/>
            <a:ext cx="10224000" cy="444886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49866" y="7779526"/>
            <a:ext cx="73796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Figure 1.1:	Designation of engineering materials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2024672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1" y="871484"/>
            <a:ext cx="10515600" cy="804916"/>
          </a:xfrm>
        </p:spPr>
        <p:txBody>
          <a:bodyPr/>
          <a:lstStyle/>
          <a:p>
            <a:r>
              <a:rPr lang="en-GB" dirty="0"/>
              <a:t>UNIT 1:	</a:t>
            </a:r>
            <a:r>
              <a:rPr lang="en-GB" dirty="0" smtClean="0"/>
              <a:t>Metals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676401"/>
            <a:ext cx="10515600" cy="6147754"/>
          </a:xfrm>
        </p:spPr>
        <p:txBody>
          <a:bodyPr>
            <a:norm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sz="3200" dirty="0" smtClean="0"/>
              <a:t>Metals easily provide an electron during bonding and electrical conductivity.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sz="3200" dirty="0"/>
              <a:t>Metals are crystalline in nature</a:t>
            </a:r>
            <a:endParaRPr lang="en-GB" sz="3200" dirty="0" smtClean="0"/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sz="3200" dirty="0" smtClean="0"/>
              <a:t>There are two groups of metals:</a:t>
            </a:r>
            <a:endParaRPr lang="en-GB" sz="3200" dirty="0"/>
          </a:p>
          <a:p>
            <a:pPr marL="1316038" indent="-457200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v"/>
            </a:pPr>
            <a:r>
              <a:rPr lang="en-GB" sz="3200" dirty="0" smtClean="0"/>
              <a:t>Ferrous :	Cast iron, Steel etc.,</a:t>
            </a:r>
            <a:endParaRPr lang="en-GB" sz="3200" dirty="0"/>
          </a:p>
          <a:p>
            <a:pPr marL="1316038" indent="-457200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v"/>
            </a:pPr>
            <a:r>
              <a:rPr lang="en-GB" sz="3200" dirty="0" smtClean="0"/>
              <a:t>Non-ferrous:	Cu, Al, Zn, </a:t>
            </a:r>
            <a:r>
              <a:rPr lang="en-GB" sz="3200" dirty="0" err="1" smtClean="0"/>
              <a:t>Sn</a:t>
            </a:r>
            <a:r>
              <a:rPr lang="en-GB" sz="3200" dirty="0" smtClean="0"/>
              <a:t>  etc.</a:t>
            </a:r>
            <a:endParaRPr lang="en-GB" sz="3200" dirty="0"/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sz="3200" dirty="0" smtClean="0"/>
              <a:t>Desired </a:t>
            </a:r>
            <a:r>
              <a:rPr lang="en-GB" sz="3200" dirty="0"/>
              <a:t>properties </a:t>
            </a:r>
            <a:r>
              <a:rPr lang="en-GB" sz="3200" dirty="0" smtClean="0"/>
              <a:t>of metals are </a:t>
            </a:r>
            <a:r>
              <a:rPr lang="en-GB" sz="3200" dirty="0"/>
              <a:t>often found in </a:t>
            </a:r>
            <a:r>
              <a:rPr lang="en-GB" sz="3200" i="1" dirty="0"/>
              <a:t>alloys</a:t>
            </a:r>
            <a:endParaRPr lang="en-GB" sz="32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33151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UNIT 1:	</a:t>
            </a:r>
            <a:r>
              <a:rPr lang="en-GB" dirty="0"/>
              <a:t>Metals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989" y="1909483"/>
            <a:ext cx="11268636" cy="6266330"/>
          </a:xfrm>
        </p:spPr>
        <p:txBody>
          <a:bodyPr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lang="en-GB" sz="3200" dirty="0"/>
              <a:t>Metals generally possess </a:t>
            </a:r>
            <a:r>
              <a:rPr lang="en-GB" sz="3200" dirty="0" smtClean="0"/>
              <a:t>certain </a:t>
            </a:r>
            <a:r>
              <a:rPr lang="en-GB" sz="3200" dirty="0"/>
              <a:t>characteristics </a:t>
            </a:r>
            <a:r>
              <a:rPr lang="en-US" sz="3200" dirty="0" smtClean="0"/>
              <a:t>:</a:t>
            </a:r>
            <a:endParaRPr lang="en-GB" sz="3200" dirty="0" smtClean="0"/>
          </a:p>
          <a:p>
            <a:pPr marL="1117600" indent="-457200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GB" sz="3200" dirty="0"/>
              <a:t>Good thermal and electrical conductivity</a:t>
            </a:r>
            <a:r>
              <a:rPr lang="en-GB" sz="3200" dirty="0" smtClean="0"/>
              <a:t>,</a:t>
            </a:r>
          </a:p>
          <a:p>
            <a:pPr marL="1117600" indent="-457200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GB" sz="3200" dirty="0"/>
              <a:t>Lustre</a:t>
            </a:r>
            <a:r>
              <a:rPr lang="en-GB" sz="3200" dirty="0" smtClean="0"/>
              <a:t>, Malleable</a:t>
            </a:r>
          </a:p>
          <a:p>
            <a:pPr marL="1117600" indent="-457200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3200" dirty="0" smtClean="0"/>
              <a:t>High strength and </a:t>
            </a:r>
            <a:r>
              <a:rPr lang="en-GB" sz="3200" dirty="0" smtClean="0"/>
              <a:t>Formable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lang="en-GB" sz="3200" dirty="0"/>
              <a:t>M</a:t>
            </a:r>
            <a:r>
              <a:rPr lang="en-GB" sz="3200" dirty="0" smtClean="0"/>
              <a:t>etals can be:</a:t>
            </a:r>
          </a:p>
          <a:p>
            <a:pPr marL="1162050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3200" dirty="0" smtClean="0"/>
              <a:t>Crystalline</a:t>
            </a:r>
          </a:p>
          <a:p>
            <a:pPr marL="1162050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GB" sz="3200" dirty="0" smtClean="0"/>
              <a:t>Amorphous</a:t>
            </a:r>
            <a:endParaRPr lang="en-US" sz="3200" dirty="0" smtClean="0"/>
          </a:p>
          <a:p>
            <a:pPr marL="1162050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GB" sz="3200" i="1" dirty="0" smtClean="0"/>
              <a:t>Quasi-crystalline</a:t>
            </a:r>
            <a:endParaRPr lang="en-GB" sz="32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8</a:t>
            </a:fld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1" y="914400"/>
            <a:ext cx="10515600" cy="937579"/>
          </a:xfrm>
        </p:spPr>
        <p:txBody>
          <a:bodyPr/>
          <a:lstStyle/>
          <a:p>
            <a:r>
              <a:rPr lang="en-GB" sz="4000" dirty="0"/>
              <a:t>UNIT 1:	Ceramic Materials</a:t>
            </a:r>
            <a:endParaRPr lang="en-GB" sz="3800" b="1" dirty="0">
              <a:solidFill>
                <a:srgbClr val="FF6600"/>
              </a:solidFill>
            </a:endParaRPr>
          </a:p>
        </p:txBody>
      </p:sp>
      <p:sp>
        <p:nvSpPr>
          <p:cNvPr id="2232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1" y="1851979"/>
            <a:ext cx="10515600" cy="5972175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IE" dirty="0" smtClean="0"/>
              <a:t>Ceramics are crystalline compounds of metallic and non-metallic elements, examples include:</a:t>
            </a:r>
          </a:p>
          <a:p>
            <a:pPr eaLnBrk="1" hangingPunct="1">
              <a:buFontTx/>
              <a:buChar char="•"/>
            </a:pPr>
            <a:endParaRPr lang="en-IE" dirty="0" smtClean="0"/>
          </a:p>
          <a:p>
            <a:pPr eaLnBrk="1" hangingPunct="1">
              <a:buFontTx/>
              <a:buChar char="•"/>
            </a:pPr>
            <a:r>
              <a:rPr lang="en-IE" dirty="0" smtClean="0"/>
              <a:t>Oxides (alumina – insulation and abrasives, zirconia – dies for metal extrusion and abrasives)</a:t>
            </a:r>
          </a:p>
          <a:p>
            <a:pPr eaLnBrk="1" hangingPunct="1">
              <a:buFontTx/>
              <a:buChar char="•"/>
            </a:pPr>
            <a:r>
              <a:rPr lang="en-IE" dirty="0" smtClean="0"/>
              <a:t>Carbides (tungsten-carbide tools)</a:t>
            </a:r>
          </a:p>
          <a:p>
            <a:pPr eaLnBrk="1" hangingPunct="1">
              <a:buFontTx/>
              <a:buChar char="•"/>
            </a:pPr>
            <a:r>
              <a:rPr lang="en-IE" dirty="0" smtClean="0"/>
              <a:t>Nitrides (cubic boron nitride, 2</a:t>
            </a:r>
            <a:r>
              <a:rPr lang="en-IE" baseline="30000" dirty="0" smtClean="0"/>
              <a:t>nd</a:t>
            </a:r>
            <a:r>
              <a:rPr lang="en-IE" dirty="0" smtClean="0"/>
              <a:t> in hardness to diamond)</a:t>
            </a:r>
          </a:p>
          <a:p>
            <a:pPr eaLnBrk="1" hangingPunct="1"/>
            <a:endParaRPr lang="en-IE" dirty="0" smtClean="0"/>
          </a:p>
          <a:p>
            <a:pPr eaLnBrk="1" hangingPunct="1">
              <a:buFontTx/>
              <a:buChar char="•"/>
            </a:pPr>
            <a:endParaRPr lang="en-IE" dirty="0" smtClean="0"/>
          </a:p>
          <a:p>
            <a:pPr eaLnBrk="1" hangingPunct="1"/>
            <a:endParaRPr lang="en-IE" dirty="0" smtClean="0"/>
          </a:p>
        </p:txBody>
      </p:sp>
      <p:pic>
        <p:nvPicPr>
          <p:cNvPr id="223246" name="Picture 14" descr="Sparkplu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7552269" y="3594362"/>
            <a:ext cx="1447800" cy="5006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3247" name="Picture 15" descr="ceramic Tool Holder Cropped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85182" y="3828628"/>
            <a:ext cx="2252133" cy="3617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3249" name="Picture 17" descr="grinding wheel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85182" y="5254308"/>
            <a:ext cx="2602018" cy="2258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5442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32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32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232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232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2324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23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232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32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232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232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2324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23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232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232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232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232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2324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23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1" y="998483"/>
            <a:ext cx="10515600" cy="929171"/>
          </a:xfrm>
        </p:spPr>
        <p:txBody>
          <a:bodyPr/>
          <a:lstStyle/>
          <a:p>
            <a:r>
              <a:rPr lang="en-GB" dirty="0" smtClean="0"/>
              <a:t>UNIT 1:	Ceramic Materials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7434" y="2065319"/>
            <a:ext cx="11132058" cy="5740948"/>
          </a:xfrm>
        </p:spPr>
        <p:txBody>
          <a:bodyPr>
            <a:normAutofit/>
          </a:bodyPr>
          <a:lstStyle/>
          <a:p>
            <a:pPr marL="444500" indent="-44450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lang="en-GB" sz="3200" dirty="0" smtClean="0"/>
              <a:t>Graphite </a:t>
            </a:r>
            <a:r>
              <a:rPr lang="en-GB" sz="3200" dirty="0"/>
              <a:t>is also categorized in ceramics</a:t>
            </a:r>
            <a:endParaRPr lang="en-GB" sz="3200" dirty="0" smtClean="0"/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3200" dirty="0"/>
              <a:t>Characteristics </a:t>
            </a:r>
            <a:r>
              <a:rPr lang="en-US" sz="3200" dirty="0" smtClean="0"/>
              <a:t>of ceramics</a:t>
            </a:r>
            <a:r>
              <a:rPr lang="en-GB" sz="3200" dirty="0" smtClean="0"/>
              <a:t>:</a:t>
            </a:r>
          </a:p>
          <a:p>
            <a:pPr marL="1087438" indent="-469900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v"/>
            </a:pPr>
            <a:r>
              <a:rPr lang="en-US" sz="3200" dirty="0"/>
              <a:t>Brittle,</a:t>
            </a:r>
          </a:p>
          <a:p>
            <a:pPr marL="1087438" indent="-469900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v"/>
            </a:pPr>
            <a:r>
              <a:rPr lang="en-US" sz="3200" dirty="0"/>
              <a:t>Hardness,</a:t>
            </a:r>
          </a:p>
          <a:p>
            <a:pPr marL="1087438" indent="-469900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v"/>
            </a:pPr>
            <a:r>
              <a:rPr lang="en-US" sz="3200" dirty="0"/>
              <a:t>Abrasiveness</a:t>
            </a:r>
          </a:p>
          <a:p>
            <a:pPr marL="1087438" indent="-469900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v"/>
            </a:pPr>
            <a:r>
              <a:rPr lang="en-US" sz="3200" dirty="0"/>
              <a:t>High temperature </a:t>
            </a:r>
            <a:r>
              <a:rPr lang="en-US" sz="3200" dirty="0" smtClean="0"/>
              <a:t>strength</a:t>
            </a:r>
          </a:p>
          <a:p>
            <a:pPr marL="555625" indent="-457200"/>
            <a:endParaRPr lang="en-US" sz="3200" dirty="0" smtClean="0"/>
          </a:p>
          <a:p>
            <a:pPr marL="355600" indent="-257175"/>
            <a:r>
              <a:rPr lang="en-US" sz="3200" dirty="0" smtClean="0"/>
              <a:t>Examples:	Sand, Concrete, Glass, Boron nitrate etc.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10</a:t>
            </a:fld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1" y="863601"/>
            <a:ext cx="10515600" cy="939799"/>
          </a:xfrm>
        </p:spPr>
        <p:txBody>
          <a:bodyPr>
            <a:normAutofit/>
          </a:bodyPr>
          <a:lstStyle/>
          <a:p>
            <a:pPr marL="1879600" indent="-1879600"/>
            <a:r>
              <a:rPr lang="en-GB" dirty="0"/>
              <a:t>UNIT 1:	</a:t>
            </a:r>
            <a:r>
              <a:rPr lang="en-GB" dirty="0" smtClean="0"/>
              <a:t>Organic Materials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981201"/>
            <a:ext cx="10515600" cy="6207469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sz="3200" dirty="0" smtClean="0"/>
              <a:t>They </a:t>
            </a:r>
            <a:r>
              <a:rPr lang="en-GB" sz="3200" dirty="0"/>
              <a:t>are polymeric </a:t>
            </a:r>
            <a:r>
              <a:rPr lang="en-GB" sz="3200" dirty="0" smtClean="0"/>
              <a:t>materials </a:t>
            </a:r>
            <a:r>
              <a:rPr lang="en-GB" sz="3200" dirty="0"/>
              <a:t>composed of long molecular </a:t>
            </a:r>
            <a:r>
              <a:rPr lang="en-GB" sz="3200" dirty="0" smtClean="0"/>
              <a:t>chains of </a:t>
            </a:r>
            <a:r>
              <a:rPr lang="en-GB" sz="3200" dirty="0"/>
              <a:t>carbon compounds. Polymers are </a:t>
            </a:r>
            <a:r>
              <a:rPr lang="en-GB" sz="3200" dirty="0" smtClean="0"/>
              <a:t>solids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3200" dirty="0"/>
              <a:t>Characteristics of </a:t>
            </a:r>
            <a:r>
              <a:rPr lang="en-US" sz="3200" dirty="0" smtClean="0"/>
              <a:t>organic materials</a:t>
            </a:r>
            <a:r>
              <a:rPr lang="en-GB" sz="3200" dirty="0" smtClean="0"/>
              <a:t>:</a:t>
            </a:r>
            <a:endParaRPr lang="en-GB" sz="3200" dirty="0"/>
          </a:p>
          <a:p>
            <a:pPr marL="1087438" indent="-469900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v"/>
            </a:pPr>
            <a:r>
              <a:rPr lang="en-US" sz="3200" dirty="0" smtClean="0"/>
              <a:t>Light weight,</a:t>
            </a:r>
          </a:p>
          <a:p>
            <a:pPr marL="1087438" indent="-469900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v"/>
            </a:pPr>
            <a:r>
              <a:rPr lang="en-US" sz="3200" dirty="0" smtClean="0"/>
              <a:t>Ductile,</a:t>
            </a:r>
          </a:p>
          <a:p>
            <a:pPr marL="1087438" indent="-469900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v"/>
            </a:pPr>
            <a:r>
              <a:rPr lang="en-US" sz="3200" dirty="0" smtClean="0"/>
              <a:t>Combustible</a:t>
            </a:r>
            <a:endParaRPr lang="en-US" sz="3200" dirty="0"/>
          </a:p>
          <a:p>
            <a:pPr marL="271463" indent="-271463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sz="3200" dirty="0"/>
              <a:t>Examples:	</a:t>
            </a:r>
            <a:r>
              <a:rPr lang="en-US" sz="3200" dirty="0" smtClean="0"/>
              <a:t>Rubber, Plastics, Wood, Lubricants, Textiles etc.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47254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765174" y="979277"/>
            <a:ext cx="9734551" cy="639445"/>
          </a:xfrm>
        </p:spPr>
        <p:txBody>
          <a:bodyPr>
            <a:normAutofit fontScale="90000"/>
          </a:bodyPr>
          <a:lstStyle/>
          <a:p>
            <a:r>
              <a:rPr lang="en-GB" sz="4000" dirty="0"/>
              <a:t>UNIT 1:	Organic </a:t>
            </a:r>
            <a:r>
              <a:rPr lang="en-GB" sz="4000" dirty="0" smtClean="0"/>
              <a:t>Materials (Polymers)</a:t>
            </a:r>
            <a:endParaRPr lang="en-GB" sz="4053" b="1" dirty="0">
              <a:solidFill>
                <a:srgbClr val="FF6600"/>
              </a:solidFill>
            </a:endParaRPr>
          </a:p>
        </p:txBody>
      </p:sp>
      <p:sp>
        <p:nvSpPr>
          <p:cNvPr id="22630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883921" y="1059710"/>
            <a:ext cx="9247823" cy="3241463"/>
          </a:xfrm>
        </p:spPr>
        <p:txBody>
          <a:bodyPr>
            <a:normAutofit/>
          </a:bodyPr>
          <a:lstStyle/>
          <a:p>
            <a:pPr marL="0" indent="0"/>
            <a:endParaRPr lang="en-IE" sz="3547" b="1" dirty="0"/>
          </a:p>
          <a:p>
            <a:pPr marL="0" indent="0">
              <a:buNone/>
            </a:pPr>
            <a:r>
              <a:rPr lang="en-IE" sz="3547" dirty="0" smtClean="0"/>
              <a:t>Polymers </a:t>
            </a:r>
            <a:r>
              <a:rPr lang="en-IE" sz="3547" dirty="0"/>
              <a:t>can be </a:t>
            </a:r>
            <a:r>
              <a:rPr lang="en-IE" sz="3547" dirty="0" smtClean="0"/>
              <a:t>classified as:</a:t>
            </a:r>
            <a:endParaRPr lang="en-IE" sz="3547" dirty="0"/>
          </a:p>
          <a:p>
            <a:pPr marL="0" indent="0">
              <a:buFontTx/>
              <a:buChar char="•"/>
            </a:pPr>
            <a:r>
              <a:rPr lang="en-IE" sz="3547" dirty="0"/>
              <a:t>Thermoplastic</a:t>
            </a:r>
          </a:p>
          <a:p>
            <a:pPr marL="0" indent="0">
              <a:buFontTx/>
              <a:buChar char="•"/>
            </a:pPr>
            <a:r>
              <a:rPr lang="en-IE" sz="3547" dirty="0"/>
              <a:t>Thermoset</a:t>
            </a:r>
          </a:p>
          <a:p>
            <a:pPr marL="0" indent="0">
              <a:buFontTx/>
              <a:buChar char="•"/>
            </a:pPr>
            <a:r>
              <a:rPr lang="en-IE" sz="3547" dirty="0"/>
              <a:t>Elastomers</a:t>
            </a:r>
          </a:p>
          <a:p>
            <a:pPr marL="0" indent="0"/>
            <a:endParaRPr lang="en-IE" sz="3547" dirty="0"/>
          </a:p>
          <a:p>
            <a:pPr marL="0" indent="0"/>
            <a:endParaRPr lang="en-IE" sz="3547" dirty="0"/>
          </a:p>
          <a:p>
            <a:pPr marL="0" indent="0"/>
            <a:endParaRPr lang="en-GB" sz="3547" b="1" i="1" dirty="0">
              <a:solidFill>
                <a:srgbClr val="FF0000"/>
              </a:solidFill>
            </a:endParaRPr>
          </a:p>
        </p:txBody>
      </p:sp>
      <p:graphicFrame>
        <p:nvGraphicFramePr>
          <p:cNvPr id="226353" name="Group 49"/>
          <p:cNvGraphicFramePr>
            <a:graphicFrameLocks noGrp="1"/>
          </p:cNvGraphicFramePr>
          <p:nvPr>
            <p:ph sz="half" idx="2"/>
          </p:nvPr>
        </p:nvGraphicFramePr>
        <p:xfrm>
          <a:off x="883920" y="4598776"/>
          <a:ext cx="9394613" cy="3093720"/>
        </p:xfrm>
        <a:graphic>
          <a:graphicData uri="http://schemas.openxmlformats.org/drawingml/2006/table">
            <a:tbl>
              <a:tblPr/>
              <a:tblGrid>
                <a:gridCol w="3438525"/>
                <a:gridCol w="2825221"/>
                <a:gridCol w="3130867"/>
              </a:tblGrid>
              <a:tr h="61772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33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Thermoplastics</a:t>
                      </a:r>
                      <a:endParaRPr kumimoji="0" lang="en-US" sz="33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5824" marR="115824" marT="57912" marB="5791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33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Thermosets</a:t>
                      </a:r>
                      <a:endParaRPr kumimoji="0" lang="en-US" sz="33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5824" marR="115824" marT="57912" marB="579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33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Elastomers</a:t>
                      </a:r>
                      <a:endParaRPr kumimoji="0" lang="en-US" sz="33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5824" marR="115824" marT="57912" marB="579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1772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33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Acrylics</a:t>
                      </a:r>
                      <a:endParaRPr kumimoji="0" lang="en-US" sz="3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5824" marR="115824" marT="57912" marB="5791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33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Epoxy resins</a:t>
                      </a:r>
                      <a:endParaRPr kumimoji="0" lang="en-US" sz="3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5824" marR="115824" marT="57912" marB="579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33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Rubbers</a:t>
                      </a:r>
                      <a:endParaRPr kumimoji="0" lang="en-US" sz="3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5824" marR="115824" marT="57912" marB="579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1772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33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Nylons</a:t>
                      </a:r>
                      <a:endParaRPr kumimoji="0" lang="en-US" sz="3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5824" marR="115824" marT="57912" marB="5791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33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Phenolic</a:t>
                      </a:r>
                      <a:endParaRPr kumimoji="0" lang="en-US" sz="3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5824" marR="115824" marT="57912" marB="579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33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Silicones</a:t>
                      </a:r>
                      <a:endParaRPr kumimoji="0" lang="en-US" sz="3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5824" marR="115824" marT="57912" marB="579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1772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33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PVC</a:t>
                      </a:r>
                      <a:endParaRPr kumimoji="0" lang="en-US" sz="3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5824" marR="115824" marT="57912" marB="5791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33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Polyesters</a:t>
                      </a:r>
                      <a:endParaRPr kumimoji="0" lang="en-US" sz="3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5824" marR="115824" marT="57912" marB="579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33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Polyurethanes</a:t>
                      </a:r>
                      <a:endParaRPr kumimoji="0" lang="en-US" sz="3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5824" marR="115824" marT="57912" marB="579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1772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33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Polyethylene</a:t>
                      </a:r>
                      <a:endParaRPr kumimoji="0" lang="en-US" sz="3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5824" marR="115824" marT="57912" marB="5791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3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5824" marR="115824" marT="57912" marB="579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3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5824" marR="115824" marT="57912" marB="579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226354" name="Picture 50" descr="PP Polyethylene Drinks Bottle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4240" y="2419034"/>
            <a:ext cx="3024293" cy="40317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6357" name="Picture 53" descr="PP PVC Gutters Facia Soffits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3630" y="2427077"/>
            <a:ext cx="5364903" cy="40236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6358" name="Picture 54" descr="PP Phenol Formaldehyde Grill Handle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3630" y="2427077"/>
            <a:ext cx="5364903" cy="40236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6359" name="Picture 55" descr="PP Phenol Formaldehyde Plugs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3630" y="2447185"/>
            <a:ext cx="5364903" cy="40035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6360" name="Picture 56" descr="PP Tyre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3631" y="2312459"/>
            <a:ext cx="5586095" cy="55860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6361" name="Picture 57" descr="PP Rubber Sole Runners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2418" y="2312458"/>
            <a:ext cx="4029710" cy="53729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6362" name="Text Box 58"/>
          <p:cNvSpPr txBox="1">
            <a:spLocks noChangeArrowheads="1"/>
          </p:cNvSpPr>
          <p:nvPr/>
        </p:nvSpPr>
        <p:spPr bwMode="auto">
          <a:xfrm>
            <a:off x="6868160" y="6603577"/>
            <a:ext cx="4029710" cy="4431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sz="2280"/>
              <a:t>Polyethylene</a:t>
            </a:r>
            <a:endParaRPr lang="en-US" sz="2280"/>
          </a:p>
        </p:txBody>
      </p:sp>
      <p:sp>
        <p:nvSpPr>
          <p:cNvPr id="226363" name="Text Box 59"/>
          <p:cNvSpPr txBox="1">
            <a:spLocks noChangeArrowheads="1"/>
          </p:cNvSpPr>
          <p:nvPr/>
        </p:nvSpPr>
        <p:spPr bwMode="auto">
          <a:xfrm>
            <a:off x="6198553" y="6603577"/>
            <a:ext cx="4301172" cy="4431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sz="2280"/>
              <a:t>PVC gutters</a:t>
            </a:r>
            <a:endParaRPr lang="en-US" sz="2280"/>
          </a:p>
        </p:txBody>
      </p:sp>
      <p:sp>
        <p:nvSpPr>
          <p:cNvPr id="226364" name="Text Box 60"/>
          <p:cNvSpPr txBox="1">
            <a:spLocks noChangeArrowheads="1"/>
          </p:cNvSpPr>
          <p:nvPr/>
        </p:nvSpPr>
        <p:spPr bwMode="auto">
          <a:xfrm>
            <a:off x="5134822" y="6450753"/>
            <a:ext cx="4697307" cy="4431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sz="2280"/>
              <a:t>Phenol formaldehyde</a:t>
            </a:r>
            <a:endParaRPr lang="en-US" sz="2280"/>
          </a:p>
        </p:txBody>
      </p:sp>
      <p:sp>
        <p:nvSpPr>
          <p:cNvPr id="226365" name="Text Box 61"/>
          <p:cNvSpPr txBox="1">
            <a:spLocks noChangeArrowheads="1"/>
          </p:cNvSpPr>
          <p:nvPr/>
        </p:nvSpPr>
        <p:spPr bwMode="auto">
          <a:xfrm>
            <a:off x="5134822" y="6450753"/>
            <a:ext cx="4697307" cy="4431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sz="2280"/>
              <a:t>Urea formaldehyde</a:t>
            </a:r>
            <a:endParaRPr lang="en-US" sz="2280"/>
          </a:p>
        </p:txBody>
      </p:sp>
      <p:sp>
        <p:nvSpPr>
          <p:cNvPr id="226366" name="Text Box 62"/>
          <p:cNvSpPr txBox="1">
            <a:spLocks noChangeArrowheads="1"/>
          </p:cNvSpPr>
          <p:nvPr/>
        </p:nvSpPr>
        <p:spPr bwMode="auto">
          <a:xfrm>
            <a:off x="5802418" y="7665297"/>
            <a:ext cx="4029710" cy="4431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sz="2280"/>
              <a:t>Rubber</a:t>
            </a:r>
            <a:endParaRPr lang="en-US" sz="2280"/>
          </a:p>
        </p:txBody>
      </p:sp>
      <p:sp>
        <p:nvSpPr>
          <p:cNvPr id="10281" name="Text Box 63"/>
          <p:cNvSpPr txBox="1">
            <a:spLocks noChangeArrowheads="1"/>
          </p:cNvSpPr>
          <p:nvPr/>
        </p:nvSpPr>
        <p:spPr bwMode="auto">
          <a:xfrm>
            <a:off x="5802418" y="7665297"/>
            <a:ext cx="4029710" cy="4431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sz="2280"/>
          </a:p>
        </p:txBody>
      </p:sp>
      <p:sp>
        <p:nvSpPr>
          <p:cNvPr id="226368" name="Text Box 64"/>
          <p:cNvSpPr txBox="1">
            <a:spLocks noChangeArrowheads="1"/>
          </p:cNvSpPr>
          <p:nvPr/>
        </p:nvSpPr>
        <p:spPr bwMode="auto">
          <a:xfrm>
            <a:off x="5802418" y="7665297"/>
            <a:ext cx="4029710" cy="4431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sz="2280"/>
              <a:t>Rubber</a:t>
            </a:r>
            <a:endParaRPr lang="en-US" sz="2280"/>
          </a:p>
        </p:txBody>
      </p:sp>
    </p:spTree>
    <p:extLst>
      <p:ext uri="{BB962C8B-B14F-4D97-AF65-F5344CB8AC3E}">
        <p14:creationId xmlns:p14="http://schemas.microsoft.com/office/powerpoint/2010/main" val="4126355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63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63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263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263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2635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26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2636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26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263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263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2635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26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22636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26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263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263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263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263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2635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26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22636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26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263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263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2635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26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4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22636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26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263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263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263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263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2636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26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6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22636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26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2263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2263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2636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26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7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500"/>
                                        <p:tgtEl>
                                          <p:spTgt spid="22636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26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8" dur="500"/>
                                        <p:tgtEl>
                                          <p:spTgt spid="2263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6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263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263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6307" grpId="0" build="p"/>
      <p:bldP spid="226362" grpId="0"/>
      <p:bldP spid="226363" grpId="0"/>
      <p:bldP spid="226364" grpId="0"/>
      <p:bldP spid="226365" grpId="0"/>
      <p:bldP spid="226366" grpId="0"/>
      <p:bldP spid="22636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1040342" y="953433"/>
            <a:ext cx="9734551" cy="544838"/>
          </a:xfrm>
        </p:spPr>
        <p:txBody>
          <a:bodyPr>
            <a:normAutofit fontScale="90000"/>
          </a:bodyPr>
          <a:lstStyle/>
          <a:p>
            <a:r>
              <a:rPr lang="en-GB" dirty="0"/>
              <a:t>UNIT 1:	Organic Materials</a:t>
            </a:r>
            <a:endParaRPr lang="en-GB" b="1" dirty="0">
              <a:solidFill>
                <a:srgbClr val="FF6600"/>
              </a:solidFill>
            </a:endParaRPr>
          </a:p>
        </p:txBody>
      </p:sp>
      <p:sp>
        <p:nvSpPr>
          <p:cNvPr id="22937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80441" y="1732723"/>
            <a:ext cx="9151303" cy="198943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/>
              <a:t>Wood can be further categorised </a:t>
            </a:r>
            <a:r>
              <a:rPr lang="en-GB" dirty="0" smtClean="0"/>
              <a:t>as:</a:t>
            </a:r>
            <a:endParaRPr lang="en-GB" dirty="0"/>
          </a:p>
          <a:p>
            <a:pPr marL="772180" indent="-772180">
              <a:buFontTx/>
              <a:buChar char="•"/>
            </a:pPr>
            <a:r>
              <a:rPr lang="en-GB" dirty="0"/>
              <a:t>Hardwood</a:t>
            </a:r>
          </a:p>
          <a:p>
            <a:pPr marL="772180" indent="-772180">
              <a:buFontTx/>
              <a:buChar char="•"/>
            </a:pPr>
            <a:r>
              <a:rPr lang="en-GB" dirty="0"/>
              <a:t>Softwood</a:t>
            </a:r>
          </a:p>
          <a:p>
            <a:pPr marL="772180" indent="-772180">
              <a:buFontTx/>
              <a:buChar char="•"/>
            </a:pPr>
            <a:r>
              <a:rPr lang="en-GB" dirty="0"/>
              <a:t>Manufactured board</a:t>
            </a:r>
          </a:p>
          <a:p>
            <a:pPr marL="772180" indent="-772180"/>
            <a:endParaRPr lang="en-GB" sz="3547" dirty="0"/>
          </a:p>
          <a:p>
            <a:pPr marL="772180" indent="-772180"/>
            <a:endParaRPr lang="en-GB" sz="3547" dirty="0"/>
          </a:p>
        </p:txBody>
      </p:sp>
      <p:graphicFrame>
        <p:nvGraphicFramePr>
          <p:cNvPr id="229472" name="Group 96"/>
          <p:cNvGraphicFramePr>
            <a:graphicFrameLocks noGrp="1"/>
          </p:cNvGraphicFramePr>
          <p:nvPr>
            <p:ph sz="half" idx="2"/>
          </p:nvPr>
        </p:nvGraphicFramePr>
        <p:xfrm>
          <a:off x="883920" y="3802487"/>
          <a:ext cx="10327641" cy="4202642"/>
        </p:xfrm>
        <a:graphic>
          <a:graphicData uri="http://schemas.openxmlformats.org/drawingml/2006/table">
            <a:tbl>
              <a:tblPr/>
              <a:tblGrid>
                <a:gridCol w="3442547"/>
                <a:gridCol w="3442547"/>
                <a:gridCol w="3442547"/>
              </a:tblGrid>
              <a:tr h="980831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35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Hardwood</a:t>
                      </a:r>
                      <a:endParaRPr kumimoji="0" lang="en-US" sz="35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5824" marR="115824" marT="57923" marB="579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3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Softwood</a:t>
                      </a:r>
                      <a:endParaRPr kumimoji="0" lang="en-US" sz="35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5824" marR="115824" marT="57923" marB="579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3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Manufactured Board</a:t>
                      </a:r>
                      <a:endParaRPr kumimoji="0" lang="en-US" sz="35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5824" marR="115824" marT="57923" marB="579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04487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3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Oak</a:t>
                      </a:r>
                      <a:endParaRPr kumimoji="0" lang="en-US" sz="3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5824" marR="115824" marT="57923" marB="579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3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Pine</a:t>
                      </a:r>
                      <a:endParaRPr kumimoji="0" lang="en-US" sz="3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5824" marR="115824" marT="57923" marB="579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3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Plywood</a:t>
                      </a:r>
                      <a:endParaRPr kumimoji="0" lang="en-US" sz="3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5824" marR="115824" marT="57923" marB="579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06499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3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Ash</a:t>
                      </a:r>
                      <a:endParaRPr kumimoji="0" lang="en-US" sz="3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5824" marR="115824" marT="57923" marB="579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3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Cedar</a:t>
                      </a:r>
                      <a:endParaRPr kumimoji="0" lang="en-US" sz="3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5824" marR="115824" marT="57923" marB="579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3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Blockboard</a:t>
                      </a:r>
                      <a:endParaRPr kumimoji="0" lang="en-US" sz="3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5824" marR="115824" marT="57923" marB="579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38117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3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Beech</a:t>
                      </a:r>
                      <a:endParaRPr kumimoji="0" lang="en-US" sz="3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5824" marR="115824" marT="57923" marB="579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3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Fir</a:t>
                      </a:r>
                      <a:endParaRPr kumimoji="0" lang="en-US" sz="3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5824" marR="115824" marT="57923" marB="579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3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MDF</a:t>
                      </a:r>
                      <a:endParaRPr kumimoji="0" lang="en-US" sz="3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5824" marR="115824" marT="57923" marB="579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7270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35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Sycamore</a:t>
                      </a:r>
                      <a:endParaRPr kumimoji="0" lang="en-US" sz="35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5824" marR="115824" marT="57923" marB="579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3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Spruce</a:t>
                      </a:r>
                      <a:endParaRPr kumimoji="0" lang="en-US" sz="3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5824" marR="115824" marT="57923" marB="579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3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Melamine board</a:t>
                      </a:r>
                      <a:endParaRPr kumimoji="0" lang="en-US" sz="3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5824" marR="115824" marT="57923" marB="579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229473" name="Picture 97" descr="PP Mahogany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0632" y="3655695"/>
            <a:ext cx="5147733" cy="386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9474" name="Picture 98" descr="PP Oak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0632" y="3655695"/>
            <a:ext cx="5147733" cy="386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9475" name="Picture 99" descr="PP Ash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0632" y="3655695"/>
            <a:ext cx="5147733" cy="386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9476" name="Picture 100" descr="PP Beech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0632" y="3655695"/>
            <a:ext cx="4788000" cy="359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9478" name="Text Box 102"/>
          <p:cNvSpPr txBox="1">
            <a:spLocks noChangeArrowheads="1"/>
          </p:cNvSpPr>
          <p:nvPr/>
        </p:nvSpPr>
        <p:spPr bwMode="auto">
          <a:xfrm>
            <a:off x="6646968" y="2978045"/>
            <a:ext cx="3016250" cy="4431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sz="2280" b="1"/>
              <a:t>Mahogany</a:t>
            </a:r>
            <a:endParaRPr lang="en-US" sz="2280" b="1"/>
          </a:p>
        </p:txBody>
      </p:sp>
      <p:sp>
        <p:nvSpPr>
          <p:cNvPr id="229479" name="Text Box 103"/>
          <p:cNvSpPr txBox="1">
            <a:spLocks noChangeArrowheads="1"/>
          </p:cNvSpPr>
          <p:nvPr/>
        </p:nvSpPr>
        <p:spPr bwMode="auto">
          <a:xfrm>
            <a:off x="6646968" y="2978045"/>
            <a:ext cx="3016250" cy="4431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sz="2280" b="1"/>
              <a:t>Oak</a:t>
            </a:r>
            <a:endParaRPr lang="en-US" sz="2280" b="1"/>
          </a:p>
        </p:txBody>
      </p:sp>
      <p:sp>
        <p:nvSpPr>
          <p:cNvPr id="229480" name="Text Box 104"/>
          <p:cNvSpPr txBox="1">
            <a:spLocks noChangeArrowheads="1"/>
          </p:cNvSpPr>
          <p:nvPr/>
        </p:nvSpPr>
        <p:spPr bwMode="auto">
          <a:xfrm>
            <a:off x="6646968" y="2978045"/>
            <a:ext cx="3016250" cy="4431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sz="2280" b="1"/>
              <a:t>Ash</a:t>
            </a:r>
            <a:endParaRPr lang="en-US" sz="2280" b="1"/>
          </a:p>
        </p:txBody>
      </p:sp>
      <p:sp>
        <p:nvSpPr>
          <p:cNvPr id="229481" name="Text Box 105"/>
          <p:cNvSpPr txBox="1">
            <a:spLocks noChangeArrowheads="1"/>
          </p:cNvSpPr>
          <p:nvPr/>
        </p:nvSpPr>
        <p:spPr bwMode="auto">
          <a:xfrm>
            <a:off x="6646968" y="2978045"/>
            <a:ext cx="3016250" cy="4431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sz="2280" b="1"/>
              <a:t>Beech</a:t>
            </a:r>
            <a:endParaRPr lang="en-US" sz="2280" b="1"/>
          </a:p>
        </p:txBody>
      </p:sp>
      <p:pic>
        <p:nvPicPr>
          <p:cNvPr id="229483" name="Picture 107" descr="plywood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0632" y="3802487"/>
            <a:ext cx="4932000" cy="36932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9484" name="Picture 108" descr="cedar Wood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6467" y="4375579"/>
            <a:ext cx="5868000" cy="3060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9485" name="Text Box 109"/>
          <p:cNvSpPr txBox="1">
            <a:spLocks noChangeArrowheads="1"/>
          </p:cNvSpPr>
          <p:nvPr/>
        </p:nvSpPr>
        <p:spPr bwMode="auto">
          <a:xfrm>
            <a:off x="7254241" y="2978045"/>
            <a:ext cx="1783610" cy="4431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GB" sz="2280" b="1"/>
              <a:t>Cedar</a:t>
            </a:r>
            <a:endParaRPr lang="en-US" sz="2280" b="1"/>
          </a:p>
        </p:txBody>
      </p:sp>
      <p:pic>
        <p:nvPicPr>
          <p:cNvPr id="229489" name="Picture 113" descr="chipboard with Veneer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1242" y="4049874"/>
            <a:ext cx="4716000" cy="353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9490" name="Text Box 114"/>
          <p:cNvSpPr txBox="1">
            <a:spLocks noChangeArrowheads="1"/>
          </p:cNvSpPr>
          <p:nvPr/>
        </p:nvSpPr>
        <p:spPr bwMode="auto">
          <a:xfrm>
            <a:off x="7033049" y="2978045"/>
            <a:ext cx="3585316" cy="4431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GB" sz="2280" b="1"/>
              <a:t>Chipboard with Veneer</a:t>
            </a:r>
            <a:endParaRPr lang="en-US" sz="2280" b="1"/>
          </a:p>
        </p:txBody>
      </p:sp>
      <p:sp>
        <p:nvSpPr>
          <p:cNvPr id="229491" name="Text Box 115"/>
          <p:cNvSpPr txBox="1">
            <a:spLocks noChangeArrowheads="1"/>
          </p:cNvSpPr>
          <p:nvPr/>
        </p:nvSpPr>
        <p:spPr bwMode="auto">
          <a:xfrm>
            <a:off x="7033049" y="2978045"/>
            <a:ext cx="3585316" cy="4431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sz="2280" b="1"/>
              <a:t>Plywood</a:t>
            </a:r>
            <a:endParaRPr lang="en-US" sz="2280" b="1"/>
          </a:p>
        </p:txBody>
      </p:sp>
    </p:spTree>
    <p:extLst>
      <p:ext uri="{BB962C8B-B14F-4D97-AF65-F5344CB8AC3E}">
        <p14:creationId xmlns:p14="http://schemas.microsoft.com/office/powerpoint/2010/main" val="4144158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93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93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294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294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2947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29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2947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29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294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294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2947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29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2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2294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294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294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294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2947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29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22948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29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294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294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2947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29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4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2294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294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293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293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22948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29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5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2294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294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293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293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2294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294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2948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29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7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22949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29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2294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2294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2948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29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8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22949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29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294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294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9379" grpId="0" build="p"/>
      <p:bldP spid="229478" grpId="0"/>
      <p:bldP spid="229480" grpId="0"/>
      <p:bldP spid="229490" grpId="0"/>
      <p:bldP spid="22949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1" y="998483"/>
            <a:ext cx="10515600" cy="855717"/>
          </a:xfrm>
        </p:spPr>
        <p:txBody>
          <a:bodyPr>
            <a:normAutofit/>
          </a:bodyPr>
          <a:lstStyle/>
          <a:p>
            <a:pPr marL="1803400" indent="-1803400"/>
            <a:r>
              <a:rPr lang="en-GB" dirty="0" smtClean="0"/>
              <a:t>UNIT 1:	Properties of Materials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017968"/>
            <a:ext cx="10851291" cy="6384627"/>
          </a:xfrm>
        </p:spPr>
        <p:txBody>
          <a:bodyPr>
            <a:normAutofit fontScale="92500"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sz="3200" dirty="0" smtClean="0"/>
              <a:t>It</a:t>
            </a:r>
            <a:r>
              <a:rPr lang="en-GB" sz="3200" i="1" dirty="0" smtClean="0"/>
              <a:t> is a factor that </a:t>
            </a:r>
            <a:r>
              <a:rPr lang="en-GB" sz="3200" dirty="0" smtClean="0"/>
              <a:t>influences </a:t>
            </a:r>
            <a:r>
              <a:rPr lang="en-GB" sz="3200" dirty="0"/>
              <a:t>the qualitative or quantitative response of a given material to imposed stimuli and </a:t>
            </a:r>
            <a:r>
              <a:rPr lang="en-GB" sz="3200" dirty="0" smtClean="0"/>
              <a:t>constraints such as forces</a:t>
            </a:r>
            <a:r>
              <a:rPr lang="en-GB" sz="3200" dirty="0"/>
              <a:t>, temperatures, </a:t>
            </a:r>
            <a:r>
              <a:rPr lang="en-GB" sz="3200" dirty="0" smtClean="0"/>
              <a:t>etc.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sz="3200" dirty="0" smtClean="0"/>
              <a:t>It is independent of the dimension  or shape.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sz="3200" dirty="0" smtClean="0"/>
              <a:t>In principle, they have a statistical behavior,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sz="3200" dirty="0" smtClean="0"/>
              <a:t>Categories of properties include:</a:t>
            </a:r>
          </a:p>
          <a:p>
            <a:pPr marL="1433513" indent="-346075"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en-US" sz="3200" dirty="0" smtClean="0"/>
              <a:t>Mechanical</a:t>
            </a:r>
          </a:p>
          <a:p>
            <a:pPr marL="1433513" indent="-346075"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en-US" sz="3200" dirty="0" smtClean="0"/>
              <a:t>Thermal</a:t>
            </a:r>
          </a:p>
          <a:p>
            <a:pPr marL="1433513" indent="-346075"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en-US" sz="3200" dirty="0" smtClean="0"/>
              <a:t>Electrical, etc.</a:t>
            </a:r>
            <a:endParaRPr lang="en-GB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15900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1" y="896884"/>
            <a:ext cx="10515600" cy="561214"/>
          </a:xfrm>
        </p:spPr>
        <p:txBody>
          <a:bodyPr>
            <a:normAutofit fontScale="90000"/>
          </a:bodyPr>
          <a:lstStyle/>
          <a:p>
            <a:r>
              <a:rPr lang="en-GB" dirty="0" smtClean="0"/>
              <a:t>UNIT 1:	Mechanical Properties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631774"/>
            <a:ext cx="10515600" cy="6334469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sz="3200" dirty="0" smtClean="0"/>
              <a:t>They are </a:t>
            </a:r>
            <a:r>
              <a:rPr lang="en-GB" sz="3200" dirty="0"/>
              <a:t>characteristics of </a:t>
            </a:r>
            <a:r>
              <a:rPr lang="en-GB" sz="3200" dirty="0" smtClean="0"/>
              <a:t>a material </a:t>
            </a:r>
            <a:r>
              <a:rPr lang="en-GB" sz="3200" dirty="0"/>
              <a:t>that describe its behaviour under the action of </a:t>
            </a:r>
            <a:r>
              <a:rPr lang="en-GB" sz="3200" b="1" i="1" dirty="0"/>
              <a:t>external forces</a:t>
            </a:r>
            <a:r>
              <a:rPr lang="en-GB" sz="3200" dirty="0"/>
              <a:t>. </a:t>
            </a:r>
            <a:endParaRPr lang="en-GB" sz="3200" dirty="0" smtClean="0"/>
          </a:p>
          <a:p>
            <a:pPr lvl="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sz="3200" dirty="0"/>
              <a:t>Knowledge of mechanical properties </a:t>
            </a:r>
            <a:r>
              <a:rPr lang="en-GB" sz="3200" dirty="0" smtClean="0"/>
              <a:t>of materials is essential in construction of </a:t>
            </a:r>
            <a:r>
              <a:rPr lang="en-GB" sz="3200" dirty="0"/>
              <a:t>mechanically sound structure</a:t>
            </a:r>
            <a:r>
              <a:rPr lang="en-GB" sz="3200" dirty="0" smtClean="0"/>
              <a:t>.</a:t>
            </a:r>
          </a:p>
          <a:p>
            <a:pPr marL="0" lv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3200" dirty="0" smtClean="0"/>
              <a:t>Examples:</a:t>
            </a:r>
          </a:p>
          <a:p>
            <a:pPr marL="715963" indent="-444500">
              <a:buFont typeface="Wingdings" panose="05000000000000000000" pitchFamily="2" charset="2"/>
              <a:buChar char="v"/>
              <a:tabLst>
                <a:tab pos="2052638" algn="l"/>
              </a:tabLst>
            </a:pPr>
            <a:r>
              <a:rPr lang="en-US" sz="3200" dirty="0"/>
              <a:t>Strength:	</a:t>
            </a:r>
            <a:r>
              <a:rPr lang="en-US" sz="3200" dirty="0" smtClean="0"/>
              <a:t>to sustain </a:t>
            </a:r>
            <a:r>
              <a:rPr lang="en-US" sz="3200" dirty="0"/>
              <a:t>loads </a:t>
            </a:r>
            <a:r>
              <a:rPr lang="en-US" sz="3200" dirty="0" smtClean="0"/>
              <a:t>(tension</a:t>
            </a:r>
            <a:r>
              <a:rPr lang="en-US" sz="3200" dirty="0"/>
              <a:t>, shear, </a:t>
            </a:r>
            <a:r>
              <a:rPr lang="en-US" sz="3200" dirty="0" smtClean="0"/>
              <a:t>bend),</a:t>
            </a:r>
            <a:endParaRPr lang="en-US" sz="3200" dirty="0"/>
          </a:p>
          <a:p>
            <a:pPr marL="715963" indent="-444500">
              <a:buFont typeface="Wingdings" panose="05000000000000000000" pitchFamily="2" charset="2"/>
              <a:buChar char="v"/>
              <a:tabLst>
                <a:tab pos="2052638" algn="l"/>
              </a:tabLst>
            </a:pPr>
            <a:r>
              <a:rPr lang="en-US" sz="3200" dirty="0"/>
              <a:t>Stiffness:	</a:t>
            </a:r>
            <a:r>
              <a:rPr lang="en-US" sz="3200" dirty="0" smtClean="0"/>
              <a:t>to </a:t>
            </a:r>
            <a:r>
              <a:rPr lang="en-US" sz="3200" dirty="0"/>
              <a:t>resist elastic deflection (E)</a:t>
            </a:r>
          </a:p>
          <a:p>
            <a:pPr marL="715963" indent="-444500">
              <a:buFont typeface="Wingdings" panose="05000000000000000000" pitchFamily="2" charset="2"/>
              <a:buChar char="v"/>
              <a:tabLst>
                <a:tab pos="2052638" algn="l"/>
              </a:tabLst>
            </a:pPr>
            <a:r>
              <a:rPr lang="en-US" sz="3200" dirty="0"/>
              <a:t>Ductility: 	</a:t>
            </a:r>
            <a:r>
              <a:rPr lang="en-US" sz="3200" dirty="0" smtClean="0"/>
              <a:t>ability to undergo </a:t>
            </a:r>
            <a:r>
              <a:rPr lang="en-US" sz="3200" dirty="0"/>
              <a:t>tensile </a:t>
            </a:r>
            <a:r>
              <a:rPr lang="en-US" sz="3200" dirty="0" smtClean="0"/>
              <a:t>deformation,</a:t>
            </a:r>
            <a:endParaRPr lang="en-US" sz="3200" dirty="0"/>
          </a:p>
          <a:p>
            <a:pPr marL="715963" indent="-444500">
              <a:buFont typeface="Wingdings" panose="05000000000000000000" pitchFamily="2" charset="2"/>
              <a:buChar char="v"/>
              <a:tabLst>
                <a:tab pos="2052638" algn="l"/>
              </a:tabLst>
            </a:pPr>
            <a:r>
              <a:rPr lang="en-US" sz="3200" dirty="0"/>
              <a:t>Hardness:	 resist plastic deformation-indentation</a:t>
            </a:r>
            <a:r>
              <a:rPr lang="en-US" sz="3200" dirty="0" smtClean="0"/>
              <a:t>.</a:t>
            </a:r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8325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1" y="915382"/>
            <a:ext cx="10515600" cy="839275"/>
          </a:xfrm>
        </p:spPr>
        <p:txBody>
          <a:bodyPr>
            <a:normAutofit/>
          </a:bodyPr>
          <a:lstStyle/>
          <a:p>
            <a:r>
              <a:rPr lang="en-GB" dirty="0" smtClean="0"/>
              <a:t>UNIT 1:	Chemical Properties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16</a:t>
            </a:fld>
            <a:endParaRPr lang="en-GB"/>
          </a:p>
        </p:txBody>
      </p:sp>
      <p:sp>
        <p:nvSpPr>
          <p:cNvPr id="3" name="TextBox 2"/>
          <p:cNvSpPr txBox="1"/>
          <p:nvPr/>
        </p:nvSpPr>
        <p:spPr>
          <a:xfrm>
            <a:off x="557433" y="1754658"/>
            <a:ext cx="8026870" cy="51321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3200" dirty="0">
                <a:latin typeface="Century Gothic" panose="020B0502020202020204" pitchFamily="34" charset="0"/>
              </a:rPr>
              <a:t>They </a:t>
            </a:r>
            <a:r>
              <a:rPr lang="en-GB" sz="3200" dirty="0" smtClean="0">
                <a:latin typeface="Century Gothic" panose="020B0502020202020204" pitchFamily="34" charset="0"/>
              </a:rPr>
              <a:t>characteristics the response of </a:t>
            </a:r>
            <a:r>
              <a:rPr lang="en-GB" sz="3200" dirty="0">
                <a:latin typeface="Century Gothic" panose="020B0502020202020204" pitchFamily="34" charset="0"/>
              </a:rPr>
              <a:t>a material </a:t>
            </a:r>
            <a:r>
              <a:rPr lang="en-GB" sz="3200" dirty="0" smtClean="0">
                <a:latin typeface="Century Gothic" panose="020B0502020202020204" pitchFamily="34" charset="0"/>
              </a:rPr>
              <a:t>to chemicals</a:t>
            </a:r>
          </a:p>
          <a:p>
            <a:pPr>
              <a:lnSpc>
                <a:spcPct val="120000"/>
              </a:lnSpc>
              <a:spcAft>
                <a:spcPts val="300"/>
              </a:spcAft>
            </a:pPr>
            <a:endParaRPr lang="en-GB" sz="3200" dirty="0" smtClean="0">
              <a:latin typeface="Century Gothic" panose="020B0502020202020204" pitchFamily="34" charset="0"/>
            </a:endParaRPr>
          </a:p>
          <a:p>
            <a:pPr>
              <a:lnSpc>
                <a:spcPct val="120000"/>
              </a:lnSpc>
              <a:spcAft>
                <a:spcPts val="300"/>
              </a:spcAft>
            </a:pPr>
            <a:r>
              <a:rPr lang="en-US" sz="3200" dirty="0" smtClean="0">
                <a:latin typeface="Century Gothic" panose="020B0502020202020204" pitchFamily="34" charset="0"/>
              </a:rPr>
              <a:t>Examples:</a:t>
            </a:r>
          </a:p>
          <a:p>
            <a:pPr marL="1379538" indent="-465138">
              <a:buFont typeface="Wingdings" panose="05000000000000000000" pitchFamily="2" charset="2"/>
              <a:buChar char="v"/>
            </a:pPr>
            <a:r>
              <a:rPr lang="en-US" sz="3200" dirty="0"/>
              <a:t>Corrosion resistance</a:t>
            </a:r>
          </a:p>
          <a:p>
            <a:pPr marL="1379538" indent="-465138">
              <a:buFont typeface="Wingdings" panose="05000000000000000000" pitchFamily="2" charset="2"/>
              <a:buChar char="v"/>
            </a:pPr>
            <a:r>
              <a:rPr lang="en-US" sz="3200" dirty="0"/>
              <a:t>Chemical composition,</a:t>
            </a:r>
          </a:p>
          <a:p>
            <a:pPr marL="1379538" indent="-465138">
              <a:buFont typeface="Wingdings" panose="05000000000000000000" pitchFamily="2" charset="2"/>
              <a:buChar char="v"/>
            </a:pPr>
            <a:r>
              <a:rPr lang="en-US" sz="3200" dirty="0"/>
              <a:t>Acidity or alkalinity</a:t>
            </a:r>
          </a:p>
          <a:p>
            <a:pPr marL="1379538" indent="-465138">
              <a:buFont typeface="Wingdings" panose="05000000000000000000" pitchFamily="2" charset="2"/>
              <a:buChar char="v"/>
            </a:pPr>
            <a:r>
              <a:rPr lang="en-US" sz="3200" dirty="0"/>
              <a:t>Solubility, etc.</a:t>
            </a:r>
            <a:endParaRPr lang="en-GB" sz="3200" dirty="0"/>
          </a:p>
          <a:p>
            <a:pPr>
              <a:lnSpc>
                <a:spcPct val="120000"/>
              </a:lnSpc>
              <a:spcAft>
                <a:spcPts val="300"/>
              </a:spcAft>
            </a:pPr>
            <a:endParaRPr lang="en-GB" sz="3200" dirty="0">
              <a:latin typeface="Century Gothic" panose="020B0502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Century Gothic" panose="020B0502020202020204" pitchFamily="34" charset="0"/>
              </a:rPr>
              <a:t>UNIT 1:	</a:t>
            </a:r>
            <a:r>
              <a:rPr lang="en-GB" dirty="0" smtClean="0">
                <a:latin typeface="Century Gothic" panose="020B0502020202020204" pitchFamily="34" charset="0"/>
              </a:rPr>
              <a:t>Physical Properties</a:t>
            </a:r>
            <a:endParaRPr lang="en-GB" dirty="0">
              <a:latin typeface="Century Gothic" panose="020B0502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lang="en-GB" sz="3200" dirty="0" smtClean="0"/>
              <a:t>They are </a:t>
            </a:r>
            <a:r>
              <a:rPr lang="en-GB" sz="3200" dirty="0"/>
              <a:t>employed to describe a material under conditions in which external forces are not </a:t>
            </a:r>
            <a:r>
              <a:rPr lang="en-GB" sz="3200" dirty="0" smtClean="0"/>
              <a:t>concerned.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None/>
            </a:pPr>
            <a:endParaRPr lang="en-GB" sz="3200" dirty="0" smtClean="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3200" dirty="0" smtClean="0"/>
              <a:t>Examples:</a:t>
            </a:r>
            <a:endParaRPr lang="en-GB" sz="3200" dirty="0" smtClean="0"/>
          </a:p>
          <a:p>
            <a:pPr marL="439738" lvl="1" defTabSz="627063" fontAlgn="base" hangingPunct="0">
              <a:buFont typeface="Wingdings" panose="05000000000000000000" pitchFamily="2" charset="2"/>
              <a:buChar char="v"/>
            </a:pPr>
            <a:r>
              <a:rPr lang="en-US" sz="3200" dirty="0"/>
              <a:t>Dimensions (i.e., size and shape) of the material.</a:t>
            </a:r>
            <a:endParaRPr lang="en-GB" sz="3200" dirty="0"/>
          </a:p>
          <a:p>
            <a:pPr marL="439738" lvl="1" defTabSz="627063" fontAlgn="base" hangingPunct="0">
              <a:buFont typeface="Wingdings" panose="05000000000000000000" pitchFamily="2" charset="2"/>
              <a:buChar char="v"/>
            </a:pPr>
            <a:r>
              <a:rPr lang="en-US" sz="3200" dirty="0"/>
              <a:t>Density</a:t>
            </a:r>
            <a:endParaRPr lang="en-GB" sz="3200" dirty="0"/>
          </a:p>
          <a:p>
            <a:pPr marL="439738" lvl="1" defTabSz="627063" fontAlgn="base" hangingPunct="0">
              <a:buFont typeface="Wingdings" panose="05000000000000000000" pitchFamily="2" charset="2"/>
              <a:buChar char="v"/>
            </a:pPr>
            <a:r>
              <a:rPr lang="en-US" sz="3200" dirty="0"/>
              <a:t>Porosity</a:t>
            </a:r>
            <a:endParaRPr lang="en-GB" sz="3200" dirty="0"/>
          </a:p>
          <a:p>
            <a:pPr marL="439738" defTabSz="627063">
              <a:buFont typeface="Wingdings" panose="05000000000000000000" pitchFamily="2" charset="2"/>
              <a:buChar char="v"/>
            </a:pPr>
            <a:r>
              <a:rPr lang="en-GB" sz="3200" dirty="0"/>
              <a:t>Structure, </a:t>
            </a:r>
            <a:r>
              <a:rPr lang="en-GB" sz="3200" dirty="0" err="1"/>
              <a:t>etc</a:t>
            </a:r>
            <a:endParaRPr lang="en-GB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7892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UNIT 1:	</a:t>
            </a:r>
            <a:r>
              <a:rPr lang="en-GB" dirty="0" smtClean="0"/>
              <a:t>Engineering Requirements of Materials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2312459"/>
            <a:ext cx="10515600" cy="5876211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3200" b="1" i="1" dirty="0" smtClean="0"/>
              <a:t>Fabrication requirement</a:t>
            </a:r>
            <a:r>
              <a:rPr lang="en-US" sz="3200" dirty="0" smtClean="0"/>
              <a:t> </a:t>
            </a:r>
            <a:r>
              <a:rPr lang="en-US" sz="3200" dirty="0"/>
              <a:t>is the </a:t>
            </a:r>
            <a:r>
              <a:rPr lang="en-US" sz="3200" dirty="0" smtClean="0"/>
              <a:t>ease to shape the material (machinability, ductility, castability, Weldability, heat-treatability).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3200" b="1" i="1" dirty="0" smtClean="0"/>
              <a:t>Service requirement</a:t>
            </a:r>
            <a:r>
              <a:rPr lang="en-US" sz="3200" dirty="0" smtClean="0"/>
              <a:t> is the ability of the material to stand up to service condition of strength, wear, corrosion etc.</a:t>
            </a:r>
            <a:endParaRPr lang="en-GB" sz="3200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3200" b="1" i="1" dirty="0" smtClean="0"/>
              <a:t>Economic requirement</a:t>
            </a:r>
            <a:r>
              <a:rPr lang="en-US" sz="3200" dirty="0" smtClean="0"/>
              <a:t> </a:t>
            </a:r>
            <a:r>
              <a:rPr lang="en-GB" sz="3200" dirty="0"/>
              <a:t>demand that the engineering part should be made with minimum overall cost</a:t>
            </a:r>
            <a:endParaRPr lang="en-GB" sz="3200" b="1" i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90766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7433" y="998483"/>
            <a:ext cx="10796368" cy="1143055"/>
          </a:xfrm>
        </p:spPr>
        <p:txBody>
          <a:bodyPr/>
          <a:lstStyle/>
          <a:p>
            <a:r>
              <a:rPr lang="en-GB" dirty="0"/>
              <a:t>UNIT 1:	</a:t>
            </a:r>
            <a:r>
              <a:rPr lang="en-GB" dirty="0" smtClean="0"/>
              <a:t>Factors that Affect Choice of </a:t>
            </a:r>
            <a:r>
              <a:rPr lang="en-GB" dirty="0"/>
              <a:t>Materials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lang="en-US" dirty="0" smtClean="0"/>
              <a:t>Strength of material,</a:t>
            </a:r>
          </a:p>
          <a:p>
            <a:pPr>
              <a:lnSpc>
                <a:spcPct val="110000"/>
              </a:lnSpc>
            </a:pPr>
            <a:r>
              <a:rPr lang="en-US" dirty="0" smtClean="0"/>
              <a:t>Cost of material,</a:t>
            </a:r>
          </a:p>
          <a:p>
            <a:pPr>
              <a:lnSpc>
                <a:spcPct val="110000"/>
              </a:lnSpc>
            </a:pPr>
            <a:r>
              <a:rPr lang="en-US" dirty="0" smtClean="0"/>
              <a:t>Type of manufacturing process,</a:t>
            </a:r>
          </a:p>
          <a:p>
            <a:pPr>
              <a:lnSpc>
                <a:spcPct val="110000"/>
              </a:lnSpc>
            </a:pPr>
            <a:r>
              <a:rPr lang="en-US" dirty="0" smtClean="0"/>
              <a:t>Form or profile of part,</a:t>
            </a:r>
          </a:p>
          <a:p>
            <a:pPr>
              <a:lnSpc>
                <a:spcPct val="110000"/>
              </a:lnSpc>
            </a:pPr>
            <a:r>
              <a:rPr lang="en-US" dirty="0" smtClean="0"/>
              <a:t>Life span and light-weight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56828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1" y="998483"/>
            <a:ext cx="10515600" cy="830317"/>
          </a:xfrm>
        </p:spPr>
        <p:txBody>
          <a:bodyPr>
            <a:normAutofit/>
          </a:bodyPr>
          <a:lstStyle/>
          <a:p>
            <a:r>
              <a:rPr lang="en-GB" dirty="0"/>
              <a:t>UNIT 1:	</a:t>
            </a:r>
            <a:r>
              <a:rPr lang="en-GB" dirty="0" smtClean="0"/>
              <a:t>Strength of Engineering Materials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2489199"/>
            <a:ext cx="10515600" cy="5699471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3200" dirty="0"/>
              <a:t>A</a:t>
            </a:r>
            <a:r>
              <a:rPr lang="en-US" sz="3200" dirty="0" smtClean="0"/>
              <a:t> material is expected to guarantee against strength failure: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lang="en-US" sz="3200" dirty="0" smtClean="0"/>
          </a:p>
          <a:p>
            <a:pPr marL="116840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3200" dirty="0" smtClean="0"/>
              <a:t>Type of stress (tensile, bending, torsion etc.)</a:t>
            </a:r>
          </a:p>
          <a:p>
            <a:pPr marL="116840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3200" dirty="0" smtClean="0"/>
              <a:t>State of stress (static, dynamic, complex)</a:t>
            </a:r>
          </a:p>
          <a:p>
            <a:pPr marL="116840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3200" dirty="0" smtClean="0"/>
              <a:t>Environment (corrosion, erosion, cavitation)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32993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1" y="998484"/>
            <a:ext cx="10515600" cy="644050"/>
          </a:xfrm>
        </p:spPr>
        <p:txBody>
          <a:bodyPr/>
          <a:lstStyle/>
          <a:p>
            <a:r>
              <a:rPr lang="en-GB" dirty="0" smtClean="0"/>
              <a:t>UNIT 1:	Cost of Materials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1" y="1879600"/>
                <a:ext cx="10515600" cy="6096000"/>
              </a:xfrm>
            </p:spPr>
            <p:txBody>
              <a:bodyPr>
                <a:normAutofit lnSpcReduction="10000"/>
              </a:bodyPr>
              <a:lstStyle/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en-GB" dirty="0" smtClean="0"/>
                  <a:t>Direct cost a material depends on:</a:t>
                </a:r>
              </a:p>
              <a:p>
                <a:pPr marL="627063" lvl="0">
                  <a:buFont typeface="Wingdings" panose="05000000000000000000" pitchFamily="2" charset="2"/>
                  <a:buChar char="v"/>
                </a:pPr>
                <a:r>
                  <a:rPr lang="en-GB" dirty="0" smtClean="0"/>
                  <a:t>Quality (chemical composition ) of material required,</a:t>
                </a:r>
              </a:p>
              <a:p>
                <a:pPr marL="627063" lvl="0">
                  <a:buFont typeface="Wingdings" panose="05000000000000000000" pitchFamily="2" charset="2"/>
                  <a:buChar char="v"/>
                </a:pPr>
                <a:r>
                  <a:rPr lang="en-US" dirty="0" smtClean="0"/>
                  <a:t>Quantity (mass or volume) of material required,</a:t>
                </a:r>
              </a:p>
              <a:p>
                <a:pPr marL="627063" lvl="0">
                  <a:buFont typeface="Wingdings" panose="05000000000000000000" pitchFamily="2" charset="2"/>
                  <a:buChar char="v"/>
                </a:pPr>
                <a:r>
                  <a:rPr lang="en-US" dirty="0" smtClean="0"/>
                  <a:t>Efficient utilization </a:t>
                </a:r>
                <a:r>
                  <a:rPr lang="en-US" dirty="0"/>
                  <a:t>of raw material during </a:t>
                </a:r>
                <a:r>
                  <a:rPr lang="en-US" dirty="0" smtClean="0"/>
                  <a:t>manufacturing (minimum loss).</a:t>
                </a:r>
              </a:p>
              <a:p>
                <a:pPr marL="398463" lvl="0" indent="0">
                  <a:buNone/>
                </a:pPr>
                <a:endParaRPr lang="en-GB" dirty="0" smtClean="0"/>
              </a:p>
              <a:p>
                <a:pPr lvl="0"/>
                <a:r>
                  <a:rPr lang="en-US" dirty="0" smtClean="0"/>
                  <a:t>Quality of material is directly factored into pricing of material:</a:t>
                </a:r>
                <a:endParaRPr lang="en-GB" dirty="0" smtClean="0"/>
              </a:p>
              <a:p>
                <a:pPr marL="1168400" lvl="0" indent="-427038">
                  <a:buFont typeface="Wingdings" panose="05000000000000000000" pitchFamily="2" charset="2"/>
                  <a:buChar char="v"/>
                </a:pPr>
                <a:r>
                  <a:rPr lang="en-GB" dirty="0" smtClean="0"/>
                  <a:t>Specific material cost,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⟦"/>
                        <m:endChr m:val="⟧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li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𝑐𝑜𝑠𝑡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𝑚𝑎𝑠𝑠</m:t>
                            </m:r>
                          </m:den>
                        </m:f>
                      </m:e>
                    </m:d>
                  </m:oMath>
                </a14:m>
                <a:endParaRPr lang="en-GB" dirty="0" smtClean="0"/>
              </a:p>
              <a:p>
                <a:pPr marL="1168400" lvl="0" indent="-427038">
                  <a:buFont typeface="Wingdings" panose="05000000000000000000" pitchFamily="2" charset="2"/>
                  <a:buChar char="v"/>
                </a:pPr>
                <a:r>
                  <a:rPr lang="en-GB" dirty="0" smtClean="0"/>
                  <a:t>Specific material cost of reference material,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⟦"/>
                        <m:endChr m:val="⟧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li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𝑐𝑜𝑠𝑡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𝑚𝑎𝑠𝑠</m:t>
                            </m:r>
                          </m:den>
                        </m:f>
                      </m:e>
                    </m:d>
                  </m:oMath>
                </a14:m>
                <a:r>
                  <a:rPr lang="en-GB" dirty="0" smtClean="0"/>
                  <a:t> </a:t>
                </a:r>
              </a:p>
              <a:p>
                <a:pPr marL="1168400" lvl="0" indent="-427038">
                  <a:buFont typeface="Wingdings" panose="05000000000000000000" pitchFamily="2" charset="2"/>
                  <a:buChar char="v"/>
                </a:pPr>
                <a:r>
                  <a:rPr lang="en-GB" dirty="0" smtClean="0"/>
                  <a:t>Relative material cost,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𝑣𝑜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   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GB" dirty="0" smtClean="0"/>
                  <a:t> </a:t>
                </a:r>
              </a:p>
              <a:p>
                <a:pPr>
                  <a:lnSpc>
                    <a:spcPct val="130000"/>
                  </a:lnSpc>
                  <a:spcBef>
                    <a:spcPts val="0"/>
                  </a:spcBef>
                  <a:spcAft>
                    <a:spcPts val="1000"/>
                  </a:spcAft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1" y="1879600"/>
                <a:ext cx="10515600" cy="6096000"/>
              </a:xfrm>
              <a:blipFill rotWithShape="0">
                <a:blip r:embed="rId2"/>
                <a:stretch>
                  <a:fillRect l="-1043" t="-900" r="-197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21</a:t>
            </a:fld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1" y="998483"/>
            <a:ext cx="10515600" cy="779517"/>
          </a:xfrm>
        </p:spPr>
        <p:txBody>
          <a:bodyPr/>
          <a:lstStyle/>
          <a:p>
            <a:r>
              <a:rPr lang="en-GB" dirty="0" smtClean="0"/>
              <a:t>UNIT 1:	Strength and Cost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22</a:t>
            </a:fld>
            <a:endParaRPr lang="en-GB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838201" y="2312459"/>
            <a:ext cx="10515600" cy="2742141"/>
          </a:xfrm>
        </p:spPr>
        <p:txBody>
          <a:bodyPr/>
          <a:lstStyle/>
          <a:p>
            <a:pPr marL="990600" indent="-990600" algn="just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GB" b="1" i="1" dirty="0"/>
              <a:t>Example:</a:t>
            </a:r>
            <a:r>
              <a:rPr lang="en-GB" dirty="0"/>
              <a:t>	For the cold rolled round </a:t>
            </a:r>
            <a:r>
              <a:rPr lang="en-GB" dirty="0" smtClean="0"/>
              <a:t>steels, </a:t>
            </a:r>
            <a:r>
              <a:rPr lang="en-GB" dirty="0"/>
              <a:t>St37-2 			and </a:t>
            </a:r>
            <a:r>
              <a:rPr lang="en-GB" dirty="0" smtClean="0"/>
              <a:t>St50-2, </a:t>
            </a:r>
            <a:r>
              <a:rPr lang="en-GB" dirty="0"/>
              <a:t>deduce an expression which 		shows the cost-bending strength 				relationship. Which of the two materials 		will be suitable? 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4055242"/>
              </p:ext>
            </p:extLst>
          </p:nvPr>
        </p:nvGraphicFramePr>
        <p:xfrm>
          <a:off x="2032000" y="5562600"/>
          <a:ext cx="7162800" cy="2057399"/>
        </p:xfrm>
        <a:graphic>
          <a:graphicData uri="http://schemas.openxmlformats.org/drawingml/2006/table">
            <a:tbl>
              <a:tblPr/>
              <a:tblGrid>
                <a:gridCol w="1915008"/>
                <a:gridCol w="1190999"/>
                <a:gridCol w="2305886"/>
                <a:gridCol w="1750907"/>
              </a:tblGrid>
              <a:tr h="634341">
                <a:tc>
                  <a:txBody>
                    <a:bodyPr/>
                    <a:lstStyle/>
                    <a:p>
                      <a:pPr algn="just" hangingPunct="0">
                        <a:spcAft>
                          <a:spcPts val="0"/>
                        </a:spcAft>
                      </a:pPr>
                      <a:endParaRPr lang="en-GB" sz="12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7945" marR="67945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hangingPunct="0">
                        <a:spcAft>
                          <a:spcPts val="0"/>
                        </a:spcAft>
                      </a:pPr>
                      <a:r>
                        <a:rPr lang="en-GB" sz="2800" dirty="0">
                          <a:latin typeface="Times New Roman"/>
                          <a:ea typeface="Times New Roman"/>
                          <a:cs typeface="Times New Roman"/>
                        </a:rPr>
                        <a:t>k</a:t>
                      </a:r>
                      <a:r>
                        <a:rPr lang="en-GB" sz="2800" baseline="30000" dirty="0">
                          <a:latin typeface="Times New Roman"/>
                          <a:ea typeface="Times New Roman"/>
                          <a:cs typeface="Times New Roman"/>
                        </a:rPr>
                        <a:t>*</a:t>
                      </a:r>
                      <a:r>
                        <a:rPr lang="en-GB" sz="2800" baseline="-25000" dirty="0">
                          <a:latin typeface="Times New Roman"/>
                          <a:ea typeface="Times New Roman"/>
                          <a:cs typeface="Times New Roman"/>
                        </a:rPr>
                        <a:t>v</a:t>
                      </a:r>
                      <a:endParaRPr lang="en-GB" sz="2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7945" marR="679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hangingPunct="0">
                        <a:spcAft>
                          <a:spcPts val="0"/>
                        </a:spcAft>
                      </a:pPr>
                      <a:r>
                        <a:rPr lang="en-GB" sz="2800" dirty="0">
                          <a:latin typeface="Times New Roman"/>
                          <a:ea typeface="Times New Roman"/>
                          <a:cs typeface="Times New Roman"/>
                        </a:rPr>
                        <a:t>R</a:t>
                      </a:r>
                      <a:r>
                        <a:rPr lang="en-GB" sz="2800" baseline="-25000" dirty="0">
                          <a:latin typeface="Times New Roman"/>
                          <a:ea typeface="Times New Roman"/>
                          <a:cs typeface="Times New Roman"/>
                        </a:rPr>
                        <a:t>p0,2</a:t>
                      </a:r>
                      <a:r>
                        <a:rPr lang="en-GB" sz="2800" dirty="0">
                          <a:latin typeface="Times New Roman"/>
                          <a:ea typeface="Times New Roman"/>
                          <a:cs typeface="Times New Roman"/>
                        </a:rPr>
                        <a:t>  (N/mm</a:t>
                      </a:r>
                      <a:r>
                        <a:rPr lang="en-GB" sz="2800" baseline="30000" dirty="0"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  <a:r>
                        <a:rPr lang="en-GB" sz="2800" dirty="0">
                          <a:latin typeface="Times New Roman"/>
                          <a:ea typeface="Times New Roman"/>
                          <a:cs typeface="Times New Roman"/>
                        </a:rPr>
                        <a:t>)</a:t>
                      </a:r>
                    </a:p>
                  </a:txBody>
                  <a:tcPr marL="67945" marR="679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hangingPunct="0">
                        <a:spcAft>
                          <a:spcPts val="0"/>
                        </a:spcAft>
                      </a:pPr>
                      <a:r>
                        <a:rPr lang="en-GB" sz="2800" dirty="0" smtClean="0">
                          <a:latin typeface="Times New Roman"/>
                          <a:ea typeface="Times New Roman"/>
                          <a:cs typeface="Times New Roman"/>
                          <a:sym typeface="Symbol"/>
                        </a:rPr>
                        <a:t></a:t>
                      </a:r>
                      <a:r>
                        <a:rPr lang="en-GB" sz="2800" baseline="-25000" dirty="0" smtClean="0">
                          <a:latin typeface="Times New Roman"/>
                          <a:ea typeface="Times New Roman"/>
                          <a:cs typeface="Times New Roman"/>
                          <a:sym typeface="Symbol"/>
                        </a:rPr>
                        <a:t>b</a:t>
                      </a:r>
                      <a:r>
                        <a:rPr lang="en-GB" sz="2800" baseline="0" dirty="0" smtClean="0">
                          <a:latin typeface="Times New Roman"/>
                          <a:ea typeface="Times New Roman"/>
                          <a:cs typeface="Times New Roman"/>
                          <a:sym typeface="Symbol"/>
                        </a:rPr>
                        <a:t>[N/mm</a:t>
                      </a:r>
                      <a:r>
                        <a:rPr lang="en-GB" sz="2800" baseline="30000" dirty="0" smtClean="0">
                          <a:latin typeface="Times New Roman"/>
                          <a:ea typeface="Times New Roman"/>
                          <a:cs typeface="Times New Roman"/>
                          <a:sym typeface="Symbol"/>
                        </a:rPr>
                        <a:t>2</a:t>
                      </a:r>
                      <a:r>
                        <a:rPr lang="en-GB" sz="2800" baseline="0" dirty="0" smtClean="0">
                          <a:latin typeface="Times New Roman"/>
                          <a:ea typeface="Times New Roman"/>
                          <a:cs typeface="Times New Roman"/>
                          <a:sym typeface="Symbol"/>
                        </a:rPr>
                        <a:t>]</a:t>
                      </a:r>
                      <a:endParaRPr lang="en-GB" sz="2800" baseline="-25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7945" marR="679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1529">
                <a:tc>
                  <a:txBody>
                    <a:bodyPr/>
                    <a:lstStyle/>
                    <a:p>
                      <a:pPr algn="just" hangingPunct="0">
                        <a:spcAft>
                          <a:spcPts val="0"/>
                        </a:spcAft>
                      </a:pPr>
                      <a:r>
                        <a:rPr lang="en-GB" sz="2400" dirty="0">
                          <a:latin typeface="Times New Roman"/>
                          <a:ea typeface="Times New Roman"/>
                          <a:cs typeface="Times New Roman"/>
                        </a:rPr>
                        <a:t>St 32- 2</a:t>
                      </a:r>
                    </a:p>
                  </a:txBody>
                  <a:tcPr marL="67945" marR="679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 hangingPunct="0">
                        <a:spcAft>
                          <a:spcPts val="0"/>
                        </a:spcAft>
                      </a:pPr>
                      <a:r>
                        <a:rPr lang="en-GB" sz="2400" dirty="0">
                          <a:latin typeface="Times New Roman"/>
                          <a:ea typeface="Times New Roman"/>
                          <a:cs typeface="Times New Roman"/>
                        </a:rPr>
                        <a:t>1.0</a:t>
                      </a:r>
                    </a:p>
                  </a:txBody>
                  <a:tcPr marL="67945" marR="679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 hangingPunct="0">
                        <a:spcAft>
                          <a:spcPts val="0"/>
                        </a:spcAft>
                      </a:pPr>
                      <a:r>
                        <a:rPr lang="en-GB" sz="2400" dirty="0">
                          <a:latin typeface="Times New Roman"/>
                          <a:ea typeface="Times New Roman"/>
                          <a:cs typeface="Times New Roman"/>
                        </a:rPr>
                        <a:t>240</a:t>
                      </a:r>
                    </a:p>
                  </a:txBody>
                  <a:tcPr marL="67945" marR="679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 hangingPunct="0">
                        <a:spcAft>
                          <a:spcPts val="0"/>
                        </a:spcAft>
                      </a:pPr>
                      <a:r>
                        <a:rPr lang="en-GB" sz="2400" dirty="0">
                          <a:latin typeface="Times New Roman"/>
                          <a:ea typeface="Times New Roman"/>
                          <a:cs typeface="Times New Roman"/>
                        </a:rPr>
                        <a:t>340</a:t>
                      </a:r>
                    </a:p>
                  </a:txBody>
                  <a:tcPr marL="67945" marR="679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711529">
                <a:tc>
                  <a:txBody>
                    <a:bodyPr/>
                    <a:lstStyle/>
                    <a:p>
                      <a:pPr algn="just" hangingPunct="0">
                        <a:spcAft>
                          <a:spcPts val="0"/>
                        </a:spcAft>
                      </a:pPr>
                      <a:r>
                        <a:rPr lang="en-GB" sz="2400" dirty="0">
                          <a:latin typeface="Times New Roman"/>
                          <a:ea typeface="Times New Roman"/>
                          <a:cs typeface="Times New Roman"/>
                        </a:rPr>
                        <a:t>St 50-2</a:t>
                      </a:r>
                    </a:p>
                  </a:txBody>
                  <a:tcPr marL="67945" marR="679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hangingPunct="0">
                        <a:spcAft>
                          <a:spcPts val="0"/>
                        </a:spcAft>
                      </a:pPr>
                      <a:r>
                        <a:rPr lang="en-GB" sz="2400" dirty="0">
                          <a:latin typeface="Times New Roman"/>
                          <a:ea typeface="Times New Roman"/>
                          <a:cs typeface="Times New Roman"/>
                        </a:rPr>
                        <a:t>1.1</a:t>
                      </a:r>
                    </a:p>
                  </a:txBody>
                  <a:tcPr marL="67945" marR="679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hangingPunct="0">
                        <a:spcAft>
                          <a:spcPts val="0"/>
                        </a:spcAft>
                      </a:pPr>
                      <a:r>
                        <a:rPr lang="en-GB" sz="2400" dirty="0">
                          <a:latin typeface="Times New Roman"/>
                          <a:ea typeface="Times New Roman"/>
                          <a:cs typeface="Times New Roman"/>
                        </a:rPr>
                        <a:t>300</a:t>
                      </a:r>
                    </a:p>
                  </a:txBody>
                  <a:tcPr marL="67945" marR="679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hangingPunct="0">
                        <a:spcAft>
                          <a:spcPts val="0"/>
                        </a:spcAft>
                      </a:pPr>
                      <a:r>
                        <a:rPr lang="en-GB" sz="2400" dirty="0">
                          <a:latin typeface="Times New Roman"/>
                          <a:ea typeface="Times New Roman"/>
                          <a:cs typeface="Times New Roman"/>
                        </a:rPr>
                        <a:t>420</a:t>
                      </a:r>
                    </a:p>
                  </a:txBody>
                  <a:tcPr marL="67945" marR="679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576" y="998483"/>
            <a:ext cx="11869272" cy="601717"/>
          </a:xfrm>
        </p:spPr>
        <p:txBody>
          <a:bodyPr/>
          <a:lstStyle/>
          <a:p>
            <a:pPr>
              <a:tabLst>
                <a:tab pos="1371600" algn="l"/>
              </a:tabLst>
            </a:pPr>
            <a:r>
              <a:rPr lang="en-GB" dirty="0" smtClean="0"/>
              <a:t>UNIT 1:	Strength </a:t>
            </a:r>
            <a:r>
              <a:rPr lang="en-GB" dirty="0"/>
              <a:t>and Cost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23</a:t>
            </a:fld>
            <a:endParaRPr lang="en-GB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1" y="1600200"/>
                <a:ext cx="10515600" cy="6588470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spcAft>
                    <a:spcPts val="300"/>
                  </a:spcAft>
                  <a:buNone/>
                </a:pPr>
                <a:r>
                  <a:rPr lang="en-GB" b="1" i="1" dirty="0" smtClean="0"/>
                  <a:t>Solution:</a:t>
                </a:r>
                <a:r>
                  <a:rPr lang="en-GB" dirty="0" smtClean="0"/>
                  <a:t> </a:t>
                </a:r>
              </a:p>
              <a:p>
                <a:pPr marL="711200" indent="-514350">
                  <a:lnSpc>
                    <a:spcPct val="120000"/>
                  </a:lnSpc>
                  <a:spcBef>
                    <a:spcPts val="0"/>
                  </a:spcBef>
                  <a:spcAft>
                    <a:spcPts val="300"/>
                  </a:spcAft>
                  <a:buFont typeface="+mj-lt"/>
                  <a:buAutoNum type="alphaLcPeriod"/>
                </a:pPr>
                <a:r>
                  <a:rPr lang="en-US" dirty="0" smtClean="0"/>
                  <a:t>Cost of the part=weight x  specific material cost</a:t>
                </a:r>
              </a:p>
              <a:p>
                <a:pPr marL="3319463" indent="0">
                  <a:lnSpc>
                    <a:spcPct val="120000"/>
                  </a:lnSpc>
                  <a:spcBef>
                    <a:spcPts val="0"/>
                  </a:spcBef>
                  <a:spcAft>
                    <a:spcPts val="3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𝑉𝑜𝑙𝑢𝑚𝑒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𝐷𝑒𝑛𝑠𝑖𝑡𝑦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𝑆𝑝𝑒𝑐𝑖𝑓𝑖𝑐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𝑚𝑎𝑡𝑒𝑟𝑖𝑎𝑙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𝑐𝑜𝑠𝑡</m:t>
                      </m:r>
                    </m:oMath>
                  </m:oMathPara>
                </a14:m>
                <a:endParaRPr lang="en-GB" dirty="0"/>
              </a:p>
              <a:p>
                <a:pPr marL="711200" indent="-514350">
                  <a:lnSpc>
                    <a:spcPct val="120000"/>
                  </a:lnSpc>
                  <a:spcBef>
                    <a:spcPts val="0"/>
                  </a:spcBef>
                  <a:spcAft>
                    <a:spcPts val="300"/>
                  </a:spcAft>
                  <a:buFont typeface="+mj-lt"/>
                  <a:buAutoNum type="alphaLcPeriod" startAt="2"/>
                </a:pPr>
                <a:r>
                  <a:rPr lang="en-US" dirty="0" smtClean="0"/>
                  <a:t>Bending strength,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en-GB" dirty="0" smtClean="0"/>
                  <a:t>:</a:t>
                </a:r>
              </a:p>
              <a:p>
                <a:pPr marL="982663" indent="0">
                  <a:lnSpc>
                    <a:spcPct val="120000"/>
                  </a:lnSpc>
                  <a:spcBef>
                    <a:spcPts val="0"/>
                  </a:spcBef>
                  <a:spcAft>
                    <a:spcPts val="3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GB" dirty="0"/>
                        <m:t>Bending</m:t>
                      </m:r>
                      <m:r>
                        <m:rPr>
                          <m:nor/>
                        </m:rPr>
                        <a:rPr lang="en-GB" dirty="0"/>
                        <m:t> </m:t>
                      </m:r>
                      <m:r>
                        <m:rPr>
                          <m:nor/>
                        </m:rPr>
                        <a:rPr lang="en-GB" dirty="0"/>
                        <m:t>equation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,  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𝑀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;     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𝑀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𝐼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𝑀</m:t>
                          </m:r>
                        </m:num>
                        <m:den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GB" dirty="0" smtClean="0"/>
              </a:p>
              <a:p>
                <a:pPr marL="439738" indent="0">
                  <a:lnSpc>
                    <a:spcPct val="120000"/>
                  </a:lnSpc>
                  <a:spcBef>
                    <a:spcPts val="0"/>
                  </a:spcBef>
                  <a:spcAft>
                    <a:spcPts val="3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GB" dirty="0"/>
                            <m:t>Sectional</m:t>
                          </m:r>
                          <m:r>
                            <m:rPr>
                              <m:nor/>
                            </m:rPr>
                            <a:rPr lang="en-GB" dirty="0"/>
                            <m:t> </m:t>
                          </m:r>
                          <m:r>
                            <m:rPr>
                              <m:nor/>
                            </m:rPr>
                            <a:rPr lang="en-GB" dirty="0"/>
                            <m:t>modulus</m:t>
                          </m:r>
                          <m:r>
                            <m:rPr>
                              <m:nor/>
                            </m:rPr>
                            <a:rPr lang="en-GB" dirty="0"/>
                            <m:t> </m:t>
                          </m:r>
                          <m:r>
                            <m:rPr>
                              <m:nor/>
                            </m:rPr>
                            <a:rPr lang="en-GB" dirty="0"/>
                            <m:t>of</m:t>
                          </m:r>
                          <m:r>
                            <m:rPr>
                              <m:nor/>
                            </m:rPr>
                            <a:rPr lang="en-GB" dirty="0"/>
                            <m:t> </m:t>
                          </m:r>
                          <m:r>
                            <m:rPr>
                              <m:nor/>
                            </m:rPr>
                            <a:rPr lang="en-GB" dirty="0"/>
                            <m:t>round</m:t>
                          </m:r>
                          <m:r>
                            <m:rPr>
                              <m:nor/>
                            </m:rPr>
                            <a:rPr lang="en-GB" dirty="0"/>
                            <m:t> </m:t>
                          </m:r>
                          <m:r>
                            <m:rPr>
                              <m:nor/>
                            </m:rPr>
                            <a:rPr lang="en-GB" dirty="0"/>
                            <m:t>bar</m:t>
                          </m:r>
                          <m:r>
                            <m:rPr>
                              <m:nor/>
                            </m:rPr>
                            <a:rPr lang="en-GB" dirty="0"/>
                            <m:t> </m:t>
                          </m:r>
                          <m:r>
                            <m:rPr>
                              <m:nor/>
                            </m:rPr>
                            <a:rPr lang="en-GB" dirty="0"/>
                            <m:t>under</m:t>
                          </m:r>
                          <m:r>
                            <m:rPr>
                              <m:nor/>
                            </m:rPr>
                            <a:rPr lang="en-GB" dirty="0"/>
                            <m:t> </m:t>
                          </m:r>
                          <m:r>
                            <m:rPr>
                              <m:nor/>
                            </m:rPr>
                            <a:rPr lang="en-GB" dirty="0"/>
                            <m:t>bending</m:t>
                          </m:r>
                          <m:r>
                            <m:rPr>
                              <m:nor/>
                            </m:rPr>
                            <a:rPr lang="en-US" b="0" i="0" dirty="0" smtClean="0"/>
                            <m:t>,</m:t>
                          </m:r>
                          <m:r>
                            <m:rPr>
                              <m:nor/>
                            </m:rPr>
                            <a:rPr lang="en-GB" dirty="0"/>
                            <m:t> 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32</m:t>
                          </m:r>
                        </m:den>
                      </m:f>
                    </m:oMath>
                  </m:oMathPara>
                </a14:m>
                <a:endParaRPr lang="en-GB" dirty="0" smtClean="0"/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spcAft>
                    <a:spcPts val="3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𝑇h𝑒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𝑏𝑒𝑛𝑑𝑖𝑛𝑔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𝑠𝑡𝑟𝑒𝑒𝑠𝑠𝑒𝑠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32.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:  </m:t>
                      </m:r>
                      <m:r>
                        <a:rPr lang="en-GB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ad>
                        <m:ra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deg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32.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𝑀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.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𝑏</m:t>
                                  </m:r>
                                </m:sub>
                              </m:sSub>
                            </m:den>
                          </m:f>
                        </m:e>
                      </m:rad>
                    </m:oMath>
                  </m:oMathPara>
                </a14:m>
                <a:endParaRPr lang="en-US" b="0" dirty="0" smtClean="0"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1" y="1600200"/>
                <a:ext cx="10515600" cy="6588470"/>
              </a:xfrm>
              <a:blipFill rotWithShape="0">
                <a:blip r:embed="rId2"/>
                <a:stretch>
                  <a:fillRect l="-1217" t="-46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1" y="863601"/>
            <a:ext cx="10515600" cy="812800"/>
          </a:xfrm>
        </p:spPr>
        <p:txBody>
          <a:bodyPr/>
          <a:lstStyle/>
          <a:p>
            <a:r>
              <a:rPr lang="en-GB" dirty="0" smtClean="0"/>
              <a:t>UNIT 1:	Strength </a:t>
            </a:r>
            <a:r>
              <a:rPr lang="en-GB" dirty="0"/>
              <a:t>and Cost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06400" y="1761071"/>
                <a:ext cx="11463867" cy="3217333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spcAft>
                    <a:spcPts val="3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𝑇h𝑒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𝑣𝑜𝑙𝑢𝑚𝑒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US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L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.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ad>
                                <m:ra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g>
                                <m:e>
                                  <m:f>
                                    <m:f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32.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𝑀</m:t>
                                      </m:r>
                                    </m:num>
                                    <m:den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𝜋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.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𝜎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rad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𝐶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𝑏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p>
                          <m:f>
                            <m:fPr>
                              <m:type m:val="skw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GB" dirty="0"/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spcAft>
                    <a:spcPts val="3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𝐶𝑜𝑠𝑡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𝑛𝑑𝑖𝑛𝑔𝑟𝑒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𝑙𝑎𝑡𝑖𝑜𝑛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; 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en-US" i="1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𝑣𝑜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𝐶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𝑏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p>
                          <m:f>
                            <m:fPr>
                              <m:type m:val="skw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𝐴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bSup>
                        </m:num>
                        <m:den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f>
                                <m:fPr>
                                  <m:type m:val="skw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sup>
                          </m:sSup>
                        </m:den>
                      </m:f>
                    </m:oMath>
                  </m:oMathPara>
                </a14:m>
                <a:endParaRPr lang="en-GB" dirty="0"/>
              </a:p>
              <a:p>
                <a:pPr marL="744538" lvl="0" indent="-354013">
                  <a:buFont typeface="Wingdings" pitchFamily="2" charset="2"/>
                  <a:buChar char="ü"/>
                </a:pPr>
                <a:endParaRPr lang="en-GB" dirty="0" smtClean="0"/>
              </a:p>
              <a:p>
                <a:endParaRPr lang="en-GB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06400" y="1761071"/>
                <a:ext cx="11463867" cy="3217333"/>
              </a:xfr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24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/>
              <p:cNvGraphicFramePr>
                <a:graphicFrameLocks noGrp="1"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273878855"/>
                  </p:ext>
                </p:extLst>
              </p:nvPr>
            </p:nvGraphicFramePr>
            <p:xfrm>
              <a:off x="1125959" y="5194264"/>
              <a:ext cx="7222175" cy="3056537"/>
            </p:xfrm>
            <a:graphic>
              <a:graphicData uri="http://schemas.openxmlformats.org/drawingml/2006/table">
                <a:tbl>
                  <a:tblPr/>
                  <a:tblGrid>
                    <a:gridCol w="1241466"/>
                    <a:gridCol w="715782"/>
                    <a:gridCol w="1210669"/>
                    <a:gridCol w="1210669"/>
                    <a:gridCol w="1217989"/>
                    <a:gridCol w="1625600"/>
                  </a:tblGrid>
                  <a:tr h="1418810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20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en-GB" sz="2000" dirty="0">
                              <a:effectLst/>
                              <a:latin typeface="Century Gothic" panose="020B0502020202020204" pitchFamily="34" charset="0"/>
                              <a:ea typeface="Calibri" panose="020F0502020204030204" pitchFamily="34" charset="0"/>
                            </a:rPr>
                            <a:t> </a:t>
                          </a:r>
                        </a:p>
                      </a:txBody>
                      <a:tcPr marL="67945" marR="67945" marT="0" marB="0">
                        <a:lnL>
                          <a:noFill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20000"/>
                            </a:lnSpc>
                            <a:spcAft>
                              <a:spcPts val="10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2000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000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sub>
                                  <m:sup>
                                    <m:r>
                                      <a:rPr lang="en-US" sz="2000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GB" sz="2000" dirty="0">
                            <a:effectLst/>
                            <a:latin typeface="Century Gothic" panose="020B0502020202020204" pitchFamily="34" charset="0"/>
                            <a:ea typeface="Calibri" panose="020F0502020204030204" pitchFamily="34" charset="0"/>
                          </a:endParaRPr>
                        </a:p>
                      </a:txBody>
                      <a:tcPr marL="67945" marR="67945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20000"/>
                            </a:lnSpc>
                            <a:spcAft>
                              <a:spcPts val="10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sz="200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𝑝</m:t>
                                    </m:r>
                                    <m:r>
                                      <a:rPr lang="en-US" sz="2000" b="0" i="1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0.2</m:t>
                                    </m:r>
                                    <m:r>
                                      <a:rPr lang="en-US" sz="2000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i="1" dirty="0" smtClean="0">
                            <a:effectLst/>
                            <a:latin typeface="Cambria Math" panose="02040503050406030204" pitchFamily="18" charset="0"/>
                          </a:endParaRPr>
                        </a:p>
                        <a:p>
                          <a:pPr algn="just">
                            <a:lnSpc>
                              <a:spcPct val="120000"/>
                            </a:lnSpc>
                            <a:spcAft>
                              <a:spcPts val="10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GB" sz="200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lin"/>
                                        <m:ctrlPr>
                                          <a:rPr lang="en-GB" sz="2000" i="1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000" b="0" i="1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𝑁</m:t>
                                        </m:r>
                                      </m:num>
                                      <m:den>
                                        <m:sSup>
                                          <m:sSupPr>
                                            <m:ctrlPr>
                                              <a:rPr lang="en-GB" sz="2000" i="1" smtClean="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sz="2000" b="0" i="1" smtClean="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𝑚𝑚</m:t>
                                            </m:r>
                                          </m:e>
                                          <m:sup>
                                            <m:r>
                                              <a:rPr lang="en-US" sz="2000" b="0" i="1" smtClean="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GB" sz="2000" dirty="0">
                            <a:effectLst/>
                            <a:latin typeface="Century Gothic" panose="020B0502020202020204" pitchFamily="34" charset="0"/>
                            <a:ea typeface="Calibri" panose="020F0502020204030204" pitchFamily="34" charset="0"/>
                          </a:endParaRPr>
                        </a:p>
                      </a:txBody>
                      <a:tcPr marL="67945" marR="67945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20000"/>
                            </a:lnSpc>
                            <a:spcAft>
                              <a:spcPts val="10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sz="200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2000" i="1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i="1" dirty="0" smtClean="0">
                            <a:effectLst/>
                            <a:latin typeface="Cambria Math" panose="02040503050406030204" pitchFamily="18" charset="0"/>
                          </a:endParaRPr>
                        </a:p>
                        <a:p>
                          <a:pPr algn="just">
                            <a:lnSpc>
                              <a:spcPct val="120000"/>
                            </a:lnSpc>
                            <a:spcAft>
                              <a:spcPts val="10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GB" sz="200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lin"/>
                                        <m:ctrlPr>
                                          <a:rPr lang="en-GB" sz="2000" i="1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000" b="0" i="1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𝑁</m:t>
                                        </m:r>
                                      </m:num>
                                      <m:den>
                                        <m:sSup>
                                          <m:sSupPr>
                                            <m:ctrlPr>
                                              <a:rPr lang="en-GB" sz="2000" i="1" smtClean="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sz="2000" b="0" i="1" smtClean="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𝑚𝑚</m:t>
                                            </m:r>
                                          </m:e>
                                          <m:sup>
                                            <m:r>
                                              <a:rPr lang="en-US" sz="2000" b="0" i="1" smtClean="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GB" sz="2000" dirty="0">
                            <a:effectLst/>
                            <a:latin typeface="Century Gothic" panose="020B0502020202020204" pitchFamily="34" charset="0"/>
                            <a:ea typeface="Calibri" panose="020F0502020204030204" pitchFamily="34" charset="0"/>
                          </a:endParaRPr>
                        </a:p>
                      </a:txBody>
                      <a:tcPr marL="67945" marR="67945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20000"/>
                            </a:lnSpc>
                            <a:spcAft>
                              <a:spcPts val="10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𝑇𝑒𝑛𝑠𝑖𝑙𝑒</m:t>
                                </m:r>
                              </m:oMath>
                            </m:oMathPara>
                          </a14:m>
                          <a:endParaRPr lang="en-US" sz="2000" b="0" i="1" dirty="0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endParaRPr>
                        </a:p>
                        <a:p>
                          <a:pPr algn="just">
                            <a:lnSpc>
                              <a:spcPct val="120000"/>
                            </a:lnSpc>
                            <a:spcAft>
                              <a:spcPts val="10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type m:val="skw"/>
                                    <m:ctrlPr>
                                      <a:rPr lang="en-US" sz="2000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Sup>
                                      <m:sSubSupPr>
                                        <m:ctrlPr>
                                          <a:rPr lang="en-US" sz="2000" b="0" i="1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sz="2000" b="0" i="1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e>
                                      <m:sub>
                                        <m:r>
                                          <a:rPr lang="en-US" sz="2000" b="0" i="1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sub>
                                      <m:sup>
                                        <m:r>
                                          <a:rPr lang="en-US" sz="2000" b="0" i="1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∗</m:t>
                                        </m:r>
                                      </m:sup>
                                    </m:sSubSup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sz="2000" b="0" i="1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b="0" i="1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𝑅</m:t>
                                        </m:r>
                                      </m:e>
                                      <m:sub>
                                        <m:r>
                                          <a:rPr lang="en-US" sz="2000" b="0" i="1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  <m:r>
                                          <a:rPr lang="en-US" sz="2000" b="0" i="1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0.2</m:t>
                                        </m:r>
                                      </m:sub>
                                    </m:sSub>
                                  </m:den>
                                </m:f>
                              </m:oMath>
                            </m:oMathPara>
                          </a14:m>
                          <a:endParaRPr lang="en-US" sz="2000" b="0" dirty="0" smtClean="0">
                            <a:effectLst/>
                            <a:latin typeface="Century Gothic" panose="020B0502020202020204" pitchFamily="34" charset="0"/>
                            <a:ea typeface="Calibri" panose="020F0502020204030204" pitchFamily="34" charset="0"/>
                          </a:endParaRPr>
                        </a:p>
                        <a:p>
                          <a:pPr algn="just">
                            <a:lnSpc>
                              <a:spcPct val="120000"/>
                            </a:lnSpc>
                            <a:spcAft>
                              <a:spcPts val="1000"/>
                            </a:spcAft>
                          </a:pPr>
                          <a:endParaRPr lang="en-GB" sz="2000" dirty="0" smtClean="0">
                            <a:effectLst/>
                            <a:latin typeface="Century Gothic" panose="020B0502020202020204" pitchFamily="34" charset="0"/>
                            <a:ea typeface="Calibri" panose="020F0502020204030204" pitchFamily="34" charset="0"/>
                          </a:endParaRPr>
                        </a:p>
                      </a:txBody>
                      <a:tcPr marL="67945" marR="67945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20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en-GB" sz="2000" dirty="0">
                              <a:effectLst/>
                              <a:latin typeface="Century Gothic" panose="020B0502020202020204" pitchFamily="34" charset="0"/>
                              <a:ea typeface="Calibri" panose="020F0502020204030204" pitchFamily="34" charset="0"/>
                            </a:rPr>
                            <a:t>Bending </a:t>
                          </a:r>
                          <a:endParaRPr lang="en-GB" sz="2000" dirty="0" smtClean="0">
                            <a:effectLst/>
                            <a:latin typeface="Century Gothic" panose="020B0502020202020204" pitchFamily="34" charset="0"/>
                            <a:ea typeface="Calibri" panose="020F0502020204030204" pitchFamily="34" charset="0"/>
                          </a:endParaRPr>
                        </a:p>
                        <a:p>
                          <a:pPr algn="just">
                            <a:lnSpc>
                              <a:spcPct val="120000"/>
                            </a:lnSpc>
                            <a:spcAft>
                              <a:spcPts val="10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Sup>
                                      <m:sSubSupPr>
                                        <m:ctrlP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e>
                                      <m:sub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sub>
                                      <m:sup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  <m:t>∗</m:t>
                                        </m:r>
                                      </m:sup>
                                    </m:sSubSup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begChr m:val="["/>
                                            <m:endChr m:val="]"/>
                                            <m:ctrlPr>
                                              <a:rPr lang="en-US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sz="20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20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𝜎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2000" i="1">
                                                    <a:latin typeface="Cambria Math" panose="02040503050406030204" pitchFamily="18" charset="0"/>
                                                  </a:rPr>
                                                  <m:t>𝑏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e>
                                      <m:sup>
                                        <m:f>
                                          <m:fPr>
                                            <m:type m:val="skw"/>
                                            <m:ctrlPr>
                                              <a:rPr lang="en-US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sz="2000" i="1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num>
                                          <m:den>
                                            <m:r>
                                              <a:rPr lang="en-US" sz="2000" i="1">
                                                <a:latin typeface="Cambria Math" panose="02040503050406030204" pitchFamily="18" charset="0"/>
                                              </a:rPr>
                                              <m:t>3</m:t>
                                            </m:r>
                                          </m:den>
                                        </m:f>
                                      </m:sup>
                                    </m:sSup>
                                  </m:den>
                                </m:f>
                              </m:oMath>
                            </m:oMathPara>
                          </a14:m>
                          <a:endParaRPr lang="en-GB" sz="2000" dirty="0">
                            <a:effectLst/>
                            <a:latin typeface="Century Gothic" panose="020B0502020202020204" pitchFamily="34" charset="0"/>
                            <a:ea typeface="Calibri" panose="020F0502020204030204" pitchFamily="34" charset="0"/>
                          </a:endParaRPr>
                        </a:p>
                      </a:txBody>
                      <a:tcPr marL="67945" marR="67945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709404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20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en-GB" sz="2000">
                              <a:effectLst/>
                              <a:latin typeface="Century Gothic" panose="020B0502020202020204" pitchFamily="34" charset="0"/>
                              <a:ea typeface="Calibri" panose="020F0502020204030204" pitchFamily="34" charset="0"/>
                            </a:rPr>
                            <a:t>St 32- 2</a:t>
                          </a:r>
                        </a:p>
                      </a:txBody>
                      <a:tcPr marL="67945" marR="67945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20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en-GB" sz="2000">
                              <a:effectLst/>
                              <a:latin typeface="Century Gothic" panose="020B0502020202020204" pitchFamily="34" charset="0"/>
                              <a:ea typeface="Calibri" panose="020F0502020204030204" pitchFamily="34" charset="0"/>
                            </a:rPr>
                            <a:t>1.0</a:t>
                          </a:r>
                        </a:p>
                      </a:txBody>
                      <a:tcPr marL="67945" marR="67945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20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en-GB" sz="2000">
                              <a:effectLst/>
                              <a:latin typeface="Century Gothic" panose="020B0502020202020204" pitchFamily="34" charset="0"/>
                              <a:ea typeface="Calibri" panose="020F0502020204030204" pitchFamily="34" charset="0"/>
                            </a:rPr>
                            <a:t>240</a:t>
                          </a:r>
                        </a:p>
                      </a:txBody>
                      <a:tcPr marL="67945" marR="67945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20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en-GB" sz="2000">
                              <a:effectLst/>
                              <a:latin typeface="Century Gothic" panose="020B0502020202020204" pitchFamily="34" charset="0"/>
                              <a:ea typeface="Calibri" panose="020F0502020204030204" pitchFamily="34" charset="0"/>
                            </a:rPr>
                            <a:t>340</a:t>
                          </a:r>
                        </a:p>
                      </a:txBody>
                      <a:tcPr marL="67945" marR="67945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20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en-GB" sz="2000">
                              <a:effectLst/>
                              <a:latin typeface="Century Gothic" panose="020B0502020202020204" pitchFamily="34" charset="0"/>
                              <a:ea typeface="Calibri" panose="020F0502020204030204" pitchFamily="34" charset="0"/>
                            </a:rPr>
                            <a:t>0,42</a:t>
                          </a:r>
                        </a:p>
                      </a:txBody>
                      <a:tcPr marL="67945" marR="67945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20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en-GB" sz="2000">
                              <a:effectLst/>
                              <a:latin typeface="Century Gothic" panose="020B0502020202020204" pitchFamily="34" charset="0"/>
                              <a:ea typeface="Calibri" panose="020F0502020204030204" pitchFamily="34" charset="0"/>
                            </a:rPr>
                            <a:t>2,1</a:t>
                          </a:r>
                        </a:p>
                      </a:txBody>
                      <a:tcPr marL="67945" marR="67945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</a:tr>
                  <a:tr h="709404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20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en-GB" sz="2000">
                              <a:effectLst/>
                              <a:latin typeface="Century Gothic" panose="020B0502020202020204" pitchFamily="34" charset="0"/>
                              <a:ea typeface="Calibri" panose="020F0502020204030204" pitchFamily="34" charset="0"/>
                            </a:rPr>
                            <a:t>St 50-2</a:t>
                          </a:r>
                        </a:p>
                      </a:txBody>
                      <a:tcPr marL="67945" marR="67945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20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en-GB" sz="2000">
                              <a:effectLst/>
                              <a:latin typeface="Century Gothic" panose="020B0502020202020204" pitchFamily="34" charset="0"/>
                              <a:ea typeface="Calibri" panose="020F0502020204030204" pitchFamily="34" charset="0"/>
                            </a:rPr>
                            <a:t>1.1</a:t>
                          </a:r>
                        </a:p>
                      </a:txBody>
                      <a:tcPr marL="67945" marR="67945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20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en-GB" sz="2000">
                              <a:effectLst/>
                              <a:latin typeface="Century Gothic" panose="020B0502020202020204" pitchFamily="34" charset="0"/>
                              <a:ea typeface="Calibri" panose="020F0502020204030204" pitchFamily="34" charset="0"/>
                            </a:rPr>
                            <a:t>300</a:t>
                          </a:r>
                        </a:p>
                      </a:txBody>
                      <a:tcPr marL="67945" marR="67945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20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en-GB" sz="2000">
                              <a:effectLst/>
                              <a:latin typeface="Century Gothic" panose="020B0502020202020204" pitchFamily="34" charset="0"/>
                              <a:ea typeface="Calibri" panose="020F0502020204030204" pitchFamily="34" charset="0"/>
                            </a:rPr>
                            <a:t>420</a:t>
                          </a:r>
                        </a:p>
                      </a:txBody>
                      <a:tcPr marL="67945" marR="67945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20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en-GB" sz="2000">
                              <a:effectLst/>
                              <a:latin typeface="Century Gothic" panose="020B0502020202020204" pitchFamily="34" charset="0"/>
                              <a:ea typeface="Calibri" panose="020F0502020204030204" pitchFamily="34" charset="0"/>
                            </a:rPr>
                            <a:t>0,37</a:t>
                          </a:r>
                        </a:p>
                      </a:txBody>
                      <a:tcPr marL="67945" marR="67945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20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en-GB" sz="2000" dirty="0">
                              <a:effectLst/>
                              <a:latin typeface="Century Gothic" panose="020B0502020202020204" pitchFamily="34" charset="0"/>
                              <a:ea typeface="Calibri" panose="020F0502020204030204" pitchFamily="34" charset="0"/>
                            </a:rPr>
                            <a:t>2,0</a:t>
                          </a:r>
                        </a:p>
                      </a:txBody>
                      <a:tcPr marL="67945" marR="67945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/>
              <p:cNvGraphicFramePr>
                <a:graphicFrameLocks noGrp="1"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273878855"/>
                  </p:ext>
                </p:extLst>
              </p:nvPr>
            </p:nvGraphicFramePr>
            <p:xfrm>
              <a:off x="1125959" y="5194264"/>
              <a:ext cx="7222175" cy="3056537"/>
            </p:xfrm>
            <a:graphic>
              <a:graphicData uri="http://schemas.openxmlformats.org/drawingml/2006/table">
                <a:tbl>
                  <a:tblPr/>
                  <a:tblGrid>
                    <a:gridCol w="1241466"/>
                    <a:gridCol w="715782"/>
                    <a:gridCol w="1210669"/>
                    <a:gridCol w="1210669"/>
                    <a:gridCol w="1217989"/>
                    <a:gridCol w="1625600"/>
                  </a:tblGrid>
                  <a:tr h="1637729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20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en-GB" sz="2000" dirty="0">
                              <a:effectLst/>
                              <a:latin typeface="Century Gothic" panose="020B0502020202020204" pitchFamily="34" charset="0"/>
                              <a:ea typeface="Calibri" panose="020F0502020204030204" pitchFamily="34" charset="0"/>
                            </a:rPr>
                            <a:t> </a:t>
                          </a:r>
                        </a:p>
                      </a:txBody>
                      <a:tcPr marL="67945" marR="67945" marT="0" marB="0">
                        <a:lnL>
                          <a:noFill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7945" marR="67945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175214" t="-3346" r="-741026" b="-873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7945" marR="67945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161809" t="-3346" r="-335678" b="-873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7945" marR="67945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261809" t="-3346" r="-235678" b="-873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7945" marR="67945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360000" t="-3346" r="-134500" b="-873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7945" marR="67945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344569" t="-3346" r="-749" b="-87361"/>
                          </a:stretch>
                        </a:blipFill>
                      </a:tcPr>
                    </a:tc>
                  </a:tr>
                  <a:tr h="709404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20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en-GB" sz="2000">
                              <a:effectLst/>
                              <a:latin typeface="Century Gothic" panose="020B0502020202020204" pitchFamily="34" charset="0"/>
                              <a:ea typeface="Calibri" panose="020F0502020204030204" pitchFamily="34" charset="0"/>
                            </a:rPr>
                            <a:t>St 32- 2</a:t>
                          </a:r>
                        </a:p>
                      </a:txBody>
                      <a:tcPr marL="67945" marR="67945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20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en-GB" sz="2000">
                              <a:effectLst/>
                              <a:latin typeface="Century Gothic" panose="020B0502020202020204" pitchFamily="34" charset="0"/>
                              <a:ea typeface="Calibri" panose="020F0502020204030204" pitchFamily="34" charset="0"/>
                            </a:rPr>
                            <a:t>1.0</a:t>
                          </a:r>
                        </a:p>
                      </a:txBody>
                      <a:tcPr marL="67945" marR="67945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20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en-GB" sz="2000">
                              <a:effectLst/>
                              <a:latin typeface="Century Gothic" panose="020B0502020202020204" pitchFamily="34" charset="0"/>
                              <a:ea typeface="Calibri" panose="020F0502020204030204" pitchFamily="34" charset="0"/>
                            </a:rPr>
                            <a:t>240</a:t>
                          </a:r>
                        </a:p>
                      </a:txBody>
                      <a:tcPr marL="67945" marR="67945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20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en-GB" sz="2000">
                              <a:effectLst/>
                              <a:latin typeface="Century Gothic" panose="020B0502020202020204" pitchFamily="34" charset="0"/>
                              <a:ea typeface="Calibri" panose="020F0502020204030204" pitchFamily="34" charset="0"/>
                            </a:rPr>
                            <a:t>340</a:t>
                          </a:r>
                        </a:p>
                      </a:txBody>
                      <a:tcPr marL="67945" marR="67945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20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en-GB" sz="2000">
                              <a:effectLst/>
                              <a:latin typeface="Century Gothic" panose="020B0502020202020204" pitchFamily="34" charset="0"/>
                              <a:ea typeface="Calibri" panose="020F0502020204030204" pitchFamily="34" charset="0"/>
                            </a:rPr>
                            <a:t>0,42</a:t>
                          </a:r>
                        </a:p>
                      </a:txBody>
                      <a:tcPr marL="67945" marR="67945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20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en-GB" sz="2000">
                              <a:effectLst/>
                              <a:latin typeface="Century Gothic" panose="020B0502020202020204" pitchFamily="34" charset="0"/>
                              <a:ea typeface="Calibri" panose="020F0502020204030204" pitchFamily="34" charset="0"/>
                            </a:rPr>
                            <a:t>2,1</a:t>
                          </a:r>
                        </a:p>
                      </a:txBody>
                      <a:tcPr marL="67945" marR="67945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</a:tr>
                  <a:tr h="709404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20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en-GB" sz="2000">
                              <a:effectLst/>
                              <a:latin typeface="Century Gothic" panose="020B0502020202020204" pitchFamily="34" charset="0"/>
                              <a:ea typeface="Calibri" panose="020F0502020204030204" pitchFamily="34" charset="0"/>
                            </a:rPr>
                            <a:t>St 50-2</a:t>
                          </a:r>
                        </a:p>
                      </a:txBody>
                      <a:tcPr marL="67945" marR="67945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20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en-GB" sz="2000">
                              <a:effectLst/>
                              <a:latin typeface="Century Gothic" panose="020B0502020202020204" pitchFamily="34" charset="0"/>
                              <a:ea typeface="Calibri" panose="020F0502020204030204" pitchFamily="34" charset="0"/>
                            </a:rPr>
                            <a:t>1.1</a:t>
                          </a:r>
                        </a:p>
                      </a:txBody>
                      <a:tcPr marL="67945" marR="67945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20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en-GB" sz="2000">
                              <a:effectLst/>
                              <a:latin typeface="Century Gothic" panose="020B0502020202020204" pitchFamily="34" charset="0"/>
                              <a:ea typeface="Calibri" panose="020F0502020204030204" pitchFamily="34" charset="0"/>
                            </a:rPr>
                            <a:t>300</a:t>
                          </a:r>
                        </a:p>
                      </a:txBody>
                      <a:tcPr marL="67945" marR="67945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20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en-GB" sz="2000">
                              <a:effectLst/>
                              <a:latin typeface="Century Gothic" panose="020B0502020202020204" pitchFamily="34" charset="0"/>
                              <a:ea typeface="Calibri" panose="020F0502020204030204" pitchFamily="34" charset="0"/>
                            </a:rPr>
                            <a:t>420</a:t>
                          </a:r>
                        </a:p>
                      </a:txBody>
                      <a:tcPr marL="67945" marR="67945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20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en-GB" sz="2000">
                              <a:effectLst/>
                              <a:latin typeface="Century Gothic" panose="020B0502020202020204" pitchFamily="34" charset="0"/>
                              <a:ea typeface="Calibri" panose="020F0502020204030204" pitchFamily="34" charset="0"/>
                            </a:rPr>
                            <a:t>0,37</a:t>
                          </a:r>
                        </a:p>
                      </a:txBody>
                      <a:tcPr marL="67945" marR="67945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20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en-GB" sz="2000" dirty="0">
                              <a:effectLst/>
                              <a:latin typeface="Century Gothic" panose="020B0502020202020204" pitchFamily="34" charset="0"/>
                              <a:ea typeface="Calibri" panose="020F0502020204030204" pitchFamily="34" charset="0"/>
                            </a:rPr>
                            <a:t>2,0</a:t>
                          </a:r>
                        </a:p>
                      </a:txBody>
                      <a:tcPr marL="67945" marR="67945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9" name="TextBox 8"/>
          <p:cNvSpPr txBox="1"/>
          <p:nvPr/>
        </p:nvSpPr>
        <p:spPr>
          <a:xfrm>
            <a:off x="9321801" y="6705600"/>
            <a:ext cx="1498600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St50-2 is suitable</a:t>
            </a:r>
          </a:p>
          <a:p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1" y="998485"/>
            <a:ext cx="10515600" cy="271516"/>
          </a:xfrm>
        </p:spPr>
        <p:txBody>
          <a:bodyPr>
            <a:normAutofit fontScale="90000"/>
          </a:bodyPr>
          <a:lstStyle/>
          <a:p>
            <a:r>
              <a:rPr lang="en-GB" dirty="0" smtClean="0"/>
              <a:t>UNIT 1:	Engineering Manufacturing Processes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507068"/>
            <a:ext cx="10515600" cy="2607732"/>
          </a:xfrm>
        </p:spPr>
        <p:txBody>
          <a:bodyPr>
            <a:normAutofit fontScale="92500" lnSpcReduction="20000"/>
          </a:bodyPr>
          <a:lstStyle/>
          <a:p>
            <a:pPr marL="514350" indent="-51435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+mj-lt"/>
              <a:buAutoNum type="arabicPeriod"/>
            </a:pPr>
            <a:r>
              <a:rPr lang="en-GB" b="1" i="1" dirty="0" smtClean="0"/>
              <a:t>Technological </a:t>
            </a:r>
            <a:r>
              <a:rPr lang="en-GB" b="1" i="1" dirty="0"/>
              <a:t>properties </a:t>
            </a:r>
            <a:r>
              <a:rPr lang="en-GB" dirty="0"/>
              <a:t>of a material must correspond to the manufacturing process </a:t>
            </a:r>
            <a:r>
              <a:rPr lang="en-GB" dirty="0" smtClean="0"/>
              <a:t>selected.</a:t>
            </a:r>
          </a:p>
          <a:p>
            <a:pPr marL="355600" indent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dirty="0"/>
              <a:t>Example, </a:t>
            </a:r>
            <a:r>
              <a:rPr lang="en-US" dirty="0" smtClean="0"/>
              <a:t>weldability </a:t>
            </a:r>
            <a:r>
              <a:rPr lang="en-US" dirty="0"/>
              <a:t>requires a carbon content less than or equal to 0.22%  . </a:t>
            </a:r>
            <a:endParaRPr lang="en-US" dirty="0" smtClean="0"/>
          </a:p>
          <a:p>
            <a:pPr marL="0" indent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 b="1" i="1" dirty="0"/>
              <a:t>Table </a:t>
            </a:r>
            <a:r>
              <a:rPr lang="en-GB" sz="2400" b="1" i="1" dirty="0" smtClean="0"/>
              <a:t>1-2:</a:t>
            </a:r>
            <a:r>
              <a:rPr lang="en-GB" sz="2400" i="1" dirty="0"/>
              <a:t> </a:t>
            </a:r>
            <a:r>
              <a:rPr lang="en-GB" sz="2400" i="1" dirty="0" smtClean="0"/>
              <a:t>Manufacturing </a:t>
            </a:r>
            <a:r>
              <a:rPr lang="en-GB" sz="2400" i="1" dirty="0"/>
              <a:t>requirements of manufacturing </a:t>
            </a:r>
            <a:r>
              <a:rPr lang="en-GB" sz="2400" i="1" dirty="0" smtClean="0"/>
              <a:t>processes</a:t>
            </a:r>
            <a:endParaRPr lang="en-GB" sz="2400" i="1" dirty="0"/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25</a:t>
            </a:fld>
            <a:endParaRPr lang="en-GB"/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0" y="2000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endParaRPr kumimoji="0" lang="en-GB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6"/>
          <p:cNvSpPr>
            <a:spLocks noChangeArrowheads="1"/>
          </p:cNvSpPr>
          <p:nvPr/>
        </p:nvSpPr>
        <p:spPr bwMode="auto">
          <a:xfrm>
            <a:off x="152400" y="3524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endParaRPr kumimoji="0" lang="en-GB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Rectangle 9"/>
          <p:cNvSpPr>
            <a:spLocks noChangeArrowheads="1"/>
          </p:cNvSpPr>
          <p:nvPr/>
        </p:nvSpPr>
        <p:spPr bwMode="auto">
          <a:xfrm>
            <a:off x="304800" y="5048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endParaRPr kumimoji="0" lang="en-GB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6020879"/>
              </p:ext>
            </p:extLst>
          </p:nvPr>
        </p:nvGraphicFramePr>
        <p:xfrm>
          <a:off x="999077" y="4013200"/>
          <a:ext cx="10193856" cy="391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8390"/>
                <a:gridCol w="1371600"/>
                <a:gridCol w="7653866"/>
              </a:tblGrid>
              <a:tr h="342418">
                <a:tc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Aft>
                          <a:spcPts val="1000"/>
                        </a:spcAft>
                      </a:pPr>
                      <a:r>
                        <a:rPr lang="en-GB" sz="2000" cap="all" baseline="0" dirty="0" smtClean="0">
                          <a:effectLst/>
                        </a:rPr>
                        <a:t>Process</a:t>
                      </a:r>
                      <a:endParaRPr lang="en-GB" sz="2000" cap="all" baseline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Aft>
                          <a:spcPts val="1000"/>
                        </a:spcAft>
                      </a:pPr>
                      <a:r>
                        <a:rPr lang="en-GB" sz="2000" cap="all" baseline="0" dirty="0">
                          <a:effectLst/>
                        </a:rPr>
                        <a:t>Property </a:t>
                      </a:r>
                      <a:endParaRPr lang="en-GB" sz="2000" cap="all" baseline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Aft>
                          <a:spcPts val="1000"/>
                        </a:spcAft>
                      </a:pPr>
                      <a:r>
                        <a:rPr lang="en-GB" sz="2000" cap="all" baseline="0" dirty="0">
                          <a:effectLst/>
                        </a:rPr>
                        <a:t>Required of the material</a:t>
                      </a:r>
                      <a:endParaRPr lang="en-GB" sz="2000" cap="all" baseline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Aft>
                          <a:spcPts val="1000"/>
                        </a:spcAft>
                      </a:pPr>
                      <a:r>
                        <a:rPr lang="en-GB" sz="2000" dirty="0">
                          <a:effectLst/>
                        </a:rPr>
                        <a:t> </a:t>
                      </a:r>
                      <a:r>
                        <a:rPr lang="en-GB" sz="2000" dirty="0" smtClean="0">
                          <a:effectLst/>
                        </a:rPr>
                        <a:t>Casting</a:t>
                      </a:r>
                      <a:endParaRPr lang="en-GB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Aft>
                          <a:spcPts val="1000"/>
                        </a:spcAft>
                      </a:pPr>
                      <a:r>
                        <a:rPr lang="en-GB" sz="2000" dirty="0">
                          <a:effectLst/>
                        </a:rPr>
                        <a:t> </a:t>
                      </a:r>
                      <a:r>
                        <a:rPr lang="en-GB" sz="2000" dirty="0" smtClean="0">
                          <a:effectLst/>
                        </a:rPr>
                        <a:t>Castability</a:t>
                      </a:r>
                      <a:endParaRPr lang="en-GB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lvl="0" indent="-342900" algn="just" fontAlgn="base" hangingPunct="0">
                        <a:lnSpc>
                          <a:spcPct val="12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"/>
                        <a:tabLst>
                          <a:tab pos="291465" algn="l"/>
                        </a:tabLst>
                      </a:pPr>
                      <a:r>
                        <a:rPr lang="en-GB" sz="2000" dirty="0">
                          <a:effectLst/>
                        </a:rPr>
                        <a:t>low liquefying &amp; solidifying temp.</a:t>
                      </a:r>
                    </a:p>
                    <a:p>
                      <a:pPr marL="342900" lvl="0" indent="-342900" algn="just" fontAlgn="base" hangingPunct="0">
                        <a:lnSpc>
                          <a:spcPct val="12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"/>
                        <a:tabLst>
                          <a:tab pos="291465" algn="l"/>
                          <a:tab pos="914400" algn="l"/>
                        </a:tabLst>
                      </a:pPr>
                      <a:r>
                        <a:rPr lang="en-GB" sz="2000" dirty="0">
                          <a:effectLst/>
                        </a:rPr>
                        <a:t>good form filling ability (form thin fluid layer, less shrinkage and less surface tension of the melted fluid).</a:t>
                      </a:r>
                    </a:p>
                    <a:p>
                      <a:pPr marL="342900" lvl="0" indent="-342900" algn="just" fontAlgn="base" hangingPunct="0">
                        <a:lnSpc>
                          <a:spcPct val="12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"/>
                        <a:tabLst>
                          <a:tab pos="291465" algn="l"/>
                          <a:tab pos="914400" algn="l"/>
                        </a:tabLst>
                      </a:pPr>
                      <a:r>
                        <a:rPr lang="en-GB" sz="2000" dirty="0">
                          <a:effectLst/>
                        </a:rPr>
                        <a:t>less tendency towards blowhole and gas bubble formation (less gas dissolving ability and less shrinkage of the liquid).</a:t>
                      </a:r>
                    </a:p>
                    <a:p>
                      <a:pPr marL="342900" lvl="0" indent="-342900" algn="just" fontAlgn="base" hangingPunct="0">
                        <a:lnSpc>
                          <a:spcPct val="12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"/>
                        <a:tabLst>
                          <a:tab pos="291465" algn="l"/>
                          <a:tab pos="457200" algn="l"/>
                        </a:tabLst>
                      </a:pPr>
                      <a:r>
                        <a:rPr lang="en-GB" sz="2000" dirty="0">
                          <a:effectLst/>
                        </a:rPr>
                        <a:t>less internal tension due to shrinkage when solidifying.</a:t>
                      </a:r>
                      <a:endParaRPr lang="en-GB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Aft>
                          <a:spcPts val="1000"/>
                        </a:spcAft>
                      </a:pPr>
                      <a:r>
                        <a:rPr lang="en-GB" sz="2000" dirty="0">
                          <a:effectLst/>
                        </a:rPr>
                        <a:t>Rolling</a:t>
                      </a:r>
                    </a:p>
                    <a:p>
                      <a:pPr algn="just">
                        <a:lnSpc>
                          <a:spcPct val="120000"/>
                        </a:lnSpc>
                        <a:spcAft>
                          <a:spcPts val="1000"/>
                        </a:spcAft>
                      </a:pPr>
                      <a:r>
                        <a:rPr lang="en-GB" sz="2000" dirty="0">
                          <a:effectLst/>
                        </a:rPr>
                        <a:t>Forging</a:t>
                      </a:r>
                    </a:p>
                    <a:p>
                      <a:pPr algn="just">
                        <a:lnSpc>
                          <a:spcPct val="120000"/>
                        </a:lnSpc>
                        <a:spcAft>
                          <a:spcPts val="1000"/>
                        </a:spcAft>
                      </a:pPr>
                      <a:r>
                        <a:rPr lang="en-GB" sz="2000" dirty="0">
                          <a:effectLst/>
                        </a:rPr>
                        <a:t>Pressing</a:t>
                      </a:r>
                      <a:endParaRPr lang="en-GB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Aft>
                          <a:spcPts val="1000"/>
                        </a:spcAft>
                      </a:pPr>
                      <a:r>
                        <a:rPr lang="en-GB" sz="2000" dirty="0">
                          <a:effectLst/>
                        </a:rPr>
                        <a:t>Malleable</a:t>
                      </a:r>
                      <a:endParaRPr lang="en-GB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lvl="0" indent="-342900" algn="just" fontAlgn="base" hangingPunct="0">
                        <a:lnSpc>
                          <a:spcPct val="12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"/>
                        <a:tabLst>
                          <a:tab pos="291465" algn="l"/>
                        </a:tabLst>
                      </a:pPr>
                      <a:r>
                        <a:rPr lang="en-GB" sz="2000" dirty="0">
                          <a:effectLst/>
                        </a:rPr>
                        <a:t>good form yielding capacity (lower cold or warm yielding strength).</a:t>
                      </a:r>
                    </a:p>
                    <a:p>
                      <a:pPr marL="342900" lvl="0" indent="-342900" algn="just" fontAlgn="base" hangingPunct="0">
                        <a:lnSpc>
                          <a:spcPct val="12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"/>
                        <a:tabLst>
                          <a:tab pos="291465" algn="l"/>
                        </a:tabLst>
                      </a:pPr>
                      <a:r>
                        <a:rPr lang="en-GB" sz="2000" dirty="0">
                          <a:effectLst/>
                        </a:rPr>
                        <a:t>good sliding ability of the grain structure (cubic face centred or body-centred cubic metallic lattice)</a:t>
                      </a:r>
                      <a:endParaRPr lang="en-GB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UNIT 1:	</a:t>
            </a:r>
            <a:r>
              <a:rPr lang="en-GB" dirty="0"/>
              <a:t> Engineering Manufacturing Processes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8999" y="2109259"/>
            <a:ext cx="10464801" cy="6323541"/>
          </a:xfrm>
        </p:spPr>
        <p:txBody>
          <a:bodyPr>
            <a:normAutofit fontScale="92500"/>
          </a:bodyPr>
          <a:lstStyle/>
          <a:p>
            <a:pPr marL="514350" indent="-51435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+mj-lt"/>
              <a:buAutoNum type="arabicPeriod" startAt="2"/>
            </a:pPr>
            <a:r>
              <a:rPr lang="en-GB" b="1" i="1" dirty="0" smtClean="0"/>
              <a:t>Number </a:t>
            </a:r>
            <a:r>
              <a:rPr lang="en-GB" b="1" i="1" dirty="0"/>
              <a:t>of elements </a:t>
            </a:r>
            <a:r>
              <a:rPr lang="en-GB" dirty="0"/>
              <a:t>to be produced also determines the </a:t>
            </a:r>
            <a:r>
              <a:rPr lang="en-GB" dirty="0" smtClean="0"/>
              <a:t>indirect manufacturing </a:t>
            </a:r>
            <a:r>
              <a:rPr lang="en-GB" dirty="0"/>
              <a:t>process </a:t>
            </a:r>
            <a:r>
              <a:rPr lang="en-GB" dirty="0" smtClean="0"/>
              <a:t>due to cost reason (Fig 1-4).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endParaRPr lang="en-GB" b="1" i="1" dirty="0" smtClean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endParaRPr lang="en-GB" b="1" i="1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endParaRPr lang="en-GB" b="1" i="1" dirty="0" smtClean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endParaRPr lang="en-GB" b="1" i="1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endParaRPr lang="en-GB" b="1" i="1" dirty="0" smtClean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endParaRPr lang="en-GB" b="1" i="1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endParaRPr lang="en-GB" b="1" i="1" dirty="0" smtClean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b="1" i="1" dirty="0" smtClean="0">
                <a:latin typeface="Times New Roman" panose="02020603050405020304" pitchFamily="18" charset="0"/>
                <a:ea typeface="Calibri" panose="020F0502020204030204" pitchFamily="34" charset="0"/>
              </a:rPr>
              <a:t>Figure </a:t>
            </a:r>
            <a:r>
              <a:rPr lang="en-GB" b="1" i="1" dirty="0">
                <a:latin typeface="Times New Roman" panose="02020603050405020304" pitchFamily="18" charset="0"/>
                <a:ea typeface="Calibri" panose="020F0502020204030204" pitchFamily="34" charset="0"/>
              </a:rPr>
              <a:t>1-4:</a:t>
            </a:r>
            <a:r>
              <a:rPr lang="en-GB" dirty="0">
                <a:latin typeface="Times New Roman" panose="02020603050405020304" pitchFamily="18" charset="0"/>
                <a:ea typeface="Calibri" panose="020F0502020204030204" pitchFamily="34" charset="0"/>
              </a:rPr>
              <a:t>	Cost of manufacturing processes and number items produced</a:t>
            </a:r>
            <a:endParaRPr lang="en-GB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26</a:t>
            </a:fld>
            <a:endParaRPr lang="en-GB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5600" y="3451185"/>
            <a:ext cx="6084000" cy="445434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98483"/>
            <a:ext cx="10968317" cy="1143055"/>
          </a:xfrm>
        </p:spPr>
        <p:txBody>
          <a:bodyPr/>
          <a:lstStyle/>
          <a:p>
            <a:r>
              <a:rPr lang="en-GB" dirty="0" smtClean="0"/>
              <a:t>UNIT 1:	Form (Profile / Section) of a Part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lang="en-GB" sz="3200" i="1" dirty="0" smtClean="0"/>
              <a:t>Factors that determine the form of a part:</a:t>
            </a:r>
            <a:r>
              <a:rPr lang="en-GB" sz="3200" dirty="0" smtClean="0"/>
              <a:t> </a:t>
            </a:r>
          </a:p>
          <a:p>
            <a:pPr marL="1066800" indent="-40640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v"/>
            </a:pPr>
            <a:r>
              <a:rPr lang="en-GB" sz="3200" dirty="0" smtClean="0"/>
              <a:t>Function of the element,</a:t>
            </a:r>
          </a:p>
          <a:p>
            <a:pPr marL="1066800" indent="-40640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v"/>
            </a:pPr>
            <a:r>
              <a:rPr lang="en-GB" sz="3200" dirty="0" smtClean="0"/>
              <a:t>Stress distribution and</a:t>
            </a:r>
          </a:p>
          <a:p>
            <a:pPr marL="1066800" indent="-40640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v"/>
            </a:pPr>
            <a:r>
              <a:rPr lang="en-GB" sz="3200" dirty="0" smtClean="0"/>
              <a:t>Strength of material (Favourable and  unfavourable stress capability)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lang="en-GB" sz="3200" dirty="0" smtClean="0"/>
              <a:t>Optimal form of a part utilizes the favourable stress ability of the material to compensate the unfavourable stress distribution.</a:t>
            </a:r>
            <a:endParaRPr lang="en-GB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27</a:t>
            </a:fld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1" y="998484"/>
            <a:ext cx="10515600" cy="610184"/>
          </a:xfrm>
        </p:spPr>
        <p:txBody>
          <a:bodyPr/>
          <a:lstStyle/>
          <a:p>
            <a:r>
              <a:rPr lang="en-GB" dirty="0" smtClean="0"/>
              <a:t>UNIT 1:	</a:t>
            </a:r>
            <a:r>
              <a:rPr lang="en-GB" dirty="0"/>
              <a:t> Form (Profile / Section) of a Part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908692"/>
            <a:ext cx="10515600" cy="546641"/>
          </a:xfrm>
        </p:spPr>
        <p:txBody>
          <a:bodyPr/>
          <a:lstStyle/>
          <a:p>
            <a:r>
              <a:rPr lang="en-GB" sz="3200" dirty="0" smtClean="0"/>
              <a:t>Example: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28</a:t>
            </a:fld>
            <a:endParaRPr lang="en-GB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9717" y="2538909"/>
            <a:ext cx="6948000" cy="246788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1719" y="5610237"/>
            <a:ext cx="5381625" cy="26479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1" y="998483"/>
            <a:ext cx="10515600" cy="525517"/>
          </a:xfrm>
        </p:spPr>
        <p:txBody>
          <a:bodyPr>
            <a:normAutofit fontScale="90000"/>
          </a:bodyPr>
          <a:lstStyle/>
          <a:p>
            <a:r>
              <a:rPr lang="en-GB" dirty="0" smtClean="0"/>
              <a:t>UNIT 1:	Life Span and Light-Weight Design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727201"/>
            <a:ext cx="10515600" cy="6096954"/>
          </a:xfrm>
        </p:spPr>
        <p:txBody>
          <a:bodyPr/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lang="en-GB" dirty="0" smtClean="0"/>
              <a:t>Machine parts are generally subjected to dynamic loading and therefore are designed based on fatigue strength of the material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dirty="0" smtClean="0"/>
              <a:t>A part therefore subjected to varied stresses  will experience different life cycles (Fig 1-5)</a:t>
            </a:r>
            <a:endParaRPr lang="en-GB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29</a:t>
            </a:fld>
            <a:endParaRPr lang="en-GB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4625" y="4775678"/>
            <a:ext cx="7884000" cy="350789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UNIT 1:	Life Span and Light-Weight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2141539"/>
            <a:ext cx="10515600" cy="6047132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lang="en-GB" dirty="0" smtClean="0"/>
              <a:t>Household </a:t>
            </a:r>
            <a:r>
              <a:rPr lang="en-GB" dirty="0"/>
              <a:t>implements, military automobiles, weapons, computers, mobile phones etc. are designed based on </a:t>
            </a:r>
            <a:r>
              <a:rPr lang="en-GB" dirty="0" smtClean="0"/>
              <a:t>short-time </a:t>
            </a:r>
            <a:r>
              <a:rPr lang="en-GB" dirty="0"/>
              <a:t>strength of the material due to </a:t>
            </a:r>
            <a:r>
              <a:rPr lang="en-GB" dirty="0" smtClean="0"/>
              <a:t>fast </a:t>
            </a:r>
            <a:r>
              <a:rPr lang="en-GB" dirty="0"/>
              <a:t>technological development</a:t>
            </a:r>
          </a:p>
          <a:p>
            <a:r>
              <a:rPr lang="en-US" dirty="0" smtClean="0"/>
              <a:t>Some measures against material losses:</a:t>
            </a:r>
          </a:p>
          <a:p>
            <a:pPr marL="812800" lvl="0" hangingPunct="0">
              <a:buFont typeface="Wingdings" panose="05000000000000000000" pitchFamily="2" charset="2"/>
              <a:buChar char="v"/>
            </a:pPr>
            <a:r>
              <a:rPr lang="en-GB" dirty="0"/>
              <a:t>Rust resistant material against aggressive </a:t>
            </a:r>
            <a:r>
              <a:rPr lang="en-GB" dirty="0" smtClean="0"/>
              <a:t>medium.</a:t>
            </a:r>
            <a:endParaRPr lang="en-GB" dirty="0"/>
          </a:p>
          <a:p>
            <a:pPr marL="812800" lvl="0" hangingPunct="0">
              <a:buFont typeface="Wingdings" panose="05000000000000000000" pitchFamily="2" charset="2"/>
              <a:buChar char="v"/>
            </a:pPr>
            <a:r>
              <a:rPr lang="en-GB" dirty="0"/>
              <a:t>Provision of outer coating </a:t>
            </a:r>
            <a:r>
              <a:rPr lang="en-GB" dirty="0" smtClean="0"/>
              <a:t>against </a:t>
            </a:r>
            <a:r>
              <a:rPr lang="en-GB" dirty="0"/>
              <a:t>bad weather</a:t>
            </a:r>
            <a:r>
              <a:rPr lang="en-GB" dirty="0" smtClean="0"/>
              <a:t>.</a:t>
            </a:r>
            <a:endParaRPr lang="en-GB" dirty="0"/>
          </a:p>
          <a:p>
            <a:pPr marL="812800" lvl="0" hangingPunct="0">
              <a:buFont typeface="Wingdings" panose="05000000000000000000" pitchFamily="2" charset="2"/>
              <a:buChar char="v"/>
            </a:pPr>
            <a:r>
              <a:rPr lang="en-GB" dirty="0"/>
              <a:t>Running-in bearings against frictional wear.</a:t>
            </a:r>
          </a:p>
          <a:p>
            <a:pPr marL="812800" lvl="0" hangingPunct="0">
              <a:buFont typeface="Wingdings" panose="05000000000000000000" pitchFamily="2" charset="2"/>
              <a:buChar char="v"/>
            </a:pPr>
            <a:r>
              <a:rPr lang="en-GB" dirty="0"/>
              <a:t>Prevent pitting on gears</a:t>
            </a:r>
            <a:r>
              <a:rPr lang="en-GB" dirty="0" smtClean="0"/>
              <a:t>.</a:t>
            </a:r>
            <a:endParaRPr lang="en-GB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30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90606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1" y="998483"/>
            <a:ext cx="10515600" cy="804917"/>
          </a:xfrm>
        </p:spPr>
        <p:txBody>
          <a:bodyPr/>
          <a:lstStyle/>
          <a:p>
            <a:r>
              <a:rPr lang="en-GB" dirty="0" smtClean="0"/>
              <a:t>UNIT 1:	</a:t>
            </a:r>
            <a:r>
              <a:rPr lang="en-GB" dirty="0"/>
              <a:t>Life Span and Light-Weight Design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31</a:t>
            </a:fld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803401"/>
            <a:ext cx="10515600" cy="6020754"/>
          </a:xfrm>
        </p:spPr>
        <p:txBody>
          <a:bodyPr>
            <a:normAutofit lnSpcReduction="10000"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dirty="0" smtClean="0"/>
              <a:t>For the same functional ability, light-weighted parts are preferred for the following reasons:</a:t>
            </a:r>
          </a:p>
          <a:p>
            <a:pPr marL="711200" lvl="0" fontAlgn="base" hangingPunc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GB" dirty="0"/>
              <a:t>High driving power by automobiles {P = f(n) i.e. high speed}</a:t>
            </a:r>
          </a:p>
          <a:p>
            <a:pPr marL="711200" lvl="0" fontAlgn="base" hangingPunc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GB" dirty="0"/>
              <a:t>Low power requirements by machines with low reduced initial masses.</a:t>
            </a:r>
          </a:p>
          <a:p>
            <a:pPr marL="711200" lvl="0" fontAlgn="base" hangingPunc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GB" dirty="0"/>
              <a:t>Low operational cost by automobiles (minimum fuel</a:t>
            </a:r>
            <a:r>
              <a:rPr lang="en-GB" dirty="0" smtClean="0"/>
              <a:t>).</a:t>
            </a:r>
          </a:p>
          <a:p>
            <a:pPr fontAlgn="base" hangingPunct="0">
              <a:lnSpc>
                <a:spcPct val="120000"/>
              </a:lnSpc>
              <a:spcBef>
                <a:spcPts val="1200"/>
              </a:spcBef>
              <a:spcAft>
                <a:spcPts val="600"/>
              </a:spcAft>
            </a:pPr>
            <a:r>
              <a:rPr lang="en-GB" dirty="0"/>
              <a:t>Light construction can be achieved by:</a:t>
            </a:r>
          </a:p>
          <a:p>
            <a:pPr marL="711200" lvl="0" fontAlgn="base" hangingPunc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GB" dirty="0"/>
              <a:t>Creating favourable boundary conditions</a:t>
            </a:r>
          </a:p>
          <a:p>
            <a:pPr marL="71120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GB" dirty="0"/>
              <a:t>Choice of an appropriate profile and </a:t>
            </a:r>
            <a:r>
              <a:rPr lang="en-GB" dirty="0" smtClean="0"/>
              <a:t>form</a:t>
            </a:r>
          </a:p>
          <a:p>
            <a:pPr marL="71120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GB" dirty="0"/>
              <a:t>Choice of an appropriate material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866155"/>
            <a:ext cx="9144000" cy="1579799"/>
          </a:xfrm>
        </p:spPr>
        <p:txBody>
          <a:bodyPr/>
          <a:lstStyle/>
          <a:p>
            <a:r>
              <a:rPr lang="en-GB" dirty="0" smtClean="0"/>
              <a:t>Thank You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6113446"/>
            <a:ext cx="9144000" cy="2075224"/>
          </a:xfrm>
        </p:spPr>
        <p:txBody>
          <a:bodyPr>
            <a:normAutofit/>
          </a:bodyPr>
          <a:lstStyle/>
          <a:p>
            <a:r>
              <a:rPr lang="en-GB" sz="2800" dirty="0" smtClean="0"/>
              <a:t>For any concerns, please contact</a:t>
            </a:r>
          </a:p>
          <a:p>
            <a:r>
              <a:rPr lang="en-GB" sz="2800" b="1" dirty="0" smtClean="0"/>
              <a:t>elearning@knust.edu.gh</a:t>
            </a:r>
          </a:p>
          <a:p>
            <a:r>
              <a:rPr lang="en-GB" sz="2800" b="1" dirty="0" smtClean="0"/>
              <a:t>elearningknust@gmail.com </a:t>
            </a:r>
          </a:p>
          <a:p>
            <a:r>
              <a:rPr lang="en-GB" sz="2800" b="1" dirty="0" smtClean="0"/>
              <a:t>0322 191132</a:t>
            </a:r>
            <a:endParaRPr lang="en-GB" sz="2800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61759" y="8188670"/>
            <a:ext cx="1243819" cy="462492"/>
          </a:xfrm>
        </p:spPr>
        <p:txBody>
          <a:bodyPr/>
          <a:lstStyle/>
          <a:p>
            <a:r>
              <a:rPr lang="en-GB" sz="1400" b="1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Jan 2014</a:t>
            </a:r>
            <a:endParaRPr lang="en-GB" sz="14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46911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IDL ppt temp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C62A9560-2E7B-41A3-9F82-82295C59A7BE}" vid="{DD833A61-242F-4440-8F8C-EA11C2DDA7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IDL ppt temp</Template>
  <TotalTime>4035</TotalTime>
  <Words>1320</Words>
  <Application>Microsoft Office PowerPoint</Application>
  <PresentationFormat>Custom</PresentationFormat>
  <Paragraphs>348</Paragraphs>
  <Slides>33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2" baseType="lpstr">
      <vt:lpstr>Arial</vt:lpstr>
      <vt:lpstr>Calibri</vt:lpstr>
      <vt:lpstr>Cambria Math</vt:lpstr>
      <vt:lpstr>Century Gothic</vt:lpstr>
      <vt:lpstr>Futura Md BT</vt:lpstr>
      <vt:lpstr>Symbol</vt:lpstr>
      <vt:lpstr>Times New Roman</vt:lpstr>
      <vt:lpstr>Wingdings</vt:lpstr>
      <vt:lpstr>IDL ppt temp</vt:lpstr>
      <vt:lpstr>AE 482</vt:lpstr>
      <vt:lpstr>UNIT 1: Introduction</vt:lpstr>
      <vt:lpstr>UNIT 1: Learning Objectives</vt:lpstr>
      <vt:lpstr>UNIT 1: Engineering Materials</vt:lpstr>
      <vt:lpstr>UNIT 1: Engineering Materials</vt:lpstr>
      <vt:lpstr>UNIT 1: Engineering Materials</vt:lpstr>
      <vt:lpstr>UNIT 1:  Engineering Materials</vt:lpstr>
      <vt:lpstr>UNIT 1: Metals</vt:lpstr>
      <vt:lpstr>UNIT 1: Metals</vt:lpstr>
      <vt:lpstr>UNIT 1: Ceramic Materials</vt:lpstr>
      <vt:lpstr>UNIT 1: Ceramic Materials</vt:lpstr>
      <vt:lpstr>UNIT 1: Organic Materials</vt:lpstr>
      <vt:lpstr>UNIT 1: Organic Materials (Polymers)</vt:lpstr>
      <vt:lpstr>UNIT 1: Organic Materials</vt:lpstr>
      <vt:lpstr>UNIT 1: Properties of Materials</vt:lpstr>
      <vt:lpstr>UNIT 1: Mechanical Properties</vt:lpstr>
      <vt:lpstr>UNIT 1: Chemical Properties</vt:lpstr>
      <vt:lpstr>UNIT 1: Physical Properties</vt:lpstr>
      <vt:lpstr>UNIT 1: Engineering Requirements of Materials</vt:lpstr>
      <vt:lpstr>UNIT 1: Factors that Affect Choice of Materials</vt:lpstr>
      <vt:lpstr>UNIT 1: Strength of Engineering Materials</vt:lpstr>
      <vt:lpstr>UNIT 1: Cost of Materials</vt:lpstr>
      <vt:lpstr>UNIT 1: Strength and Cost</vt:lpstr>
      <vt:lpstr>UNIT 1: Strength and Cost</vt:lpstr>
      <vt:lpstr>UNIT 1: Strength and Cost</vt:lpstr>
      <vt:lpstr>UNIT 1: Engineering Manufacturing Processes</vt:lpstr>
      <vt:lpstr>UNIT 1:  Engineering Manufacturing Processes</vt:lpstr>
      <vt:lpstr>UNIT 1: Form (Profile / Section) of a Part</vt:lpstr>
      <vt:lpstr>UNIT 1:  Form (Profile / Section) of a Part</vt:lpstr>
      <vt:lpstr>UNIT 1: Life Span and Light-Weight Design</vt:lpstr>
      <vt:lpstr>UNIT 1: Life Span and Light-Weight Design</vt:lpstr>
      <vt:lpstr>UNIT 1: Life Span and Light-Weight Design</vt:lpstr>
      <vt:lpstr>Thank You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ISD 458</dc:title>
  <dc:creator>A K O</dc:creator>
  <cp:lastModifiedBy>Joseph Aveyire</cp:lastModifiedBy>
  <cp:revision>150</cp:revision>
  <dcterms:created xsi:type="dcterms:W3CDTF">2014-04-14T16:55:09Z</dcterms:created>
  <dcterms:modified xsi:type="dcterms:W3CDTF">2016-09-30T15:44:25Z</dcterms:modified>
</cp:coreProperties>
</file>