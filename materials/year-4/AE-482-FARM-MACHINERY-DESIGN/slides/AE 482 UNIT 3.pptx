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84" r:id="rId6"/>
    <p:sldId id="285" r:id="rId7"/>
    <p:sldId id="286" r:id="rId8"/>
    <p:sldId id="288" r:id="rId9"/>
    <p:sldId id="289" r:id="rId10"/>
    <p:sldId id="287" r:id="rId11"/>
    <p:sldId id="265" r:id="rId12"/>
    <p:sldId id="269" r:id="rId13"/>
    <p:sldId id="270" r:id="rId14"/>
    <p:sldId id="279" r:id="rId15"/>
    <p:sldId id="273" r:id="rId16"/>
    <p:sldId id="290" r:id="rId17"/>
    <p:sldId id="291" r:id="rId18"/>
    <p:sldId id="299" r:id="rId19"/>
    <p:sldId id="300" r:id="rId20"/>
    <p:sldId id="301" r:id="rId21"/>
    <p:sldId id="296" r:id="rId22"/>
    <p:sldId id="297" r:id="rId23"/>
    <p:sldId id="298" r:id="rId24"/>
    <p:sldId id="292" r:id="rId25"/>
    <p:sldId id="293" r:id="rId26"/>
    <p:sldId id="294" r:id="rId27"/>
    <p:sldId id="295" r:id="rId28"/>
    <p:sldId id="281" r:id="rId29"/>
    <p:sldId id="25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551"/>
    <a:srgbClr val="055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37" d="100"/>
          <a:sy n="37" d="100"/>
        </p:scale>
        <p:origin x="42" y="6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384BE-9D6B-4024-A985-C0EE99A58AEA}" type="datetimeFigureOut">
              <a:rPr lang="en-GB" smtClean="0"/>
              <a:pPr/>
              <a:t>02/10/2016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05C70-BB3D-46DD-9A54-15208EA29E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860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40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83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225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4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8F721-6F68-4281-A6F5-3635F5EFCA78}" type="datetime1">
              <a:rPr lang="en-GB" smtClean="0"/>
              <a:t>02/10/2016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23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1EDC1-4A4A-4B81-B140-68197ACABD37}" type="datetime1">
              <a:rPr lang="en-GB" smtClean="0"/>
              <a:t>02/10/2016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38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1957-0AB4-49AC-ADC1-B392104686F6}" type="datetime1">
              <a:rPr lang="en-GB" smtClean="0"/>
              <a:t>02/10/2016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77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F8BB-6A86-4F10-8DFC-889E309E5409}" type="datetime1">
              <a:rPr lang="en-GB" smtClean="0"/>
              <a:t>02/10/2016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98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7C16-4287-4F0E-B14C-C2ED7143420C}" type="datetime1">
              <a:rPr lang="en-GB" smtClean="0"/>
              <a:t>02/10/2016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2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30E3-A980-460F-A93D-BAAE5FEB1209}" type="datetime1">
              <a:rPr lang="en-GB" smtClean="0"/>
              <a:t>02/10/2016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4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ED47E-3A31-4998-B89C-71B4314C08AF}" type="datetime1">
              <a:rPr lang="en-GB" smtClean="0"/>
              <a:t>02/10/2016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16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ED792-3560-4AB8-96D4-556A12BCDFD4}" type="datetime1">
              <a:rPr lang="en-GB" smtClean="0"/>
              <a:t>02/10/2016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23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90B0-D054-467A-9B0F-E826486D130D}" type="datetime1">
              <a:rPr lang="en-GB" smtClean="0"/>
              <a:t>02/10/2016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2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EC064-CF94-4AD3-99E4-FBB91D0F4480}" type="datetime1">
              <a:rPr lang="en-GB" smtClean="0"/>
              <a:t>02/10/2016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60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3C13-85A5-4BA0-8FEE-91222B8EA2B7}" type="datetime1">
              <a:rPr lang="en-GB" smtClean="0"/>
              <a:t>02/10/2016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79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90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8E76C-A46B-4EE2-83A3-C80A17B5AA95}" type="datetime1">
              <a:rPr lang="en-GB" smtClean="0"/>
              <a:t>02/10/2016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296" y="6464739"/>
            <a:ext cx="409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FFC551"/>
                </a:solidFill>
                <a:latin typeface="Century Gothic" panose="020B0502020202020204" pitchFamily="34" charset="0"/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29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55D13"/>
          </a:solidFill>
          <a:latin typeface="Futura Md BT" panose="020B06020202040203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17255" y="2454045"/>
            <a:ext cx="3357489" cy="835131"/>
          </a:xfrm>
        </p:spPr>
        <p:txBody>
          <a:bodyPr>
            <a:normAutofit/>
          </a:bodyPr>
          <a:lstStyle/>
          <a:p>
            <a:r>
              <a:rPr lang="en-GB" sz="4000" dirty="0" smtClean="0"/>
              <a:t>AE 482</a:t>
            </a:r>
            <a:endParaRPr lang="en-GB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4286126"/>
            <a:ext cx="9144000" cy="484764"/>
          </a:xfrm>
        </p:spPr>
        <p:txBody>
          <a:bodyPr>
            <a:noAutofit/>
          </a:bodyPr>
          <a:lstStyle/>
          <a:p>
            <a:r>
              <a:rPr lang="en-GB" sz="3200" dirty="0" smtClean="0"/>
              <a:t>UNIT 3:   Engine Performance Characteristics</a:t>
            </a:r>
            <a:endParaRPr lang="en-GB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33045" y="3309498"/>
            <a:ext cx="11015003" cy="66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4000" dirty="0" smtClean="0">
                <a:solidFill>
                  <a:srgbClr val="0070C0"/>
                </a:solidFill>
              </a:rPr>
              <a:t>Agric Engineering Design Project </a:t>
            </a:r>
            <a:endParaRPr lang="en-GB" sz="4000" dirty="0">
              <a:solidFill>
                <a:srgbClr val="0070C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23999" y="5212956"/>
            <a:ext cx="9144000" cy="59953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4000" dirty="0" smtClean="0">
                <a:solidFill>
                  <a:schemeClr val="tx1"/>
                </a:solidFill>
              </a:rPr>
              <a:t>Mr. Joseph AVEYIRE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568546" y="5812487"/>
            <a:ext cx="9144000" cy="440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aveyire@yahoo.com // 024 4652593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652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dirty="0" smtClean="0"/>
              <a:t>Unit three handles engine performance characteristics and takes a look into the tractor engine power. It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dirty="0" smtClean="0"/>
              <a:t>Identifies the performance characteristics of internal combustion engine, and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dirty="0" smtClean="0"/>
              <a:t>Considers the power that can be obtained from a tractor engine.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80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UNIT 3:	Learning 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7435"/>
            <a:ext cx="10515600" cy="4797304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Determine the power and efficiency of an </a:t>
            </a:r>
            <a:r>
              <a:rPr lang="en-GB" dirty="0" smtClean="0"/>
              <a:t>engine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Explain engine torque and efficient loading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dirty="0" smtClean="0"/>
              <a:t>Determine </a:t>
            </a:r>
            <a:r>
              <a:rPr lang="en-GB" dirty="0"/>
              <a:t>the fuel consumption of an engine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Identify sources of power from a tractor engine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Identify the various types of dynamometers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Determine procedure of testing an engine</a:t>
            </a:r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59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3:	Engine Performance Characteristics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3911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Engine performance is an indication of the degree of success with which the engine performs its assigned </a:t>
            </a:r>
            <a:r>
              <a:rPr lang="en-GB" dirty="0" smtClean="0"/>
              <a:t>task.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Engine performance is </a:t>
            </a:r>
            <a:r>
              <a:rPr lang="en-GB" dirty="0"/>
              <a:t>evaluated on the basis </a:t>
            </a:r>
            <a:r>
              <a:rPr lang="en-GB" dirty="0" smtClean="0"/>
              <a:t>of: </a:t>
            </a:r>
          </a:p>
          <a:p>
            <a:pPr marL="1066800" indent="-4064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dirty="0" smtClean="0"/>
              <a:t>Performance </a:t>
            </a:r>
            <a:r>
              <a:rPr lang="en-GB" dirty="0"/>
              <a:t>parameters and </a:t>
            </a:r>
            <a:endParaRPr lang="en-GB" dirty="0" smtClean="0"/>
          </a:p>
          <a:p>
            <a:pPr marL="1066800" indent="-4064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dirty="0" smtClean="0"/>
              <a:t>the </a:t>
            </a:r>
            <a:r>
              <a:rPr lang="en-GB" dirty="0"/>
              <a:t>particular application of the engine </a:t>
            </a:r>
          </a:p>
          <a:p>
            <a:pPr marL="355600" lvl="0" indent="-3556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For example, for an aircraft engine specific weight is more important </a:t>
            </a:r>
            <a:r>
              <a:rPr lang="en-GB" dirty="0" smtClean="0"/>
              <a:t>than the specific </a:t>
            </a:r>
            <a:r>
              <a:rPr lang="en-GB" dirty="0"/>
              <a:t>fuel </a:t>
            </a:r>
            <a:r>
              <a:rPr lang="en-GB" dirty="0" smtClean="0"/>
              <a:t>consumption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32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3:	Engine Performance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39114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Basic </a:t>
            </a:r>
            <a:r>
              <a:rPr lang="en-GB" dirty="0"/>
              <a:t>performance parameters </a:t>
            </a:r>
            <a:r>
              <a:rPr lang="en-GB" dirty="0" smtClean="0"/>
              <a:t>include the </a:t>
            </a:r>
            <a:r>
              <a:rPr lang="en-GB" dirty="0"/>
              <a:t>following:</a:t>
            </a:r>
          </a:p>
          <a:p>
            <a:pPr marL="635000" lvl="0"/>
            <a:r>
              <a:rPr lang="en-GB" dirty="0"/>
              <a:t>Power and Mechanical Efficiency.</a:t>
            </a:r>
          </a:p>
          <a:p>
            <a:pPr marL="635000" lvl="0"/>
            <a:r>
              <a:rPr lang="en-GB" dirty="0"/>
              <a:t>Mean Effective Pressure and Torque.</a:t>
            </a:r>
          </a:p>
          <a:p>
            <a:pPr marL="635000" lvl="0"/>
            <a:r>
              <a:rPr lang="en-GB" dirty="0"/>
              <a:t>Specific Output.</a:t>
            </a:r>
          </a:p>
          <a:p>
            <a:pPr marL="635000" lvl="0"/>
            <a:r>
              <a:rPr lang="en-GB" dirty="0"/>
              <a:t>Volumetric Efficiency.</a:t>
            </a:r>
          </a:p>
          <a:p>
            <a:pPr marL="635000" lvl="0"/>
            <a:r>
              <a:rPr lang="en-GB" dirty="0"/>
              <a:t>Fuel-air Ratio.</a:t>
            </a:r>
          </a:p>
          <a:p>
            <a:pPr marL="635000" lvl="0"/>
            <a:r>
              <a:rPr lang="en-GB" dirty="0"/>
              <a:t>Specific Fuel Consumption.</a:t>
            </a:r>
          </a:p>
          <a:p>
            <a:pPr marL="635000" lvl="0"/>
            <a:r>
              <a:rPr lang="en-GB" dirty="0"/>
              <a:t>Thermal Efficiency and Heat Balance.</a:t>
            </a:r>
          </a:p>
          <a:p>
            <a:pPr marL="635000"/>
            <a:r>
              <a:rPr lang="en-GB" dirty="0"/>
              <a:t>Specific Weight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092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UNIT 3:	</a:t>
            </a:r>
            <a:r>
              <a:rPr lang="en-GB" dirty="0" smtClean="0"/>
              <a:t>Power and Mechanical Efficiency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 smtClean="0"/>
                  <a:t>Indicated power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 smtClean="0"/>
                  <a:t> is given by:</a:t>
                </a:r>
              </a:p>
              <a:p>
                <a:pPr marL="711200" indent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𝑚𝑖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dirty="0"/>
              </a:p>
              <a:p>
                <a:pPr marL="711200" indent="0" algn="just">
                  <a:buNone/>
                </a:pPr>
                <a:r>
                  <a:rPr lang="en-GB" dirty="0" smtClean="0"/>
                  <a:t>Where</a:t>
                </a:r>
                <a:endParaRPr lang="en-GB" dirty="0"/>
              </a:p>
              <a:p>
                <a:pPr marL="18796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𝑟𝑒𝑣𝑜𝑙𝑢𝑡𝑖𝑜𝑛𝑠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18796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𝑠𝑡𝑟𝑜𝑘𝑒</m:t>
                      </m:r>
                    </m:oMath>
                  </m:oMathPara>
                </a14:m>
                <a:endParaRPr lang="en-GB" dirty="0"/>
              </a:p>
              <a:p>
                <a:pPr marL="18796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𝑐𝑦𝑙𝑖𝑛𝑑𝑒𝑟𝑠</m:t>
                      </m:r>
                    </m:oMath>
                  </m:oMathPara>
                </a14:m>
                <a:endParaRPr lang="en-GB" dirty="0"/>
              </a:p>
              <a:p>
                <a:pPr marL="18796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=0.5  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𝑠𝑡𝑟𝑜𝑘𝑒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GB" dirty="0"/>
              </a:p>
              <a:p>
                <a:pPr marL="18796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  (2−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𝑠𝑡𝑟𝑜𝑘𝑒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  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 rotWithShape="0">
                <a:blip r:embed="rId2"/>
                <a:stretch>
                  <a:fillRect l="-1043" t="-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98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6600"/>
            <a:ext cx="10515600" cy="635000"/>
          </a:xfrm>
        </p:spPr>
        <p:txBody>
          <a:bodyPr/>
          <a:lstStyle/>
          <a:p>
            <a:r>
              <a:rPr lang="en-GB" dirty="0"/>
              <a:t>UNIT 3:	Power and Mechanical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7431" y="4241800"/>
                <a:ext cx="11380569" cy="2222939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𝑓𝑒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𝐹𝑢𝑒𝑙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𝑒𝑞𝑢𝑖𝑣𝑎𝑙𝑒𝑛𝑡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𝑝𝑜𝑤𝑒𝑟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𝑘𝑊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;     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𝑓𝑒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3600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𝑔𝑟𝑜𝑠𝑠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𝑓𝑢𝑒𝑙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𝑝𝑜𝑤𝑒𝑟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𝐼𝑛𝑑𝑖𝑐𝑎𝑡𝑒𝑑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𝑝𝑜𝑤𝑒𝑟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𝑘𝑊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;  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𝐺𝑟𝑜𝑠𝑠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𝑒𝑎𝑡𝑖𝑛𝑔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𝑓𝑢𝑒𝑙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𝑘𝐽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𝑘𝑔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𝐼𝑛𝑑𝑖𝑐𝑎𝑡𝑒𝑑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𝑒𝑟𝑚𝑎𝑙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𝑒𝑓𝑓𝑖𝑐𝑖𝑒𝑛𝑐𝑦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;   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𝐹𝑢𝑒𝑙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𝑐𝑜𝑛𝑠𝑢𝑚𝑝𝑡𝑖𝑜𝑛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𝑘𝑔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𝑀𝑒𝑐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𝑎𝑛𝑖𝑐𝑎𝑙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𝑒𝑓𝑓𝑖𝑐𝑖𝑒𝑛𝑐𝑦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𝐹𝑟𝑖𝑐𝑡𝑖𝑜𝑛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𝑝𝑜𝑤𝑒𝑟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𝑓𝑟𝑖𝑐𝑡𝑖𝑜𝑛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𝑎𝑢𝑥𝑖𝑙𝑙𝑖𝑎𝑟𝑦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𝑢𝑛𝑖𝑡𝑠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𝑝𝑢𝑚𝑝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𝑓𝑎𝑛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𝑎𝑙𝑡𝑒𝑟𝑛𝑎𝑡𝑜𝑟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𝑒𝑡𝑐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.)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431" y="4241800"/>
                <a:ext cx="11380569" cy="2222939"/>
              </a:xfrm>
              <a:blipFill rotWithShape="0">
                <a:blip r:embed="rId2"/>
                <a:stretch>
                  <a:fillRect l="-482" b="-30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376" y="1563688"/>
            <a:ext cx="5328000" cy="20066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703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53252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3:	Power and Mechanical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2425"/>
                <a:ext cx="10972800" cy="463911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b="1" i="1" dirty="0" smtClean="0"/>
                  <a:t>Brake Torque</a:t>
                </a:r>
              </a:p>
              <a:p>
                <a:pPr marL="444500" indent="-16510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dirty="0" smtClean="0"/>
                  <a:t>Of importance is </a:t>
                </a:r>
                <a:r>
                  <a:rPr lang="en-GB" dirty="0"/>
                  <a:t>the overall efficiency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 smtClean="0"/>
                  <a:t> of an </a:t>
                </a:r>
                <a:r>
                  <a:rPr lang="en-GB" dirty="0"/>
                  <a:t>engine in converting fuel equivalent power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𝑓𝑒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to brake power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 smtClean="0"/>
                  <a:t>:</a:t>
                </a:r>
              </a:p>
              <a:p>
                <a:pPr marL="538163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𝑏𝑚𝑒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. 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dirty="0"/>
              </a:p>
              <a:p>
                <a:pPr marL="1076325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𝑏𝑚𝑒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𝑏𝑚𝑒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𝑏𝑒𝑐𝑎𝑢𝑠𝑒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2425"/>
                <a:ext cx="10972800" cy="4639114"/>
              </a:xfrm>
              <a:blipFill rotWithShape="0">
                <a:blip r:embed="rId2"/>
                <a:stretch>
                  <a:fillRect l="-1000" t="-1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64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58332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3:	Power and Mechanical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6519" y="1371600"/>
                <a:ext cx="11483788" cy="480536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b="1" i="1" dirty="0"/>
                  <a:t>Brake Torque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𝑏𝑚𝑒</m:t>
                          </m:r>
                        </m:sub>
                      </m:sSub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dirty="0"/>
                  <a:t>Thus, </a:t>
                </a:r>
                <a:r>
                  <a:rPr lang="en-GB" dirty="0" smtClean="0"/>
                  <a:t>brake </a:t>
                </a:r>
                <a:r>
                  <a:rPr lang="en-GB" dirty="0"/>
                  <a:t>torque and </a:t>
                </a:r>
                <a:r>
                  <a:rPr lang="en-GB" dirty="0" smtClean="0"/>
                  <a:t>mean </a:t>
                </a:r>
                <a:r>
                  <a:rPr lang="en-GB" dirty="0"/>
                  <a:t>effective brake </a:t>
                </a:r>
                <a:r>
                  <a:rPr lang="en-GB" dirty="0" smtClean="0"/>
                  <a:t>pressure </a:t>
                </a:r>
                <a:r>
                  <a:rPr lang="en-GB" dirty="0"/>
                  <a:t>are related by the engine </a:t>
                </a:r>
                <a:r>
                  <a:rPr lang="en-GB" dirty="0" smtClean="0"/>
                  <a:t>size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dirty="0"/>
                  <a:t>A large engine produces more torque for the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𝑏𝑚𝑒</m:t>
                        </m:r>
                      </m:sub>
                    </m:sSub>
                  </m:oMath>
                </a14:m>
                <a:endParaRPr lang="en-GB" dirty="0" smtClean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dirty="0" smtClean="0"/>
                  <a:t>Torque </a:t>
                </a:r>
                <a:r>
                  <a:rPr lang="en-GB" dirty="0"/>
                  <a:t>is not the measure of the ability of an engine to utilize its displacement for producing power from </a:t>
                </a:r>
                <a:r>
                  <a:rPr lang="en-GB" dirty="0" smtClean="0"/>
                  <a:t>fuel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𝑏𝑚𝑒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  <a:r>
                  <a:rPr lang="en-GB" dirty="0" smtClean="0"/>
                  <a:t>gives </a:t>
                </a:r>
                <a:r>
                  <a:rPr lang="en-GB" dirty="0"/>
                  <a:t>an indication of engine displacement utilization for this conversion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6519" y="1371600"/>
                <a:ext cx="11483788" cy="4805363"/>
              </a:xfrm>
              <a:blipFill rotWithShape="0">
                <a:blip r:embed="rId3"/>
                <a:stretch>
                  <a:fillRect l="-955" t="-1142" r="-1592" b="-27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985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7476"/>
            <a:ext cx="10515600" cy="659524"/>
          </a:xfrm>
        </p:spPr>
        <p:txBody>
          <a:bodyPr>
            <a:normAutofit/>
          </a:bodyPr>
          <a:lstStyle/>
          <a:p>
            <a:r>
              <a:rPr lang="en-GB" dirty="0"/>
              <a:t>UNIT 3:	</a:t>
            </a:r>
            <a:r>
              <a:rPr lang="en-GB" dirty="0" smtClean="0"/>
              <a:t>Engine Torque and Efficient Loading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000"/>
                <a:ext cx="10515600" cy="477996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b="1" i="1" dirty="0" smtClean="0"/>
                  <a:t>Brake Torque</a:t>
                </a:r>
                <a:endParaRPr lang="en-US" dirty="0" smtClean="0"/>
              </a:p>
              <a:p>
                <a:pPr marL="45720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𝐹𝑟𝑖𝑐𝑡𝑖𝑜𝑛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𝑡𝑜𝑟𝑞𝑢𝑒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𝑓𝑚𝑒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.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.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.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𝑓𝑚𝑒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𝑓𝑚𝑒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𝑓𝑚𝑒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𝑓𝑚𝑒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endParaRPr lang="en-GB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000"/>
                <a:ext cx="10515600" cy="4779963"/>
              </a:xfrm>
              <a:blipFill rotWithShape="0">
                <a:blip r:embed="rId2"/>
                <a:stretch>
                  <a:fillRect l="-754" t="-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773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9090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UNIT 3:	Engine Torque and Efficient Loading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9858"/>
                <a:ext cx="10515600" cy="489472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b="1" i="1" dirty="0" smtClean="0"/>
                  <a:t>Brake Torque</a:t>
                </a:r>
              </a:p>
              <a:p>
                <a:pPr marL="101600" lv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𝑓𝑚𝑒</m:t>
                          </m:r>
                        </m:sub>
                      </m:sSub>
                    </m:oMath>
                  </m:oMathPara>
                </a14:m>
                <a:endParaRPr lang="en-GB" dirty="0" smtClean="0"/>
              </a:p>
              <a:p>
                <a:pPr marL="101600" lv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𝐵𝑟𝑎𝑘𝑒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𝑡𝑜𝑟𝑞𝑢𝑒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𝐼𝑛𝑑𝑖𝑐𝑎𝑡𝑖𝑜𝑛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𝑡𝑜𝑟𝑞𝑢𝑒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𝐹𝑟𝑖𝑐𝑡𝑖𝑜𝑛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𝑡𝑜𝑟𝑞𝑢𝑒</m:t>
                      </m:r>
                    </m:oMath>
                  </m:oMathPara>
                </a14:m>
                <a:endParaRPr lang="en-GB" dirty="0" smtClean="0"/>
              </a:p>
              <a:p>
                <a:pPr lvl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dirty="0" smtClean="0"/>
                  <a:t>Note,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dirty="0"/>
                  <a:t> is constant </a:t>
                </a:r>
                <a:endParaRPr lang="en-GB" dirty="0" smtClean="0"/>
              </a:p>
              <a:p>
                <a:pPr lvl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GB" dirty="0"/>
                  <a:t> varies </a:t>
                </a:r>
                <a:r>
                  <a:rPr lang="en-GB" dirty="0" smtClean="0"/>
                  <a:t>little </a:t>
                </a:r>
                <a:r>
                  <a:rPr lang="en-GB" dirty="0"/>
                  <a:t>with changes in torque and </a:t>
                </a:r>
                <a:r>
                  <a:rPr lang="en-GB" dirty="0" smtClean="0"/>
                  <a:t>speed</a:t>
                </a:r>
              </a:p>
              <a:p>
                <a:pPr lvl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dirty="0"/>
                  <a:t>Therefore, </a:t>
                </a:r>
                <a:r>
                  <a:rPr lang="en-GB" dirty="0" smtClean="0"/>
                  <a:t>indicated </a:t>
                </a:r>
                <a:r>
                  <a:rPr lang="en-GB" dirty="0"/>
                  <a:t>torque varies nearly proportionally with </a:t>
                </a:r>
                <a:r>
                  <a:rPr lang="en-GB" dirty="0" smtClean="0"/>
                  <a:t>quantity </a:t>
                </a:r>
                <a:r>
                  <a:rPr lang="en-GB" dirty="0"/>
                  <a:t>of fuel injected into each engine cycle (controlled by engine governor)</a:t>
                </a:r>
                <a:endParaRPr lang="en-GB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9858"/>
                <a:ext cx="10515600" cy="4894729"/>
              </a:xfrm>
              <a:blipFill rotWithShape="0">
                <a:blip r:embed="rId2"/>
                <a:stretch>
                  <a:fillRect l="-1043" t="-996" r="-754" b="-2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876"/>
            <a:ext cx="10515600" cy="735724"/>
          </a:xfrm>
        </p:spPr>
        <p:txBody>
          <a:bodyPr/>
          <a:lstStyle/>
          <a:p>
            <a:r>
              <a:rPr lang="en-GB" dirty="0"/>
              <a:t>UNIT 3:	Engine Torque and Efficient Loading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600"/>
                <a:ext cx="4851400" cy="4678363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b="1" i="1" dirty="0" smtClean="0"/>
                  <a:t>Efficient Loading</a:t>
                </a:r>
                <a:endParaRPr lang="en-GB" dirty="0" smtClean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𝐵𝑟𝑎𝑘𝑒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𝑡h𝑒𝑟𝑚𝑎𝑙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𝑒𝑓𝑓𝑖𝑐𝑖𝑒𝑛𝑐𝑦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i="1" dirty="0" smtClean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𝑏𝑡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𝑓𝑒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.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  <a:p>
                <a:pPr lvl="0">
                  <a:lnSpc>
                    <a:spcPct val="11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dirty="0" smtClean="0"/>
                  <a:t>Figure </a:t>
                </a:r>
                <a:r>
                  <a:rPr lang="en-GB" dirty="0"/>
                  <a:t>shows the curve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𝑏𝑡</m:t>
                        </m:r>
                      </m:sub>
                    </m:sSub>
                  </m:oMath>
                </a14:m>
                <a:r>
                  <a:rPr lang="en-GB" dirty="0"/>
                  <a:t> against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dirty="0"/>
                  <a:t> where the slope is approximately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600"/>
                <a:ext cx="4851400" cy="4678363"/>
              </a:xfrm>
              <a:blipFill rotWithShape="0">
                <a:blip r:embed="rId2"/>
                <a:stretch>
                  <a:fillRect l="-2264" t="-1173" b="-24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364" y="2032618"/>
            <a:ext cx="6264000" cy="411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731766"/>
          </a:xfrm>
        </p:spPr>
        <p:txBody>
          <a:bodyPr/>
          <a:lstStyle/>
          <a:p>
            <a:r>
              <a:rPr lang="en-GB" dirty="0"/>
              <a:t>UNIT 3:	Engine Torque and Efficient Loading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4420"/>
                <a:ext cx="10515600" cy="4690753"/>
              </a:xfrm>
            </p:spPr>
            <p:txBody>
              <a:bodyPr>
                <a:normAutofit/>
              </a:bodyPr>
              <a:lstStyle/>
              <a:p>
                <a:pPr marL="119062" lvl="1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  <a:tabLst>
                    <a:tab pos="1603375" algn="l"/>
                  </a:tabLst>
                </a:pPr>
                <a:r>
                  <a:rPr lang="en-US" sz="2800" b="1" i="1" dirty="0"/>
                  <a:t>Efficient </a:t>
                </a:r>
                <a:r>
                  <a:rPr lang="en-US" sz="2800" b="1" i="1" dirty="0" smtClean="0"/>
                  <a:t>Loading:</a:t>
                </a:r>
                <a:endParaRPr lang="en-GB" sz="2800" dirty="0" smtClean="0"/>
              </a:p>
              <a:p>
                <a:pPr marL="119062" lvl="1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  <a:tabLst>
                    <a:tab pos="1603375" algn="l"/>
                  </a:tabLst>
                </a:pPr>
                <a:r>
                  <a:rPr lang="en-GB" sz="2800" dirty="0" smtClean="0"/>
                  <a:t>This implies that</a:t>
                </a:r>
              </a:p>
              <a:p>
                <a:pPr marL="711200" lvl="1" indent="-284163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tabLst>
                    <a:tab pos="1603375" algn="l"/>
                  </a:tabLst>
                </a:pPr>
                <a:r>
                  <a:rPr lang="en-GB" sz="2800" dirty="0" smtClean="0"/>
                  <a:t>All </a:t>
                </a:r>
                <a:r>
                  <a:rPr lang="en-GB" sz="2800" dirty="0"/>
                  <a:t>engines are most efficient at </a:t>
                </a:r>
                <a:r>
                  <a:rPr lang="en-GB" sz="2800" b="1" i="1" dirty="0"/>
                  <a:t>full load</a:t>
                </a: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800" dirty="0"/>
                  <a:t> and are especially inefficient as the load approaches </a:t>
                </a:r>
                <a:r>
                  <a:rPr lang="en-GB" sz="2800" dirty="0" smtClean="0"/>
                  <a:t>zero</a:t>
                </a:r>
              </a:p>
              <a:p>
                <a:pPr marL="711200" lvl="1" indent="-284163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tabLst>
                    <a:tab pos="1603375" algn="l"/>
                  </a:tabLst>
                </a:pPr>
                <a:r>
                  <a:rPr lang="en-GB" sz="2800" dirty="0" smtClean="0"/>
                  <a:t>At </a:t>
                </a:r>
                <a:r>
                  <a:rPr lang="en-GB" sz="2800" dirty="0"/>
                  <a:t>idle </a:t>
                </a:r>
                <a:r>
                  <a:rPr lang="en-GB" sz="2800" dirty="0" smtClean="0"/>
                  <a:t>engine speed, its efficiency is zero</a:t>
                </a:r>
                <a:endParaRPr lang="en-GB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4420"/>
                <a:ext cx="10515600" cy="4690753"/>
              </a:xfrm>
              <a:blipFill rotWithShape="0">
                <a:blip r:embed="rId2"/>
                <a:stretch>
                  <a:fillRect l="-116" t="-6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837324"/>
          </a:xfrm>
        </p:spPr>
        <p:txBody>
          <a:bodyPr>
            <a:normAutofit/>
          </a:bodyPr>
          <a:lstStyle/>
          <a:p>
            <a:r>
              <a:rPr lang="en-GB" dirty="0"/>
              <a:t>UNIT 3:	</a:t>
            </a:r>
            <a:r>
              <a:rPr lang="en-GB" dirty="0" smtClean="0"/>
              <a:t>Specific Fuel Consumption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5600"/>
                <a:ext cx="10515600" cy="496626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dirty="0" smtClean="0"/>
                  <a:t>Indicates </a:t>
                </a:r>
                <a:r>
                  <a:rPr lang="en-GB" dirty="0"/>
                  <a:t>the amount of fuel burnt by the engine to accomplish a given amount of work</a:t>
                </a:r>
                <a:r>
                  <a:rPr lang="en-GB" dirty="0" smtClean="0"/>
                  <a:t>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dirty="0" smtClean="0"/>
                  <a:t>Indicates </a:t>
                </a:r>
                <a:r>
                  <a:rPr lang="en-GB" dirty="0"/>
                  <a:t>the efficiency with which the engine develops power from </a:t>
                </a:r>
                <a:r>
                  <a:rPr lang="en-GB" dirty="0" smtClean="0"/>
                  <a:t>fuel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𝐹𝐶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𝐶𝑎𝑠𝑒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1: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𝐵𝑟𝑎𝑘𝑒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𝑝𝑜𝑤𝑒𝑟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𝑏𝑟𝑎𝑘𝑒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𝑆𝐹𝐶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𝐵𝑆𝐹𝐶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𝐶𝑎𝑠𝑒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2: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𝐼𝑛𝑑𝑖𝑐𝑎𝑡𝑒𝑑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𝑝𝑜𝑤𝑒𝑟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𝐼𝑛𝑑𝑖𝑐𝑎𝑡𝑒𝑑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𝑆𝐹𝐶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𝐼𝑆𝐹𝐶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GB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endParaRPr lang="en-GB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5600"/>
                <a:ext cx="10515600" cy="4966269"/>
              </a:xfrm>
              <a:blipFill rotWithShape="0">
                <a:blip r:embed="rId2"/>
                <a:stretch>
                  <a:fillRect l="-1043" t="-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902412"/>
          </a:xfrm>
        </p:spPr>
        <p:txBody>
          <a:bodyPr>
            <a:normAutofit/>
          </a:bodyPr>
          <a:lstStyle/>
          <a:p>
            <a:r>
              <a:rPr lang="en-GB" dirty="0"/>
              <a:t>UNIT 3:	Specific Fuel Consumption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b="1" i="1" dirty="0" smtClean="0"/>
                  <a:t>Units of BSFC</a:t>
                </a:r>
                <a:endParaRPr lang="en-GB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𝐵𝑆𝐹𝐶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𝑘𝑊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𝐵𝑆𝐹𝐶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3600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𝐵𝑆𝐹𝐶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𝐵𝑆𝐹𝐶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47935"/>
            <a:ext cx="10515600" cy="596771"/>
          </a:xfrm>
        </p:spPr>
        <p:txBody>
          <a:bodyPr/>
          <a:lstStyle/>
          <a:p>
            <a:r>
              <a:rPr lang="en-GB" dirty="0"/>
              <a:t>UNIT 3:	Specific Fuel Consumption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4706"/>
                <a:ext cx="10515600" cy="483225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b="1" i="1" dirty="0" smtClean="0"/>
                  <a:t>Relationship between BSFC numbers and efficiency</a:t>
                </a:r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𝑏𝑡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𝑓𝑒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𝐿𝐻𝑉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𝐿𝐻𝑉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𝐵𝐹𝑆𝐶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𝐿𝐻𝑉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363538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dirty="0" smtClean="0"/>
                  <a:t>LHV=Low heating value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𝐿𝐻𝑉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𝐻𝐻𝑉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h𝑒𝑎𝑡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𝑜𝑓𝑣𝑎𝑝𝑜𝑟𝑖𝑧𝑎𝑡𝑖𝑜𝑛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𝑤𝑎𝑡𝑒𝑟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𝑣𝑎𝑝𝑜𝑢𝑟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 smtClean="0"/>
              </a:p>
              <a:p>
                <a:pPr marL="268288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dirty="0" smtClean="0"/>
                  <a:t>For diesel LHV=0.0119531kWh/g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𝑏𝑡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𝐵𝐹𝑆𝐶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𝐿𝐻𝑉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𝐵𝑆𝐹𝐶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.∗0.0119531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83.660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𝐵𝑆𝐹𝐶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4706"/>
                <a:ext cx="10515600" cy="4832257"/>
              </a:xfrm>
              <a:blipFill rotWithShape="0">
                <a:blip r:embed="rId2"/>
                <a:stretch>
                  <a:fillRect l="-1043" t="-1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473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431" y="788275"/>
            <a:ext cx="11024969" cy="1037349"/>
          </a:xfrm>
        </p:spPr>
        <p:txBody>
          <a:bodyPr>
            <a:normAutofit/>
          </a:bodyPr>
          <a:lstStyle/>
          <a:p>
            <a:r>
              <a:rPr lang="en-GB" dirty="0"/>
              <a:t>UNIT </a:t>
            </a:r>
            <a:r>
              <a:rPr lang="en-GB" dirty="0" smtClean="0"/>
              <a:t>3:  Tractor Power Measurements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391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 smtClean="0"/>
              <a:t>Terminology:</a:t>
            </a:r>
          </a:p>
          <a:p>
            <a:pPr marL="1346200"/>
            <a:r>
              <a:rPr lang="en-GB" i="1" dirty="0"/>
              <a:t>Brake power</a:t>
            </a:r>
            <a:r>
              <a:rPr lang="en-GB" dirty="0"/>
              <a:t> is the power </a:t>
            </a:r>
          </a:p>
          <a:p>
            <a:pPr marL="1346200"/>
            <a:r>
              <a:rPr lang="en-GB" i="1" dirty="0" err="1"/>
              <a:t>Pto</a:t>
            </a:r>
            <a:r>
              <a:rPr lang="en-GB" i="1" dirty="0"/>
              <a:t>-power</a:t>
            </a:r>
            <a:r>
              <a:rPr lang="en-GB" dirty="0"/>
              <a:t> </a:t>
            </a:r>
            <a:endParaRPr lang="en-GB" dirty="0" smtClean="0"/>
          </a:p>
          <a:p>
            <a:pPr marL="1346200"/>
            <a:r>
              <a:rPr lang="en-GB" i="1" dirty="0"/>
              <a:t>Draw bar power</a:t>
            </a:r>
            <a:r>
              <a:rPr lang="en-GB" dirty="0"/>
              <a:t> </a:t>
            </a:r>
            <a:endParaRPr lang="en-GB" dirty="0" smtClean="0"/>
          </a:p>
          <a:p>
            <a:pPr marL="1346200"/>
            <a:r>
              <a:rPr lang="en-GB" i="1" dirty="0"/>
              <a:t>Friction power</a:t>
            </a:r>
            <a:r>
              <a:rPr lang="en-GB" dirty="0"/>
              <a:t> </a:t>
            </a:r>
            <a:endParaRPr lang="en-GB" dirty="0" smtClean="0"/>
          </a:p>
          <a:p>
            <a:pPr marL="1346200"/>
            <a:r>
              <a:rPr lang="en-GB" i="1" dirty="0"/>
              <a:t>Indicated power</a:t>
            </a:r>
            <a:r>
              <a:rPr lang="en-GB" dirty="0"/>
              <a:t> </a:t>
            </a:r>
            <a:endParaRPr lang="en-GB" dirty="0" smtClean="0"/>
          </a:p>
          <a:p>
            <a:pPr marL="1346200"/>
            <a:r>
              <a:rPr lang="en-GB" i="1" dirty="0"/>
              <a:t>Maximum brake power</a:t>
            </a:r>
            <a:r>
              <a:rPr lang="en-GB" dirty="0"/>
              <a:t> </a:t>
            </a:r>
            <a:endParaRPr lang="en-GB" dirty="0" smtClean="0"/>
          </a:p>
          <a:p>
            <a:pPr marL="1346200"/>
            <a:r>
              <a:rPr lang="en-GB" i="1" dirty="0"/>
              <a:t>Observed power</a:t>
            </a:r>
            <a:r>
              <a:rPr lang="en-GB" dirty="0"/>
              <a:t> </a:t>
            </a:r>
            <a:endParaRPr lang="en-GB" dirty="0" smtClean="0"/>
          </a:p>
          <a:p>
            <a:pPr marL="1346200"/>
            <a:r>
              <a:rPr lang="en-GB" i="1" dirty="0"/>
              <a:t>Corrected power</a:t>
            </a:r>
            <a:r>
              <a:rPr lang="en-GB" dirty="0"/>
              <a:t> </a:t>
            </a:r>
            <a:endParaRPr lang="en-GB" dirty="0" smtClean="0"/>
          </a:p>
          <a:p>
            <a:pPr marL="1346200"/>
            <a:r>
              <a:rPr lang="en-GB" i="1" dirty="0"/>
              <a:t>Rated horsepower</a:t>
            </a: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74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1381"/>
            <a:ext cx="10515600" cy="502643"/>
          </a:xfrm>
        </p:spPr>
        <p:txBody>
          <a:bodyPr>
            <a:normAutofit fontScale="90000"/>
          </a:bodyPr>
          <a:lstStyle/>
          <a:p>
            <a:r>
              <a:rPr lang="en-GB" dirty="0"/>
              <a:t>UNIT 3:  Tractor Power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5319"/>
            <a:ext cx="10515600" cy="49382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 smtClean="0"/>
              <a:t>Example 1: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 smtClean="0"/>
              <a:t>A certain compression ignition engine consumes No.. 2 diesel fuel (Hg=45,000 kJ/kg) at the rate of 26.3 kg/h while running at a rated speed of 2200 rpm and producing 595 Nm of torque. Assuming the mechanical efficiency is 0.85.</a:t>
            </a:r>
          </a:p>
          <a:p>
            <a:pPr marL="901700" indent="-514350">
              <a:buFont typeface="+mj-lt"/>
              <a:buAutoNum type="alphaLcPeriod"/>
            </a:pPr>
            <a:r>
              <a:rPr lang="en-US" dirty="0" smtClean="0"/>
              <a:t>Calculate the fuel equivalent power,</a:t>
            </a:r>
          </a:p>
          <a:p>
            <a:pPr marL="901700" indent="-514350">
              <a:buFont typeface="+mj-lt"/>
              <a:buAutoNum type="alphaLcPeriod"/>
            </a:pPr>
            <a:r>
              <a:rPr lang="en-US" dirty="0" smtClean="0"/>
              <a:t>Calculate the brake power,</a:t>
            </a:r>
          </a:p>
          <a:p>
            <a:pPr marL="901700" indent="-514350">
              <a:buFont typeface="+mj-lt"/>
              <a:buAutoNum type="alphaLcPeriod"/>
            </a:pPr>
            <a:r>
              <a:rPr lang="en-US" dirty="0" smtClean="0"/>
              <a:t>Calculate the indicated power,</a:t>
            </a:r>
          </a:p>
          <a:p>
            <a:pPr marL="901700" indent="-514350">
              <a:buFont typeface="+mj-lt"/>
              <a:buAutoNum type="alphaLcPeriod"/>
            </a:pPr>
            <a:r>
              <a:rPr lang="en-US" dirty="0" smtClean="0"/>
              <a:t>Calculate the friction power,</a:t>
            </a:r>
          </a:p>
          <a:p>
            <a:pPr marL="901700" indent="-514350">
              <a:buFont typeface="+mj-lt"/>
              <a:buAutoNum type="alphaLcPeriod"/>
            </a:pPr>
            <a:r>
              <a:rPr lang="en-US" dirty="0" smtClean="0"/>
              <a:t>Calculate the indicated thermal efficiency,</a:t>
            </a:r>
          </a:p>
          <a:p>
            <a:pPr marL="901700" indent="-514350">
              <a:buFont typeface="+mj-lt"/>
              <a:buAutoNum type="alphaLcPeriod"/>
            </a:pPr>
            <a:r>
              <a:rPr lang="en-US" dirty="0" smtClean="0"/>
              <a:t>Calculate the brake thermal efficiency,</a:t>
            </a:r>
          </a:p>
          <a:p>
            <a:pPr marL="901700" indent="-514350">
              <a:buFont typeface="+mj-lt"/>
              <a:buAutoNum type="alphaLcPeriod"/>
            </a:pPr>
            <a:r>
              <a:rPr lang="en-US" dirty="0" smtClean="0"/>
              <a:t>Calculate the BSFC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743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557924"/>
          </a:xfrm>
        </p:spPr>
        <p:txBody>
          <a:bodyPr>
            <a:normAutofit fontScale="90000"/>
          </a:bodyPr>
          <a:lstStyle/>
          <a:p>
            <a:r>
              <a:rPr lang="en-GB" dirty="0"/>
              <a:t>UNIT 3:  Tractor Power Measurements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33976"/>
                <a:ext cx="10515600" cy="48307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i="1" dirty="0" smtClean="0"/>
                  <a:t>Solution 1:</a:t>
                </a:r>
                <a:endParaRPr lang="en-GB" b="1" i="1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́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3600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3600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329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000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137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𝑘𝑊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GB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𝑘𝑊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𝑓𝑒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𝑘𝑊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488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33976"/>
                <a:ext cx="10515600" cy="4830763"/>
              </a:xfrm>
              <a:blipFill rotWithShape="0">
                <a:blip r:embed="rId2"/>
                <a:stretch>
                  <a:fillRect l="-1043" t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078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08724"/>
          </a:xfrm>
        </p:spPr>
        <p:txBody>
          <a:bodyPr/>
          <a:lstStyle/>
          <a:p>
            <a:r>
              <a:rPr lang="en-GB" dirty="0"/>
              <a:t>UNIT 3:  Tractor Power Measurements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3825"/>
                <a:ext cx="10515600" cy="2390775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𝑓𝑒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137 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𝑘𝑊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329 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=0.416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;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𝐵𝑆𝐹𝐶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́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26.3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137 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=0.19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3825"/>
                <a:ext cx="10515600" cy="2390775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648" y="3068183"/>
            <a:ext cx="7017104" cy="345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24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3: Tractor Power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 smtClean="0"/>
              <a:t>Example:</a:t>
            </a:r>
            <a:endParaRPr lang="en-GB" b="1" i="1" dirty="0" smtClean="0"/>
          </a:p>
          <a:p>
            <a:pPr marL="363538" indent="0">
              <a:lnSpc>
                <a:spcPct val="110000"/>
              </a:lnSpc>
              <a:buNone/>
            </a:pPr>
            <a:r>
              <a:rPr lang="en-GB" dirty="0" smtClean="0"/>
              <a:t>Consider </a:t>
            </a:r>
            <a:r>
              <a:rPr lang="en-GB" dirty="0"/>
              <a:t>an engine rated as 595 Nm,(137 kW) at 2299 rpm has an idle speed of 2400 rpm and a torque reserve of 30%; Peak torque occurs at 1300 rpm. Sketch the torque and power curves (versus engine speed).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93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3: Tractor Power Measurements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i="1" dirty="0" smtClean="0"/>
                  <a:t>Solution: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/>
                          </m:ctrlPr>
                        </m:sSubPr>
                        <m:e>
                          <m:r>
                            <a:rPr lang="en-GB" i="1"/>
                            <m:t>𝑇</m:t>
                          </m:r>
                        </m:e>
                        <m:sub>
                          <m:r>
                            <a:rPr lang="en-GB" i="1"/>
                            <m:t>𝑟𝑒𝑠𝑒𝑟𝑣𝑒</m:t>
                          </m:r>
                        </m:sub>
                      </m:sSub>
                      <m:r>
                        <a:rPr lang="en-GB" i="1"/>
                        <m:t>=</m:t>
                      </m:r>
                      <m:sSub>
                        <m:sSubPr>
                          <m:ctrlPr>
                            <a:rPr lang="en-GB" i="1"/>
                          </m:ctrlPr>
                        </m:sSubPr>
                        <m:e>
                          <m:r>
                            <a:rPr lang="en-GB" i="1"/>
                            <m:t>𝑇</m:t>
                          </m:r>
                        </m:e>
                        <m:sub>
                          <m:r>
                            <a:rPr lang="en-GB" i="1"/>
                            <m:t>𝑚𝑎𝑥</m:t>
                          </m:r>
                        </m:sub>
                      </m:sSub>
                      <m:r>
                        <a:rPr lang="en-GB" i="1"/>
                        <m:t>−</m:t>
                      </m:r>
                      <m:sSub>
                        <m:sSubPr>
                          <m:ctrlPr>
                            <a:rPr lang="en-GB" i="1"/>
                          </m:ctrlPr>
                        </m:sSubPr>
                        <m:e>
                          <m:r>
                            <a:rPr lang="en-GB" i="1"/>
                            <m:t>𝑇</m:t>
                          </m:r>
                        </m:e>
                        <m:sub>
                          <m:r>
                            <a:rPr lang="en-GB" i="1"/>
                            <m:t>𝑜𝑝</m:t>
                          </m:r>
                        </m:sub>
                      </m:sSub>
                      <m:r>
                        <a:rPr lang="en-GB" i="1"/>
                        <m:t>=30% </m:t>
                      </m:r>
                      <m:d>
                        <m:dPr>
                          <m:ctrlPr>
                            <a:rPr lang="en-GB" i="1"/>
                          </m:ctrlPr>
                        </m:dPr>
                        <m:e>
                          <m:sSub>
                            <m:sSubPr>
                              <m:ctrlPr>
                                <a:rPr lang="en-GB" i="1"/>
                              </m:ctrlPr>
                            </m:sSubPr>
                            <m:e>
                              <m:r>
                                <a:rPr lang="en-GB" i="1"/>
                                <m:t>𝑇</m:t>
                              </m:r>
                            </m:e>
                            <m:sub>
                              <m:r>
                                <a:rPr lang="en-GB" i="1"/>
                                <m:t>𝑜𝑝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/>
                          </m:ctrlPr>
                        </m:sSubPr>
                        <m:e>
                          <m:r>
                            <a:rPr lang="en-GB" i="1"/>
                            <m:t>𝑇</m:t>
                          </m:r>
                        </m:e>
                        <m:sub>
                          <m:r>
                            <a:rPr lang="en-GB" i="1"/>
                            <m:t>𝑚𝑎𝑥</m:t>
                          </m:r>
                        </m:sub>
                      </m:sSub>
                      <m:r>
                        <a:rPr lang="en-GB" i="1"/>
                        <m:t>=130%</m:t>
                      </m:r>
                      <m:d>
                        <m:dPr>
                          <m:ctrlPr>
                            <a:rPr lang="en-GB" i="1"/>
                          </m:ctrlPr>
                        </m:dPr>
                        <m:e>
                          <m:sSub>
                            <m:sSubPr>
                              <m:ctrlPr>
                                <a:rPr lang="en-GB" i="1"/>
                              </m:ctrlPr>
                            </m:sSubPr>
                            <m:e>
                              <m:r>
                                <a:rPr lang="en-GB" i="1"/>
                                <m:t>𝑇</m:t>
                              </m:r>
                            </m:e>
                            <m:sub>
                              <m:r>
                                <a:rPr lang="en-GB" i="1"/>
                                <m:t>𝑜𝑝</m:t>
                              </m:r>
                            </m:sub>
                          </m:sSub>
                        </m:e>
                      </m:d>
                      <m:r>
                        <a:rPr lang="en-GB" i="1"/>
                        <m:t>=130%</m:t>
                      </m:r>
                      <m:d>
                        <m:dPr>
                          <m:ctrlPr>
                            <a:rPr lang="en-GB" i="1"/>
                          </m:ctrlPr>
                        </m:dPr>
                        <m:e>
                          <m:r>
                            <a:rPr lang="en-GB" i="1"/>
                            <m:t>595 </m:t>
                          </m:r>
                          <m:r>
                            <a:rPr lang="en-GB" i="1"/>
                            <m:t>𝑁𝑚</m:t>
                          </m:r>
                        </m:e>
                      </m:d>
                      <m:r>
                        <a:rPr lang="en-GB" i="1"/>
                        <m:t>=774 </m:t>
                      </m:r>
                      <m:r>
                        <a:rPr lang="en-GB" i="1"/>
                        <m:t>𝑁𝑚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/>
                          </m:ctrlPr>
                        </m:sSubPr>
                        <m:e>
                          <m:r>
                            <a:rPr lang="en-GB" i="1"/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GB" i="1"/>
                              </m:ctrlPr>
                            </m:sSubPr>
                            <m:e>
                              <m:r>
                                <a:rPr lang="en-GB" i="1"/>
                                <m:t>𝑇</m:t>
                              </m:r>
                            </m:e>
                            <m:sub>
                              <m:r>
                                <a:rPr lang="en-GB" i="1"/>
                                <m:t>𝑚𝑎𝑥</m:t>
                              </m:r>
                            </m:sub>
                          </m:sSub>
                        </m:sub>
                      </m:sSub>
                      <m:r>
                        <a:rPr lang="en-GB" i="1"/>
                        <m:t>=2</m:t>
                      </m:r>
                      <m:r>
                        <a:rPr lang="en-GB" i="1"/>
                        <m:t>𝜋</m:t>
                      </m:r>
                      <m:r>
                        <a:rPr lang="en-GB" i="1"/>
                        <m:t>𝑛</m:t>
                      </m:r>
                      <m:d>
                        <m:dPr>
                          <m:ctrlPr>
                            <a:rPr lang="en-GB" i="1"/>
                          </m:ctrlPr>
                        </m:dPr>
                        <m:e>
                          <m:sSub>
                            <m:sSubPr>
                              <m:ctrlPr>
                                <a:rPr lang="en-GB" i="1"/>
                              </m:ctrlPr>
                            </m:sSubPr>
                            <m:e>
                              <m:r>
                                <a:rPr lang="en-GB" i="1"/>
                                <m:t>𝑇</m:t>
                              </m:r>
                            </m:e>
                            <m:sub>
                              <m:r>
                                <a:rPr lang="en-GB" i="1"/>
                                <m:t>𝑚𝑎𝑥</m:t>
                              </m:r>
                            </m:sub>
                          </m:sSub>
                        </m:e>
                      </m:d>
                      <m:r>
                        <a:rPr lang="en-GB" i="1"/>
                        <m:t>=</m:t>
                      </m:r>
                      <m:f>
                        <m:fPr>
                          <m:ctrlPr>
                            <a:rPr lang="en-GB" i="1"/>
                          </m:ctrlPr>
                        </m:fPr>
                        <m:num>
                          <m:r>
                            <a:rPr lang="en-GB" i="1"/>
                            <m:t>2</m:t>
                          </m:r>
                          <m:r>
                            <a:rPr lang="en-GB" i="1"/>
                            <m:t>𝜋</m:t>
                          </m:r>
                          <m:d>
                            <m:dPr>
                              <m:ctrlPr>
                                <a:rPr lang="en-GB" i="1"/>
                              </m:ctrlPr>
                            </m:dPr>
                            <m:e>
                              <m:r>
                                <a:rPr lang="en-GB" i="1"/>
                                <m:t>1300 </m:t>
                              </m:r>
                              <m:r>
                                <a:rPr lang="en-GB" i="1"/>
                                <m:t>𝑟𝑝𝑚</m:t>
                              </m:r>
                            </m:e>
                          </m:d>
                          <m:d>
                            <m:dPr>
                              <m:ctrlPr>
                                <a:rPr lang="en-GB" i="1"/>
                              </m:ctrlPr>
                            </m:dPr>
                            <m:e>
                              <m:r>
                                <a:rPr lang="en-GB" i="1"/>
                                <m:t>774 </m:t>
                              </m:r>
                              <m:r>
                                <a:rPr lang="en-GB" i="1"/>
                                <m:t>𝑁𝑚</m:t>
                              </m:r>
                            </m:e>
                          </m:d>
                        </m:num>
                        <m:den>
                          <m:r>
                            <a:rPr lang="en-GB" i="1"/>
                            <m:t>60,000</m:t>
                          </m:r>
                        </m:den>
                      </m:f>
                      <m:r>
                        <a:rPr lang="en-GB" i="1"/>
                        <m:t>=105 </m:t>
                      </m:r>
                      <m:r>
                        <a:rPr lang="en-GB" i="1"/>
                        <m:t>𝑘𝑊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70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516089"/>
          </a:xfrm>
        </p:spPr>
        <p:txBody>
          <a:bodyPr>
            <a:normAutofit fontScale="90000"/>
          </a:bodyPr>
          <a:lstStyle/>
          <a:p>
            <a:r>
              <a:rPr lang="en-GB" dirty="0"/>
              <a:t>UNIT 3: Tractor Power Measurements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964" y="1531308"/>
            <a:ext cx="8856000" cy="47642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071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735724"/>
          </a:xfrm>
        </p:spPr>
        <p:txBody>
          <a:bodyPr>
            <a:normAutofit/>
          </a:bodyPr>
          <a:lstStyle/>
          <a:p>
            <a:r>
              <a:rPr lang="en-GB" dirty="0"/>
              <a:t>UNIT 3:  </a:t>
            </a:r>
            <a:r>
              <a:rPr lang="en-GB" dirty="0" smtClean="0"/>
              <a:t>Types of Dynamometers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1800"/>
            <a:ext cx="10515600" cy="476293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dirty="0"/>
              <a:t>Dynamometer is an instrument for determining power usually by the independent measure of </a:t>
            </a:r>
            <a:r>
              <a:rPr lang="en-GB" b="1" dirty="0"/>
              <a:t>force</a:t>
            </a:r>
            <a:r>
              <a:rPr lang="en-GB" dirty="0"/>
              <a:t>, </a:t>
            </a:r>
            <a:r>
              <a:rPr lang="en-GB" b="1" dirty="0"/>
              <a:t>time</a:t>
            </a:r>
            <a:r>
              <a:rPr lang="en-GB" dirty="0"/>
              <a:t> and the </a:t>
            </a:r>
            <a:r>
              <a:rPr lang="en-GB" b="1" dirty="0"/>
              <a:t>distance</a:t>
            </a:r>
            <a:r>
              <a:rPr lang="en-GB" dirty="0"/>
              <a:t> through which the force is </a:t>
            </a:r>
            <a:r>
              <a:rPr lang="en-GB" dirty="0" smtClean="0"/>
              <a:t>moved</a:t>
            </a:r>
          </a:p>
          <a:p>
            <a:pPr marL="635000" lvl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i="1" dirty="0"/>
              <a:t>Brake Dynamometers</a:t>
            </a:r>
            <a:endParaRPr lang="en-GB" dirty="0"/>
          </a:p>
          <a:p>
            <a:pPr marL="635000" lvl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i="1" dirty="0"/>
              <a:t>Drawbar Dynamometers</a:t>
            </a:r>
            <a:endParaRPr lang="en-GB" dirty="0"/>
          </a:p>
          <a:p>
            <a:pPr marL="635000" lvl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i="1" dirty="0"/>
              <a:t>Torsion Dynamometers</a:t>
            </a:r>
            <a:endParaRPr lang="en-GB" dirty="0"/>
          </a:p>
          <a:p>
            <a:pPr marL="635000" lvl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i="1" dirty="0"/>
              <a:t>Transmission Dynamometer</a:t>
            </a:r>
            <a:endParaRPr lang="en-GB" dirty="0"/>
          </a:p>
          <a:p>
            <a:pPr marL="635000" lvl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i="1" dirty="0"/>
              <a:t>Absorption </a:t>
            </a:r>
            <a:r>
              <a:rPr lang="en-GB" i="1" dirty="0" smtClean="0"/>
              <a:t>Dynamometers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44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3:  </a:t>
            </a:r>
            <a:r>
              <a:rPr lang="en-GB" dirty="0" smtClean="0"/>
              <a:t>Prony Brake Dynamometer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639114"/>
              </a:xfrm>
            </p:spPr>
            <p:txBody>
              <a:bodyPr>
                <a:normAutofit/>
              </a:bodyPr>
              <a:lstStyle/>
              <a:p>
                <a:r>
                  <a:rPr lang="en-GB" dirty="0" smtClean="0"/>
                  <a:t>Lock a on b by means of c</a:t>
                </a:r>
              </a:p>
              <a:p>
                <a:r>
                  <a:rPr lang="en-GB" dirty="0" smtClean="0"/>
                  <a:t>Apply </a:t>
                </a:r>
                <a:r>
                  <a:rPr lang="en-GB" dirty="0"/>
                  <a:t>force F is </a:t>
                </a:r>
                <a:r>
                  <a:rPr lang="en-GB" dirty="0" smtClean="0"/>
                  <a:t>to arm </a:t>
                </a:r>
                <a:r>
                  <a:rPr lang="en-GB" dirty="0"/>
                  <a:t>d and </a:t>
                </a:r>
                <a:r>
                  <a:rPr lang="en-GB" dirty="0" smtClean="0"/>
                  <a:t>give arm a </a:t>
                </a:r>
                <a:r>
                  <a:rPr lang="en-GB" dirty="0"/>
                  <a:t>complete </a:t>
                </a:r>
                <a:r>
                  <a:rPr lang="en-GB" dirty="0" smtClean="0"/>
                  <a:t>revolution. Work </a:t>
                </a:r>
                <a:r>
                  <a:rPr lang="en-GB" dirty="0"/>
                  <a:t>done per one revolution is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GB" dirty="0" smtClean="0"/>
                  <a:t>.</a:t>
                </a:r>
              </a:p>
              <a:p>
                <a:r>
                  <a:rPr lang="en-GB" dirty="0" smtClean="0"/>
                  <a:t>Fix </a:t>
                </a:r>
                <a:r>
                  <a:rPr lang="en-GB" dirty="0"/>
                  <a:t>arm d is fixed and </a:t>
                </a:r>
                <a:r>
                  <a:rPr lang="en-GB" dirty="0" smtClean="0"/>
                  <a:t>give b one </a:t>
                </a:r>
                <a:r>
                  <a:rPr lang="en-GB" dirty="0"/>
                  <a:t>revolution inside the </a:t>
                </a:r>
                <a:r>
                  <a:rPr lang="en-GB" dirty="0" smtClean="0"/>
                  <a:t>block. Work </a:t>
                </a:r>
                <a:r>
                  <a:rPr lang="en-GB" dirty="0"/>
                  <a:t>done in </a:t>
                </a:r>
                <a:r>
                  <a:rPr lang="en-GB" dirty="0" smtClean="0"/>
                  <a:t>overcoming </a:t>
                </a:r>
                <a:r>
                  <a:rPr lang="en-GB" dirty="0"/>
                  <a:t>friction 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GB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𝐿𝑛𝐹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𝑘𝑊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639114"/>
              </a:xfrm>
              <a:blipFill rotWithShape="0">
                <a:blip r:embed="rId2"/>
                <a:stretch>
                  <a:fillRect l="-2088" t="-2234" r="-25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24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769" y="2155787"/>
            <a:ext cx="5328000" cy="308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54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608724"/>
          </a:xfrm>
        </p:spPr>
        <p:txBody>
          <a:bodyPr/>
          <a:lstStyle/>
          <a:p>
            <a:r>
              <a:rPr lang="en-GB" dirty="0"/>
              <a:t>UNIT 3:  Prony Brake Dynamometer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b="1" dirty="0" smtClean="0"/>
                  <a:t>Prony Brake Constant</a:t>
                </a:r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𝐿𝑛𝐹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𝑘𝑊</m:t>
                          </m:r>
                        </m:e>
                      </m:d>
                    </m:oMath>
                  </m:oMathPara>
                </a14:m>
                <a:endParaRPr lang="en-US" i="1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𝑟𝑝𝑚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𝑘𝑊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𝐿𝑛𝐹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𝑟𝑒𝑣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𝑘𝑁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𝐿𝑛𝐹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𝑘𝑁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𝑛𝐹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𝑘𝑁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𝑘𝑁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4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17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3:  Prony Brake Dynamometer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GB" b="1" dirty="0" smtClean="0"/>
                  <a:t>Prony Brake Constant</a:t>
                </a:r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=1.0467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=0.9554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=1.0467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0.9554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485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 smtClean="0"/>
                  <a:t>For </a:t>
                </a:r>
                <a:r>
                  <a:rPr lang="en-GB" dirty="0"/>
                  <a:t>a prony brake dynamometer, derive the power (kW) given the force (N), rotational speed (rpm) and length of arm (m).</a:t>
                </a:r>
              </a:p>
              <a:p>
                <a:r>
                  <a:rPr lang="en-GB" dirty="0"/>
                  <a:t>A two cylinder, two-stroke engine has a bore of 100mm and a stroke of 120mm. The engine develops a power of 50kW at 2200rpm when tested with a pony brake dynamometer.</a:t>
                </a:r>
              </a:p>
              <a:p>
                <a:r>
                  <a:rPr lang="en-GB" dirty="0"/>
                  <a:t>Compute the length of arm (mm) necessary to give a brake constant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GB" dirty="0"/>
                  <a:t>Compute the brake net scale reading in </a:t>
                </a:r>
                <a:r>
                  <a:rPr lang="en-GB" dirty="0" err="1"/>
                  <a:t>Newtons</a:t>
                </a:r>
                <a:r>
                  <a:rPr lang="en-GB" dirty="0"/>
                  <a:t>, if the length, l, of the arm is 1000mm.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361" b="-11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62753"/>
            <a:ext cx="9144000" cy="1247210"/>
          </a:xfrm>
        </p:spPr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For any concerns, please contact</a:t>
            </a:r>
          </a:p>
          <a:p>
            <a:r>
              <a:rPr lang="en-GB" b="1" dirty="0" smtClean="0"/>
              <a:t>elearning@knust.edu.gh</a:t>
            </a:r>
          </a:p>
          <a:p>
            <a:r>
              <a:rPr lang="en-GB" b="1" dirty="0" smtClean="0"/>
              <a:t>elearningknust@gmail.com </a:t>
            </a:r>
          </a:p>
          <a:p>
            <a:r>
              <a:rPr lang="en-GB" b="1" dirty="0" smtClean="0"/>
              <a:t>0322 191132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469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DL ppt tem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62A9560-2E7B-41A3-9F82-82295C59A7BE}" vid="{DD833A61-242F-4440-8F8C-EA11C2DDA7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IDL ppt temp</Template>
  <TotalTime>1803</TotalTime>
  <Words>747</Words>
  <Application>Microsoft Office PowerPoint</Application>
  <PresentationFormat>Widescreen</PresentationFormat>
  <Paragraphs>203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Cambria Math</vt:lpstr>
      <vt:lpstr>Century Gothic</vt:lpstr>
      <vt:lpstr>Futura Md BT</vt:lpstr>
      <vt:lpstr>Wingdings</vt:lpstr>
      <vt:lpstr>IDL ppt temp</vt:lpstr>
      <vt:lpstr>AE 482</vt:lpstr>
      <vt:lpstr>Introduction</vt:lpstr>
      <vt:lpstr>UNIT 3: Learning Objectives</vt:lpstr>
      <vt:lpstr>UNIT 3: Engine Performance Characteristics</vt:lpstr>
      <vt:lpstr>UNIT 3: Engine Performance Characteristics</vt:lpstr>
      <vt:lpstr>UNIT 3: Power and Mechanical Efficiency</vt:lpstr>
      <vt:lpstr>UNIT 3: Power and Mechanical Efficiency</vt:lpstr>
      <vt:lpstr>UNIT 3: Power and Mechanical Efficiency</vt:lpstr>
      <vt:lpstr>UNIT 3: Power and Mechanical Efficiency</vt:lpstr>
      <vt:lpstr>UNIT 3: Engine Torque and Efficient Loading</vt:lpstr>
      <vt:lpstr>UNIT 3: Engine Torque and Efficient Loading</vt:lpstr>
      <vt:lpstr>UNIT 3: Engine Torque and Efficient Loading</vt:lpstr>
      <vt:lpstr>UNIT 3: Engine Torque and Efficient Loading</vt:lpstr>
      <vt:lpstr>UNIT 3: Specific Fuel Consumption</vt:lpstr>
      <vt:lpstr>UNIT 3: Specific Fuel Consumption</vt:lpstr>
      <vt:lpstr>UNIT 3: Specific Fuel Consumption</vt:lpstr>
      <vt:lpstr>UNIT 3:  Tractor Power Measurements</vt:lpstr>
      <vt:lpstr>UNIT 3:  Tractor Power Measurements</vt:lpstr>
      <vt:lpstr>UNIT 3:  Tractor Power Measurements</vt:lpstr>
      <vt:lpstr>UNIT 3:  Tractor Power Measurements</vt:lpstr>
      <vt:lpstr>UNIT 3: Tractor Power Measurements</vt:lpstr>
      <vt:lpstr>UNIT 3: Tractor Power Measurements</vt:lpstr>
      <vt:lpstr>UNIT 3: Tractor Power Measurements</vt:lpstr>
      <vt:lpstr>UNIT 3:  Types of Dynamometers</vt:lpstr>
      <vt:lpstr>UNIT 3:  Prony Brake Dynamometer</vt:lpstr>
      <vt:lpstr>UNIT 3:  Prony Brake Dynamometer</vt:lpstr>
      <vt:lpstr>UNIT 3:  Prony Brake Dynamometer</vt:lpstr>
      <vt:lpstr>Example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ISD 458</dc:title>
  <dc:creator>A K O</dc:creator>
  <cp:lastModifiedBy>Joseph Aveyire</cp:lastModifiedBy>
  <cp:revision>145</cp:revision>
  <dcterms:created xsi:type="dcterms:W3CDTF">2014-04-14T16:55:09Z</dcterms:created>
  <dcterms:modified xsi:type="dcterms:W3CDTF">2016-10-03T00:55:26Z</dcterms:modified>
</cp:coreProperties>
</file>