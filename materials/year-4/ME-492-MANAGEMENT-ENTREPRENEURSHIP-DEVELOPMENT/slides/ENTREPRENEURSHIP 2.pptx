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91" r:id="rId11"/>
    <p:sldId id="265" r:id="rId12"/>
    <p:sldId id="266" r:id="rId13"/>
    <p:sldId id="267" r:id="rId14"/>
    <p:sldId id="268" r:id="rId15"/>
    <p:sldId id="292" r:id="rId16"/>
    <p:sldId id="269" r:id="rId17"/>
    <p:sldId id="270" r:id="rId18"/>
    <p:sldId id="271" r:id="rId19"/>
    <p:sldId id="272" r:id="rId20"/>
    <p:sldId id="273" r:id="rId21"/>
    <p:sldId id="274" r:id="rId22"/>
    <p:sldId id="275" r:id="rId23"/>
    <p:sldId id="276" r:id="rId24"/>
    <p:sldId id="277" r:id="rId25"/>
    <p:sldId id="293" r:id="rId26"/>
    <p:sldId id="278" r:id="rId27"/>
    <p:sldId id="279" r:id="rId28"/>
    <p:sldId id="280" r:id="rId29"/>
    <p:sldId id="294" r:id="rId30"/>
    <p:sldId id="281" r:id="rId31"/>
    <p:sldId id="282" r:id="rId32"/>
    <p:sldId id="283" r:id="rId33"/>
    <p:sldId id="284" r:id="rId34"/>
    <p:sldId id="285" r:id="rId35"/>
    <p:sldId id="286" r:id="rId36"/>
    <p:sldId id="287" r:id="rId37"/>
    <p:sldId id="305" r:id="rId38"/>
    <p:sldId id="288" r:id="rId39"/>
    <p:sldId id="289" r:id="rId40"/>
    <p:sldId id="290" r:id="rId41"/>
    <p:sldId id="295" r:id="rId42"/>
    <p:sldId id="296" r:id="rId43"/>
    <p:sldId id="297" r:id="rId44"/>
    <p:sldId id="298" r:id="rId45"/>
    <p:sldId id="299" r:id="rId46"/>
    <p:sldId id="300" r:id="rId47"/>
    <p:sldId id="301" r:id="rId48"/>
    <p:sldId id="302" r:id="rId49"/>
    <p:sldId id="303" r:id="rId50"/>
    <p:sldId id="304" r:id="rId51"/>
    <p:sldId id="306"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4" d="100"/>
          <a:sy n="64" d="100"/>
        </p:scale>
        <p:origin x="-612"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9CE58E-E0DF-4D7F-B907-382B169439B7}" type="datetimeFigureOut">
              <a:rPr lang="en-GB" smtClean="0"/>
              <a:pPr/>
              <a:t>06/01/2013</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2D7046-4236-4B3F-9B3A-45C03DFEA6BA}" type="slidenum">
              <a:rPr lang="en-GB" smtClean="0"/>
              <a:pPr/>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BF2D7046-4236-4B3F-9B3A-45C03DFEA6BA}" type="slidenum">
              <a:rPr lang="en-GB" smtClean="0"/>
              <a:pPr/>
              <a:t>10</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17" name="Footer Placeholder 16"/>
          <p:cNvSpPr>
            <a:spLocks noGrp="1"/>
          </p:cNvSpPr>
          <p:nvPr>
            <p:ph type="ftr" sz="quarter" idx="11"/>
          </p:nvPr>
        </p:nvSpPr>
        <p:spPr/>
        <p:txBody>
          <a:bodyPr/>
          <a:lstStyle/>
          <a:p>
            <a:endParaRPr lang="en-GB"/>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91841179-D1FD-4018-B822-29F5D6B1C617}" type="slidenum">
              <a:rPr lang="en-GB" smtClean="0"/>
              <a:pPr/>
              <a:t>‹#›</a:t>
            </a:fld>
            <a:endParaRPr lang="en-GB"/>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1841179-D1FD-4018-B822-29F5D6B1C617}" type="slidenum">
              <a:rPr lang="en-GB" smtClean="0"/>
              <a:pPr/>
              <a:t>‹#›</a:t>
            </a:fld>
            <a:endParaRPr lang="en-GB"/>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5" name="Footer Placeholder 4"/>
          <p:cNvSpPr>
            <a:spLocks noGrp="1"/>
          </p:cNvSpPr>
          <p:nvPr>
            <p:ph type="ftr" sz="quarter" idx="11"/>
          </p:nvPr>
        </p:nvSpPr>
        <p:spPr>
          <a:xfrm>
            <a:off x="800100" y="6172200"/>
            <a:ext cx="4000500" cy="457200"/>
          </a:xfrm>
        </p:spPr>
        <p:txBody>
          <a:bodyPr/>
          <a:lstStyle/>
          <a:p>
            <a:endParaRPr lang="en-GB"/>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91841179-D1FD-4018-B822-29F5D6B1C617}"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1841179-D1FD-4018-B822-29F5D6B1C617}" type="slidenum">
              <a:rPr lang="en-GB" smtClean="0"/>
              <a:pPr/>
              <a:t>‹#›</a:t>
            </a:fld>
            <a:endParaRPr lang="en-GB"/>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1841179-D1FD-4018-B822-29F5D6B1C617}" type="slidenum">
              <a:rPr lang="en-GB" smtClean="0"/>
              <a:pPr/>
              <a:t>‹#›</a:t>
            </a:fld>
            <a:endParaRPr lang="en-GB"/>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1841179-D1FD-4018-B822-29F5D6B1C617}"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1841179-D1FD-4018-B822-29F5D6B1C617}"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1841179-D1FD-4018-B822-29F5D6B1C617}" type="slidenum">
              <a:rPr lang="en-GB" smtClean="0"/>
              <a:pPr/>
              <a:t>‹#›</a:t>
            </a:fld>
            <a:endParaRPr lang="en-GB"/>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6" name="Footer Placeholder 5"/>
          <p:cNvSpPr>
            <a:spLocks noGrp="1"/>
          </p:cNvSpPr>
          <p:nvPr>
            <p:ph type="ftr" sz="quarter" idx="11"/>
          </p:nvPr>
        </p:nvSpPr>
        <p:spPr>
          <a:xfrm>
            <a:off x="914400" y="6172200"/>
            <a:ext cx="3886200" cy="457200"/>
          </a:xfrm>
        </p:spPr>
        <p:txBody>
          <a:bodyPr/>
          <a:lstStyle/>
          <a:p>
            <a:endParaRPr lang="en-GB"/>
          </a:p>
        </p:txBody>
      </p:sp>
      <p:sp>
        <p:nvSpPr>
          <p:cNvPr id="7" name="Slide Number Placeholder 6"/>
          <p:cNvSpPr>
            <a:spLocks noGrp="1"/>
          </p:cNvSpPr>
          <p:nvPr>
            <p:ph type="sldNum" sz="quarter" idx="12"/>
          </p:nvPr>
        </p:nvSpPr>
        <p:spPr>
          <a:xfrm>
            <a:off x="146304" y="6208776"/>
            <a:ext cx="457200" cy="457200"/>
          </a:xfrm>
        </p:spPr>
        <p:txBody>
          <a:bodyPr/>
          <a:lstStyle/>
          <a:p>
            <a:fld id="{91841179-D1FD-4018-B822-29F5D6B1C617}" type="slidenum">
              <a:rPr lang="en-GB" smtClean="0"/>
              <a:pPr/>
              <a:t>‹#›</a:t>
            </a:fld>
            <a:endParaRPr lang="en-GB"/>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1841179-D1FD-4018-B822-29F5D6B1C617}"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242102-EF6C-4606-B11A-D20A9DC581F9}" type="datetimeFigureOut">
              <a:rPr lang="en-GB" smtClean="0"/>
              <a:pPr/>
              <a:t>06/01/2013</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1841179-D1FD-4018-B822-29F5D6B1C617}"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06242102-EF6C-4606-B11A-D20A9DC581F9}" type="datetimeFigureOut">
              <a:rPr lang="en-GB" smtClean="0"/>
              <a:pPr/>
              <a:t>06/01/2013</a:t>
            </a:fld>
            <a:endParaRPr lang="en-GB"/>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GB"/>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91841179-D1FD-4018-B822-29F5D6B1C617}"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GB" dirty="0" smtClean="0"/>
              <a:t> </a:t>
            </a:r>
            <a:r>
              <a:rPr lang="en-GB" sz="4000" dirty="0" smtClean="0"/>
              <a:t>Developing Creativity &amp; Understanding Innovation</a:t>
            </a:r>
            <a:endParaRPr lang="en-GB" sz="4000" dirty="0"/>
          </a:p>
        </p:txBody>
      </p:sp>
      <p:sp>
        <p:nvSpPr>
          <p:cNvPr id="2" name="Title 1"/>
          <p:cNvSpPr>
            <a:spLocks noGrp="1"/>
          </p:cNvSpPr>
          <p:nvPr>
            <p:ph type="ctrTitle"/>
          </p:nvPr>
        </p:nvSpPr>
        <p:spPr>
          <a:xfrm>
            <a:off x="685800" y="1556793"/>
            <a:ext cx="7772400" cy="1512167"/>
          </a:xfrm>
        </p:spPr>
        <p:txBody>
          <a:bodyPr>
            <a:normAutofit fontScale="90000"/>
          </a:bodyPr>
          <a:lstStyle/>
          <a:p>
            <a:r>
              <a:rPr lang="en-GB" dirty="0" smtClean="0"/>
              <a:t/>
            </a:r>
            <a:br>
              <a:rPr lang="en-GB" dirty="0" smtClean="0"/>
            </a:br>
            <a:r>
              <a:rPr lang="en-GB" dirty="0" smtClean="0"/>
              <a:t>2-Entrepreneurship </a:t>
            </a:r>
            <a:r>
              <a:rPr lang="en-GB" dirty="0"/>
              <a:t>- Creativity and </a:t>
            </a:r>
            <a:r>
              <a:rPr lang="en-GB" dirty="0" smtClean="0"/>
              <a:t>Innovation</a:t>
            </a:r>
            <a:r>
              <a:rPr lang="en-GB" dirty="0"/>
              <a:t/>
            </a:r>
            <a:br>
              <a:rPr lang="en-GB" dirty="0"/>
            </a:br>
            <a:endParaRPr lang="en-GB"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i="1" dirty="0" smtClean="0"/>
              <a:t>OBJECTIVES</a:t>
            </a:r>
            <a:endParaRPr lang="en-GB" dirty="0"/>
          </a:p>
        </p:txBody>
      </p:sp>
      <p:sp>
        <p:nvSpPr>
          <p:cNvPr id="3" name="Content Placeholder 2"/>
          <p:cNvSpPr>
            <a:spLocks noGrp="1"/>
          </p:cNvSpPr>
          <p:nvPr>
            <p:ph sz="quarter" idx="1"/>
          </p:nvPr>
        </p:nvSpPr>
        <p:spPr>
          <a:xfrm>
            <a:off x="457200" y="1196752"/>
            <a:ext cx="8229600" cy="5328592"/>
          </a:xfrm>
        </p:spPr>
        <p:txBody>
          <a:bodyPr>
            <a:normAutofit/>
          </a:bodyPr>
          <a:lstStyle/>
          <a:p>
            <a:pPr lvl="0"/>
            <a:r>
              <a:rPr lang="en-GB" dirty="0"/>
              <a:t>Explain the process of creativity.</a:t>
            </a:r>
          </a:p>
          <a:p>
            <a:pPr lvl="0"/>
            <a:r>
              <a:rPr lang="en-GB" dirty="0"/>
              <a:t>Describe how innovation is important as a dimension of entrepreneurship.</a:t>
            </a:r>
          </a:p>
          <a:p>
            <a:pPr lvl="0"/>
            <a:r>
              <a:rPr lang="en-GB" dirty="0"/>
              <a:t>Identify major changes that create opportunities for entrepreneurs.</a:t>
            </a:r>
          </a:p>
          <a:p>
            <a:pPr lvl="0"/>
            <a:r>
              <a:rPr lang="en-GB" dirty="0"/>
              <a:t>Explain the concepts of “windows” and “corridors” for new ventures.</a:t>
            </a:r>
          </a:p>
          <a:p>
            <a:pPr lvl="0"/>
            <a:r>
              <a:rPr lang="en-GB" dirty="0"/>
              <a:t>Discuss popular myths of entrepreneurship and why they are more fantasy than fact.</a:t>
            </a:r>
          </a:p>
          <a:p>
            <a:pPr lvl="0"/>
            <a:r>
              <a:rPr lang="en-GB" dirty="0"/>
              <a:t>Describe the main factors that lead to success for new ventures</a:t>
            </a:r>
            <a:r>
              <a:rPr lang="en-GB" dirty="0" smtClean="0"/>
              <a:t>.</a:t>
            </a:r>
            <a:endParaRPr lang="en-GB"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GB" dirty="0" smtClean="0"/>
              <a:t>INTRODUCTION</a:t>
            </a:r>
            <a:endParaRPr lang="en-GB" dirty="0"/>
          </a:p>
        </p:txBody>
      </p:sp>
      <p:sp>
        <p:nvSpPr>
          <p:cNvPr id="3" name="Content Placeholder 2"/>
          <p:cNvSpPr>
            <a:spLocks noGrp="1"/>
          </p:cNvSpPr>
          <p:nvPr>
            <p:ph sz="quarter" idx="1"/>
          </p:nvPr>
        </p:nvSpPr>
        <p:spPr>
          <a:xfrm>
            <a:off x="457200" y="1196752"/>
            <a:ext cx="8229600" cy="5472608"/>
          </a:xfrm>
        </p:spPr>
        <p:txBody>
          <a:bodyPr>
            <a:normAutofit/>
          </a:bodyPr>
          <a:lstStyle/>
          <a:p>
            <a:r>
              <a:rPr lang="en-GB" dirty="0"/>
              <a:t>Handout 1 provided a general overview of entrepreneurship and also introduced a working definition of entrepreneurship in terms of contemporary high-growth new ventures</a:t>
            </a:r>
            <a:r>
              <a:rPr lang="en-GB" dirty="0" smtClean="0"/>
              <a:t>.  </a:t>
            </a:r>
            <a:endParaRPr lang="en-GB" dirty="0" smtClean="0"/>
          </a:p>
          <a:p>
            <a:pPr>
              <a:buNone/>
            </a:pPr>
            <a:endParaRPr lang="en-GB" dirty="0" smtClean="0"/>
          </a:p>
          <a:p>
            <a:r>
              <a:rPr lang="en-GB" dirty="0" smtClean="0"/>
              <a:t> An essential part of that working definition is that entrepreneurs instigate change thereby shifting endeavours </a:t>
            </a:r>
            <a:r>
              <a:rPr lang="en-GB" dirty="0"/>
              <a:t>into areas of greater yield and higher productivity. This is the process of </a:t>
            </a:r>
            <a:r>
              <a:rPr lang="en-GB" i="1" dirty="0"/>
              <a:t>wealth creation </a:t>
            </a:r>
            <a:r>
              <a:rPr lang="en-GB" dirty="0"/>
              <a:t>rather than </a:t>
            </a:r>
            <a:r>
              <a:rPr lang="en-GB" i="1" dirty="0"/>
              <a:t>wealth accumulation. </a:t>
            </a:r>
            <a:endParaRPr lang="en-GB" i="1" dirty="0" smtClean="0"/>
          </a:p>
          <a:p>
            <a:pPr>
              <a:buNone/>
            </a:pPr>
            <a:endParaRPr lang="en-GB" i="1" dirty="0" smtClean="0"/>
          </a:p>
          <a:p>
            <a:r>
              <a:rPr lang="en-GB" dirty="0" smtClean="0"/>
              <a:t>A </a:t>
            </a:r>
            <a:r>
              <a:rPr lang="en-GB" dirty="0"/>
              <a:t>crucial dimension of wealth creation and every new venture is </a:t>
            </a:r>
            <a:r>
              <a:rPr lang="en-GB" i="1" dirty="0"/>
              <a:t>innovation.</a:t>
            </a:r>
            <a:endParaRPr lang="en-GB" dirty="0"/>
          </a:p>
          <a:p>
            <a:endParaRPr lang="en-GB"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864096"/>
          </a:xfrm>
        </p:spPr>
        <p:txBody>
          <a:bodyPr/>
          <a:lstStyle/>
          <a:p>
            <a:r>
              <a:rPr lang="en-GB" dirty="0" smtClean="0"/>
              <a:t>INTRODUCTION</a:t>
            </a:r>
            <a:endParaRPr lang="en-GB" dirty="0"/>
          </a:p>
        </p:txBody>
      </p:sp>
      <p:sp>
        <p:nvSpPr>
          <p:cNvPr id="3" name="Content Placeholder 2"/>
          <p:cNvSpPr>
            <a:spLocks noGrp="1"/>
          </p:cNvSpPr>
          <p:nvPr>
            <p:ph sz="quarter" idx="1"/>
          </p:nvPr>
        </p:nvSpPr>
        <p:spPr>
          <a:xfrm>
            <a:off x="457200" y="1196752"/>
            <a:ext cx="8229600" cy="5472608"/>
          </a:xfrm>
        </p:spPr>
        <p:txBody>
          <a:bodyPr>
            <a:normAutofit/>
          </a:bodyPr>
          <a:lstStyle/>
          <a:p>
            <a:r>
              <a:rPr lang="en-GB" dirty="0"/>
              <a:t>In this handout, innovation and the creative endeavour that leads to entrepreneurship are explored. How entrepreneurs develop new ideas and, from their ideas, establish new enterprises that </a:t>
            </a:r>
            <a:r>
              <a:rPr lang="en-GB" i="1" dirty="0"/>
              <a:t>add value </a:t>
            </a:r>
            <a:r>
              <a:rPr lang="en-GB" dirty="0"/>
              <a:t>to society are also discussed. </a:t>
            </a:r>
            <a:endParaRPr lang="en-GB" dirty="0" smtClean="0"/>
          </a:p>
          <a:p>
            <a:pPr>
              <a:buNone/>
            </a:pPr>
            <a:endParaRPr lang="en-GB" dirty="0" smtClean="0"/>
          </a:p>
          <a:p>
            <a:r>
              <a:rPr lang="en-GB" dirty="0" smtClean="0"/>
              <a:t>Peter </a:t>
            </a:r>
            <a:r>
              <a:rPr lang="en-GB" dirty="0" err="1"/>
              <a:t>Drucker</a:t>
            </a:r>
            <a:r>
              <a:rPr lang="en-GB" dirty="0"/>
              <a:t> gives us the following framework for study:</a:t>
            </a:r>
          </a:p>
          <a:p>
            <a:pPr>
              <a:buNone/>
            </a:pPr>
            <a:r>
              <a:rPr lang="en-GB" dirty="0" smtClean="0"/>
              <a:t>	“</a:t>
            </a:r>
            <a:r>
              <a:rPr lang="en-GB" dirty="0"/>
              <a:t>Admittedly, all new small businesses have many factors in common. But to be entrepreneurial, an enterprise has to have special characteristics over and above being new and small. Indeed, entrepreneurs are a minority among new businesses. They create something new, something different; they change or transmute values.” </a:t>
            </a:r>
          </a:p>
          <a:p>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GB" dirty="0" smtClean="0"/>
              <a:t>INTRODUCTION</a:t>
            </a:r>
            <a:endParaRPr lang="en-GB" dirty="0"/>
          </a:p>
        </p:txBody>
      </p:sp>
      <p:sp>
        <p:nvSpPr>
          <p:cNvPr id="3" name="Content Placeholder 2"/>
          <p:cNvSpPr>
            <a:spLocks noGrp="1"/>
          </p:cNvSpPr>
          <p:nvPr>
            <p:ph sz="quarter" idx="1"/>
          </p:nvPr>
        </p:nvSpPr>
        <p:spPr>
          <a:xfrm>
            <a:off x="457200" y="1196752"/>
            <a:ext cx="8229600" cy="5472608"/>
          </a:xfrm>
        </p:spPr>
        <p:txBody>
          <a:bodyPr>
            <a:normAutofit/>
          </a:bodyPr>
          <a:lstStyle/>
          <a:p>
            <a:r>
              <a:rPr lang="en-GB" dirty="0"/>
              <a:t>Building on </a:t>
            </a:r>
            <a:r>
              <a:rPr lang="en-GB" dirty="0" err="1"/>
              <a:t>Drucker's</a:t>
            </a:r>
            <a:r>
              <a:rPr lang="en-GB" dirty="0"/>
              <a:t> viewpoint, how entrepreneurs create wealth by creating something new or different and how the opportunities arise will be explored</a:t>
            </a:r>
            <a:r>
              <a:rPr lang="en-GB" dirty="0" smtClean="0"/>
              <a:t>.</a:t>
            </a:r>
          </a:p>
          <a:p>
            <a:r>
              <a:rPr lang="en-GB" dirty="0" smtClean="0"/>
              <a:t> </a:t>
            </a:r>
            <a:r>
              <a:rPr lang="en-GB" dirty="0"/>
              <a:t>It will begin with the topic of innovation. Then, how opportunities arise to inspire new ventures will be looked at. </a:t>
            </a:r>
            <a:endParaRPr lang="en-GB" dirty="0" smtClean="0"/>
          </a:p>
          <a:p>
            <a:r>
              <a:rPr lang="en-GB" dirty="0" smtClean="0"/>
              <a:t>Characteristics </a:t>
            </a:r>
            <a:r>
              <a:rPr lang="en-GB" dirty="0"/>
              <a:t>of new ventures and "myths" about entrepreneurship will also be examined</a:t>
            </a:r>
            <a:r>
              <a:rPr lang="en-GB" dirty="0" smtClean="0"/>
              <a:t>.</a:t>
            </a:r>
          </a:p>
          <a:p>
            <a:r>
              <a:rPr lang="en-GB" dirty="0" smtClean="0"/>
              <a:t> </a:t>
            </a:r>
            <a:r>
              <a:rPr lang="en-GB" dirty="0"/>
              <a:t>Describing prerequisites for succeeding in new ventures will finally conclude it.</a:t>
            </a:r>
          </a:p>
          <a:p>
            <a:endParaRPr lang="en-GB"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24744"/>
          </a:xfrm>
        </p:spPr>
        <p:txBody>
          <a:bodyPr>
            <a:normAutofit fontScale="90000"/>
          </a:bodyPr>
          <a:lstStyle/>
          <a:p>
            <a:r>
              <a:rPr lang="en-GB" b="1" dirty="0"/>
              <a:t>CREATIVITY AS A PREREQUISITE TO </a:t>
            </a:r>
            <a:r>
              <a:rPr lang="en-GB" b="1" dirty="0" smtClean="0"/>
              <a:t>INNOVATION</a:t>
            </a:r>
            <a:endParaRPr lang="en-GB" dirty="0"/>
          </a:p>
        </p:txBody>
      </p:sp>
      <p:sp>
        <p:nvSpPr>
          <p:cNvPr id="3" name="Content Placeholder 2"/>
          <p:cNvSpPr>
            <a:spLocks noGrp="1"/>
          </p:cNvSpPr>
          <p:nvPr>
            <p:ph sz="quarter" idx="1"/>
          </p:nvPr>
        </p:nvSpPr>
        <p:spPr>
          <a:xfrm>
            <a:off x="457200" y="1196752"/>
            <a:ext cx="8229600" cy="5661248"/>
          </a:xfrm>
        </p:spPr>
        <p:txBody>
          <a:bodyPr>
            <a:normAutofit/>
          </a:bodyPr>
          <a:lstStyle/>
          <a:p>
            <a:r>
              <a:rPr lang="en-GB" dirty="0"/>
              <a:t>The terms </a:t>
            </a:r>
            <a:r>
              <a:rPr lang="en-GB" i="1" dirty="0"/>
              <a:t>creativity </a:t>
            </a:r>
            <a:r>
              <a:rPr lang="en-GB" dirty="0"/>
              <a:t>and </a:t>
            </a:r>
            <a:r>
              <a:rPr lang="en-GB" i="1" dirty="0"/>
              <a:t>innovation </a:t>
            </a:r>
            <a:r>
              <a:rPr lang="en-GB" dirty="0"/>
              <a:t>are often used to mean the same thing, but each has a unique connotation. </a:t>
            </a:r>
            <a:endParaRPr lang="en-GB" dirty="0" smtClean="0"/>
          </a:p>
          <a:p>
            <a:r>
              <a:rPr lang="en-GB" b="1" dirty="0" smtClean="0"/>
              <a:t>Creativity </a:t>
            </a:r>
            <a:r>
              <a:rPr lang="en-GB" dirty="0"/>
              <a:t>is “the ability to bring something new into existence. “ This definition emphasises the “ability,” not the “activity,” of bringing something new into existence. A person may therefore conceive of something new and envision how it will be useful, but not necessarily take the necessary action to make it a reality</a:t>
            </a:r>
            <a:r>
              <a:rPr lang="en-GB" dirty="0" smtClean="0"/>
              <a:t>.</a:t>
            </a:r>
          </a:p>
          <a:p>
            <a:r>
              <a:rPr lang="en-GB" dirty="0" smtClean="0"/>
              <a:t> </a:t>
            </a:r>
            <a:r>
              <a:rPr lang="en-GB" b="1" dirty="0"/>
              <a:t>Innovation </a:t>
            </a:r>
            <a:r>
              <a:rPr lang="en-GB" dirty="0"/>
              <a:t>is the process of doing new things. This distinction is important. Ideas have little value until they are converted into new products, services, or processes. Innovation, therefore, is the transformation of creative ideas into useful applications, but creativity is a prerequisite to innovation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a:t>The Creative </a:t>
            </a:r>
            <a:r>
              <a:rPr lang="en-GB" b="1" dirty="0" smtClean="0"/>
              <a:t>Process</a:t>
            </a:r>
            <a:endParaRPr lang="en-GB" dirty="0"/>
          </a:p>
        </p:txBody>
      </p:sp>
      <p:sp>
        <p:nvSpPr>
          <p:cNvPr id="3" name="Content Placeholder 2"/>
          <p:cNvSpPr>
            <a:spLocks noGrp="1"/>
          </p:cNvSpPr>
          <p:nvPr>
            <p:ph sz="quarter" idx="1"/>
          </p:nvPr>
        </p:nvSpPr>
        <p:spPr>
          <a:xfrm>
            <a:off x="457200" y="1124744"/>
            <a:ext cx="8229600" cy="5472608"/>
          </a:xfrm>
        </p:spPr>
        <p:txBody>
          <a:bodyPr>
            <a:normAutofit/>
          </a:bodyPr>
          <a:lstStyle/>
          <a:p>
            <a:r>
              <a:rPr lang="en-GB" dirty="0" smtClean="0"/>
              <a:t>Entrepreneurs </a:t>
            </a:r>
            <a:r>
              <a:rPr lang="en-GB" dirty="0"/>
              <a:t>need ideas to pursue, and ideas seldom materialise accidentally. Isaac Newton may have been hit on the head by a falling apple, but he discovered gravity through a lifetime of scientific investigation. Ideas usually evolve through a </a:t>
            </a:r>
            <a:r>
              <a:rPr lang="en-GB" i="1" dirty="0"/>
              <a:t>creative process </a:t>
            </a:r>
            <a:r>
              <a:rPr lang="en-GB" dirty="0"/>
              <a:t>whereby imaginative people germinate ideas, nurture them, and develop them successfully. </a:t>
            </a:r>
          </a:p>
          <a:p>
            <a:pPr>
              <a:buNone/>
            </a:pPr>
            <a:r>
              <a:rPr lang="en-GB" dirty="0"/>
              <a:t> </a:t>
            </a:r>
          </a:p>
          <a:p>
            <a:r>
              <a:rPr lang="en-GB" dirty="0"/>
              <a:t>Various labels have been applied to stages in the creative process, but most social scientists agree on five stages that is labelled as </a:t>
            </a:r>
            <a:r>
              <a:rPr lang="en-GB" i="1" dirty="0"/>
              <a:t>idea germination, preparation, incubation, illumination, </a:t>
            </a:r>
            <a:r>
              <a:rPr lang="en-GB" dirty="0"/>
              <a:t>and </a:t>
            </a:r>
            <a:r>
              <a:rPr lang="en-GB" i="1" dirty="0"/>
              <a:t>verification. </a:t>
            </a:r>
            <a:r>
              <a:rPr lang="en-GB" dirty="0"/>
              <a:t>In each stage, a creative individual behaves differently to move an idea from the seed stage of germination to verification, and, behaviour varies greatly among individuals and their ideas. </a:t>
            </a:r>
          </a:p>
          <a:p>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936104"/>
          </a:xfrm>
        </p:spPr>
        <p:txBody>
          <a:bodyPr/>
          <a:lstStyle/>
          <a:p>
            <a:r>
              <a:rPr lang="en-GB" b="1" dirty="0" smtClean="0"/>
              <a:t>Idea Germination</a:t>
            </a:r>
            <a:endParaRPr lang="en-GB" dirty="0"/>
          </a:p>
        </p:txBody>
      </p:sp>
      <p:sp>
        <p:nvSpPr>
          <p:cNvPr id="3" name="Content Placeholder 2"/>
          <p:cNvSpPr>
            <a:spLocks noGrp="1"/>
          </p:cNvSpPr>
          <p:nvPr>
            <p:ph sz="quarter" idx="1"/>
          </p:nvPr>
        </p:nvSpPr>
        <p:spPr>
          <a:xfrm>
            <a:off x="457200" y="1196752"/>
            <a:ext cx="8229600" cy="4929411"/>
          </a:xfrm>
        </p:spPr>
        <p:txBody>
          <a:bodyPr>
            <a:normAutofit/>
          </a:bodyPr>
          <a:lstStyle/>
          <a:p>
            <a:r>
              <a:rPr lang="en-GB" dirty="0" smtClean="0"/>
              <a:t>The </a:t>
            </a:r>
            <a:r>
              <a:rPr lang="en-GB" dirty="0"/>
              <a:t>germination stage is a </a:t>
            </a:r>
            <a:r>
              <a:rPr lang="en-GB" i="1" dirty="0"/>
              <a:t>seeding process. </a:t>
            </a:r>
            <a:r>
              <a:rPr lang="en-GB" dirty="0"/>
              <a:t>It is not like planting seed as a farmer does to grow corn, but more like the natural seeding that occurs when pollinated flower seeds, scattered by the wind, find fertile ground to take root. </a:t>
            </a:r>
            <a:endParaRPr lang="en-GB" dirty="0" smtClean="0"/>
          </a:p>
          <a:p>
            <a:pPr>
              <a:buNone/>
            </a:pPr>
            <a:endParaRPr lang="en-GB" dirty="0" smtClean="0"/>
          </a:p>
          <a:p>
            <a:r>
              <a:rPr lang="en-GB" dirty="0" smtClean="0"/>
              <a:t>Exactly </a:t>
            </a:r>
            <a:r>
              <a:rPr lang="en-GB" dirty="0"/>
              <a:t>how an idea is germinated is a mystery; it is not something that can be examined under a microscope. However, most creative ideas can be traced to an individual's </a:t>
            </a:r>
            <a:r>
              <a:rPr lang="en-GB" i="1" dirty="0"/>
              <a:t>interest in </a:t>
            </a:r>
            <a:r>
              <a:rPr lang="en-GB" dirty="0"/>
              <a:t>or </a:t>
            </a:r>
            <a:r>
              <a:rPr lang="en-GB" i="1" dirty="0"/>
              <a:t>curiosity about </a:t>
            </a:r>
            <a:r>
              <a:rPr lang="en-GB" dirty="0"/>
              <a:t>a specific problem or area of study.</a:t>
            </a:r>
          </a:p>
          <a:p>
            <a:endParaRPr lang="en-GB"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36712"/>
          </a:xfrm>
        </p:spPr>
        <p:txBody>
          <a:bodyPr>
            <a:normAutofit/>
          </a:bodyPr>
          <a:lstStyle/>
          <a:p>
            <a:r>
              <a:rPr lang="en-GB" b="1" dirty="0" smtClean="0"/>
              <a:t>Preparation.</a:t>
            </a:r>
            <a:endParaRPr lang="en-GB" dirty="0"/>
          </a:p>
        </p:txBody>
      </p:sp>
      <p:sp>
        <p:nvSpPr>
          <p:cNvPr id="3" name="Content Placeholder 2"/>
          <p:cNvSpPr>
            <a:spLocks noGrp="1"/>
          </p:cNvSpPr>
          <p:nvPr>
            <p:ph sz="quarter" idx="1"/>
          </p:nvPr>
        </p:nvSpPr>
        <p:spPr>
          <a:xfrm>
            <a:off x="457200" y="908720"/>
            <a:ext cx="8229600" cy="5949280"/>
          </a:xfrm>
        </p:spPr>
        <p:txBody>
          <a:bodyPr>
            <a:normAutofit/>
          </a:bodyPr>
          <a:lstStyle/>
          <a:p>
            <a:r>
              <a:rPr lang="en-GB" sz="3200" b="1" dirty="0"/>
              <a:t>Preparation. </a:t>
            </a:r>
            <a:r>
              <a:rPr lang="en-GB" sz="3200" dirty="0"/>
              <a:t>Once a seed of curiosity has taken form as a focused idea, creative people embark on a conscious search for answers</a:t>
            </a:r>
            <a:r>
              <a:rPr lang="en-GB" sz="3200" dirty="0" smtClean="0"/>
              <a:t>. </a:t>
            </a:r>
            <a:endParaRPr lang="en-GB" sz="3200" dirty="0" smtClean="0"/>
          </a:p>
          <a:p>
            <a:pPr>
              <a:buNone/>
            </a:pPr>
            <a:endParaRPr lang="en-GB" sz="3200" dirty="0" smtClean="0"/>
          </a:p>
          <a:p>
            <a:r>
              <a:rPr lang="en-GB" sz="3200" dirty="0" smtClean="0"/>
              <a:t>If </a:t>
            </a:r>
            <a:r>
              <a:rPr lang="en-GB" sz="3200" dirty="0"/>
              <a:t>it is a problem they are trying to solve-such as Bell's determination to help those with impaired hearing-then they begin an intellectual journey, seeking information about the problem and how others have tried to resolve it. </a:t>
            </a:r>
            <a:endParaRPr lang="en-GB" sz="3200" dirty="0" smtClean="0"/>
          </a:p>
          <a:p>
            <a:endParaRPr lang="en-GB" dirty="0" smtClean="0"/>
          </a:p>
          <a:p>
            <a:endParaRPr lang="en-GB"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1052736"/>
          </a:xfrm>
        </p:spPr>
        <p:txBody>
          <a:bodyPr/>
          <a:lstStyle/>
          <a:p>
            <a:r>
              <a:rPr lang="en-GB" b="1" dirty="0" smtClean="0"/>
              <a:t>Preparation.</a:t>
            </a:r>
            <a:endParaRPr lang="en-GB" dirty="0"/>
          </a:p>
        </p:txBody>
      </p:sp>
      <p:sp>
        <p:nvSpPr>
          <p:cNvPr id="3" name="Content Placeholder 2"/>
          <p:cNvSpPr>
            <a:spLocks noGrp="1"/>
          </p:cNvSpPr>
          <p:nvPr>
            <p:ph sz="quarter" idx="1"/>
          </p:nvPr>
        </p:nvSpPr>
        <p:spPr>
          <a:xfrm>
            <a:off x="914400" y="1052736"/>
            <a:ext cx="7772400" cy="5544616"/>
          </a:xfrm>
        </p:spPr>
        <p:txBody>
          <a:bodyPr>
            <a:normAutofit/>
          </a:bodyPr>
          <a:lstStyle/>
          <a:p>
            <a:r>
              <a:rPr lang="en-GB" dirty="0" smtClean="0"/>
              <a:t>If it is an idea for a new product or service, the business equivalent is market research. Inventors will set up laboratory experiments, designers will begin engineering new product ideas, and marketers will study consumer-buying habits.</a:t>
            </a:r>
          </a:p>
          <a:p>
            <a:endParaRPr lang="en-GB" dirty="0" smtClean="0"/>
          </a:p>
          <a:p>
            <a:r>
              <a:rPr lang="en-GB" dirty="0" smtClean="0"/>
              <a:t> Any individual with an idea will consequently think about it, concentrating his or her energies on rational extensions of the idea and how it might become a reality. In rare instances, the preparation stage will produce results. More often, conscious deliberation will only overload the mind, but the effort is important in order to gather information and knowledge vital to an eventual solution.</a:t>
            </a:r>
          </a:p>
          <a:p>
            <a:endParaRPr lang="en-GB"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r>
              <a:rPr lang="en-GB" b="1" dirty="0" smtClean="0"/>
              <a:t>Incubation</a:t>
            </a:r>
            <a:endParaRPr lang="en-GB" dirty="0"/>
          </a:p>
        </p:txBody>
      </p:sp>
      <p:sp>
        <p:nvSpPr>
          <p:cNvPr id="3" name="Content Placeholder 2"/>
          <p:cNvSpPr>
            <a:spLocks noGrp="1"/>
          </p:cNvSpPr>
          <p:nvPr>
            <p:ph sz="quarter" idx="1"/>
          </p:nvPr>
        </p:nvSpPr>
        <p:spPr>
          <a:xfrm>
            <a:off x="457200" y="1124744"/>
            <a:ext cx="8229600" cy="5544616"/>
          </a:xfrm>
        </p:spPr>
        <p:txBody>
          <a:bodyPr/>
          <a:lstStyle/>
          <a:p>
            <a:endParaRPr lang="en-GB" b="1" dirty="0" smtClean="0"/>
          </a:p>
          <a:p>
            <a:r>
              <a:rPr lang="en-GB" sz="3200" b="1" dirty="0" smtClean="0"/>
              <a:t>Incubation</a:t>
            </a:r>
            <a:r>
              <a:rPr lang="en-GB" sz="3200" b="1" dirty="0"/>
              <a:t>. </a:t>
            </a:r>
            <a:r>
              <a:rPr lang="en-GB" sz="3200" dirty="0"/>
              <a:t>Individuals sometimes concentrate intensely on an idea, but, more often, they simply allow ideas time to grow without intentional effort. </a:t>
            </a:r>
            <a:endParaRPr lang="en-GB" sz="3200" dirty="0" smtClean="0"/>
          </a:p>
          <a:p>
            <a:endParaRPr lang="en-GB" sz="3200" dirty="0" smtClean="0"/>
          </a:p>
          <a:p>
            <a:r>
              <a:rPr lang="en-GB" sz="3200" dirty="0" smtClean="0"/>
              <a:t>The </a:t>
            </a:r>
            <a:r>
              <a:rPr lang="en-GB" sz="3200" dirty="0"/>
              <a:t>idea, once seeded and given substance through preparation, is put on a back burner; the subconscious mind is allowed time to assimilate information.</a:t>
            </a:r>
          </a:p>
          <a:p>
            <a:endParaRPr lang="en-GB"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52736"/>
          </a:xfrm>
        </p:spPr>
        <p:txBody>
          <a:bodyPr/>
          <a:lstStyle/>
          <a:p>
            <a:r>
              <a:rPr lang="en-GB" b="1" dirty="0" smtClean="0"/>
              <a:t>Illumination</a:t>
            </a:r>
            <a:endParaRPr lang="en-GB" dirty="0"/>
          </a:p>
        </p:txBody>
      </p:sp>
      <p:sp>
        <p:nvSpPr>
          <p:cNvPr id="3" name="Content Placeholder 2"/>
          <p:cNvSpPr>
            <a:spLocks noGrp="1"/>
          </p:cNvSpPr>
          <p:nvPr>
            <p:ph sz="quarter" idx="1"/>
          </p:nvPr>
        </p:nvSpPr>
        <p:spPr>
          <a:xfrm>
            <a:off x="457200" y="980728"/>
            <a:ext cx="8229600" cy="5877272"/>
          </a:xfrm>
        </p:spPr>
        <p:txBody>
          <a:bodyPr>
            <a:normAutofit/>
          </a:bodyPr>
          <a:lstStyle/>
          <a:p>
            <a:endParaRPr lang="en-GB" b="1" dirty="0" smtClean="0"/>
          </a:p>
          <a:p>
            <a:r>
              <a:rPr lang="en-GB" sz="3200" b="1" dirty="0" smtClean="0"/>
              <a:t>Illumination</a:t>
            </a:r>
            <a:r>
              <a:rPr lang="en-GB" sz="3200" b="1" dirty="0"/>
              <a:t>. </a:t>
            </a:r>
            <a:r>
              <a:rPr lang="en-GB" sz="3200" dirty="0"/>
              <a:t>The fourth stage, illumination, occurs when the idea resurfaces as a realistic creation. There will be a moment in time when the individual can say, “0h, I see</a:t>
            </a:r>
            <a:r>
              <a:rPr lang="en-GB" sz="3200" dirty="0" smtClean="0"/>
              <a:t>!”</a:t>
            </a:r>
          </a:p>
          <a:p>
            <a:endParaRPr lang="en-GB" sz="3200" dirty="0"/>
          </a:p>
          <a:p>
            <a:r>
              <a:rPr lang="en-GB" sz="3200" dirty="0"/>
              <a:t>Illumination may be triggered by an opportune </a:t>
            </a:r>
            <a:r>
              <a:rPr lang="en-GB" sz="3200" dirty="0" smtClean="0"/>
              <a:t>incident. The </a:t>
            </a:r>
            <a:r>
              <a:rPr lang="en-GB" sz="3200" dirty="0"/>
              <a:t>point, of course, is that he was prepared and the idea was incubated. Bell was ready for an opportune incident and able to recognise its importance when it occurred.</a:t>
            </a:r>
          </a:p>
          <a:p>
            <a:pPr>
              <a:buNone/>
            </a:pPr>
            <a:endParaRPr lang="en-GB"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GB" b="1" dirty="0" smtClean="0"/>
              <a:t>Illumination</a:t>
            </a:r>
            <a:endParaRPr lang="en-GB" dirty="0"/>
          </a:p>
        </p:txBody>
      </p:sp>
      <p:sp>
        <p:nvSpPr>
          <p:cNvPr id="3" name="Content Placeholder 2"/>
          <p:cNvSpPr>
            <a:spLocks noGrp="1"/>
          </p:cNvSpPr>
          <p:nvPr>
            <p:ph sz="quarter" idx="1"/>
          </p:nvPr>
        </p:nvSpPr>
        <p:spPr>
          <a:xfrm>
            <a:off x="457200" y="1268760"/>
            <a:ext cx="8229600" cy="5400600"/>
          </a:xfrm>
        </p:spPr>
        <p:txBody>
          <a:bodyPr>
            <a:normAutofit/>
          </a:bodyPr>
          <a:lstStyle/>
          <a:p>
            <a:r>
              <a:rPr lang="en-GB" dirty="0"/>
              <a:t>The important point is that most creative people go through many cycles of preparation and incubation, searching for that incident as a catalyst to give their idea full meaning</a:t>
            </a:r>
            <a:r>
              <a:rPr lang="en-GB" dirty="0" smtClean="0"/>
              <a:t>.</a:t>
            </a:r>
          </a:p>
          <a:p>
            <a:pPr>
              <a:buNone/>
            </a:pPr>
            <a:r>
              <a:rPr lang="en-GB" dirty="0" smtClean="0"/>
              <a:t> </a:t>
            </a:r>
            <a:endParaRPr lang="en-GB" dirty="0" smtClean="0"/>
          </a:p>
          <a:p>
            <a:r>
              <a:rPr lang="en-GB" dirty="0" smtClean="0"/>
              <a:t>When </a:t>
            </a:r>
            <a:r>
              <a:rPr lang="en-GB" dirty="0"/>
              <a:t>a cycle of creative behaviour does not result in a catalytic event, the cycle is repeated until the idea blossoms or dies</a:t>
            </a:r>
            <a:r>
              <a:rPr lang="en-GB" dirty="0" smtClean="0"/>
              <a:t>.</a:t>
            </a:r>
          </a:p>
          <a:p>
            <a:pPr>
              <a:buNone/>
            </a:pPr>
            <a:endParaRPr lang="en-GB" dirty="0" smtClean="0"/>
          </a:p>
          <a:p>
            <a:r>
              <a:rPr lang="en-GB" dirty="0" smtClean="0"/>
              <a:t> </a:t>
            </a:r>
            <a:r>
              <a:rPr lang="en-GB" dirty="0"/>
              <a:t>This stage is critical for entrepreneurs because ideas, by themselves, have little meaning. Reaching the illumination stage separates daydreamers and tinkerers from creative people who find a way to transmute value.</a:t>
            </a:r>
          </a:p>
          <a:p>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Verification</a:t>
            </a:r>
            <a:endParaRPr lang="en-GB" dirty="0"/>
          </a:p>
        </p:txBody>
      </p:sp>
      <p:sp>
        <p:nvSpPr>
          <p:cNvPr id="3" name="Content Placeholder 2"/>
          <p:cNvSpPr>
            <a:spLocks noGrp="1"/>
          </p:cNvSpPr>
          <p:nvPr>
            <p:ph sz="quarter" idx="1"/>
          </p:nvPr>
        </p:nvSpPr>
        <p:spPr>
          <a:xfrm>
            <a:off x="457200" y="1052736"/>
            <a:ext cx="8229600" cy="5544616"/>
          </a:xfrm>
        </p:spPr>
        <p:txBody>
          <a:bodyPr>
            <a:normAutofit/>
          </a:bodyPr>
          <a:lstStyle/>
          <a:p>
            <a:r>
              <a:rPr lang="en-GB" b="1" dirty="0"/>
              <a:t>Verification. </a:t>
            </a:r>
            <a:r>
              <a:rPr lang="en-GB" dirty="0"/>
              <a:t>An idea once illuminated in the mind of an individual still has little meaning until verified as realistic and useful. </a:t>
            </a:r>
            <a:r>
              <a:rPr lang="en-GB" dirty="0" smtClean="0"/>
              <a:t>Bell </a:t>
            </a:r>
            <a:r>
              <a:rPr lang="en-GB" dirty="0"/>
              <a:t>understood what the twanging steel reed meant, yet he still had years of work ahead to translate this knowledge into a commercial telephone system. </a:t>
            </a:r>
            <a:endParaRPr lang="en-GB" dirty="0" smtClean="0"/>
          </a:p>
          <a:p>
            <a:r>
              <a:rPr lang="en-GB" dirty="0" smtClean="0"/>
              <a:t>Entrepreneurial </a:t>
            </a:r>
            <a:r>
              <a:rPr lang="en-GB" dirty="0"/>
              <a:t>effort is essential to translate an illuminated idea into a verified, realistic, and useful application. </a:t>
            </a:r>
            <a:endParaRPr lang="en-GB" dirty="0" smtClean="0"/>
          </a:p>
          <a:p>
            <a:pPr>
              <a:buNone/>
            </a:pPr>
            <a:r>
              <a:rPr lang="en-GB" dirty="0"/>
              <a:t> </a:t>
            </a:r>
          </a:p>
          <a:p>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936104"/>
          </a:xfrm>
        </p:spPr>
        <p:txBody>
          <a:bodyPr/>
          <a:lstStyle/>
          <a:p>
            <a:r>
              <a:rPr lang="en-GB" b="1" dirty="0" smtClean="0"/>
              <a:t>Verification</a:t>
            </a:r>
            <a:endParaRPr lang="en-GB" dirty="0"/>
          </a:p>
        </p:txBody>
      </p:sp>
      <p:sp>
        <p:nvSpPr>
          <p:cNvPr id="3" name="Content Placeholder 2"/>
          <p:cNvSpPr>
            <a:spLocks noGrp="1"/>
          </p:cNvSpPr>
          <p:nvPr>
            <p:ph sz="quarter" idx="1"/>
          </p:nvPr>
        </p:nvSpPr>
        <p:spPr>
          <a:xfrm>
            <a:off x="457200" y="1196752"/>
            <a:ext cx="8229600" cy="5112568"/>
          </a:xfrm>
        </p:spPr>
        <p:txBody>
          <a:bodyPr>
            <a:normAutofit/>
          </a:bodyPr>
          <a:lstStyle/>
          <a:p>
            <a:r>
              <a:rPr lang="en-GB" dirty="0" smtClean="0"/>
              <a:t>Verification</a:t>
            </a:r>
            <a:r>
              <a:rPr lang="en-GB" b="1" dirty="0" smtClean="0"/>
              <a:t> </a:t>
            </a:r>
            <a:r>
              <a:rPr lang="en-GB" dirty="0" smtClean="0"/>
              <a:t>is the development stage of refining knowledge into application. This is often tedious and requires perseverance by an individual committed to finding a way to “harvest” the practical results of his or her creation. </a:t>
            </a:r>
          </a:p>
          <a:p>
            <a:r>
              <a:rPr lang="en-GB" dirty="0" smtClean="0"/>
              <a:t>During this stage, many ideas fall by the wayside as they prove to be impossible or to have little value. More often, a good idea has already been developed, or the aspiring entrepreneur finds that competitors already exist. </a:t>
            </a:r>
          </a:p>
          <a:p>
            <a:r>
              <a:rPr lang="en-GB" dirty="0" smtClean="0"/>
              <a:t>Inventors quite often come to this harsh conclusion when they seek to patent their products only to discover similar inventions registered.</a:t>
            </a:r>
          </a:p>
          <a:p>
            <a:endParaRPr lang="en-GB"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r>
              <a:rPr lang="en-GB" b="1" dirty="0" smtClean="0"/>
              <a:t>REVIEW</a:t>
            </a:r>
            <a:endParaRPr lang="en-GB" dirty="0"/>
          </a:p>
        </p:txBody>
      </p:sp>
      <p:sp>
        <p:nvSpPr>
          <p:cNvPr id="3" name="Content Placeholder 2"/>
          <p:cNvSpPr>
            <a:spLocks noGrp="1"/>
          </p:cNvSpPr>
          <p:nvPr>
            <p:ph sz="quarter" idx="1"/>
          </p:nvPr>
        </p:nvSpPr>
        <p:spPr>
          <a:xfrm>
            <a:off x="457200" y="1268760"/>
            <a:ext cx="8229600" cy="5400600"/>
          </a:xfrm>
        </p:spPr>
        <p:txBody>
          <a:bodyPr/>
          <a:lstStyle/>
          <a:p>
            <a:r>
              <a:rPr lang="en-GB" dirty="0" smtClean="0"/>
              <a:t>1</a:t>
            </a:r>
            <a:r>
              <a:rPr lang="en-GB" dirty="0"/>
              <a:t>.	Define creativity and distinguish it from </a:t>
            </a:r>
            <a:r>
              <a:rPr lang="en-GB" dirty="0" smtClean="0"/>
              <a:t>innovation.</a:t>
            </a:r>
          </a:p>
          <a:p>
            <a:pPr>
              <a:buNone/>
              <a:tabLst>
                <a:tab pos="890588" algn="l"/>
              </a:tabLst>
            </a:pPr>
            <a:endParaRPr lang="en-GB" dirty="0" smtClean="0"/>
          </a:p>
          <a:p>
            <a:pPr>
              <a:tabLst>
                <a:tab pos="890588" algn="l"/>
              </a:tabLst>
            </a:pPr>
            <a:r>
              <a:rPr lang="en-GB" dirty="0" smtClean="0"/>
              <a:t>2</a:t>
            </a:r>
            <a:r>
              <a:rPr lang="en-GB" dirty="0"/>
              <a:t>.	Identify the five stages of creativity and </a:t>
            </a:r>
            <a:r>
              <a:rPr lang="en-GB" dirty="0" smtClean="0"/>
              <a:t>explain </a:t>
            </a:r>
            <a:r>
              <a:rPr lang="en-GB" dirty="0"/>
              <a:t>why each is important to the </a:t>
            </a:r>
            <a:r>
              <a:rPr lang="en-GB" dirty="0" smtClean="0"/>
              <a:t>creativity </a:t>
            </a:r>
            <a:r>
              <a:rPr lang="en-GB" dirty="0"/>
              <a:t>process.</a:t>
            </a:r>
          </a:p>
          <a:p>
            <a:endParaRPr lang="en-GB"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INNOVATION AND </a:t>
            </a:r>
            <a:r>
              <a:rPr lang="en-GB" b="1" dirty="0" smtClean="0"/>
              <a:t>ENTREPRENEURSHIP</a:t>
            </a:r>
            <a:endParaRPr lang="en-GB" dirty="0"/>
          </a:p>
        </p:txBody>
      </p:sp>
      <p:sp>
        <p:nvSpPr>
          <p:cNvPr id="3" name="Content Placeholder 2"/>
          <p:cNvSpPr>
            <a:spLocks noGrp="1"/>
          </p:cNvSpPr>
          <p:nvPr>
            <p:ph sz="quarter" idx="1"/>
          </p:nvPr>
        </p:nvSpPr>
        <p:spPr>
          <a:xfrm>
            <a:off x="457200" y="1412776"/>
            <a:ext cx="8229600" cy="5256584"/>
          </a:xfrm>
        </p:spPr>
        <p:txBody>
          <a:bodyPr>
            <a:normAutofit fontScale="77500" lnSpcReduction="20000"/>
          </a:bodyPr>
          <a:lstStyle/>
          <a:p>
            <a:r>
              <a:rPr lang="en-GB" sz="3400" dirty="0"/>
              <a:t>If creativity is the seed that inspires entrepreneurship, innovation is the process of entrepreneurship. This was Schumpeter's conclusion when he wrote about the economic foundations of free enterprise and entrepreneurship. </a:t>
            </a:r>
            <a:endParaRPr lang="en-GB" sz="3400" dirty="0" smtClean="0"/>
          </a:p>
          <a:p>
            <a:endParaRPr lang="en-GB" sz="3400" dirty="0" smtClean="0"/>
          </a:p>
          <a:p>
            <a:r>
              <a:rPr lang="en-GB" sz="3400" dirty="0" err="1" smtClean="0"/>
              <a:t>Drucker</a:t>
            </a:r>
            <a:r>
              <a:rPr lang="en-GB" sz="3400" dirty="0" smtClean="0"/>
              <a:t> </a:t>
            </a:r>
            <a:r>
              <a:rPr lang="en-GB" sz="3400" dirty="0"/>
              <a:t>agrees and elaborates: “Innovation ... is the means by which the entrepreneur either creates new wealth-producing resources or endows existing resources with enhanced potential for creating wealth.”</a:t>
            </a:r>
          </a:p>
          <a:p>
            <a:pPr>
              <a:buNone/>
            </a:pPr>
            <a:endParaRPr lang="en-GB" sz="3400" dirty="0"/>
          </a:p>
          <a:p>
            <a:r>
              <a:rPr lang="en-GB" sz="3400" dirty="0"/>
              <a:t>Earlier, we defined innovation as the process of doing new things. It is important to recognise that innovation implies action, not just conceiving new ideas. When people have passed through the illumination and verification stages of creativity, they may have become inventors, but they are not yet innovators. </a:t>
            </a:r>
          </a:p>
          <a:p>
            <a:endParaRPr lang="en-GB"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INVENTIONS</a:t>
            </a:r>
            <a:endParaRPr lang="en-GB" dirty="0"/>
          </a:p>
        </p:txBody>
      </p:sp>
      <p:sp>
        <p:nvSpPr>
          <p:cNvPr id="3" name="Content Placeholder 2"/>
          <p:cNvSpPr>
            <a:spLocks noGrp="1"/>
          </p:cNvSpPr>
          <p:nvPr>
            <p:ph sz="quarter" idx="1"/>
          </p:nvPr>
        </p:nvSpPr>
        <p:spPr>
          <a:xfrm>
            <a:off x="457200" y="1340768"/>
            <a:ext cx="8229600" cy="5517232"/>
          </a:xfrm>
        </p:spPr>
        <p:txBody>
          <a:bodyPr>
            <a:normAutofit lnSpcReduction="10000"/>
          </a:bodyPr>
          <a:lstStyle/>
          <a:p>
            <a:r>
              <a:rPr lang="en-GB" dirty="0"/>
              <a:t>Inventors are not limited to those who create new products. They include those who identify new technological processes, new forms of plant life, and new </a:t>
            </a:r>
            <a:r>
              <a:rPr lang="en-GB" dirty="0" smtClean="0"/>
              <a:t>designs</a:t>
            </a:r>
            <a:r>
              <a:rPr lang="en-GB" dirty="0" smtClean="0"/>
              <a:t>.</a:t>
            </a:r>
          </a:p>
          <a:p>
            <a:pPr>
              <a:buNone/>
            </a:pPr>
            <a:r>
              <a:rPr lang="en-GB" dirty="0" smtClean="0"/>
              <a:t> </a:t>
            </a:r>
            <a:endParaRPr lang="en-GB" dirty="0" smtClean="0"/>
          </a:p>
          <a:p>
            <a:r>
              <a:rPr lang="en-GB" dirty="0" smtClean="0"/>
              <a:t>Each </a:t>
            </a:r>
            <a:r>
              <a:rPr lang="en-GB" dirty="0"/>
              <a:t>of these, incidentally, can lead to new patents, as we shall discus later. </a:t>
            </a:r>
            <a:endParaRPr lang="en-GB" dirty="0" smtClean="0"/>
          </a:p>
          <a:p>
            <a:pPr>
              <a:buNone/>
            </a:pPr>
            <a:endParaRPr lang="en-GB" dirty="0" smtClean="0"/>
          </a:p>
          <a:p>
            <a:r>
              <a:rPr lang="en-GB" dirty="0" smtClean="0"/>
              <a:t>Inventors </a:t>
            </a:r>
            <a:r>
              <a:rPr lang="en-GB" dirty="0"/>
              <a:t>usually are stereotyped as people who deal with "things," such as new products, but most inventions have dealt with new processes or new technical knowledge. Our examples of Bell's harmonic sound transmission and Edison's electric power system illustrate the point, and many new products (and entire industries) were founded on their ideas.</a:t>
            </a:r>
          </a:p>
          <a:p>
            <a:endParaRPr lang="en-GB"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dirty="0" smtClean="0"/>
              <a:t>INNOVATION</a:t>
            </a:r>
            <a:endParaRPr lang="en-GB" dirty="0"/>
          </a:p>
        </p:txBody>
      </p:sp>
      <p:sp>
        <p:nvSpPr>
          <p:cNvPr id="3" name="Content Placeholder 2"/>
          <p:cNvSpPr>
            <a:spLocks noGrp="1"/>
          </p:cNvSpPr>
          <p:nvPr>
            <p:ph sz="quarter" idx="1"/>
          </p:nvPr>
        </p:nvSpPr>
        <p:spPr>
          <a:xfrm>
            <a:off x="457200" y="980728"/>
            <a:ext cx="8229600" cy="5688632"/>
          </a:xfrm>
        </p:spPr>
        <p:txBody>
          <a:bodyPr>
            <a:normAutofit/>
          </a:bodyPr>
          <a:lstStyle/>
          <a:p>
            <a:r>
              <a:rPr lang="en-GB" dirty="0" smtClean="0"/>
              <a:t>For </a:t>
            </a:r>
            <a:r>
              <a:rPr lang="en-GB" dirty="0"/>
              <a:t>an idea to have value, it must be proven useful or be marketable, and to achieve either status, the idea must be developed. </a:t>
            </a:r>
            <a:endParaRPr lang="en-GB" dirty="0" smtClean="0"/>
          </a:p>
          <a:p>
            <a:r>
              <a:rPr lang="en-GB" dirty="0" smtClean="0"/>
              <a:t>Innovation </a:t>
            </a:r>
            <a:r>
              <a:rPr lang="en-GB" dirty="0"/>
              <a:t>is the development </a:t>
            </a:r>
            <a:r>
              <a:rPr lang="en-GB" dirty="0" smtClean="0"/>
              <a:t>process</a:t>
            </a:r>
            <a:r>
              <a:rPr lang="en-GB" dirty="0"/>
              <a:t>.</a:t>
            </a:r>
            <a:r>
              <a:rPr lang="en-GB" dirty="0" smtClean="0"/>
              <a:t> </a:t>
            </a:r>
          </a:p>
          <a:p>
            <a:r>
              <a:rPr lang="en-GB" dirty="0" smtClean="0"/>
              <a:t>It </a:t>
            </a:r>
            <a:r>
              <a:rPr lang="en-GB" dirty="0"/>
              <a:t>is the translation of an idea into an application. </a:t>
            </a:r>
            <a:endParaRPr lang="en-GB" dirty="0" smtClean="0"/>
          </a:p>
          <a:p>
            <a:pPr lvl="1"/>
            <a:r>
              <a:rPr lang="en-GB" dirty="0" smtClean="0"/>
              <a:t>It </a:t>
            </a:r>
            <a:r>
              <a:rPr lang="en-GB" dirty="0"/>
              <a:t>requires persistence in analytically working out the details of product design or service, </a:t>
            </a:r>
            <a:endParaRPr lang="en-GB" dirty="0" smtClean="0"/>
          </a:p>
          <a:p>
            <a:pPr lvl="1"/>
            <a:r>
              <a:rPr lang="en-GB" dirty="0" smtClean="0"/>
              <a:t>to </a:t>
            </a:r>
            <a:r>
              <a:rPr lang="en-GB" dirty="0"/>
              <a:t>develop marketing, </a:t>
            </a:r>
            <a:endParaRPr lang="en-GB" dirty="0" smtClean="0"/>
          </a:p>
          <a:p>
            <a:pPr lvl="1"/>
            <a:r>
              <a:rPr lang="en-GB" dirty="0" smtClean="0"/>
              <a:t>obtain </a:t>
            </a:r>
            <a:r>
              <a:rPr lang="en-GB" dirty="0"/>
              <a:t>finances, </a:t>
            </a:r>
            <a:endParaRPr lang="en-GB" dirty="0" smtClean="0"/>
          </a:p>
          <a:p>
            <a:pPr lvl="1"/>
            <a:r>
              <a:rPr lang="en-GB" dirty="0" smtClean="0"/>
              <a:t>and </a:t>
            </a:r>
            <a:r>
              <a:rPr lang="en-GB" dirty="0"/>
              <a:t>plan operations. </a:t>
            </a:r>
            <a:endParaRPr lang="en-GB" dirty="0" smtClean="0"/>
          </a:p>
          <a:p>
            <a:pPr lvl="1"/>
            <a:r>
              <a:rPr lang="en-GB" dirty="0" smtClean="0"/>
              <a:t>If </a:t>
            </a:r>
            <a:r>
              <a:rPr lang="en-GB" dirty="0"/>
              <a:t>the entrepreneur is going to manufacture a product, the process includes obtaining materials and technical manufacturing capabilities, staffing operations, and establishing an organisation.</a:t>
            </a:r>
          </a:p>
          <a:p>
            <a:endParaRPr lang="en-GB"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GB" b="1" dirty="0"/>
              <a:t>Technological </a:t>
            </a:r>
            <a:r>
              <a:rPr lang="en-GB" b="1" dirty="0" smtClean="0"/>
              <a:t>Innovation</a:t>
            </a:r>
            <a:endParaRPr lang="en-GB" dirty="0"/>
          </a:p>
        </p:txBody>
      </p:sp>
      <p:sp>
        <p:nvSpPr>
          <p:cNvPr id="3" name="Content Placeholder 2"/>
          <p:cNvSpPr>
            <a:spLocks noGrp="1"/>
          </p:cNvSpPr>
          <p:nvPr>
            <p:ph sz="quarter" idx="1"/>
          </p:nvPr>
        </p:nvSpPr>
        <p:spPr>
          <a:xfrm>
            <a:off x="457200" y="1052736"/>
            <a:ext cx="8229600" cy="5616624"/>
          </a:xfrm>
        </p:spPr>
        <p:txBody>
          <a:bodyPr>
            <a:normAutofit/>
          </a:bodyPr>
          <a:lstStyle/>
          <a:p>
            <a:r>
              <a:rPr lang="en-GB" dirty="0" smtClean="0"/>
              <a:t>A </a:t>
            </a:r>
            <a:r>
              <a:rPr lang="en-GB" dirty="0"/>
              <a:t>general model of technological innovation is shown in Figure 2-3. </a:t>
            </a:r>
            <a:endParaRPr lang="en-GB" dirty="0" smtClean="0"/>
          </a:p>
          <a:p>
            <a:r>
              <a:rPr lang="en-GB" dirty="0" smtClean="0"/>
              <a:t>A </a:t>
            </a:r>
            <a:r>
              <a:rPr lang="en-GB" dirty="0"/>
              <a:t>number of industrial studies reveal that for a technological innovation to succeed, there are three important people involved and seven important conditions to satisfy. </a:t>
            </a:r>
            <a:endParaRPr lang="en-GB" dirty="0" smtClean="0"/>
          </a:p>
          <a:p>
            <a:r>
              <a:rPr lang="en-GB" dirty="0" smtClean="0"/>
              <a:t>The </a:t>
            </a:r>
            <a:r>
              <a:rPr lang="en-GB" dirty="0"/>
              <a:t>combination of these people and conditions satisfies the need for creativity and implementation. </a:t>
            </a:r>
            <a:endParaRPr lang="en-GB" dirty="0" smtClean="0"/>
          </a:p>
          <a:p>
            <a:r>
              <a:rPr lang="en-GB" dirty="0" smtClean="0"/>
              <a:t>The </a:t>
            </a:r>
            <a:r>
              <a:rPr lang="en-GB" dirty="0"/>
              <a:t>three key people are the creative source, the champion, and the sponsor.</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Key People in Technological Innovation</a:t>
            </a:r>
            <a:endParaRPr lang="en-GB" dirty="0"/>
          </a:p>
        </p:txBody>
      </p:sp>
      <p:sp>
        <p:nvSpPr>
          <p:cNvPr id="3" name="Content Placeholder 2"/>
          <p:cNvSpPr>
            <a:spLocks noGrp="1"/>
          </p:cNvSpPr>
          <p:nvPr>
            <p:ph sz="quarter" idx="1"/>
          </p:nvPr>
        </p:nvSpPr>
        <p:spPr>
          <a:xfrm>
            <a:off x="457200" y="1600200"/>
            <a:ext cx="8229600" cy="5069160"/>
          </a:xfrm>
        </p:spPr>
        <p:txBody>
          <a:bodyPr>
            <a:normAutofit/>
          </a:bodyPr>
          <a:lstStyle/>
          <a:p>
            <a:r>
              <a:rPr lang="en-GB" i="1" dirty="0"/>
              <a:t>Creative source: </a:t>
            </a:r>
            <a:r>
              <a:rPr lang="en-GB" dirty="0"/>
              <a:t>The inventor or originator of the idea that led to the knowledge or vision of something new; the artist of creative endeavour.</a:t>
            </a:r>
          </a:p>
          <a:p>
            <a:r>
              <a:rPr lang="en-GB" i="1" dirty="0"/>
              <a:t>Champion</a:t>
            </a:r>
            <a:r>
              <a:rPr lang="en-GB" b="1" i="1" dirty="0"/>
              <a:t>.:</a:t>
            </a:r>
            <a:r>
              <a:rPr lang="en-GB" i="1" dirty="0"/>
              <a:t> </a:t>
            </a:r>
            <a:r>
              <a:rPr lang="en-GB" dirty="0"/>
              <a:t>The entrepreneur or manager who pursues the idea, planning its application, acquiring resources, and establishing its markets through per­sistence, planning, organising, and leadership.</a:t>
            </a:r>
          </a:p>
          <a:p>
            <a:r>
              <a:rPr lang="en-GB" i="1" dirty="0"/>
              <a:t>Sponsor: </a:t>
            </a:r>
            <a:r>
              <a:rPr lang="en-GB" dirty="0"/>
              <a:t>The person or organisation that makes possible the champion's activ­ities and the inventor's dreams through support, including finances, contacts, and advice.</a:t>
            </a:r>
          </a:p>
          <a:p>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creative source &amp; Co</a:t>
            </a:r>
            <a:endParaRPr lang="en-GB" dirty="0"/>
          </a:p>
        </p:txBody>
      </p:sp>
      <p:sp>
        <p:nvSpPr>
          <p:cNvPr id="3" name="Content Placeholder 2"/>
          <p:cNvSpPr>
            <a:spLocks noGrp="1"/>
          </p:cNvSpPr>
          <p:nvPr>
            <p:ph sz="quarter" idx="1"/>
          </p:nvPr>
        </p:nvSpPr>
        <p:spPr>
          <a:xfrm>
            <a:off x="467544" y="1340768"/>
            <a:ext cx="8229600" cy="5256584"/>
          </a:xfrm>
        </p:spPr>
        <p:txBody>
          <a:bodyPr>
            <a:normAutofit/>
          </a:bodyPr>
          <a:lstStyle/>
          <a:p>
            <a:r>
              <a:rPr lang="en-GB" dirty="0"/>
              <a:t>The creative source is an individual; organisations do not create ideas or incubate fantasies. </a:t>
            </a:r>
            <a:endParaRPr lang="en-GB" dirty="0" smtClean="0"/>
          </a:p>
          <a:p>
            <a:r>
              <a:rPr lang="en-GB" dirty="0" smtClean="0"/>
              <a:t>The </a:t>
            </a:r>
            <a:r>
              <a:rPr lang="en-GB" dirty="0"/>
              <a:t>champion is also an individual-perhaps the creative source, or an entrepreneur who joins with the inventor, or a corporate manager who has the insight to help pursue a creative idea. </a:t>
            </a:r>
            <a:endParaRPr lang="en-GB" dirty="0" smtClean="0"/>
          </a:p>
          <a:p>
            <a:r>
              <a:rPr lang="en-GB" dirty="0" smtClean="0"/>
              <a:t>The </a:t>
            </a:r>
            <a:r>
              <a:rPr lang="en-GB" dirty="0"/>
              <a:t>sponsor may be an investor (such as a venture capitalist), or an organisation, such as 3M, where corporate resources are allocated to innovative projects and their champions.</a:t>
            </a:r>
          </a:p>
          <a:p>
            <a:endParaRPr lang="en-GB"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a:t>
            </a:r>
            <a:r>
              <a:rPr lang="en-GB" dirty="0" smtClean="0"/>
              <a:t>even </a:t>
            </a:r>
            <a:r>
              <a:rPr lang="en-GB" dirty="0"/>
              <a:t>C</a:t>
            </a:r>
            <a:r>
              <a:rPr lang="en-GB" dirty="0" smtClean="0"/>
              <a:t>onditions</a:t>
            </a:r>
            <a:endParaRPr lang="en-GB" dirty="0"/>
          </a:p>
        </p:txBody>
      </p:sp>
      <p:sp>
        <p:nvSpPr>
          <p:cNvPr id="3" name="Content Placeholder 2"/>
          <p:cNvSpPr>
            <a:spLocks noGrp="1"/>
          </p:cNvSpPr>
          <p:nvPr>
            <p:ph sz="quarter" idx="1"/>
          </p:nvPr>
        </p:nvSpPr>
        <p:spPr>
          <a:xfrm>
            <a:off x="457200" y="1600200"/>
            <a:ext cx="8229600" cy="4997152"/>
          </a:xfrm>
        </p:spPr>
        <p:txBody>
          <a:bodyPr>
            <a:normAutofit/>
          </a:bodyPr>
          <a:lstStyle/>
          <a:p>
            <a:r>
              <a:rPr lang="en-GB" dirty="0"/>
              <a:t>The seven conditions required for success in technological innovation are related partially to the success of the three key people involved and partially to the environment in which innovation takes place. </a:t>
            </a:r>
            <a:endParaRPr lang="en-GB" dirty="0" smtClean="0"/>
          </a:p>
          <a:p>
            <a:r>
              <a:rPr lang="en-GB" dirty="0" smtClean="0"/>
              <a:t>Although </a:t>
            </a:r>
            <a:r>
              <a:rPr lang="en-GB" dirty="0"/>
              <a:t>these conditions were derived from corporate studies in research and development, they apply equally to new entrepreneurial ventures, and they include the following:</a:t>
            </a:r>
          </a:p>
          <a:p>
            <a:endParaRPr lang="en-GB"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r>
              <a:rPr lang="en-GB" dirty="0"/>
              <a:t>S</a:t>
            </a:r>
            <a:r>
              <a:rPr lang="en-GB" dirty="0" smtClean="0"/>
              <a:t>even Conditions</a:t>
            </a:r>
            <a:endParaRPr lang="en-GB" dirty="0"/>
          </a:p>
        </p:txBody>
      </p:sp>
      <p:sp>
        <p:nvSpPr>
          <p:cNvPr id="3" name="Content Placeholder 2"/>
          <p:cNvSpPr>
            <a:spLocks noGrp="1"/>
          </p:cNvSpPr>
          <p:nvPr>
            <p:ph sz="quarter" idx="1"/>
          </p:nvPr>
        </p:nvSpPr>
        <p:spPr>
          <a:xfrm>
            <a:off x="457200" y="1124744"/>
            <a:ext cx="8229600" cy="5733256"/>
          </a:xfrm>
        </p:spPr>
        <p:txBody>
          <a:bodyPr>
            <a:normAutofit/>
          </a:bodyPr>
          <a:lstStyle/>
          <a:p>
            <a:pPr marL="360363" indent="-360363">
              <a:tabLst>
                <a:tab pos="900113" algn="l"/>
              </a:tabLst>
            </a:pPr>
            <a:r>
              <a:rPr lang="en-GB" dirty="0"/>
              <a:t>1.	An outstanding person in an executive leadership position </a:t>
            </a:r>
            <a:r>
              <a:rPr lang="en-GB" dirty="0" smtClean="0"/>
              <a:t>	to support </a:t>
            </a:r>
            <a:r>
              <a:rPr lang="en-GB" dirty="0"/>
              <a:t>strategic decisions that encourage creativity and </a:t>
            </a:r>
            <a:r>
              <a:rPr lang="en-GB" dirty="0" smtClean="0"/>
              <a:t>	innovation </a:t>
            </a:r>
            <a:r>
              <a:rPr lang="en-GB" dirty="0" smtClean="0"/>
              <a:t>development.</a:t>
            </a:r>
          </a:p>
          <a:p>
            <a:pPr marL="360363" indent="-360363">
              <a:buNone/>
              <a:tabLst>
                <a:tab pos="900113" algn="l"/>
              </a:tabLst>
            </a:pPr>
            <a:endParaRPr lang="en-GB" dirty="0" smtClean="0"/>
          </a:p>
          <a:p>
            <a:pPr marL="360363" indent="-360363">
              <a:tabLst>
                <a:tab pos="900113" algn="l"/>
              </a:tabLst>
            </a:pPr>
            <a:r>
              <a:rPr lang="en-GB" dirty="0" smtClean="0"/>
              <a:t>2.	</a:t>
            </a:r>
            <a:r>
              <a:rPr lang="en-GB" dirty="0" smtClean="0"/>
              <a:t>An </a:t>
            </a:r>
            <a:r>
              <a:rPr lang="en-GB" dirty="0"/>
              <a:t>operational leader to carry out the essential tasks of </a:t>
            </a:r>
            <a:r>
              <a:rPr lang="en-GB" dirty="0" smtClean="0"/>
              <a:t>	converting </a:t>
            </a:r>
            <a:r>
              <a:rPr lang="en-GB" dirty="0"/>
              <a:t>knowledge into a commercial application</a:t>
            </a:r>
            <a:r>
              <a:rPr lang="en-GB" dirty="0" smtClean="0"/>
              <a:t>.</a:t>
            </a:r>
          </a:p>
          <a:p>
            <a:pPr marL="360363" indent="-360363">
              <a:buNone/>
              <a:tabLst>
                <a:tab pos="900113" algn="l"/>
              </a:tabLst>
            </a:pPr>
            <a:endParaRPr lang="en-GB" dirty="0"/>
          </a:p>
          <a:p>
            <a:r>
              <a:rPr lang="en-GB" dirty="0"/>
              <a:t>3.	A clear need for the application by sufficient potential </a:t>
            </a:r>
            <a:r>
              <a:rPr lang="en-GB" dirty="0" smtClean="0"/>
              <a:t>	consumers </a:t>
            </a:r>
            <a:r>
              <a:rPr lang="en-GB" dirty="0"/>
              <a:t>to warrant the commitment of resources to the </a:t>
            </a:r>
            <a:r>
              <a:rPr lang="en-GB" dirty="0" smtClean="0"/>
              <a:t>	</a:t>
            </a:r>
            <a:r>
              <a:rPr lang="en-GB" dirty="0" smtClean="0"/>
              <a:t>innovation.</a:t>
            </a:r>
          </a:p>
          <a:p>
            <a:pPr>
              <a:buNone/>
            </a:pPr>
            <a:endParaRPr lang="en-GB" dirty="0" smtClean="0"/>
          </a:p>
          <a:p>
            <a:r>
              <a:rPr lang="en-GB" dirty="0" smtClean="0"/>
              <a:t>4,	</a:t>
            </a:r>
            <a:r>
              <a:rPr lang="en-GB" dirty="0" smtClean="0"/>
              <a:t>The </a:t>
            </a:r>
            <a:r>
              <a:rPr lang="en-GB" dirty="0"/>
              <a:t>realisations of the product, process, or service as a </a:t>
            </a:r>
            <a:r>
              <a:rPr lang="en-GB" dirty="0" smtClean="0"/>
              <a:t>	useful </a:t>
            </a:r>
            <a:r>
              <a:rPr lang="en-GB" dirty="0" smtClean="0"/>
              <a:t>	innovation </a:t>
            </a:r>
            <a:r>
              <a:rPr lang="en-GB" dirty="0"/>
              <a:t>providing value to society</a:t>
            </a:r>
            <a:r>
              <a:rPr lang="en-GB" dirty="0" smtClean="0"/>
              <a:t>.</a:t>
            </a:r>
            <a:endParaRPr lang="en-GB"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r>
              <a:rPr lang="en-GB" dirty="0" smtClean="0"/>
              <a:t>Seven Conditions</a:t>
            </a:r>
            <a:endParaRPr lang="en-GB" dirty="0"/>
          </a:p>
        </p:txBody>
      </p:sp>
      <p:sp>
        <p:nvSpPr>
          <p:cNvPr id="3" name="Content Placeholder 2"/>
          <p:cNvSpPr>
            <a:spLocks noGrp="1"/>
          </p:cNvSpPr>
          <p:nvPr>
            <p:ph sz="quarter" idx="1"/>
          </p:nvPr>
        </p:nvSpPr>
        <p:spPr>
          <a:xfrm>
            <a:off x="467544" y="1340768"/>
            <a:ext cx="8229600" cy="5328592"/>
          </a:xfrm>
        </p:spPr>
        <p:txBody>
          <a:bodyPr>
            <a:normAutofit/>
          </a:bodyPr>
          <a:lstStyle/>
          <a:p>
            <a:pPr>
              <a:tabLst>
                <a:tab pos="1079500" algn="l"/>
              </a:tabLst>
            </a:pPr>
            <a:r>
              <a:rPr lang="en-GB" dirty="0" smtClean="0"/>
              <a:t>5.	Good co-operation among the crucial players and among 	diversified functions in an organisation, all of which, </a:t>
            </a:r>
            <a:r>
              <a:rPr lang="en-GB" dirty="0" smtClean="0"/>
              <a:t>	together</a:t>
            </a:r>
            <a:r>
              <a:rPr lang="en-GB" dirty="0" smtClean="0"/>
              <a:t>, </a:t>
            </a:r>
            <a:r>
              <a:rPr lang="en-GB" dirty="0" smtClean="0"/>
              <a:t>must </a:t>
            </a:r>
            <a:r>
              <a:rPr lang="en-GB" dirty="0" smtClean="0"/>
              <a:t>bring the idea to fruition</a:t>
            </a:r>
            <a:r>
              <a:rPr lang="en-GB" dirty="0" smtClean="0"/>
              <a:t>.</a:t>
            </a:r>
          </a:p>
          <a:p>
            <a:pPr>
              <a:buNone/>
              <a:tabLst>
                <a:tab pos="1079500" algn="l"/>
              </a:tabLst>
            </a:pPr>
            <a:endParaRPr lang="en-GB" dirty="0" smtClean="0"/>
          </a:p>
          <a:p>
            <a:pPr>
              <a:tabLst>
                <a:tab pos="1079500" algn="l"/>
              </a:tabLst>
            </a:pPr>
            <a:r>
              <a:rPr lang="en-GB" dirty="0" smtClean="0"/>
              <a:t>6.	Availability of resources and the supporting technology to 	succeed in the endeavour</a:t>
            </a:r>
            <a:r>
              <a:rPr lang="en-GB" dirty="0" smtClean="0"/>
              <a:t>.</a:t>
            </a:r>
          </a:p>
          <a:p>
            <a:pPr>
              <a:buNone/>
              <a:tabLst>
                <a:tab pos="1079500" algn="l"/>
              </a:tabLst>
            </a:pPr>
            <a:endParaRPr lang="en-GB" dirty="0" smtClean="0"/>
          </a:p>
          <a:p>
            <a:pPr>
              <a:tabLst>
                <a:tab pos="1079500" algn="l"/>
              </a:tabLst>
            </a:pPr>
            <a:r>
              <a:rPr lang="en-GB" dirty="0" smtClean="0"/>
              <a:t>7.	Co-operation and support from external sources who can 	influence the success of an innovation, including </a:t>
            </a:r>
            <a:r>
              <a:rPr lang="en-GB" dirty="0" smtClean="0"/>
              <a:t>	government </a:t>
            </a:r>
            <a:r>
              <a:rPr lang="en-GB" dirty="0" smtClean="0"/>
              <a:t>	agencies, investors, vendors, suppliers, and </a:t>
            </a:r>
            <a:r>
              <a:rPr lang="en-GB" dirty="0" smtClean="0"/>
              <a:t>	creditors</a:t>
            </a:r>
            <a:r>
              <a:rPr lang="en-GB" dirty="0" smtClean="0"/>
              <a:t>.</a:t>
            </a:r>
          </a:p>
          <a:p>
            <a:endParaRPr lang="en-GB"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GB" b="1" dirty="0" smtClean="0"/>
              <a:t>REVIEW</a:t>
            </a:r>
            <a:endParaRPr lang="en-GB" dirty="0"/>
          </a:p>
        </p:txBody>
      </p:sp>
      <p:sp>
        <p:nvSpPr>
          <p:cNvPr id="3" name="Content Placeholder 2"/>
          <p:cNvSpPr>
            <a:spLocks noGrp="1"/>
          </p:cNvSpPr>
          <p:nvPr>
            <p:ph sz="quarter" idx="1"/>
          </p:nvPr>
        </p:nvSpPr>
        <p:spPr>
          <a:xfrm>
            <a:off x="457200" y="1196752"/>
            <a:ext cx="8229600" cy="4929411"/>
          </a:xfrm>
        </p:spPr>
        <p:txBody>
          <a:bodyPr/>
          <a:lstStyle/>
          <a:p>
            <a:pPr lvl="0"/>
            <a:r>
              <a:rPr lang="en-GB" dirty="0" smtClean="0"/>
              <a:t>Explain </a:t>
            </a:r>
            <a:r>
              <a:rPr lang="en-GB" dirty="0"/>
              <a:t>“innovation" and distinguish it from invention. </a:t>
            </a:r>
            <a:endParaRPr lang="en-GB" dirty="0" smtClean="0"/>
          </a:p>
          <a:p>
            <a:pPr lvl="0"/>
            <a:endParaRPr lang="en-GB" dirty="0"/>
          </a:p>
          <a:p>
            <a:pPr lvl="0"/>
            <a:r>
              <a:rPr lang="en-GB" dirty="0"/>
              <a:t>Describe the concept of right- and left-brain processes</a:t>
            </a:r>
            <a:r>
              <a:rPr lang="en-GB" dirty="0" smtClean="0"/>
              <a:t>.</a:t>
            </a:r>
          </a:p>
          <a:p>
            <a:pPr lvl="0">
              <a:buNone/>
            </a:pPr>
            <a:endParaRPr lang="en-GB" dirty="0"/>
          </a:p>
          <a:p>
            <a:pPr lvl="0"/>
            <a:r>
              <a:rPr lang="en-GB" dirty="0"/>
              <a:t>Identify and describe the three key roles and seven conditions important for technological innovation.</a:t>
            </a:r>
          </a:p>
          <a:p>
            <a:endParaRPr lang="en-GB"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980728"/>
          </a:xfrm>
        </p:spPr>
        <p:txBody>
          <a:bodyPr>
            <a:normAutofit fontScale="90000"/>
          </a:bodyPr>
          <a:lstStyle/>
          <a:p>
            <a:r>
              <a:rPr lang="en-GB" b="1" dirty="0"/>
              <a:t>OPPORTUNITIES THROUGH CHANGE</a:t>
            </a:r>
            <a:endParaRPr lang="en-GB" dirty="0"/>
          </a:p>
        </p:txBody>
      </p:sp>
      <p:sp>
        <p:nvSpPr>
          <p:cNvPr id="3" name="Content Placeholder 2"/>
          <p:cNvSpPr>
            <a:spLocks noGrp="1"/>
          </p:cNvSpPr>
          <p:nvPr>
            <p:ph sz="quarter" idx="1"/>
          </p:nvPr>
        </p:nvSpPr>
        <p:spPr>
          <a:xfrm>
            <a:off x="457200" y="1124744"/>
            <a:ext cx="8229600" cy="5544616"/>
          </a:xfrm>
        </p:spPr>
        <p:txBody>
          <a:bodyPr>
            <a:normAutofit lnSpcReduction="10000"/>
          </a:bodyPr>
          <a:lstStyle/>
          <a:p>
            <a:r>
              <a:rPr lang="en-GB" dirty="0"/>
              <a:t>Entrepreneurs tend to be “strategic thinkers” who recognise changes and see opportunities where others do not. </a:t>
            </a:r>
            <a:endParaRPr lang="en-GB" dirty="0" smtClean="0"/>
          </a:p>
          <a:p>
            <a:pPr>
              <a:buNone/>
            </a:pPr>
            <a:endParaRPr lang="en-GB" dirty="0" smtClean="0"/>
          </a:p>
          <a:p>
            <a:r>
              <a:rPr lang="en-GB" dirty="0" smtClean="0"/>
              <a:t>By </a:t>
            </a:r>
            <a:r>
              <a:rPr lang="en-GB" dirty="0"/>
              <a:t>creating new ventures based on these strategic changes, entrepreneurs make a contribution and are rewarded in terms of wealth and personal satisfaction. </a:t>
            </a:r>
            <a:endParaRPr lang="en-GB" dirty="0" smtClean="0"/>
          </a:p>
          <a:p>
            <a:pPr>
              <a:buNone/>
            </a:pPr>
            <a:endParaRPr lang="en-GB" dirty="0" smtClean="0"/>
          </a:p>
          <a:p>
            <a:r>
              <a:rPr lang="en-GB" dirty="0" smtClean="0"/>
              <a:t>Entrepreneurship </a:t>
            </a:r>
            <a:r>
              <a:rPr lang="en-GB" dirty="0"/>
              <a:t>is therefore the result of inspired strategy to exploit change, but first “change” has to be recognised. </a:t>
            </a:r>
            <a:endParaRPr lang="en-GB" dirty="0" smtClean="0"/>
          </a:p>
          <a:p>
            <a:pPr>
              <a:buNone/>
            </a:pPr>
            <a:endParaRPr lang="en-GB" dirty="0" smtClean="0"/>
          </a:p>
          <a:p>
            <a:r>
              <a:rPr lang="en-GB" dirty="0" smtClean="0"/>
              <a:t>In </a:t>
            </a:r>
            <a:r>
              <a:rPr lang="en-GB" dirty="0"/>
              <a:t>the next few </a:t>
            </a:r>
            <a:r>
              <a:rPr lang="en-GB" dirty="0" smtClean="0"/>
              <a:t>slides, </a:t>
            </a:r>
            <a:r>
              <a:rPr lang="en-GB" dirty="0"/>
              <a:t>major sources of change are examined together with examples of how entrepreneurs turned these changes into opportunities.</a:t>
            </a:r>
          </a:p>
          <a:p>
            <a:endParaRPr lang="en-GB"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r>
              <a:rPr lang="en-GB" b="1" dirty="0"/>
              <a:t>Scientific </a:t>
            </a:r>
            <a:r>
              <a:rPr lang="en-GB" b="1" dirty="0" smtClean="0"/>
              <a:t>Knowledge</a:t>
            </a:r>
            <a:endParaRPr lang="en-GB" dirty="0"/>
          </a:p>
        </p:txBody>
      </p:sp>
      <p:sp>
        <p:nvSpPr>
          <p:cNvPr id="3" name="Content Placeholder 2"/>
          <p:cNvSpPr>
            <a:spLocks noGrp="1"/>
          </p:cNvSpPr>
          <p:nvPr>
            <p:ph sz="quarter" idx="1"/>
          </p:nvPr>
        </p:nvSpPr>
        <p:spPr>
          <a:xfrm>
            <a:off x="457200" y="1124744"/>
            <a:ext cx="8229600" cy="5733256"/>
          </a:xfrm>
        </p:spPr>
        <p:txBody>
          <a:bodyPr>
            <a:normAutofit/>
          </a:bodyPr>
          <a:lstStyle/>
          <a:p>
            <a:r>
              <a:rPr lang="en-GB" dirty="0" smtClean="0"/>
              <a:t>Scientific knowledge has been at the heart of many new enterprises, and we can see how important it is by tracing the development of computers.</a:t>
            </a:r>
          </a:p>
          <a:p>
            <a:pPr>
              <a:buNone/>
            </a:pPr>
            <a:r>
              <a:rPr lang="en-GB" dirty="0" smtClean="0"/>
              <a:t> </a:t>
            </a:r>
          </a:p>
          <a:p>
            <a:r>
              <a:rPr lang="en-GB" dirty="0" smtClean="0"/>
              <a:t>Charles Babbage created a mechanical calculating machine more than a century ago; it was the forerunner of mechanised adding machines. Babbage is mentioned historically as contributing to the concept of a computer because he helped revolutionise numerical manipulation. </a:t>
            </a:r>
          </a:p>
          <a:p>
            <a:pPr>
              <a:buNone/>
            </a:pPr>
            <a:endParaRPr lang="en-GB" dirty="0" smtClean="0"/>
          </a:p>
          <a:p>
            <a:r>
              <a:rPr lang="en-GB" dirty="0" smtClean="0"/>
              <a:t>Herman Hollerith used the binary system to create the first punch card in 1890, but this was to be significant only a half century later.</a:t>
            </a:r>
          </a:p>
          <a:p>
            <a:endParaRPr lang="en-GB"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Scientific Knowledge</a:t>
            </a:r>
            <a:endParaRPr lang="en-GB" dirty="0"/>
          </a:p>
        </p:txBody>
      </p:sp>
      <p:sp>
        <p:nvSpPr>
          <p:cNvPr id="3" name="Content Placeholder 2"/>
          <p:cNvSpPr>
            <a:spLocks noGrp="1"/>
          </p:cNvSpPr>
          <p:nvPr>
            <p:ph sz="quarter" idx="1"/>
          </p:nvPr>
        </p:nvSpPr>
        <p:spPr>
          <a:xfrm>
            <a:off x="457200" y="1600200"/>
            <a:ext cx="8229600" cy="4997152"/>
          </a:xfrm>
        </p:spPr>
        <p:txBody>
          <a:bodyPr>
            <a:normAutofit/>
          </a:bodyPr>
          <a:lstStyle/>
          <a:p>
            <a:r>
              <a:rPr lang="en-GB" dirty="0" smtClean="0"/>
              <a:t> Howard Aiken of Harvard University teamed up with IBM and the U.S. War Department in 1944 to create the first “automatic calculator.”  </a:t>
            </a:r>
          </a:p>
          <a:p>
            <a:endParaRPr lang="en-GB" dirty="0" smtClean="0"/>
          </a:p>
          <a:p>
            <a:r>
              <a:rPr lang="en-GB" dirty="0" smtClean="0"/>
              <a:t>Although it was only an electromechanical switching system, his work led to an electronic computer developed at the University of Pennsylvania by J. </a:t>
            </a:r>
            <a:r>
              <a:rPr lang="en-GB" dirty="0" err="1" smtClean="0"/>
              <a:t>Presper</a:t>
            </a:r>
            <a:r>
              <a:rPr lang="en-GB" dirty="0" smtClean="0"/>
              <a:t> Eckert and John W. </a:t>
            </a:r>
            <a:r>
              <a:rPr lang="en-GB" dirty="0" err="1" smtClean="0"/>
              <a:t>Mauchly</a:t>
            </a:r>
            <a:r>
              <a:rPr lang="en-GB" dirty="0" smtClean="0"/>
              <a:t>. </a:t>
            </a:r>
          </a:p>
          <a:p>
            <a:endParaRPr lang="en-GB" dirty="0" smtClean="0"/>
          </a:p>
          <a:p>
            <a:r>
              <a:rPr lang="en-GB" dirty="0" smtClean="0"/>
              <a:t>It was not until 1951, however, that a commercial electronic computer was sold to the U. S Census Bureau by Eckert and </a:t>
            </a:r>
            <a:r>
              <a:rPr lang="en-GB" dirty="0" err="1" smtClean="0"/>
              <a:t>Mauchly</a:t>
            </a:r>
            <a:r>
              <a:rPr lang="en-GB" dirty="0" smtClean="0"/>
              <a:t> as the UNIVAC I.</a:t>
            </a:r>
          </a:p>
          <a:p>
            <a:endParaRPr lang="en-GB"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r>
              <a:rPr lang="en-GB" b="1" dirty="0" smtClean="0"/>
              <a:t>Scientific Knowledge</a:t>
            </a:r>
            <a:endParaRPr lang="en-GB" dirty="0"/>
          </a:p>
        </p:txBody>
      </p:sp>
      <p:sp>
        <p:nvSpPr>
          <p:cNvPr id="3" name="Content Placeholder 2"/>
          <p:cNvSpPr>
            <a:spLocks noGrp="1"/>
          </p:cNvSpPr>
          <p:nvPr>
            <p:ph sz="quarter" idx="1"/>
          </p:nvPr>
        </p:nvSpPr>
        <p:spPr>
          <a:xfrm>
            <a:off x="457200" y="1052736"/>
            <a:ext cx="8229600" cy="5805264"/>
          </a:xfrm>
        </p:spPr>
        <p:txBody>
          <a:bodyPr>
            <a:normAutofit/>
          </a:bodyPr>
          <a:lstStyle/>
          <a:p>
            <a:r>
              <a:rPr lang="en-GB" dirty="0" smtClean="0"/>
              <a:t>That brief history of computers is interesting because the only scientists to exploit their inventions were Eckert and </a:t>
            </a:r>
            <a:r>
              <a:rPr lang="en-GB" dirty="0" err="1" smtClean="0"/>
              <a:t>Mauchly</a:t>
            </a:r>
            <a:r>
              <a:rPr lang="en-GB" dirty="0" smtClean="0"/>
              <a:t> of Univac. </a:t>
            </a:r>
          </a:p>
          <a:p>
            <a:r>
              <a:rPr lang="en-GB" dirty="0" smtClean="0"/>
              <a:t>Meanwhile, hundreds of companies evolved from these pioneering efforts. </a:t>
            </a:r>
          </a:p>
          <a:p>
            <a:r>
              <a:rPr lang="en-GB" dirty="0" smtClean="0"/>
              <a:t>Burroughs, NCR, and IBM emerged through efforts by their founders, who recognised the commercial value of scientific changes and developed products around early technological advances. </a:t>
            </a:r>
          </a:p>
          <a:p>
            <a:r>
              <a:rPr lang="en-GB" dirty="0" smtClean="0"/>
              <a:t>The contemporary history of computing includes literally thousands of scientific innovations, each one making computers better, faster, more accurate, easier to use, and less expensive.</a:t>
            </a:r>
          </a:p>
          <a:p>
            <a:pPr>
              <a:buNone/>
            </a:pPr>
            <a:endParaRPr lang="en-GB" dirty="0" smtClean="0"/>
          </a:p>
          <a:p>
            <a:endParaRPr lang="en-GB"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GB" b="1" dirty="0" smtClean="0"/>
              <a:t>Process Innovations</a:t>
            </a:r>
            <a:endParaRPr lang="en-GB" dirty="0"/>
          </a:p>
        </p:txBody>
      </p:sp>
      <p:sp>
        <p:nvSpPr>
          <p:cNvPr id="3" name="Content Placeholder 2"/>
          <p:cNvSpPr>
            <a:spLocks noGrp="1"/>
          </p:cNvSpPr>
          <p:nvPr>
            <p:ph sz="quarter" idx="1"/>
          </p:nvPr>
        </p:nvSpPr>
        <p:spPr>
          <a:xfrm>
            <a:off x="457200" y="908720"/>
            <a:ext cx="8229600" cy="5949280"/>
          </a:xfrm>
        </p:spPr>
        <p:txBody>
          <a:bodyPr>
            <a:normAutofit fontScale="85000" lnSpcReduction="10000"/>
          </a:bodyPr>
          <a:lstStyle/>
          <a:p>
            <a:r>
              <a:rPr lang="en-GB" dirty="0" smtClean="0"/>
              <a:t> Closely associated with new scientific knowledge is the implementation processes, techniques, and methods essential to make knowledge useful. </a:t>
            </a:r>
          </a:p>
          <a:p>
            <a:endParaRPr lang="en-GB" dirty="0" smtClean="0"/>
          </a:p>
          <a:p>
            <a:r>
              <a:rPr lang="en-GB" dirty="0" smtClean="0"/>
              <a:t>Edison's light bulb was only a curiosity until he developed an electric system for supplying power to consumers. </a:t>
            </a:r>
          </a:p>
          <a:p>
            <a:endParaRPr lang="en-GB" dirty="0" smtClean="0"/>
          </a:p>
          <a:p>
            <a:r>
              <a:rPr lang="en-GB" dirty="0" smtClean="0"/>
              <a:t>Early computers had little value, until operating systems and data storage techniques were developed. In fact, computers had only limited value until symbolic languages were created to encode, manipulate, and store data. Because it developed and controlled the </a:t>
            </a:r>
            <a:r>
              <a:rPr lang="en-GB" i="1" dirty="0" smtClean="0"/>
              <a:t>processes </a:t>
            </a:r>
            <a:r>
              <a:rPr lang="en-GB" dirty="0" smtClean="0"/>
              <a:t>needed to make computers useful, IBM came to dominate a hardware computer industry. </a:t>
            </a:r>
          </a:p>
          <a:p>
            <a:endParaRPr lang="en-GB" dirty="0" smtClean="0"/>
          </a:p>
          <a:p>
            <a:r>
              <a:rPr lang="en-GB" dirty="0" smtClean="0"/>
              <a:t>During the late 1950s, when virtually every major company making electrical apparatus and communication equipment was also making computer hardware, IBM was relatively unknown, but IBM technicians created symbolic languages in FORTRAN and COBOL, subsequently setting the industry standards.</a:t>
            </a:r>
          </a:p>
          <a:p>
            <a:endParaRPr lang="en-GB" dirty="0" smtClean="0"/>
          </a:p>
          <a:p>
            <a:endParaRPr lang="en-GB"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1052736"/>
          </a:xfrm>
        </p:spPr>
        <p:txBody>
          <a:bodyPr/>
          <a:lstStyle/>
          <a:p>
            <a:r>
              <a:rPr lang="en-GB" b="1" dirty="0" smtClean="0"/>
              <a:t>Process Innovations</a:t>
            </a:r>
            <a:endParaRPr lang="en-GB" dirty="0"/>
          </a:p>
        </p:txBody>
      </p:sp>
      <p:sp>
        <p:nvSpPr>
          <p:cNvPr id="3" name="Content Placeholder 2"/>
          <p:cNvSpPr>
            <a:spLocks noGrp="1"/>
          </p:cNvSpPr>
          <p:nvPr>
            <p:ph sz="quarter" idx="1"/>
          </p:nvPr>
        </p:nvSpPr>
        <p:spPr>
          <a:xfrm>
            <a:off x="457200" y="1124744"/>
            <a:ext cx="8229600" cy="5544616"/>
          </a:xfrm>
        </p:spPr>
        <p:txBody>
          <a:bodyPr>
            <a:normAutofit/>
          </a:bodyPr>
          <a:lstStyle/>
          <a:p>
            <a:r>
              <a:rPr lang="en-GB" dirty="0" smtClean="0"/>
              <a:t>This pattern of entrepreneurial activity has been repeated often. Steven Jobs and Stephen Wozniak were largely successful establishing Apple Computer because of their proprietary </a:t>
            </a:r>
            <a:r>
              <a:rPr lang="en-GB" i="1" dirty="0" smtClean="0"/>
              <a:t>software processes. </a:t>
            </a:r>
          </a:p>
          <a:p>
            <a:r>
              <a:rPr lang="en-GB" dirty="0" smtClean="0"/>
              <a:t>William Gates III founded Microsoft Corporation and set industry standards in MS-DOS operating systems to coincide with the introduction of the IBM PC in 1981. Gates had been out of high school only five years when he and a companion launched their trend-setting venture.</a:t>
            </a:r>
          </a:p>
          <a:p>
            <a:r>
              <a:rPr lang="en-GB" dirty="0" smtClean="0"/>
              <a:t>There are literally thousands of examples of entrepreneurs who have recognised opportunities and transformed knowledge into commercial value.</a:t>
            </a:r>
          </a:p>
          <a:p>
            <a:endParaRPr lang="en-GB"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r>
              <a:rPr lang="en-GB" b="1" dirty="0" smtClean="0"/>
              <a:t>Industrial Changes</a:t>
            </a:r>
            <a:endParaRPr lang="en-GB" dirty="0"/>
          </a:p>
        </p:txBody>
      </p:sp>
      <p:sp>
        <p:nvSpPr>
          <p:cNvPr id="3" name="Content Placeholder 2"/>
          <p:cNvSpPr>
            <a:spLocks noGrp="1"/>
          </p:cNvSpPr>
          <p:nvPr>
            <p:ph sz="quarter" idx="1"/>
          </p:nvPr>
        </p:nvSpPr>
        <p:spPr>
          <a:xfrm>
            <a:off x="457200" y="1052736"/>
            <a:ext cx="8229600" cy="5805264"/>
          </a:xfrm>
        </p:spPr>
        <p:txBody>
          <a:bodyPr>
            <a:normAutofit/>
          </a:bodyPr>
          <a:lstStyle/>
          <a:p>
            <a:pPr>
              <a:buNone/>
            </a:pPr>
            <a:endParaRPr lang="en-GB" dirty="0" smtClean="0"/>
          </a:p>
          <a:p>
            <a:r>
              <a:rPr lang="en-GB" dirty="0" smtClean="0"/>
              <a:t>There is little doubt that eventually power sources will be based on solar devices. </a:t>
            </a:r>
            <a:endParaRPr lang="en-GB" dirty="0" smtClean="0"/>
          </a:p>
          <a:p>
            <a:r>
              <a:rPr lang="en-GB" dirty="0" smtClean="0"/>
              <a:t>Safe </a:t>
            </a:r>
            <a:r>
              <a:rPr lang="en-GB" dirty="0" smtClean="0"/>
              <a:t>nuclear systems are also on the horizon. </a:t>
            </a:r>
            <a:endParaRPr lang="en-GB" dirty="0" smtClean="0"/>
          </a:p>
          <a:p>
            <a:r>
              <a:rPr lang="en-GB" dirty="0" smtClean="0"/>
              <a:t>Meanwhile</a:t>
            </a:r>
            <a:r>
              <a:rPr lang="en-GB" dirty="0" smtClean="0"/>
              <a:t>, energy is based on fossil fuels with some alternatives such as hydroelectric and geothermal power. </a:t>
            </a:r>
            <a:endParaRPr lang="en-GB" dirty="0" smtClean="0"/>
          </a:p>
          <a:p>
            <a:r>
              <a:rPr lang="en-GB" dirty="0" smtClean="0"/>
              <a:t>But </a:t>
            </a:r>
            <a:r>
              <a:rPr lang="en-GB" i="1" dirty="0" smtClean="0"/>
              <a:t>someone someday will </a:t>
            </a:r>
            <a:r>
              <a:rPr lang="en-GB" dirty="0" smtClean="0"/>
              <a:t>instigate the transition, and the switch will be turned off on fossil fuels Petroleum replaced whale oil as an important fuel a century ago when Rockefeller built a refining and distribution system capable of making crude oil usable. </a:t>
            </a:r>
            <a:endParaRPr lang="en-GB" dirty="0" smtClean="0"/>
          </a:p>
          <a:p>
            <a:r>
              <a:rPr lang="en-GB" dirty="0" smtClean="0"/>
              <a:t>An </a:t>
            </a:r>
            <a:r>
              <a:rPr lang="en-GB" dirty="0" smtClean="0"/>
              <a:t>energy revolution happened again with Edison's electric generating system. It may happen again with solar power, and many entrepreneurs will be involved.</a:t>
            </a:r>
          </a:p>
          <a:p>
            <a:pPr>
              <a:buNone/>
            </a:pPr>
            <a:endParaRPr lang="en-GB" dirty="0" smtClean="0"/>
          </a:p>
          <a:p>
            <a:endParaRPr lang="en-GB"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764704"/>
          </a:xfrm>
        </p:spPr>
        <p:txBody>
          <a:bodyPr/>
          <a:lstStyle/>
          <a:p>
            <a:r>
              <a:rPr lang="en-GB" b="1" dirty="0" smtClean="0"/>
              <a:t>Industrial Changes</a:t>
            </a:r>
            <a:endParaRPr lang="en-GB" dirty="0"/>
          </a:p>
        </p:txBody>
      </p:sp>
      <p:sp>
        <p:nvSpPr>
          <p:cNvPr id="3" name="Content Placeholder 2"/>
          <p:cNvSpPr>
            <a:spLocks noGrp="1"/>
          </p:cNvSpPr>
          <p:nvPr>
            <p:ph sz="quarter" idx="1"/>
          </p:nvPr>
        </p:nvSpPr>
        <p:spPr>
          <a:xfrm>
            <a:off x="457200" y="908720"/>
            <a:ext cx="8229600" cy="5760640"/>
          </a:xfrm>
        </p:spPr>
        <p:txBody>
          <a:bodyPr>
            <a:normAutofit/>
          </a:bodyPr>
          <a:lstStyle/>
          <a:p>
            <a:r>
              <a:rPr lang="en-GB" dirty="0" smtClean="0"/>
              <a:t>Industrial change can occur through natural events, such as the discovery of oil, or as a result of human events. </a:t>
            </a:r>
          </a:p>
          <a:p>
            <a:r>
              <a:rPr lang="en-GB" dirty="0" smtClean="0"/>
              <a:t>For example, the deregulation of the airline industry forced dozens of major airlines to compete with regional “upstarts” and commuter airlines. Competitors introduced innovations in flights, new fares, travel plans, and new services. </a:t>
            </a:r>
          </a:p>
          <a:p>
            <a:r>
              <a:rPr lang="en-GB" dirty="0" smtClean="0"/>
              <a:t>People Express, Presidential Airlines, New York Air, USAir, and many others jolted the industry during the 1980s with low-priced fares, no-frills service, and innovations in ticketing, baggage handling, and convenient routing. </a:t>
            </a:r>
          </a:p>
          <a:p>
            <a:r>
              <a:rPr lang="en-GB" dirty="0" smtClean="0"/>
              <a:t>Some of these have not survived, but others such as Texas International have grown rapidly to be among industry leaders.</a:t>
            </a:r>
          </a:p>
          <a:p>
            <a:endParaRPr lang="en-GB"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80728"/>
          </a:xfrm>
        </p:spPr>
        <p:txBody>
          <a:bodyPr>
            <a:normAutofit/>
          </a:bodyPr>
          <a:lstStyle/>
          <a:p>
            <a:r>
              <a:rPr lang="en-GB" b="1" dirty="0" smtClean="0"/>
              <a:t>Market Changes</a:t>
            </a:r>
            <a:endParaRPr lang="en-GB" dirty="0"/>
          </a:p>
        </p:txBody>
      </p:sp>
      <p:sp>
        <p:nvSpPr>
          <p:cNvPr id="3" name="Content Placeholder 2"/>
          <p:cNvSpPr>
            <a:spLocks noGrp="1"/>
          </p:cNvSpPr>
          <p:nvPr>
            <p:ph sz="quarter" idx="1"/>
          </p:nvPr>
        </p:nvSpPr>
        <p:spPr>
          <a:xfrm>
            <a:off x="457200" y="908720"/>
            <a:ext cx="8229600" cy="5760640"/>
          </a:xfrm>
        </p:spPr>
        <p:txBody>
          <a:bodyPr>
            <a:normAutofit lnSpcReduction="10000"/>
          </a:bodyPr>
          <a:lstStyle/>
          <a:p>
            <a:r>
              <a:rPr lang="en-GB" dirty="0" smtClean="0"/>
              <a:t>Closely associated with industrial changes are those that take place in markets. </a:t>
            </a:r>
          </a:p>
          <a:p>
            <a:r>
              <a:rPr lang="en-GB" dirty="0" smtClean="0"/>
              <a:t>Historically, we look at the success of Henry Ford when he developed an inexpensive automobile. Until his Model T, most automobiles were luxuries. He recognised the demand and decided that a car built on simple principles would revolutionise the automobile industry. </a:t>
            </a:r>
          </a:p>
          <a:p>
            <a:r>
              <a:rPr lang="en-GB" dirty="0" smtClean="0"/>
              <a:t>Domino's Pizza was built on the single, important observation that a lot of people ordered pizza to take out. </a:t>
            </a:r>
          </a:p>
          <a:p>
            <a:r>
              <a:rPr lang="en-GB" dirty="0" smtClean="0"/>
              <a:t>John H. Johnson, the founder of </a:t>
            </a:r>
            <a:r>
              <a:rPr lang="en-GB" i="1" dirty="0" smtClean="0"/>
              <a:t>Ebony </a:t>
            </a:r>
            <a:r>
              <a:rPr lang="en-GB" dirty="0" smtClean="0"/>
              <a:t>magazine, recognised a neglected segment of American readership, the black American. During World War II, Johnson launched </a:t>
            </a:r>
            <a:r>
              <a:rPr lang="en-GB" i="1" dirty="0" smtClean="0"/>
              <a:t>Negro Digest, </a:t>
            </a:r>
            <a:r>
              <a:rPr lang="en-GB" dirty="0" smtClean="0"/>
              <a:t>and today he heads a publishing empire with subsidiaries in cosmetics, fashions, perfumes, and entertainment that is the largest black-owned corporation in the United States.</a:t>
            </a:r>
          </a:p>
          <a:p>
            <a:endParaRPr lang="en-GB"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txBody>
          <a:bodyPr/>
          <a:lstStyle/>
          <a:p>
            <a:r>
              <a:rPr lang="en-GB" b="1" dirty="0" smtClean="0"/>
              <a:t>Market Changes</a:t>
            </a:r>
            <a:endParaRPr lang="en-GB" dirty="0"/>
          </a:p>
        </p:txBody>
      </p:sp>
      <p:sp>
        <p:nvSpPr>
          <p:cNvPr id="3" name="Content Placeholder 2"/>
          <p:cNvSpPr>
            <a:spLocks noGrp="1"/>
          </p:cNvSpPr>
          <p:nvPr>
            <p:ph sz="quarter" idx="1"/>
          </p:nvPr>
        </p:nvSpPr>
        <p:spPr>
          <a:xfrm>
            <a:off x="457200" y="1124744"/>
            <a:ext cx="8229600" cy="5733256"/>
          </a:xfrm>
        </p:spPr>
        <p:txBody>
          <a:bodyPr>
            <a:normAutofit/>
          </a:bodyPr>
          <a:lstStyle/>
          <a:p>
            <a:r>
              <a:rPr lang="en-GB" dirty="0" smtClean="0"/>
              <a:t>An extraordinary change is taking place now, as government services are being privatised</a:t>
            </a:r>
            <a:r>
              <a:rPr lang="en-GB" i="1" dirty="0" smtClean="0"/>
              <a:t>. </a:t>
            </a:r>
            <a:r>
              <a:rPr lang="en-GB" dirty="0" smtClean="0"/>
              <a:t>The government has long been a major market, </a:t>
            </a:r>
            <a:r>
              <a:rPr lang="en-GB" dirty="0" smtClean="0"/>
              <a:t> </a:t>
            </a:r>
            <a:r>
              <a:rPr lang="en-GB" dirty="0" smtClean="0"/>
              <a:t>such as defence, and on </a:t>
            </a:r>
            <a:r>
              <a:rPr lang="en-GB" dirty="0" smtClean="0"/>
              <a:t>the national</a:t>
            </a:r>
            <a:r>
              <a:rPr lang="en-GB" dirty="0" smtClean="0"/>
              <a:t> </a:t>
            </a:r>
            <a:r>
              <a:rPr lang="en-GB" dirty="0" smtClean="0"/>
              <a:t>and local levels, government agencies dole out hundreds of millions of </a:t>
            </a:r>
            <a:r>
              <a:rPr lang="en-GB" dirty="0" err="1" smtClean="0"/>
              <a:t>cedis</a:t>
            </a:r>
            <a:r>
              <a:rPr lang="en-GB" dirty="0" smtClean="0"/>
              <a:t> </a:t>
            </a:r>
            <a:r>
              <a:rPr lang="en-GB" dirty="0" smtClean="0"/>
              <a:t>to private contractors for everything from cleaning services to construction projects. </a:t>
            </a:r>
          </a:p>
          <a:p>
            <a:pPr>
              <a:buNone/>
            </a:pPr>
            <a:endParaRPr lang="en-GB" dirty="0" smtClean="0"/>
          </a:p>
          <a:p>
            <a:r>
              <a:rPr lang="en-GB" dirty="0" smtClean="0"/>
              <a:t>An important trend emerged during the late </a:t>
            </a:r>
            <a:r>
              <a:rPr lang="en-GB" dirty="0" smtClean="0"/>
              <a:t>1990s </a:t>
            </a:r>
            <a:r>
              <a:rPr lang="en-GB" dirty="0" smtClean="0"/>
              <a:t>as government agencies began to rapidly endorse privatisation. This is the process of turning over to private contractors activities once controlled through government agencies. </a:t>
            </a:r>
          </a:p>
          <a:p>
            <a:pPr>
              <a:buNone/>
            </a:pPr>
            <a:endParaRPr lang="en-GB" dirty="0" smtClean="0"/>
          </a:p>
          <a:p>
            <a:endParaRPr lang="en-GB"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Market Changes</a:t>
            </a:r>
            <a:endParaRPr lang="en-GB" dirty="0"/>
          </a:p>
        </p:txBody>
      </p:sp>
      <p:sp>
        <p:nvSpPr>
          <p:cNvPr id="3" name="Content Placeholder 2"/>
          <p:cNvSpPr>
            <a:spLocks noGrp="1"/>
          </p:cNvSpPr>
          <p:nvPr>
            <p:ph sz="quarter" idx="1"/>
          </p:nvPr>
        </p:nvSpPr>
        <p:spPr>
          <a:xfrm>
            <a:off x="914400" y="1447800"/>
            <a:ext cx="7772400" cy="5221560"/>
          </a:xfrm>
        </p:spPr>
        <p:txBody>
          <a:bodyPr/>
          <a:lstStyle/>
          <a:p>
            <a:r>
              <a:rPr lang="en-GB" dirty="0" smtClean="0"/>
              <a:t>Government has become a more active consumer and a less active employer. </a:t>
            </a:r>
            <a:endParaRPr lang="en-GB" dirty="0" smtClean="0"/>
          </a:p>
          <a:p>
            <a:r>
              <a:rPr lang="en-GB" dirty="0" smtClean="0"/>
              <a:t>Governmental departments </a:t>
            </a:r>
            <a:r>
              <a:rPr lang="en-GB" dirty="0" smtClean="0"/>
              <a:t>are contracting lawn services rather than employing maintenance personnel to do these jobs. </a:t>
            </a:r>
            <a:endParaRPr lang="en-GB" dirty="0" smtClean="0"/>
          </a:p>
          <a:p>
            <a:r>
              <a:rPr lang="en-GB" dirty="0" smtClean="0"/>
              <a:t>Trash collection</a:t>
            </a:r>
          </a:p>
          <a:p>
            <a:r>
              <a:rPr lang="en-GB" dirty="0" smtClean="0"/>
              <a:t> government </a:t>
            </a:r>
            <a:r>
              <a:rPr lang="en-GB" dirty="0" smtClean="0"/>
              <a:t>document printing, </a:t>
            </a:r>
            <a:endParaRPr lang="en-GB" dirty="0" smtClean="0"/>
          </a:p>
          <a:p>
            <a:r>
              <a:rPr lang="en-GB" dirty="0" smtClean="0"/>
              <a:t>road </a:t>
            </a:r>
            <a:r>
              <a:rPr lang="en-GB" dirty="0" smtClean="0"/>
              <a:t>repair services, </a:t>
            </a:r>
            <a:endParaRPr lang="en-GB" dirty="0" smtClean="0"/>
          </a:p>
          <a:p>
            <a:r>
              <a:rPr lang="en-GB" dirty="0" smtClean="0"/>
              <a:t>security </a:t>
            </a:r>
            <a:r>
              <a:rPr lang="en-GB" dirty="0" smtClean="0"/>
              <a:t>systems, </a:t>
            </a:r>
            <a:endParaRPr lang="en-GB" dirty="0" smtClean="0"/>
          </a:p>
          <a:p>
            <a:r>
              <a:rPr lang="en-GB" dirty="0" smtClean="0"/>
              <a:t>training </a:t>
            </a:r>
            <a:r>
              <a:rPr lang="en-GB" dirty="0" smtClean="0"/>
              <a:t>services, </a:t>
            </a:r>
            <a:r>
              <a:rPr lang="en-GB" dirty="0" smtClean="0"/>
              <a:t>and</a:t>
            </a:r>
          </a:p>
          <a:p>
            <a:r>
              <a:rPr lang="en-GB" dirty="0" smtClean="0"/>
              <a:t>public </a:t>
            </a:r>
            <a:r>
              <a:rPr lang="en-GB" dirty="0" smtClean="0"/>
              <a:t>utilities are “going private” at an accelerated pace.</a:t>
            </a:r>
          </a:p>
          <a:p>
            <a:endParaRPr lang="en-GB"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96752"/>
          </a:xfrm>
        </p:spPr>
        <p:txBody>
          <a:bodyPr>
            <a:normAutofit/>
          </a:bodyPr>
          <a:lstStyle/>
          <a:p>
            <a:r>
              <a:rPr lang="en-GB" b="1" dirty="0" smtClean="0"/>
              <a:t>Demographic Changes</a:t>
            </a:r>
            <a:endParaRPr lang="en-GB" dirty="0"/>
          </a:p>
        </p:txBody>
      </p:sp>
      <p:sp>
        <p:nvSpPr>
          <p:cNvPr id="3" name="Content Placeholder 2"/>
          <p:cNvSpPr>
            <a:spLocks noGrp="1"/>
          </p:cNvSpPr>
          <p:nvPr>
            <p:ph sz="quarter" idx="1"/>
          </p:nvPr>
        </p:nvSpPr>
        <p:spPr>
          <a:xfrm>
            <a:off x="457200" y="908720"/>
            <a:ext cx="8229600" cy="5949280"/>
          </a:xfrm>
        </p:spPr>
        <p:txBody>
          <a:bodyPr>
            <a:normAutofit/>
          </a:bodyPr>
          <a:lstStyle/>
          <a:p>
            <a:pPr>
              <a:buNone/>
            </a:pPr>
            <a:r>
              <a:rPr lang="en-GB" dirty="0" smtClean="0"/>
              <a:t> </a:t>
            </a:r>
          </a:p>
          <a:p>
            <a:r>
              <a:rPr lang="en-GB" dirty="0" smtClean="0"/>
              <a:t>Demographic data are concerned with population trends, age, sex, and ethnic characteristics, educational status, and income of a nation's population. </a:t>
            </a:r>
          </a:p>
          <a:p>
            <a:r>
              <a:rPr lang="en-GB" dirty="0" smtClean="0"/>
              <a:t>As a nation's demographics change, new opportunities to serve human needs arise. </a:t>
            </a:r>
          </a:p>
          <a:p>
            <a:r>
              <a:rPr lang="en-GB" dirty="0" smtClean="0"/>
              <a:t>By tracking these changes, entrepreneurs can identify opportunities and react to them. Population statistics are well documented by a country’s Census Bureau, by regional and local authorities, and by an enormous number of sociological studies. </a:t>
            </a:r>
          </a:p>
          <a:p>
            <a:r>
              <a:rPr lang="en-GB" dirty="0" smtClean="0"/>
              <a:t>The composition of human resources is closely tracked to document career behaviour, family structures, </a:t>
            </a:r>
            <a:r>
              <a:rPr lang="en-GB" dirty="0" smtClean="0"/>
              <a:t>immigration</a:t>
            </a:r>
            <a:r>
              <a:rPr lang="en-GB" dirty="0" smtClean="0"/>
              <a:t>, life expectancies, birth rates, and on and on. </a:t>
            </a:r>
            <a:endParaRPr lang="en-GB"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Social and Cultural Changes</a:t>
            </a:r>
            <a:endParaRPr lang="en-GB" dirty="0"/>
          </a:p>
        </p:txBody>
      </p:sp>
      <p:sp>
        <p:nvSpPr>
          <p:cNvPr id="3" name="Content Placeholder 2"/>
          <p:cNvSpPr>
            <a:spLocks noGrp="1"/>
          </p:cNvSpPr>
          <p:nvPr>
            <p:ph sz="quarter" idx="1"/>
          </p:nvPr>
        </p:nvSpPr>
        <p:spPr/>
        <p:txBody>
          <a:bodyPr>
            <a:normAutofit/>
          </a:bodyPr>
          <a:lstStyle/>
          <a:p>
            <a:r>
              <a:rPr lang="en-GB" dirty="0" smtClean="0"/>
              <a:t>Social changes occurred at a snail's pace until the late 18th century. </a:t>
            </a:r>
          </a:p>
          <a:p>
            <a:r>
              <a:rPr lang="en-GB" dirty="0" smtClean="0"/>
              <a:t>The pace quickened a bit during the 19th century, but as we look back over the 20th century, social changes reached an unprecedented quick pace. There is no evidence of a slowdown as we ready ourselves for the 21st century.</a:t>
            </a:r>
          </a:p>
          <a:p>
            <a:r>
              <a:rPr lang="en-GB" dirty="0" smtClean="0"/>
              <a:t>The Industrial Revolution</a:t>
            </a:r>
          </a:p>
          <a:p>
            <a:endParaRPr lang="en-GB"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smtClean="0"/>
              <a:t>Social and Cultural Changes</a:t>
            </a:r>
            <a:endParaRPr lang="en-GB"/>
          </a:p>
        </p:txBody>
      </p:sp>
      <p:sp>
        <p:nvSpPr>
          <p:cNvPr id="3" name="Content Placeholder 2"/>
          <p:cNvSpPr>
            <a:spLocks noGrp="1"/>
          </p:cNvSpPr>
          <p:nvPr>
            <p:ph sz="quarter" idx="1"/>
          </p:nvPr>
        </p:nvSpPr>
        <p:spPr/>
        <p:txBody>
          <a:bodyPr>
            <a:normAutofit/>
          </a:bodyPr>
          <a:lstStyle/>
          <a:p>
            <a:r>
              <a:rPr lang="en-GB" dirty="0" smtClean="0"/>
              <a:t>The industrial revolution stimulated changes in how people lived, worked, spent their money, recreated, and worshiped. </a:t>
            </a:r>
          </a:p>
          <a:p>
            <a:r>
              <a:rPr lang="en-GB" dirty="0" smtClean="0"/>
              <a:t>Men began working for wages rather than as farmers or in government service. Sailors became merchantmen. Craftsmen moved out of their shops and into factories. Adventurers put aside swords for </a:t>
            </a:r>
            <a:r>
              <a:rPr lang="en-GB" dirty="0" err="1" smtClean="0"/>
              <a:t>plows</a:t>
            </a:r>
            <a:r>
              <a:rPr lang="en-GB" dirty="0" smtClean="0"/>
              <a:t> and settled new worlds.</a:t>
            </a:r>
          </a:p>
          <a:p>
            <a:r>
              <a:rPr lang="en-GB" dirty="0" smtClean="0"/>
              <a:t> These social changes brought new demands that inspired a faster rate of change in innovation</a:t>
            </a:r>
            <a:endParaRPr lang="en-GB"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16632"/>
            <a:ext cx="7772400" cy="1008112"/>
          </a:xfrm>
        </p:spPr>
        <p:txBody>
          <a:bodyPr>
            <a:normAutofit/>
          </a:bodyPr>
          <a:lstStyle/>
          <a:p>
            <a:r>
              <a:rPr lang="en-GB" b="1" dirty="0" smtClean="0"/>
              <a:t>Demographic Changes</a:t>
            </a:r>
            <a:endParaRPr lang="en-GB" dirty="0"/>
          </a:p>
        </p:txBody>
      </p:sp>
      <p:sp>
        <p:nvSpPr>
          <p:cNvPr id="3" name="Content Placeholder 2"/>
          <p:cNvSpPr>
            <a:spLocks noGrp="1"/>
          </p:cNvSpPr>
          <p:nvPr>
            <p:ph sz="quarter" idx="1"/>
          </p:nvPr>
        </p:nvSpPr>
        <p:spPr>
          <a:xfrm>
            <a:off x="467544" y="1124744"/>
            <a:ext cx="8496944" cy="5733256"/>
          </a:xfrm>
        </p:spPr>
        <p:txBody>
          <a:bodyPr>
            <a:normAutofit/>
          </a:bodyPr>
          <a:lstStyle/>
          <a:p>
            <a:pPr>
              <a:buFont typeface="Arial" pitchFamily="34" charset="0"/>
              <a:buChar char="•"/>
            </a:pPr>
            <a:r>
              <a:rPr lang="en-GB" dirty="0" smtClean="0"/>
              <a:t>Demographic data are concerned with population trends, age, sex, and ethnic characteristics, educational status, and income of a nation's population. </a:t>
            </a:r>
            <a:endParaRPr lang="en-GB" dirty="0" smtClean="0"/>
          </a:p>
          <a:p>
            <a:pPr>
              <a:buNone/>
            </a:pPr>
            <a:endParaRPr lang="en-GB" dirty="0" smtClean="0"/>
          </a:p>
          <a:p>
            <a:pPr>
              <a:buFont typeface="Arial" pitchFamily="34" charset="0"/>
              <a:buChar char="•"/>
            </a:pPr>
            <a:r>
              <a:rPr lang="en-GB" dirty="0" smtClean="0"/>
              <a:t>As a nation's demographics change, new opportunities to serve human needs arise. By tracking these changes, entrepreneurs can identify opportunities and react to them. Population statistics are well documented by the Census Bureau, by regional and local authorities, and by an enormous number of sociological studies</a:t>
            </a:r>
            <a:r>
              <a:rPr lang="en-GB" dirty="0" smtClean="0"/>
              <a:t>.</a:t>
            </a:r>
          </a:p>
          <a:p>
            <a:pPr>
              <a:buNone/>
            </a:pPr>
            <a:r>
              <a:rPr lang="en-GB" dirty="0" smtClean="0"/>
              <a:t> </a:t>
            </a:r>
            <a:endParaRPr lang="en-GB" dirty="0" smtClean="0"/>
          </a:p>
          <a:p>
            <a:pPr>
              <a:buFont typeface="Arial" pitchFamily="34" charset="0"/>
              <a:buChar char="•"/>
            </a:pPr>
            <a:r>
              <a:rPr lang="en-GB" dirty="0" smtClean="0"/>
              <a:t>The composition of human resources is closely tracked to document career behaviour, family structures, emigration and immigration, life expectancies, birth rates, and on and on</a:t>
            </a:r>
            <a:endParaRPr lang="en-GB"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16632"/>
            <a:ext cx="7772400" cy="864096"/>
          </a:xfrm>
        </p:spPr>
        <p:txBody>
          <a:bodyPr>
            <a:normAutofit/>
          </a:bodyPr>
          <a:lstStyle/>
          <a:p>
            <a:r>
              <a:rPr lang="en-GB" b="1" dirty="0" smtClean="0"/>
              <a:t>WINDOWS AND CORRIDORS</a:t>
            </a:r>
            <a:endParaRPr lang="en-GB" dirty="0"/>
          </a:p>
        </p:txBody>
      </p:sp>
      <p:sp>
        <p:nvSpPr>
          <p:cNvPr id="3" name="Content Placeholder 2"/>
          <p:cNvSpPr>
            <a:spLocks noGrp="1"/>
          </p:cNvSpPr>
          <p:nvPr>
            <p:ph sz="quarter" idx="1"/>
          </p:nvPr>
        </p:nvSpPr>
        <p:spPr>
          <a:xfrm>
            <a:off x="179512" y="980728"/>
            <a:ext cx="8784976" cy="5544616"/>
          </a:xfrm>
        </p:spPr>
        <p:txBody>
          <a:bodyPr>
            <a:normAutofit/>
          </a:bodyPr>
          <a:lstStyle/>
          <a:p>
            <a:pPr>
              <a:buFont typeface="Wingdings" pitchFamily="2" charset="2"/>
              <a:buChar char="§"/>
            </a:pPr>
            <a:r>
              <a:rPr lang="en-GB" dirty="0" smtClean="0"/>
              <a:t>A </a:t>
            </a:r>
            <a:r>
              <a:rPr lang="en-GB" dirty="0" smtClean="0"/>
              <a:t>window is a time horizon during which opportunities exist before something else happens to eliminate them. A unique opportunity, once shown to produce wealth, will attract competitors, and if the business is easy to enter, the industry will become rapidly saturated</a:t>
            </a:r>
            <a:r>
              <a:rPr lang="en-GB" dirty="0" smtClean="0"/>
              <a:t>.</a:t>
            </a:r>
          </a:p>
          <a:p>
            <a:pPr>
              <a:buNone/>
            </a:pPr>
            <a:endParaRPr lang="en-GB" dirty="0" smtClean="0"/>
          </a:p>
          <a:p>
            <a:pPr lvl="1"/>
            <a:r>
              <a:rPr lang="en-GB" dirty="0" smtClean="0"/>
              <a:t>Bicycles did not become viable commercial products until people needed them as transportation. When that need occurred, hundreds of bicycle manufacturers rushed to take advantage of the “window of opportunity.” </a:t>
            </a:r>
            <a:endParaRPr lang="en-GB" dirty="0" smtClean="0"/>
          </a:p>
          <a:p>
            <a:pPr lvl="1">
              <a:buNone/>
            </a:pPr>
            <a:endParaRPr lang="en-GB" dirty="0" smtClean="0"/>
          </a:p>
          <a:p>
            <a:r>
              <a:rPr lang="en-GB" dirty="0" smtClean="0"/>
              <a:t>Literally every successful product and service has had an optimal period of time for commercialisation. Those introduced too early have usually failed, and those introduced too late suffered from crowded markets</a:t>
            </a:r>
            <a:endParaRPr lang="en-GB"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16632"/>
            <a:ext cx="7772400" cy="864096"/>
          </a:xfrm>
        </p:spPr>
        <p:txBody>
          <a:bodyPr>
            <a:normAutofit/>
          </a:bodyPr>
          <a:lstStyle/>
          <a:p>
            <a:r>
              <a:rPr lang="en-GB" dirty="0" smtClean="0"/>
              <a:t>CORRIDOR PRINCIPLE</a:t>
            </a:r>
            <a:endParaRPr lang="en-GB" dirty="0"/>
          </a:p>
        </p:txBody>
      </p:sp>
      <p:sp>
        <p:nvSpPr>
          <p:cNvPr id="3" name="Content Placeholder 2"/>
          <p:cNvSpPr>
            <a:spLocks noGrp="1"/>
          </p:cNvSpPr>
          <p:nvPr>
            <p:ph sz="quarter" idx="1"/>
          </p:nvPr>
        </p:nvSpPr>
        <p:spPr>
          <a:xfrm>
            <a:off x="323528" y="836712"/>
            <a:ext cx="8363272" cy="5760640"/>
          </a:xfrm>
        </p:spPr>
        <p:txBody>
          <a:bodyPr/>
          <a:lstStyle/>
          <a:p>
            <a:r>
              <a:rPr lang="en-GB" dirty="0" smtClean="0"/>
              <a:t>Another aspect of many successful ventures is called the </a:t>
            </a:r>
            <a:r>
              <a:rPr lang="en-GB" i="1" dirty="0" smtClean="0"/>
              <a:t>corridor principle. </a:t>
            </a:r>
            <a:endParaRPr lang="en-GB" i="1" dirty="0" smtClean="0"/>
          </a:p>
          <a:p>
            <a:pPr>
              <a:buNone/>
            </a:pPr>
            <a:endParaRPr lang="en-GB" i="1" dirty="0" smtClean="0"/>
          </a:p>
          <a:p>
            <a:r>
              <a:rPr lang="en-GB" dirty="0" smtClean="0"/>
              <a:t>The corridor principle suggests that opportunities evolve from entrepreneurs being positioned in similar work or having had experience with related ventures so that when a window opens it is easy for them to move quickly into a new venture. </a:t>
            </a:r>
            <a:endParaRPr lang="en-GB" dirty="0" smtClean="0"/>
          </a:p>
          <a:p>
            <a:pPr>
              <a:buNone/>
            </a:pPr>
            <a:endParaRPr lang="en-GB" dirty="0" smtClean="0"/>
          </a:p>
          <a:p>
            <a:r>
              <a:rPr lang="en-GB" dirty="0" smtClean="0"/>
              <a:t>A corollary is that as a venture becomes expert in one activity, related opportunities evolve, and many of them are more rewarding than the initial activity.</a:t>
            </a:r>
          </a:p>
          <a:p>
            <a:endParaRPr lang="en-GB"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980728"/>
          </a:xfrm>
        </p:spPr>
        <p:txBody>
          <a:bodyPr>
            <a:normAutofit/>
          </a:bodyPr>
          <a:lstStyle/>
          <a:p>
            <a:r>
              <a:rPr lang="en-GB" dirty="0" smtClean="0"/>
              <a:t>CORRIDOR PRINCIPLE</a:t>
            </a:r>
            <a:endParaRPr lang="en-GB" dirty="0"/>
          </a:p>
        </p:txBody>
      </p:sp>
      <p:sp>
        <p:nvSpPr>
          <p:cNvPr id="3" name="Content Placeholder 2"/>
          <p:cNvSpPr>
            <a:spLocks noGrp="1"/>
          </p:cNvSpPr>
          <p:nvPr>
            <p:ph sz="quarter" idx="1"/>
          </p:nvPr>
        </p:nvSpPr>
        <p:spPr>
          <a:xfrm>
            <a:off x="914400" y="980728"/>
            <a:ext cx="7772400" cy="5760640"/>
          </a:xfrm>
        </p:spPr>
        <p:txBody>
          <a:bodyPr>
            <a:normAutofit fontScale="92500"/>
          </a:bodyPr>
          <a:lstStyle/>
          <a:p>
            <a:r>
              <a:rPr lang="en-GB" dirty="0" smtClean="0"/>
              <a:t>The corridor principle is well known to scientists. </a:t>
            </a:r>
          </a:p>
          <a:p>
            <a:r>
              <a:rPr lang="en-GB" dirty="0" smtClean="0"/>
              <a:t>For example, Wilson </a:t>
            </a:r>
            <a:r>
              <a:rPr lang="en-GB" dirty="0" err="1" smtClean="0"/>
              <a:t>Greatbatch</a:t>
            </a:r>
            <a:r>
              <a:rPr lang="en-GB" dirty="0" smtClean="0"/>
              <a:t>, the inventor of the Pacemaker for heart patients, was an electrical engineer and 41 years of age before the idea evolved from hundreds of other electrical ideas and gadgets concocted in his garage workshop. </a:t>
            </a:r>
          </a:p>
          <a:p>
            <a:r>
              <a:rPr lang="en-GB" dirty="0" smtClean="0"/>
              <a:t>Probably a thorough résumé of most inventions and the entrepreneurs who commercialised them would reveal a series of closely related experiences that preceded success.</a:t>
            </a:r>
          </a:p>
          <a:p>
            <a:r>
              <a:rPr lang="en-GB" dirty="0" smtClean="0"/>
              <a:t>This does not mean that entrepreneurs must first work aimlessly and wait for a twist of fate to create opportunities. It means that entrepreneurs who are active and watching for changes are more likely to recognise opportunities when they occur. </a:t>
            </a:r>
          </a:p>
          <a:p>
            <a:r>
              <a:rPr lang="en-GB" dirty="0" smtClean="0"/>
              <a:t>Few new ventures arise through “luck,” which is one of the popular and inaccurate myths about entrepreneurial success </a:t>
            </a:r>
          </a:p>
          <a:p>
            <a:endParaRPr lang="en-GB"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908720"/>
          </a:xfrm>
        </p:spPr>
        <p:txBody>
          <a:bodyPr>
            <a:normAutofit/>
          </a:bodyPr>
          <a:lstStyle/>
          <a:p>
            <a:r>
              <a:rPr lang="en-GB" b="1" dirty="0" smtClean="0"/>
              <a:t>REVIEW</a:t>
            </a:r>
            <a:endParaRPr lang="en-GB" dirty="0"/>
          </a:p>
        </p:txBody>
      </p:sp>
      <p:sp>
        <p:nvSpPr>
          <p:cNvPr id="3" name="Content Placeholder 2"/>
          <p:cNvSpPr>
            <a:spLocks noGrp="1"/>
          </p:cNvSpPr>
          <p:nvPr>
            <p:ph sz="quarter" idx="1"/>
          </p:nvPr>
        </p:nvSpPr>
        <p:spPr/>
        <p:txBody>
          <a:bodyPr/>
          <a:lstStyle/>
          <a:p>
            <a:pPr lvl="0"/>
            <a:r>
              <a:rPr lang="en-GB" sz="4000" dirty="0" smtClean="0"/>
              <a:t>1.	Discuss why a window of opportunity is critical for success.</a:t>
            </a:r>
          </a:p>
          <a:p>
            <a:pPr lvl="0">
              <a:buNone/>
            </a:pPr>
            <a:endParaRPr lang="en-GB" sz="4000" dirty="0" smtClean="0"/>
          </a:p>
          <a:p>
            <a:pPr lvl="0"/>
            <a:r>
              <a:rPr lang="en-GB" sz="4000" dirty="0" smtClean="0"/>
              <a:t> 2.	Explain how a corridor influences the evolution of an innovation.</a:t>
            </a:r>
          </a:p>
          <a:p>
            <a:endParaRPr lang="en-GB"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50106"/>
          </a:xfrm>
        </p:spPr>
        <p:txBody>
          <a:bodyPr>
            <a:normAutofit/>
          </a:bodyPr>
          <a:lstStyle/>
          <a:p>
            <a:r>
              <a:rPr lang="en-GB" b="1" dirty="0" smtClean="0"/>
              <a:t>MYTHS - FANTASIES NOT FACTS</a:t>
            </a:r>
            <a:endParaRPr lang="en-GB" dirty="0"/>
          </a:p>
        </p:txBody>
      </p:sp>
      <p:sp>
        <p:nvSpPr>
          <p:cNvPr id="3" name="Content Placeholder 2"/>
          <p:cNvSpPr>
            <a:spLocks noGrp="1"/>
          </p:cNvSpPr>
          <p:nvPr>
            <p:ph sz="quarter" idx="1"/>
          </p:nvPr>
        </p:nvSpPr>
        <p:spPr>
          <a:xfrm>
            <a:off x="914400" y="1447800"/>
            <a:ext cx="7772400" cy="5221560"/>
          </a:xfrm>
        </p:spPr>
        <p:txBody>
          <a:bodyPr/>
          <a:lstStyle/>
          <a:p>
            <a:pPr>
              <a:buFont typeface="Arial" pitchFamily="34" charset="0"/>
              <a:buChar char="•"/>
            </a:pPr>
            <a:r>
              <a:rPr lang="en-GB" dirty="0" smtClean="0"/>
              <a:t>Folk heroes like Steven Jobs and Mitchell </a:t>
            </a:r>
            <a:r>
              <a:rPr lang="en-GB" dirty="0" err="1" smtClean="0"/>
              <a:t>Kapor</a:t>
            </a:r>
            <a:r>
              <a:rPr lang="en-GB" dirty="0" smtClean="0"/>
              <a:t> are beset by myths that they “stumbled into success” and got their ideas by accident. Not so. </a:t>
            </a:r>
          </a:p>
          <a:p>
            <a:pPr>
              <a:buFont typeface="Arial" pitchFamily="34" charset="0"/>
              <a:buChar char="•"/>
            </a:pPr>
            <a:r>
              <a:rPr lang="en-GB" dirty="0" smtClean="0"/>
              <a:t>Several references have been made earlier to each of these popular individuals, but what may not be clear is that they spent several years striving for a foothold in their particular fields. </a:t>
            </a:r>
          </a:p>
          <a:p>
            <a:pPr>
              <a:buFont typeface="Arial" pitchFamily="34" charset="0"/>
              <a:buChar char="•"/>
            </a:pPr>
            <a:r>
              <a:rPr lang="en-GB" dirty="0" smtClean="0"/>
              <a:t>Both men </a:t>
            </a:r>
            <a:r>
              <a:rPr lang="en-GB" i="1" dirty="0" smtClean="0"/>
              <a:t>made </a:t>
            </a:r>
            <a:r>
              <a:rPr lang="en-GB" dirty="0" smtClean="0"/>
              <a:t>success by creating their own brand of luck. There are other myths to be explored, but let's begin by expanding the notion of “luck.”</a:t>
            </a:r>
          </a:p>
          <a:p>
            <a:endParaRPr lang="en-GB"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850106"/>
          </a:xfrm>
        </p:spPr>
        <p:txBody>
          <a:bodyPr>
            <a:normAutofit/>
          </a:bodyPr>
          <a:lstStyle/>
          <a:p>
            <a:r>
              <a:rPr lang="en-GB" b="1" dirty="0" smtClean="0"/>
              <a:t>Luck Is for Gamblers</a:t>
            </a:r>
            <a:endParaRPr lang="en-GB" dirty="0"/>
          </a:p>
        </p:txBody>
      </p:sp>
      <p:sp>
        <p:nvSpPr>
          <p:cNvPr id="3" name="Content Placeholder 2"/>
          <p:cNvSpPr>
            <a:spLocks noGrp="1"/>
          </p:cNvSpPr>
          <p:nvPr>
            <p:ph sz="quarter" idx="1"/>
          </p:nvPr>
        </p:nvSpPr>
        <p:spPr/>
        <p:txBody>
          <a:bodyPr/>
          <a:lstStyle/>
          <a:p>
            <a:pPr>
              <a:buFont typeface="Arial" pitchFamily="34" charset="0"/>
              <a:buChar char="•"/>
            </a:pPr>
            <a:r>
              <a:rPr lang="en-GB" dirty="0" smtClean="0"/>
              <a:t> Clearly, there are individuals who seem to have an uncanny ability to be able to spot and to exploit opportunities, and luck (both good and bad) plays a role in the outcome of many ventures. </a:t>
            </a:r>
          </a:p>
          <a:p>
            <a:pPr>
              <a:buFont typeface="Arial" pitchFamily="34" charset="0"/>
              <a:buChar char="•"/>
            </a:pPr>
            <a:r>
              <a:rPr lang="en-GB" dirty="0" smtClean="0"/>
              <a:t>More often, successful individuals have been nourishing a concept for some time or working on closely related projects when a breakthrough occurs.</a:t>
            </a:r>
          </a:p>
          <a:p>
            <a:endParaRPr lang="en-GB"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188640"/>
            <a:ext cx="7772400" cy="720080"/>
          </a:xfrm>
        </p:spPr>
        <p:txBody>
          <a:bodyPr>
            <a:normAutofit fontScale="90000"/>
          </a:bodyPr>
          <a:lstStyle/>
          <a:p>
            <a:r>
              <a:rPr lang="en-GB" b="1" dirty="0" smtClean="0"/>
              <a:t>Make or Break on the First Venture</a:t>
            </a:r>
            <a:endParaRPr lang="en-GB" dirty="0"/>
          </a:p>
        </p:txBody>
      </p:sp>
      <p:sp>
        <p:nvSpPr>
          <p:cNvPr id="3" name="Content Placeholder 2"/>
          <p:cNvSpPr>
            <a:spLocks noGrp="1"/>
          </p:cNvSpPr>
          <p:nvPr>
            <p:ph sz="quarter" idx="1"/>
          </p:nvPr>
        </p:nvSpPr>
        <p:spPr>
          <a:xfrm>
            <a:off x="914400" y="1447800"/>
            <a:ext cx="7772400" cy="5221560"/>
          </a:xfrm>
        </p:spPr>
        <p:txBody>
          <a:bodyPr>
            <a:normAutofit/>
          </a:bodyPr>
          <a:lstStyle/>
          <a:p>
            <a:r>
              <a:rPr lang="en-GB" dirty="0" smtClean="0"/>
              <a:t>Another popular myth is that entrepreneurs strike it rich with the first great “flash of genius,” or, conversely, they fail miserably with the first venture. </a:t>
            </a:r>
          </a:p>
          <a:p>
            <a:r>
              <a:rPr lang="en-GB" dirty="0" smtClean="0"/>
              <a:t>Entrepreneurship is not a “boom or bust” process, even though many new firms succeed brilliantly and others do not survive for long. The point is that too much distortion exists on both issues. </a:t>
            </a:r>
          </a:p>
          <a:p>
            <a:r>
              <a:rPr lang="en-GB" dirty="0" smtClean="0"/>
              <a:t>Bankruptcy statistics suggest that of those who have gone bankrupt, 80 percent were in business for less than five years. That figure sounds terrible, but the qualifying point is that statistics are compiled on those firms who do go bankrupt. How many continue in business? </a:t>
            </a:r>
            <a:endParaRPr lang="en-GB"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t>Entrepreneurs Are Mavericks and Misfits</a:t>
            </a:r>
            <a:endParaRPr lang="en-GB" dirty="0"/>
          </a:p>
        </p:txBody>
      </p:sp>
      <p:sp>
        <p:nvSpPr>
          <p:cNvPr id="3" name="Content Placeholder 2"/>
          <p:cNvSpPr>
            <a:spLocks noGrp="1"/>
          </p:cNvSpPr>
          <p:nvPr>
            <p:ph sz="quarter" idx="1"/>
          </p:nvPr>
        </p:nvSpPr>
        <p:spPr>
          <a:xfrm>
            <a:off x="914400" y="1340768"/>
            <a:ext cx="7772400" cy="5256584"/>
          </a:xfrm>
        </p:spPr>
        <p:txBody>
          <a:bodyPr>
            <a:normAutofit lnSpcReduction="10000"/>
          </a:bodyPr>
          <a:lstStyle/>
          <a:p>
            <a:r>
              <a:rPr lang="en-GB" dirty="0" smtClean="0"/>
              <a:t> Evidence suggests that many entrepreneurs march to the proverbial different drummer. They are not always among the best students, and they tend to be restless in structured jobs. Consequently, they are likely to be unsettled wanderers. It is true that entrepreneurs prefer independence and can be rather rebellious, and both conditions can affect their performance in school and at work. </a:t>
            </a:r>
          </a:p>
          <a:p>
            <a:r>
              <a:rPr lang="en-GB" dirty="0" smtClean="0"/>
              <a:t>Most successful entrepreneurs, however, are from the ranks of above average students, and they are relatively unlikely to have drug or alcohol problems or to run afoul of the law. Entrepreneurs are </a:t>
            </a:r>
            <a:r>
              <a:rPr lang="en-GB" i="1" dirty="0" smtClean="0"/>
              <a:t>mavericks </a:t>
            </a:r>
            <a:r>
              <a:rPr lang="en-GB" dirty="0" smtClean="0"/>
              <a:t>in the sense that they instigate change and challenge the status quo, but they are not “misfits.”</a:t>
            </a:r>
          </a:p>
          <a:p>
            <a:endParaRPr lang="en-GB"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7772400" cy="980728"/>
          </a:xfrm>
        </p:spPr>
        <p:txBody>
          <a:bodyPr>
            <a:normAutofit/>
          </a:bodyPr>
          <a:lstStyle/>
          <a:p>
            <a:r>
              <a:rPr lang="en-GB" b="1" dirty="0" smtClean="0"/>
              <a:t>Are Entrepreneurs Born or Made?</a:t>
            </a:r>
            <a:endParaRPr lang="en-GB" dirty="0"/>
          </a:p>
        </p:txBody>
      </p:sp>
      <p:sp>
        <p:nvSpPr>
          <p:cNvPr id="3" name="Content Placeholder 2"/>
          <p:cNvSpPr>
            <a:spLocks noGrp="1"/>
          </p:cNvSpPr>
          <p:nvPr>
            <p:ph sz="quarter" idx="1"/>
          </p:nvPr>
        </p:nvSpPr>
        <p:spPr>
          <a:xfrm>
            <a:off x="914400" y="908720"/>
            <a:ext cx="7772400" cy="5760640"/>
          </a:xfrm>
        </p:spPr>
        <p:txBody>
          <a:bodyPr>
            <a:normAutofit/>
          </a:bodyPr>
          <a:lstStyle/>
          <a:p>
            <a:r>
              <a:rPr lang="en-GB" sz="3200" dirty="0" smtClean="0"/>
              <a:t> A persistent notion is that most entrepreneurs are "born" with innate characteristics that prepare them for the often topsy-turvy life of new venture creation. </a:t>
            </a:r>
            <a:endParaRPr lang="en-GB" sz="3200" dirty="0" smtClean="0"/>
          </a:p>
          <a:p>
            <a:pPr>
              <a:buNone/>
            </a:pPr>
            <a:endParaRPr lang="en-GB" sz="3200" dirty="0" smtClean="0"/>
          </a:p>
          <a:p>
            <a:r>
              <a:rPr lang="en-GB" sz="3200" dirty="0" smtClean="0"/>
              <a:t>Clearly, entrepreneurs have personal characteristics that lead to a more venturesome destiny. Successful entrepreneurs tend to be optimistic, have a keen sense of determination, are energetic, and often have an entrepreneurial parent</a:t>
            </a:r>
            <a:r>
              <a:rPr lang="en-GB" sz="3200" dirty="0" smtClean="0"/>
              <a:t>.</a:t>
            </a:r>
            <a:endParaRPr lang="en-GB" sz="3200"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Are Entrepreneurs Born or Made?</a:t>
            </a:r>
            <a:endParaRPr lang="en-GB" dirty="0"/>
          </a:p>
        </p:txBody>
      </p:sp>
      <p:sp>
        <p:nvSpPr>
          <p:cNvPr id="3" name="Content Placeholder 2"/>
          <p:cNvSpPr>
            <a:spLocks noGrp="1"/>
          </p:cNvSpPr>
          <p:nvPr>
            <p:ph sz="quarter" idx="1"/>
          </p:nvPr>
        </p:nvSpPr>
        <p:spPr>
          <a:xfrm>
            <a:off x="395536" y="1447800"/>
            <a:ext cx="8496944" cy="4572000"/>
          </a:xfrm>
        </p:spPr>
        <p:txBody>
          <a:bodyPr>
            <a:normAutofit fontScale="92500" lnSpcReduction="20000"/>
          </a:bodyPr>
          <a:lstStyle/>
          <a:p>
            <a:r>
              <a:rPr lang="en-GB" dirty="0" smtClean="0"/>
              <a:t> However, there is substantial evidence that entrepreneurial characteristics may be environmentally based. Firstborn children, for example, are often expected to take over parental businesses as heirs to established enterprises. One's childhood background often forges an entrepreneurial spirit, as individuals from less-fortunate economic conditions have to find routes to success other than through traditional jobs.</a:t>
            </a:r>
          </a:p>
          <a:p>
            <a:endParaRPr lang="en-GB" dirty="0" smtClean="0"/>
          </a:p>
          <a:p>
            <a:r>
              <a:rPr lang="en-GB" dirty="0" smtClean="0"/>
              <a:t>Those </a:t>
            </a:r>
            <a:r>
              <a:rPr lang="en-GB" dirty="0" smtClean="0"/>
              <a:t>who believe entrepreneurs are born conclude that entrepreneurship cannot be taught. This corollary myth would suggest that studying how new ventures are formed or how innovation takes place is of little value. If the environmental theme has credence, then learning as much as possible about the entrepreneurial process will better prepare students to succeed in business</a:t>
            </a:r>
          </a:p>
          <a:p>
            <a:endParaRPr lang="en-GB"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622</TotalTime>
  <Words>3765</Words>
  <Application>Microsoft Office PowerPoint</Application>
  <PresentationFormat>On-screen Show (4:3)</PresentationFormat>
  <Paragraphs>262</Paragraphs>
  <Slides>51</Slides>
  <Notes>1</Notes>
  <HiddenSlides>0</HiddenSlides>
  <MMClips>0</MMClip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Equity</vt:lpstr>
      <vt:lpstr> 2-Entrepreneurship - Creativity and Innovation </vt:lpstr>
      <vt:lpstr>OBJECTIVES</vt:lpstr>
      <vt:lpstr>INTRODUCTION</vt:lpstr>
      <vt:lpstr>INTRODUCTION</vt:lpstr>
      <vt:lpstr>INTRODUCTION</vt:lpstr>
      <vt:lpstr>CREATIVITY AS A PREREQUISITE TO INNOVATION</vt:lpstr>
      <vt:lpstr>The Creative Process</vt:lpstr>
      <vt:lpstr>Idea Germination</vt:lpstr>
      <vt:lpstr>Preparation.</vt:lpstr>
      <vt:lpstr>Preparation.</vt:lpstr>
      <vt:lpstr>Incubation</vt:lpstr>
      <vt:lpstr>Illumination</vt:lpstr>
      <vt:lpstr>Illumination</vt:lpstr>
      <vt:lpstr>Verification</vt:lpstr>
      <vt:lpstr>Verification</vt:lpstr>
      <vt:lpstr>REVIEW</vt:lpstr>
      <vt:lpstr>INNOVATION AND ENTREPRENEURSHIP</vt:lpstr>
      <vt:lpstr>INVENTIONS</vt:lpstr>
      <vt:lpstr>INNOVATION</vt:lpstr>
      <vt:lpstr>Technological Innovation</vt:lpstr>
      <vt:lpstr>Key People in Technological Innovation</vt:lpstr>
      <vt:lpstr>The creative source &amp; Co</vt:lpstr>
      <vt:lpstr>Seven Conditions</vt:lpstr>
      <vt:lpstr>Seven Conditions</vt:lpstr>
      <vt:lpstr>Seven Conditions</vt:lpstr>
      <vt:lpstr>REVIEW</vt:lpstr>
      <vt:lpstr>OPPORTUNITIES THROUGH CHANGE</vt:lpstr>
      <vt:lpstr>Scientific Knowledge</vt:lpstr>
      <vt:lpstr>Scientific Knowledge</vt:lpstr>
      <vt:lpstr>Scientific Knowledge</vt:lpstr>
      <vt:lpstr>Process Innovations</vt:lpstr>
      <vt:lpstr>Process Innovations</vt:lpstr>
      <vt:lpstr>Industrial Changes</vt:lpstr>
      <vt:lpstr>Industrial Changes</vt:lpstr>
      <vt:lpstr>Market Changes</vt:lpstr>
      <vt:lpstr>Market Changes</vt:lpstr>
      <vt:lpstr>Market Changes</vt:lpstr>
      <vt:lpstr>Demographic Changes</vt:lpstr>
      <vt:lpstr>Social and Cultural Changes</vt:lpstr>
      <vt:lpstr>Social and Cultural Changes</vt:lpstr>
      <vt:lpstr>Demographic Changes</vt:lpstr>
      <vt:lpstr>WINDOWS AND CORRIDORS</vt:lpstr>
      <vt:lpstr>CORRIDOR PRINCIPLE</vt:lpstr>
      <vt:lpstr>CORRIDOR PRINCIPLE</vt:lpstr>
      <vt:lpstr>REVIEW</vt:lpstr>
      <vt:lpstr>MYTHS - FANTASIES NOT FACTS</vt:lpstr>
      <vt:lpstr>Luck Is for Gamblers</vt:lpstr>
      <vt:lpstr>Make or Break on the First Venture</vt:lpstr>
      <vt:lpstr>Entrepreneurs Are Mavericks and Misfits</vt:lpstr>
      <vt:lpstr>Are Entrepreneurs Born or Made?</vt:lpstr>
      <vt:lpstr>Are Entrepreneurs Born or Made?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2-Entrepreneurship - Creativity and Innovation</dc:title>
  <dc:creator>Araba Kwegyirba</dc:creator>
  <cp:lastModifiedBy>Araba Kwegyirba</cp:lastModifiedBy>
  <cp:revision>53</cp:revision>
  <dcterms:created xsi:type="dcterms:W3CDTF">2011-01-09T05:49:55Z</dcterms:created>
  <dcterms:modified xsi:type="dcterms:W3CDTF">2013-01-06T12:18:59Z</dcterms:modified>
</cp:coreProperties>
</file>