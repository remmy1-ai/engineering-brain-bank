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62" r:id="rId4"/>
    <p:sldId id="287" r:id="rId5"/>
    <p:sldId id="258" r:id="rId6"/>
    <p:sldId id="259" r:id="rId7"/>
    <p:sldId id="260" r:id="rId8"/>
    <p:sldId id="293" r:id="rId9"/>
    <p:sldId id="261" r:id="rId10"/>
    <p:sldId id="264" r:id="rId11"/>
    <p:sldId id="265" r:id="rId12"/>
    <p:sldId id="294" r:id="rId13"/>
    <p:sldId id="266" r:id="rId14"/>
    <p:sldId id="267" r:id="rId15"/>
    <p:sldId id="290" r:id="rId16"/>
    <p:sldId id="268" r:id="rId17"/>
    <p:sldId id="295" r:id="rId18"/>
    <p:sldId id="269" r:id="rId19"/>
    <p:sldId id="270" r:id="rId20"/>
    <p:sldId id="271" r:id="rId21"/>
    <p:sldId id="272" r:id="rId22"/>
    <p:sldId id="296" r:id="rId23"/>
    <p:sldId id="273" r:id="rId24"/>
    <p:sldId id="274" r:id="rId25"/>
    <p:sldId id="275" r:id="rId26"/>
    <p:sldId id="288" r:id="rId27"/>
    <p:sldId id="276" r:id="rId28"/>
    <p:sldId id="286" r:id="rId29"/>
    <p:sldId id="289" r:id="rId30"/>
    <p:sldId id="291" r:id="rId31"/>
    <p:sldId id="277" r:id="rId32"/>
    <p:sldId id="292" r:id="rId33"/>
    <p:sldId id="278" r:id="rId34"/>
    <p:sldId id="279" r:id="rId35"/>
    <p:sldId id="280" r:id="rId36"/>
    <p:sldId id="281" r:id="rId37"/>
    <p:sldId id="282" r:id="rId38"/>
    <p:sldId id="297" r:id="rId39"/>
    <p:sldId id="283" r:id="rId40"/>
    <p:sldId id="284" r:id="rId41"/>
    <p:sldId id="285"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61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A00961C-0F2F-42B3-88F8-54CFD75D3EE8}" type="datetimeFigureOut">
              <a:rPr lang="en-GB" smtClean="0"/>
              <a:pPr/>
              <a:t>27/01/2014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7131290-9C99-43DA-A81E-6E6F40B511D0}"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00961C-0F2F-42B3-88F8-54CFD75D3EE8}" type="datetimeFigureOut">
              <a:rPr lang="en-GB" smtClean="0"/>
              <a:pPr/>
              <a:t>27/01/2014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131290-9C99-43DA-A81E-6E6F40B511D0}"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smtClean="0"/>
              <a:t>ENTREPRENEURSHIP &amp; NEW VENTURE DEVELOPMENT</a:t>
            </a:r>
            <a:endParaRPr lang="en-GB" dirty="0"/>
          </a:p>
        </p:txBody>
      </p:sp>
      <p:sp>
        <p:nvSpPr>
          <p:cNvPr id="3" name="Subtitle 2"/>
          <p:cNvSpPr>
            <a:spLocks noGrp="1"/>
          </p:cNvSpPr>
          <p:nvPr>
            <p:ph type="subTitle" idx="1"/>
          </p:nvPr>
        </p:nvSpPr>
        <p:spPr/>
        <p:txBody>
          <a:bodyPr>
            <a:noAutofit/>
          </a:bodyPr>
          <a:lstStyle/>
          <a:p>
            <a:r>
              <a:rPr lang="en-GB" sz="4000" dirty="0" smtClean="0"/>
              <a:t>Entrepreneurship and</a:t>
            </a:r>
            <a:br>
              <a:rPr lang="en-GB" sz="4000" dirty="0" smtClean="0"/>
            </a:br>
            <a:r>
              <a:rPr lang="en-GB" sz="4000" dirty="0" smtClean="0"/>
              <a:t>New Venture Opportunities</a:t>
            </a:r>
            <a:endParaRPr lang="en-GB" sz="4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Entrepreneurship and</a:t>
            </a:r>
            <a:br>
              <a:rPr lang="en-GB" dirty="0" smtClean="0"/>
            </a:br>
            <a:r>
              <a:rPr lang="en-GB" dirty="0" smtClean="0"/>
              <a:t>New Venture Opportunities</a:t>
            </a:r>
            <a:endParaRPr lang="en-GB" dirty="0"/>
          </a:p>
        </p:txBody>
      </p:sp>
      <p:sp>
        <p:nvSpPr>
          <p:cNvPr id="3" name="Content Placeholder 2"/>
          <p:cNvSpPr>
            <a:spLocks noGrp="1"/>
          </p:cNvSpPr>
          <p:nvPr>
            <p:ph idx="1"/>
          </p:nvPr>
        </p:nvSpPr>
        <p:spPr/>
        <p:txBody>
          <a:bodyPr>
            <a:normAutofit fontScale="85000" lnSpcReduction="20000"/>
          </a:bodyPr>
          <a:lstStyle/>
          <a:p>
            <a:r>
              <a:rPr lang="en-GB" i="1" dirty="0"/>
              <a:t>OBJECTIVES</a:t>
            </a:r>
            <a:endParaRPr lang="en-GB" dirty="0"/>
          </a:p>
          <a:p>
            <a:r>
              <a:rPr lang="en-GB" dirty="0"/>
              <a:t>1.	Describe how entrepreneurship evolved from </a:t>
            </a:r>
            <a:r>
              <a:rPr lang="en-GB" dirty="0" smtClean="0"/>
              <a:t>	economic</a:t>
            </a:r>
            <a:r>
              <a:rPr lang="en-GB" b="1" dirty="0" smtClean="0"/>
              <a:t> </a:t>
            </a:r>
            <a:r>
              <a:rPr lang="en-GB" dirty="0"/>
              <a:t>theory.</a:t>
            </a:r>
          </a:p>
          <a:p>
            <a:r>
              <a:rPr lang="en-GB" dirty="0"/>
              <a:t>2.	Explain entrepreneurship and the characteristics of </a:t>
            </a:r>
            <a:r>
              <a:rPr lang="en-GB" dirty="0" smtClean="0"/>
              <a:t>	entrepreneurs</a:t>
            </a:r>
            <a:r>
              <a:rPr lang="en-GB" dirty="0"/>
              <a:t>.</a:t>
            </a:r>
          </a:p>
          <a:p>
            <a:r>
              <a:rPr lang="en-GB" dirty="0"/>
              <a:t>3.	Discuss small business as a dimension of </a:t>
            </a:r>
            <a:r>
              <a:rPr lang="en-GB" dirty="0" smtClean="0"/>
              <a:t>	entrepreneurship</a:t>
            </a:r>
            <a:r>
              <a:rPr lang="en-GB" dirty="0"/>
              <a:t>.</a:t>
            </a:r>
          </a:p>
          <a:p>
            <a:r>
              <a:rPr lang="en-GB" dirty="0"/>
              <a:t>4.	Describe the concept of corporate </a:t>
            </a:r>
            <a:r>
              <a:rPr lang="en-GB" dirty="0" smtClean="0"/>
              <a:t>	entrepreneurship</a:t>
            </a:r>
            <a:r>
              <a:rPr lang="en-GB" dirty="0"/>
              <a:t>.</a:t>
            </a:r>
          </a:p>
          <a:p>
            <a:pPr lvl="0"/>
            <a:r>
              <a:rPr lang="en-GB" dirty="0" smtClean="0"/>
              <a:t>5.	Explain </a:t>
            </a:r>
            <a:r>
              <a:rPr lang="en-GB" dirty="0"/>
              <a:t>how entrepreneurship has influenced </a:t>
            </a:r>
            <a:r>
              <a:rPr lang="en-GB" dirty="0" smtClean="0"/>
              <a:t>   	economic </a:t>
            </a:r>
            <a:r>
              <a:rPr lang="en-GB" dirty="0"/>
              <a:t>development and productivity in recent </a:t>
            </a:r>
            <a:r>
              <a:rPr lang="en-GB" dirty="0" smtClean="0"/>
              <a:t>	years</a:t>
            </a:r>
            <a:r>
              <a:rPr lang="en-GB" dirty="0"/>
              <a:t>.</a:t>
            </a:r>
          </a:p>
          <a:p>
            <a:endParaRPr lang="en-GB"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idx="1"/>
          </p:nvPr>
        </p:nvSpPr>
        <p:spPr>
          <a:xfrm>
            <a:off x="457200" y="1600200"/>
            <a:ext cx="8229600" cy="5069160"/>
          </a:xfrm>
        </p:spPr>
        <p:txBody>
          <a:bodyPr>
            <a:normAutofit/>
          </a:bodyPr>
          <a:lstStyle/>
          <a:p>
            <a:r>
              <a:rPr lang="en-GB" dirty="0"/>
              <a:t>The concept of entrepreneurship has been around for a very long time, but its resurgent popularity implies a “sudden discovery”‑ as if we had stumbled onto a new direction for enterprises. </a:t>
            </a:r>
            <a:endParaRPr lang="en-GB" dirty="0" smtClean="0"/>
          </a:p>
          <a:p>
            <a:r>
              <a:rPr lang="en-GB" dirty="0" smtClean="0"/>
              <a:t>This </a:t>
            </a:r>
            <a:r>
              <a:rPr lang="en-GB" dirty="0"/>
              <a:t>is a </a:t>
            </a:r>
            <a:r>
              <a:rPr lang="en-GB" dirty="0" smtClean="0"/>
              <a:t>myth because </a:t>
            </a:r>
            <a:r>
              <a:rPr lang="en-GB" dirty="0"/>
              <a:t>the system of free enterprise has always engendered the spirit of entrepreneurship. </a:t>
            </a:r>
          </a:p>
          <a:p>
            <a:endParaRPr lang="en-GB"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idx="1"/>
          </p:nvPr>
        </p:nvSpPr>
        <p:spPr/>
        <p:txBody>
          <a:bodyPr/>
          <a:lstStyle/>
          <a:p>
            <a:r>
              <a:rPr lang="en-GB" dirty="0" smtClean="0"/>
              <a:t>A very good example of the role and spirit of entrepreneurship can be found in the American example.  </a:t>
            </a:r>
          </a:p>
          <a:p>
            <a:r>
              <a:rPr lang="en-GB" dirty="0" smtClean="0"/>
              <a:t>That country was discovered by entrepreneurs and nourished by entrepreneurs, and it became a world economic power through entrepreneurial activity.</a:t>
            </a:r>
          </a:p>
          <a:p>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52736"/>
          </a:xfrm>
        </p:spPr>
        <p:txBody>
          <a:bodyPr/>
          <a:lstStyle/>
          <a:p>
            <a:r>
              <a:rPr lang="en-GB" dirty="0" smtClean="0"/>
              <a:t>Introduction</a:t>
            </a:r>
            <a:endParaRPr lang="en-GB" dirty="0"/>
          </a:p>
        </p:txBody>
      </p:sp>
      <p:sp>
        <p:nvSpPr>
          <p:cNvPr id="3" name="Content Placeholder 2"/>
          <p:cNvSpPr>
            <a:spLocks noGrp="1"/>
          </p:cNvSpPr>
          <p:nvPr>
            <p:ph idx="1"/>
          </p:nvPr>
        </p:nvSpPr>
        <p:spPr>
          <a:xfrm>
            <a:off x="457200" y="1196752"/>
            <a:ext cx="8229600" cy="5661248"/>
          </a:xfrm>
        </p:spPr>
        <p:txBody>
          <a:bodyPr>
            <a:normAutofit fontScale="92500"/>
          </a:bodyPr>
          <a:lstStyle/>
          <a:p>
            <a:r>
              <a:rPr lang="en-GB" sz="3600" dirty="0"/>
              <a:t>More importantly, the economic future of Ghana, and indeed the rest of the whole world, rests squarely on entrepreneurial ventures founded by creative individuals</a:t>
            </a:r>
            <a:r>
              <a:rPr lang="en-GB" sz="3600" dirty="0" smtClean="0"/>
              <a:t>.</a:t>
            </a:r>
          </a:p>
          <a:p>
            <a:pPr>
              <a:buNone/>
            </a:pPr>
            <a:endParaRPr lang="en-GB" sz="3600" dirty="0" smtClean="0"/>
          </a:p>
          <a:p>
            <a:r>
              <a:rPr lang="en-GB" sz="3600" dirty="0" smtClean="0"/>
              <a:t> </a:t>
            </a:r>
            <a:r>
              <a:rPr lang="en-GB" sz="3600" dirty="0"/>
              <a:t>These people are inspired, often adventurers, who can at once disrupt a society and instigate progress. They are risk takers who seize opportunities to harness and use resources in unusual ways.</a:t>
            </a:r>
          </a:p>
          <a:p>
            <a:endParaRPr lang="en-GB"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fontScale="90000"/>
          </a:bodyPr>
          <a:lstStyle/>
          <a:p>
            <a:r>
              <a:rPr lang="en-GB" dirty="0" smtClean="0"/>
              <a:t>Entrepreneurship &amp; Economic Theory</a:t>
            </a:r>
            <a:endParaRPr lang="en-GB" dirty="0"/>
          </a:p>
        </p:txBody>
      </p:sp>
      <p:sp>
        <p:nvSpPr>
          <p:cNvPr id="3" name="Content Placeholder 2"/>
          <p:cNvSpPr>
            <a:spLocks noGrp="1"/>
          </p:cNvSpPr>
          <p:nvPr>
            <p:ph idx="1"/>
          </p:nvPr>
        </p:nvSpPr>
        <p:spPr>
          <a:xfrm>
            <a:off x="179512" y="1124744"/>
            <a:ext cx="8784976" cy="5472608"/>
          </a:xfrm>
        </p:spPr>
        <p:txBody>
          <a:bodyPr>
            <a:normAutofit/>
          </a:bodyPr>
          <a:lstStyle/>
          <a:p>
            <a:r>
              <a:rPr lang="en-GB" dirty="0"/>
              <a:t>Entrepreneurship is one of the four mainstream economic factors: land, labour, capital and entrepreneurship. </a:t>
            </a:r>
            <a:endParaRPr lang="en-GB" dirty="0" smtClean="0"/>
          </a:p>
          <a:p>
            <a:r>
              <a:rPr lang="en-GB" dirty="0" smtClean="0"/>
              <a:t>The </a:t>
            </a:r>
            <a:r>
              <a:rPr lang="en-GB" dirty="0"/>
              <a:t>word itself, derived from 17th‑century French “</a:t>
            </a:r>
            <a:r>
              <a:rPr lang="en-GB" dirty="0" err="1"/>
              <a:t>entreprendre</a:t>
            </a:r>
            <a:r>
              <a:rPr lang="en-GB" dirty="0"/>
              <a:t>”</a:t>
            </a:r>
            <a:r>
              <a:rPr lang="en-GB" i="1" dirty="0"/>
              <a:t>, </a:t>
            </a:r>
            <a:r>
              <a:rPr lang="en-GB" dirty="0"/>
              <a:t>refers to individuals who were ‑undertakers, meaning those who "undertook‑ the risk of new enterprise. They were ‑contractors‑ who bore the risks of profit or loss, and many early entrepreneurs were soldiers of fortune, adventurers, builders, and merchants.</a:t>
            </a:r>
          </a:p>
          <a:p>
            <a:endParaRPr lang="en-GB"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52736"/>
          </a:xfrm>
        </p:spPr>
        <p:txBody>
          <a:bodyPr>
            <a:normAutofit/>
          </a:bodyPr>
          <a:lstStyle/>
          <a:p>
            <a:r>
              <a:rPr lang="en-GB" b="1" dirty="0"/>
              <a:t>Economics and </a:t>
            </a:r>
            <a:r>
              <a:rPr lang="en-GB" b="1" dirty="0" smtClean="0"/>
              <a:t>Entrepreneurship</a:t>
            </a:r>
            <a:endParaRPr lang="en-GB" dirty="0"/>
          </a:p>
        </p:txBody>
      </p:sp>
      <p:sp>
        <p:nvSpPr>
          <p:cNvPr id="3" name="Content Placeholder 2"/>
          <p:cNvSpPr>
            <a:spLocks noGrp="1"/>
          </p:cNvSpPr>
          <p:nvPr>
            <p:ph idx="1"/>
          </p:nvPr>
        </p:nvSpPr>
        <p:spPr>
          <a:xfrm>
            <a:off x="179512" y="980728"/>
            <a:ext cx="8964488" cy="5877272"/>
          </a:xfrm>
        </p:spPr>
        <p:txBody>
          <a:bodyPr>
            <a:normAutofit/>
          </a:bodyPr>
          <a:lstStyle/>
          <a:p>
            <a:r>
              <a:rPr lang="en-GB" dirty="0"/>
              <a:t>Richard </a:t>
            </a:r>
            <a:r>
              <a:rPr lang="en-GB" dirty="0" err="1"/>
              <a:t>Cantillon</a:t>
            </a:r>
            <a:r>
              <a:rPr lang="en-GB" dirty="0"/>
              <a:t>, a French economist of Irish descent, is credited with giving the concept of entrepreneurship a central role in economics</a:t>
            </a:r>
            <a:r>
              <a:rPr lang="en-GB" dirty="0" smtClean="0"/>
              <a:t>.</a:t>
            </a:r>
          </a:p>
          <a:p>
            <a:pPr>
              <a:buNone/>
            </a:pPr>
            <a:endParaRPr lang="en-GB" dirty="0" smtClean="0"/>
          </a:p>
          <a:p>
            <a:r>
              <a:rPr lang="en-GB" dirty="0" smtClean="0"/>
              <a:t> </a:t>
            </a:r>
            <a:r>
              <a:rPr lang="en-GB" dirty="0"/>
              <a:t>In his </a:t>
            </a:r>
            <a:r>
              <a:rPr lang="en-GB" i="1" dirty="0" err="1"/>
              <a:t>Essai</a:t>
            </a:r>
            <a:r>
              <a:rPr lang="en-GB" i="1" dirty="0"/>
              <a:t> </a:t>
            </a:r>
            <a:r>
              <a:rPr lang="en-GB" i="1" dirty="0" err="1"/>
              <a:t>sur</a:t>
            </a:r>
            <a:r>
              <a:rPr lang="en-GB" i="1" dirty="0"/>
              <a:t> la nature du commerce en general, </a:t>
            </a:r>
            <a:r>
              <a:rPr lang="en-GB" dirty="0"/>
              <a:t>published posthumously in 1755, </a:t>
            </a:r>
            <a:r>
              <a:rPr lang="en-GB" dirty="0" err="1"/>
              <a:t>Cantillon</a:t>
            </a:r>
            <a:r>
              <a:rPr lang="en-GB" dirty="0"/>
              <a:t> described an entrepreneur as a person who pays a certain price for a product to resell it at an uncertain price, thereby making decisions about obtaining and using resources while consequently assuming the risk of enterprise. </a:t>
            </a:r>
            <a:endParaRPr lang="en-GB"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24744"/>
          </a:xfrm>
        </p:spPr>
        <p:txBody>
          <a:bodyPr/>
          <a:lstStyle/>
          <a:p>
            <a:r>
              <a:rPr lang="en-GB" dirty="0" smtClean="0"/>
              <a:t>Richard </a:t>
            </a:r>
            <a:r>
              <a:rPr lang="en-GB" dirty="0" err="1" smtClean="0"/>
              <a:t>Cantillon</a:t>
            </a:r>
            <a:endParaRPr lang="en-GB" dirty="0"/>
          </a:p>
        </p:txBody>
      </p:sp>
      <p:sp>
        <p:nvSpPr>
          <p:cNvPr id="3" name="Content Placeholder 2"/>
          <p:cNvSpPr>
            <a:spLocks noGrp="1"/>
          </p:cNvSpPr>
          <p:nvPr>
            <p:ph idx="1"/>
          </p:nvPr>
        </p:nvSpPr>
        <p:spPr>
          <a:xfrm>
            <a:off x="179512" y="1340768"/>
            <a:ext cx="8784976" cy="5112568"/>
          </a:xfrm>
        </p:spPr>
        <p:txBody>
          <a:bodyPr/>
          <a:lstStyle/>
          <a:p>
            <a:r>
              <a:rPr lang="en-GB" dirty="0" smtClean="0"/>
              <a:t>A critical point in </a:t>
            </a:r>
            <a:r>
              <a:rPr lang="en-GB" dirty="0" err="1" smtClean="0"/>
              <a:t>Cantillon's</a:t>
            </a:r>
            <a:r>
              <a:rPr lang="en-GB" dirty="0" smtClean="0"/>
              <a:t> argument was that entrepreneurs </a:t>
            </a:r>
            <a:r>
              <a:rPr lang="en-GB" i="1" dirty="0" smtClean="0"/>
              <a:t>consciously make decisions </a:t>
            </a:r>
            <a:r>
              <a:rPr lang="en-GB" dirty="0" smtClean="0"/>
              <a:t>about resource allocations. </a:t>
            </a:r>
          </a:p>
          <a:p>
            <a:pPr>
              <a:buNone/>
            </a:pPr>
            <a:endParaRPr lang="en-GB" dirty="0" smtClean="0"/>
          </a:p>
          <a:p>
            <a:r>
              <a:rPr lang="en-GB" dirty="0" smtClean="0"/>
              <a:t>Consequently, astute entrepreneurs would always seek the best opportunities for using resources for their highest commercial yields.</a:t>
            </a:r>
          </a:p>
          <a:p>
            <a:endParaRPr lang="en-GB"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lstStyle/>
          <a:p>
            <a:r>
              <a:rPr lang="en-GB" dirty="0" smtClean="0"/>
              <a:t>Adam Smith</a:t>
            </a:r>
            <a:endParaRPr lang="en-GB" dirty="0"/>
          </a:p>
        </p:txBody>
      </p:sp>
      <p:sp>
        <p:nvSpPr>
          <p:cNvPr id="3" name="Content Placeholder 2"/>
          <p:cNvSpPr>
            <a:spLocks noGrp="1"/>
          </p:cNvSpPr>
          <p:nvPr>
            <p:ph idx="1"/>
          </p:nvPr>
        </p:nvSpPr>
        <p:spPr>
          <a:xfrm>
            <a:off x="251520" y="980728"/>
            <a:ext cx="8640960" cy="5688632"/>
          </a:xfrm>
        </p:spPr>
        <p:txBody>
          <a:bodyPr>
            <a:normAutofit fontScale="92500"/>
          </a:bodyPr>
          <a:lstStyle/>
          <a:p>
            <a:r>
              <a:rPr lang="en-GB" dirty="0"/>
              <a:t>Adam Smith spoke of the "enterpriser‑ in his 1776 </a:t>
            </a:r>
            <a:r>
              <a:rPr lang="en-GB" i="1" dirty="0"/>
              <a:t>Wealth of Nations' </a:t>
            </a:r>
            <a:r>
              <a:rPr lang="en-GB" dirty="0"/>
              <a:t>as an individual who undertook the formation of an organisation for commercial purposes</a:t>
            </a:r>
            <a:r>
              <a:rPr lang="en-GB" dirty="0" smtClean="0"/>
              <a:t>.</a:t>
            </a:r>
          </a:p>
          <a:p>
            <a:r>
              <a:rPr lang="en-GB" dirty="0" smtClean="0"/>
              <a:t> </a:t>
            </a:r>
            <a:r>
              <a:rPr lang="en-GB" dirty="0"/>
              <a:t>He thereby ascribed to the entrepreneur the role of industrialist, but he also viewed the entrepreneur as a person with unusual foresight who could recognise potential demand for goods and services</a:t>
            </a:r>
            <a:r>
              <a:rPr lang="en-GB" dirty="0" smtClean="0"/>
              <a:t>.</a:t>
            </a:r>
          </a:p>
          <a:p>
            <a:r>
              <a:rPr lang="en-GB" dirty="0" smtClean="0"/>
              <a:t> </a:t>
            </a:r>
            <a:r>
              <a:rPr lang="en-GB" dirty="0"/>
              <a:t>In Smith's view, entrepreneurs reacted to economic change, thereby becoming the economic agents who transformed demand into supply.</a:t>
            </a:r>
          </a:p>
          <a:p>
            <a:endParaRPr lang="en-GB"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92696"/>
          </a:xfrm>
        </p:spPr>
        <p:txBody>
          <a:bodyPr>
            <a:normAutofit fontScale="90000"/>
          </a:bodyPr>
          <a:lstStyle/>
          <a:p>
            <a:r>
              <a:rPr lang="en-GB" dirty="0" smtClean="0"/>
              <a:t>Jean </a:t>
            </a:r>
            <a:r>
              <a:rPr lang="en-GB" dirty="0" err="1" smtClean="0"/>
              <a:t>Baptiste</a:t>
            </a:r>
            <a:r>
              <a:rPr lang="en-GB" dirty="0" smtClean="0"/>
              <a:t> Say</a:t>
            </a:r>
            <a:endParaRPr lang="en-GB" dirty="0"/>
          </a:p>
        </p:txBody>
      </p:sp>
      <p:sp>
        <p:nvSpPr>
          <p:cNvPr id="3" name="Content Placeholder 2"/>
          <p:cNvSpPr>
            <a:spLocks noGrp="1"/>
          </p:cNvSpPr>
          <p:nvPr>
            <p:ph idx="1"/>
          </p:nvPr>
        </p:nvSpPr>
        <p:spPr>
          <a:xfrm>
            <a:off x="179512" y="764704"/>
            <a:ext cx="8712968" cy="5904656"/>
          </a:xfrm>
        </p:spPr>
        <p:txBody>
          <a:bodyPr>
            <a:normAutofit fontScale="92500" lnSpcReduction="20000"/>
          </a:bodyPr>
          <a:lstStyle/>
          <a:p>
            <a:r>
              <a:rPr lang="en-GB" dirty="0"/>
              <a:t>French economist Jean </a:t>
            </a:r>
            <a:r>
              <a:rPr lang="en-GB" dirty="0" err="1"/>
              <a:t>Baptiste</a:t>
            </a:r>
            <a:r>
              <a:rPr lang="en-GB" dirty="0"/>
              <a:t> Say, in his 1803 </a:t>
            </a:r>
            <a:r>
              <a:rPr lang="en-GB" i="1" dirty="0" err="1"/>
              <a:t>Traite</a:t>
            </a:r>
            <a:r>
              <a:rPr lang="en-GB" i="1" dirty="0"/>
              <a:t> </a:t>
            </a:r>
            <a:r>
              <a:rPr lang="en-GB" i="1" dirty="0" err="1"/>
              <a:t>d'economie</a:t>
            </a:r>
            <a:r>
              <a:rPr lang="en-GB" i="1" dirty="0"/>
              <a:t> </a:t>
            </a:r>
            <a:r>
              <a:rPr lang="en-GB" i="1" dirty="0" err="1"/>
              <a:t>politique</a:t>
            </a:r>
            <a:r>
              <a:rPr lang="en-GB" i="1" dirty="0"/>
              <a:t>. </a:t>
            </a:r>
            <a:r>
              <a:rPr lang="en-GB" dirty="0"/>
              <a:t>(Translated into English in 1845 as A </a:t>
            </a:r>
            <a:r>
              <a:rPr lang="en-GB" i="1" dirty="0"/>
              <a:t>Treatise on Political Economy), </a:t>
            </a:r>
            <a:r>
              <a:rPr lang="en-GB" dirty="0"/>
              <a:t>described an entrepreneur as one who possessed certain arts and skills of creating new economic enterprises, yet a person who had exceptional insight into society's needs and was able to </a:t>
            </a:r>
            <a:r>
              <a:rPr lang="en-GB" dirty="0" err="1"/>
              <a:t>fulfill</a:t>
            </a:r>
            <a:r>
              <a:rPr lang="en-GB" dirty="0"/>
              <a:t> them. </a:t>
            </a:r>
            <a:endParaRPr lang="en-GB" dirty="0" smtClean="0"/>
          </a:p>
          <a:p>
            <a:r>
              <a:rPr lang="en-GB" dirty="0" smtClean="0"/>
              <a:t>Say</a:t>
            </a:r>
            <a:r>
              <a:rPr lang="en-GB" dirty="0"/>
              <a:t>, therefore combined the "economic risk taker” of </a:t>
            </a:r>
            <a:r>
              <a:rPr lang="en-GB" dirty="0" err="1"/>
              <a:t>Cantillon</a:t>
            </a:r>
            <a:r>
              <a:rPr lang="en-GB" dirty="0"/>
              <a:t> and the “industrial manager” of Smith into an unusual character. </a:t>
            </a:r>
            <a:endParaRPr lang="en-GB" dirty="0" smtClean="0"/>
          </a:p>
          <a:p>
            <a:r>
              <a:rPr lang="en-GB" dirty="0" smtClean="0"/>
              <a:t>Say's </a:t>
            </a:r>
            <a:r>
              <a:rPr lang="en-GB" dirty="0"/>
              <a:t>entrepreneur </a:t>
            </a:r>
            <a:r>
              <a:rPr lang="en-GB" i="1" dirty="0"/>
              <a:t>influenced </a:t>
            </a:r>
            <a:r>
              <a:rPr lang="en-GB" dirty="0"/>
              <a:t>society by creating new enterprises and at the same time was </a:t>
            </a:r>
            <a:r>
              <a:rPr lang="en-GB" i="1" dirty="0"/>
              <a:t>influenced </a:t>
            </a:r>
            <a:r>
              <a:rPr lang="en-GB" dirty="0"/>
              <a:t>by society to recognise needs and fulfil them through astute management of resources.</a:t>
            </a:r>
          </a:p>
          <a:p>
            <a:endParaRPr lang="en-GB"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20688"/>
          </a:xfrm>
        </p:spPr>
        <p:txBody>
          <a:bodyPr>
            <a:normAutofit fontScale="90000"/>
          </a:bodyPr>
          <a:lstStyle/>
          <a:p>
            <a:r>
              <a:rPr lang="en-GB" dirty="0" smtClean="0"/>
              <a:t>John Stuart Mill </a:t>
            </a:r>
            <a:endParaRPr lang="en-GB" dirty="0"/>
          </a:p>
        </p:txBody>
      </p:sp>
      <p:sp>
        <p:nvSpPr>
          <p:cNvPr id="3" name="Content Placeholder 2"/>
          <p:cNvSpPr>
            <a:spLocks noGrp="1"/>
          </p:cNvSpPr>
          <p:nvPr>
            <p:ph idx="1"/>
          </p:nvPr>
        </p:nvSpPr>
        <p:spPr>
          <a:xfrm>
            <a:off x="0" y="548680"/>
            <a:ext cx="9144000" cy="6309320"/>
          </a:xfrm>
        </p:spPr>
        <p:txBody>
          <a:bodyPr>
            <a:noAutofit/>
          </a:bodyPr>
          <a:lstStyle/>
          <a:p>
            <a:r>
              <a:rPr lang="en-GB" dirty="0"/>
              <a:t>In 1848, British economist John Stuart Mill elaborated on the necessity of entrepreneurship in private enterprise. </a:t>
            </a:r>
            <a:endParaRPr lang="en-GB" dirty="0" smtClean="0"/>
          </a:p>
          <a:p>
            <a:r>
              <a:rPr lang="en-GB" dirty="0" smtClean="0"/>
              <a:t>The </a:t>
            </a:r>
            <a:r>
              <a:rPr lang="en-GB" dirty="0"/>
              <a:t>term </a:t>
            </a:r>
            <a:r>
              <a:rPr lang="en-GB" i="1" dirty="0"/>
              <a:t>entrepreneur </a:t>
            </a:r>
            <a:r>
              <a:rPr lang="en-GB" dirty="0"/>
              <a:t>subsequently became common as a description of business founders, and the “fourth factor” of economic endeavour was entrenched in economic literature as encompassing the ultimate ownership of a commercial enterprise</a:t>
            </a:r>
            <a:r>
              <a:rPr lang="en-GB" dirty="0" smtClean="0"/>
              <a:t>.</a:t>
            </a:r>
          </a:p>
          <a:p>
            <a:r>
              <a:rPr lang="en-GB" dirty="0" smtClean="0"/>
              <a:t> </a:t>
            </a:r>
            <a:r>
              <a:rPr lang="en-GB" dirty="0"/>
              <a:t>Mill's work, however, was among the last of the early economic studies in Britain or France that recognised entrepreneurship as central to economic theory</a:t>
            </a:r>
            <a:r>
              <a:rPr lang="en-GB" dirty="0" smtClean="0"/>
              <a:t>. </a:t>
            </a:r>
            <a:endParaRPr lang="en-GB"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lstStyle/>
          <a:p>
            <a:r>
              <a:rPr lang="en-GB" dirty="0" smtClean="0"/>
              <a:t>Transition</a:t>
            </a:r>
            <a:endParaRPr lang="en-GB" dirty="0"/>
          </a:p>
        </p:txBody>
      </p:sp>
      <p:sp>
        <p:nvSpPr>
          <p:cNvPr id="3" name="Content Placeholder 2"/>
          <p:cNvSpPr>
            <a:spLocks noGrp="1"/>
          </p:cNvSpPr>
          <p:nvPr>
            <p:ph idx="1"/>
          </p:nvPr>
        </p:nvSpPr>
        <p:spPr>
          <a:xfrm>
            <a:off x="457200" y="1124744"/>
            <a:ext cx="8435280" cy="5328592"/>
          </a:xfrm>
        </p:spPr>
        <p:txBody>
          <a:bodyPr/>
          <a:lstStyle/>
          <a:p>
            <a:r>
              <a:rPr lang="en-GB" dirty="0" smtClean="0"/>
              <a:t>For the greater part of the next hundred years, British and French economists were more concerned with models of macroeconomics, and most of these were reduced to precise mathematical formulae. </a:t>
            </a:r>
          </a:p>
          <a:p>
            <a:pPr>
              <a:buNone/>
            </a:pPr>
            <a:endParaRPr lang="en-GB" dirty="0" smtClean="0"/>
          </a:p>
          <a:p>
            <a:r>
              <a:rPr lang="en-GB" dirty="0" smtClean="0"/>
              <a:t>The human side of enterprise-the role of the adventurer or risk-taking entrepreneur ‑ was left to history.</a:t>
            </a:r>
          </a:p>
          <a:p>
            <a:endParaRPr lang="en-GB"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normAutofit/>
          </a:bodyPr>
          <a:lstStyle/>
          <a:p>
            <a:r>
              <a:rPr lang="en-GB" dirty="0" smtClean="0"/>
              <a:t>Carl </a:t>
            </a:r>
            <a:r>
              <a:rPr lang="en-GB" dirty="0" err="1" smtClean="0"/>
              <a:t>Menger</a:t>
            </a:r>
            <a:endParaRPr lang="en-GB" dirty="0"/>
          </a:p>
        </p:txBody>
      </p:sp>
      <p:sp>
        <p:nvSpPr>
          <p:cNvPr id="3" name="Content Placeholder 2"/>
          <p:cNvSpPr>
            <a:spLocks noGrp="1"/>
          </p:cNvSpPr>
          <p:nvPr>
            <p:ph idx="1"/>
          </p:nvPr>
        </p:nvSpPr>
        <p:spPr>
          <a:xfrm>
            <a:off x="179512" y="764704"/>
            <a:ext cx="8784976" cy="5832648"/>
          </a:xfrm>
        </p:spPr>
        <p:txBody>
          <a:bodyPr>
            <a:normAutofit fontScale="92500" lnSpcReduction="20000"/>
          </a:bodyPr>
          <a:lstStyle/>
          <a:p>
            <a:r>
              <a:rPr lang="en-GB" dirty="0"/>
              <a:t>During that time, however, there was an important movement in Austria that subsequently influenced our 20</a:t>
            </a:r>
            <a:r>
              <a:rPr lang="en-GB" baseline="30000" dirty="0"/>
              <a:t>th</a:t>
            </a:r>
            <a:r>
              <a:rPr lang="en-GB" dirty="0"/>
              <a:t>-century concept of entrepreneurship</a:t>
            </a:r>
            <a:r>
              <a:rPr lang="en-GB" dirty="0" smtClean="0"/>
              <a:t>.</a:t>
            </a:r>
          </a:p>
          <a:p>
            <a:r>
              <a:rPr lang="en-GB" dirty="0" smtClean="0"/>
              <a:t> </a:t>
            </a:r>
            <a:r>
              <a:rPr lang="en-GB" dirty="0"/>
              <a:t>Carl </a:t>
            </a:r>
            <a:r>
              <a:rPr lang="en-GB" dirty="0" err="1"/>
              <a:t>Menger</a:t>
            </a:r>
            <a:r>
              <a:rPr lang="en-GB" dirty="0"/>
              <a:t> (1840‑1921) established the “subjectivist perspective of economics” in his 1871 </a:t>
            </a:r>
            <a:r>
              <a:rPr lang="en-GB" i="1" dirty="0"/>
              <a:t>Principles of Economics</a:t>
            </a:r>
            <a:r>
              <a:rPr lang="en-GB" i="1" dirty="0" smtClean="0"/>
              <a:t>.</a:t>
            </a:r>
          </a:p>
          <a:p>
            <a:r>
              <a:rPr lang="en-GB" dirty="0" smtClean="0"/>
              <a:t>In </a:t>
            </a:r>
            <a:r>
              <a:rPr lang="en-GB" dirty="0" err="1"/>
              <a:t>Menger's</a:t>
            </a:r>
            <a:r>
              <a:rPr lang="en-GB" dirty="0"/>
              <a:t> view, economic change does not arise from circumstances but from an individual's awareness and understanding of those circumstances. </a:t>
            </a:r>
            <a:endParaRPr lang="en-GB" dirty="0" smtClean="0"/>
          </a:p>
          <a:p>
            <a:r>
              <a:rPr lang="en-GB" dirty="0" smtClean="0"/>
              <a:t>The </a:t>
            </a:r>
            <a:r>
              <a:rPr lang="en-GB" dirty="0"/>
              <a:t>entrepreneur becomes, therefore, the change agent who transforms resources into useful goods and services, often creating the circumstances that lead to industrial growth.</a:t>
            </a:r>
          </a:p>
          <a:p>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GB" dirty="0" smtClean="0"/>
              <a:t>Carl </a:t>
            </a:r>
            <a:r>
              <a:rPr lang="en-GB" dirty="0" err="1" smtClean="0"/>
              <a:t>Menger</a:t>
            </a:r>
            <a:endParaRPr lang="en-GB" dirty="0"/>
          </a:p>
        </p:txBody>
      </p:sp>
      <p:sp>
        <p:nvSpPr>
          <p:cNvPr id="3" name="Content Placeholder 2"/>
          <p:cNvSpPr>
            <a:spLocks noGrp="1"/>
          </p:cNvSpPr>
          <p:nvPr>
            <p:ph idx="1"/>
          </p:nvPr>
        </p:nvSpPr>
        <p:spPr>
          <a:xfrm>
            <a:off x="457200" y="1052736"/>
            <a:ext cx="8229600" cy="5544616"/>
          </a:xfrm>
        </p:spPr>
        <p:txBody>
          <a:bodyPr>
            <a:normAutofit/>
          </a:bodyPr>
          <a:lstStyle/>
          <a:p>
            <a:r>
              <a:rPr lang="en-GB" dirty="0" err="1"/>
              <a:t>Menger</a:t>
            </a:r>
            <a:r>
              <a:rPr lang="en-GB" dirty="0"/>
              <a:t> envisioned a causal chain of events whereby resources having no direct use in terms of fulfilling human needs were transformed into highly valued products that directly fulfilled human needs; this is the classic theory of production</a:t>
            </a:r>
            <a:r>
              <a:rPr lang="en-GB" dirty="0" smtClean="0"/>
              <a:t>.</a:t>
            </a:r>
          </a:p>
          <a:p>
            <a:r>
              <a:rPr lang="en-GB" dirty="0" smtClean="0"/>
              <a:t> </a:t>
            </a:r>
            <a:r>
              <a:rPr lang="en-GB" dirty="0"/>
              <a:t>However, </a:t>
            </a:r>
            <a:r>
              <a:rPr lang="en-GB" dirty="0" err="1"/>
              <a:t>Menger</a:t>
            </a:r>
            <a:r>
              <a:rPr lang="en-GB" dirty="0"/>
              <a:t> saw the entrepreneur as an astute individual who could envision this transformation and create the means to implement it</a:t>
            </a:r>
            <a:r>
              <a:rPr lang="en-GB" dirty="0" smtClean="0"/>
              <a:t>.</a:t>
            </a:r>
          </a:p>
          <a:p>
            <a:pPr>
              <a:buNone/>
            </a:pPr>
            <a:endParaRPr lang="en-GB" dirty="0" smtClean="0"/>
          </a:p>
          <a:p>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52736"/>
          </a:xfrm>
        </p:spPr>
        <p:txBody>
          <a:bodyPr/>
          <a:lstStyle/>
          <a:p>
            <a:r>
              <a:rPr lang="en-GB" dirty="0" smtClean="0"/>
              <a:t>Carl </a:t>
            </a:r>
            <a:r>
              <a:rPr lang="en-GB" dirty="0" err="1" smtClean="0"/>
              <a:t>Menger</a:t>
            </a:r>
            <a:endParaRPr lang="en-GB" dirty="0"/>
          </a:p>
        </p:txBody>
      </p:sp>
      <p:sp>
        <p:nvSpPr>
          <p:cNvPr id="3" name="Content Placeholder 2"/>
          <p:cNvSpPr>
            <a:spLocks noGrp="1"/>
          </p:cNvSpPr>
          <p:nvPr>
            <p:ph idx="1"/>
          </p:nvPr>
        </p:nvSpPr>
        <p:spPr>
          <a:xfrm>
            <a:off x="0" y="1268760"/>
            <a:ext cx="9144000" cy="5400600"/>
          </a:xfrm>
        </p:spPr>
        <p:txBody>
          <a:bodyPr>
            <a:normAutofit fontScale="77500" lnSpcReduction="20000"/>
          </a:bodyPr>
          <a:lstStyle/>
          <a:p>
            <a:r>
              <a:rPr lang="en-GB" dirty="0" err="1" smtClean="0"/>
              <a:t>Menger</a:t>
            </a:r>
            <a:r>
              <a:rPr lang="en-GB" dirty="0" smtClean="0"/>
              <a:t> assigned priority numbers to different events (or circumstances) in this chain so that a high-priority event would have a low number (e.g., 1) and would be an ultimate “end use” to satisfy a human need such as providing consumers with baked loaves of bread.  At the other extreme, </a:t>
            </a:r>
            <a:r>
              <a:rPr lang="en-GB" dirty="0" err="1" smtClean="0"/>
              <a:t>Menger</a:t>
            </a:r>
            <a:r>
              <a:rPr lang="en-GB" dirty="0" smtClean="0"/>
              <a:t> assigned a </a:t>
            </a:r>
            <a:r>
              <a:rPr lang="en-GB" dirty="0" err="1" smtClean="0"/>
              <a:t>low‑priority</a:t>
            </a:r>
            <a:r>
              <a:rPr lang="en-GB" dirty="0" smtClean="0"/>
              <a:t> event with a high number (e.g., 8), and this might represent raw material needed to create the number 1 event; fields of </a:t>
            </a:r>
            <a:r>
              <a:rPr lang="en-GB" dirty="0" err="1" smtClean="0"/>
              <a:t>unharvested</a:t>
            </a:r>
            <a:r>
              <a:rPr lang="en-GB" dirty="0" smtClean="0"/>
              <a:t> wheat would have a low priority. </a:t>
            </a:r>
          </a:p>
          <a:p>
            <a:pPr>
              <a:buNone/>
            </a:pPr>
            <a:endParaRPr lang="en-GB" dirty="0" smtClean="0"/>
          </a:p>
          <a:p>
            <a:r>
              <a:rPr lang="en-GB" dirty="0" smtClean="0"/>
              <a:t>The entrepreneur, in </a:t>
            </a:r>
            <a:r>
              <a:rPr lang="en-GB" dirty="0" err="1" smtClean="0"/>
              <a:t>Menger's</a:t>
            </a:r>
            <a:r>
              <a:rPr lang="en-GB" dirty="0" smtClean="0"/>
              <a:t> view, was able to see both extremes and conceive of ways to transform the </a:t>
            </a:r>
            <a:r>
              <a:rPr lang="en-GB" dirty="0" err="1" smtClean="0"/>
              <a:t>unharvested</a:t>
            </a:r>
            <a:r>
              <a:rPr lang="en-GB" dirty="0" smtClean="0"/>
              <a:t> wheat into fresh bread. Illustrated in Figure 1‑2, </a:t>
            </a:r>
            <a:r>
              <a:rPr lang="en-GB" dirty="0" err="1" smtClean="0"/>
              <a:t>Menger's</a:t>
            </a:r>
            <a:r>
              <a:rPr lang="en-GB" dirty="0" smtClean="0"/>
              <a:t> model identified intermediate points of Transformation ‑ harvesting wheat, grinding grain, making bread, and each with opportunities for </a:t>
            </a:r>
            <a:r>
              <a:rPr lang="en-GB" i="1" dirty="0" smtClean="0"/>
              <a:t>adding value to the original resource in such a way as </a:t>
            </a:r>
            <a:r>
              <a:rPr lang="en-GB" dirty="0" smtClean="0"/>
              <a:t>to eventually satisfy a human need.</a:t>
            </a:r>
          </a:p>
          <a:p>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dirty="0"/>
              <a:t>Entrepreneurship as a </a:t>
            </a:r>
            <a:r>
              <a:rPr lang="en-GB" dirty="0" smtClean="0"/>
              <a:t>Process</a:t>
            </a:r>
            <a:endParaRPr lang="en-GB" dirty="0"/>
          </a:p>
        </p:txBody>
      </p:sp>
      <p:sp>
        <p:nvSpPr>
          <p:cNvPr id="3" name="Content Placeholder 2"/>
          <p:cNvSpPr>
            <a:spLocks noGrp="1"/>
          </p:cNvSpPr>
          <p:nvPr>
            <p:ph idx="1"/>
          </p:nvPr>
        </p:nvSpPr>
        <p:spPr>
          <a:xfrm>
            <a:off x="457200" y="980728"/>
            <a:ext cx="8229600" cy="5688632"/>
          </a:xfrm>
        </p:spPr>
        <p:txBody>
          <a:bodyPr>
            <a:normAutofit fontScale="92500" lnSpcReduction="10000"/>
          </a:bodyPr>
          <a:lstStyle/>
          <a:p>
            <a:r>
              <a:rPr lang="en-GB" sz="3400" dirty="0"/>
              <a:t>Another Austrian economist revived the concept of entrepreneurship when he joined Harvard University and his work was published in the United States in 1934. </a:t>
            </a:r>
          </a:p>
          <a:p>
            <a:r>
              <a:rPr lang="en-GB" sz="3400" b="1" dirty="0" smtClean="0"/>
              <a:t>Joseph </a:t>
            </a:r>
            <a:r>
              <a:rPr lang="en-GB" sz="3400" b="1" dirty="0"/>
              <a:t>Schumpeter </a:t>
            </a:r>
            <a:r>
              <a:rPr lang="en-GB" sz="3400" dirty="0"/>
              <a:t>(1883‑1950) wrote a series of economic articles and treatises between 1911 and 1950 that specifically addressed entrepreneurship. Schumpeter described entrepreneurship as a force of “creative destruction” whereby established ways of doing things are destroyed by the creation of new and better ways to get things done</a:t>
            </a:r>
            <a:r>
              <a:rPr lang="en-GB" sz="3400" dirty="0" smtClean="0"/>
              <a: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24744"/>
          </a:xfrm>
        </p:spPr>
        <p:txBody>
          <a:bodyPr/>
          <a:lstStyle/>
          <a:p>
            <a:r>
              <a:rPr lang="en-GB" dirty="0" smtClean="0"/>
              <a:t>Entrepreneurship as a Process</a:t>
            </a:r>
            <a:endParaRPr lang="en-GB" dirty="0"/>
          </a:p>
        </p:txBody>
      </p:sp>
      <p:sp>
        <p:nvSpPr>
          <p:cNvPr id="3" name="Content Placeholder 2"/>
          <p:cNvSpPr>
            <a:spLocks noGrp="1"/>
          </p:cNvSpPr>
          <p:nvPr>
            <p:ph idx="1"/>
          </p:nvPr>
        </p:nvSpPr>
        <p:spPr>
          <a:xfrm>
            <a:off x="457200" y="1052736"/>
            <a:ext cx="8686800" cy="5616624"/>
          </a:xfrm>
        </p:spPr>
        <p:txBody>
          <a:bodyPr>
            <a:normAutofit/>
          </a:bodyPr>
          <a:lstStyle/>
          <a:p>
            <a:r>
              <a:rPr lang="en-GB" dirty="0" smtClean="0"/>
              <a:t>Entrepreneurship is often a subtle force, challenging the order of society through marginally small changes, but in Schumpeter's view, it can be extraordinarily powerful, like the changes caused by the transformation of crude oil into an energy resource. </a:t>
            </a:r>
          </a:p>
          <a:p>
            <a:r>
              <a:rPr lang="en-GB" dirty="0" smtClean="0"/>
              <a:t>Schumpeter described entrepreneurship as a </a:t>
            </a:r>
            <a:r>
              <a:rPr lang="en-GB" i="1" dirty="0" smtClean="0"/>
              <a:t>process </a:t>
            </a:r>
            <a:r>
              <a:rPr lang="en-GB" dirty="0" smtClean="0"/>
              <a:t>and entrepreneurs as </a:t>
            </a:r>
            <a:r>
              <a:rPr lang="en-GB" i="1" dirty="0" smtClean="0"/>
              <a:t>innovators </a:t>
            </a:r>
            <a:r>
              <a:rPr lang="en-GB" dirty="0" smtClean="0"/>
              <a:t>who use the process to shatter the status quo through new combinations of resources and new methods of commerce.</a:t>
            </a:r>
          </a:p>
          <a:p>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lstStyle/>
          <a:p>
            <a:r>
              <a:rPr lang="en-GB" dirty="0" smtClean="0"/>
              <a:t>ENTREPRENEURSHIP STUDY</a:t>
            </a:r>
            <a:endParaRPr lang="en-GB" dirty="0"/>
          </a:p>
        </p:txBody>
      </p:sp>
      <p:sp>
        <p:nvSpPr>
          <p:cNvPr id="3" name="Content Placeholder 2"/>
          <p:cNvSpPr>
            <a:spLocks noGrp="1"/>
          </p:cNvSpPr>
          <p:nvPr>
            <p:ph idx="1"/>
          </p:nvPr>
        </p:nvSpPr>
        <p:spPr>
          <a:xfrm>
            <a:off x="179512" y="1124744"/>
            <a:ext cx="8784976" cy="5544616"/>
          </a:xfrm>
        </p:spPr>
        <p:txBody>
          <a:bodyPr>
            <a:normAutofit lnSpcReduction="10000"/>
          </a:bodyPr>
          <a:lstStyle/>
          <a:p>
            <a:r>
              <a:rPr lang="en-GB" dirty="0"/>
              <a:t>In retrospect, it is important to recognise that entrepreneurship as an economic concept has suffered a century of obscurity. </a:t>
            </a:r>
            <a:endParaRPr lang="en-GB" dirty="0" smtClean="0"/>
          </a:p>
          <a:p>
            <a:r>
              <a:rPr lang="en-GB" dirty="0" smtClean="0"/>
              <a:t>Most </a:t>
            </a:r>
            <a:r>
              <a:rPr lang="en-GB" dirty="0"/>
              <a:t>executives will not have heard of Schumpeter, </a:t>
            </a:r>
            <a:r>
              <a:rPr lang="en-GB" dirty="0" err="1"/>
              <a:t>Menger</a:t>
            </a:r>
            <a:r>
              <a:rPr lang="en-GB" dirty="0"/>
              <a:t>, or </a:t>
            </a:r>
            <a:r>
              <a:rPr lang="en-GB" dirty="0" err="1"/>
              <a:t>Cantillon</a:t>
            </a:r>
            <a:r>
              <a:rPr lang="en-GB" dirty="0"/>
              <a:t>; most know of Smith, but few will recognise Mill or Say. </a:t>
            </a:r>
            <a:endParaRPr lang="en-GB" dirty="0" smtClean="0"/>
          </a:p>
          <a:p>
            <a:r>
              <a:rPr lang="en-GB" dirty="0" smtClean="0"/>
              <a:t>Today</a:t>
            </a:r>
            <a:r>
              <a:rPr lang="en-GB" dirty="0"/>
              <a:t>, the resurgence of entrepreneurship in higher education has not come from the discipline of economics but from those who teach small business management or who have instituted new courses in entrepreneurship.</a:t>
            </a:r>
          </a:p>
          <a:p>
            <a:endParaRPr lang="en-GB"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a:bodyPr>
          <a:lstStyle/>
          <a:p>
            <a:r>
              <a:rPr lang="en-GB" b="1" dirty="0" smtClean="0"/>
              <a:t>REVIEW</a:t>
            </a:r>
            <a:endParaRPr lang="en-GB" dirty="0"/>
          </a:p>
        </p:txBody>
      </p:sp>
      <p:sp>
        <p:nvSpPr>
          <p:cNvPr id="3" name="Content Placeholder 2"/>
          <p:cNvSpPr>
            <a:spLocks noGrp="1"/>
          </p:cNvSpPr>
          <p:nvPr>
            <p:ph idx="1"/>
          </p:nvPr>
        </p:nvSpPr>
        <p:spPr/>
        <p:txBody>
          <a:bodyPr/>
          <a:lstStyle/>
          <a:p>
            <a:r>
              <a:rPr lang="en-GB" dirty="0" smtClean="0"/>
              <a:t>1</a:t>
            </a:r>
            <a:r>
              <a:rPr lang="en-GB" dirty="0"/>
              <a:t>.	Compare concepts of entrepreneurship put forward by </a:t>
            </a:r>
            <a:r>
              <a:rPr lang="en-GB" dirty="0" err="1"/>
              <a:t>Cantillon</a:t>
            </a:r>
            <a:r>
              <a:rPr lang="en-GB" dirty="0"/>
              <a:t>, Say, Smith, </a:t>
            </a:r>
            <a:r>
              <a:rPr lang="en-GB" dirty="0" err="1"/>
              <a:t>Menger</a:t>
            </a:r>
            <a:r>
              <a:rPr lang="en-GB" dirty="0"/>
              <a:t>, and Schumpeter</a:t>
            </a:r>
            <a:r>
              <a:rPr lang="en-GB" dirty="0" smtClean="0"/>
              <a:t>.</a:t>
            </a:r>
          </a:p>
          <a:p>
            <a:pPr>
              <a:buNone/>
            </a:pPr>
            <a:endParaRPr lang="en-GB" dirty="0"/>
          </a:p>
          <a:p>
            <a:r>
              <a:rPr lang="en-GB" dirty="0"/>
              <a:t>2.	Explain entrepreneurship as a process and the importance of innovation to that process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DEFINING </a:t>
            </a:r>
            <a:r>
              <a:rPr lang="en-GB" b="1" dirty="0" smtClean="0"/>
              <a:t>ENTREPRENEURSHIP</a:t>
            </a:r>
            <a:endParaRPr lang="en-GB" dirty="0"/>
          </a:p>
        </p:txBody>
      </p:sp>
      <p:sp>
        <p:nvSpPr>
          <p:cNvPr id="3" name="Content Placeholder 2"/>
          <p:cNvSpPr>
            <a:spLocks noGrp="1"/>
          </p:cNvSpPr>
          <p:nvPr>
            <p:ph idx="1"/>
          </p:nvPr>
        </p:nvSpPr>
        <p:spPr>
          <a:xfrm>
            <a:off x="457200" y="1268760"/>
            <a:ext cx="8229600" cy="5400600"/>
          </a:xfrm>
        </p:spPr>
        <p:txBody>
          <a:bodyPr>
            <a:normAutofit fontScale="85000" lnSpcReduction="20000"/>
          </a:bodyPr>
          <a:lstStyle/>
          <a:p>
            <a:r>
              <a:rPr lang="en-GB" dirty="0"/>
              <a:t>There does not exist one indisputable definition of </a:t>
            </a:r>
            <a:r>
              <a:rPr lang="en-GB" i="1" dirty="0"/>
              <a:t>entrepreneurship </a:t>
            </a:r>
            <a:r>
              <a:rPr lang="en-GB" dirty="0"/>
              <a:t>or </a:t>
            </a:r>
            <a:r>
              <a:rPr lang="en-GB" i="1" dirty="0"/>
              <a:t>entrepreneur.</a:t>
            </a:r>
            <a:endParaRPr lang="en-GB" dirty="0"/>
          </a:p>
          <a:p>
            <a:r>
              <a:rPr lang="en-GB" dirty="0"/>
              <a:t>However, Schumpeter provides us with a framework for understanding both in terms of a process. The </a:t>
            </a:r>
            <a:r>
              <a:rPr lang="en-GB" b="1" dirty="0"/>
              <a:t>entrepreneur </a:t>
            </a:r>
            <a:r>
              <a:rPr lang="en-GB" dirty="0"/>
              <a:t>seeks, in Schumpeter's words</a:t>
            </a:r>
            <a:r>
              <a:rPr lang="en-GB" dirty="0" smtClean="0"/>
              <a:t>,</a:t>
            </a:r>
          </a:p>
          <a:p>
            <a:r>
              <a:rPr lang="en-GB" dirty="0"/>
              <a:t> </a:t>
            </a:r>
          </a:p>
          <a:p>
            <a:r>
              <a:rPr lang="en-GB" i="1" dirty="0"/>
              <a:t>To reform or revolutionise the pattern of production by exploiting an invention or, more generally, an untried technological possibility for producing a new commodity or producing an old one in a new way, by opening up a new source of supply of materials or a new outlet for products. . . . Entrepreneurship, as defined, essentially consists in doing things that are not generally done in the ordinary course of business routine.'</a:t>
            </a:r>
          </a:p>
          <a:p>
            <a:pPr>
              <a:buNone/>
            </a:pPr>
            <a:endParaRPr lang="en-GB"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lstStyle/>
          <a:p>
            <a:r>
              <a:rPr lang="en-GB" b="1" dirty="0" smtClean="0"/>
              <a:t>DEFINING ENTREPRENEURSHIP</a:t>
            </a:r>
            <a:endParaRPr lang="en-GB" dirty="0"/>
          </a:p>
        </p:txBody>
      </p:sp>
      <p:sp>
        <p:nvSpPr>
          <p:cNvPr id="3" name="Content Placeholder 2"/>
          <p:cNvSpPr>
            <a:spLocks noGrp="1"/>
          </p:cNvSpPr>
          <p:nvPr>
            <p:ph idx="1"/>
          </p:nvPr>
        </p:nvSpPr>
        <p:spPr>
          <a:xfrm>
            <a:off x="179512" y="1124744"/>
            <a:ext cx="8784976" cy="5544616"/>
          </a:xfrm>
        </p:spPr>
        <p:txBody>
          <a:bodyPr>
            <a:normAutofit fontScale="92500"/>
          </a:bodyPr>
          <a:lstStyle/>
          <a:p>
            <a:r>
              <a:rPr lang="en-GB" sz="3400" dirty="0"/>
              <a:t>Schumpeter did not equate entrepreneurs with inventors, suggesting instead that an inventor might only create a new product, whereas an entrepreneur will gather resources, organise talent, and provide leadership to make it a commercial success</a:t>
            </a:r>
            <a:r>
              <a:rPr lang="en-GB" sz="3400" dirty="0" smtClean="0"/>
              <a:t>.</a:t>
            </a:r>
          </a:p>
          <a:p>
            <a:r>
              <a:rPr lang="en-GB" sz="3400" dirty="0" smtClean="0"/>
              <a:t>Peter </a:t>
            </a:r>
            <a:r>
              <a:rPr lang="en-GB" sz="3400" dirty="0" err="1"/>
              <a:t>Drucker</a:t>
            </a:r>
            <a:r>
              <a:rPr lang="en-GB" sz="3400" dirty="0"/>
              <a:t>, who described the entrepreneurial role as one of gathering and using resources, mirrored this viewpoint, but he added, “resources, to produce results, must be allocated to opportunities rather than to problems.” </a:t>
            </a:r>
            <a:endParaRPr lang="en-GB" sz="3400" dirty="0" smtClean="0"/>
          </a:p>
          <a:p>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DEFINING ENTREPRENEURSHIP</a:t>
            </a:r>
            <a:endParaRPr lang="en-GB" dirty="0"/>
          </a:p>
        </p:txBody>
      </p:sp>
      <p:sp>
        <p:nvSpPr>
          <p:cNvPr id="3" name="Content Placeholder 2"/>
          <p:cNvSpPr>
            <a:spLocks noGrp="1"/>
          </p:cNvSpPr>
          <p:nvPr>
            <p:ph idx="1"/>
          </p:nvPr>
        </p:nvSpPr>
        <p:spPr>
          <a:xfrm>
            <a:off x="457200" y="1772816"/>
            <a:ext cx="8229600" cy="4896544"/>
          </a:xfrm>
        </p:spPr>
        <p:txBody>
          <a:bodyPr/>
          <a:lstStyle/>
          <a:p>
            <a:r>
              <a:rPr lang="en-GB" dirty="0" smtClean="0"/>
              <a:t>In </a:t>
            </a:r>
            <a:r>
              <a:rPr lang="en-GB" dirty="0" err="1" smtClean="0"/>
              <a:t>Drucker's</a:t>
            </a:r>
            <a:r>
              <a:rPr lang="en-GB" dirty="0" smtClean="0"/>
              <a:t> view, entrepreneurship occurs when resources are redirected to progressive opportunities, not used to ensure administrative efficiency. </a:t>
            </a:r>
          </a:p>
          <a:p>
            <a:r>
              <a:rPr lang="en-GB" dirty="0" smtClean="0"/>
              <a:t>This redirection of resources distinguishes the entrepreneurial role from that of the traditional management role, a distinction that Henry Ford made in his decisions.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GB" dirty="0" smtClean="0"/>
              <a:t>ENTREPRENEURSHIP DEFINED</a:t>
            </a:r>
            <a:endParaRPr lang="en-GB" dirty="0"/>
          </a:p>
        </p:txBody>
      </p:sp>
      <p:sp>
        <p:nvSpPr>
          <p:cNvPr id="3" name="Content Placeholder 2"/>
          <p:cNvSpPr>
            <a:spLocks noGrp="1"/>
          </p:cNvSpPr>
          <p:nvPr>
            <p:ph idx="1"/>
          </p:nvPr>
        </p:nvSpPr>
        <p:spPr>
          <a:xfrm>
            <a:off x="179512" y="980728"/>
            <a:ext cx="8784976" cy="5688632"/>
          </a:xfrm>
        </p:spPr>
        <p:txBody>
          <a:bodyPr>
            <a:normAutofit fontScale="85000" lnSpcReduction="10000"/>
          </a:bodyPr>
          <a:lstStyle/>
          <a:p>
            <a:r>
              <a:rPr lang="en-GB" dirty="0"/>
              <a:t>The evolution of the concept has generated many definitions, but perhaps a recent one by writer Robert Ronstadt captures its essence. For our purposes, we shall use Ronstadt's definition of  </a:t>
            </a:r>
            <a:r>
              <a:rPr lang="en-GB" b="1" dirty="0"/>
              <a:t>entrepreneurship:</a:t>
            </a:r>
            <a:endParaRPr lang="en-GB" dirty="0"/>
          </a:p>
          <a:p>
            <a:pPr>
              <a:buNone/>
            </a:pPr>
            <a:endParaRPr lang="en-GB" dirty="0"/>
          </a:p>
          <a:p>
            <a:r>
              <a:rPr lang="en-GB" b="1" i="1" dirty="0"/>
              <a:t>Entrepreneurship is the dynamic process of creating incremental wealth. This wealth is created by individuals who assume the major risks in terms of equity, time, and/or career commitment of providing value for some product or service. The product or service itself may or may not be new or unique but the entrepreneur must somehow infuse value by securing and allocating the necessary skills and resources</a:t>
            </a:r>
            <a:r>
              <a:rPr lang="en-GB" dirty="0"/>
              <a:t>.</a:t>
            </a:r>
          </a:p>
          <a:p>
            <a:endParaRPr lang="en-GB"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normAutofit/>
          </a:bodyPr>
          <a:lstStyle/>
          <a:p>
            <a:r>
              <a:rPr lang="en-GB" b="1" dirty="0"/>
              <a:t>Who Is an Entrepreneur</a:t>
            </a:r>
            <a:r>
              <a:rPr lang="en-GB" b="1" dirty="0" smtClean="0"/>
              <a:t>?</a:t>
            </a:r>
            <a:endParaRPr lang="en-GB" dirty="0"/>
          </a:p>
        </p:txBody>
      </p:sp>
      <p:sp>
        <p:nvSpPr>
          <p:cNvPr id="3" name="Content Placeholder 2"/>
          <p:cNvSpPr>
            <a:spLocks noGrp="1"/>
          </p:cNvSpPr>
          <p:nvPr>
            <p:ph idx="1"/>
          </p:nvPr>
        </p:nvSpPr>
        <p:spPr>
          <a:xfrm>
            <a:off x="457200" y="908720"/>
            <a:ext cx="8229600" cy="5760640"/>
          </a:xfrm>
        </p:spPr>
        <p:txBody>
          <a:bodyPr>
            <a:normAutofit fontScale="92500" lnSpcReduction="10000"/>
          </a:bodyPr>
          <a:lstStyle/>
          <a:p>
            <a:r>
              <a:rPr lang="en-GB" dirty="0"/>
              <a:t>With a definition in mind, we still have trouble identifying entrepreneurs, finding them, or determining what they do. </a:t>
            </a:r>
            <a:endParaRPr lang="en-GB" dirty="0" smtClean="0"/>
          </a:p>
          <a:p>
            <a:r>
              <a:rPr lang="en-GB" dirty="0" smtClean="0"/>
              <a:t>Is </a:t>
            </a:r>
            <a:r>
              <a:rPr lang="en-GB" dirty="0"/>
              <a:t>the local gas station owner an entrepreneur? The </a:t>
            </a:r>
            <a:r>
              <a:rPr lang="en-GB" dirty="0" smtClean="0"/>
              <a:t>real estate agent, </a:t>
            </a:r>
            <a:r>
              <a:rPr lang="en-GB" dirty="0"/>
              <a:t>the butcher, the franchise computer retailer? </a:t>
            </a:r>
            <a:endParaRPr lang="en-GB" dirty="0" smtClean="0"/>
          </a:p>
          <a:p>
            <a:r>
              <a:rPr lang="en-GB" dirty="0" smtClean="0"/>
              <a:t>Are </a:t>
            </a:r>
            <a:r>
              <a:rPr lang="en-GB" dirty="0"/>
              <a:t>there entrepreneurs in corporations? In schools? In government? </a:t>
            </a:r>
            <a:endParaRPr lang="en-GB" dirty="0" smtClean="0"/>
          </a:p>
          <a:p>
            <a:r>
              <a:rPr lang="en-GB" dirty="0" smtClean="0"/>
              <a:t>There </a:t>
            </a:r>
            <a:r>
              <a:rPr lang="en-GB" dirty="0"/>
              <a:t>are no short answers to these questions, and there are no formal guidelines for classifying entrepreneurs. There is no entrepreneurial licensing procedure and no evidence of professional status.</a:t>
            </a:r>
          </a:p>
          <a:p>
            <a:endParaRPr lang="en-GB"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I</a:t>
            </a:r>
            <a:r>
              <a:rPr lang="en-GB" dirty="0" smtClean="0"/>
              <a:t>ndividual Perception Of Entrepreneurship</a:t>
            </a:r>
            <a:endParaRPr lang="en-GB" dirty="0"/>
          </a:p>
        </p:txBody>
      </p:sp>
      <p:sp>
        <p:nvSpPr>
          <p:cNvPr id="3" name="Content Placeholder 2"/>
          <p:cNvSpPr>
            <a:spLocks noGrp="1"/>
          </p:cNvSpPr>
          <p:nvPr>
            <p:ph idx="1"/>
          </p:nvPr>
        </p:nvSpPr>
        <p:spPr>
          <a:xfrm>
            <a:off x="179512" y="1600200"/>
            <a:ext cx="8784976" cy="5069160"/>
          </a:xfrm>
        </p:spPr>
        <p:txBody>
          <a:bodyPr>
            <a:normAutofit fontScale="92500" lnSpcReduction="10000"/>
          </a:bodyPr>
          <a:lstStyle/>
          <a:p>
            <a:r>
              <a:rPr lang="en-GB" dirty="0"/>
              <a:t>Karl Vesper has researched entrepreneurship and explains that its nature is often a matter of individual perception.  </a:t>
            </a:r>
            <a:endParaRPr lang="en-GB" dirty="0" smtClean="0"/>
          </a:p>
          <a:p>
            <a:r>
              <a:rPr lang="en-GB" dirty="0" smtClean="0"/>
              <a:t>Economists</a:t>
            </a:r>
            <a:r>
              <a:rPr lang="en-GB" dirty="0"/>
              <a:t>, at least those who endorse free enterprise, endorse Schumpeter's viewpoint that </a:t>
            </a:r>
            <a:r>
              <a:rPr lang="en-GB" u="sng" dirty="0"/>
              <a:t>entrepreneurs bring resources together in unusual combinations to generate profits</a:t>
            </a:r>
            <a:r>
              <a:rPr lang="en-GB" dirty="0"/>
              <a:t>. </a:t>
            </a:r>
            <a:endParaRPr lang="en-GB" dirty="0" smtClean="0"/>
          </a:p>
          <a:p>
            <a:r>
              <a:rPr lang="en-GB" dirty="0" smtClean="0"/>
              <a:t>Vesper </a:t>
            </a:r>
            <a:r>
              <a:rPr lang="en-GB" dirty="0"/>
              <a:t>found that psychologists tend to view entrepreneurs in behavioural terms as </a:t>
            </a:r>
            <a:r>
              <a:rPr lang="en-GB" u="sng" dirty="0"/>
              <a:t>achievement-oriented individuals driven to seek challenges and new accomplishments</a:t>
            </a:r>
            <a:r>
              <a:rPr lang="en-GB" dirty="0"/>
              <a:t>. </a:t>
            </a:r>
            <a:endParaRPr lang="en-GB" dirty="0" smtClean="0"/>
          </a:p>
          <a:p>
            <a:endParaRPr lang="en-GB" dirty="0"/>
          </a:p>
          <a:p>
            <a:endParaRPr lang="en-GB"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24744"/>
          </a:xfrm>
        </p:spPr>
        <p:txBody>
          <a:bodyPr>
            <a:normAutofit fontScale="90000"/>
          </a:bodyPr>
          <a:lstStyle/>
          <a:p>
            <a:r>
              <a:rPr lang="en-GB" dirty="0" smtClean="0"/>
              <a:t>Individual Perception Of Entrepreneurship</a:t>
            </a:r>
            <a:endParaRPr lang="en-GB" dirty="0"/>
          </a:p>
        </p:txBody>
      </p:sp>
      <p:sp>
        <p:nvSpPr>
          <p:cNvPr id="3" name="Content Placeholder 2"/>
          <p:cNvSpPr>
            <a:spLocks noGrp="1"/>
          </p:cNvSpPr>
          <p:nvPr>
            <p:ph idx="1"/>
          </p:nvPr>
        </p:nvSpPr>
        <p:spPr>
          <a:xfrm>
            <a:off x="179512" y="1600200"/>
            <a:ext cx="8784976" cy="5069160"/>
          </a:xfrm>
        </p:spPr>
        <p:txBody>
          <a:bodyPr>
            <a:normAutofit fontScale="92500" lnSpcReduction="10000"/>
          </a:bodyPr>
          <a:lstStyle/>
          <a:p>
            <a:r>
              <a:rPr lang="en-GB" dirty="0" smtClean="0"/>
              <a:t>Marxist philosophers may see entrepreneurs as exploitative adventurers, representative of all that is negative in capitalism. </a:t>
            </a:r>
          </a:p>
          <a:p>
            <a:r>
              <a:rPr lang="en-GB" dirty="0" smtClean="0"/>
              <a:t>Corporate managers too often view entrepreneurs as small businesspersons lacking the potential needed for corporate management. </a:t>
            </a:r>
          </a:p>
          <a:p>
            <a:r>
              <a:rPr lang="en-GB" dirty="0" smtClean="0"/>
              <a:t>On a positive note, Vesper suggests that those of us who strongly favour a market economy view </a:t>
            </a:r>
            <a:r>
              <a:rPr lang="en-GB" u="sng" dirty="0" smtClean="0"/>
              <a:t>entrepreneurs as pillars of industrial </a:t>
            </a:r>
            <a:r>
              <a:rPr lang="en-GB" u="sng" dirty="0" err="1" smtClean="0"/>
              <a:t>strength‑the</a:t>
            </a:r>
            <a:r>
              <a:rPr lang="en-GB" u="sng" dirty="0" smtClean="0"/>
              <a:t> movers and shakers who constructively disrupt the status quo</a:t>
            </a:r>
            <a:endParaRPr lang="en-GB"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GB" b="1" dirty="0"/>
              <a:t>Traits versus Characteristics</a:t>
            </a:r>
            <a:endParaRPr lang="en-GB" dirty="0"/>
          </a:p>
        </p:txBody>
      </p:sp>
      <p:sp>
        <p:nvSpPr>
          <p:cNvPr id="3" name="Content Placeholder 2"/>
          <p:cNvSpPr>
            <a:spLocks noGrp="1"/>
          </p:cNvSpPr>
          <p:nvPr>
            <p:ph idx="1"/>
          </p:nvPr>
        </p:nvSpPr>
        <p:spPr>
          <a:xfrm>
            <a:off x="251520" y="1556792"/>
            <a:ext cx="8712968" cy="4968552"/>
          </a:xfrm>
        </p:spPr>
        <p:txBody>
          <a:bodyPr>
            <a:normAutofit/>
          </a:bodyPr>
          <a:lstStyle/>
          <a:p>
            <a:r>
              <a:rPr lang="en-GB" dirty="0"/>
              <a:t>In an effort to understand entrepreneurs better, researchers have sought to define traits common to a majority of individuals who start and operate new ventures. </a:t>
            </a:r>
            <a:endParaRPr lang="en-GB" dirty="0" smtClean="0"/>
          </a:p>
          <a:p>
            <a:r>
              <a:rPr lang="en-GB" dirty="0" smtClean="0"/>
              <a:t>John </a:t>
            </a:r>
            <a:r>
              <a:rPr lang="en-GB" dirty="0" err="1"/>
              <a:t>Hornaday</a:t>
            </a:r>
            <a:r>
              <a:rPr lang="en-GB" dirty="0"/>
              <a:t> of Babson College was among the first to use surveys and intense interviews to develop a composite list of entrepreneurial traits.  </a:t>
            </a:r>
            <a:endParaRPr lang="en-GB" dirty="0" smtClean="0"/>
          </a:p>
          <a:p>
            <a:r>
              <a:rPr lang="en-GB" dirty="0" smtClean="0"/>
              <a:t>These are summarised in Table 1-1. </a:t>
            </a:r>
          </a:p>
          <a:p>
            <a:endParaRPr lang="en-GB"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i="1" dirty="0"/>
              <a:t>Table 1‑1 </a:t>
            </a:r>
            <a:r>
              <a:rPr lang="en-GB" b="1" dirty="0"/>
              <a:t>Characteristics of Successful </a:t>
            </a:r>
            <a:r>
              <a:rPr lang="en-GB" b="1" dirty="0" smtClean="0"/>
              <a:t>Entrepreneurs</a:t>
            </a:r>
            <a:endParaRPr lang="en-GB" dirty="0"/>
          </a:p>
        </p:txBody>
      </p:sp>
      <p:sp>
        <p:nvSpPr>
          <p:cNvPr id="3" name="Content Placeholder 2"/>
          <p:cNvSpPr>
            <a:spLocks noGrp="1"/>
          </p:cNvSpPr>
          <p:nvPr>
            <p:ph idx="1"/>
          </p:nvPr>
        </p:nvSpPr>
        <p:spPr>
          <a:xfrm>
            <a:off x="457200" y="1600200"/>
            <a:ext cx="8229600" cy="4709120"/>
          </a:xfrm>
        </p:spPr>
        <p:txBody>
          <a:bodyPr>
            <a:normAutofit fontScale="62500" lnSpcReduction="20000"/>
          </a:bodyPr>
          <a:lstStyle/>
          <a:p>
            <a:r>
              <a:rPr lang="en-GB" dirty="0" err="1"/>
              <a:t>Self‑confident</a:t>
            </a:r>
            <a:r>
              <a:rPr lang="en-GB" dirty="0"/>
              <a:t> and optimistic </a:t>
            </a:r>
            <a:r>
              <a:rPr lang="en-GB"/>
              <a:t>	</a:t>
            </a:r>
            <a:r>
              <a:rPr lang="en-GB" smtClean="0"/>
              <a:t>	Energetic </a:t>
            </a:r>
            <a:r>
              <a:rPr lang="en-GB" dirty="0"/>
              <a:t>and </a:t>
            </a:r>
            <a:r>
              <a:rPr lang="en-GB" dirty="0" smtClean="0"/>
              <a:t>diligent</a:t>
            </a:r>
          </a:p>
          <a:p>
            <a:pPr>
              <a:buNone/>
            </a:pPr>
            <a:endParaRPr lang="en-GB" dirty="0"/>
          </a:p>
          <a:p>
            <a:r>
              <a:rPr lang="en-GB" dirty="0"/>
              <a:t>Able to take calculated risk 		</a:t>
            </a:r>
            <a:r>
              <a:rPr lang="en-GB" dirty="0" smtClean="0"/>
              <a:t>Creative, need to achieve</a:t>
            </a:r>
            <a:r>
              <a:rPr lang="en-GB" dirty="0"/>
              <a:t>	</a:t>
            </a:r>
          </a:p>
          <a:p>
            <a:r>
              <a:rPr lang="en-GB" dirty="0"/>
              <a:t>Respond positively to challenges 	</a:t>
            </a:r>
            <a:r>
              <a:rPr lang="en-GB" dirty="0" smtClean="0"/>
              <a:t>Dynamic leader</a:t>
            </a:r>
          </a:p>
          <a:p>
            <a:pPr>
              <a:buNone/>
            </a:pPr>
            <a:endParaRPr lang="en-GB" dirty="0"/>
          </a:p>
          <a:p>
            <a:r>
              <a:rPr lang="en-GB" dirty="0"/>
              <a:t>Flexible and able to adapt 		</a:t>
            </a:r>
            <a:r>
              <a:rPr lang="en-GB" dirty="0" smtClean="0"/>
              <a:t>Responsive to suggestions</a:t>
            </a:r>
            <a:r>
              <a:rPr lang="en-GB" dirty="0"/>
              <a:t>			</a:t>
            </a:r>
          </a:p>
          <a:p>
            <a:r>
              <a:rPr lang="en-GB" dirty="0"/>
              <a:t>Knowledgeable of markets 		</a:t>
            </a:r>
            <a:r>
              <a:rPr lang="en-GB" dirty="0" smtClean="0"/>
              <a:t>Take initiatives</a:t>
            </a:r>
          </a:p>
          <a:p>
            <a:pPr>
              <a:buNone/>
            </a:pPr>
            <a:endParaRPr lang="en-GB" dirty="0"/>
          </a:p>
          <a:p>
            <a:r>
              <a:rPr lang="en-GB" dirty="0"/>
              <a:t>Able to get along well with others 	</a:t>
            </a:r>
            <a:r>
              <a:rPr lang="en-GB" dirty="0" smtClean="0"/>
              <a:t>Resourceful </a:t>
            </a:r>
            <a:r>
              <a:rPr lang="en-GB" dirty="0"/>
              <a:t>and </a:t>
            </a:r>
            <a:r>
              <a:rPr lang="en-GB" dirty="0" smtClean="0"/>
              <a:t>persevering</a:t>
            </a:r>
          </a:p>
          <a:p>
            <a:pPr>
              <a:buNone/>
            </a:pPr>
            <a:endParaRPr lang="en-GB" dirty="0"/>
          </a:p>
          <a:p>
            <a:r>
              <a:rPr lang="en-GB" dirty="0"/>
              <a:t>Independent minded 		</a:t>
            </a:r>
            <a:r>
              <a:rPr lang="en-GB" dirty="0" smtClean="0"/>
              <a:t>	Perceptive with foresight</a:t>
            </a:r>
            <a:r>
              <a:rPr lang="en-GB" dirty="0"/>
              <a:t>	</a:t>
            </a:r>
            <a:endParaRPr lang="en-GB" dirty="0" smtClean="0"/>
          </a:p>
          <a:p>
            <a:pPr>
              <a:buNone/>
            </a:pPr>
            <a:r>
              <a:rPr lang="en-GB" dirty="0"/>
              <a:t>	</a:t>
            </a:r>
          </a:p>
          <a:p>
            <a:r>
              <a:rPr lang="en-GB" dirty="0"/>
              <a:t>Versatile knowledge 			</a:t>
            </a:r>
            <a:r>
              <a:rPr lang="en-GB" dirty="0" smtClean="0"/>
              <a:t>Responsive </a:t>
            </a:r>
            <a:r>
              <a:rPr lang="en-GB" dirty="0"/>
              <a:t>to criticism</a:t>
            </a:r>
          </a:p>
          <a:p>
            <a:pPr>
              <a:buNone/>
            </a:pPr>
            <a:endParaRPr lang="en-GB" dirty="0"/>
          </a:p>
          <a:p>
            <a:endParaRPr lang="en-GB"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GB" b="1" dirty="0" smtClean="0"/>
              <a:t>Traits versus Characteristics</a:t>
            </a:r>
            <a:endParaRPr lang="en-GB" dirty="0"/>
          </a:p>
        </p:txBody>
      </p:sp>
      <p:sp>
        <p:nvSpPr>
          <p:cNvPr id="3" name="Content Placeholder 2"/>
          <p:cNvSpPr>
            <a:spLocks noGrp="1"/>
          </p:cNvSpPr>
          <p:nvPr>
            <p:ph idx="1"/>
          </p:nvPr>
        </p:nvSpPr>
        <p:spPr>
          <a:xfrm>
            <a:off x="457200" y="1196752"/>
            <a:ext cx="8229600" cy="5472608"/>
          </a:xfrm>
        </p:spPr>
        <p:txBody>
          <a:bodyPr>
            <a:normAutofit lnSpcReduction="10000"/>
          </a:bodyPr>
          <a:lstStyle/>
          <a:p>
            <a:r>
              <a:rPr lang="en-GB" dirty="0" smtClean="0"/>
              <a:t>Although this descriptive list is supported by impressive data, it has the singular restriction of relating only to highly successful entrepreneurs; there is no way of knowing how these traits relate to a majority of entrepreneurs.</a:t>
            </a:r>
          </a:p>
          <a:p>
            <a:r>
              <a:rPr lang="en-GB" dirty="0" smtClean="0"/>
              <a:t> For example, some people may have the creative talent to generate new ideas but lack the ability to organise resources, and others may have a compelling need to achieve but lack the resourcefulness to create a new venture. </a:t>
            </a:r>
          </a:p>
          <a:p>
            <a:endParaRPr lang="en-GB"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Traits versus Characteristics</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Many of these individuals with a limited profile based on traits will start new businesses and succeed. Others with a majority of the traits may start new businesses and fail. </a:t>
            </a:r>
          </a:p>
          <a:p>
            <a:r>
              <a:rPr lang="en-GB" dirty="0" smtClean="0"/>
              <a:t>Opponents of the trait approach also reverse </a:t>
            </a:r>
            <a:r>
              <a:rPr lang="en-GB" dirty="0" err="1" smtClean="0"/>
              <a:t>Hornaday's</a:t>
            </a:r>
            <a:r>
              <a:rPr lang="en-GB" dirty="0" smtClean="0"/>
              <a:t> logic and ask whether those among us who do not choose to be entrepreneurs have similar traits. Put another way, can a “</a:t>
            </a:r>
            <a:r>
              <a:rPr lang="en-GB" dirty="0" err="1" smtClean="0"/>
              <a:t>nonentrepreneur“.also</a:t>
            </a:r>
            <a:r>
              <a:rPr lang="en-GB" dirty="0" smtClean="0"/>
              <a:t> be achievement oriented, persistent, and creative?</a:t>
            </a:r>
          </a:p>
          <a:p>
            <a:endParaRPr lang="en-GB"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GB" b="1" dirty="0" smtClean="0"/>
              <a:t>Traits versus Characteristics</a:t>
            </a:r>
            <a:endParaRPr lang="en-GB" dirty="0"/>
          </a:p>
        </p:txBody>
      </p:sp>
      <p:sp>
        <p:nvSpPr>
          <p:cNvPr id="3" name="Content Placeholder 2"/>
          <p:cNvSpPr>
            <a:spLocks noGrp="1"/>
          </p:cNvSpPr>
          <p:nvPr>
            <p:ph idx="1"/>
          </p:nvPr>
        </p:nvSpPr>
        <p:spPr>
          <a:xfrm>
            <a:off x="457200" y="980728"/>
            <a:ext cx="8229600" cy="5688632"/>
          </a:xfrm>
        </p:spPr>
        <p:txBody>
          <a:bodyPr>
            <a:normAutofit/>
          </a:bodyPr>
          <a:lstStyle/>
          <a:p>
            <a:r>
              <a:rPr lang="en-GB" sz="2800" dirty="0" smtClean="0"/>
              <a:t>Although this descriptive list is supported by impressive data, it has the singular restriction of relating only to highly successful entrepreneurs; there is no way of knowing how these traits relate to a majority of entrepreneurs.</a:t>
            </a:r>
          </a:p>
          <a:p>
            <a:pPr>
              <a:buNone/>
            </a:pPr>
            <a:endParaRPr lang="en-GB" sz="2800" dirty="0" smtClean="0"/>
          </a:p>
          <a:p>
            <a:r>
              <a:rPr lang="en-GB" sz="2800" dirty="0" smtClean="0"/>
              <a:t> For example, some people may have the creative talent to generate new ideas but lack the ability to organise resources, and others may have a compelling need to achieve but lack the resourcefulness to create a new venture.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Traits versus Characteristics</a:t>
            </a:r>
            <a:endParaRPr lang="en-GB" dirty="0"/>
          </a:p>
        </p:txBody>
      </p:sp>
      <p:sp>
        <p:nvSpPr>
          <p:cNvPr id="3" name="Content Placeholder 2"/>
          <p:cNvSpPr>
            <a:spLocks noGrp="1"/>
          </p:cNvSpPr>
          <p:nvPr>
            <p:ph idx="1"/>
          </p:nvPr>
        </p:nvSpPr>
        <p:spPr>
          <a:xfrm>
            <a:off x="457200" y="1600200"/>
            <a:ext cx="8229600" cy="4925144"/>
          </a:xfrm>
        </p:spPr>
        <p:txBody>
          <a:bodyPr>
            <a:normAutofit fontScale="92500" lnSpcReduction="10000"/>
          </a:bodyPr>
          <a:lstStyle/>
          <a:p>
            <a:r>
              <a:rPr lang="en-GB" dirty="0" smtClean="0"/>
              <a:t>Many of these individuals with a limited profile based on traits will start new businesses and succeed. Others with a majority of the traits may start new businesses and fail. </a:t>
            </a:r>
          </a:p>
          <a:p>
            <a:r>
              <a:rPr lang="en-GB" dirty="0" smtClean="0"/>
              <a:t>Opponents of the trait approach also reverse </a:t>
            </a:r>
            <a:r>
              <a:rPr lang="en-GB" dirty="0" err="1" smtClean="0"/>
              <a:t>Hornaday's</a:t>
            </a:r>
            <a:r>
              <a:rPr lang="en-GB" dirty="0" smtClean="0"/>
              <a:t> logic and ask whether those among us who do not choose to be entrepreneurs have similar traits. </a:t>
            </a:r>
          </a:p>
          <a:p>
            <a:r>
              <a:rPr lang="en-GB" dirty="0" smtClean="0"/>
              <a:t>Put another way, can a “</a:t>
            </a:r>
            <a:r>
              <a:rPr lang="en-GB" dirty="0" err="1" smtClean="0"/>
              <a:t>nonentrepreneur</a:t>
            </a:r>
            <a:r>
              <a:rPr lang="en-GB" dirty="0" smtClean="0"/>
              <a:t>“ also be achievement oriented, persistent, and creative?</a:t>
            </a:r>
          </a:p>
          <a:p>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GB" b="1" dirty="0" smtClean="0"/>
              <a:t>Traits versus Characteristics</a:t>
            </a:r>
            <a:endParaRPr lang="en-GB" dirty="0"/>
          </a:p>
        </p:txBody>
      </p:sp>
      <p:sp>
        <p:nvSpPr>
          <p:cNvPr id="3" name="Content Placeholder 2"/>
          <p:cNvSpPr>
            <a:spLocks noGrp="1"/>
          </p:cNvSpPr>
          <p:nvPr>
            <p:ph idx="1"/>
          </p:nvPr>
        </p:nvSpPr>
        <p:spPr>
          <a:xfrm>
            <a:off x="457200" y="1124744"/>
            <a:ext cx="8229600" cy="5400600"/>
          </a:xfrm>
        </p:spPr>
        <p:txBody>
          <a:bodyPr>
            <a:normAutofit fontScale="92500" lnSpcReduction="10000"/>
          </a:bodyPr>
          <a:lstStyle/>
          <a:p>
            <a:r>
              <a:rPr lang="en-GB" dirty="0"/>
              <a:t>A. David Silver, a successful venture capitalist and author, described the </a:t>
            </a:r>
            <a:r>
              <a:rPr lang="en-GB" dirty="0" smtClean="0"/>
              <a:t>entrepreneur </a:t>
            </a:r>
            <a:r>
              <a:rPr lang="en-GB" dirty="0"/>
              <a:t>as “energetic, single-minded,” and having “a mission and clear </a:t>
            </a:r>
            <a:r>
              <a:rPr lang="en-GB" dirty="0" smtClean="0"/>
              <a:t>vision”; </a:t>
            </a:r>
          </a:p>
          <a:p>
            <a:r>
              <a:rPr lang="en-GB" dirty="0" smtClean="0"/>
              <a:t>“He </a:t>
            </a:r>
            <a:r>
              <a:rPr lang="en-GB" dirty="0"/>
              <a:t>or she intends to create out of this vision a product or service in a field many have determined is important to improve the lives of millions.”  </a:t>
            </a:r>
            <a:endParaRPr lang="en-GB" dirty="0" smtClean="0"/>
          </a:p>
          <a:p>
            <a:r>
              <a:rPr lang="en-GB" dirty="0" smtClean="0"/>
              <a:t>Silver </a:t>
            </a:r>
            <a:r>
              <a:rPr lang="en-GB" dirty="0"/>
              <a:t>also suggests that entrepreneurs venture out on their own from a sense of dissatisfaction with their organisations, but they are not necessarily unhappy with their career fields.</a:t>
            </a:r>
          </a:p>
          <a:p>
            <a:endParaRPr lang="en-GB"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fontScale="90000"/>
          </a:bodyPr>
          <a:lstStyle/>
          <a:p>
            <a:r>
              <a:rPr lang="en-GB" b="1" dirty="0" smtClean="0"/>
              <a:t>Entrepreneurship, Small Business, and Corporate Ventures</a:t>
            </a:r>
            <a:endParaRPr lang="en-GB" dirty="0"/>
          </a:p>
        </p:txBody>
      </p:sp>
      <p:sp>
        <p:nvSpPr>
          <p:cNvPr id="3" name="Content Placeholder 2"/>
          <p:cNvSpPr>
            <a:spLocks noGrp="1"/>
          </p:cNvSpPr>
          <p:nvPr>
            <p:ph idx="1"/>
          </p:nvPr>
        </p:nvSpPr>
        <p:spPr>
          <a:xfrm>
            <a:off x="457200" y="1124744"/>
            <a:ext cx="8229600" cy="5400600"/>
          </a:xfrm>
        </p:spPr>
        <p:txBody>
          <a:bodyPr>
            <a:normAutofit/>
          </a:bodyPr>
          <a:lstStyle/>
          <a:p>
            <a:r>
              <a:rPr lang="en-GB" dirty="0" smtClean="0"/>
              <a:t>The term </a:t>
            </a:r>
            <a:r>
              <a:rPr lang="en-GB" i="1" dirty="0" smtClean="0"/>
              <a:t>entrepreneur </a:t>
            </a:r>
            <a:r>
              <a:rPr lang="en-GB" dirty="0" smtClean="0"/>
              <a:t>may be properly applied to those who incubate new ideas, start enterprises based on those ideas, and provide added value to society based on their independent initiative. </a:t>
            </a:r>
          </a:p>
          <a:p>
            <a:r>
              <a:rPr lang="en-GB" dirty="0" smtClean="0"/>
              <a:t>However, individuals who simply </a:t>
            </a:r>
            <a:r>
              <a:rPr lang="en-GB" i="1" dirty="0" smtClean="0"/>
              <a:t>substitute income </a:t>
            </a:r>
            <a:r>
              <a:rPr lang="en-GB" dirty="0" smtClean="0"/>
              <a:t>by leaving jobs to operate local stores or independent service businesses are described as </a:t>
            </a:r>
            <a:r>
              <a:rPr lang="en-GB" b="1" dirty="0" smtClean="0"/>
              <a:t>small businesspersons.</a:t>
            </a:r>
          </a:p>
          <a:p>
            <a:r>
              <a:rPr lang="en-GB" b="1" dirty="0" smtClean="0"/>
              <a:t> </a:t>
            </a:r>
            <a:r>
              <a:rPr lang="en-GB" dirty="0" smtClean="0"/>
              <a:t>The distinction is subtle but important.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Entrepreneurship, Small Business, and Corporate Ventures</a:t>
            </a:r>
            <a:endParaRPr lang="en-GB" dirty="0"/>
          </a:p>
        </p:txBody>
      </p:sp>
      <p:sp>
        <p:nvSpPr>
          <p:cNvPr id="3" name="Content Placeholder 2"/>
          <p:cNvSpPr>
            <a:spLocks noGrp="1"/>
          </p:cNvSpPr>
          <p:nvPr>
            <p:ph idx="1"/>
          </p:nvPr>
        </p:nvSpPr>
        <p:spPr>
          <a:xfrm>
            <a:off x="457200" y="1600200"/>
            <a:ext cx="8229600" cy="4925144"/>
          </a:xfrm>
        </p:spPr>
        <p:txBody>
          <a:bodyPr>
            <a:normAutofit/>
          </a:bodyPr>
          <a:lstStyle/>
          <a:p>
            <a:r>
              <a:rPr lang="en-GB" dirty="0" smtClean="0"/>
              <a:t> The person who establishes a fast-food franchise chain is called an entrepreneur </a:t>
            </a:r>
          </a:p>
          <a:p>
            <a:r>
              <a:rPr lang="en-GB" dirty="0" smtClean="0"/>
              <a:t>The local restaurant owner is called a small businessperson. </a:t>
            </a:r>
          </a:p>
          <a:p>
            <a:r>
              <a:rPr lang="en-GB" dirty="0" smtClean="0"/>
              <a:t>Distinguishing factors are that entrepreneurs have </a:t>
            </a:r>
            <a:r>
              <a:rPr lang="en-GB" i="1" dirty="0" smtClean="0"/>
              <a:t>vision for growth, commitment to constructive change, persistence </a:t>
            </a:r>
            <a:r>
              <a:rPr lang="en-GB" dirty="0" smtClean="0"/>
              <a:t>to gather necessary resources, and </a:t>
            </a:r>
            <a:r>
              <a:rPr lang="en-GB" i="1" dirty="0" smtClean="0"/>
              <a:t>energy </a:t>
            </a:r>
            <a:r>
              <a:rPr lang="en-GB" dirty="0" smtClean="0"/>
              <a:t>to achieve unusual results. </a:t>
            </a:r>
          </a:p>
          <a:p>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Entrepreneurship, Small Business, and Corporate Ventures</a:t>
            </a:r>
            <a:endParaRPr lang="en-GB" dirty="0"/>
          </a:p>
        </p:txBody>
      </p:sp>
      <p:sp>
        <p:nvSpPr>
          <p:cNvPr id="3" name="Content Placeholder 2"/>
          <p:cNvSpPr>
            <a:spLocks noGrp="1"/>
          </p:cNvSpPr>
          <p:nvPr>
            <p:ph idx="1"/>
          </p:nvPr>
        </p:nvSpPr>
        <p:spPr>
          <a:xfrm>
            <a:off x="457200" y="1600200"/>
            <a:ext cx="8229600" cy="5257800"/>
          </a:xfrm>
        </p:spPr>
        <p:txBody>
          <a:bodyPr>
            <a:normAutofit fontScale="85000" lnSpcReduction="20000"/>
          </a:bodyPr>
          <a:lstStyle/>
          <a:p>
            <a:r>
              <a:rPr lang="en-GB" dirty="0" smtClean="0"/>
              <a:t>These are controversial issues because many "small businesspersons” reflect the essentials of entrepreneurship. </a:t>
            </a:r>
          </a:p>
          <a:p>
            <a:r>
              <a:rPr lang="en-GB" dirty="0" smtClean="0"/>
              <a:t>They incubate ideas, gather resources, take individual risks, and persist in seeing their ventures succeed.</a:t>
            </a:r>
          </a:p>
          <a:p>
            <a:r>
              <a:rPr lang="en-GB" dirty="0" smtClean="0"/>
              <a:t> They do not, however, pursue growth through constructive change in the same, way Schumpeter explained entrepreneurship or in the manner of </a:t>
            </a:r>
            <a:r>
              <a:rPr lang="en-GB" dirty="0" err="1" smtClean="0"/>
              <a:t>Drucker's</a:t>
            </a:r>
            <a:r>
              <a:rPr lang="en-GB" dirty="0" smtClean="0"/>
              <a:t> description of the entrepreneurial process.  </a:t>
            </a:r>
          </a:p>
          <a:p>
            <a:r>
              <a:rPr lang="en-GB" dirty="0" smtClean="0"/>
              <a:t>Still, what has </a:t>
            </a:r>
            <a:r>
              <a:rPr lang="en-GB" i="1" dirty="0" smtClean="0"/>
              <a:t>not </a:t>
            </a:r>
            <a:r>
              <a:rPr lang="en-GB" dirty="0" smtClean="0"/>
              <a:t>been accomplished by research is to clearly differentiate small business from entrepreneurship. If we add a third dimension of corporate entrepreneurship, we have a rather complex controversy.</a:t>
            </a:r>
          </a:p>
          <a:p>
            <a:endParaRPr lang="en-GB"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smtClean="0"/>
              <a:t>Corporate entrepreneurship</a:t>
            </a:r>
            <a:endParaRPr lang="en-GB" dirty="0"/>
          </a:p>
        </p:txBody>
      </p:sp>
      <p:sp>
        <p:nvSpPr>
          <p:cNvPr id="3" name="Content Placeholder 2"/>
          <p:cNvSpPr>
            <a:spLocks noGrp="1"/>
          </p:cNvSpPr>
          <p:nvPr>
            <p:ph idx="1"/>
          </p:nvPr>
        </p:nvSpPr>
        <p:spPr>
          <a:xfrm>
            <a:off x="457200" y="1052736"/>
            <a:ext cx="8229600" cy="5616624"/>
          </a:xfrm>
        </p:spPr>
        <p:txBody>
          <a:bodyPr>
            <a:normAutofit fontScale="85000" lnSpcReduction="20000"/>
          </a:bodyPr>
          <a:lstStyle/>
          <a:p>
            <a:r>
              <a:rPr lang="en-GB" dirty="0" smtClean="0"/>
              <a:t>Sometimes referred to as </a:t>
            </a:r>
            <a:r>
              <a:rPr lang="en-GB" b="1" dirty="0" err="1" smtClean="0"/>
              <a:t>intrapreneurship</a:t>
            </a:r>
            <a:r>
              <a:rPr lang="en-GB" b="1" dirty="0" smtClean="0"/>
              <a:t>, </a:t>
            </a:r>
            <a:r>
              <a:rPr lang="en-GB" dirty="0" smtClean="0"/>
              <a:t>is concerned with innovation that leads to new corporate divisions or subsidiary ventures in established, larger firms.  </a:t>
            </a:r>
          </a:p>
          <a:p>
            <a:r>
              <a:rPr lang="en-GB" dirty="0" smtClean="0"/>
              <a:t>The concept of entrepreneurship does not exclude managers in large organisations from being entrepreneurs if they combine resources in unusual ways to create innovative new products or services.</a:t>
            </a:r>
          </a:p>
          <a:p>
            <a:r>
              <a:rPr lang="en-GB" dirty="0" smtClean="0"/>
              <a:t> However, because entrepreneurs take personal investment risks and corporate managers very rarely do, there are grounds for arguing that corporate entrepreneurship is a play on words. Corporate managers may commit time and energy, and perhaps also risk their careers, but there is little evidence of corporate managers risking personal investment capital to champion a corporate innovation. </a:t>
            </a:r>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smtClean="0"/>
              <a:t>Corporate entrepreneurship</a:t>
            </a:r>
            <a:endParaRPr lang="en-GB"/>
          </a:p>
        </p:txBody>
      </p:sp>
      <p:sp>
        <p:nvSpPr>
          <p:cNvPr id="3" name="Content Placeholder 2"/>
          <p:cNvSpPr>
            <a:spLocks noGrp="1"/>
          </p:cNvSpPr>
          <p:nvPr>
            <p:ph idx="1"/>
          </p:nvPr>
        </p:nvSpPr>
        <p:spPr>
          <a:xfrm>
            <a:off x="457200" y="1600200"/>
            <a:ext cx="8229600" cy="4997152"/>
          </a:xfrm>
        </p:spPr>
        <p:txBody>
          <a:bodyPr>
            <a:normAutofit lnSpcReduction="10000"/>
          </a:bodyPr>
          <a:lstStyle/>
          <a:p>
            <a:r>
              <a:rPr lang="en-GB" dirty="0" smtClean="0"/>
              <a:t> However, because entrepreneurs take personal investment risks and corporate managers very rarely do, there are grounds for arguing that corporate entrepreneurship is a play on words.</a:t>
            </a:r>
          </a:p>
          <a:p>
            <a:r>
              <a:rPr lang="en-GB" dirty="0" smtClean="0"/>
              <a:t> Corporate managers may commit time and energy, and perhaps also risk their careers, but there is little evidence of corporate managers risking personal investment capital to champion a corporate innovation. </a:t>
            </a:r>
          </a:p>
          <a:p>
            <a:endParaRPr lang="en-GB"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smtClean="0"/>
              <a:t>Defining Small Business </a:t>
            </a:r>
            <a:endParaRPr lang="en-GB" dirty="0"/>
          </a:p>
        </p:txBody>
      </p:sp>
      <p:sp>
        <p:nvSpPr>
          <p:cNvPr id="3" name="Content Placeholder 2"/>
          <p:cNvSpPr>
            <a:spLocks noGrp="1"/>
          </p:cNvSpPr>
          <p:nvPr>
            <p:ph idx="1"/>
          </p:nvPr>
        </p:nvSpPr>
        <p:spPr>
          <a:xfrm>
            <a:off x="457200" y="980728"/>
            <a:ext cx="8229600" cy="5877272"/>
          </a:xfrm>
        </p:spPr>
        <p:txBody>
          <a:bodyPr>
            <a:normAutofit fontScale="85000" lnSpcReduction="20000"/>
          </a:bodyPr>
          <a:lstStyle/>
          <a:p>
            <a:r>
              <a:rPr lang="en-GB" b="1" u="sng" dirty="0" smtClean="0"/>
              <a:t>A small business is one that does not dominate its industry</a:t>
            </a:r>
            <a:r>
              <a:rPr lang="en-GB" dirty="0" smtClean="0"/>
              <a:t>, has less than ¢100 million in annual sales, and has fewer than 100 employees.</a:t>
            </a:r>
          </a:p>
          <a:p>
            <a:r>
              <a:rPr lang="en-GB" dirty="0" smtClean="0"/>
              <a:t> Exceptions to these criteria abound, but these benchmarks are used for evaluating loans and providing business assistance. "Small" defies clear definition. For instance, in today's markets, firms with fewer than 50 workers but with high-speed production lines can generate ¢500 million or more in sales. </a:t>
            </a:r>
          </a:p>
          <a:p>
            <a:r>
              <a:rPr lang="en-GB" dirty="0" smtClean="0"/>
              <a:t>On the other hand, firms with several thousand workers may have low sales volume. In general, small businesses seldom dominate their industries and rely on filling a “niche” in local or regional markets. </a:t>
            </a:r>
          </a:p>
          <a:p>
            <a:r>
              <a:rPr lang="en-GB" dirty="0" smtClean="0"/>
              <a:t>Table 1-2 lists three types of small businesses. Their relative advantages and disadvantages are also discussed</a:t>
            </a:r>
          </a:p>
          <a:p>
            <a:endParaRPr lang="en-GB"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51520" y="1556792"/>
          <a:ext cx="8352928" cy="5120640"/>
        </p:xfrm>
        <a:graphic>
          <a:graphicData uri="http://schemas.openxmlformats.org/drawingml/2006/table">
            <a:tbl>
              <a:tblPr/>
              <a:tblGrid>
                <a:gridCol w="1690202"/>
                <a:gridCol w="3406678"/>
                <a:gridCol w="3256048"/>
              </a:tblGrid>
              <a:tr h="4248472">
                <a:tc>
                  <a:txBody>
                    <a:bodyPr/>
                    <a:lstStyle/>
                    <a:p>
                      <a:pPr algn="just">
                        <a:spcAft>
                          <a:spcPts val="0"/>
                        </a:spcAft>
                      </a:pPr>
                      <a:r>
                        <a:rPr lang="en-GB" sz="2400" dirty="0">
                          <a:latin typeface="Times New Roman"/>
                          <a:ea typeface="Times New Roman"/>
                          <a:cs typeface="Times New Roman"/>
                        </a:rPr>
                        <a:t>Family enterprise</a:t>
                      </a:r>
                    </a:p>
                    <a:p>
                      <a:pPr marL="118745" indent="-118745" algn="just">
                        <a:spcAft>
                          <a:spcPts val="0"/>
                        </a:spcAft>
                      </a:pPr>
                      <a:endParaRPr lang="en-GB" sz="2400" dirty="0" smtClean="0">
                        <a:latin typeface="Times New Roman"/>
                        <a:ea typeface="Times New Roman"/>
                        <a:cs typeface="Times New Roman"/>
                      </a:endParaRPr>
                    </a:p>
                    <a:p>
                      <a:pPr marL="118745" indent="-118745" algn="just">
                        <a:spcAft>
                          <a:spcPts val="0"/>
                        </a:spcAft>
                      </a:pPr>
                      <a:endParaRPr lang="en-GB" sz="2400" dirty="0" smtClean="0">
                        <a:latin typeface="Times New Roman"/>
                        <a:ea typeface="Times New Roman"/>
                        <a:cs typeface="Times New Roman"/>
                      </a:endParaRPr>
                    </a:p>
                    <a:p>
                      <a:pPr marL="118745" indent="-118745" algn="just">
                        <a:spcAft>
                          <a:spcPts val="0"/>
                        </a:spcAft>
                      </a:pPr>
                      <a:r>
                        <a:rPr lang="en-GB" sz="2400" dirty="0" smtClean="0">
                          <a:latin typeface="Times New Roman"/>
                          <a:ea typeface="Times New Roman"/>
                          <a:cs typeface="Times New Roman"/>
                        </a:rPr>
                        <a:t>Personal </a:t>
                      </a:r>
                      <a:r>
                        <a:rPr lang="en-GB" sz="2400" dirty="0">
                          <a:latin typeface="Times New Roman"/>
                          <a:ea typeface="Times New Roman"/>
                          <a:cs typeface="Times New Roman"/>
                        </a:rPr>
                        <a:t>service </a:t>
                      </a:r>
                    </a:p>
                    <a:p>
                      <a:pPr marL="118745" indent="-118745" algn="just">
                        <a:spcAft>
                          <a:spcPts val="0"/>
                        </a:spcAft>
                      </a:pPr>
                      <a:r>
                        <a:rPr lang="en-GB" sz="2400" dirty="0">
                          <a:latin typeface="Times New Roman"/>
                          <a:ea typeface="Times New Roman"/>
                          <a:cs typeface="Times New Roman"/>
                        </a:rPr>
                        <a:t>firm (PSF)</a:t>
                      </a:r>
                    </a:p>
                    <a:p>
                      <a:pPr marL="118745" indent="-118745" algn="just">
                        <a:spcAft>
                          <a:spcPts val="0"/>
                        </a:spcAft>
                      </a:pPr>
                      <a:endParaRPr lang="en-GB" sz="2400" dirty="0" smtClean="0">
                        <a:latin typeface="Times New Roman"/>
                        <a:ea typeface="Times New Roman"/>
                        <a:cs typeface="Times New Roman"/>
                      </a:endParaRPr>
                    </a:p>
                    <a:p>
                      <a:pPr marL="118745" indent="-118745" algn="just">
                        <a:spcAft>
                          <a:spcPts val="0"/>
                        </a:spcAft>
                      </a:pPr>
                      <a:r>
                        <a:rPr lang="en-GB" sz="2400" dirty="0" smtClean="0">
                          <a:latin typeface="Times New Roman"/>
                          <a:ea typeface="Times New Roman"/>
                          <a:cs typeface="Times New Roman"/>
                        </a:rPr>
                        <a:t>Franchise</a:t>
                      </a:r>
                      <a:endParaRPr lang="en-GB" sz="24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 algn="l">
                        <a:spcAft>
                          <a:spcPts val="0"/>
                        </a:spcAft>
                      </a:pPr>
                      <a:r>
                        <a:rPr lang="en-GB" sz="2400" dirty="0" smtClean="0">
                          <a:latin typeface="Times New Roman"/>
                          <a:ea typeface="Times New Roman"/>
                          <a:cs typeface="Times New Roman"/>
                        </a:rPr>
                        <a:t>Offers</a:t>
                      </a:r>
                      <a:r>
                        <a:rPr lang="en-GB" sz="2400" baseline="0" dirty="0" smtClean="0">
                          <a:latin typeface="Times New Roman"/>
                          <a:ea typeface="Times New Roman"/>
                          <a:cs typeface="Times New Roman"/>
                        </a:rPr>
                        <a:t> </a:t>
                      </a:r>
                      <a:r>
                        <a:rPr lang="en-GB" sz="2400" dirty="0" smtClean="0">
                          <a:latin typeface="Times New Roman"/>
                          <a:ea typeface="Times New Roman"/>
                          <a:cs typeface="Times New Roman"/>
                        </a:rPr>
                        <a:t>economic </a:t>
                      </a:r>
                      <a:r>
                        <a:rPr lang="en-GB" sz="2400" dirty="0">
                          <a:latin typeface="Times New Roman"/>
                          <a:ea typeface="Times New Roman"/>
                          <a:cs typeface="Times New Roman"/>
                        </a:rPr>
                        <a:t>independence</a:t>
                      </a:r>
                    </a:p>
                    <a:p>
                      <a:pPr marL="45720" algn="l">
                        <a:spcAft>
                          <a:spcPts val="0"/>
                        </a:spcAft>
                      </a:pPr>
                      <a:r>
                        <a:rPr lang="en-GB" sz="2400" dirty="0">
                          <a:latin typeface="Times New Roman"/>
                          <a:ea typeface="Times New Roman"/>
                          <a:cs typeface="Times New Roman"/>
                        </a:rPr>
                        <a:t>promotes family unity</a:t>
                      </a:r>
                    </a:p>
                    <a:p>
                      <a:pPr marL="45720" algn="l">
                        <a:spcAft>
                          <a:spcPts val="0"/>
                        </a:spcAft>
                      </a:pPr>
                      <a:endParaRPr lang="en-GB" sz="2400" dirty="0" smtClean="0">
                        <a:latin typeface="Times New Roman"/>
                        <a:ea typeface="Times New Roman"/>
                        <a:cs typeface="Times New Roman"/>
                      </a:endParaRPr>
                    </a:p>
                    <a:p>
                      <a:pPr marL="45720" algn="l">
                        <a:spcAft>
                          <a:spcPts val="0"/>
                        </a:spcAft>
                      </a:pPr>
                      <a:r>
                        <a:rPr lang="en-GB" sz="2400" dirty="0" smtClean="0">
                          <a:latin typeface="Times New Roman"/>
                          <a:ea typeface="Times New Roman"/>
                          <a:cs typeface="Times New Roman"/>
                        </a:rPr>
                        <a:t>Offers </a:t>
                      </a:r>
                      <a:r>
                        <a:rPr lang="en-GB" sz="2400" dirty="0">
                          <a:latin typeface="Times New Roman"/>
                          <a:ea typeface="Times New Roman"/>
                          <a:cs typeface="Times New Roman"/>
                        </a:rPr>
                        <a:t>personal freedom and use of talents and skills for personal growth</a:t>
                      </a:r>
                    </a:p>
                    <a:p>
                      <a:pPr marL="45720" algn="l">
                        <a:spcAft>
                          <a:spcPts val="0"/>
                        </a:spcAft>
                      </a:pPr>
                      <a:endParaRPr lang="en-GB" sz="2400" dirty="0" smtClean="0">
                        <a:latin typeface="Times New Roman"/>
                        <a:ea typeface="Times New Roman"/>
                        <a:cs typeface="Times New Roman"/>
                      </a:endParaRPr>
                    </a:p>
                    <a:p>
                      <a:pPr marL="45720" algn="l">
                        <a:spcAft>
                          <a:spcPts val="0"/>
                        </a:spcAft>
                      </a:pPr>
                      <a:r>
                        <a:rPr lang="en-GB" sz="2400" dirty="0" smtClean="0">
                          <a:latin typeface="Times New Roman"/>
                          <a:ea typeface="Times New Roman"/>
                          <a:cs typeface="Times New Roman"/>
                        </a:rPr>
                        <a:t>Franchiser </a:t>
                      </a:r>
                      <a:r>
                        <a:rPr lang="en-GB" sz="2400" dirty="0">
                          <a:latin typeface="Times New Roman"/>
                          <a:ea typeface="Times New Roman"/>
                          <a:cs typeface="Times New Roman"/>
                        </a:rPr>
                        <a:t>provides most business </a:t>
                      </a:r>
                    </a:p>
                    <a:p>
                      <a:pPr marL="45720" algn="l">
                        <a:spcAft>
                          <a:spcPts val="0"/>
                        </a:spcAft>
                      </a:pPr>
                      <a:r>
                        <a:rPr lang="en-GB" sz="2400" dirty="0">
                          <a:latin typeface="Times New Roman"/>
                          <a:ea typeface="Times New Roman"/>
                          <a:cs typeface="Times New Roman"/>
                        </a:rPr>
                        <a:t>start-up needs with relative </a:t>
                      </a:r>
                    </a:p>
                    <a:p>
                      <a:pPr marL="45720" algn="l">
                        <a:spcAft>
                          <a:spcPts val="0"/>
                        </a:spcAft>
                      </a:pPr>
                      <a:r>
                        <a:rPr lang="en-GB" sz="2400" dirty="0">
                          <a:latin typeface="Times New Roman"/>
                          <a:ea typeface="Times New Roman"/>
                          <a:cs typeface="Times New Roman"/>
                        </a:rPr>
                        <a:t>income security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GB" sz="2400" dirty="0">
                          <a:latin typeface="Times New Roman"/>
                          <a:ea typeface="Times New Roman"/>
                          <a:cs typeface="Times New Roman"/>
                        </a:rPr>
                        <a:t>Family liability for the business</a:t>
                      </a:r>
                      <a:r>
                        <a:rPr lang="en-GB" sz="2400" dirty="0" smtClean="0">
                          <a:latin typeface="Times New Roman"/>
                          <a:ea typeface="Times New Roman"/>
                          <a:cs typeface="Times New Roman"/>
                        </a:rPr>
                        <a:t>; </a:t>
                      </a:r>
                      <a:r>
                        <a:rPr lang="en-GB" sz="2400" dirty="0">
                          <a:latin typeface="Times New Roman"/>
                          <a:ea typeface="Times New Roman"/>
                          <a:cs typeface="Times New Roman"/>
                        </a:rPr>
                        <a:t>unsure succession</a:t>
                      </a:r>
                    </a:p>
                    <a:p>
                      <a:pPr algn="l">
                        <a:spcAft>
                          <a:spcPts val="0"/>
                        </a:spcAft>
                      </a:pPr>
                      <a:endParaRPr lang="en-GB" sz="2400" dirty="0" smtClean="0">
                        <a:latin typeface="Times New Roman"/>
                        <a:ea typeface="Times New Roman"/>
                        <a:cs typeface="Times New Roman"/>
                      </a:endParaRPr>
                    </a:p>
                    <a:p>
                      <a:pPr algn="l">
                        <a:spcAft>
                          <a:spcPts val="0"/>
                        </a:spcAft>
                      </a:pPr>
                      <a:r>
                        <a:rPr lang="en-GB" sz="2400" dirty="0" smtClean="0">
                          <a:latin typeface="Times New Roman"/>
                          <a:ea typeface="Times New Roman"/>
                          <a:cs typeface="Times New Roman"/>
                        </a:rPr>
                        <a:t>Personal </a:t>
                      </a:r>
                      <a:r>
                        <a:rPr lang="en-GB" sz="2400" dirty="0">
                          <a:latin typeface="Times New Roman"/>
                          <a:ea typeface="Times New Roman"/>
                          <a:cs typeface="Times New Roman"/>
                        </a:rPr>
                        <a:t>liability and lack </a:t>
                      </a:r>
                      <a:r>
                        <a:rPr lang="en-GB" sz="2400" i="1" dirty="0">
                          <a:latin typeface="Times New Roman"/>
                          <a:ea typeface="Times New Roman"/>
                          <a:cs typeface="Times New Roman"/>
                        </a:rPr>
                        <a:t>of </a:t>
                      </a:r>
                      <a:r>
                        <a:rPr lang="en-GB" sz="2400" dirty="0">
                          <a:latin typeface="Times New Roman"/>
                          <a:ea typeface="Times New Roman"/>
                          <a:cs typeface="Times New Roman"/>
                        </a:rPr>
                        <a:t>secure </a:t>
                      </a:r>
                      <a:r>
                        <a:rPr lang="en-GB" sz="2400" dirty="0" smtClean="0">
                          <a:latin typeface="Times New Roman"/>
                          <a:ea typeface="Times New Roman"/>
                          <a:cs typeface="Times New Roman"/>
                        </a:rPr>
                        <a:t>income </a:t>
                      </a:r>
                      <a:r>
                        <a:rPr lang="en-GB" sz="2400" dirty="0">
                          <a:latin typeface="Times New Roman"/>
                          <a:ea typeface="Times New Roman"/>
                          <a:cs typeface="Times New Roman"/>
                        </a:rPr>
                        <a:t>without clear succession</a:t>
                      </a:r>
                    </a:p>
                    <a:p>
                      <a:pPr algn="l">
                        <a:spcAft>
                          <a:spcPts val="0"/>
                        </a:spcAft>
                      </a:pPr>
                      <a:endParaRPr lang="en-GB" sz="2400" dirty="0" smtClean="0">
                        <a:latin typeface="Times New Roman"/>
                        <a:ea typeface="Times New Roman"/>
                        <a:cs typeface="Times New Roman"/>
                      </a:endParaRPr>
                    </a:p>
                    <a:p>
                      <a:pPr algn="l">
                        <a:spcAft>
                          <a:spcPts val="0"/>
                        </a:spcAft>
                      </a:pPr>
                      <a:r>
                        <a:rPr lang="en-GB" sz="2400" dirty="0" smtClean="0">
                          <a:latin typeface="Times New Roman"/>
                          <a:ea typeface="Times New Roman"/>
                          <a:cs typeface="Times New Roman"/>
                        </a:rPr>
                        <a:t>Less </a:t>
                      </a:r>
                      <a:r>
                        <a:rPr lang="en-GB" sz="2400" dirty="0">
                          <a:latin typeface="Times New Roman"/>
                          <a:ea typeface="Times New Roman"/>
                          <a:cs typeface="Times New Roman"/>
                        </a:rPr>
                        <a:t>freedom and adventure than </a:t>
                      </a:r>
                    </a:p>
                    <a:p>
                      <a:pPr algn="l">
                        <a:spcAft>
                          <a:spcPts val="0"/>
                        </a:spcAft>
                      </a:pPr>
                      <a:r>
                        <a:rPr lang="en-GB" sz="2400" dirty="0">
                          <a:latin typeface="Times New Roman"/>
                          <a:ea typeface="Times New Roman"/>
                          <a:cs typeface="Times New Roman"/>
                        </a:rPr>
                        <a:t>others; contracted to franchiser for </a:t>
                      </a:r>
                    </a:p>
                    <a:p>
                      <a:pPr algn="l">
                        <a:spcAft>
                          <a:spcPts val="0"/>
                        </a:spcAft>
                      </a:pPr>
                      <a:r>
                        <a:rPr lang="en-GB" sz="2400" dirty="0">
                          <a:latin typeface="Times New Roman"/>
                          <a:ea typeface="Times New Roman"/>
                          <a:cs typeface="Times New Roman"/>
                        </a:rPr>
                        <a:t>services and royalty lease payments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121" name="Rectangle 1"/>
          <p:cNvSpPr>
            <a:spLocks noChangeArrowheads="1"/>
          </p:cNvSpPr>
          <p:nvPr/>
        </p:nvSpPr>
        <p:spPr bwMode="auto">
          <a:xfrm>
            <a:off x="0" y="-69396"/>
            <a:ext cx="9144000" cy="14773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765300" algn="l"/>
                <a:tab pos="3846513" algn="l"/>
                <a:tab pos="4699000" algn="r"/>
              </a:tabLst>
            </a:pPr>
            <a:r>
              <a:rPr kumimoji="0" lang="en-GB" sz="2400" b="1"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Table 1-2  </a:t>
            </a:r>
            <a:r>
              <a:rPr kumimoji="0" lang="en-GB" sz="24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Types of</a:t>
            </a:r>
            <a:r>
              <a:rPr kumimoji="0" lang="en-GB" sz="2400" b="1" i="0" u="sng"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GB" sz="24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Small Business: Advantages and Disadvantages</a:t>
            </a:r>
            <a:endParaRPr kumimoji="0" lang="en-GB"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765300" algn="l"/>
                <a:tab pos="3846513" algn="l"/>
                <a:tab pos="4699000" algn="r"/>
              </a:tabLst>
            </a:pPr>
            <a:r>
              <a:rPr kumimoji="0" lang="en-GB" sz="24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Type	   Advantages	                    Disadvantages</a:t>
            </a:r>
            <a:endParaRPr kumimoji="0" lang="en-GB"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765300" algn="l"/>
                <a:tab pos="3846513" algn="l"/>
                <a:tab pos="4699000" algn="r"/>
              </a:tabLst>
            </a:pPr>
            <a:endParaRPr kumimoji="0" lang="en-GB"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9600" dirty="0" smtClean="0"/>
              <a:t>THE END</a:t>
            </a:r>
            <a:endParaRPr lang="en-GB" sz="9600" dirty="0"/>
          </a:p>
        </p:txBody>
      </p:sp>
      <p:sp>
        <p:nvSpPr>
          <p:cNvPr id="3" name="Content Placeholder 2"/>
          <p:cNvSpPr>
            <a:spLocks noGrp="1"/>
          </p:cNvSpPr>
          <p:nvPr>
            <p:ph idx="1"/>
          </p:nvPr>
        </p:nvSpPr>
        <p:spPr/>
        <p:txBody>
          <a:bodyPr>
            <a:normAutofit/>
          </a:bodyPr>
          <a:lstStyle/>
          <a:p>
            <a:pPr>
              <a:buNone/>
            </a:pPr>
            <a:r>
              <a:rPr lang="en-GB" sz="7200" dirty="0" smtClean="0"/>
              <a:t> </a:t>
            </a:r>
          </a:p>
          <a:p>
            <a:pPr>
              <a:buNone/>
            </a:pPr>
            <a:r>
              <a:rPr lang="en-GB" sz="7200" dirty="0" smtClean="0"/>
              <a:t>        QUESTIONS?</a:t>
            </a:r>
            <a:endParaRPr lang="en-GB" sz="7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464</TotalTime>
  <Words>2956</Words>
  <Application>Microsoft Office PowerPoint</Application>
  <PresentationFormat>On-screen Show (4:3)</PresentationFormat>
  <Paragraphs>188</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ENTREPRENEURSHIP &amp; NEW VENTURE DEVELOPMENT</vt:lpstr>
      <vt:lpstr>Entrepreneurship and New Venture Opportunities</vt:lpstr>
      <vt:lpstr>Introduction</vt:lpstr>
      <vt:lpstr>Introduction</vt:lpstr>
      <vt:lpstr>Introduction</vt:lpstr>
      <vt:lpstr>Entrepreneurship &amp; Economic Theory</vt:lpstr>
      <vt:lpstr>Economics and Entrepreneurship</vt:lpstr>
      <vt:lpstr>Richard Cantillon</vt:lpstr>
      <vt:lpstr>Adam Smith</vt:lpstr>
      <vt:lpstr>Jean Baptiste Say</vt:lpstr>
      <vt:lpstr>John Stuart Mill </vt:lpstr>
      <vt:lpstr>Transition</vt:lpstr>
      <vt:lpstr>Carl Menger</vt:lpstr>
      <vt:lpstr>Carl Menger</vt:lpstr>
      <vt:lpstr>Carl Menger</vt:lpstr>
      <vt:lpstr>Entrepreneurship as a Process</vt:lpstr>
      <vt:lpstr>Entrepreneurship as a Process</vt:lpstr>
      <vt:lpstr>ENTREPRENEURSHIP STUDY</vt:lpstr>
      <vt:lpstr>REVIEW</vt:lpstr>
      <vt:lpstr>DEFINING ENTREPRENEURSHIP</vt:lpstr>
      <vt:lpstr>DEFINING ENTREPRENEURSHIP</vt:lpstr>
      <vt:lpstr>DEFINING ENTREPRENEURSHIP</vt:lpstr>
      <vt:lpstr>ENTREPRENEURSHIP DEFINED</vt:lpstr>
      <vt:lpstr>Who Is an Entrepreneur?</vt:lpstr>
      <vt:lpstr>Individual Perception Of Entrepreneurship</vt:lpstr>
      <vt:lpstr>Individual Perception Of Entrepreneurship</vt:lpstr>
      <vt:lpstr>Traits versus Characteristics</vt:lpstr>
      <vt:lpstr>Table 1‑1 Characteristics of Successful Entrepreneurs</vt:lpstr>
      <vt:lpstr>Traits versus Characteristics</vt:lpstr>
      <vt:lpstr>Traits versus Characteristics</vt:lpstr>
      <vt:lpstr>Traits versus Characteristics</vt:lpstr>
      <vt:lpstr>Traits versus Characteristics</vt:lpstr>
      <vt:lpstr>Traits versus Characteristics</vt:lpstr>
      <vt:lpstr>Entrepreneurship, Small Business, and Corporate Ventures</vt:lpstr>
      <vt:lpstr>Entrepreneurship, Small Business, and Corporate Ventures</vt:lpstr>
      <vt:lpstr>Entrepreneurship, Small Business, and Corporate Ventures</vt:lpstr>
      <vt:lpstr>Corporate entrepreneurship</vt:lpstr>
      <vt:lpstr>Corporate entrepreneurship</vt:lpstr>
      <vt:lpstr>Defining Small Business </vt:lpstr>
      <vt:lpstr>Slide 40</vt:lpstr>
      <vt:lpstr>THE END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ENTREPRENEURSHIP &amp; NEW VENTURE DEVELOPMENT</dc:title>
  <dc:creator>Araba Kwegyirba</dc:creator>
  <cp:lastModifiedBy>Araba Kwegyirba</cp:lastModifiedBy>
  <cp:revision>46</cp:revision>
  <dcterms:created xsi:type="dcterms:W3CDTF">2011-01-08T00:23:48Z</dcterms:created>
  <dcterms:modified xsi:type="dcterms:W3CDTF">2014-01-27T15:23:11Z</dcterms:modified>
</cp:coreProperties>
</file>