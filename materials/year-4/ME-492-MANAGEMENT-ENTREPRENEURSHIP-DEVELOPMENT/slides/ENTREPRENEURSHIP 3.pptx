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notesSlides/notesSlide1.xml" ContentType="application/vnd.openxmlformats-officedocument.presentationml.notesSlide+xml"/>
  <Override PartName="/ppt/ink/ink66.xml" ContentType="application/inkml+xml"/>
  <Override PartName="/ppt/notesSlides/notesSlide2.xml" ContentType="application/vnd.openxmlformats-officedocument.presentationml.notesSlide+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96" r:id="rId26"/>
    <p:sldId id="280" r:id="rId27"/>
    <p:sldId id="281" r:id="rId28"/>
    <p:sldId id="288" r:id="rId29"/>
    <p:sldId id="282" r:id="rId30"/>
    <p:sldId id="287" r:id="rId31"/>
    <p:sldId id="283" r:id="rId32"/>
    <p:sldId id="286" r:id="rId33"/>
    <p:sldId id="284" r:id="rId34"/>
    <p:sldId id="285" r:id="rId35"/>
    <p:sldId id="289" r:id="rId36"/>
    <p:sldId id="290" r:id="rId37"/>
    <p:sldId id="291" r:id="rId38"/>
    <p:sldId id="292" r:id="rId39"/>
    <p:sldId id="293" r:id="rId40"/>
    <p:sldId id="294" r:id="rId41"/>
    <p:sldId id="295"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41" autoAdjust="0"/>
    <p:restoredTop sz="94660"/>
  </p:normalViewPr>
  <p:slideViewPr>
    <p:cSldViewPr>
      <p:cViewPr varScale="1">
        <p:scale>
          <a:sx n="70" d="100"/>
          <a:sy n="70" d="100"/>
        </p:scale>
        <p:origin x="1392"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03:22.134"/>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10766 15528,'24'0,"1"0,0 0,0 0,0 0,-1 0,1 0,0 0,25 0,-26 0,1 0,25 0,24 0,-24 0,24 0,-49 0,0 0,0 0,24 0,-24 0,0 0,0 0,0 0,-1 0,1 0,0 0,25 0,-26 0,1 0,0 0,0 25,49-25,-49 0,25 24,24-24,-49 0,24 0,-24 0,50 25,-51-25,1 0,-25 50,25-50,25 0,-26 0,1 0,0 25,0-25,49 0,-49 0,25 0,-25 0,49 0,-24 0,49 0,-50 0,1 0,-25 0,0 0,-1 0,26 0,-25 0,0 0,-1 0,1 0,0 0,0 0,24 0,-24 0,25 0,24 0,-24 0,24 0,26 0,-76 0,51 0,-50 0,-1 0,1 0,0 0,0 0,0 0,24 0,-24 0,0 0,0 0,-1 0,1 0,0 0,25 0,-1 0,-24 0,25 0,24 0,0 0,-24 0,-25 0,0 0,49 0,-49 0,0 0,0 0,-1 0,26 0,-25 0,0 0,-1 0,1 0,0 24,0-24,24 25,-24-25,0 25,0-25,24 0,-24 0,25 25,-25-25,-1 0</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03:32.825"/>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8285 15602,'-49'0,"-100"0,0 50,0-50,25 0,74 0,-24 0,49 0,0 0,1 0,-1 0,0 0,-25 0,26 0,-1 0,0 0,0 0,0 0,1 0,-26 0,25 0,0 0,0 0,1 0,-1 0,0 0,-49 0,49 0,0 0,0 0,0 0,1 0,-26 0,25 0,0 0,1 0,-1 0,0 0,0 0,-24 0,24 0,0-25,0 25,0-25,1 25,-1 0,-25 0,25 0,1 0,-1 0,0 0,0 0,0 0,-24 0,24 0,0 0,0 0,0 0,1 0,-1 0</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03:36.289"/>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6028 15602,'-75'0,"26"0,-26 0,51 0,-26 0,-24 0,-1 0,50 0,1 0,-1 0,0 0,0 0,0 0,-24 0,24 0,0 0,0 0,1 0,-1 0,0 0,0 0,-24 0,24 0,0 0,0 0,0 0,1 0,-1 0,-25 0,25 0,0 0,1 0,-1 0,0 0,0 0,-24 0,24 0,0 0,0 0,0 0,1 0,-1 0,0 0,-25 0,26 0,-1 0,0 0,0 0,0 0,1 0,-26 0,25 0,0 0,1 0,-1 0,0 0,0 0,-24 0,24 0,0 0,0 0,0 0,1 0,-1 0,-25 0,25 0,0 0,1 0,-1 0,0 0,0 0,0 0,-24 0,24 0,0 0,0 0,1 0,-1 0,0 0,-25 0</inkml:trace>
</inkml:ink>
</file>

<file path=ppt/ink/ink4.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03:38.977"/>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3547 15602,'-24'0,"-1"0,0 0,0 0,0 0,1 0,-26 0,25 0,-24 0,24 0,0 0,-25 0,26 0,-1 0,0 0,0 0,0 0,1 0,-1 0,-25 0,25 0,0 0,1 0,-1 0,0 0,0 0,-24 0,24 0,0 0,0 0,0 0,1 0,-1 0</inkml:trace>
</inkml:ink>
</file>

<file path=ppt/ink/ink5.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03:43.827"/>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15528 15503,'-50'0,"-98"0,-1 0,0 0,25 0,74 0,-24 0,49 0,0 0,1 0,-1 0,0 0,-25 0,26 0,-1 0,0 0,0 0,0 0,0 0,1 0,-26 0,0 0,26 0,-1 0,0 0,-25 0,26 0,-1 0,0 0,0 0,0 0,1 0,-26 0,25 0,0 0,1 0,-1 0,0 0,0 0,-24 0,-1 0,0 0,1 0,-1 0,25 0,1 25,-1-25,-25 0,25 0,0 0,1 0</inkml:trace>
</inkml:ink>
</file>

<file path=ppt/ink/ink6.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03:46.254"/>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13420 15528,'-25'0,"-50"0,26 0,-26 0,26 0,-75 0,25 0,-1 0,1 0,25 0,24 0,1 0,24 0,0 0,0 0,0 0,0 0,1 0,-26 0,25 0,0 0,1 0,-1 0,0 0,0 0,-24 0,24 0,0 0,0 0,0 0,1 0,-1 0,0 0,-25 0,26 0,-1 0,0 0,0 0,0 0,1 0,-26 0,25 0,0 0,1 0,-1 0,0 0,0 0,-24 0,24 0,0 0,0 0,0 0,1 0,-1 0,-25 0,25 0,0 0,1 0,-1 25,0-25,0 0,0 0,-24 0,24 0,0 0,0 0,25 24,-24-24</inkml:trace>
</inkml:ink>
</file>

<file path=ppt/ink/ink7.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03:52.635"/>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17091 15553,'25'0,"49"0,-24 0,24 0,-49 0,0 0,49 0,-49 0,0 0,-1 0,1 0,0 0,25 0,-26 0,1 0,0 0,0 0,0 0,0 0,24 0,-24 0,0 0,0 0,-1 0,1 0,0 0,25 0,-26 0,1 0,0 0,0 0,0 0,-1 0,1 0,25 0,-25-25,-1 25,1 0,0 0,0 0,0 0,24 0,-24 0,0 0,0 0,-1 0,1 0,0 0,25 0,-26 0,1 0,0 0,0 0,0 0,-1 0,26 0,-25 0,0 0,0 0,-1 0,1 0</inkml:trace>
</inkml:ink>
</file>

<file path=ppt/ink/ink8.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03:56.582"/>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18951 15528,'75'0,"-26"0,50 0,25 0,-24 0,-26 0,-24 0,-26 0,1 0,25 0,-25 0,-1 0,1 0,0 0,0 0,0 0,-1 0,26 0,-25 0,0 0,24 0,26 0,-26 0,26 0,-50 0,-1 0,1 0,25 0,-25 0,-1 0,1 0,0 0,0 0,0 0,24 0,-24 0,0 0,24 0,-24 0,0 0,25 0,-26 0,-24-25,25 25,0 0,0 0,0 0,-1 0,51 0,-50 0,0-25,49 25,-49 0,0 0,-1 0,-24-25,25 25,0 0,0 0,24 0,-24 0,0 0,0 0,0 0,-1 0,1 0,0 0,49 0,-49 0,0 0,0 0,0 0,24 0,-24 0,0 0,0 0,-1 0,1 0,0 0,25 0,-26 0,1 0,0 0,0 0,0 0,-1 0,26 0,-25 0,0 0,0 0,-1 0,1 0,0 0,0 0,-25 25</inkml:trace>
</inkml:ink>
</file>

<file path=ppt/ink/ink9.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10:24.75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6574 16570,'-25'0,"-50"0,51 0,-26 0,25 0,0 0,1 0,-26 0,0 0,-24 0,-25 0,-1 0,1 0,-25 0,25 0,25 0,49 0,0 0,0 0,0 0,1 0,-1 0,0 0,-25 0,26 0,-1 0,0 0,-25 0,1 0,-26 0,1 0,-1 24,26-24,24 0,-25 0,26 0,-1 0,0 0,0 0,0 0,1 0,-26 0,25 0,0 0,1 0,-1 0,0 0,0 0,0 0,-24 0,24 0,0 0,0 0,1 0,-51 0,50 0,-24 25,24-25,-25 0,1 0,24 0,0 0,0 0,0 0,-24 0,-1 0,25 0,1 0,-1 0,-25 0,1 0,24 0,0 0,-49 0,24 0,-24 0,24 0,0 0,26 0,-1 0,0 0,0 0,0 0,-49 0,49 0,0 0,1 0,-1 0,0 0,0 0,-25 0,26 0,-1 0,0 0,0 0,-49 0,24 0,25 0,1 0,-26 0,25 0,0 0,1 0</inkml:trace>
</inkml:ink>
</file>

<file path=ppt/ink/ink10.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13:02.766"/>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1042 15081,'75'0,"73"0,150 0,99 0,-124 0,-50 0,-74 0,-50 0,-49 0,74 0,-75 0,-24 0,50 0,-51 0,26 0,24 0,-24 0,74 0,-74 0,24 25,0-25,-24 0,-25 25,49 0,-24-25,24 49,-49-49,49 0,-49 0,25 0,-25 0,0 0,49 0,-24 0,24 0,75 0,49 0,-49 0,-50 0,25 75,25-51,-50-24,1 50,73-25,-24-25,0 0,-50 0,0 0,0 0,-24 0,-1 0,-49 0,25 0,-25 0,-1 0,51 0,-26 0,26 0,-50 0,74-25,-50 25,75 0,25 0,0 0,-50 0,1 0,-26 0,-24 0,74 0,-75-25,26 25,24 0,-74 0,49 0,-49 0,24 0,26 75,-50-50,24-1,-49 26</inkml:trace>
</inkml:ink>
</file>

<file path=ppt/ink/ink1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13:05.596"/>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16471 15379,'148'0,"373"25,25 24,-99-49,148 75,149-26,-99-49,-124 50,-174 0,-74-50,-124 24,-25-24,-25 0,-49 0,-1 0,1 0,-25 0,-1 0,51 0,-50 0,24 50,26-50,-26 0,26 0,-1 0,-24 0,24 0,-49 0,0 0,0 0</inkml:trace>
</inkml:ink>
</file>

<file path=ppt/ink/ink1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13:11.676"/>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3275 17214,'24'0,"125"0,0 25,74 25,-74-25,50-25,73 49,1-49,0 50,-50-50,-74 0,-50 25,1-25,24 49,-50-24,-24-25,24 0,-24 0,98 0,1 0,50 0,-50 0,-1 50,26 24,-75-24,25-50,-24 0,-1 0,0 0,25 0,-25 0,50 0,0-75,-25 51,-25-26,-24 25,24 0,-25-24,25 49,-24 0,-26-25,26 25,-1-25,-49 25,25-50,-1 26,-24 24,0 0,0 0,-25-25,24 25,26 0,74 0,-74-25,74 25,-75 0,26 0,-26 0,26 0,-1 0,-24 0,24 0,-24 0,99 0,-1 0,1 0,-49 0,24 0,-75 0,26 0,-51 0,26 0,24 0,1 0,-26 0,26 0,24 0,50 0,0 0,-50 0,25 50,-25-26,-24 1,-26 25,1-50,-25 0</inkml:trace>
</inkml:ink>
</file>

<file path=ppt/ink/ink1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13:13.332"/>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11907 17413,'49'0,"-24"0,0 0,124 0,49 0,-49 0,-50 0,-24 0,-26 0,26 0,-51 0,26 0,-25 0,0 0,24 0,-24 0,0 0,0 0,-1 0,1 0,50 25,-51-25,1 0,25 0,-1 0,-24 0,0 0,0 0,24 0,1 0,0 0,-25 0,49 0,-24 0,49 0,50 0,-1 0,1 0,-74 0,24 0,-25 0,-49 0,25 0,24 0,-49 0,0 0,49 0,-49 0,25 0,24 0,25 0,0 0,25-50,25 50,-99 0,24 0,-49 0,0 0,0 0,-1 0,1 0,25 0,-25 0,0 0,-1 0,76-25,-1 25,50 0,-50 0,25-25,-25 25,50 0,-50 0,25 0,-25 0,1 0</inkml:trace>
</inkml:ink>
</file>

<file path=ppt/ink/ink14.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13:14.632"/>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16992 17338,'148'0,"224"50,25-50,-49 50,-26-50,25 0,-24 0,148 0,-74 0,-199 49,-24 1,-75-50,0 0,-24 0,-50 0,24 0,-24 0,25 0,24 0,1 0,73 0,-48 0,48 0,1 0,-50 0,-24 0,24 0,-25 0,-24 0,0 0,-1 0,-24 0,0 0,0 0</inkml:trace>
</inkml:ink>
</file>

<file path=ppt/ink/ink15.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13:17.866"/>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22126 17338,'-49'0,"-51"0,-24 0,25 0,-149 0,-99 0,24 0,125 0,49 0,50 0,24 0,1 0,49 0,0 0,1 0,-1 0,0 0,0 0,-24 0,49-24,-25 24,0 0,0 0,-24 0,-76 0,101 0,-26 0,-24 0,49-25,-25 25,25 0,-24 0,24 0,-25 0,26 0,-1 0,-25-25,25 25,-24 0,-26-25,26 25,-75 0,25 0,24-49,25 49,-24-25,49 25,0-25,1 25,-26 0,25 0,0 0,1 0,-1 0,0 0,0 0,-49 0,49 0,0 0,-49 0,24 0,-49 0,-25 0,25 0,49 0,-24 0,-1 0,26 0,-26 0,50 0,-24 0,-75 0,74 0,-74 0,99 0,-24 0</inkml:trace>
</inkml:ink>
</file>

<file path=ppt/ink/ink16.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13:19.312"/>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17091 17140,'-75'0,"-24"0,-50 0,-49 0,-75 0,75 0,49 0,0 0,50 0,-1 0,-24 0,25 0,-50 0,1 0,48 0,-24 0,75 0,24 0,-49 0,49 0,0 0,-25 0,26 0,-26 0,25 0,-25 0,26 0,-51 0,50 0,-24 0,24 0,-49 0,24 0,-74 0,25 0,49 0,-24 0,-1 0,26 0,24 0,0 0,-24 0,24 0,-25 0,25 0,0 0,-49 0,24 0,-74 0,25 0,-50 0,100 0,-26 0,1 0,24 0,26 0,-1 0,-25 0,1 0,-26 0,50 0,-74 0,-25 0,-25 0,-49 0,49 0,25 0,25 0,24 0,26 0,24 0,0 0,-25 0</inkml:trace>
</inkml:ink>
</file>

<file path=ppt/ink/ink17.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13:20.623"/>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11286 17140,'-99'0,"-198"0,-51 50,26-50,123 0,-24 0,25 0,-1 0,1 0,-75 49,0-49,124 0,1 0,24 0,24 0,51 0,-1 0,0 0,-24 0,49 0,-24 0,-26 0,26 0,-51 0,-24-25,50 1,-25 24,24-25,-24 25,49 0,-24-50,49 25,-49 25,49 0,0 0,-24 0,-1 0,25 0,0 0,1 0,-1 0,0 0,-49 0,24 0,-49 0,24 0,1 0,24 0,-24 0,49 0,0 0,-24 0,-1 0,25 0,0 0,1 0,-1 0,0 0,0 0,-24 0,24 0</inkml:trace>
</inkml:ink>
</file>

<file path=ppt/ink/ink18.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19:57.256"/>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14834 13767,'148'0,"224"0,75 0,-50 0,-124 0,-75 0,75 0,-75 0,26 0,-26 0,1 0,-100 0,25 0,-25 0,-25 0,-24 0,49 0,-24 0,24 0,25 0,-25 0,50 0,-50 0,50 0,-50 0,25 0,-25 0,1 0,-26 0,25 0,-24 0,24 0,-49 0,74 0,74 0,0 0,1 0,-50 0,0 0,-75 0,-24 0,24 0,-24 0,24-25,-49 25,49-50,-24 50,74-25,-75 25,51 0,-26 0,25-49,-24 49,-1 0,25 0,-74-25,25 25,24 0,-24 0,-1 0,1 0,24 0,-49 0,25 0,24-25,-24 25,24 0,1-25,-26 25,26 0,-26 0,26 0,-50 0,-1 0,1 0,25 0,-1 0,-24 0,0 0,0 0,49 0,-49 0,0 0,0 0,49 0,-49 0,0 0,24 0,26 0,-26 0,75-49,-74 49,74 0,-99 0,24 0,-24 0</inkml:trace>
</inkml:ink>
</file>

<file path=ppt/ink/ink19.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20:30.507"/>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7839 7441,'49'0,"1"0,99 0,99 0,-25 0,-25 0,-49 0,-50 0,1 0,48 0,-23 0,23 0,51 0,-50 0,-50 0,0 0,-25 0,-24 0,24 0,-24 0,25 0,-51 0,26 0,0 0,-1 0,26 0,-26 0,50 0,50 0,0 0,-25 0,25 0,-50 0,-49 0,74 0,-75 0,75 0,-74 0,99 0,-50 0,50 0,-25 0,-25 0,-24 0,-26 0,-24 0,0 0,49 0,-24 0,-1 0,1 0,0 0,24 0,0 0,75 0,-50 0,100 0,-100 0,0 0,25 0,-74 0,24 0,-24 0,24 0,-49 0,0 0,0 50</inkml:trace>
</inkml:ink>
</file>

<file path=ppt/ink/ink20.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20:32.883"/>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14164 7491,'99'0,"149"0,-25 0,-24 0,-1 0,-49 0,-50 0,25 0,-25 0,1 0,49 0,49 0,-49 0,49 0,-99 0,25 0,-24 0,-1 0,50 0,-50 0,149 0,25 0,-50 0,-24 0,-100 0,50 0,-50 25,50-25,-25 49,-25-49,0 0,50 0,-25 0,-25 0,-49 0,74 0,-99 0,74 0,-74 0,24 0,26 0,-26 0,26 0,24 0,-25 0,26 0,-1-24,50 24,-25 0,24 0,-98 0,74-25,-74 25,24 0,-49-50,0 50,24 0,1 0,-25 0,24 0,-24 0,50 0,-51 0,26 0,24 0,-49 0,25 0,24 0,-49 0,74 0,-49 0,-1 0,51-25,-76 25,26 0,24 0,-24 0,-25 0,0 0,49 0,-49 0,74 0,-49 0,24 0,1 0,-51 0,26 0,-25 0,0 0,24 0,-24 0,0 0,0 0</inkml:trace>
</inkml:ink>
</file>

<file path=ppt/ink/ink2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20:35.260"/>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1861 8384,'49'0,"100"0,50 0,197 0,76 0,-125 0,-99 0,-25 0,-24 50,24-50,-25 0,-49 0,0 0,-99 0,74 0,-25 0,0 0,25-25,-25 0,1 25,-26-50,25 50,-24 0,24 0,0 0,50 0,0-24,74 24,-74 0,-50 0,0 0,0 0,-24-25,-1 25,-24 0,24 0,-49 0,0 0,0 0,0 0</inkml:trace>
</inkml:ink>
</file>

<file path=ppt/ink/ink2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20:39.418"/>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8211 8483,'347'0,"174"0,25 0,173-25,75 25,-199 0,-74 0,25 124,49 0,75-74,-274-50,1 0,-99-74,99 24,0 0,148 1,-73-1,-75 1,-125-1,26-49,-149 49,-50 50,-24 0,-51 0,1 0,0 0,0 0,0 0,49 0,-24 0,24 0,0-25,-24 25,-25 0,24 0,-24 0,0 0,0 0,0 0,0 0,-1 0,26 25,0 25,-26-50,1 0,50 0,-51 0,26 0,24 0,-24 0,24 25,26-25,24 0,-25 0,-25 0,-24 0,24 0,-49 0,0 0,0 0,0 0,-1 0,1 0,25 0,-25 0,-1 0,1 0,0 0,0 0,0 0,24 0,-24 0</inkml:trace>
</inkml:ink>
</file>

<file path=ppt/ink/ink2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20:42.973"/>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10394 9252,'272'0,"125"0,199 0,123 0,-49 0,-199 50,-25-50,26 0,-1 49,-198-49,-25 0,-99 0,-25 0,-25 0,-25-24,-24 24,24 0,-49-25,25 25,74-75,-75 75,1 0,-25 0,0 0,-1 0,1 0,0 0,49 0,-24 0,24 0,-24 0,25 0,-51 0,26 0,0 0</inkml:trace>
</inkml:ink>
</file>

<file path=ppt/ink/ink24.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20:59.076"/>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7243 17487,'199'0,"123"0,-49 0,-50 0,-24 0,-1 0,1 0,148 0,-74 0,-124 0,-1 0,-48 0,-1 0,-25 0,-24 0,24 0,-24 0,74 0,-74 0,98 0,-48 0,48 0,-24 0,-24 0,-51 0,26 0,-51 0,1 0,0 0,25 0,-26 0,1 0,0 0,0 0,0 0,0 0,24 0,-24 0,0 0,0 0,-1 0,1 0,0 0,25 0,-26 0,1 0,0 0,0 0,0 0,-1 0,1 0,25 0,-25 0,-1 0,1 0,0 25,0-25,0 0,24 0,-24 0,0 0,0 0,-1 0,1 0,0 0,25 0,-26 0,1 0,0 0,0 0,0 0,-1 0,26 0,-25 0,0 0,0 0,-1 0,1 0,0 0,0 0,24 0,-24 0,0 0,0 0,0 0,-1 0</inkml:trace>
</inkml:ink>
</file>

<file path=ppt/ink/ink25.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21:00.725"/>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12824 17512,'224'0,"172"0,76 0,-75 0,-124 0,-1 0,-123 0,99 0,-99 0,49 0,-98 0,-1 50,-25-50,-24 0,24 0,-49 0,50 0,-51 0,26 0,-25 0,0 0,24 25,-24-25,25 0,24 0,-24 24,74-24,-25 0,50 0,-50 0,0 0,25 0,-74 0,-25 0,24 0,-24 0,0 0,24 0,-24 0,25 25,-1-25,-24 0,25 0,-1 0,1 0,25 0,24 0,-50 0,26 0,-1 0,-24 50,24-50,-49 0,0 0,49 0,-49 0,25 0,-26 0,51 0,-26 0,-24 25,50-25,-26 0,26 0,-51 0,1 0</inkml:trace>
</inkml:ink>
</file>

<file path=ppt/ink/ink26.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23:30.534"/>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17761 6921,'24'0,"51"0,-50 0,74 0,-50 0,51 0,-26 0,0 0,-24 0,-25 0,0 0,24 0,-24 0,0 0,0 0,-1 0,1 0,0 0,0 0,24 0,-24 0,0 0,0 0,24 0,1 0,0 0,24 0,25 0,-49 0,24 0,1 0,-50 0,24 0,-24 0,0 0,0 0,24 0,-24 0,0 0,0 0,-1 0,1 0,0 0,25 0,-26 0,1 0,25 0,-25 0,24 0,1 0,-25 0,0 0,-1 0,26 0,-25 0,0 0,-1 0,1 0,0 0,0 0,24 0,-24 0,0 0,0 0,0 0,-1 0,1 0,0 0,49 0,-24 0,24 0,1 0,-26 0,-24 0,50 0,-51 0,1 0,0 0,0 0,0 0,24 0,-24 0,0 0,0 0,0 0,-1 24,1-24,0 25,25-25,-26 0,26 0,-25 25,49-25,-49 0,0 0,24 50,1-50,-25 24,0 1,-1-25,1 0,0 25,49-25,-49 25,0-25,0 0,0 0,-1 0,26 0,-25 0,0 0,24 0,-24 0,25 0,-1 0,26 0,-26 0,26 0,-50 25,-1-25,1 0,0 0,0 0,0 0,24 0,-24 0,0 0,0 0,24 0,1 0,-25 0,-1 0,1 0,0 0,49 0,-49 0,25 0,24 0,-24 0,24 0,-24 0,-25 0,49 0,-24 0,-1 0,1 49,-25-49,0 0,-1 0</inkml:trace>
</inkml:ink>
</file>

<file path=ppt/ink/ink27.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23:31.806"/>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23490 7218,'75'0,"-26"0,26 0,24 0,25 0,-25 0,1 0,-76 0,1 0,25 0,-25 0,-1 0,1 0,0 0,0 0</inkml:trace>
</inkml:ink>
</file>

<file path=ppt/ink/ink28.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23:56.472"/>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21208 7813,'-24'0,"-26"0,0 0,26 0,-1 0,0 0,-49 0,49 0,0 0,0 0,0 0,0 0,-24 0,24 0,0 0,0 0,1 0,-1 0,-50 0,51 0,-26 0,25 0,-24 0,24 0,-74 0,49 0,25 0,0 0,75 0,24 0,1 0,-26 0,26 0,-50-24,24 24,26 0,-51 0,51 0,-26 0,26-50,-25 50,24 0,0 0,50 0,0 0,-74 0,24 0,-24 0,24 0,-49 0,0 0,0 0,24 0,-24 0,0 0,0 0,24 0,26 0,24 0,0 0,25 0,-24 0,-1 0,-25 0,-24 0,24 0,1 0,-51 0,1 0,0 0,0 0,0 0,-1 0,26 0,0 0,49 0,-74 0,49 0,-49 0,0 0,-25-25</inkml:trace>
</inkml:ink>
</file>

<file path=ppt/ink/ink29.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25:34.266"/>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17215 12452,'74'0,"50"25,-25-25,50 0,50 0,-50 0,-1 0,1 0,-99 49,74-49,-75 0,-24 25,50-25,-51 0,1 0,25 0,-1 0,1 0,25 0,24 0,-50 0,75 0,-74 25,24-25,1 0,-50 0,-1 25,1-25,0 0,0 0,0 0,24 0,-24 0,0 0,0 0,24 0,26 0,-26 0,26 0,24 0,-25 0,-24 0,24 0,1 0,-26 0,-24 0,0 0,25 0,-50 25,24-25,1 0,0 0,25 0,24 0,-49 0,24 0,26 0,24 0,-24 0,-26 0,26 0,-1 0,-49 0,0 0,-1 0,1 0,-25-25,25 25,25 0,-1 0,-24 0,49 0,-49-25,25 25,-25 0,-1 0,51 0,-50 0,-1-25,1 25,0 0,0 0,24 0,-24 0,0-25,25 25,-26 0,26 0,-25 0,0 0,0 0,-1 0,1 0</inkml:trace>
</inkml:ink>
</file>

<file path=ppt/ink/ink30.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25:40.994"/>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20067 13221,'-24'0,"-51"0,26 0,-26 0,25 0,-24 0,0 0,24 0,-24 0,-26 0,51 0,-26 0,1 0,24 0,-24 0,49 0,0 0,1 0,-1 0,0 0,-25 0,26 0,-1 0,0 0,0 0,0 0,0 0,-49 0,49 0,-24 0,24 0,-25 0,1 0,-26 0,26 0,24 0,-50 0,51 0,-1 0,0 0,0 0,0 0,-24 0,24-25,0 25,0 0,1 0,-1 0,0 0,0 0,-24 0,24 0,-25 0,-24 0,24 0,-24 0,49 0,-25 0,-24 0,-1 0,51 0,-1 0,0 0,0 0,0 0,1 0,-1 0,-25 0,25 0,1 0,-1 0,0 0,0 0,0 0,-49 0,49 0,0 0,1-25,-1 25,-25 0,25 0,1 0,-1 0,0 0,0 0,0 0,-24 0,24 0,0 0,0 0,0 0,1 0,-1 0</inkml:trace>
</inkml:ink>
</file>

<file path=ppt/ink/ink3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26:12.493"/>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9153 13022,'-25'0,"-49"0,-75 0,-99 0,50 0,-25 0,123 50,1-50,-25 0,74 0,26 0,-1 0,-50 0,51 0,-1 0,0 0,0 0,0 0,-24 0,24 0,0 0,0 0,1 0,-1 0,0 0,-25 0,26 0,-1 0,0 0,25 25,-25-25</inkml:trace>
</inkml:ink>
</file>

<file path=ppt/ink/ink3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26:15.971"/>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7119 14064,'-74'0,"-75"0,-99 0,-25 25,75-25,-26 0,76 50,-1-50,0 0,-49 0,49 0,-50 0,100 0,0 0,24 0,26 0,-26 0,1 0,24 0,-24 0,49 0,-24 0,24 0,-50 24,51-24,-26 0,-24 0,-1 0,25 0,-24 0,24 0,26 0,-26 0,25 0,0 0,1 0,-1 0,0 0,0 0,-24 0,24 0</inkml:trace>
</inkml:ink>
</file>

<file path=ppt/ink/ink3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27:06.725"/>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11014 14858,'-50'0,"-49"0,-100 50,-272-1,-75 50,75-49,0 0,-125 24,76-74,197 0,50 0,124 0,50 0,25-50,-1-24,51 49,-1 0,-50-24,51 49,-1-25,0 25,0 0,-24-25,24 25,0 0,0 0,-24-25,-1 25,0-24,-24-26,24 50,-24-25,-1 25,51 0,-26 0,25 0,-49-25,49 25,-25 0,1 0,-1 0,25 0,-49 0,24 0,-24 0,24 0,-24 0,-25 0,24 0,-24 0,49 0,-24 0,49 0,-49 0,49 0,-25 0,26 0,-51 0,50 0,-24 0,24 0,-74 0,24 0,1 0,-25 0,49 0,-24 0,49 0,-25 0,1 0,-1 0,25 0,-49 0,49 0,-25 0,-24 0,24 0,-24 0,-25 0,0 0,-25 0,24 0,1 0,25 0,-26 0,26 0,49 0,-24 0,24 0,0 0,-49-24,49 24,0-25,-49 25,24 0,-24-50,49 50,0 0,-49 0,49 0,0 0,0 0,0 0,-49 0,49 0,0 0,0 0,1 0,-51 0,50 0,1 0,-1 0,0 0,25-25</inkml:trace>
</inkml:ink>
</file>

<file path=ppt/ink/ink34.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27:22.156"/>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13990 14883,'-49'0,"-26"0,1 0,-25-50,-1 50,-98 0,49-25,0 25,25-49,75 24,-26 25,50 0,1-25,-1 25,-25 0,25 0,1 0,-26 0,25 0,-24 0,24 0,0 0,0 0,0 0,0 0,1 0,-26 0,25 0,0 0,1 0,-1 25,0-25,0 0</inkml:trace>
</inkml:ink>
</file>

<file path=ppt/ink/ink35.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28:56.167"/>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3175 8806,'248'0,"149"0,-124 0,-124 0,-50 0,-49 0,24 0,-49 0,0 0,0-25,-1 25,26 0,-25 0,0 0,24 0,100 0,0 0,0 0,0 0,-50 0,-25 0,25 0,-24 0,-26 0,75 0,-24 0,48-50,1 50,0 0,-50 0,-24 0,-26 0,1 0,0 0,-26 0,51-25,-26 25,-24 0,25 0,-25 0,-1 0,26 0,24 0,75 0,0 0,0 0,-50 0,0 0,-24 0,24 0,0 0,25 0,-24 0,-1 0,-25 0,-24 0,24 0,-49 0,25 0</inkml:trace>
</inkml:ink>
</file>

<file path=ppt/ink/ink36.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28:58.123"/>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16942 8830,'74'0,"174"0,100-49,-1 49,-99 0,99 0,-74-50,198 50,-24 0,-100 0,-74-49,-124 49,-75 0,-24 0,24 0,-49 0,0 0,0 0,-1 0,1-25,50 25,-50 0,-1 0</inkml:trace>
</inkml:ink>
</file>

<file path=ppt/ink/ink37.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29:21.324"/>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6053 10145,'-50'0,"0"0,-24 0,24 0,-24 0,-75 0,50 0,-25 25,74-25,-24 0,49 0,0 0,-24 0,-1 0,25 0,1 0,-1 25,0-25,0 0,0 0,0 0,-24 0,24 0,-25 0,-24 0,24 0,-24 0,24 0,-24 0,0 0,24 0,-24 0,49 0,-25 0,25 0,1 0,-51 0,50 0,-24 0,-1 0,0 0,-24 0,24 0,-24 0,24 0,26 0,-51 49,50-49,-24 0,-26 0,51 0,-51 0,50 0,1 0,-1 0,0 0,0 0,0 0,-24 0,-1 0,-24 0,24 0,-24 0,24 0,-49 0,24 0,-24 0,25 0,-25 0,74-24,-50 24,26-25,-26 25,51-25,-1 25,0-25,-25 25,26 0,-1 0,0 0,0 0,0-25,1 25,-51 0,50 0,-24-49,-1 49,25-25,0 25</inkml:trace>
</inkml:ink>
</file>

<file path=ppt/ink/ink38.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29:23.490"/>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6623 9847,'124'0,"-25"0,1 0,24 0,-25 0,-25 0,26 0,-1 50,-25-50,25 0,-24 0,-26 0,26 0,-50 0,-1 0,1 0,50 0,-51 0,1 0,0 0,25 0,-26 0,51 0,-50 0,24 0,26 0,-50 0,49 0,25 0,-49 0,-1 0,1 0,-25 0,0 0,-1 0,26 0,-25 0,0 0,-1 0,1 0,0 0,0 0,0 0,24 0</inkml:trace>
</inkml:ink>
</file>

<file path=ppt/ink/ink39.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29:26.165"/>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9947 9996,'50'0,"98"0,51 0,-1 0,-49 0,0 0,49 0,-49 0,50 0,-1 0,25 0,-123 0,-1 0,0 0,-25 0,1 0,24 0,-74 0,24 25,26-25,-50 0,49 0,-49 0,74 0,-49 0,99 50,-25-50,24 0,-48 0,-51 0,75 0,-99 0,25 0,24 0,-24 0,24 0,-49 0,25 0,-1 0,1 0,-25 0,-1 0,1 0,0 0,49 0,-49 0,25 0,-1 0,1 0,24 0,-49 0,25 0,24 0,-49 0,0 0,25 0,-1 0,1 0,-25 0,49 0,-49 0,24 0,-24 0,0 0,0 0,24 0,-24 0,0 0,0 0,0 0,-1 0,1 0,25 0,-25 0,-1 0,1 0,0 0,0 0</inkml:trace>
</inkml:ink>
</file>

<file path=ppt/ink/ink40.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29:28.367"/>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18133 10096,'49'0,"100"0,49 0,150 0,-75 0,-75 0,25 49,-49 50,24-74,26-25,48 50,-123-50,-50 49,1-49,-51 0,1 0,-25 25</inkml:trace>
</inkml:ink>
</file>

<file path=ppt/ink/ink4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29:47.098"/>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9972 10988,'-149'0,"50"0,0 0,24 0,26 0,-26 0,26 0,-26 0,1 0,49 0,-25 0,-24 0,24 0,-24 0,49 0,-25 0,26 0,-26 0,0 0,-24 0,49 0,0 0,1 0,-1 0,0 0,0 0,-24 0,24 0,0 0,0 0,0 0,1 0,-51 0,26 0,-26 0,-24 0,0 0,24 0,50 0,-24 0,-1 0,25 0,-24 0,24 0,0 0,-24 0,-1 0,25 0,-49 0,-25 0,-1 0,1 0,25 0,-26 0,76 0,-51 0,50 0,1 0,-1 0,0 0,0 0</inkml:trace>
</inkml:ink>
</file>

<file path=ppt/ink/ink4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30:23.352"/>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8409 15850,'25'0,"99"0,-25 0,0 0,100 0,-1 0,26 0,-76 0,-48 50,73 24,50 1,-74 24,75-74,-1 24,-124 1,50-25,-50-25,25 0,-74 0,74 0,-75 0,26 0,-26 0,26 0,-26 0,75 0,-24 0,48 0,-48 0,24 0,-25-50,0 50,25-25,-74-24,24 24,1 0,24-25,-74 26,49-1,0 0,-49 25,25-50,-25 50,49-24,-24 24,24 0,0-25,-24 25,24 0,26 0,-26 0,-24 0,49 0,25 0,-74 0,74 0,-75 0,26 0,-26 0,26 0,-51 0,1 0,0 0</inkml:trace>
</inkml:ink>
</file>

<file path=ppt/ink/ink4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30:25.307"/>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16074 15999,'49'0,"75"25,25 24,124 1,0-25,-99 74,49-74,-74 24,-50-49,50 0,0 0,-1 0,1 0,-74 0,-26 0,26 0,-26 0,26 0,-26 0,75 0,-74 0,24 0,-24 0,24 0,-49 0,50 0,-26 0,-24-49,49 49,-49 0,0 0,0 0,0 0</inkml:trace>
</inkml:ink>
</file>

<file path=ppt/ink/ink44.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30:27.822"/>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7268 17115,'-25'0,"-223"0,-99 0,74 0,174 0,0 0,24 0,26 0,24 0,-25 0,25 0,-24 0,-26 0,26 0,-75 0,25 0,-50 0,0 0,50 0,24 0,26 0,24 0,-50 0,51 0,-26 0,25 0,-74 25,25-25,-26 0,1 0,-99 0,49 0,0 0,25 0,25 0,49 0,1 0,-1 0,25 0,0 25,1-25,-26 0,25 0,-24 0,24 0,-50 49,-24-49,0 0,25 0,24 0,-25 0</inkml:trace>
</inkml:ink>
</file>

<file path=ppt/ink/ink45.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30:29.628"/>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8409 17214,'25'0,"99"0,25 0,0 0,-1 0,1 0,0 0,0 0,99 0,-50 0,1 0,-75 25,-25-25,-24 25,-51 25,1-50,0 0,0 0,0 0,49 24,-24-24,24 0,-49 0,0 0,-1 0,26 0,-25 0,0 0,-1 0</inkml:trace>
</inkml:ink>
</file>

<file path=ppt/ink/ink46.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30:32.561"/>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15206 17190,'24'0,"51"0,24 0,99 0,-49 0,-25 0,-74 0,24 0,-24 0,24 0,-49 0,25 0,24 0,-49 0,0 0,0 24,49-24,-49 0,0 0,74 0,-50 0,1 0,-25 0,0 0,74 0,-74 0,24 0,-24 0,50 0,-26 0,26 0,-26 0,75 0,-25 0,50 0,50 0,-50 50,-1-50,-48 0,48 0,-24 0,-24 0,-1 0,0 0,-25 0,1 0,-25 0,-26 0,1 0</inkml:trace>
</inkml:ink>
</file>

<file path=ppt/ink/ink47.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31:45.25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13593 6821,'-49'0,"-100"0,25 0,25 0,-50 0,50 0,-1 0,-98 0,-75 0,75 0,-26 0,125 0,25 0,-25 0,49 0,-24 0,-1 0,50 0,-24 0,-26 0,26 0,-26 0,-24 0,0 0,-25 0,74 0,-24 0,24 0,-74 0,99 0,-24 0,-26 25,26-25,-26 0,26 0,-75 0,74 25,-74-25,25 0,0 0,-50 0,25 0,25 0,24 25,-24-25,0 0,-1 0,26 0,-75 0,0 0,-49 0,49 0,0 0,50 0,25 0,24 49,0-49,1 0,24 25,0-25,0 0</inkml:trace>
</inkml:ink>
</file>

<file path=ppt/ink/ink48.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31:47.14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7739 6970,'-99'0,"-50"0,1 0,-1 0,49 0,-24 0,75 0,-100 0,-49 0,49 0,0 0,50 0,24 0,1 0,24 0,25 0,1 0,-26 0,0 0,26 0,-1 0,0 0,-49 0,24 0,-24 0,-1 25,-74-25,100 0,-50 0,24 0,1 0,24 0,-24 0,24 0,-24 0,24 0,-74 0,74 0,-49 0,-74 0,73 0,1 0,0 0,24 0,1 0,24 0,26 0,-1 0,-25 0,25 0,1 0,24-25,-25 25,0 0,0 0,-49 0,49 0,-25 0,-24 0,49 0,-74 0,49 0,-24-49,0 49,49 0,-25 0,25 0,0 0,-24 0,24-25,0 25,0 0,1 0,-1 0,0 0,-25 0,26 0,-1 0,0 0,0 0,0 0,-49-25,49 25,-24 0,24 0,-25 0,25 0,1 0</inkml:trace>
</inkml:ink>
</file>

<file path=ppt/ink/ink49.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33:21.94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17388 17239,'-49'0,"-50"0,-25 0,-25 0,-99 0,-25 0,74 0,51-25,73 25,26-24,-26 24,50 0,1-25,-51 25,26 0,-26 0,25 0,-74 0,25 0,0 0,25 0,-26 0,51 0,-1 0,1 0,24 0,0 0,0 0,-24 0,24 0,-25 0,25 0,1 0,-26 0,0 0,26 25,-26-25,-74 0,74 24,-24-24,-25 0,24 0,26 0,-1 0,0 50,26-50,-1 0,0 0,-25 0,26 0,-1 0,0 0,0 0,0 0,-49 0,49 0,-24 0,-26 0,25 0,-24 0,0 0,24 0,25 0,0 0,-49 0,49 0,0 0,1 0,-1 0,-50 0,51 0,-1 0,0 0,-49 0,49 0,0 0,-25 0,26 0,-26 0,25 0,0 0,1 0,-1 0,0 0,0 0,-25 0,26 0</inkml:trace>
</inkml:ink>
</file>

<file path=ppt/ink/ink50.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40:28.05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15751 5978,'25'0,"223"0,99 0,-24 0,-50 0,124 0,74 0,0 0,-74 0,-74 0,-125 0,-74 0,-25-50,-24 50,24 0,-99-24,25 24,-1 0,1 0,0 0,25 0,24 0,1 0,-26 0,26 0,-51 0,51 0,-26 0,26 0,-26 0,-24 0,50-25,-26 25,26 0,-51 0,51 0,-26 0,-24 0,0 0,49 0,-24 0,25 0,-51 0,51 0,-50 0,24 0,26 0,-51 0,26 0,-25 0,49 0,-24 0,24 0,1-25,24 25,0 0,0 0,25 0,-74 0,24 0,-49 0,25 0,-25 0,49-50,-49 50,49 0,-24 0,24 0,-24 0,74 0,-99 0,24-25,26 25,-26 0,-24 0,49 0,1-24,-50 24,24-50,-24 50,50-25,-51 25,1 0,0 0,0 0,24 0,-24 0,0-25,0 25,0 0,24 0,26 0,-1 0,-49 0,24 0,-24 0,0 0,49 0,-49 0,0 0,0 0,0 0,24 0,-24 0,0 0,0 0,0 0</inkml:trace>
</inkml:ink>
</file>

<file path=ppt/ink/ink5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40:30.64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4961 7218,'-74'0,"-75"0,-99 0,50 0,-26 0,125 0,-50 0,100 0,-26 0,26 0,-26 0,1 0,49 0,0 0,-24 0,24 0,-50 0,26 0,-1 0,1 0,-1 0,-24 0,49 0,-50 0,50 0,1 0,-1 0,0 0,25 25,-25-25,0 0,-24 0,-1 0,25 0,-49 0,49 0,-24 25,-26-25,26 0,-75 0,74 0,25 0,0 0,-24 0,24 0,0 0</inkml:trace>
</inkml:ink>
</file>

<file path=ppt/ink/ink5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42:36.55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18579 9699,'-50'0,"-148"0,-149 0,-50 0,0-50,0 50,-198 0,-1 0,200 0,73-50,100 50,74 0,50 0,0 0,-25 0,74 0,-24 0,-26 0,51 0,-75 0,74 0,-74 0,99 0,-24 0,24 0,-50 0,26 0,-26 0,1 50,-25-50,49 0,-74 0,25 0,-99 25,49-25,0 49,0-49,75 0,-26 0,26 0,24 0,-24 0,24 0,-24 0,-25 0,24 0,26 0,24 0,-25 0,26 0,-1 0,-25 0,25 0,-24 0,24 0,-25 0,-24 0,24 0,25 0,-49 0,49 0,0 0,1 0,-51 0,50 0,1 0,-26 0,25 0,-49 0,-25 0,24 0,26 0,24 0,-25 0,0 0,26 0,-1 0,0 0,-25-24,26 24,-1 0,0 0,0 0,0 0,1 0,-26 0,25 0,0 0,1 0,-26 0,25 0,-24 0,-1 0,25 0,-49 0,49 0,0 0,0 0,1 0</inkml:trace>
</inkml:ink>
</file>

<file path=ppt/ink/ink5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42:43.76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15156 15900,'-50'0,"-148"0,-199 0,0 0,0-25,124 25,125-25,-1 25,0 0,25 0,74 0,-24 0,-25 0,74 0,-74 0,-1 0,1 0,50 0,-1 0,25 0,-49 0,49 0,0 0,-24 0,24 0,-50 0,-24 0,-50 0,-49 0,-1 0,26 25,24-25,50 0,49 0,-74 0,75 0,-26 0,-24 0,0 0,-100 0,-24 0,25 50,98-50,-24 0,25 0,0 0,-25 0,-25 0,0 0,-24 0,24 0,25 0,25 0,24 0,26 0,-26 0,25 0,-24 0,49 0,0 0,-49 0,49 0,-49 0,-1 0,-24 0,-50 0,25 0,25 0,50 0,-26 0,1 0,49 0,0 0,0 0,0 0,-24 0,-1 0,25 0,1 0,-26-25,-24 25,-1 0,26 0,-51 0,26 0,24 0,-24 0,0 0,24 0,25 0,0 0,-24 0,24 0,0 0,0 0</inkml:trace>
</inkml:ink>
</file>

<file path=ppt/ink/ink54.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44:49.22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9178 4539,'-25'0,"-49"0,-75 0,-74 50,24-1,-24-24,74-25,0 50,50-50,-99 0,49 0,-49 0,-75 0,124 0,0 0,50 0,24 0,26 0,-26 0,1 0,24 0,26 0,-1 0,0 0,-25 0,26 0,-1 0,-25 0,-24 0,24 0,-74 0,74 0,-74 0,75 0,24 0,-49 0,49 0,-25 0,25 0,1 0,-26 0,25 0,-24 0,-26 0,26 0,-26 0,-24 0,0 0,-25 0,24 0,26 0,24-50,-24 50,24 0,1 0,24 0,-25 0,26 0,-51-25,50 25,-24 0,-26 0,26 0,-26 0,26 0,-26 0,1-24,24 24,-24 0,49 0,0 0,0 0,1 0,-51 0,50 0,1 0,-1 0,0 0,-25 0,26-25,-1 25,0 0,0 0,0 0,1 0,-26 0,25 0,25-25,-25 25,1 0,-1 0,-25 0,0 0,26 0,-1 0,0 0,0 0,0 0,1 0,-26 0,25 0,25-50,-25 50,1 0,-1 0</inkml:trace>
</inkml:ink>
</file>

<file path=ppt/ink/ink55.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44:58.19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4713 5581,'-25'0,"-24"0,-100 0,25 0,-74 0,49 0,0 0,50 0,24 0,26 0,24 0,-50 0,51 0,-26 0,-24 0,24 0,-24 0,24 0,-24 25,-26-25,-24 0,75 0,-26 0,26 0,-26 0,50 25,1-25,-1 0,0 0,-25 0,26 0,-1 0,74 0,-24 0,25 0,-25 0,49 0,-49 0,0 0,-1 0</inkml:trace>
</inkml:ink>
</file>

<file path=ppt/ink/ink56.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46:06.58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15280 6896,'74'0,"26"0,-26 0,25 0,-24 0,-26 0,26 0,24 0,-25 0,-24 0,-25 0,0 0,49 0,-49 0,24 0,1 0,-25 0,0 0,-1 0,1 0,50 0,-26 0,-24 0,49 0,-49 0,0 0,0 0,25 0,-1 0,1 0,-25 0,49 0,-49 0,24 0,26 0,-26 0,-24 0,50 0,-1-25,-24 25,24 0,-49 0,0 0,-1 0,76 0,-26-50,-24 50,24 0,-24 0,24 0,25-25,-24 25,-26 0,26 0,-1 0,-49 0,0 0,0 0,-1-24,1 24,0 0,49 0,-24 0,-25 0,74 0,-25 0,-24 0,25 0,-1 0,-24 0,-26 0,51 0,-50 0,-1 0,26 0,-25 0,24 0,-24 0,25 0,-25 0,49 0,-24 0,-26-50,51 50,-26 0,26 0,-1 0,-49 0,0 0,25 0,-26 0,26 0,-25 0,0 0,-1 0,1 0,0 0,0 0,0 0,24 0,-24 0,0 0,0 0,-1 0,1 0,0 0,25 0,-26 0,1 0,0 0,0 0,0 0,-1 0,26 0</inkml:trace>
</inkml:ink>
</file>

<file path=ppt/ink/ink57.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46:19.05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6450 9029,'-25'0,"0"0,-49 0,24 0,0 0,1 0,24 0,0 0,0 0,-24 0,24 0,-25 0,25 0,1 0,-51 0,50 0,1 0,-1 0,0 0,0 0,-24 0,24 0,0 0,0 0,0 0,25 25,-24-25,-1 0,-25 0,1 0,24 0,0 0,0 0,-24 0,24 0,0 0,0 0,0 0,1 0,-1 0,-25 0,25 0,1 0,-1 0,0 0,0 0,0 0,0 0,-24 0,24 0,0 0,0 0,1 0,-1 0,0 0,-25 0,26 0,-1 25,0-25,0 0,0 0,1 0,-26 0</inkml:trace>
</inkml:ink>
</file>

<file path=ppt/ink/ink58.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47:31.33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15106 8806,'149'0,"248"0,0 0,-124 0,74 49,50 1,74 24,-74-74,-50 50,-123-25,-76 24,76 1,-51 74,51-50,48 75,150 25,-75-75,-123-74,-51 74,-24-74,-50 24,-24-49,-26 0,-24 0,50 0,-51 0,-148-173,0-1,-49 100,-1-25,25 74</inkml:trace>
</inkml:ink>
</file>

<file path=ppt/ink/ink59.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47:33.23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21878 8880,'-50'0,"-98"0,-51 0,-74 0,174 0,0 0,0 0,24 0,1-25,24 25,-24 0,49 0,0 0,0 0,1 0,-51 0,26 0,-26 0,26 0,-75 0,74 0,-24 0,-1 0,50 0,-24 0,24 0,0 0,-49 0,49 0,0 0,-25 0,1 0,-26 0,-49 0,25 0,-50 0,50 0,-25 50,75-50,-26 0,-24 0,24 0,26 0,-100 0,50 0</inkml:trace>
</inkml:ink>
</file>

<file path=ppt/ink/ink60.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47:58.01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15007 12080,'25'0,"173"0,1 0,-50 0,0 0,-25 0,-25 0,-25 0,-24 0,49 0,-25 0,-24 0,24 0,-49 0,0 0,49 0,-49 0,0 0,25 0,-1 0,-24 0,25 0,-25 0,49 0,-24 0,-26 0,51 0,-50 0,-1 0,1 0,0 0,49 0,-49 0,25 0,-25 0,49 0,25 0,0 0,-24 0,-1 0,-24 0,24 0,-24 0,-25 0,0 0,24 0,-24 0,0 0,0 0,24 0,26 0,-1 0,-24 0,49 0,-25-50,25 50,-24 0,-1 0,-24 0,-25 0,49 0,-49 0,0 0,0 0,-1 0,1 0,0 0,25 0,-1 0,26 0,-26 0,-24 0,49 0,-49 0,0 0,0 0,0 0,-1 0,26 0,-25 0,0 0,-1 0</inkml:trace>
</inkml:ink>
</file>

<file path=ppt/ink/ink6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47:59.87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21060 12055,'173'0,"26"0,-51 0,51 0,-100 0,25 0,-25 0,-24 0,24 0,-49 0,24 0,0 0,-24 0,24 50,-24-50,0 0,-26 0,1 0,0 0,0 0,0 0,-1 0,1 0,25 0,-25 24</inkml:trace>
</inkml:ink>
</file>

<file path=ppt/ink/ink6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48:04.31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5780 13196,'-75'0,"-24"0,0 0,25 0,-26 0,-48 0,-51 0,50 0,0 0,50 0,25 0,-25 0,24 0,50 0,-24 0,24 0,-25 0,26 0,-1 0,0 0,-25 0,-24 0,-1 50,26-25,-26-25,51 0,-51 0,50 0,1 0,-1 0,-50 24,51-24,-1 0,0 25,0-25,0 0,-49 0,49 0,0 25,1-25,-1 0,-50 0,51 0,-26 0,-24 0,49 0,-25 0,25 0,-49 0,24 0,1 0,24 0,0 0</inkml:trace>
</inkml:ink>
</file>

<file path=ppt/ink/ink6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48:06.66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6276 13146,'50'0,"74"0,-25 0,50 0,-1 0,-48 0,-1 0,-25 0,1 0,-50 0,-1 0,1 0,0 0,0 0,0 0,24 0,-24 0,25 0,-26 0,1 0,25 0,-1 0,-24 0,0 0,49 0,-49 0,25 0,-25 0,24 0,1 0,-25 0,-1 0,1 0,25 0,-25 0,-1 0</inkml:trace>
</inkml:ink>
</file>

<file path=ppt/ink/ink64.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48:09.11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8856 13419,'99'0,"99"0,150 0,-26 0,-49 0,-50-24,-74 24,-50-50,-74 50,0 0,0 0,24 0,26 0,49 0,-75 0,75 0,-74 0,24 0,-24 0,24 0,-24 25,0-25,-1 0,-24 0,49 0,-49 0,25 0,24 0,-24 0,24 0,-49 0,25 0,24 0,0 0,-49 0,0 0,0 0,0 0,49 25,-49-25,24 24,-24-24,50 25,-51-25,1 0,50 0,24 50,-74-50,24 0,1 0,-25 25,0-25,-1 0,1 0,50 0,-51 0,1 0,0 0,0 0,49 0,-49 0,0 0</inkml:trace>
</inkml:ink>
</file>

<file path=ppt/ink/ink65.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2:48:11.65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16024 13246,'75'0,"24"0,25 0,25 0,-1 0,1 0,-99 0,49 0,-49 0,-1 0,-24 0,0 0,0 0,24 0,1 0,24 0,-24 0,-25 0,0 0,49 0,-49 0,24 0,-24 0,25 0,-1 0,-24 0,0 0,0 0,49 0,-49 0,25 0,24 0,-49 0,49 25,-24-25,-25 0,0 0,24 0,-24 0,0 0,0 0,-1 0,1 0,0 0</inkml:trace>
</inkml:ink>
</file>

<file path=ppt/ink/ink66.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2T13:04:51.464"/>
    </inkml:context>
    <inkml:brush xml:id="br0">
      <inkml:brushProperty name="width" value="0.08819" units="cm"/>
      <inkml:brushProperty name="height" value="0.35278" units="cm"/>
      <inkml:brushProperty name="color" value="#00B050"/>
      <inkml:brushProperty name="tip" value="rectangle"/>
      <inkml:brushProperty name="rasterOp" value="maskPen"/>
    </inkml:brush>
  </inkml:definitions>
  <inkml:trace contextRef="#ctx0" brushRef="#br0">2679 1513,'50'0,"-25"0,24 0,50 0,50 0,-25 0,25 0,-50 25,-24-25,24 49,-25-24,-49-25,25 50,-25-50,24 0,-24 0,0 0,24 0,-24 0,25 0,0 25,-26 0,51-1,24-24,0 0,-24 0,-51 0,1 0,0 0,0 0,0 25,24-25,-24 0,0 0,0 0,-1 0,1 0,0 0,49 0,-24 0,24 0,1 0,-25 0,24 0,-24 0,24 0,-49 0,0 0,-1 0</inkml:trace>
</inkml:ink>
</file>

<file path=ppt/ink/ink67.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3T01:23:03.09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5433 3894,'-50'0,"-24"0,49 0,-50 0,51 0,-1 0,-74-74,-1 0,51 24,24 50,0 0,-74 0,49 0,1 0,-1 0,25 0,-24 0,-1 0,25 0,-24 0,24 0,0 0,-25 0,26 0,-1 0,0 0,0 0,0 0,-74 0,25 0,24 0,-24 0,49 0,0 0,0 0,0 0,1 25,-26-25,25 25,0-25,1 0,-1 0,25 24,-25-24,0 0,-24 0,24 25,0-25,-25 0,26 0,-26 0,25 0,-24 0,24 0,0 0,-25 0,26 0,-1 0,0 0,25 25,-25-25,0 0,1 0,-1 0,-25 0,25 50,-24-50,24 0,0 0,-49 24,-26 1,26-25,0 50,24-50,25 0,0 0,-24 25,24-25,0 0,0 0,1 0,-1 0,0 0,-25 0,26 0,-1 0,0 0,0 0,0 0,1 0,-26 0,25 0,0 0,1 0,-1 0,0 0,0 0,-25 0,26 0,-1 0,0 0,0 0,0 0,1 0,-1 0,-25 0,25 0,1 0,-1 0,0 0,0 0,0 0,-24 0,24 0,0 0</inkml:trace>
</inkml:ink>
</file>

<file path=ppt/ink/ink68.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9T17:25:16.259"/>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16917 3696,'25'0,"49"0,26 0,-1 0,0 0,25 0,-74 0,24 0,-24 0,24 0,-49 0,0 0,49 0,-49 0,0 0,0 0,-1 0,1 0,25 0,-25 0,-1 0,1 0,0 0,0 0,49 0,-49 0,25 0,-26 0,51 0,-50 0,24 0,-24 0,25 0,-26 0,26 0,-25 0,0 0,24 0,-24 0,0 0,0 0,-1 0,1 0,50 0,-50 0,-1 0,26 0,-25 0,49 0,-49 0,0 0,0 0,-1 0,26 0,-25 0,0 0,-1 0,1 0,0 0,0 0,24 0,-24 0,0 0,0 0,0 0,-1 0,1 0,25 0,-25 0,-1 0,1 0,25 0,-25 0,49 0,-24 0,-1 0,1 0,-25 0,0 25,-1-25,26 0,-25 0,0 0,-1 0,1 0,0 0,0 0,24 0,-24 0,0 0,0 0,0 0,-1 0,51 0,-26 0,26 25,-50-25,-1 0,1 0,0 0,49 0,-49 0,0 0,0 24,0-24</inkml:trace>
</inkml:ink>
</file>

<file path=ppt/ink/ink69.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9T17:25:19.58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5011 4638,'-25'0,"0"0,0 0,-24 0,24 0,-25 0,26 0,-1 0,-25 0,25 0,1 0,-76 0,51 0,-75 0,74 0,25 0,-49 0,49 0,0 0,1 0,-1 0,0 0,0 0,-24-24,-1 24,25 0,0 0,0 0,-24 0,24 0,0 0,0 0,1 0,-1 0,0 0,-25 0,26 0,-1 0,0 0,0 0,0-25,1 25,-26 0,25 0,0 0,1 0,-1 0,0 0,0 0,0 0,-24 0,24-25,0 25,0 0,1 0,-1-50,0 50,-25 0,1 0,24 0,0 0,0 0,-24 0,24 0,0 0,0 0,0 0,1 0,-1 0,-25 0</inkml:trace>
</inkml:ink>
</file>

<file path=ppt/ink/ink70.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9T17:25:23.16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8930 4465,'-25'0,"-124"0,25 0,25 0,0 0,-25 0,25 0,49 0,-24 0,49 0,0 0,0 0,0 0,-24 0,-1 0,-24 0,49 0,0 0,0 0,1 0,-1 0,0 0,-25 0,1 0,24 0,-49 0,49 0,0 0,0 0,0 0,1 0,-1 0,-25 0,25 0,1 0,-1 0</inkml:trace>
</inkml:ink>
</file>

<file path=ppt/ink/ink7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9T17:25:25.37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10319 4614,'25'0,"74"0,0 0,1 0,-26 0,0 0,-24 0,24 0,-49 0,0 0,0 0,0 0,-1 0,1 0,25 0,-25 0,-1 0,26 0,-25 0,49 0,-24 0,24 0,-49 0,0 0,49 0,-49 0,25 0,24 0,-49 0,0 0,0 0,-1 0,1 0,25 0,-25 0,-1 0,1 0,0 0,0 0,0 0</inkml:trace>
</inkml:ink>
</file>

<file path=ppt/ink/ink7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9T17:29:09.29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20291 4415,'24'0,"26"0,74 0,-74 0,74 25,-25-25,-25 0,-49 0,25 0,-25 0,-1 0,51 0,-1 50,-49-50,25 0,24 0,-49 0,24 0,-24 0,50 0,24 0,-25 0,-24 24,74-24,-75 0,26 0,-26 0,26 25,-50-25,0 0,-1 0,26 0,-25 0,24 0,26 0,-50 0,24 0,26 0,-26 0,-24 0</inkml:trace>
</inkml:ink>
</file>

<file path=ppt/ink/ink7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9T17:29:13.21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4416 5804,'-25'0,"0"0,-49 0,74-25,-25 25,-25 0,-24 0,24 0,25 0,-24 0,24 0,-248-49,-49-1,-26 1,75 49,125 0,48 0,26 0,49 0,0 0,25 24</inkml:trace>
</inkml:ink>
</file>

<file path=ppt/ink/ink74.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9T17:30:02.44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8508 5655,'50'0,"49"0,25 0,-74 0,74 0,-75 0,51 0,24 0,-25 0,0 0,25 0,-25 0,-49 0,24 0,-49 0,25 0,24 0,1 0,-26 0,50 0,25 0,-24 0,49 0,-100 0,26 0,24 0,-25 0,25 0,1 0,24 0,-25 0,0 0,50 0,0 0,-50 0,-25 0,1 0,24 0,-74 0,24 0,1 0,-25 0,0 0,24 0,-24 0,49 0,-49 0,25 0,24 0,-24 0,74 0,-25 0,0 0,-24 0,-26 0,26 0,-1 0,-24 0,24 0,25 0,-49 0,74 0,-25 0,50 50,50-50,-75 0,-25 0,0 25,-25-25,-24 0,24 0,1 0,-25 49,-26-49,51 0,24 0,0 0,50 0,25 25,-75-25,-25 50,25-50,-49 0,0 0</inkml:trace>
</inkml:ink>
</file>

<file path=ppt/ink/ink75.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9T17:30:04.03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15578 5854,'49'0,"51"0,-26 0,75 0,0 0,-1 0,1 0,-99 0,24 0,-24 0,24 0,-24 0,24 0,1 0,-26 0,-24 0,50 0,-26 0,75 0,-25 0,1 0,-1 0,25 0,-75 25,26-25,-25 0,24 0,-49 25,49-25,-49 0,25 0,-26 24,51 26,-26-50,75 25,-74-25,74 0,-25 49,0-49,25 25,-24-25,-1 25,50-25,-25 0,74 50,1-50,-1 0,-49 0,0 0,0 0,-25 0,-25 0,50 0,-50 0,99 0,-98 0,98 0,-74 0,-25 0,0 0,-24 49,24-49,-25 0,-24 0,49 0,-24 0,24 0,25 0,-25 0,50 0,-99 0,24 0,-24 0,-1 0,-24 0</inkml:trace>
</inkml:ink>
</file>

<file path=ppt/ink/ink76.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9T17:30:06.159"/>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22672 5779,'-99'0,"-149"0,-174 0,99-49,100-1,74 50,50 0,25 0,-1-25,-24-24,49 49,-24 0,49-25,-49 25,24-25,-24 25,24 0,-24 0,-25-49,24 49,-24 0,-25 0,74 0,-24 0,24-25,1 0,-1-25,25 50,0-24,1 24,-51 0,26 0,-75 0,74 24,-24 1,-50 25,24-50,76 25,-26-25,25 24,-49-24,49 0,-25 0,-24 0,-1 0,-24 0,0 0,-50 25,-74-25,124 50,49-50,1 0,-1 25</inkml:trace>
</inkml:ink>
</file>

<file path=ppt/ink/ink77.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9T17:30:09.04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9575 6796,'-99'0,"-100"0,-24 0,25 0,-75-24,-199-26,125-49,74 49,50 25,74-24,25 24,25-25,-50 50,0-24,-49 24,-25-50,24 50,100 0,-25 0,74 0,-24 0,49 0,0 0,1 0,-51 0,50 0,-24 0,-26 0,51 0,-26 0,0 0,1 0,-50 0,-1 0,-49 0,25 0,25 0,25 0,24 0,25 0,-24 25,24-25,-25 49,26-24,-1-25,-50 25,26-25,-26 25,-49 24,25-49,-50 25,0-25,50 0,-25 0,75 0,24 0,-50 0,51 0,-26 50,25-50,-24 0,24 25,-25-25,25 0,0 0,-24 0</inkml:trace>
</inkml:ink>
</file>

<file path=ppt/ink/ink78.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9T17:30:11.60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9600 6796,'49'0,"51"0,-1 0,25 0,74 0,1 0,-50 0,-50 0,0 0,-25 0,-24 0,24 0,1 0,-50 0,24 0,26 0,-26 0,75 0,25 0,0 0,-50 0,0 0,-24 0,-50 0,-1 0,1 0,0 0,0 0,0 0,24 0,-24 0,25 0,-26 0,1 0,50 0,24 0,0 0,50 0,-25 0,-25 0,0 0,-24 0,-26 0,-24 0,50 0,-51 0,26 0,0 0,-1 0,-24 0,49 0,-49 0,25 0,-25 0,0 0,49 0,-24 0,-26 0,51 0,-50 0,24 0,1 0,-25 0</inkml:trace>
</inkml:ink>
</file>

<file path=ppt/ink/ink79.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9T17:30:12.87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13941 6796,'99'0,"50"0,-1 0,-24 0,1 0,-76 0,26 0,-51 0,1 0,0 0,0 0,49 0,-49 0,25 0,-1 0,-24 0,0 0,0 0,-1 0,51 0,-26 0,51 0,-26 0,25 0,-24 0,-26 0,26 0,-26 0,1 0,-25 0,0 0,24 0,-24 0,49 0,26 0,-1 0,25 0,25 0,-1 0,-98 0,49 0,-24 0,-1 0,-24 0,49 0,-25 0,-24 0,74 0,-25 0,-24 0,-51 0,1 0,25 0,-25 0,49 0,-49 0,0 0,0 0,49 0,-49 0,0 0,-1 0</inkml:trace>
</inkml:ink>
</file>

<file path=ppt/ink/ink80.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9T17:30:14.25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17909 6796,'124'0,"75"0,-75 0,-25 0,0 0,-24 0,-26 0,-24 0,25 0,-26 0,26 0,25 0,-51 0,26 0,24 0,26 0,-1 0,25 0,-75 0,26 25,-50-25,24 0,1 0,-25 0,-1 0,1 0,0 0,0 0,0 0,24 25,-24-25,0 0,0 0,0 0,-1 0,1 0,50 0,-51 0,1 0,0 0</inkml:trace>
</inkml:ink>
</file>

<file path=ppt/ink/ink8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9T17:30:17.19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20439 6648,'75'0,"24"0,50 0,0 0,0 0,-1 0,-48 0,24 0,-25 0,50 0,49 0,-49 0,0 0,-100 0,26 0,-50 0,-1 0,-48 0,-200 49,-49 1,50-25,-99-25,-199 0,-397 0,100 0,-348-199,-422-123,695 198,298-50,173 25,25 100,50-1,0 0,148 50,51 0,73 0,26 0,24 0,-74 0,24 0,26 0,-26 50,50-50,0 25,-49 0,49-1,-49 1,24 25,-24-25,-1 24,-24 26,-74 49,73-99,26 74</inkml:trace>
</inkml:ink>
</file>

<file path=ppt/ink/ink8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9T17:30:20.399"/>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10344 7615,'-99'0,"-249"0,-123 0,-50 0,0 0,50 0,-124 0,123 0,150 0,173 0,50 0,-25 0,74 0,-74-50,25 50,-99-49,-75 49,0 0,74 0,51 0,123 0,0 0,-49 0,49 0,0 0,0 0,0 0,-49 0,49 0,-24 0,-26 0,26 0,-150 0,50 0,0 0,1 0,73 0,26 0,-1 0,25 0,-24 0,24 0,0 0,-49 0,24 0,-24 0,-26 0,26 0,24 0,1 0,24 0</inkml:trace>
</inkml:ink>
</file>

<file path=ppt/ink/ink8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9T17:30:32.24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10939 7665,'75'0,"73"0,-48 0,148 0,74 0,75 0,-50 0,-24 0,-50 0,148 49,-24-49,-74 0,-125 0,-49 0,-75-49,1 49,-50 0,-1-25,1 25,50 0,-26 0,-24 0,49 0,-24-25,24 25,1 0,-26 0,26 0,24 0,-25 0,26 0,-51 0,-24 0,50 0,-51 0,76 0,-76 0,76 0,-51 0,100 0,0 0,0 0,49 0,25 0,-24 0,-50 0,-1 0,1 0,0 0,99 0,25 25,0-25,-75 0,26 25,-76-25,1 0,-50 0,1 0,-26 0,25 49,-24-49,-51 0,26 0,0 0,-1 0</inkml:trace>
</inkml:ink>
</file>

<file path=ppt/ink/ink84.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9T17:30:34.189"/>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19943 7714,'100'0,"48"0,51 0,148 50,75 49,-75 50,0-50,-123-49,-76-25,1 24,-50-49,-24 0,-26 0,-24 0,50 0,-26 0,75 0,-25 0,-74 0,50 0,-26 0,-24 0,0 0,25 0,-26 0,1 0,0 0</inkml:trace>
</inkml:ink>
</file>

<file path=ppt/ink/ink85.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9T17:30:37.60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2704 8979,'447'0,"73"0,26-49,173 49,1 0,-125 0,-248 24,-148-24,-100 50,-25-50,-24 0,-25 0,24 0,-24 0,75 0,48 0,51 0,-1 0,1 0,-51 0,1 0,-49 0,48 0,-24 0,-24 0,-1 0,-74 0,-1 0,-48 0,-1 0,0 0,0 0,50 0,124 0,0 0,99 0,-99 0,49 0,-49 0,0 0,99 0,99 0,-99 0,-25 0,-124 0,50 0,-49 0,48 0,1 0,0 0,49 0,1 0,24 25,-74-25,-50 0,50 0,0 0,-50 0,50 0,-75 0,75-25,-50 25,-24 0,-1 0,-74-25</inkml:trace>
</inkml:ink>
</file>

<file path=ppt/ink/ink86.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9T17:30:38.829"/>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13767 8979,'25'0,"49"0,-24 0,24 0,-49 0,0 0,0 0,-1 0</inkml:trace>
</inkml:ink>
</file>

<file path=ppt/ink/ink87.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9T17:30:39.759"/>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14933 8905</inkml:trace>
</inkml:ink>
</file>

<file path=ppt/ink/ink88.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9T17:30:40.62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14933 8905,'521'0,"49"0,25 0,125 0,98 0,-247 0,-100 25,-124-25,-74 0,-124 0,0 0,-99 24,24-24,-49 0,74 0,50 0,-50 0,50 0,-50 0,25 0,-25 0,1-49,-26 49,0-25,-24 0,0 25,-1 0,-24 0,0 0,0 0,24 0,1 0,49 0,-25 0,26 0,-26-49,-49 49,0 0,0 0,-1 0,26 0,-25 0</inkml:trace>
</inkml:ink>
</file>

<file path=ppt/ink/ink89.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9T17:30:43.04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10790 9947,'-99'0,"-50"0,-49 0,49 0,0-25,0 0,-49 25,-149 0,74 0,0-50,75 50,49 0,0 0,50 0,-25 0,24 0,1 0,-50 0,1 50,-1-50,-25 25,75-25,-50 0,50 49,-25-49,25 0,-50 25,0-25,-49 0,-75 0,0 0,124 0,0 0,50 0,25 0,-26 0,51 0,-26 0,26 0,-26 0,1 0,-25 0,-50 0,-50 0,51 0,-1 0,49 0,26 0,-25 0,24 0,26 0,-26 0,51 0,-26 0,-24 0,49 0,-25 0,1 0,-1 0,25 0,0 0,-49 0,24 0,-24 0,49 0,0 0,0 0,1 0,-1 0,-25 0</inkml:trace>
</inkml:ink>
</file>

<file path=ppt/ink/ink90.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9T17:30:51.64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17860 9599,'-124'0,"-100"0,-98 0,-149 0,74 0,124 0,0 0,174 0,-50 0,0 0,100 0,-26 0,50 0,-24 0,-75 0,25 0,-1 0,26 0,24 0,1 0,-1 0,25 0,-49 0,49 0,0 0,-24 0,24 0,-50 0,-24 0,0 25,-25-25,25 0,0 0,-50 0,25 0,24 0,51 0,-26 0,26 0,-1 0,1 0,-51 50,26-50,49 0,-49 0,49 0,-25 0</inkml:trace>
</inkml:ink>
</file>

<file path=ppt/ink/ink9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9T17:30:53.50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21159 9575,'-75'0,"-173"0,-25 0,-49 0,49 0,0 0,-124 0,1 0,73 0,100 0,74 0,99 0,-24 0,24 24,-24 1,49-25,0 0,-49 0,49 0,-24 0,-26 0,1 0,24 0</inkml:trace>
</inkml:ink>
</file>

<file path=ppt/ink/ink9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9T17:30:55.95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11460 10616,'75'0,"123"0,-49 0,49 0,1 0,-51 0,1 0,0 0,50 0,-51-24,-98 24,74 0,-74 0,-26 0,51 0,-50 0,24 0,26 24,-1 26,1-50,-26 50,26-50,24 0,-25 24,-24-24,123 50,26-50,-1 0,-49 0,-50 0,25 0,-74-25,24 25,-49-25,0 25,0 0,0 0,24 0,-24 0,0 0</inkml:trace>
</inkml:ink>
</file>

<file path=ppt/ink/ink9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9T17:31:00.60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20712 10567,'-149'0,"50"0,-50 0,-49 0,-149-50,-50 50,50 0,148 0,50 0,50 0,74 0,0 0,-24 0,24 0,-74 75,-50-26,50-24,-25 25,25-26,24-24,50 0,1 0</inkml:trace>
</inkml:ink>
</file>

<file path=ppt/ink/ink94.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0.17647" units="1/cm"/>
          <inkml:channelProperty channel="Y" name="resolution" value="40.42105" units="1/cm"/>
        </inkml:channelProperties>
      </inkml:inkSource>
      <inkml:timestamp xml:id="ts0" timeString="2015-03-19T17:31:03.46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12576 11906,'-49'99,"-51"75,-73-50,-125-74,-24-1,-26-49,26 0,-50-148,174 123,-26-75,1 100,124-74,0 49,24-24,50 49,-123-100,48 51,-73-26,24 51,0-26,-49 50,49 0,-50 0,51 0,23 25,101 24,-51-49,50 0,1 0,-76 0,26 50,24-50,-24 25,0 0,24 49,-24 0,-1-24,1-25,-75 49,-74-24,24 0,-24-26,74 26,25-50,25 0,0 0,-1 0,-48 0,24-25,74 25,-24 0,49-25,0 25,0 0,0 0,-24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D8F0ECD-22AD-4638-95DF-045941E8871A}" type="datetimeFigureOut">
              <a:rPr lang="en-GB" smtClean="0"/>
              <a:t>29/04/2017</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A79F262-58C5-4D4D-979F-020E8688485B}" type="slidenum">
              <a:rPr lang="en-GB" smtClean="0"/>
              <a:t>‹#›</a:t>
            </a:fld>
            <a:endParaRPr lang="en-GB"/>
          </a:p>
        </p:txBody>
      </p:sp>
    </p:spTree>
    <p:extLst>
      <p:ext uri="{BB962C8B-B14F-4D97-AF65-F5344CB8AC3E}">
        <p14:creationId xmlns:p14="http://schemas.microsoft.com/office/powerpoint/2010/main" val="2961145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AA79F262-58C5-4D4D-979F-020E8688485B}" type="slidenum">
              <a:rPr lang="en-GB" smtClean="0"/>
              <a:t>19</a:t>
            </a:fld>
            <a:endParaRPr lang="en-GB"/>
          </a:p>
        </p:txBody>
      </p:sp>
    </p:spTree>
    <p:extLst>
      <p:ext uri="{BB962C8B-B14F-4D97-AF65-F5344CB8AC3E}">
        <p14:creationId xmlns:p14="http://schemas.microsoft.com/office/powerpoint/2010/main" val="16872647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A79F262-58C5-4D4D-979F-020E8688485B}" type="slidenum">
              <a:rPr lang="en-GB" smtClean="0"/>
              <a:t>28</a:t>
            </a:fld>
            <a:endParaRPr lang="en-GB"/>
          </a:p>
        </p:txBody>
      </p:sp>
    </p:spTree>
    <p:extLst>
      <p:ext uri="{BB962C8B-B14F-4D97-AF65-F5344CB8AC3E}">
        <p14:creationId xmlns:p14="http://schemas.microsoft.com/office/powerpoint/2010/main" val="25669441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B020BA12-6C65-4212-88E8-F7B79DD68663}" type="datetime1">
              <a:rPr lang="en-GB" smtClean="0"/>
              <a:t>29/04/2017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6BF4B21-383E-4FDC-ABE0-7EFB2B39A5F9}"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17ED523F-ECB6-4E2C-934B-0DE4D8AA2817}" type="datetime1">
              <a:rPr lang="en-GB" smtClean="0"/>
              <a:t>29/04/2017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6BF4B21-383E-4FDC-ABE0-7EFB2B39A5F9}"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75D59B9-B8BD-4E55-B1EB-D4B7F7F401C0}" type="datetime1">
              <a:rPr lang="en-GB" smtClean="0"/>
              <a:t>29/04/2017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6BF4B21-383E-4FDC-ABE0-7EFB2B39A5F9}"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0E9B2BF4-B784-4E97-B9E5-C764E4753F7E}" type="datetime1">
              <a:rPr lang="en-GB" smtClean="0"/>
              <a:t>29/04/2017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6BF4B21-383E-4FDC-ABE0-7EFB2B39A5F9}"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74977E53-2A8A-4050-B346-D3A6ED1BD142}" type="datetime1">
              <a:rPr lang="en-GB" smtClean="0"/>
              <a:t>29/04/2017</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6BF4B21-383E-4FDC-ABE0-7EFB2B39A5F9}"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8928F8A8-B843-4E93-89C8-869110E41F50}" type="datetime1">
              <a:rPr lang="en-GB" smtClean="0"/>
              <a:t>29/04/2017</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6BF4B21-383E-4FDC-ABE0-7EFB2B39A5F9}"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0391D1-6330-498E-9AE2-1889377A398C}" type="datetime1">
              <a:rPr lang="en-GB" smtClean="0"/>
              <a:t>29/04/2017</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6BF4B21-383E-4FDC-ABE0-7EFB2B39A5F9}"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02368D0-5ED0-4711-8F15-37995D1FCA62}" type="datetime1">
              <a:rPr lang="en-GB" smtClean="0"/>
              <a:t>29/04/2017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6BF4B21-383E-4FDC-ABE0-7EFB2B39A5F9}"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4DF5AD-B9EE-4BAA-9245-A4E84AFE7A9F}" type="datetime1">
              <a:rPr lang="en-GB" smtClean="0"/>
              <a:t>29/04/2017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6BF4B21-383E-4FDC-ABE0-7EFB2B39A5F9}"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46044318-88F8-439C-82DA-D97E3278513E}" type="datetime1">
              <a:rPr lang="en-GB" smtClean="0"/>
              <a:t>29/04/2017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6BF4B21-383E-4FDC-ABE0-7EFB2B39A5F9}"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917D7320-15F2-4D58-85C0-7AAD40CF32FD}" type="datetime1">
              <a:rPr lang="en-GB" smtClean="0"/>
              <a:t>29/04/2017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6BF4B21-383E-4FDC-ABE0-7EFB2B39A5F9}"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76A8A0-2DDA-4E37-AA00-527860CFF574}" type="datetime1">
              <a:rPr lang="en-GB" smtClean="0"/>
              <a:t>29/04/2017</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BF4B21-383E-4FDC-ABE0-7EFB2B39A5F9}"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6.emf"/><Relationship Id="rId18" Type="http://schemas.openxmlformats.org/officeDocument/2006/relationships/customXml" Target="../ink/ink9.xml"/><Relationship Id="rId3" Type="http://schemas.openxmlformats.org/officeDocument/2006/relationships/image" Target="../media/image1.emf"/><Relationship Id="rId7" Type="http://schemas.openxmlformats.org/officeDocument/2006/relationships/image" Target="../media/image3.emf"/><Relationship Id="rId12" Type="http://schemas.openxmlformats.org/officeDocument/2006/relationships/customXml" Target="../ink/ink6.xml"/><Relationship Id="rId17" Type="http://schemas.openxmlformats.org/officeDocument/2006/relationships/image" Target="../media/image8.emf"/><Relationship Id="rId2" Type="http://schemas.openxmlformats.org/officeDocument/2006/relationships/customXml" Target="../ink/ink1.xml"/><Relationship Id="rId16" Type="http://schemas.openxmlformats.org/officeDocument/2006/relationships/customXml" Target="../ink/ink8.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5.emf"/><Relationship Id="rId5" Type="http://schemas.openxmlformats.org/officeDocument/2006/relationships/image" Target="../media/image2.emf"/><Relationship Id="rId15" Type="http://schemas.openxmlformats.org/officeDocument/2006/relationships/image" Target="../media/image7.emf"/><Relationship Id="rId10" Type="http://schemas.openxmlformats.org/officeDocument/2006/relationships/customXml" Target="../ink/ink5.xml"/><Relationship Id="rId19" Type="http://schemas.openxmlformats.org/officeDocument/2006/relationships/image" Target="../media/image9.emf"/><Relationship Id="rId4" Type="http://schemas.openxmlformats.org/officeDocument/2006/relationships/customXml" Target="../ink/ink2.xml"/><Relationship Id="rId9" Type="http://schemas.openxmlformats.org/officeDocument/2006/relationships/image" Target="../media/image4.emf"/><Relationship Id="rId14" Type="http://schemas.openxmlformats.org/officeDocument/2006/relationships/customXml" Target="../ink/ink7.xml"/></Relationships>
</file>

<file path=ppt/slides/_rels/slide4.xml.rels><?xml version="1.0" encoding="UTF-8" standalone="yes"?>
<Relationships xmlns="http://schemas.openxmlformats.org/package/2006/relationships"><Relationship Id="rId8" Type="http://schemas.openxmlformats.org/officeDocument/2006/relationships/customXml" Target="../ink/ink13.xml"/><Relationship Id="rId13" Type="http://schemas.openxmlformats.org/officeDocument/2006/relationships/image" Target="../media/image15.emf"/><Relationship Id="rId3" Type="http://schemas.openxmlformats.org/officeDocument/2006/relationships/image" Target="../media/image10.emf"/><Relationship Id="rId7" Type="http://schemas.openxmlformats.org/officeDocument/2006/relationships/image" Target="../media/image12.emf"/><Relationship Id="rId12" Type="http://schemas.openxmlformats.org/officeDocument/2006/relationships/customXml" Target="../ink/ink15.xml"/><Relationship Id="rId17" Type="http://schemas.openxmlformats.org/officeDocument/2006/relationships/image" Target="../media/image17.emf"/><Relationship Id="rId2" Type="http://schemas.openxmlformats.org/officeDocument/2006/relationships/customXml" Target="../ink/ink10.xml"/><Relationship Id="rId16" Type="http://schemas.openxmlformats.org/officeDocument/2006/relationships/customXml" Target="../ink/ink17.xml"/><Relationship Id="rId1" Type="http://schemas.openxmlformats.org/officeDocument/2006/relationships/slideLayout" Target="../slideLayouts/slideLayout2.xml"/><Relationship Id="rId6" Type="http://schemas.openxmlformats.org/officeDocument/2006/relationships/customXml" Target="../ink/ink12.xml"/><Relationship Id="rId11" Type="http://schemas.openxmlformats.org/officeDocument/2006/relationships/image" Target="../media/image14.emf"/><Relationship Id="rId5" Type="http://schemas.openxmlformats.org/officeDocument/2006/relationships/image" Target="../media/image11.emf"/><Relationship Id="rId15" Type="http://schemas.openxmlformats.org/officeDocument/2006/relationships/image" Target="../media/image16.emf"/><Relationship Id="rId10" Type="http://schemas.openxmlformats.org/officeDocument/2006/relationships/customXml" Target="../ink/ink14.xml"/><Relationship Id="rId4" Type="http://schemas.openxmlformats.org/officeDocument/2006/relationships/customXml" Target="../ink/ink11.xml"/><Relationship Id="rId9" Type="http://schemas.openxmlformats.org/officeDocument/2006/relationships/image" Target="../media/image13.emf"/><Relationship Id="rId14" Type="http://schemas.openxmlformats.org/officeDocument/2006/relationships/customXml" Target="../ink/ink16.xml"/></Relationships>
</file>

<file path=ppt/slides/_rels/slide5.xml.rels><?xml version="1.0" encoding="UTF-8" standalone="yes"?>
<Relationships xmlns="http://schemas.openxmlformats.org/package/2006/relationships"><Relationship Id="rId8" Type="http://schemas.openxmlformats.org/officeDocument/2006/relationships/customXml" Target="../ink/ink21.xml"/><Relationship Id="rId13" Type="http://schemas.openxmlformats.org/officeDocument/2006/relationships/image" Target="../media/image23.emf"/><Relationship Id="rId3" Type="http://schemas.openxmlformats.org/officeDocument/2006/relationships/image" Target="../media/image18.emf"/><Relationship Id="rId7" Type="http://schemas.openxmlformats.org/officeDocument/2006/relationships/image" Target="../media/image20.emf"/><Relationship Id="rId12" Type="http://schemas.openxmlformats.org/officeDocument/2006/relationships/customXml" Target="../ink/ink23.xml"/><Relationship Id="rId17" Type="http://schemas.openxmlformats.org/officeDocument/2006/relationships/image" Target="../media/image25.emf"/><Relationship Id="rId2" Type="http://schemas.openxmlformats.org/officeDocument/2006/relationships/customXml" Target="../ink/ink18.xml"/><Relationship Id="rId16" Type="http://schemas.openxmlformats.org/officeDocument/2006/relationships/customXml" Target="../ink/ink25.xml"/><Relationship Id="rId1" Type="http://schemas.openxmlformats.org/officeDocument/2006/relationships/slideLayout" Target="../slideLayouts/slideLayout2.xml"/><Relationship Id="rId6" Type="http://schemas.openxmlformats.org/officeDocument/2006/relationships/customXml" Target="../ink/ink20.xml"/><Relationship Id="rId11" Type="http://schemas.openxmlformats.org/officeDocument/2006/relationships/image" Target="../media/image22.emf"/><Relationship Id="rId5" Type="http://schemas.openxmlformats.org/officeDocument/2006/relationships/image" Target="../media/image19.emf"/><Relationship Id="rId15" Type="http://schemas.openxmlformats.org/officeDocument/2006/relationships/image" Target="../media/image24.emf"/><Relationship Id="rId10" Type="http://schemas.openxmlformats.org/officeDocument/2006/relationships/customXml" Target="../ink/ink22.xml"/><Relationship Id="rId4" Type="http://schemas.openxmlformats.org/officeDocument/2006/relationships/customXml" Target="../ink/ink19.xml"/><Relationship Id="rId9" Type="http://schemas.openxmlformats.org/officeDocument/2006/relationships/image" Target="../media/image21.emf"/><Relationship Id="rId14" Type="http://schemas.openxmlformats.org/officeDocument/2006/relationships/customXml" Target="../ink/ink24.xml"/></Relationships>
</file>

<file path=ppt/slides/_rels/slide6.xml.rels><?xml version="1.0" encoding="UTF-8" standalone="yes"?>
<Relationships xmlns="http://schemas.openxmlformats.org/package/2006/relationships"><Relationship Id="rId8" Type="http://schemas.openxmlformats.org/officeDocument/2006/relationships/customXml" Target="../ink/ink29.xml"/><Relationship Id="rId13" Type="http://schemas.openxmlformats.org/officeDocument/2006/relationships/image" Target="../media/image31.emf"/><Relationship Id="rId18" Type="http://schemas.openxmlformats.org/officeDocument/2006/relationships/customXml" Target="../ink/ink34.xml"/><Relationship Id="rId3" Type="http://schemas.openxmlformats.org/officeDocument/2006/relationships/image" Target="../media/image26.emf"/><Relationship Id="rId7" Type="http://schemas.openxmlformats.org/officeDocument/2006/relationships/image" Target="../media/image28.emf"/><Relationship Id="rId12" Type="http://schemas.openxmlformats.org/officeDocument/2006/relationships/customXml" Target="../ink/ink31.xml"/><Relationship Id="rId17" Type="http://schemas.openxmlformats.org/officeDocument/2006/relationships/image" Target="../media/image33.emf"/><Relationship Id="rId2" Type="http://schemas.openxmlformats.org/officeDocument/2006/relationships/customXml" Target="../ink/ink26.xml"/><Relationship Id="rId16" Type="http://schemas.openxmlformats.org/officeDocument/2006/relationships/customXml" Target="../ink/ink33.xml"/><Relationship Id="rId1" Type="http://schemas.openxmlformats.org/officeDocument/2006/relationships/slideLayout" Target="../slideLayouts/slideLayout2.xml"/><Relationship Id="rId6" Type="http://schemas.openxmlformats.org/officeDocument/2006/relationships/customXml" Target="../ink/ink28.xml"/><Relationship Id="rId11" Type="http://schemas.openxmlformats.org/officeDocument/2006/relationships/image" Target="../media/image30.emf"/><Relationship Id="rId5" Type="http://schemas.openxmlformats.org/officeDocument/2006/relationships/image" Target="../media/image27.emf"/><Relationship Id="rId15" Type="http://schemas.openxmlformats.org/officeDocument/2006/relationships/image" Target="../media/image32.emf"/><Relationship Id="rId10" Type="http://schemas.openxmlformats.org/officeDocument/2006/relationships/customXml" Target="../ink/ink30.xml"/><Relationship Id="rId19" Type="http://schemas.openxmlformats.org/officeDocument/2006/relationships/image" Target="../media/image34.emf"/><Relationship Id="rId4" Type="http://schemas.openxmlformats.org/officeDocument/2006/relationships/customXml" Target="../ink/ink27.xml"/><Relationship Id="rId9" Type="http://schemas.openxmlformats.org/officeDocument/2006/relationships/image" Target="../media/image29.emf"/><Relationship Id="rId14" Type="http://schemas.openxmlformats.org/officeDocument/2006/relationships/customXml" Target="../ink/ink32.xml"/></Relationships>
</file>

<file path=ppt/slides/_rels/slide7.xml.rels><?xml version="1.0" encoding="UTF-8" standalone="yes"?>
<Relationships xmlns="http://schemas.openxmlformats.org/package/2006/relationships"><Relationship Id="rId8" Type="http://schemas.openxmlformats.org/officeDocument/2006/relationships/customXml" Target="../ink/ink38.xml"/><Relationship Id="rId13" Type="http://schemas.openxmlformats.org/officeDocument/2006/relationships/image" Target="../media/image40.emf"/><Relationship Id="rId18" Type="http://schemas.openxmlformats.org/officeDocument/2006/relationships/customXml" Target="../ink/ink43.xml"/><Relationship Id="rId3" Type="http://schemas.openxmlformats.org/officeDocument/2006/relationships/image" Target="../media/image35.emf"/><Relationship Id="rId21" Type="http://schemas.openxmlformats.org/officeDocument/2006/relationships/image" Target="../media/image44.emf"/><Relationship Id="rId7" Type="http://schemas.openxmlformats.org/officeDocument/2006/relationships/image" Target="../media/image37.emf"/><Relationship Id="rId12" Type="http://schemas.openxmlformats.org/officeDocument/2006/relationships/customXml" Target="../ink/ink40.xml"/><Relationship Id="rId17" Type="http://schemas.openxmlformats.org/officeDocument/2006/relationships/image" Target="../media/image42.emf"/><Relationship Id="rId25" Type="http://schemas.openxmlformats.org/officeDocument/2006/relationships/image" Target="../media/image46.emf"/><Relationship Id="rId2" Type="http://schemas.openxmlformats.org/officeDocument/2006/relationships/customXml" Target="../ink/ink35.xml"/><Relationship Id="rId16" Type="http://schemas.openxmlformats.org/officeDocument/2006/relationships/customXml" Target="../ink/ink42.xml"/><Relationship Id="rId20" Type="http://schemas.openxmlformats.org/officeDocument/2006/relationships/customXml" Target="../ink/ink44.xml"/><Relationship Id="rId1" Type="http://schemas.openxmlformats.org/officeDocument/2006/relationships/slideLayout" Target="../slideLayouts/slideLayout2.xml"/><Relationship Id="rId6" Type="http://schemas.openxmlformats.org/officeDocument/2006/relationships/customXml" Target="../ink/ink37.xml"/><Relationship Id="rId11" Type="http://schemas.openxmlformats.org/officeDocument/2006/relationships/image" Target="../media/image39.emf"/><Relationship Id="rId24" Type="http://schemas.openxmlformats.org/officeDocument/2006/relationships/customXml" Target="../ink/ink46.xml"/><Relationship Id="rId5" Type="http://schemas.openxmlformats.org/officeDocument/2006/relationships/image" Target="../media/image36.emf"/><Relationship Id="rId15" Type="http://schemas.openxmlformats.org/officeDocument/2006/relationships/image" Target="../media/image41.emf"/><Relationship Id="rId23" Type="http://schemas.openxmlformats.org/officeDocument/2006/relationships/image" Target="../media/image45.emf"/><Relationship Id="rId10" Type="http://schemas.openxmlformats.org/officeDocument/2006/relationships/customXml" Target="../ink/ink39.xml"/><Relationship Id="rId19" Type="http://schemas.openxmlformats.org/officeDocument/2006/relationships/image" Target="../media/image43.emf"/><Relationship Id="rId4" Type="http://schemas.openxmlformats.org/officeDocument/2006/relationships/customXml" Target="../ink/ink36.xml"/><Relationship Id="rId9" Type="http://schemas.openxmlformats.org/officeDocument/2006/relationships/image" Target="../media/image38.emf"/><Relationship Id="rId14" Type="http://schemas.openxmlformats.org/officeDocument/2006/relationships/customXml" Target="../ink/ink41.xml"/><Relationship Id="rId22" Type="http://schemas.openxmlformats.org/officeDocument/2006/relationships/customXml" Target="../ink/ink45.xml"/></Relationships>
</file>

<file path=ppt/slides/_rels/slide8.xml.rels><?xml version="1.0" encoding="UTF-8" standalone="yes"?>
<Relationships xmlns="http://schemas.openxmlformats.org/package/2006/relationships"><Relationship Id="rId3" Type="http://schemas.openxmlformats.org/officeDocument/2006/relationships/image" Target="../media/image47.emf"/><Relationship Id="rId7" Type="http://schemas.openxmlformats.org/officeDocument/2006/relationships/image" Target="../media/image49.emf"/><Relationship Id="rId2" Type="http://schemas.openxmlformats.org/officeDocument/2006/relationships/customXml" Target="../ink/ink47.xml"/><Relationship Id="rId1" Type="http://schemas.openxmlformats.org/officeDocument/2006/relationships/slideLayout" Target="../slideLayouts/slideLayout2.xml"/><Relationship Id="rId6" Type="http://schemas.openxmlformats.org/officeDocument/2006/relationships/customXml" Target="../ink/ink49.xml"/><Relationship Id="rId5" Type="http://schemas.openxmlformats.org/officeDocument/2006/relationships/image" Target="../media/image48.emf"/><Relationship Id="rId4" Type="http://schemas.openxmlformats.org/officeDocument/2006/relationships/customXml" Target="../ink/ink4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customXml" Target="../ink/ink50.xml"/><Relationship Id="rId1" Type="http://schemas.openxmlformats.org/officeDocument/2006/relationships/slideLayout" Target="../slideLayouts/slideLayout2.xml"/><Relationship Id="rId5" Type="http://schemas.openxmlformats.org/officeDocument/2006/relationships/image" Target="../media/image51.emf"/><Relationship Id="rId4" Type="http://schemas.openxmlformats.org/officeDocument/2006/relationships/customXml" Target="../ink/ink51.xml"/></Relationships>
</file>

<file path=ppt/slides/_rels/slide12.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customXml" Target="../ink/ink52.xml"/><Relationship Id="rId1" Type="http://schemas.openxmlformats.org/officeDocument/2006/relationships/slideLayout" Target="../slideLayouts/slideLayout2.xml"/><Relationship Id="rId5" Type="http://schemas.openxmlformats.org/officeDocument/2006/relationships/image" Target="../media/image53.emf"/><Relationship Id="rId4" Type="http://schemas.openxmlformats.org/officeDocument/2006/relationships/customXml" Target="../ink/ink53.xml"/></Relationships>
</file>

<file path=ppt/slides/_rels/slide13.xml.rels><?xml version="1.0" encoding="UTF-8" standalone="yes"?>
<Relationships xmlns="http://schemas.openxmlformats.org/package/2006/relationships"><Relationship Id="rId8" Type="http://schemas.openxmlformats.org/officeDocument/2006/relationships/customXml" Target="../ink/ink57.xml"/><Relationship Id="rId13" Type="http://schemas.openxmlformats.org/officeDocument/2006/relationships/image" Target="../media/image59.emf"/><Relationship Id="rId18" Type="http://schemas.openxmlformats.org/officeDocument/2006/relationships/customXml" Target="../ink/ink62.xml"/><Relationship Id="rId3" Type="http://schemas.openxmlformats.org/officeDocument/2006/relationships/image" Target="../media/image54.emf"/><Relationship Id="rId21" Type="http://schemas.openxmlformats.org/officeDocument/2006/relationships/image" Target="../media/image63.emf"/><Relationship Id="rId7" Type="http://schemas.openxmlformats.org/officeDocument/2006/relationships/image" Target="../media/image56.emf"/><Relationship Id="rId12" Type="http://schemas.openxmlformats.org/officeDocument/2006/relationships/customXml" Target="../ink/ink59.xml"/><Relationship Id="rId17" Type="http://schemas.openxmlformats.org/officeDocument/2006/relationships/image" Target="../media/image61.emf"/><Relationship Id="rId25" Type="http://schemas.openxmlformats.org/officeDocument/2006/relationships/image" Target="../media/image65.emf"/><Relationship Id="rId2" Type="http://schemas.openxmlformats.org/officeDocument/2006/relationships/customXml" Target="../ink/ink54.xml"/><Relationship Id="rId16" Type="http://schemas.openxmlformats.org/officeDocument/2006/relationships/customXml" Target="../ink/ink61.xml"/><Relationship Id="rId20" Type="http://schemas.openxmlformats.org/officeDocument/2006/relationships/customXml" Target="../ink/ink63.xml"/><Relationship Id="rId1" Type="http://schemas.openxmlformats.org/officeDocument/2006/relationships/slideLayout" Target="../slideLayouts/slideLayout2.xml"/><Relationship Id="rId6" Type="http://schemas.openxmlformats.org/officeDocument/2006/relationships/customXml" Target="../ink/ink56.xml"/><Relationship Id="rId11" Type="http://schemas.openxmlformats.org/officeDocument/2006/relationships/image" Target="../media/image58.emf"/><Relationship Id="rId24" Type="http://schemas.openxmlformats.org/officeDocument/2006/relationships/customXml" Target="../ink/ink65.xml"/><Relationship Id="rId5" Type="http://schemas.openxmlformats.org/officeDocument/2006/relationships/image" Target="../media/image55.emf"/><Relationship Id="rId15" Type="http://schemas.openxmlformats.org/officeDocument/2006/relationships/image" Target="../media/image60.emf"/><Relationship Id="rId23" Type="http://schemas.openxmlformats.org/officeDocument/2006/relationships/image" Target="../media/image64.emf"/><Relationship Id="rId10" Type="http://schemas.openxmlformats.org/officeDocument/2006/relationships/customXml" Target="../ink/ink58.xml"/><Relationship Id="rId19" Type="http://schemas.openxmlformats.org/officeDocument/2006/relationships/image" Target="../media/image62.emf"/><Relationship Id="rId4" Type="http://schemas.openxmlformats.org/officeDocument/2006/relationships/customXml" Target="../ink/ink55.xml"/><Relationship Id="rId9" Type="http://schemas.openxmlformats.org/officeDocument/2006/relationships/image" Target="../media/image57.emf"/><Relationship Id="rId14" Type="http://schemas.openxmlformats.org/officeDocument/2006/relationships/customXml" Target="../ink/ink60.xml"/><Relationship Id="rId22" Type="http://schemas.openxmlformats.org/officeDocument/2006/relationships/customXml" Target="../ink/ink6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customXml" Target="../ink/ink6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customXml" Target="../ink/ink6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customXml" Target="../ink/ink71.xml"/><Relationship Id="rId3" Type="http://schemas.openxmlformats.org/officeDocument/2006/relationships/image" Target="../media/image68.emf"/><Relationship Id="rId7" Type="http://schemas.openxmlformats.org/officeDocument/2006/relationships/image" Target="../media/image70.emf"/><Relationship Id="rId2" Type="http://schemas.openxmlformats.org/officeDocument/2006/relationships/customXml" Target="../ink/ink68.xml"/><Relationship Id="rId1" Type="http://schemas.openxmlformats.org/officeDocument/2006/relationships/slideLayout" Target="../slideLayouts/slideLayout2.xml"/><Relationship Id="rId6" Type="http://schemas.openxmlformats.org/officeDocument/2006/relationships/customXml" Target="../ink/ink70.xml"/><Relationship Id="rId5" Type="http://schemas.openxmlformats.org/officeDocument/2006/relationships/image" Target="../media/image69.emf"/><Relationship Id="rId4" Type="http://schemas.openxmlformats.org/officeDocument/2006/relationships/customXml" Target="../ink/ink69.xml"/><Relationship Id="rId9" Type="http://schemas.openxmlformats.org/officeDocument/2006/relationships/image" Target="../media/image71.e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customXml" Target="../ink/ink75.xml"/><Relationship Id="rId13" Type="http://schemas.openxmlformats.org/officeDocument/2006/relationships/image" Target="../media/image77.emf"/><Relationship Id="rId18" Type="http://schemas.openxmlformats.org/officeDocument/2006/relationships/customXml" Target="../ink/ink80.xml"/><Relationship Id="rId26" Type="http://schemas.openxmlformats.org/officeDocument/2006/relationships/customXml" Target="../ink/ink84.xml"/><Relationship Id="rId39" Type="http://schemas.openxmlformats.org/officeDocument/2006/relationships/image" Target="../media/image90.emf"/><Relationship Id="rId3" Type="http://schemas.openxmlformats.org/officeDocument/2006/relationships/image" Target="../media/image72.emf"/><Relationship Id="rId21" Type="http://schemas.openxmlformats.org/officeDocument/2006/relationships/image" Target="../media/image81.emf"/><Relationship Id="rId34" Type="http://schemas.openxmlformats.org/officeDocument/2006/relationships/customXml" Target="../ink/ink88.xml"/><Relationship Id="rId42" Type="http://schemas.openxmlformats.org/officeDocument/2006/relationships/customXml" Target="../ink/ink92.xml"/><Relationship Id="rId47" Type="http://schemas.openxmlformats.org/officeDocument/2006/relationships/image" Target="../media/image94.emf"/><Relationship Id="rId7" Type="http://schemas.openxmlformats.org/officeDocument/2006/relationships/image" Target="../media/image74.emf"/><Relationship Id="rId12" Type="http://schemas.openxmlformats.org/officeDocument/2006/relationships/customXml" Target="../ink/ink77.xml"/><Relationship Id="rId17" Type="http://schemas.openxmlformats.org/officeDocument/2006/relationships/image" Target="../media/image79.emf"/><Relationship Id="rId25" Type="http://schemas.openxmlformats.org/officeDocument/2006/relationships/image" Target="../media/image83.emf"/><Relationship Id="rId33" Type="http://schemas.openxmlformats.org/officeDocument/2006/relationships/image" Target="../media/image87.emf"/><Relationship Id="rId38" Type="http://schemas.openxmlformats.org/officeDocument/2006/relationships/customXml" Target="../ink/ink90.xml"/><Relationship Id="rId46" Type="http://schemas.openxmlformats.org/officeDocument/2006/relationships/customXml" Target="../ink/ink94.xml"/><Relationship Id="rId2" Type="http://schemas.openxmlformats.org/officeDocument/2006/relationships/customXml" Target="../ink/ink72.xml"/><Relationship Id="rId16" Type="http://schemas.openxmlformats.org/officeDocument/2006/relationships/customXml" Target="../ink/ink79.xml"/><Relationship Id="rId20" Type="http://schemas.openxmlformats.org/officeDocument/2006/relationships/customXml" Target="../ink/ink81.xml"/><Relationship Id="rId29" Type="http://schemas.openxmlformats.org/officeDocument/2006/relationships/image" Target="../media/image85.emf"/><Relationship Id="rId41" Type="http://schemas.openxmlformats.org/officeDocument/2006/relationships/image" Target="../media/image91.emf"/><Relationship Id="rId1" Type="http://schemas.openxmlformats.org/officeDocument/2006/relationships/slideLayout" Target="../slideLayouts/slideLayout2.xml"/><Relationship Id="rId6" Type="http://schemas.openxmlformats.org/officeDocument/2006/relationships/customXml" Target="../ink/ink74.xml"/><Relationship Id="rId11" Type="http://schemas.openxmlformats.org/officeDocument/2006/relationships/image" Target="../media/image76.emf"/><Relationship Id="rId24" Type="http://schemas.openxmlformats.org/officeDocument/2006/relationships/customXml" Target="../ink/ink83.xml"/><Relationship Id="rId32" Type="http://schemas.openxmlformats.org/officeDocument/2006/relationships/customXml" Target="../ink/ink87.xml"/><Relationship Id="rId37" Type="http://schemas.openxmlformats.org/officeDocument/2006/relationships/image" Target="../media/image89.emf"/><Relationship Id="rId40" Type="http://schemas.openxmlformats.org/officeDocument/2006/relationships/customXml" Target="../ink/ink91.xml"/><Relationship Id="rId45" Type="http://schemas.openxmlformats.org/officeDocument/2006/relationships/image" Target="../media/image93.emf"/><Relationship Id="rId5" Type="http://schemas.openxmlformats.org/officeDocument/2006/relationships/image" Target="../media/image73.emf"/><Relationship Id="rId15" Type="http://schemas.openxmlformats.org/officeDocument/2006/relationships/image" Target="../media/image78.emf"/><Relationship Id="rId23" Type="http://schemas.openxmlformats.org/officeDocument/2006/relationships/image" Target="../media/image82.emf"/><Relationship Id="rId28" Type="http://schemas.openxmlformats.org/officeDocument/2006/relationships/customXml" Target="../ink/ink85.xml"/><Relationship Id="rId36" Type="http://schemas.openxmlformats.org/officeDocument/2006/relationships/customXml" Target="../ink/ink89.xml"/><Relationship Id="rId10" Type="http://schemas.openxmlformats.org/officeDocument/2006/relationships/customXml" Target="../ink/ink76.xml"/><Relationship Id="rId19" Type="http://schemas.openxmlformats.org/officeDocument/2006/relationships/image" Target="../media/image80.emf"/><Relationship Id="rId31" Type="http://schemas.openxmlformats.org/officeDocument/2006/relationships/image" Target="../media/image86.emf"/><Relationship Id="rId44" Type="http://schemas.openxmlformats.org/officeDocument/2006/relationships/customXml" Target="../ink/ink93.xml"/><Relationship Id="rId4" Type="http://schemas.openxmlformats.org/officeDocument/2006/relationships/customXml" Target="../ink/ink73.xml"/><Relationship Id="rId9" Type="http://schemas.openxmlformats.org/officeDocument/2006/relationships/image" Target="../media/image75.emf"/><Relationship Id="rId14" Type="http://schemas.openxmlformats.org/officeDocument/2006/relationships/customXml" Target="../ink/ink78.xml"/><Relationship Id="rId22" Type="http://schemas.openxmlformats.org/officeDocument/2006/relationships/customXml" Target="../ink/ink82.xml"/><Relationship Id="rId27" Type="http://schemas.openxmlformats.org/officeDocument/2006/relationships/image" Target="../media/image84.emf"/><Relationship Id="rId30" Type="http://schemas.openxmlformats.org/officeDocument/2006/relationships/customXml" Target="../ink/ink86.xml"/><Relationship Id="rId35" Type="http://schemas.openxmlformats.org/officeDocument/2006/relationships/image" Target="../media/image88.emf"/><Relationship Id="rId43" Type="http://schemas.openxmlformats.org/officeDocument/2006/relationships/image" Target="../media/image92.e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72817"/>
            <a:ext cx="7772400" cy="1827634"/>
          </a:xfrm>
        </p:spPr>
        <p:txBody>
          <a:bodyPr>
            <a:normAutofit fontScale="90000"/>
          </a:bodyPr>
          <a:lstStyle/>
          <a:p>
            <a:r>
              <a:rPr lang="en-GB" dirty="0" smtClean="0"/>
              <a:t/>
            </a:r>
            <a:br>
              <a:rPr lang="en-GB" dirty="0" smtClean="0"/>
            </a:br>
            <a:r>
              <a:rPr lang="en-GB" dirty="0" smtClean="0"/>
              <a:t>3 </a:t>
            </a:r>
            <a:r>
              <a:rPr lang="en-GB" dirty="0"/>
              <a:t>Product and Service </a:t>
            </a:r>
            <a:br>
              <a:rPr lang="en-GB" dirty="0"/>
            </a:br>
            <a:r>
              <a:rPr lang="en-GB" dirty="0"/>
              <a:t>Concepts for New Ventures  </a:t>
            </a:r>
            <a:br>
              <a:rPr lang="en-GB" dirty="0"/>
            </a:br>
            <a:endParaRPr lang="en-GB" dirty="0"/>
          </a:p>
        </p:txBody>
      </p:sp>
      <p:sp>
        <p:nvSpPr>
          <p:cNvPr id="3" name="Subtitle 2"/>
          <p:cNvSpPr>
            <a:spLocks noGrp="1"/>
          </p:cNvSpPr>
          <p:nvPr>
            <p:ph type="subTitle" idx="1"/>
          </p:nvPr>
        </p:nvSpPr>
        <p:spPr>
          <a:xfrm>
            <a:off x="1371600" y="3886200"/>
            <a:ext cx="6400800" cy="1270992"/>
          </a:xfrm>
        </p:spPr>
        <p:txBody>
          <a:bodyPr>
            <a:normAutofit fontScale="85000" lnSpcReduction="20000"/>
          </a:bodyPr>
          <a:lstStyle/>
          <a:p>
            <a:endParaRPr lang="en-GB" b="1" dirty="0" smtClean="0"/>
          </a:p>
          <a:p>
            <a:r>
              <a:rPr lang="en-GB" b="1" dirty="0" smtClean="0"/>
              <a:t>The Product Concept and Commercial Opportunities</a:t>
            </a:r>
            <a:endParaRPr lang="en-GB" dirty="0"/>
          </a:p>
        </p:txBody>
      </p:sp>
      <p:sp>
        <p:nvSpPr>
          <p:cNvPr id="4" name="Slide Number Placeholder 3"/>
          <p:cNvSpPr>
            <a:spLocks noGrp="1"/>
          </p:cNvSpPr>
          <p:nvPr>
            <p:ph type="sldNum" sz="quarter" idx="12"/>
          </p:nvPr>
        </p:nvSpPr>
        <p:spPr/>
        <p:txBody>
          <a:bodyPr/>
          <a:lstStyle/>
          <a:p>
            <a:fld id="{16BF4B21-383E-4FDC-ABE0-7EFB2B39A5F9}" type="slidenum">
              <a:rPr lang="en-GB" smtClean="0"/>
              <a:pPr/>
              <a:t>1</a:t>
            </a:fld>
            <a:endParaRPr lang="en-GB"/>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114"/>
          </a:xfrm>
        </p:spPr>
        <p:txBody>
          <a:bodyPr>
            <a:normAutofit/>
          </a:bodyPr>
          <a:lstStyle/>
          <a:p>
            <a:r>
              <a:rPr lang="en-GB" i="1" dirty="0" smtClean="0"/>
              <a:t>OBJECTIVES</a:t>
            </a:r>
            <a:endParaRPr lang="en-GB" dirty="0"/>
          </a:p>
        </p:txBody>
      </p:sp>
      <p:sp>
        <p:nvSpPr>
          <p:cNvPr id="3" name="Content Placeholder 2"/>
          <p:cNvSpPr>
            <a:spLocks noGrp="1"/>
          </p:cNvSpPr>
          <p:nvPr>
            <p:ph idx="1"/>
          </p:nvPr>
        </p:nvSpPr>
        <p:spPr>
          <a:xfrm>
            <a:off x="457200" y="1340768"/>
            <a:ext cx="8229600" cy="5184576"/>
          </a:xfrm>
        </p:spPr>
        <p:txBody>
          <a:bodyPr>
            <a:normAutofit fontScale="85000" lnSpcReduction="10000"/>
          </a:bodyPr>
          <a:lstStyle/>
          <a:p>
            <a:r>
              <a:rPr lang="en-GB" i="1" dirty="0"/>
              <a:t> </a:t>
            </a:r>
            <a:endParaRPr lang="en-GB" dirty="0"/>
          </a:p>
          <a:p>
            <a:pPr lvl="0"/>
            <a:r>
              <a:rPr lang="en-GB" dirty="0" smtClean="0"/>
              <a:t>1.	Explore </a:t>
            </a:r>
            <a:r>
              <a:rPr lang="en-GB" dirty="0"/>
              <a:t>the opportunities in new products and </a:t>
            </a:r>
            <a:r>
              <a:rPr lang="en-GB" dirty="0" smtClean="0"/>
              <a:t>	processes</a:t>
            </a:r>
            <a:r>
              <a:rPr lang="en-GB" dirty="0"/>
              <a:t>, and explain why manufacturing is </a:t>
            </a:r>
            <a:r>
              <a:rPr lang="en-GB" dirty="0" smtClean="0"/>
              <a:t>	important </a:t>
            </a:r>
            <a:r>
              <a:rPr lang="en-GB" dirty="0"/>
              <a:t>in a free-market economy.</a:t>
            </a:r>
          </a:p>
          <a:p>
            <a:pPr lvl="0"/>
            <a:r>
              <a:rPr lang="en-GB" dirty="0" smtClean="0"/>
              <a:t>2.	Discuss </a:t>
            </a:r>
            <a:r>
              <a:rPr lang="en-GB" dirty="0"/>
              <a:t>the concepts of high-tech, mid-tech, and </a:t>
            </a:r>
            <a:r>
              <a:rPr lang="en-GB" dirty="0" smtClean="0"/>
              <a:t>	low-tech </a:t>
            </a:r>
            <a:r>
              <a:rPr lang="en-GB" dirty="0"/>
              <a:t>products.</a:t>
            </a:r>
          </a:p>
          <a:p>
            <a:pPr lvl="0"/>
            <a:r>
              <a:rPr lang="en-GB" dirty="0" smtClean="0"/>
              <a:t>3.	Examine </a:t>
            </a:r>
            <a:r>
              <a:rPr lang="en-GB" dirty="0"/>
              <a:t>how products may be conceived.</a:t>
            </a:r>
          </a:p>
          <a:p>
            <a:pPr lvl="0"/>
            <a:r>
              <a:rPr lang="en-GB" dirty="0" smtClean="0"/>
              <a:t>4.	Describe </a:t>
            </a:r>
            <a:r>
              <a:rPr lang="en-GB" dirty="0"/>
              <a:t>the model for product development as it </a:t>
            </a:r>
            <a:r>
              <a:rPr lang="en-GB" dirty="0" smtClean="0"/>
              <a:t>	relates </a:t>
            </a:r>
            <a:r>
              <a:rPr lang="en-GB" dirty="0"/>
              <a:t>to the general paradigm for creativity.</a:t>
            </a:r>
          </a:p>
          <a:p>
            <a:r>
              <a:rPr lang="en-GB" dirty="0"/>
              <a:t>5.	Explain why "diffusion" is a critical dimension of </a:t>
            </a:r>
            <a:r>
              <a:rPr lang="en-GB" dirty="0" smtClean="0"/>
              <a:t>	product </a:t>
            </a:r>
            <a:r>
              <a:rPr lang="en-GB" dirty="0"/>
              <a:t>development.</a:t>
            </a:r>
          </a:p>
          <a:p>
            <a:endParaRPr lang="en-GB" dirty="0"/>
          </a:p>
        </p:txBody>
      </p:sp>
      <p:sp>
        <p:nvSpPr>
          <p:cNvPr id="4" name="Slide Number Placeholder 3"/>
          <p:cNvSpPr>
            <a:spLocks noGrp="1"/>
          </p:cNvSpPr>
          <p:nvPr>
            <p:ph type="sldNum" sz="quarter" idx="12"/>
          </p:nvPr>
        </p:nvSpPr>
        <p:spPr/>
        <p:txBody>
          <a:bodyPr/>
          <a:lstStyle/>
          <a:p>
            <a:fld id="{16BF4B21-383E-4FDC-ABE0-7EFB2B39A5F9}" type="slidenum">
              <a:rPr lang="en-GB" smtClean="0"/>
              <a:pPr/>
              <a:t>2</a:t>
            </a:fld>
            <a:endParaRPr lang="en-GB"/>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08720"/>
          </a:xfrm>
        </p:spPr>
        <p:txBody>
          <a:bodyPr/>
          <a:lstStyle/>
          <a:p>
            <a:r>
              <a:rPr lang="en-GB" dirty="0" smtClean="0"/>
              <a:t>INTRODUCTION</a:t>
            </a:r>
            <a:endParaRPr lang="en-GB" dirty="0"/>
          </a:p>
        </p:txBody>
      </p:sp>
      <p:sp>
        <p:nvSpPr>
          <p:cNvPr id="3" name="Content Placeholder 2"/>
          <p:cNvSpPr>
            <a:spLocks noGrp="1"/>
          </p:cNvSpPr>
          <p:nvPr>
            <p:ph idx="1"/>
          </p:nvPr>
        </p:nvSpPr>
        <p:spPr>
          <a:xfrm>
            <a:off x="457200" y="1052736"/>
            <a:ext cx="8229600" cy="5805264"/>
          </a:xfrm>
        </p:spPr>
        <p:txBody>
          <a:bodyPr>
            <a:normAutofit fontScale="85000" lnSpcReduction="10000"/>
          </a:bodyPr>
          <a:lstStyle/>
          <a:p>
            <a:r>
              <a:rPr lang="en-GB" dirty="0"/>
              <a:t>Historically, entrepreneurship has been associated with new products and extraordinary inventors. </a:t>
            </a:r>
            <a:endParaRPr lang="en-GB" dirty="0" smtClean="0"/>
          </a:p>
          <a:p>
            <a:r>
              <a:rPr lang="en-GB" dirty="0" smtClean="0"/>
              <a:t>Most </a:t>
            </a:r>
            <a:r>
              <a:rPr lang="en-GB" dirty="0"/>
              <a:t>students, however, think less about new </a:t>
            </a:r>
            <a:r>
              <a:rPr lang="en-GB" i="1" dirty="0"/>
              <a:t>products </a:t>
            </a:r>
            <a:r>
              <a:rPr lang="en-GB" dirty="0"/>
              <a:t>and more, about new </a:t>
            </a:r>
            <a:r>
              <a:rPr lang="en-GB" i="1" dirty="0"/>
              <a:t>services, </a:t>
            </a:r>
            <a:r>
              <a:rPr lang="en-GB" dirty="0"/>
              <a:t>and business education is preoccupied with service careers. Consequently, little attention is given to product concepts or opportunities in manufacturing. </a:t>
            </a:r>
            <a:endParaRPr lang="en-GB" dirty="0" smtClean="0"/>
          </a:p>
          <a:p>
            <a:r>
              <a:rPr lang="en-GB" dirty="0" smtClean="0"/>
              <a:t>This </a:t>
            </a:r>
            <a:r>
              <a:rPr lang="en-GB" dirty="0"/>
              <a:t>lack of attention is unfortunate because even in our so-called post</a:t>
            </a:r>
            <a:r>
              <a:rPr lang="en-GB" i="1" dirty="0"/>
              <a:t>-industrial economy, </a:t>
            </a:r>
            <a:r>
              <a:rPr lang="en-GB" dirty="0"/>
              <a:t>it is a strong industrial sector that drives </a:t>
            </a:r>
            <a:r>
              <a:rPr lang="en-GB" dirty="0" smtClean="0"/>
              <a:t>a </a:t>
            </a:r>
            <a:r>
              <a:rPr lang="en-GB" dirty="0"/>
              <a:t>nation forward. </a:t>
            </a:r>
            <a:endParaRPr lang="en-GB" dirty="0" smtClean="0"/>
          </a:p>
          <a:p>
            <a:r>
              <a:rPr lang="en-GB" dirty="0" smtClean="0"/>
              <a:t>In </a:t>
            </a:r>
            <a:r>
              <a:rPr lang="en-GB" dirty="0"/>
              <a:t>this section, the argument is presented for manufacturing as the cornerstone for technological innovation and significant entrepreneurial activity.</a:t>
            </a:r>
          </a:p>
          <a:p>
            <a:endParaRPr lang="en-GB"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3875760" y="5590080"/>
              <a:ext cx="1562760" cy="89640"/>
            </p14:xfrm>
          </p:contentPart>
        </mc:Choice>
        <mc:Fallback xmlns="">
          <p:pic>
            <p:nvPicPr>
              <p:cNvPr id="4" name="Ink 3"/>
              <p:cNvPicPr/>
              <p:nvPr/>
            </p:nvPicPr>
            <p:blipFill>
              <a:blip r:embed="rId3"/>
              <a:stretch>
                <a:fillRect/>
              </a:stretch>
            </p:blipFill>
            <p:spPr>
              <a:xfrm>
                <a:off x="3859560" y="5526360"/>
                <a:ext cx="159516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p14:cNvContentPartPr/>
              <p14:nvPr/>
            </p14:nvContentPartPr>
            <p14:xfrm>
              <a:off x="2170080" y="5616720"/>
              <a:ext cx="812880" cy="18360"/>
            </p14:xfrm>
          </p:contentPart>
        </mc:Choice>
        <mc:Fallback xmlns="">
          <p:pic>
            <p:nvPicPr>
              <p:cNvPr id="5" name="Ink 4"/>
              <p:cNvPicPr/>
              <p:nvPr/>
            </p:nvPicPr>
            <p:blipFill>
              <a:blip r:embed="rId5"/>
              <a:stretch>
                <a:fillRect/>
              </a:stretch>
            </p:blipFill>
            <p:spPr>
              <a:xfrm>
                <a:off x="2154240" y="5553360"/>
                <a:ext cx="84456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p14:cNvContentPartPr/>
              <p14:nvPr/>
            </p14:nvContentPartPr>
            <p14:xfrm>
              <a:off x="1276920" y="5616720"/>
              <a:ext cx="893520" cy="360"/>
            </p14:xfrm>
          </p:contentPart>
        </mc:Choice>
        <mc:Fallback xmlns="">
          <p:pic>
            <p:nvPicPr>
              <p:cNvPr id="6" name="Ink 5"/>
              <p:cNvPicPr/>
              <p:nvPr/>
            </p:nvPicPr>
            <p:blipFill>
              <a:blip r:embed="rId7"/>
              <a:stretch>
                <a:fillRect/>
              </a:stretch>
            </p:blipFill>
            <p:spPr>
              <a:xfrm>
                <a:off x="1261080" y="5553360"/>
                <a:ext cx="92520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p14:cNvContentPartPr/>
              <p14:nvPr/>
            </p14:nvContentPartPr>
            <p14:xfrm>
              <a:off x="937800" y="5616720"/>
              <a:ext cx="339480" cy="360"/>
            </p14:xfrm>
          </p:contentPart>
        </mc:Choice>
        <mc:Fallback xmlns="">
          <p:pic>
            <p:nvPicPr>
              <p:cNvPr id="7" name="Ink 6"/>
              <p:cNvPicPr/>
              <p:nvPr/>
            </p:nvPicPr>
            <p:blipFill>
              <a:blip r:embed="rId9"/>
              <a:stretch>
                <a:fillRect/>
              </a:stretch>
            </p:blipFill>
            <p:spPr>
              <a:xfrm>
                <a:off x="921960" y="5553360"/>
                <a:ext cx="37152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p14:cNvContentPartPr/>
              <p14:nvPr/>
            </p14:nvContentPartPr>
            <p14:xfrm>
              <a:off x="4831200" y="5581080"/>
              <a:ext cx="759240" cy="9360"/>
            </p14:xfrm>
          </p:contentPart>
        </mc:Choice>
        <mc:Fallback xmlns="">
          <p:pic>
            <p:nvPicPr>
              <p:cNvPr id="8" name="Ink 7"/>
              <p:cNvPicPr/>
              <p:nvPr/>
            </p:nvPicPr>
            <p:blipFill>
              <a:blip r:embed="rId11"/>
              <a:stretch>
                <a:fillRect/>
              </a:stretch>
            </p:blipFill>
            <p:spPr>
              <a:xfrm>
                <a:off x="4815360" y="5517720"/>
                <a:ext cx="79092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p14:cNvContentPartPr/>
              <p14:nvPr/>
            </p14:nvContentPartPr>
            <p14:xfrm>
              <a:off x="3965040" y="5590080"/>
              <a:ext cx="866520" cy="18000"/>
            </p14:xfrm>
          </p:contentPart>
        </mc:Choice>
        <mc:Fallback xmlns="">
          <p:pic>
            <p:nvPicPr>
              <p:cNvPr id="9" name="Ink 8"/>
              <p:cNvPicPr/>
              <p:nvPr/>
            </p:nvPicPr>
            <p:blipFill>
              <a:blip r:embed="rId13"/>
              <a:stretch>
                <a:fillRect/>
              </a:stretch>
            </p:blipFill>
            <p:spPr>
              <a:xfrm>
                <a:off x="3949200" y="5526360"/>
                <a:ext cx="89820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p14:cNvContentPartPr/>
              <p14:nvPr/>
            </p14:nvContentPartPr>
            <p14:xfrm>
              <a:off x="6152760" y="5590080"/>
              <a:ext cx="669960" cy="9360"/>
            </p14:xfrm>
          </p:contentPart>
        </mc:Choice>
        <mc:Fallback xmlns="">
          <p:pic>
            <p:nvPicPr>
              <p:cNvPr id="10" name="Ink 9"/>
              <p:cNvPicPr/>
              <p:nvPr/>
            </p:nvPicPr>
            <p:blipFill>
              <a:blip r:embed="rId15"/>
              <a:stretch>
                <a:fillRect/>
              </a:stretch>
            </p:blipFill>
            <p:spPr>
              <a:xfrm>
                <a:off x="6136920" y="5526360"/>
                <a:ext cx="70164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p14:cNvContentPartPr/>
              <p14:nvPr/>
            </p14:nvContentPartPr>
            <p14:xfrm>
              <a:off x="6822360" y="5563080"/>
              <a:ext cx="1161360" cy="27360"/>
            </p14:xfrm>
          </p:contentPart>
        </mc:Choice>
        <mc:Fallback xmlns="">
          <p:pic>
            <p:nvPicPr>
              <p:cNvPr id="11" name="Ink 10"/>
              <p:cNvPicPr/>
              <p:nvPr/>
            </p:nvPicPr>
            <p:blipFill>
              <a:blip r:embed="rId17"/>
              <a:stretch>
                <a:fillRect/>
              </a:stretch>
            </p:blipFill>
            <p:spPr>
              <a:xfrm>
                <a:off x="6806520" y="5499720"/>
                <a:ext cx="119304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p14:cNvContentPartPr/>
              <p14:nvPr/>
            </p14:nvContentPartPr>
            <p14:xfrm>
              <a:off x="902160" y="5965200"/>
              <a:ext cx="1464840" cy="18000"/>
            </p14:xfrm>
          </p:contentPart>
        </mc:Choice>
        <mc:Fallback xmlns="">
          <p:pic>
            <p:nvPicPr>
              <p:cNvPr id="12" name="Ink 11"/>
              <p:cNvPicPr/>
              <p:nvPr/>
            </p:nvPicPr>
            <p:blipFill>
              <a:blip r:embed="rId19"/>
              <a:stretch>
                <a:fillRect/>
              </a:stretch>
            </p:blipFill>
            <p:spPr>
              <a:xfrm>
                <a:off x="886320" y="5901480"/>
                <a:ext cx="1496520" cy="145440"/>
              </a:xfrm>
              <a:prstGeom prst="rect">
                <a:avLst/>
              </a:prstGeom>
            </p:spPr>
          </p:pic>
        </mc:Fallback>
      </mc:AlternateContent>
      <p:sp>
        <p:nvSpPr>
          <p:cNvPr id="13" name="Slide Number Placeholder 12"/>
          <p:cNvSpPr>
            <a:spLocks noGrp="1"/>
          </p:cNvSpPr>
          <p:nvPr>
            <p:ph type="sldNum" sz="quarter" idx="12"/>
          </p:nvPr>
        </p:nvSpPr>
        <p:spPr/>
        <p:txBody>
          <a:bodyPr/>
          <a:lstStyle/>
          <a:p>
            <a:fld id="{16BF4B21-383E-4FDC-ABE0-7EFB2B39A5F9}" type="slidenum">
              <a:rPr lang="en-GB" smtClean="0"/>
              <a:pPr/>
              <a:t>3</a:t>
            </a:fld>
            <a:endParaRPr lang="en-GB"/>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417638"/>
          </a:xfrm>
        </p:spPr>
        <p:txBody>
          <a:bodyPr>
            <a:normAutofit fontScale="90000"/>
          </a:bodyPr>
          <a:lstStyle/>
          <a:p>
            <a:r>
              <a:rPr lang="en-GB" sz="3600" i="1" dirty="0" smtClean="0"/>
              <a:t/>
            </a:r>
            <a:br>
              <a:rPr lang="en-GB" sz="3600" i="1" dirty="0" smtClean="0"/>
            </a:br>
            <a:r>
              <a:rPr lang="en-GB" sz="3600" i="1" dirty="0" smtClean="0"/>
              <a:t>Opportunities in new products and processes, and why manufacturing is important in a free-market economy.</a:t>
            </a:r>
            <a:r>
              <a:rPr lang="en-GB" dirty="0" smtClean="0"/>
              <a:t/>
            </a:r>
            <a:br>
              <a:rPr lang="en-GB" dirty="0" smtClean="0"/>
            </a:br>
            <a:endParaRPr lang="en-GB" dirty="0"/>
          </a:p>
        </p:txBody>
      </p:sp>
      <p:sp>
        <p:nvSpPr>
          <p:cNvPr id="3" name="Content Placeholder 2"/>
          <p:cNvSpPr>
            <a:spLocks noGrp="1"/>
          </p:cNvSpPr>
          <p:nvPr>
            <p:ph idx="1"/>
          </p:nvPr>
        </p:nvSpPr>
        <p:spPr>
          <a:xfrm>
            <a:off x="0" y="1412776"/>
            <a:ext cx="9144000" cy="5445224"/>
          </a:xfrm>
        </p:spPr>
        <p:txBody>
          <a:bodyPr>
            <a:normAutofit fontScale="92500" lnSpcReduction="20000"/>
          </a:bodyPr>
          <a:lstStyle/>
          <a:p>
            <a:r>
              <a:rPr lang="en-GB" dirty="0" smtClean="0"/>
              <a:t>Most </a:t>
            </a:r>
            <a:r>
              <a:rPr lang="en-GB" dirty="0"/>
              <a:t>opportunities for both products and processes arise from changes that occur in society. </a:t>
            </a:r>
            <a:endParaRPr lang="en-GB" dirty="0" smtClean="0"/>
          </a:p>
          <a:p>
            <a:r>
              <a:rPr lang="en-GB" dirty="0" smtClean="0"/>
              <a:t>The </a:t>
            </a:r>
            <a:r>
              <a:rPr lang="en-GB" dirty="0"/>
              <a:t>United States has not become less reliant on manufacturing; to the contrary, new product development coupled</a:t>
            </a:r>
            <a:r>
              <a:rPr lang="en-GB" b="1" dirty="0"/>
              <a:t> </a:t>
            </a:r>
            <a:r>
              <a:rPr lang="en-GB" dirty="0"/>
              <a:t>with extraordinary new technologies </a:t>
            </a:r>
            <a:r>
              <a:rPr lang="en-GB" dirty="0" smtClean="0"/>
              <a:t>has fostered </a:t>
            </a:r>
            <a:r>
              <a:rPr lang="en-GB" dirty="0"/>
              <a:t>an era of even more rapid infusion of manufacturing. However, the number of people involved in this sector is declining as we quickly leave an age of labour-intensive manufacturing and enter an age in which machines do the work. </a:t>
            </a:r>
            <a:endParaRPr lang="en-GB" dirty="0" smtClean="0"/>
          </a:p>
          <a:p>
            <a:r>
              <a:rPr lang="en-GB" dirty="0" smtClean="0"/>
              <a:t>Perhaps </a:t>
            </a:r>
            <a:r>
              <a:rPr lang="en-GB" dirty="0"/>
              <a:t>the great challenge of the 21st century is to develop technologically sophisticated systems of work, but to manufacture that technology domestically.</a:t>
            </a:r>
          </a:p>
          <a:p>
            <a:endParaRPr lang="en-GB"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375120" y="5429160"/>
              <a:ext cx="2554200" cy="152280"/>
            </p14:xfrm>
          </p:contentPart>
        </mc:Choice>
        <mc:Fallback xmlns="">
          <p:pic>
            <p:nvPicPr>
              <p:cNvPr id="4" name="Ink 3"/>
              <p:cNvPicPr/>
              <p:nvPr/>
            </p:nvPicPr>
            <p:blipFill>
              <a:blip r:embed="rId3"/>
              <a:stretch>
                <a:fillRect/>
              </a:stretch>
            </p:blipFill>
            <p:spPr>
              <a:xfrm>
                <a:off x="359280" y="5365800"/>
                <a:ext cx="258588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p14:cNvContentPartPr/>
              <p14:nvPr/>
            </p14:nvContentPartPr>
            <p14:xfrm>
              <a:off x="5929560" y="5536440"/>
              <a:ext cx="2152440" cy="134280"/>
            </p14:xfrm>
          </p:contentPart>
        </mc:Choice>
        <mc:Fallback xmlns="">
          <p:pic>
            <p:nvPicPr>
              <p:cNvPr id="5" name="Ink 4"/>
              <p:cNvPicPr/>
              <p:nvPr/>
            </p:nvPicPr>
            <p:blipFill>
              <a:blip r:embed="rId5"/>
              <a:stretch>
                <a:fillRect/>
              </a:stretch>
            </p:blipFill>
            <p:spPr>
              <a:xfrm>
                <a:off x="5913720" y="5473080"/>
                <a:ext cx="2184120"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p14:cNvContentPartPr/>
              <p14:nvPr/>
            </p14:nvContentPartPr>
            <p14:xfrm>
              <a:off x="1179000" y="6197040"/>
              <a:ext cx="3107880" cy="170280"/>
            </p14:xfrm>
          </p:contentPart>
        </mc:Choice>
        <mc:Fallback xmlns="">
          <p:pic>
            <p:nvPicPr>
              <p:cNvPr id="6" name="Ink 5"/>
              <p:cNvPicPr/>
              <p:nvPr/>
            </p:nvPicPr>
            <p:blipFill>
              <a:blip r:embed="rId7"/>
              <a:stretch>
                <a:fillRect/>
              </a:stretch>
            </p:blipFill>
            <p:spPr>
              <a:xfrm>
                <a:off x="1162800" y="6133680"/>
                <a:ext cx="3139920" cy="297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p14:cNvContentPartPr/>
              <p14:nvPr/>
            </p14:nvContentPartPr>
            <p14:xfrm>
              <a:off x="4286520" y="6241680"/>
              <a:ext cx="1830960" cy="36360"/>
            </p14:xfrm>
          </p:contentPart>
        </mc:Choice>
        <mc:Fallback xmlns="">
          <p:pic>
            <p:nvPicPr>
              <p:cNvPr id="7" name="Ink 6"/>
              <p:cNvPicPr/>
              <p:nvPr/>
            </p:nvPicPr>
            <p:blipFill>
              <a:blip r:embed="rId9"/>
              <a:stretch>
                <a:fillRect/>
              </a:stretch>
            </p:blipFill>
            <p:spPr>
              <a:xfrm>
                <a:off x="4270680" y="6178320"/>
                <a:ext cx="186264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p14:cNvContentPartPr/>
              <p14:nvPr/>
            </p14:nvContentPartPr>
            <p14:xfrm>
              <a:off x="6117120" y="6241680"/>
              <a:ext cx="1866600" cy="72000"/>
            </p14:xfrm>
          </p:contentPart>
        </mc:Choice>
        <mc:Fallback xmlns="">
          <p:pic>
            <p:nvPicPr>
              <p:cNvPr id="8" name="Ink 7"/>
              <p:cNvPicPr/>
              <p:nvPr/>
            </p:nvPicPr>
            <p:blipFill>
              <a:blip r:embed="rId11"/>
              <a:stretch>
                <a:fillRect/>
              </a:stretch>
            </p:blipFill>
            <p:spPr>
              <a:xfrm>
                <a:off x="6100920" y="6178320"/>
                <a:ext cx="189864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p14:cNvContentPartPr/>
              <p14:nvPr/>
            </p14:nvContentPartPr>
            <p14:xfrm>
              <a:off x="6152760" y="6170400"/>
              <a:ext cx="1812960" cy="71640"/>
            </p14:xfrm>
          </p:contentPart>
        </mc:Choice>
        <mc:Fallback xmlns="">
          <p:pic>
            <p:nvPicPr>
              <p:cNvPr id="9" name="Ink 8"/>
              <p:cNvPicPr/>
              <p:nvPr/>
            </p:nvPicPr>
            <p:blipFill>
              <a:blip r:embed="rId13"/>
              <a:stretch>
                <a:fillRect/>
              </a:stretch>
            </p:blipFill>
            <p:spPr>
              <a:xfrm>
                <a:off x="6136920" y="6107040"/>
                <a:ext cx="184464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p14:cNvContentPartPr/>
              <p14:nvPr/>
            </p14:nvContentPartPr>
            <p14:xfrm>
              <a:off x="4062960" y="6170400"/>
              <a:ext cx="2090160" cy="360"/>
            </p14:xfrm>
          </p:contentPart>
        </mc:Choice>
        <mc:Fallback xmlns="">
          <p:pic>
            <p:nvPicPr>
              <p:cNvPr id="10" name="Ink 9"/>
              <p:cNvPicPr/>
              <p:nvPr/>
            </p:nvPicPr>
            <p:blipFill>
              <a:blip r:embed="rId15"/>
              <a:stretch>
                <a:fillRect/>
              </a:stretch>
            </p:blipFill>
            <p:spPr>
              <a:xfrm>
                <a:off x="4047120" y="6107040"/>
                <a:ext cx="212184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p14:cNvContentPartPr/>
              <p14:nvPr/>
            </p14:nvContentPartPr>
            <p14:xfrm>
              <a:off x="2080800" y="6152400"/>
              <a:ext cx="1982520" cy="54000"/>
            </p14:xfrm>
          </p:contentPart>
        </mc:Choice>
        <mc:Fallback xmlns="">
          <p:pic>
            <p:nvPicPr>
              <p:cNvPr id="11" name="Ink 10"/>
              <p:cNvPicPr/>
              <p:nvPr/>
            </p:nvPicPr>
            <p:blipFill>
              <a:blip r:embed="rId17"/>
              <a:stretch>
                <a:fillRect/>
              </a:stretch>
            </p:blipFill>
            <p:spPr>
              <a:xfrm>
                <a:off x="2064960" y="6089040"/>
                <a:ext cx="2014560" cy="181080"/>
              </a:xfrm>
              <a:prstGeom prst="rect">
                <a:avLst/>
              </a:prstGeom>
            </p:spPr>
          </p:pic>
        </mc:Fallback>
      </mc:AlternateContent>
      <p:sp>
        <p:nvSpPr>
          <p:cNvPr id="12" name="Slide Number Placeholder 11"/>
          <p:cNvSpPr>
            <a:spLocks noGrp="1"/>
          </p:cNvSpPr>
          <p:nvPr>
            <p:ph type="sldNum" sz="quarter" idx="12"/>
          </p:nvPr>
        </p:nvSpPr>
        <p:spPr/>
        <p:txBody>
          <a:bodyPr/>
          <a:lstStyle/>
          <a:p>
            <a:fld id="{16BF4B21-383E-4FDC-ABE0-7EFB2B39A5F9}" type="slidenum">
              <a:rPr lang="en-GB" smtClean="0"/>
              <a:pPr/>
              <a:t>4</a:t>
            </a:fld>
            <a:endParaRPr lang="en-GB"/>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96752"/>
          </a:xfrm>
        </p:spPr>
        <p:txBody>
          <a:bodyPr>
            <a:normAutofit fontScale="90000"/>
          </a:bodyPr>
          <a:lstStyle/>
          <a:p>
            <a:r>
              <a:rPr lang="en-GB" b="1" dirty="0"/>
              <a:t>A MACRO VIEW‑MANUFACTURING </a:t>
            </a:r>
            <a:r>
              <a:rPr lang="en-GB" b="1" dirty="0" smtClean="0"/>
              <a:t>MATTERS</a:t>
            </a:r>
            <a:endParaRPr lang="en-GB" dirty="0"/>
          </a:p>
        </p:txBody>
      </p:sp>
      <p:sp>
        <p:nvSpPr>
          <p:cNvPr id="3" name="Content Placeholder 2"/>
          <p:cNvSpPr>
            <a:spLocks noGrp="1"/>
          </p:cNvSpPr>
          <p:nvPr>
            <p:ph idx="1"/>
          </p:nvPr>
        </p:nvSpPr>
        <p:spPr>
          <a:xfrm>
            <a:off x="179512" y="1124744"/>
            <a:ext cx="8964488" cy="5733256"/>
          </a:xfrm>
        </p:spPr>
        <p:txBody>
          <a:bodyPr>
            <a:normAutofit fontScale="77500" lnSpcReduction="20000"/>
          </a:bodyPr>
          <a:lstStyle/>
          <a:p>
            <a:r>
              <a:rPr lang="en-GB" dirty="0"/>
              <a:t>To better understand our current and future opportunities, it is important to recognise how important manufacturing is to a nation's wealth and power. </a:t>
            </a:r>
            <a:endParaRPr lang="en-GB" dirty="0" smtClean="0"/>
          </a:p>
          <a:p>
            <a:endParaRPr lang="en-GB" dirty="0" smtClean="0"/>
          </a:p>
          <a:p>
            <a:r>
              <a:rPr lang="en-GB" dirty="0" smtClean="0"/>
              <a:t>More </a:t>
            </a:r>
            <a:r>
              <a:rPr lang="en-GB" dirty="0"/>
              <a:t>important, it is essential to recognise that industrialised countries are not</a:t>
            </a:r>
            <a:r>
              <a:rPr lang="en-GB" i="1" dirty="0"/>
              <a:t> </a:t>
            </a:r>
            <a:r>
              <a:rPr lang="en-GB" dirty="0"/>
              <a:t>shifting out of manufacturing into services. The so-called post-industrial economy is a myth. </a:t>
            </a:r>
            <a:endParaRPr lang="en-GB" dirty="0" smtClean="0"/>
          </a:p>
          <a:p>
            <a:endParaRPr lang="en-GB" dirty="0" smtClean="0"/>
          </a:p>
          <a:p>
            <a:r>
              <a:rPr lang="en-GB" dirty="0" smtClean="0"/>
              <a:t>Evidence </a:t>
            </a:r>
            <a:r>
              <a:rPr lang="en-GB" dirty="0"/>
              <a:t>for this conclusion is found in major research studies encompassing economic activity from World War II to the present day, in which contributions to gross national product by manufacturing have remained fairly constant between 47 and 53 percent of total goods and services in the United States. </a:t>
            </a:r>
            <a:endParaRPr lang="en-GB" dirty="0" smtClean="0"/>
          </a:p>
          <a:p>
            <a:endParaRPr lang="en-GB" dirty="0" smtClean="0"/>
          </a:p>
          <a:p>
            <a:r>
              <a:rPr lang="en-GB" dirty="0" smtClean="0"/>
              <a:t>In </a:t>
            </a:r>
            <a:r>
              <a:rPr lang="en-GB" dirty="0"/>
              <a:t>Ghana, contributions to gross national product by manufacturing is about 15% and is seen be declining . There is a lot of room for improvement. Let us use the U.S. as a case study</a:t>
            </a:r>
            <a:r>
              <a:rPr lang="en-GB" dirty="0" smtClean="0"/>
              <a:t>.</a:t>
            </a:r>
            <a:endParaRPr lang="en-GB"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5340240" y="4857840"/>
              <a:ext cx="3357720" cy="98640"/>
            </p14:xfrm>
          </p:contentPart>
        </mc:Choice>
        <mc:Fallback xmlns="">
          <p:pic>
            <p:nvPicPr>
              <p:cNvPr id="4" name="Ink 3"/>
              <p:cNvPicPr/>
              <p:nvPr/>
            </p:nvPicPr>
            <p:blipFill>
              <a:blip r:embed="rId3"/>
              <a:stretch>
                <a:fillRect/>
              </a:stretch>
            </p:blipFill>
            <p:spPr>
              <a:xfrm>
                <a:off x="5324040" y="4794120"/>
                <a:ext cx="338976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p14:cNvContentPartPr/>
              <p14:nvPr/>
            </p14:nvContentPartPr>
            <p14:xfrm>
              <a:off x="2822040" y="2678760"/>
              <a:ext cx="2277360" cy="18360"/>
            </p14:xfrm>
          </p:contentPart>
        </mc:Choice>
        <mc:Fallback xmlns="">
          <p:pic>
            <p:nvPicPr>
              <p:cNvPr id="5" name="Ink 4"/>
              <p:cNvPicPr/>
              <p:nvPr/>
            </p:nvPicPr>
            <p:blipFill>
              <a:blip r:embed="rId5"/>
              <a:stretch>
                <a:fillRect/>
              </a:stretch>
            </p:blipFill>
            <p:spPr>
              <a:xfrm>
                <a:off x="2806200" y="2615400"/>
                <a:ext cx="230904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p14:cNvContentPartPr/>
              <p14:nvPr/>
            </p14:nvContentPartPr>
            <p14:xfrm>
              <a:off x="5099040" y="2678760"/>
              <a:ext cx="3072240" cy="45000"/>
            </p14:xfrm>
          </p:contentPart>
        </mc:Choice>
        <mc:Fallback xmlns="">
          <p:pic>
            <p:nvPicPr>
              <p:cNvPr id="6" name="Ink 5"/>
              <p:cNvPicPr/>
              <p:nvPr/>
            </p:nvPicPr>
            <p:blipFill>
              <a:blip r:embed="rId7"/>
              <a:stretch>
                <a:fillRect/>
              </a:stretch>
            </p:blipFill>
            <p:spPr>
              <a:xfrm>
                <a:off x="5083200" y="2615400"/>
                <a:ext cx="310392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p14:cNvContentPartPr/>
              <p14:nvPr/>
            </p14:nvContentPartPr>
            <p14:xfrm>
              <a:off x="669960" y="2982600"/>
              <a:ext cx="1973880" cy="54000"/>
            </p14:xfrm>
          </p:contentPart>
        </mc:Choice>
        <mc:Fallback xmlns="">
          <p:pic>
            <p:nvPicPr>
              <p:cNvPr id="7" name="Ink 6"/>
              <p:cNvPicPr/>
              <p:nvPr/>
            </p:nvPicPr>
            <p:blipFill>
              <a:blip r:embed="rId9"/>
              <a:stretch>
                <a:fillRect/>
              </a:stretch>
            </p:blipFill>
            <p:spPr>
              <a:xfrm>
                <a:off x="654120" y="2918880"/>
                <a:ext cx="200556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p14:cNvContentPartPr/>
              <p14:nvPr/>
            </p14:nvContentPartPr>
            <p14:xfrm>
              <a:off x="2955960" y="2955600"/>
              <a:ext cx="4375800" cy="196920"/>
            </p14:xfrm>
          </p:contentPart>
        </mc:Choice>
        <mc:Fallback xmlns="">
          <p:pic>
            <p:nvPicPr>
              <p:cNvPr id="8" name="Ink 7"/>
              <p:cNvPicPr/>
              <p:nvPr/>
            </p:nvPicPr>
            <p:blipFill>
              <a:blip r:embed="rId11"/>
              <a:stretch>
                <a:fillRect/>
              </a:stretch>
            </p:blipFill>
            <p:spPr>
              <a:xfrm>
                <a:off x="2940120" y="2892240"/>
                <a:ext cx="4407480" cy="323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p14:cNvContentPartPr/>
              <p14:nvPr/>
            </p14:nvContentPartPr>
            <p14:xfrm>
              <a:off x="3741840" y="3321720"/>
              <a:ext cx="2331000" cy="45000"/>
            </p14:xfrm>
          </p:contentPart>
        </mc:Choice>
        <mc:Fallback xmlns="">
          <p:pic>
            <p:nvPicPr>
              <p:cNvPr id="9" name="Ink 8"/>
              <p:cNvPicPr/>
              <p:nvPr/>
            </p:nvPicPr>
            <p:blipFill>
              <a:blip r:embed="rId13"/>
              <a:stretch>
                <a:fillRect/>
              </a:stretch>
            </p:blipFill>
            <p:spPr>
              <a:xfrm>
                <a:off x="3725640" y="3258360"/>
                <a:ext cx="236304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p14:cNvContentPartPr/>
              <p14:nvPr/>
            </p14:nvContentPartPr>
            <p14:xfrm>
              <a:off x="2607480" y="6295320"/>
              <a:ext cx="2009520" cy="9360"/>
            </p14:xfrm>
          </p:contentPart>
        </mc:Choice>
        <mc:Fallback xmlns="">
          <p:pic>
            <p:nvPicPr>
              <p:cNvPr id="10" name="Ink 9"/>
              <p:cNvPicPr/>
              <p:nvPr/>
            </p:nvPicPr>
            <p:blipFill>
              <a:blip r:embed="rId15"/>
              <a:stretch>
                <a:fillRect/>
              </a:stretch>
            </p:blipFill>
            <p:spPr>
              <a:xfrm>
                <a:off x="2591640" y="6231960"/>
                <a:ext cx="204120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p14:cNvContentPartPr/>
              <p14:nvPr/>
            </p14:nvContentPartPr>
            <p14:xfrm>
              <a:off x="4616640" y="6304320"/>
              <a:ext cx="2152440" cy="72000"/>
            </p14:xfrm>
          </p:contentPart>
        </mc:Choice>
        <mc:Fallback xmlns="">
          <p:pic>
            <p:nvPicPr>
              <p:cNvPr id="11" name="Ink 10"/>
              <p:cNvPicPr/>
              <p:nvPr/>
            </p:nvPicPr>
            <p:blipFill>
              <a:blip r:embed="rId17"/>
              <a:stretch>
                <a:fillRect/>
              </a:stretch>
            </p:blipFill>
            <p:spPr>
              <a:xfrm>
                <a:off x="4600800" y="6240960"/>
                <a:ext cx="2184120" cy="198720"/>
              </a:xfrm>
              <a:prstGeom prst="rect">
                <a:avLst/>
              </a:prstGeom>
            </p:spPr>
          </p:pic>
        </mc:Fallback>
      </mc:AlternateContent>
      <p:sp>
        <p:nvSpPr>
          <p:cNvPr id="12" name="Slide Number Placeholder 11"/>
          <p:cNvSpPr>
            <a:spLocks noGrp="1"/>
          </p:cNvSpPr>
          <p:nvPr>
            <p:ph type="sldNum" sz="quarter" idx="12"/>
          </p:nvPr>
        </p:nvSpPr>
        <p:spPr/>
        <p:txBody>
          <a:bodyPr/>
          <a:lstStyle/>
          <a:p>
            <a:fld id="{16BF4B21-383E-4FDC-ABE0-7EFB2B39A5F9}" type="slidenum">
              <a:rPr lang="en-GB" smtClean="0"/>
              <a:pPr/>
              <a:t>5</a:t>
            </a:fld>
            <a:endParaRPr lang="en-GB"/>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52736"/>
          </a:xfrm>
        </p:spPr>
        <p:txBody>
          <a:bodyPr>
            <a:normAutofit fontScale="90000"/>
          </a:bodyPr>
          <a:lstStyle/>
          <a:p>
            <a:r>
              <a:rPr lang="en-GB" b="1" dirty="0" smtClean="0"/>
              <a:t>A MACRO VIEW‑MANUFACTURING MATTERS</a:t>
            </a:r>
            <a:endParaRPr lang="en-GB" dirty="0"/>
          </a:p>
        </p:txBody>
      </p:sp>
      <p:sp>
        <p:nvSpPr>
          <p:cNvPr id="3" name="Content Placeholder 2"/>
          <p:cNvSpPr>
            <a:spLocks noGrp="1"/>
          </p:cNvSpPr>
          <p:nvPr>
            <p:ph idx="1"/>
          </p:nvPr>
        </p:nvSpPr>
        <p:spPr>
          <a:xfrm>
            <a:off x="0" y="1052736"/>
            <a:ext cx="9144000" cy="5805264"/>
          </a:xfrm>
        </p:spPr>
        <p:txBody>
          <a:bodyPr>
            <a:normAutofit fontScale="25000" lnSpcReduction="20000"/>
          </a:bodyPr>
          <a:lstStyle/>
          <a:p>
            <a:r>
              <a:rPr lang="en-GB" sz="9600" dirty="0"/>
              <a:t>Unfortunately, many of these studies have been misinterpreted (or ignored), and a popular image has emerged that manufacturing is in a serious decline. </a:t>
            </a:r>
            <a:endParaRPr lang="en-GB" sz="9600" dirty="0" smtClean="0"/>
          </a:p>
          <a:p>
            <a:endParaRPr lang="en-GB" sz="9600" dirty="0" smtClean="0"/>
          </a:p>
          <a:p>
            <a:r>
              <a:rPr lang="en-GB" sz="9600" dirty="0" smtClean="0"/>
              <a:t>Reports </a:t>
            </a:r>
            <a:r>
              <a:rPr lang="en-GB" sz="9600" dirty="0"/>
              <a:t>in the popular press indicate that today less than 18 percent of direct employment is in manufacturing and that only 24 percent of GNP is created through goods-producing industries. The same reports compare current trends in manufacturing with agricultural trends 50 years ago in the U.S., and both are labelled shifts in the economy.</a:t>
            </a:r>
          </a:p>
          <a:p>
            <a:pPr>
              <a:buNone/>
            </a:pPr>
            <a:r>
              <a:rPr lang="en-GB" sz="9600" dirty="0"/>
              <a:t> </a:t>
            </a:r>
          </a:p>
          <a:p>
            <a:r>
              <a:rPr lang="en-GB" sz="9600" dirty="0"/>
              <a:t>Specifically, agriculture currently employs only 3 percent of the work force, whereas in 1946 the figure was about 14 percent, and in 1920, about 21 percent. Using the same criteria, manufacturing employed 37 percent of the work force in 1953, currently about half that number, and fewer workers will be employed in manufacturing in the future.</a:t>
            </a:r>
          </a:p>
          <a:p>
            <a:pPr>
              <a:buNone/>
            </a:pPr>
            <a:endParaRPr lang="en-GB" sz="8600" dirty="0"/>
          </a:p>
          <a:p>
            <a:endParaRPr lang="en-GB"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6393960" y="2491560"/>
              <a:ext cx="2062800" cy="107280"/>
            </p14:xfrm>
          </p:contentPart>
        </mc:Choice>
        <mc:Fallback xmlns="">
          <p:pic>
            <p:nvPicPr>
              <p:cNvPr id="4" name="Ink 3"/>
              <p:cNvPicPr/>
              <p:nvPr/>
            </p:nvPicPr>
            <p:blipFill>
              <a:blip r:embed="rId3"/>
              <a:stretch>
                <a:fillRect/>
              </a:stretch>
            </p:blipFill>
            <p:spPr>
              <a:xfrm>
                <a:off x="6377760" y="2427840"/>
                <a:ext cx="209484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p14:cNvContentPartPr/>
              <p14:nvPr/>
            </p14:nvContentPartPr>
            <p14:xfrm>
              <a:off x="8456400" y="2598480"/>
              <a:ext cx="304200" cy="360"/>
            </p14:xfrm>
          </p:contentPart>
        </mc:Choice>
        <mc:Fallback xmlns="">
          <p:pic>
            <p:nvPicPr>
              <p:cNvPr id="5" name="Ink 4"/>
              <p:cNvPicPr/>
              <p:nvPr/>
            </p:nvPicPr>
            <p:blipFill>
              <a:blip r:embed="rId5"/>
              <a:stretch>
                <a:fillRect/>
              </a:stretch>
            </p:blipFill>
            <p:spPr>
              <a:xfrm>
                <a:off x="8440560" y="2535120"/>
                <a:ext cx="33588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p14:cNvContentPartPr/>
              <p14:nvPr/>
            </p14:nvContentPartPr>
            <p14:xfrm>
              <a:off x="7268760" y="2777040"/>
              <a:ext cx="1081080" cy="36000"/>
            </p14:xfrm>
          </p:contentPart>
        </mc:Choice>
        <mc:Fallback xmlns="">
          <p:pic>
            <p:nvPicPr>
              <p:cNvPr id="6" name="Ink 5"/>
              <p:cNvPicPr/>
              <p:nvPr/>
            </p:nvPicPr>
            <p:blipFill>
              <a:blip r:embed="rId7"/>
              <a:stretch>
                <a:fillRect/>
              </a:stretch>
            </p:blipFill>
            <p:spPr>
              <a:xfrm>
                <a:off x="7252920" y="2713680"/>
                <a:ext cx="111276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p14:cNvContentPartPr/>
              <p14:nvPr/>
            </p14:nvContentPartPr>
            <p14:xfrm>
              <a:off x="6197400" y="4482720"/>
              <a:ext cx="1768320" cy="63000"/>
            </p14:xfrm>
          </p:contentPart>
        </mc:Choice>
        <mc:Fallback xmlns="">
          <p:pic>
            <p:nvPicPr>
              <p:cNvPr id="7" name="Ink 6"/>
              <p:cNvPicPr/>
              <p:nvPr/>
            </p:nvPicPr>
            <p:blipFill>
              <a:blip r:embed="rId9"/>
              <a:stretch>
                <a:fillRect/>
              </a:stretch>
            </p:blipFill>
            <p:spPr>
              <a:xfrm>
                <a:off x="6181560" y="4419360"/>
                <a:ext cx="180000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p14:cNvContentPartPr/>
              <p14:nvPr/>
            </p14:nvContentPartPr>
            <p14:xfrm>
              <a:off x="5920560" y="4741560"/>
              <a:ext cx="1303920" cy="18360"/>
            </p14:xfrm>
          </p:contentPart>
        </mc:Choice>
        <mc:Fallback xmlns="">
          <p:pic>
            <p:nvPicPr>
              <p:cNvPr id="8" name="Ink 7"/>
              <p:cNvPicPr/>
              <p:nvPr/>
            </p:nvPicPr>
            <p:blipFill>
              <a:blip r:embed="rId11"/>
              <a:stretch>
                <a:fillRect/>
              </a:stretch>
            </p:blipFill>
            <p:spPr>
              <a:xfrm>
                <a:off x="5904720" y="4678200"/>
                <a:ext cx="133560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p14:cNvContentPartPr/>
              <p14:nvPr/>
            </p14:nvContentPartPr>
            <p14:xfrm>
              <a:off x="2616480" y="4687920"/>
              <a:ext cx="678960" cy="27360"/>
            </p14:xfrm>
          </p:contentPart>
        </mc:Choice>
        <mc:Fallback xmlns="">
          <p:pic>
            <p:nvPicPr>
              <p:cNvPr id="9" name="Ink 8"/>
              <p:cNvPicPr/>
              <p:nvPr/>
            </p:nvPicPr>
            <p:blipFill>
              <a:blip r:embed="rId13"/>
              <a:stretch>
                <a:fillRect/>
              </a:stretch>
            </p:blipFill>
            <p:spPr>
              <a:xfrm>
                <a:off x="2600640" y="4624560"/>
                <a:ext cx="71064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p14:cNvContentPartPr/>
              <p14:nvPr/>
            </p14:nvContentPartPr>
            <p14:xfrm>
              <a:off x="1259280" y="5063040"/>
              <a:ext cx="1303920" cy="36000"/>
            </p14:xfrm>
          </p:contentPart>
        </mc:Choice>
        <mc:Fallback xmlns="">
          <p:pic>
            <p:nvPicPr>
              <p:cNvPr id="10" name="Ink 9"/>
              <p:cNvPicPr/>
              <p:nvPr/>
            </p:nvPicPr>
            <p:blipFill>
              <a:blip r:embed="rId15"/>
              <a:stretch>
                <a:fillRect/>
              </a:stretch>
            </p:blipFill>
            <p:spPr>
              <a:xfrm>
                <a:off x="1243440" y="4999680"/>
                <a:ext cx="133560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p14:cNvContentPartPr/>
              <p14:nvPr/>
            </p14:nvContentPartPr>
            <p14:xfrm>
              <a:off x="562680" y="5286240"/>
              <a:ext cx="3402720" cy="196920"/>
            </p14:xfrm>
          </p:contentPart>
        </mc:Choice>
        <mc:Fallback xmlns="">
          <p:pic>
            <p:nvPicPr>
              <p:cNvPr id="11" name="Ink 10"/>
              <p:cNvPicPr/>
              <p:nvPr/>
            </p:nvPicPr>
            <p:blipFill>
              <a:blip r:embed="rId17"/>
              <a:stretch>
                <a:fillRect/>
              </a:stretch>
            </p:blipFill>
            <p:spPr>
              <a:xfrm>
                <a:off x="546840" y="5222880"/>
                <a:ext cx="3434400" cy="3236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p14:cNvContentPartPr/>
              <p14:nvPr/>
            </p14:nvContentPartPr>
            <p14:xfrm>
              <a:off x="4393440" y="5295240"/>
              <a:ext cx="643320" cy="63000"/>
            </p14:xfrm>
          </p:contentPart>
        </mc:Choice>
        <mc:Fallback xmlns="">
          <p:pic>
            <p:nvPicPr>
              <p:cNvPr id="12" name="Ink 11"/>
              <p:cNvPicPr/>
              <p:nvPr/>
            </p:nvPicPr>
            <p:blipFill>
              <a:blip r:embed="rId19"/>
              <a:stretch>
                <a:fillRect/>
              </a:stretch>
            </p:blipFill>
            <p:spPr>
              <a:xfrm>
                <a:off x="4377600" y="5231880"/>
                <a:ext cx="675000" cy="189720"/>
              </a:xfrm>
              <a:prstGeom prst="rect">
                <a:avLst/>
              </a:prstGeom>
            </p:spPr>
          </p:pic>
        </mc:Fallback>
      </mc:AlternateContent>
      <p:sp>
        <p:nvSpPr>
          <p:cNvPr id="13" name="Slide Number Placeholder 12"/>
          <p:cNvSpPr>
            <a:spLocks noGrp="1"/>
          </p:cNvSpPr>
          <p:nvPr>
            <p:ph type="sldNum" sz="quarter" idx="12"/>
          </p:nvPr>
        </p:nvSpPr>
        <p:spPr/>
        <p:txBody>
          <a:bodyPr/>
          <a:lstStyle/>
          <a:p>
            <a:fld id="{16BF4B21-383E-4FDC-ABE0-7EFB2B39A5F9}" type="slidenum">
              <a:rPr lang="en-GB" smtClean="0"/>
              <a:pPr/>
              <a:t>6</a:t>
            </a:fld>
            <a:endParaRPr lang="en-GB"/>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268760"/>
          </a:xfrm>
        </p:spPr>
        <p:txBody>
          <a:bodyPr>
            <a:normAutofit fontScale="90000"/>
          </a:bodyPr>
          <a:lstStyle/>
          <a:p>
            <a:r>
              <a:rPr lang="en-GB" b="1" dirty="0" smtClean="0"/>
              <a:t>A MACRO VIEW‑MANUFACTURING MATTERS</a:t>
            </a:r>
            <a:endParaRPr lang="en-GB" dirty="0"/>
          </a:p>
        </p:txBody>
      </p:sp>
      <p:sp>
        <p:nvSpPr>
          <p:cNvPr id="3" name="Content Placeholder 2"/>
          <p:cNvSpPr>
            <a:spLocks noGrp="1"/>
          </p:cNvSpPr>
          <p:nvPr>
            <p:ph idx="1"/>
          </p:nvPr>
        </p:nvSpPr>
        <p:spPr>
          <a:xfrm>
            <a:off x="0" y="1196752"/>
            <a:ext cx="9144000" cy="5661248"/>
          </a:xfrm>
        </p:spPr>
        <p:txBody>
          <a:bodyPr>
            <a:normAutofit fontScale="92500" lnSpcReduction="10000"/>
          </a:bodyPr>
          <a:lstStyle/>
          <a:p>
            <a:r>
              <a:rPr lang="en-GB" dirty="0" smtClean="0"/>
              <a:t>The crucial point is that these pessimistic data are correct, but they measure only </a:t>
            </a:r>
            <a:r>
              <a:rPr lang="en-GB" i="1" dirty="0" smtClean="0"/>
              <a:t>direct labour</a:t>
            </a:r>
            <a:r>
              <a:rPr lang="en-GB" dirty="0" smtClean="0"/>
              <a:t> in manufacturing finished-goods products and </a:t>
            </a:r>
            <a:r>
              <a:rPr lang="en-GB" i="1" dirty="0" smtClean="0"/>
              <a:t>direct value added </a:t>
            </a:r>
            <a:r>
              <a:rPr lang="en-GB" dirty="0" smtClean="0"/>
              <a:t>in those finished goods. </a:t>
            </a:r>
          </a:p>
          <a:p>
            <a:r>
              <a:rPr lang="en-GB" dirty="0" smtClean="0"/>
              <a:t>The data do not account for inputs (materials, technology, energy, transportation, and services) required “upstream” by suppliers to final-goods manufacturers or “downstream” by those who distribute and sell manufactured products. </a:t>
            </a:r>
          </a:p>
          <a:p>
            <a:r>
              <a:rPr lang="en-GB" dirty="0" smtClean="0"/>
              <a:t>A similar argument can be made for agriculture, recognising that food processing, food products manufacturing, packaging, and distributing are all part of a more comprehensive picture of agriculture. </a:t>
            </a:r>
          </a:p>
          <a:p>
            <a:endParaRPr lang="en-GB"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143000" y="3134160"/>
              <a:ext cx="1956240" cy="36360"/>
            </p14:xfrm>
          </p:contentPart>
        </mc:Choice>
        <mc:Fallback xmlns="">
          <p:pic>
            <p:nvPicPr>
              <p:cNvPr id="4" name="Ink 3"/>
              <p:cNvPicPr/>
              <p:nvPr/>
            </p:nvPicPr>
            <p:blipFill>
              <a:blip r:embed="rId3"/>
              <a:stretch>
                <a:fillRect/>
              </a:stretch>
            </p:blipFill>
            <p:spPr>
              <a:xfrm>
                <a:off x="1127160" y="3070800"/>
                <a:ext cx="198792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p14:cNvContentPartPr/>
              <p14:nvPr/>
            </p14:nvContentPartPr>
            <p14:xfrm>
              <a:off x="6099120" y="3116520"/>
              <a:ext cx="1446840" cy="62640"/>
            </p14:xfrm>
          </p:contentPart>
        </mc:Choice>
        <mc:Fallback xmlns="">
          <p:pic>
            <p:nvPicPr>
              <p:cNvPr id="5" name="Ink 4"/>
              <p:cNvPicPr/>
              <p:nvPr/>
            </p:nvPicPr>
            <p:blipFill>
              <a:blip r:embed="rId5"/>
              <a:stretch>
                <a:fillRect/>
              </a:stretch>
            </p:blipFill>
            <p:spPr>
              <a:xfrm>
                <a:off x="6083280" y="3052800"/>
                <a:ext cx="147852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p14:cNvContentPartPr/>
              <p14:nvPr/>
            </p14:nvContentPartPr>
            <p14:xfrm>
              <a:off x="589320" y="3616560"/>
              <a:ext cx="1590120" cy="71640"/>
            </p14:xfrm>
          </p:contentPart>
        </mc:Choice>
        <mc:Fallback xmlns="">
          <p:pic>
            <p:nvPicPr>
              <p:cNvPr id="6" name="Ink 5"/>
              <p:cNvPicPr/>
              <p:nvPr/>
            </p:nvPicPr>
            <p:blipFill>
              <a:blip r:embed="rId7"/>
              <a:stretch>
                <a:fillRect/>
              </a:stretch>
            </p:blipFill>
            <p:spPr>
              <a:xfrm>
                <a:off x="573480" y="3553200"/>
                <a:ext cx="162180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p14:cNvContentPartPr/>
              <p14:nvPr/>
            </p14:nvContentPartPr>
            <p14:xfrm>
              <a:off x="2384280" y="3544920"/>
              <a:ext cx="866520" cy="18360"/>
            </p14:xfrm>
          </p:contentPart>
        </mc:Choice>
        <mc:Fallback xmlns="">
          <p:pic>
            <p:nvPicPr>
              <p:cNvPr id="7" name="Ink 6"/>
              <p:cNvPicPr/>
              <p:nvPr/>
            </p:nvPicPr>
            <p:blipFill>
              <a:blip r:embed="rId9"/>
              <a:stretch>
                <a:fillRect/>
              </a:stretch>
            </p:blipFill>
            <p:spPr>
              <a:xfrm>
                <a:off x="2368440" y="3481560"/>
                <a:ext cx="89820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p14:cNvContentPartPr/>
              <p14:nvPr/>
            </p14:nvContentPartPr>
            <p14:xfrm>
              <a:off x="3580920" y="3598560"/>
              <a:ext cx="1929240" cy="27360"/>
            </p14:xfrm>
          </p:contentPart>
        </mc:Choice>
        <mc:Fallback xmlns="">
          <p:pic>
            <p:nvPicPr>
              <p:cNvPr id="8" name="Ink 7"/>
              <p:cNvPicPr/>
              <p:nvPr/>
            </p:nvPicPr>
            <p:blipFill>
              <a:blip r:embed="rId11"/>
              <a:stretch>
                <a:fillRect/>
              </a:stretch>
            </p:blipFill>
            <p:spPr>
              <a:xfrm>
                <a:off x="3565080" y="3535200"/>
                <a:ext cx="196092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p14:cNvContentPartPr/>
              <p14:nvPr/>
            </p14:nvContentPartPr>
            <p14:xfrm>
              <a:off x="6527880" y="3634560"/>
              <a:ext cx="1000440" cy="107280"/>
            </p14:xfrm>
          </p:contentPart>
        </mc:Choice>
        <mc:Fallback xmlns="">
          <p:pic>
            <p:nvPicPr>
              <p:cNvPr id="9" name="Ink 8"/>
              <p:cNvPicPr/>
              <p:nvPr/>
            </p:nvPicPr>
            <p:blipFill>
              <a:blip r:embed="rId13"/>
              <a:stretch>
                <a:fillRect/>
              </a:stretch>
            </p:blipFill>
            <p:spPr>
              <a:xfrm>
                <a:off x="6511680" y="3570840"/>
                <a:ext cx="103248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p14:cNvContentPartPr/>
              <p14:nvPr/>
            </p14:nvContentPartPr>
            <p14:xfrm>
              <a:off x="2428920" y="3955680"/>
              <a:ext cx="1161360" cy="360"/>
            </p14:xfrm>
          </p:contentPart>
        </mc:Choice>
        <mc:Fallback xmlns="">
          <p:pic>
            <p:nvPicPr>
              <p:cNvPr id="10" name="Ink 9"/>
              <p:cNvPicPr/>
              <p:nvPr/>
            </p:nvPicPr>
            <p:blipFill>
              <a:blip r:embed="rId15"/>
              <a:stretch>
                <a:fillRect/>
              </a:stretch>
            </p:blipFill>
            <p:spPr>
              <a:xfrm>
                <a:off x="2413080" y="3892320"/>
                <a:ext cx="119304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p14:cNvContentPartPr/>
              <p14:nvPr/>
            </p14:nvContentPartPr>
            <p14:xfrm>
              <a:off x="3027240" y="5706000"/>
              <a:ext cx="2152440" cy="161280"/>
            </p14:xfrm>
          </p:contentPart>
        </mc:Choice>
        <mc:Fallback xmlns="">
          <p:pic>
            <p:nvPicPr>
              <p:cNvPr id="11" name="Ink 10"/>
              <p:cNvPicPr/>
              <p:nvPr/>
            </p:nvPicPr>
            <p:blipFill>
              <a:blip r:embed="rId17"/>
              <a:stretch>
                <a:fillRect/>
              </a:stretch>
            </p:blipFill>
            <p:spPr>
              <a:xfrm>
                <a:off x="3011400" y="5642640"/>
                <a:ext cx="218412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p14:cNvContentPartPr/>
              <p14:nvPr/>
            </p14:nvContentPartPr>
            <p14:xfrm>
              <a:off x="5786640" y="5759640"/>
              <a:ext cx="1152360" cy="116280"/>
            </p14:xfrm>
          </p:contentPart>
        </mc:Choice>
        <mc:Fallback xmlns="">
          <p:pic>
            <p:nvPicPr>
              <p:cNvPr id="12" name="Ink 11"/>
              <p:cNvPicPr/>
              <p:nvPr/>
            </p:nvPicPr>
            <p:blipFill>
              <a:blip r:embed="rId19"/>
              <a:stretch>
                <a:fillRect/>
              </a:stretch>
            </p:blipFill>
            <p:spPr>
              <a:xfrm>
                <a:off x="5770800" y="5696280"/>
                <a:ext cx="118404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p14:cNvContentPartPr/>
              <p14:nvPr/>
            </p14:nvContentPartPr>
            <p14:xfrm>
              <a:off x="1044720" y="6161400"/>
              <a:ext cx="1572120" cy="36000"/>
            </p14:xfrm>
          </p:contentPart>
        </mc:Choice>
        <mc:Fallback xmlns="">
          <p:pic>
            <p:nvPicPr>
              <p:cNvPr id="13" name="Ink 12"/>
              <p:cNvPicPr/>
              <p:nvPr/>
            </p:nvPicPr>
            <p:blipFill>
              <a:blip r:embed="rId21"/>
              <a:stretch>
                <a:fillRect/>
              </a:stretch>
            </p:blipFill>
            <p:spPr>
              <a:xfrm>
                <a:off x="1028880" y="6098040"/>
                <a:ext cx="160380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p14:cNvContentPartPr/>
              <p14:nvPr/>
            </p14:nvContentPartPr>
            <p14:xfrm>
              <a:off x="3027240" y="6197040"/>
              <a:ext cx="902160" cy="45000"/>
            </p14:xfrm>
          </p:contentPart>
        </mc:Choice>
        <mc:Fallback xmlns="">
          <p:pic>
            <p:nvPicPr>
              <p:cNvPr id="14" name="Ink 13"/>
              <p:cNvPicPr/>
              <p:nvPr/>
            </p:nvPicPr>
            <p:blipFill>
              <a:blip r:embed="rId23"/>
              <a:stretch>
                <a:fillRect/>
              </a:stretch>
            </p:blipFill>
            <p:spPr>
              <a:xfrm>
                <a:off x="3011400" y="6133680"/>
                <a:ext cx="93420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p14:cNvContentPartPr/>
              <p14:nvPr/>
            </p14:nvContentPartPr>
            <p14:xfrm>
              <a:off x="5474160" y="6188400"/>
              <a:ext cx="1348560" cy="27000"/>
            </p14:xfrm>
          </p:contentPart>
        </mc:Choice>
        <mc:Fallback xmlns="">
          <p:pic>
            <p:nvPicPr>
              <p:cNvPr id="15" name="Ink 14"/>
              <p:cNvPicPr/>
              <p:nvPr/>
            </p:nvPicPr>
            <p:blipFill>
              <a:blip r:embed="rId25"/>
              <a:stretch>
                <a:fillRect/>
              </a:stretch>
            </p:blipFill>
            <p:spPr>
              <a:xfrm>
                <a:off x="5458320" y="6124680"/>
                <a:ext cx="1380240" cy="154080"/>
              </a:xfrm>
              <a:prstGeom prst="rect">
                <a:avLst/>
              </a:prstGeom>
            </p:spPr>
          </p:pic>
        </mc:Fallback>
      </mc:AlternateContent>
      <p:sp>
        <p:nvSpPr>
          <p:cNvPr id="16" name="Slide Number Placeholder 15"/>
          <p:cNvSpPr>
            <a:spLocks noGrp="1"/>
          </p:cNvSpPr>
          <p:nvPr>
            <p:ph type="sldNum" sz="quarter" idx="12"/>
          </p:nvPr>
        </p:nvSpPr>
        <p:spPr/>
        <p:txBody>
          <a:bodyPr/>
          <a:lstStyle/>
          <a:p>
            <a:fld id="{16BF4B21-383E-4FDC-ABE0-7EFB2B39A5F9}" type="slidenum">
              <a:rPr lang="en-GB" smtClean="0"/>
              <a:pPr/>
              <a:t>7</a:t>
            </a:fld>
            <a:endParaRPr lang="en-GB"/>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fontScale="90000"/>
          </a:bodyPr>
          <a:lstStyle/>
          <a:p>
            <a:r>
              <a:rPr lang="en-GB" b="1" dirty="0"/>
              <a:t>Clarifying the Role of </a:t>
            </a:r>
            <a:r>
              <a:rPr lang="en-GB" b="1" dirty="0" smtClean="0"/>
              <a:t>Manufacturing</a:t>
            </a:r>
            <a:endParaRPr lang="en-GB" dirty="0"/>
          </a:p>
        </p:txBody>
      </p:sp>
      <p:sp>
        <p:nvSpPr>
          <p:cNvPr id="3" name="Content Placeholder 2"/>
          <p:cNvSpPr>
            <a:spLocks noGrp="1"/>
          </p:cNvSpPr>
          <p:nvPr>
            <p:ph idx="1"/>
          </p:nvPr>
        </p:nvSpPr>
        <p:spPr>
          <a:xfrm>
            <a:off x="179512" y="1052736"/>
            <a:ext cx="8964488" cy="5616624"/>
          </a:xfrm>
        </p:spPr>
        <p:txBody>
          <a:bodyPr>
            <a:normAutofit fontScale="92500" lnSpcReduction="20000"/>
          </a:bodyPr>
          <a:lstStyle/>
          <a:p>
            <a:r>
              <a:rPr lang="en-GB" dirty="0"/>
              <a:t>Using popular data that report only the value of finished goods added directly by manufacturing, the U.S. manufacturing sector contributes </a:t>
            </a:r>
            <a:r>
              <a:rPr lang="en-GB" i="1" dirty="0"/>
              <a:t>directly </a:t>
            </a:r>
            <a:r>
              <a:rPr lang="en-GB" dirty="0"/>
              <a:t>about 24 percent of GNP annually. This share has been fairly stable, rising slightly during the past four decades with occasional recessionary periods when steel or automotive industries have suffered setbacks</a:t>
            </a:r>
            <a:r>
              <a:rPr lang="en-GB" dirty="0" smtClean="0"/>
              <a:t>.</a:t>
            </a:r>
          </a:p>
          <a:p>
            <a:endParaRPr lang="en-GB" dirty="0" smtClean="0"/>
          </a:p>
          <a:p>
            <a:r>
              <a:rPr lang="en-GB" dirty="0" smtClean="0"/>
              <a:t> </a:t>
            </a:r>
            <a:r>
              <a:rPr lang="en-GB" dirty="0"/>
              <a:t>Add to that the </a:t>
            </a:r>
            <a:r>
              <a:rPr lang="en-GB" i="1" dirty="0"/>
              <a:t>direct </a:t>
            </a:r>
            <a:r>
              <a:rPr lang="en-GB" dirty="0"/>
              <a:t>share of 24 percent of GNP that originates in services that are inputs to manufacturing, and the </a:t>
            </a:r>
            <a:r>
              <a:rPr lang="en-GB" i="1" dirty="0"/>
              <a:t>direct </a:t>
            </a:r>
            <a:r>
              <a:rPr lang="en-GB" dirty="0"/>
              <a:t>share of 4 percent GNP that originates in transportation as an input to manufacturing, and a realistic annual contribution estimated by the manufacturing sector is, 52 percent. </a:t>
            </a:r>
          </a:p>
          <a:p>
            <a:endParaRPr lang="en-GB"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2786040" y="2455560"/>
              <a:ext cx="2107800" cy="54000"/>
            </p14:xfrm>
          </p:contentPart>
        </mc:Choice>
        <mc:Fallback xmlns="">
          <p:pic>
            <p:nvPicPr>
              <p:cNvPr id="4" name="Ink 3"/>
              <p:cNvPicPr/>
              <p:nvPr/>
            </p:nvPicPr>
            <p:blipFill>
              <a:blip r:embed="rId3"/>
              <a:stretch>
                <a:fillRect/>
              </a:stretch>
            </p:blipFill>
            <p:spPr>
              <a:xfrm>
                <a:off x="2770200" y="2392200"/>
                <a:ext cx="213948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p14:cNvContentPartPr/>
              <p14:nvPr/>
            </p14:nvContentPartPr>
            <p14:xfrm>
              <a:off x="812880" y="2473560"/>
              <a:ext cx="1973520" cy="45000"/>
            </p14:xfrm>
          </p:contentPart>
        </mc:Choice>
        <mc:Fallback xmlns="">
          <p:pic>
            <p:nvPicPr>
              <p:cNvPr id="5" name="Ink 4"/>
              <p:cNvPicPr/>
              <p:nvPr/>
            </p:nvPicPr>
            <p:blipFill>
              <a:blip r:embed="rId5"/>
              <a:stretch>
                <a:fillRect/>
              </a:stretch>
            </p:blipFill>
            <p:spPr>
              <a:xfrm>
                <a:off x="796680" y="2410200"/>
                <a:ext cx="200592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p14:cNvContentPartPr/>
              <p14:nvPr/>
            </p14:nvContentPartPr>
            <p14:xfrm>
              <a:off x="4465080" y="6179400"/>
              <a:ext cx="1794960" cy="36000"/>
            </p14:xfrm>
          </p:contentPart>
        </mc:Choice>
        <mc:Fallback xmlns="">
          <p:pic>
            <p:nvPicPr>
              <p:cNvPr id="6" name="Ink 5"/>
              <p:cNvPicPr/>
              <p:nvPr/>
            </p:nvPicPr>
            <p:blipFill>
              <a:blip r:embed="rId7"/>
              <a:stretch>
                <a:fillRect/>
              </a:stretch>
            </p:blipFill>
            <p:spPr>
              <a:xfrm>
                <a:off x="4449240" y="6115680"/>
                <a:ext cx="1827000" cy="163080"/>
              </a:xfrm>
              <a:prstGeom prst="rect">
                <a:avLst/>
              </a:prstGeom>
            </p:spPr>
          </p:pic>
        </mc:Fallback>
      </mc:AlternateContent>
      <p:sp>
        <p:nvSpPr>
          <p:cNvPr id="7" name="Slide Number Placeholder 6"/>
          <p:cNvSpPr>
            <a:spLocks noGrp="1"/>
          </p:cNvSpPr>
          <p:nvPr>
            <p:ph type="sldNum" sz="quarter" idx="12"/>
          </p:nvPr>
        </p:nvSpPr>
        <p:spPr/>
        <p:txBody>
          <a:bodyPr/>
          <a:lstStyle/>
          <a:p>
            <a:fld id="{16BF4B21-383E-4FDC-ABE0-7EFB2B39A5F9}" type="slidenum">
              <a:rPr lang="en-GB" smtClean="0"/>
              <a:pPr/>
              <a:t>8</a:t>
            </a:fld>
            <a:endParaRPr lang="en-GB"/>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fontScale="90000"/>
          </a:bodyPr>
          <a:lstStyle/>
          <a:p>
            <a:r>
              <a:rPr lang="en-GB" b="1" dirty="0" smtClean="0"/>
              <a:t>Clarifying the Role of Manufacturing</a:t>
            </a:r>
            <a:endParaRPr lang="en-GB" dirty="0"/>
          </a:p>
        </p:txBody>
      </p:sp>
      <p:sp>
        <p:nvSpPr>
          <p:cNvPr id="3" name="Content Placeholder 2"/>
          <p:cNvSpPr>
            <a:spLocks noGrp="1"/>
          </p:cNvSpPr>
          <p:nvPr>
            <p:ph idx="1"/>
          </p:nvPr>
        </p:nvSpPr>
        <p:spPr>
          <a:xfrm>
            <a:off x="457200" y="1196752"/>
            <a:ext cx="8229600" cy="5472608"/>
          </a:xfrm>
        </p:spPr>
        <p:txBody>
          <a:bodyPr>
            <a:normAutofit fontScale="85000" lnSpcReduction="10000"/>
          </a:bodyPr>
          <a:lstStyle/>
          <a:p>
            <a:r>
              <a:rPr lang="en-GB" dirty="0"/>
              <a:t>Estimates of the manufacturing sector's contribution could be much higher if energy used in production and finished goods transportation were included. </a:t>
            </a:r>
            <a:endParaRPr lang="en-GB" dirty="0" smtClean="0"/>
          </a:p>
          <a:p>
            <a:r>
              <a:rPr lang="en-GB" dirty="0" smtClean="0"/>
              <a:t>Consequently</a:t>
            </a:r>
            <a:r>
              <a:rPr lang="en-GB" dirty="0"/>
              <a:t>, we can be easily misled into thinking that the United States is headed toward a service economy. </a:t>
            </a:r>
            <a:endParaRPr lang="en-GB" dirty="0" smtClean="0"/>
          </a:p>
          <a:p>
            <a:r>
              <a:rPr lang="en-GB" dirty="0" smtClean="0"/>
              <a:t>In </a:t>
            </a:r>
            <a:r>
              <a:rPr lang="en-GB" dirty="0"/>
              <a:t>fact, if that transformation would ever occur, the United States could lose its status as a major economic power. Specifically, if American manufacturing dissolved (or moved "offshore"), those services, energy resources, and transportation systems currently separated as “non-manufacturing" would also dissolve (or move offshore).</a:t>
            </a:r>
          </a:p>
          <a:p>
            <a:endParaRPr lang="en-GB" dirty="0"/>
          </a:p>
        </p:txBody>
      </p:sp>
      <p:sp>
        <p:nvSpPr>
          <p:cNvPr id="4" name="Slide Number Placeholder 3"/>
          <p:cNvSpPr>
            <a:spLocks noGrp="1"/>
          </p:cNvSpPr>
          <p:nvPr>
            <p:ph type="sldNum" sz="quarter" idx="12"/>
          </p:nvPr>
        </p:nvSpPr>
        <p:spPr/>
        <p:txBody>
          <a:bodyPr/>
          <a:lstStyle/>
          <a:p>
            <a:fld id="{16BF4B21-383E-4FDC-ABE0-7EFB2B39A5F9}" type="slidenum">
              <a:rPr lang="en-GB" smtClean="0"/>
              <a:pPr/>
              <a:t>9</a:t>
            </a:fld>
            <a:endParaRPr lang="en-GB"/>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80728"/>
          </a:xfrm>
        </p:spPr>
        <p:txBody>
          <a:bodyPr>
            <a:normAutofit fontScale="90000"/>
          </a:bodyPr>
          <a:lstStyle/>
          <a:p>
            <a:r>
              <a:rPr lang="en-GB" b="1" dirty="0" smtClean="0"/>
              <a:t>Clarifying the Role of Manufacturing</a:t>
            </a:r>
            <a:endParaRPr lang="en-GB" dirty="0"/>
          </a:p>
        </p:txBody>
      </p:sp>
      <p:sp>
        <p:nvSpPr>
          <p:cNvPr id="3" name="Content Placeholder 2"/>
          <p:cNvSpPr>
            <a:spLocks noGrp="1"/>
          </p:cNvSpPr>
          <p:nvPr>
            <p:ph idx="1"/>
          </p:nvPr>
        </p:nvSpPr>
        <p:spPr>
          <a:xfrm>
            <a:off x="0" y="908720"/>
            <a:ext cx="9144000" cy="5949280"/>
          </a:xfrm>
        </p:spPr>
        <p:txBody>
          <a:bodyPr>
            <a:normAutofit fontScale="85000" lnSpcReduction="20000"/>
          </a:bodyPr>
          <a:lstStyle/>
          <a:p>
            <a:r>
              <a:rPr lang="en-GB" dirty="0"/>
              <a:t>Consider what might happen if General Motors no longer produced cars domestically but instead, moved all manufacturing to Taiwan or </a:t>
            </a:r>
            <a:r>
              <a:rPr lang="en-GB" dirty="0" smtClean="0"/>
              <a:t>Korea: </a:t>
            </a:r>
            <a:endParaRPr lang="en-GB" dirty="0"/>
          </a:p>
          <a:p>
            <a:pPr lvl="1"/>
            <a:r>
              <a:rPr lang="en-GB" dirty="0" smtClean="0"/>
              <a:t>Jobs </a:t>
            </a:r>
            <a:r>
              <a:rPr lang="en-GB" dirty="0"/>
              <a:t>would go overseas, </a:t>
            </a:r>
            <a:endParaRPr lang="en-GB" dirty="0" smtClean="0"/>
          </a:p>
          <a:p>
            <a:pPr lvl="1"/>
            <a:r>
              <a:rPr lang="en-GB" dirty="0" smtClean="0"/>
              <a:t>energy </a:t>
            </a:r>
            <a:r>
              <a:rPr lang="en-GB" dirty="0"/>
              <a:t>used in production would be supplied overseas, most raw materials would be purchased overseas, and a majority of support services would migrate to the production location. </a:t>
            </a:r>
            <a:endParaRPr lang="en-GB" dirty="0" smtClean="0"/>
          </a:p>
          <a:p>
            <a:pPr lvl="1"/>
            <a:r>
              <a:rPr lang="en-GB" dirty="0" smtClean="0"/>
              <a:t>Domestic </a:t>
            </a:r>
            <a:r>
              <a:rPr lang="en-GB" dirty="0"/>
              <a:t>railroads and truck fleets would no longer be needed to transport raw materials, parts, tools, subassemblies, or machinery. </a:t>
            </a:r>
            <a:endParaRPr lang="en-GB" dirty="0" smtClean="0"/>
          </a:p>
          <a:p>
            <a:pPr lvl="1"/>
            <a:r>
              <a:rPr lang="en-GB" dirty="0" smtClean="0"/>
              <a:t>Tightly </a:t>
            </a:r>
            <a:r>
              <a:rPr lang="en-GB" dirty="0"/>
              <a:t>linked “downstream” enterprises such as car dealers and fleet merchandisers would become importers. </a:t>
            </a:r>
            <a:endParaRPr lang="en-GB" dirty="0" smtClean="0"/>
          </a:p>
          <a:p>
            <a:pPr lvl="1"/>
            <a:r>
              <a:rPr lang="en-GB" dirty="0" smtClean="0"/>
              <a:t>Loosely </a:t>
            </a:r>
            <a:r>
              <a:rPr lang="en-GB" dirty="0"/>
              <a:t>linked “upstream” enterprises like advertising agencies would be working for a foreign-located (and possibly foreign-owned) company. Envision how a mass exodus of manufacturing would ripple through the economy. Even the financing and insurance required for offshore or overseas production would be provided by foreign enterprises, or by other U.S. companies that have moved overseas.</a:t>
            </a:r>
          </a:p>
          <a:p>
            <a:endParaRPr lang="en-GB" dirty="0"/>
          </a:p>
        </p:txBody>
      </p:sp>
      <p:sp>
        <p:nvSpPr>
          <p:cNvPr id="4" name="Slide Number Placeholder 3"/>
          <p:cNvSpPr>
            <a:spLocks noGrp="1"/>
          </p:cNvSpPr>
          <p:nvPr>
            <p:ph type="sldNum" sz="quarter" idx="12"/>
          </p:nvPr>
        </p:nvSpPr>
        <p:spPr/>
        <p:txBody>
          <a:bodyPr/>
          <a:lstStyle/>
          <a:p>
            <a:fld id="{16BF4B21-383E-4FDC-ABE0-7EFB2B39A5F9}" type="slidenum">
              <a:rPr lang="en-GB" smtClean="0"/>
              <a:pPr/>
              <a:t>10</a:t>
            </a:fld>
            <a:endParaRPr lang="en-GB"/>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792088"/>
          </a:xfrm>
        </p:spPr>
        <p:txBody>
          <a:bodyPr>
            <a:normAutofit fontScale="90000"/>
          </a:bodyPr>
          <a:lstStyle/>
          <a:p>
            <a:r>
              <a:rPr lang="en-GB" b="1" dirty="0" smtClean="0"/>
              <a:t>Clarifying the Role of Manufacturing</a:t>
            </a:r>
            <a:endParaRPr lang="en-GB" dirty="0"/>
          </a:p>
        </p:txBody>
      </p:sp>
      <p:sp>
        <p:nvSpPr>
          <p:cNvPr id="3" name="Content Placeholder 2"/>
          <p:cNvSpPr>
            <a:spLocks noGrp="1"/>
          </p:cNvSpPr>
          <p:nvPr>
            <p:ph idx="1"/>
          </p:nvPr>
        </p:nvSpPr>
        <p:spPr>
          <a:xfrm>
            <a:off x="179512" y="980728"/>
            <a:ext cx="8964488" cy="5877272"/>
          </a:xfrm>
        </p:spPr>
        <p:txBody>
          <a:bodyPr>
            <a:normAutofit fontScale="92500" lnSpcReduction="10000"/>
          </a:bodyPr>
          <a:lstStyle/>
          <a:p>
            <a:r>
              <a:rPr lang="en-GB" dirty="0" smtClean="0"/>
              <a:t>What the continuing importance of manufacturing means for the aspiring entrepreneur is that: </a:t>
            </a:r>
          </a:p>
          <a:p>
            <a:r>
              <a:rPr lang="en-GB" dirty="0" smtClean="0"/>
              <a:t>first, new products will continue to be the arteries of wealth and, </a:t>
            </a:r>
          </a:p>
          <a:p>
            <a:r>
              <a:rPr lang="en-GB" dirty="0" smtClean="0"/>
              <a:t>second, that suppliers of parts and services closely linked to new products will be among the best opportunities for high-growth enterprises. </a:t>
            </a:r>
          </a:p>
          <a:p>
            <a:r>
              <a:rPr lang="en-GB" dirty="0" smtClean="0"/>
              <a:t>On the downside, it also means that suppliers and services closely linked to manufacturers that are moving offshore will suffer, and subcontractors who supply other manufacturers will be at the mercy of global developments by Trans-national corporations that increase their foreign interests.</a:t>
            </a:r>
          </a:p>
          <a:p>
            <a:endParaRPr lang="en-GB"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5670360" y="2035800"/>
              <a:ext cx="3009960" cy="116640"/>
            </p14:xfrm>
          </p:contentPart>
        </mc:Choice>
        <mc:Fallback xmlns="">
          <p:pic>
            <p:nvPicPr>
              <p:cNvPr id="4" name="Ink 3"/>
              <p:cNvPicPr/>
              <p:nvPr/>
            </p:nvPicPr>
            <p:blipFill>
              <a:blip r:embed="rId3"/>
              <a:stretch>
                <a:fillRect/>
              </a:stretch>
            </p:blipFill>
            <p:spPr>
              <a:xfrm>
                <a:off x="5654520" y="1972440"/>
                <a:ext cx="304164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p14:cNvContentPartPr/>
              <p14:nvPr/>
            </p14:nvContentPartPr>
            <p14:xfrm>
              <a:off x="741240" y="2598480"/>
              <a:ext cx="1045080" cy="18360"/>
            </p14:xfrm>
          </p:contentPart>
        </mc:Choice>
        <mc:Fallback xmlns="">
          <p:pic>
            <p:nvPicPr>
              <p:cNvPr id="5" name="Ink 4"/>
              <p:cNvPicPr/>
              <p:nvPr/>
            </p:nvPicPr>
            <p:blipFill>
              <a:blip r:embed="rId5"/>
              <a:stretch>
                <a:fillRect/>
              </a:stretch>
            </p:blipFill>
            <p:spPr>
              <a:xfrm>
                <a:off x="725400" y="2535120"/>
                <a:ext cx="1076760" cy="145080"/>
              </a:xfrm>
              <a:prstGeom prst="rect">
                <a:avLst/>
              </a:prstGeom>
            </p:spPr>
          </p:pic>
        </mc:Fallback>
      </mc:AlternateContent>
      <p:sp>
        <p:nvSpPr>
          <p:cNvPr id="6" name="Slide Number Placeholder 5"/>
          <p:cNvSpPr>
            <a:spLocks noGrp="1"/>
          </p:cNvSpPr>
          <p:nvPr>
            <p:ph type="sldNum" sz="quarter" idx="12"/>
          </p:nvPr>
        </p:nvSpPr>
        <p:spPr/>
        <p:txBody>
          <a:bodyPr/>
          <a:lstStyle/>
          <a:p>
            <a:fld id="{16BF4B21-383E-4FDC-ABE0-7EFB2B39A5F9}" type="slidenum">
              <a:rPr lang="en-GB" smtClean="0"/>
              <a:pPr/>
              <a:t>11</a:t>
            </a:fld>
            <a:endParaRPr lang="en-GB"/>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GB" b="1" dirty="0" smtClean="0"/>
              <a:t>The Productivity Shift</a:t>
            </a:r>
            <a:endParaRPr lang="en-GB" dirty="0"/>
          </a:p>
        </p:txBody>
      </p:sp>
      <p:sp>
        <p:nvSpPr>
          <p:cNvPr id="3" name="Content Placeholder 2"/>
          <p:cNvSpPr>
            <a:spLocks noGrp="1"/>
          </p:cNvSpPr>
          <p:nvPr>
            <p:ph idx="1"/>
          </p:nvPr>
        </p:nvSpPr>
        <p:spPr>
          <a:xfrm>
            <a:off x="457200" y="980728"/>
            <a:ext cx="8229600" cy="5145435"/>
          </a:xfrm>
        </p:spPr>
        <p:txBody>
          <a:bodyPr>
            <a:normAutofit fontScale="92500" lnSpcReduction="10000"/>
          </a:bodyPr>
          <a:lstStyle/>
          <a:p>
            <a:r>
              <a:rPr lang="en-GB" dirty="0" smtClean="0"/>
              <a:t>As noted earlier, popular themes relate how America “shifted” out of agriculture and into manufacturing and now is “shifting” out of manufacturing and into post-industrial services.  </a:t>
            </a:r>
          </a:p>
          <a:p>
            <a:r>
              <a:rPr lang="en-GB" dirty="0" smtClean="0"/>
              <a:t>In truth, neither shift occurred. </a:t>
            </a:r>
          </a:p>
          <a:p>
            <a:pPr lvl="1"/>
            <a:r>
              <a:rPr lang="en-GB" dirty="0" smtClean="0"/>
              <a:t>In agriculture, a technological revolution made it possible not only to feed a rapidly expanding American population but also to grow surpluses for export with fewer and fewer people directly involved in agricultural jobs. </a:t>
            </a:r>
          </a:p>
          <a:p>
            <a:pPr lvl="1"/>
            <a:r>
              <a:rPr lang="en-GB" dirty="0" smtClean="0"/>
              <a:t>In manufacturing, a technological revolution is taking place with parallel implications</a:t>
            </a:r>
            <a:endParaRPr lang="en-GB"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3420360" y="3455640"/>
              <a:ext cx="3268440" cy="45000"/>
            </p14:xfrm>
          </p:contentPart>
        </mc:Choice>
        <mc:Fallback xmlns="">
          <p:pic>
            <p:nvPicPr>
              <p:cNvPr id="4" name="Ink 3"/>
              <p:cNvPicPr/>
              <p:nvPr/>
            </p:nvPicPr>
            <p:blipFill>
              <a:blip r:embed="rId3"/>
              <a:stretch>
                <a:fillRect/>
              </a:stretch>
            </p:blipFill>
            <p:spPr>
              <a:xfrm>
                <a:off x="3404160" y="3392280"/>
                <a:ext cx="330048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p14:cNvContentPartPr/>
              <p14:nvPr/>
            </p14:nvContentPartPr>
            <p14:xfrm>
              <a:off x="2152080" y="5706000"/>
              <a:ext cx="3304440" cy="27360"/>
            </p14:xfrm>
          </p:contentPart>
        </mc:Choice>
        <mc:Fallback xmlns="">
          <p:pic>
            <p:nvPicPr>
              <p:cNvPr id="5" name="Ink 4"/>
              <p:cNvPicPr/>
              <p:nvPr/>
            </p:nvPicPr>
            <p:blipFill>
              <a:blip r:embed="rId5"/>
              <a:stretch>
                <a:fillRect/>
              </a:stretch>
            </p:blipFill>
            <p:spPr>
              <a:xfrm>
                <a:off x="2136240" y="5642640"/>
                <a:ext cx="3336120" cy="154080"/>
              </a:xfrm>
              <a:prstGeom prst="rect">
                <a:avLst/>
              </a:prstGeom>
            </p:spPr>
          </p:pic>
        </mc:Fallback>
      </mc:AlternateContent>
      <p:sp>
        <p:nvSpPr>
          <p:cNvPr id="6" name="Slide Number Placeholder 5"/>
          <p:cNvSpPr>
            <a:spLocks noGrp="1"/>
          </p:cNvSpPr>
          <p:nvPr>
            <p:ph type="sldNum" sz="quarter" idx="12"/>
          </p:nvPr>
        </p:nvSpPr>
        <p:spPr/>
        <p:txBody>
          <a:bodyPr/>
          <a:lstStyle/>
          <a:p>
            <a:fld id="{16BF4B21-383E-4FDC-ABE0-7EFB2B39A5F9}" type="slidenum">
              <a:rPr lang="en-GB" smtClean="0"/>
              <a:pPr/>
              <a:t>12</a:t>
            </a:fld>
            <a:endParaRPr lang="en-GB"/>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lstStyle/>
          <a:p>
            <a:r>
              <a:rPr lang="en-GB" b="1" dirty="0" smtClean="0"/>
              <a:t>The Agricultural Perspective</a:t>
            </a:r>
            <a:endParaRPr lang="en-GB" dirty="0"/>
          </a:p>
        </p:txBody>
      </p:sp>
      <p:sp>
        <p:nvSpPr>
          <p:cNvPr id="3" name="Content Placeholder 2"/>
          <p:cNvSpPr>
            <a:spLocks noGrp="1"/>
          </p:cNvSpPr>
          <p:nvPr>
            <p:ph idx="1"/>
          </p:nvPr>
        </p:nvSpPr>
        <p:spPr>
          <a:xfrm>
            <a:off x="457200" y="1052736"/>
            <a:ext cx="8229600" cy="5544616"/>
          </a:xfrm>
        </p:spPr>
        <p:txBody>
          <a:bodyPr>
            <a:normAutofit fontScale="85000" lnSpcReduction="10000"/>
          </a:bodyPr>
          <a:lstStyle/>
          <a:p>
            <a:r>
              <a:rPr lang="en-GB" dirty="0" smtClean="0"/>
              <a:t>The productivity change in agriculture began when Cyrus McCormick introduced his mechanical reaper in 1831. </a:t>
            </a:r>
          </a:p>
          <a:p>
            <a:r>
              <a:rPr lang="en-GB" dirty="0" smtClean="0"/>
              <a:t>A further change occurred when </a:t>
            </a:r>
            <a:r>
              <a:rPr lang="en-GB" dirty="0" err="1" smtClean="0"/>
              <a:t>Gustavus</a:t>
            </a:r>
            <a:r>
              <a:rPr lang="en-GB" dirty="0" smtClean="0"/>
              <a:t> Swift introduced systematic meat and food processing in the late 1800s. He also invented the refrigerated railcar that made rapid transportation of meat between Chicago and New York possible. </a:t>
            </a:r>
          </a:p>
          <a:p>
            <a:r>
              <a:rPr lang="en-GB" dirty="0" smtClean="0"/>
              <a:t>As World War I came to a close, Campbell Soup, Heinz, Kellogg's, Kraft, General Mills, and Pillsbury, among many others, emerged as fast-growing companies with new technologies for harvesting, processing, packaging, and delivering foods.	</a:t>
            </a:r>
          </a:p>
          <a:p>
            <a:endParaRPr lang="en-GB"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937800" y="1625040"/>
              <a:ext cx="2366640" cy="72000"/>
            </p14:xfrm>
          </p:contentPart>
        </mc:Choice>
        <mc:Fallback xmlns="">
          <p:pic>
            <p:nvPicPr>
              <p:cNvPr id="4" name="Ink 3"/>
              <p:cNvPicPr/>
              <p:nvPr/>
            </p:nvPicPr>
            <p:blipFill>
              <a:blip r:embed="rId3"/>
              <a:stretch>
                <a:fillRect/>
              </a:stretch>
            </p:blipFill>
            <p:spPr>
              <a:xfrm>
                <a:off x="921960" y="1561680"/>
                <a:ext cx="239832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p14:cNvContentPartPr/>
              <p14:nvPr/>
            </p14:nvContentPartPr>
            <p14:xfrm>
              <a:off x="893160" y="2009160"/>
              <a:ext cx="803880" cy="18360"/>
            </p14:xfrm>
          </p:contentPart>
        </mc:Choice>
        <mc:Fallback xmlns="">
          <p:pic>
            <p:nvPicPr>
              <p:cNvPr id="5" name="Ink 4"/>
              <p:cNvPicPr/>
              <p:nvPr/>
            </p:nvPicPr>
            <p:blipFill>
              <a:blip r:embed="rId5"/>
              <a:stretch>
                <a:fillRect/>
              </a:stretch>
            </p:blipFill>
            <p:spPr>
              <a:xfrm>
                <a:off x="877320" y="1945800"/>
                <a:ext cx="83556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p14:cNvContentPartPr/>
              <p14:nvPr/>
            </p14:nvContentPartPr>
            <p14:xfrm>
              <a:off x="5500800" y="2419920"/>
              <a:ext cx="1920240" cy="63000"/>
            </p14:xfrm>
          </p:contentPart>
        </mc:Choice>
        <mc:Fallback xmlns="">
          <p:pic>
            <p:nvPicPr>
              <p:cNvPr id="6" name="Ink 5"/>
              <p:cNvPicPr/>
              <p:nvPr/>
            </p:nvPicPr>
            <p:blipFill>
              <a:blip r:embed="rId7"/>
              <a:stretch>
                <a:fillRect/>
              </a:stretch>
            </p:blipFill>
            <p:spPr>
              <a:xfrm>
                <a:off x="5484960" y="2356560"/>
                <a:ext cx="195192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p14:cNvContentPartPr/>
              <p14:nvPr/>
            </p14:nvContentPartPr>
            <p14:xfrm>
              <a:off x="1616400" y="3250440"/>
              <a:ext cx="705960" cy="18360"/>
            </p14:xfrm>
          </p:contentPart>
        </mc:Choice>
        <mc:Fallback xmlns="">
          <p:pic>
            <p:nvPicPr>
              <p:cNvPr id="7" name="Ink 6"/>
              <p:cNvPicPr/>
              <p:nvPr/>
            </p:nvPicPr>
            <p:blipFill>
              <a:blip r:embed="rId9"/>
              <a:stretch>
                <a:fillRect/>
              </a:stretch>
            </p:blipFill>
            <p:spPr>
              <a:xfrm>
                <a:off x="1600560" y="3187080"/>
                <a:ext cx="73764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p14:cNvContentPartPr/>
              <p14:nvPr/>
            </p14:nvContentPartPr>
            <p14:xfrm>
              <a:off x="5438160" y="3170160"/>
              <a:ext cx="2197080" cy="419760"/>
            </p14:xfrm>
          </p:contentPart>
        </mc:Choice>
        <mc:Fallback xmlns="">
          <p:pic>
            <p:nvPicPr>
              <p:cNvPr id="8" name="Ink 7"/>
              <p:cNvPicPr/>
              <p:nvPr/>
            </p:nvPicPr>
            <p:blipFill>
              <a:blip r:embed="rId11"/>
              <a:stretch>
                <a:fillRect/>
              </a:stretch>
            </p:blipFill>
            <p:spPr>
              <a:xfrm>
                <a:off x="5422320" y="3106440"/>
                <a:ext cx="2228760" cy="547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p14:cNvContentPartPr/>
              <p14:nvPr/>
            </p14:nvContentPartPr>
            <p14:xfrm>
              <a:off x="6608160" y="3187800"/>
              <a:ext cx="1268280" cy="18360"/>
            </p14:xfrm>
          </p:contentPart>
        </mc:Choice>
        <mc:Fallback xmlns="">
          <p:pic>
            <p:nvPicPr>
              <p:cNvPr id="9" name="Ink 8"/>
              <p:cNvPicPr/>
              <p:nvPr/>
            </p:nvPicPr>
            <p:blipFill>
              <a:blip r:embed="rId13"/>
              <a:stretch>
                <a:fillRect/>
              </a:stretch>
            </p:blipFill>
            <p:spPr>
              <a:xfrm>
                <a:off x="6592320" y="3124440"/>
                <a:ext cx="129996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p14:cNvContentPartPr/>
              <p14:nvPr/>
            </p14:nvContentPartPr>
            <p14:xfrm>
              <a:off x="5402520" y="4330800"/>
              <a:ext cx="1634400" cy="18360"/>
            </p14:xfrm>
          </p:contentPart>
        </mc:Choice>
        <mc:Fallback xmlns="">
          <p:pic>
            <p:nvPicPr>
              <p:cNvPr id="10" name="Ink 9"/>
              <p:cNvPicPr/>
              <p:nvPr/>
            </p:nvPicPr>
            <p:blipFill>
              <a:blip r:embed="rId15"/>
              <a:stretch>
                <a:fillRect/>
              </a:stretch>
            </p:blipFill>
            <p:spPr>
              <a:xfrm>
                <a:off x="5386680" y="4267440"/>
                <a:ext cx="166644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p14:cNvContentPartPr/>
              <p14:nvPr/>
            </p14:nvContentPartPr>
            <p14:xfrm>
              <a:off x="7581600" y="4339800"/>
              <a:ext cx="678960" cy="27000"/>
            </p14:xfrm>
          </p:contentPart>
        </mc:Choice>
        <mc:Fallback xmlns="">
          <p:pic>
            <p:nvPicPr>
              <p:cNvPr id="11" name="Ink 10"/>
              <p:cNvPicPr/>
              <p:nvPr/>
            </p:nvPicPr>
            <p:blipFill>
              <a:blip r:embed="rId17"/>
              <a:stretch>
                <a:fillRect/>
              </a:stretch>
            </p:blipFill>
            <p:spPr>
              <a:xfrm>
                <a:off x="7565400" y="4276440"/>
                <a:ext cx="71100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p14:cNvContentPartPr/>
              <p14:nvPr/>
            </p14:nvContentPartPr>
            <p14:xfrm>
              <a:off x="973440" y="4750560"/>
              <a:ext cx="1107720" cy="54000"/>
            </p14:xfrm>
          </p:contentPart>
        </mc:Choice>
        <mc:Fallback xmlns="">
          <p:pic>
            <p:nvPicPr>
              <p:cNvPr id="12" name="Ink 11"/>
              <p:cNvPicPr/>
              <p:nvPr/>
            </p:nvPicPr>
            <p:blipFill>
              <a:blip r:embed="rId19"/>
              <a:stretch>
                <a:fillRect/>
              </a:stretch>
            </p:blipFill>
            <p:spPr>
              <a:xfrm>
                <a:off x="957600" y="4687200"/>
                <a:ext cx="113940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p14:cNvContentPartPr/>
              <p14:nvPr/>
            </p14:nvContentPartPr>
            <p14:xfrm>
              <a:off x="2259360" y="4732560"/>
              <a:ext cx="660960" cy="360"/>
            </p14:xfrm>
          </p:contentPart>
        </mc:Choice>
        <mc:Fallback xmlns="">
          <p:pic>
            <p:nvPicPr>
              <p:cNvPr id="13" name="Ink 12"/>
              <p:cNvPicPr/>
              <p:nvPr/>
            </p:nvPicPr>
            <p:blipFill>
              <a:blip r:embed="rId21"/>
              <a:stretch>
                <a:fillRect/>
              </a:stretch>
            </p:blipFill>
            <p:spPr>
              <a:xfrm>
                <a:off x="2243520" y="4669200"/>
                <a:ext cx="69300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p14:cNvContentPartPr/>
              <p14:nvPr/>
            </p14:nvContentPartPr>
            <p14:xfrm>
              <a:off x="3188160" y="4804200"/>
              <a:ext cx="1545120" cy="63000"/>
            </p14:xfrm>
          </p:contentPart>
        </mc:Choice>
        <mc:Fallback xmlns="">
          <p:pic>
            <p:nvPicPr>
              <p:cNvPr id="14" name="Ink 13"/>
              <p:cNvPicPr/>
              <p:nvPr/>
            </p:nvPicPr>
            <p:blipFill>
              <a:blip r:embed="rId23"/>
              <a:stretch>
                <a:fillRect/>
              </a:stretch>
            </p:blipFill>
            <p:spPr>
              <a:xfrm>
                <a:off x="3172320" y="4740840"/>
                <a:ext cx="157680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p14:cNvContentPartPr/>
              <p14:nvPr/>
            </p14:nvContentPartPr>
            <p14:xfrm>
              <a:off x="5768640" y="4768560"/>
              <a:ext cx="830880" cy="9360"/>
            </p14:xfrm>
          </p:contentPart>
        </mc:Choice>
        <mc:Fallback xmlns="">
          <p:pic>
            <p:nvPicPr>
              <p:cNvPr id="15" name="Ink 14"/>
              <p:cNvPicPr/>
              <p:nvPr/>
            </p:nvPicPr>
            <p:blipFill>
              <a:blip r:embed="rId25"/>
              <a:stretch>
                <a:fillRect/>
              </a:stretch>
            </p:blipFill>
            <p:spPr>
              <a:xfrm>
                <a:off x="5752800" y="4704840"/>
                <a:ext cx="862560" cy="136440"/>
              </a:xfrm>
              <a:prstGeom prst="rect">
                <a:avLst/>
              </a:prstGeom>
            </p:spPr>
          </p:pic>
        </mc:Fallback>
      </mc:AlternateContent>
      <p:sp>
        <p:nvSpPr>
          <p:cNvPr id="16" name="Slide Number Placeholder 15"/>
          <p:cNvSpPr>
            <a:spLocks noGrp="1"/>
          </p:cNvSpPr>
          <p:nvPr>
            <p:ph type="sldNum" sz="quarter" idx="12"/>
          </p:nvPr>
        </p:nvSpPr>
        <p:spPr/>
        <p:txBody>
          <a:bodyPr/>
          <a:lstStyle/>
          <a:p>
            <a:fld id="{16BF4B21-383E-4FDC-ABE0-7EFB2B39A5F9}" type="slidenum">
              <a:rPr lang="en-GB" smtClean="0"/>
              <a:pPr/>
              <a:t>13</a:t>
            </a:fld>
            <a:endParaRPr lang="en-GB"/>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08720"/>
          </a:xfrm>
        </p:spPr>
        <p:txBody>
          <a:bodyPr/>
          <a:lstStyle/>
          <a:p>
            <a:r>
              <a:rPr lang="en-GB" b="1" dirty="0" smtClean="0"/>
              <a:t>The Agricultural Perspective</a:t>
            </a:r>
            <a:endParaRPr lang="en-GB" dirty="0"/>
          </a:p>
        </p:txBody>
      </p:sp>
      <p:sp>
        <p:nvSpPr>
          <p:cNvPr id="3" name="Content Placeholder 2"/>
          <p:cNvSpPr>
            <a:spLocks noGrp="1"/>
          </p:cNvSpPr>
          <p:nvPr>
            <p:ph idx="1"/>
          </p:nvPr>
        </p:nvSpPr>
        <p:spPr>
          <a:xfrm>
            <a:off x="179512" y="764704"/>
            <a:ext cx="8964488" cy="6093296"/>
          </a:xfrm>
        </p:spPr>
        <p:txBody>
          <a:bodyPr>
            <a:normAutofit fontScale="70000" lnSpcReduction="20000"/>
          </a:bodyPr>
          <a:lstStyle/>
          <a:p>
            <a:r>
              <a:rPr lang="en-GB" dirty="0" smtClean="0"/>
              <a:t>Many entrepreneurs emerged during the depression of the 1930s and prospered through innovative methods of growing grains and vegetables. Few of these entrepreneurs have gained the same recognition as modern folk heroes, but their contributions have been impressive. 	</a:t>
            </a:r>
          </a:p>
          <a:p>
            <a:pPr lvl="1">
              <a:buFont typeface="Wingdings" pitchFamily="2" charset="2"/>
              <a:buChar char="ü"/>
            </a:pPr>
            <a:r>
              <a:rPr lang="en-GB" dirty="0" smtClean="0"/>
              <a:t>For example, J. R. Simplot, a potato farmer at the beginning of the Great Depression is today a billionaire who heads a multifaceted company based largely on farming and food processing. Simplot devised a way to improve potato yields by 250 percent, then developed the technology to process potatoes, reducing costs by 50 percent. By World War II, he had found a way to quick-freeze </a:t>
            </a:r>
            <a:r>
              <a:rPr lang="en-GB" dirty="0" err="1" smtClean="0"/>
              <a:t>french</a:t>
            </a:r>
            <a:r>
              <a:rPr lang="en-GB" dirty="0" smtClean="0"/>
              <a:t> fries, and subsequently became the major supplier of pre-packaged </a:t>
            </a:r>
            <a:r>
              <a:rPr lang="en-GB" dirty="0" err="1" smtClean="0"/>
              <a:t>french</a:t>
            </a:r>
            <a:r>
              <a:rPr lang="en-GB" dirty="0" smtClean="0"/>
              <a:t> fries to both the U. S. Armed Forces and McDonald's Corporation. </a:t>
            </a:r>
          </a:p>
          <a:p>
            <a:pPr>
              <a:buNone/>
            </a:pPr>
            <a:endParaRPr lang="en-GB" dirty="0" smtClean="0"/>
          </a:p>
          <a:p>
            <a:r>
              <a:rPr lang="en-GB" dirty="0" smtClean="0"/>
              <a:t>Another change occurred during the early 1950s, when 40 new strains of grain were developed, and the agronomy research industry emerged to increase food production by nearly 300 percent over the next two decades. </a:t>
            </a:r>
          </a:p>
          <a:p>
            <a:pPr lvl="1">
              <a:buFont typeface="Wingdings" pitchFamily="2" charset="2"/>
              <a:buChar char="ü"/>
            </a:pPr>
            <a:r>
              <a:rPr lang="en-GB" dirty="0" smtClean="0"/>
              <a:t>This increase was due in no small way to Norman Borlaug, an Iowa farmer who became a leading researcher in grains. Borlaug developed several of the first strains of high-yield food grains that could withstand extremely harsh conditions, and in 1970 he was awarded the Nobel Peace Prize for introducing these products on a global scale.</a:t>
            </a:r>
          </a:p>
          <a:p>
            <a:endParaRPr lang="en-GB" dirty="0"/>
          </a:p>
        </p:txBody>
      </p:sp>
      <p:sp>
        <p:nvSpPr>
          <p:cNvPr id="4" name="Slide Number Placeholder 3"/>
          <p:cNvSpPr>
            <a:spLocks noGrp="1"/>
          </p:cNvSpPr>
          <p:nvPr>
            <p:ph type="sldNum" sz="quarter" idx="12"/>
          </p:nvPr>
        </p:nvSpPr>
        <p:spPr/>
        <p:txBody>
          <a:bodyPr/>
          <a:lstStyle/>
          <a:p>
            <a:fld id="{16BF4B21-383E-4FDC-ABE0-7EFB2B39A5F9}" type="slidenum">
              <a:rPr lang="en-GB" smtClean="0"/>
              <a:pPr/>
              <a:t>14</a:t>
            </a:fld>
            <a:endParaRPr lang="en-GB"/>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lstStyle/>
          <a:p>
            <a:r>
              <a:rPr lang="en-GB" b="1" dirty="0" smtClean="0"/>
              <a:t>The Manufacturing Perspective </a:t>
            </a:r>
            <a:endParaRPr lang="en-GB" dirty="0"/>
          </a:p>
        </p:txBody>
      </p:sp>
      <p:sp>
        <p:nvSpPr>
          <p:cNvPr id="3" name="Content Placeholder 2"/>
          <p:cNvSpPr>
            <a:spLocks noGrp="1"/>
          </p:cNvSpPr>
          <p:nvPr>
            <p:ph idx="1"/>
          </p:nvPr>
        </p:nvSpPr>
        <p:spPr>
          <a:xfrm>
            <a:off x="0" y="1052736"/>
            <a:ext cx="8964488" cy="5805264"/>
          </a:xfrm>
        </p:spPr>
        <p:txBody>
          <a:bodyPr>
            <a:normAutofit fontScale="92500" lnSpcReduction="10000"/>
          </a:bodyPr>
          <a:lstStyle/>
          <a:p>
            <a:r>
              <a:rPr lang="en-GB" dirty="0" smtClean="0"/>
              <a:t>One only has to glance around to see how technology has influenced our lives. </a:t>
            </a:r>
          </a:p>
          <a:p>
            <a:r>
              <a:rPr lang="en-GB" dirty="0" smtClean="0"/>
              <a:t>Televisions, VCRs, CD players, hair dryers, air-conditioning systems, microwave ovens, and automatic coffee makers using materials and technology unavailable several years ago are now commonplace. </a:t>
            </a:r>
          </a:p>
          <a:p>
            <a:r>
              <a:rPr lang="en-GB" dirty="0" smtClean="0"/>
              <a:t>Microcomputers, fibre-optic telecommunications, surgical lasers, new medicines from biogenetic research, and robotic engineering systems are going through second and third generation changes, yet they are products with nomenclatures that have been in our vocabulary for barely a decade.</a:t>
            </a:r>
          </a:p>
          <a:p>
            <a:endParaRPr lang="en-GB" dirty="0"/>
          </a:p>
        </p:txBody>
      </p:sp>
      <p:sp>
        <p:nvSpPr>
          <p:cNvPr id="4" name="Slide Number Placeholder 3"/>
          <p:cNvSpPr>
            <a:spLocks noGrp="1"/>
          </p:cNvSpPr>
          <p:nvPr>
            <p:ph type="sldNum" sz="quarter" idx="12"/>
          </p:nvPr>
        </p:nvSpPr>
        <p:spPr/>
        <p:txBody>
          <a:bodyPr/>
          <a:lstStyle/>
          <a:p>
            <a:fld id="{16BF4B21-383E-4FDC-ABE0-7EFB2B39A5F9}" type="slidenum">
              <a:rPr lang="en-GB" smtClean="0"/>
              <a:pPr/>
              <a:t>15</a:t>
            </a:fld>
            <a:endParaRPr lang="en-GB"/>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GB" b="1" dirty="0" smtClean="0"/>
              <a:t>The Manufacturing Perspective </a:t>
            </a:r>
            <a:endParaRPr lang="en-GB" dirty="0"/>
          </a:p>
        </p:txBody>
      </p:sp>
      <p:sp>
        <p:nvSpPr>
          <p:cNvPr id="3" name="Content Placeholder 2"/>
          <p:cNvSpPr>
            <a:spLocks noGrp="1"/>
          </p:cNvSpPr>
          <p:nvPr>
            <p:ph idx="1"/>
          </p:nvPr>
        </p:nvSpPr>
        <p:spPr>
          <a:xfrm>
            <a:off x="0" y="908720"/>
            <a:ext cx="9144000" cy="5760640"/>
          </a:xfrm>
        </p:spPr>
        <p:txBody>
          <a:bodyPr>
            <a:normAutofit fontScale="70000" lnSpcReduction="20000"/>
          </a:bodyPr>
          <a:lstStyle/>
          <a:p>
            <a:r>
              <a:rPr lang="en-GB" dirty="0" smtClean="0"/>
              <a:t>Someone, or some team, initially challenged the status quo to develop each of these products, and behind each useful product are hundreds, perhaps thousands, of inventions that provided the technological foundations for new products.</a:t>
            </a:r>
          </a:p>
          <a:p>
            <a:r>
              <a:rPr lang="en-GB" dirty="0" smtClean="0"/>
              <a:t> As noted in handout 2, integrated circuitry, transistors, vacuum tube technology, artificial language, binary code systems, mechanical calculators, and several other major scientific breakthroughs preceded microcomputers. </a:t>
            </a:r>
          </a:p>
          <a:p>
            <a:r>
              <a:rPr lang="en-GB" dirty="0" smtClean="0"/>
              <a:t>In each instance, industrial productivity made quantum leaps through the innovation process of developing these products, and in turn, the products created greater leaps in industrial productivity. </a:t>
            </a:r>
          </a:p>
          <a:p>
            <a:r>
              <a:rPr lang="en-GB" dirty="0" smtClean="0"/>
              <a:t>More importantly, these innovative products came about only through extraordinary changes in </a:t>
            </a:r>
            <a:r>
              <a:rPr lang="en-GB" i="1" dirty="0" smtClean="0"/>
              <a:t>process technology, </a:t>
            </a:r>
            <a:r>
              <a:rPr lang="en-GB" dirty="0" smtClean="0"/>
              <a:t>the means and methods for manufacturing products. </a:t>
            </a:r>
          </a:p>
          <a:p>
            <a:r>
              <a:rPr lang="en-GB" dirty="0" smtClean="0"/>
              <a:t>Machines were necessary to manufacture a microchip the size of a pencil eraser, and methods for creating the silicon wafer had to be developed. In addition, the development of testing equipment, materials, handling mechanisms, assembly tools, and remarkable design instrumentation had to precede actual manufacturing.</a:t>
            </a:r>
          </a:p>
          <a:p>
            <a:endParaRPr lang="en-GB" dirty="0"/>
          </a:p>
        </p:txBody>
      </p:sp>
      <p:sp>
        <p:nvSpPr>
          <p:cNvPr id="4" name="Slide Number Placeholder 3"/>
          <p:cNvSpPr>
            <a:spLocks noGrp="1"/>
          </p:cNvSpPr>
          <p:nvPr>
            <p:ph type="sldNum" sz="quarter" idx="12"/>
          </p:nvPr>
        </p:nvSpPr>
        <p:spPr/>
        <p:txBody>
          <a:bodyPr/>
          <a:lstStyle/>
          <a:p>
            <a:fld id="{16BF4B21-383E-4FDC-ABE0-7EFB2B39A5F9}" type="slidenum">
              <a:rPr lang="en-GB" smtClean="0"/>
              <a:pPr/>
              <a:t>16</a:t>
            </a:fld>
            <a:endParaRPr lang="en-GB"/>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720080"/>
          </a:xfrm>
        </p:spPr>
        <p:txBody>
          <a:bodyPr>
            <a:normAutofit fontScale="90000"/>
          </a:bodyPr>
          <a:lstStyle/>
          <a:p>
            <a:r>
              <a:rPr lang="en-GB" b="1" dirty="0" smtClean="0"/>
              <a:t>The Manufacturing Perspective </a:t>
            </a:r>
            <a:endParaRPr lang="en-GB" dirty="0"/>
          </a:p>
        </p:txBody>
      </p:sp>
      <p:sp>
        <p:nvSpPr>
          <p:cNvPr id="3" name="Content Placeholder 2"/>
          <p:cNvSpPr>
            <a:spLocks noGrp="1"/>
          </p:cNvSpPr>
          <p:nvPr>
            <p:ph idx="1"/>
          </p:nvPr>
        </p:nvSpPr>
        <p:spPr>
          <a:xfrm>
            <a:off x="457200" y="908720"/>
            <a:ext cx="8229600" cy="5760640"/>
          </a:xfrm>
        </p:spPr>
        <p:txBody>
          <a:bodyPr>
            <a:normAutofit fontScale="70000" lnSpcReduction="20000"/>
          </a:bodyPr>
          <a:lstStyle/>
          <a:p>
            <a:r>
              <a:rPr lang="en-GB" dirty="0" smtClean="0"/>
              <a:t>Individuals behind this vast array of modern technology include corporate research and development scientists, college professors, graduate engineering and science students, and an invisible cadre of “tinkerers” working in basements, garages, and home workshops. </a:t>
            </a:r>
          </a:p>
          <a:p>
            <a:r>
              <a:rPr lang="en-GB" dirty="0" smtClean="0"/>
              <a:t>Corporate efforts, such as development of the transistor at Bell Laboratories, emerged after World War II, and the war itself opened opportunities for innovations.  </a:t>
            </a:r>
          </a:p>
          <a:p>
            <a:r>
              <a:rPr lang="en-GB" dirty="0" smtClean="0"/>
              <a:t>Edwin H. Land, a college professor and physicist, had worked on military optical equipment, then turned his attention to processes for polarised light and launched Polaroid Corporation in 1948. </a:t>
            </a:r>
          </a:p>
          <a:p>
            <a:r>
              <a:rPr lang="en-GB" dirty="0" smtClean="0"/>
              <a:t>William Hewlett and David Packard started their electronics testing equipment business, Hewlett-Packard, in a garage in 1939. They developed the first cathode-ray tube (known today as the CRT), which led to hundreds of new monitoring and testing devices after the war. </a:t>
            </a:r>
          </a:p>
          <a:p>
            <a:r>
              <a:rPr lang="en-GB" dirty="0" smtClean="0"/>
              <a:t>Another pre-war contributor, Chester F. Carlson, invented xerography in 1938, paving the way for Xerox Corporation to introduce commercial photo-reproduction equipment in 1959</a:t>
            </a:r>
          </a:p>
        </p:txBody>
      </p:sp>
      <p:sp>
        <p:nvSpPr>
          <p:cNvPr id="4" name="Slide Number Placeholder 3"/>
          <p:cNvSpPr>
            <a:spLocks noGrp="1"/>
          </p:cNvSpPr>
          <p:nvPr>
            <p:ph type="sldNum" sz="quarter" idx="12"/>
          </p:nvPr>
        </p:nvSpPr>
        <p:spPr/>
        <p:txBody>
          <a:bodyPr/>
          <a:lstStyle/>
          <a:p>
            <a:fld id="{16BF4B21-383E-4FDC-ABE0-7EFB2B39A5F9}" type="slidenum">
              <a:rPr lang="en-GB" smtClean="0"/>
              <a:pPr/>
              <a:t>17</a:t>
            </a:fld>
            <a:endParaRPr lang="en-GB"/>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792088"/>
          </a:xfrm>
        </p:spPr>
        <p:txBody>
          <a:bodyPr>
            <a:normAutofit/>
          </a:bodyPr>
          <a:lstStyle/>
          <a:p>
            <a:r>
              <a:rPr lang="en-GB" b="1" dirty="0" smtClean="0"/>
              <a:t>The Manufacturing Perspective </a:t>
            </a:r>
            <a:endParaRPr lang="en-GB" dirty="0"/>
          </a:p>
        </p:txBody>
      </p:sp>
      <p:sp>
        <p:nvSpPr>
          <p:cNvPr id="3" name="Content Placeholder 2"/>
          <p:cNvSpPr>
            <a:spLocks noGrp="1"/>
          </p:cNvSpPr>
          <p:nvPr>
            <p:ph idx="1"/>
          </p:nvPr>
        </p:nvSpPr>
        <p:spPr>
          <a:xfrm>
            <a:off x="457200" y="1052736"/>
            <a:ext cx="8229600" cy="5544616"/>
          </a:xfrm>
        </p:spPr>
        <p:txBody>
          <a:bodyPr>
            <a:normAutofit fontScale="92500"/>
          </a:bodyPr>
          <a:lstStyle/>
          <a:p>
            <a:r>
              <a:rPr lang="en-GB" dirty="0" smtClean="0"/>
              <a:t>It is amazing that in 1986 nearly 70 percent of all known inventors, scientists, and researchers responsible for the totality of humankind’s technical knowledge were still alive. </a:t>
            </a:r>
          </a:p>
          <a:p>
            <a:r>
              <a:rPr lang="en-GB" dirty="0" smtClean="0"/>
              <a:t>Most are still alive today, and they are not necessarily old. </a:t>
            </a:r>
          </a:p>
          <a:p>
            <a:r>
              <a:rPr lang="en-GB" dirty="0" smtClean="0"/>
              <a:t>Recall that William Gates III (Microsoft Corporation), Mitch </a:t>
            </a:r>
            <a:r>
              <a:rPr lang="en-GB" dirty="0" err="1" smtClean="0"/>
              <a:t>Kapor</a:t>
            </a:r>
            <a:r>
              <a:rPr lang="en-GB" dirty="0" smtClean="0"/>
              <a:t> (Lotus Development Corporation), and Steven Jobs and Stephen </a:t>
            </a:r>
            <a:r>
              <a:rPr lang="en-GB" dirty="0" err="1" smtClean="0"/>
              <a:t>Woziiiak</a:t>
            </a:r>
            <a:r>
              <a:rPr lang="en-GB" dirty="0" smtClean="0"/>
              <a:t> (cofounders of Apple Computer Corporation) are all still in their 30s</a:t>
            </a:r>
          </a:p>
          <a:p>
            <a:endParaRPr lang="en-GB" dirty="0"/>
          </a:p>
        </p:txBody>
      </p:sp>
      <p:sp>
        <p:nvSpPr>
          <p:cNvPr id="4" name="Slide Number Placeholder 3"/>
          <p:cNvSpPr>
            <a:spLocks noGrp="1"/>
          </p:cNvSpPr>
          <p:nvPr>
            <p:ph type="sldNum" sz="quarter" idx="12"/>
          </p:nvPr>
        </p:nvSpPr>
        <p:spPr/>
        <p:txBody>
          <a:bodyPr/>
          <a:lstStyle/>
          <a:p>
            <a:fld id="{16BF4B21-383E-4FDC-ABE0-7EFB2B39A5F9}" type="slidenum">
              <a:rPr lang="en-GB" smtClean="0"/>
              <a:pPr/>
              <a:t>18</a:t>
            </a:fld>
            <a:endParaRPr lang="en-GB"/>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864096"/>
          </a:xfrm>
        </p:spPr>
        <p:txBody>
          <a:bodyPr>
            <a:normAutofit/>
          </a:bodyPr>
          <a:lstStyle/>
          <a:p>
            <a:r>
              <a:rPr lang="en-GB" b="1" dirty="0" smtClean="0"/>
              <a:t>Implications of Productivity</a:t>
            </a:r>
            <a:endParaRPr lang="en-GB" dirty="0"/>
          </a:p>
        </p:txBody>
      </p:sp>
      <p:sp>
        <p:nvSpPr>
          <p:cNvPr id="3" name="Content Placeholder 2"/>
          <p:cNvSpPr>
            <a:spLocks noGrp="1"/>
          </p:cNvSpPr>
          <p:nvPr>
            <p:ph idx="1"/>
          </p:nvPr>
        </p:nvSpPr>
        <p:spPr>
          <a:xfrm>
            <a:off x="0" y="980728"/>
            <a:ext cx="9144000" cy="5877272"/>
          </a:xfrm>
        </p:spPr>
        <p:txBody>
          <a:bodyPr>
            <a:normAutofit fontScale="70000" lnSpcReduction="20000"/>
          </a:bodyPr>
          <a:lstStyle/>
          <a:p>
            <a:r>
              <a:rPr lang="en-GB" dirty="0" smtClean="0"/>
              <a:t>What has happened in agriculture and manufacturing is a rapid evolution in techniques of farming and production that have resulted in extraordinary productivity improvements.</a:t>
            </a:r>
          </a:p>
          <a:p>
            <a:pPr>
              <a:buNone/>
            </a:pPr>
            <a:r>
              <a:rPr lang="en-GB" dirty="0" smtClean="0"/>
              <a:t> </a:t>
            </a:r>
          </a:p>
          <a:p>
            <a:r>
              <a:rPr lang="en-GB" dirty="0" smtClean="0"/>
              <a:t>Fewer people are involved in direct labour in either economic sector today than in the past because fewer people are needed to produce equivalent results. </a:t>
            </a:r>
          </a:p>
          <a:p>
            <a:endParaRPr lang="en-GB" dirty="0" smtClean="0"/>
          </a:p>
          <a:p>
            <a:r>
              <a:rPr lang="en-GB" dirty="0" smtClean="0"/>
              <a:t>These productivity gains are particularly apparent in developed Western nations where surpluses of food and consumer products exist. </a:t>
            </a:r>
          </a:p>
          <a:p>
            <a:r>
              <a:rPr lang="en-GB" dirty="0" smtClean="0"/>
              <a:t>It is equally apparent that these gains have not taken place in other parts of the world such as Eastern Europe, China, and the Soviet Union and Africa, where food and consumer goods must be imported. </a:t>
            </a:r>
          </a:p>
          <a:p>
            <a:endParaRPr lang="en-GB" dirty="0" smtClean="0"/>
          </a:p>
          <a:p>
            <a:r>
              <a:rPr lang="en-GB" dirty="0" smtClean="0"/>
              <a:t>Following the unprecedented changes in Eastern Europe at the beginning of 1990, it became apparent to new governments in Poland, East Germany, Rumania, and the Soviet Union (under Mikhail Gorbachev's domestic reform initiatives) that their priorities for the 1990s were to centre on agricultural reform and manufacturing development.</a:t>
            </a:r>
          </a:p>
          <a:p>
            <a:pPr>
              <a:buNone/>
            </a:pPr>
            <a:endParaRPr lang="en-GB" dirty="0" smtClean="0"/>
          </a:p>
          <a:p>
            <a:endParaRPr lang="en-GB" dirty="0"/>
          </a:p>
        </p:txBody>
      </p:sp>
      <p:sp>
        <p:nvSpPr>
          <p:cNvPr id="4" name="Slide Number Placeholder 3"/>
          <p:cNvSpPr>
            <a:spLocks noGrp="1"/>
          </p:cNvSpPr>
          <p:nvPr>
            <p:ph type="sldNum" sz="quarter" idx="12"/>
          </p:nvPr>
        </p:nvSpPr>
        <p:spPr/>
        <p:txBody>
          <a:bodyPr/>
          <a:lstStyle/>
          <a:p>
            <a:fld id="{16BF4B21-383E-4FDC-ABE0-7EFB2B39A5F9}" type="slidenum">
              <a:rPr lang="en-GB" smtClean="0"/>
              <a:pPr/>
              <a:t>19</a:t>
            </a:fld>
            <a:endParaRPr lang="en-GB"/>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08720"/>
          </a:xfrm>
        </p:spPr>
        <p:txBody>
          <a:bodyPr/>
          <a:lstStyle/>
          <a:p>
            <a:r>
              <a:rPr lang="en-GB" b="1" dirty="0" smtClean="0"/>
              <a:t>Implications of Productivity</a:t>
            </a:r>
            <a:endParaRPr lang="en-GB" dirty="0"/>
          </a:p>
        </p:txBody>
      </p:sp>
      <p:sp>
        <p:nvSpPr>
          <p:cNvPr id="3" name="Content Placeholder 2"/>
          <p:cNvSpPr>
            <a:spLocks noGrp="1"/>
          </p:cNvSpPr>
          <p:nvPr>
            <p:ph idx="1"/>
          </p:nvPr>
        </p:nvSpPr>
        <p:spPr>
          <a:xfrm>
            <a:off x="457200" y="980728"/>
            <a:ext cx="8229600" cy="5688632"/>
          </a:xfrm>
        </p:spPr>
        <p:txBody>
          <a:bodyPr>
            <a:normAutofit fontScale="85000" lnSpcReduction="20000"/>
          </a:bodyPr>
          <a:lstStyle/>
          <a:p>
            <a:r>
              <a:rPr lang="en-GB" dirty="0" smtClean="0"/>
              <a:t>The implications of an evolution in productivity in free-market economies, as well as the revolution in productivity needed in socialist-based economies, centre on entrepreneurial opportunities. </a:t>
            </a:r>
          </a:p>
          <a:p>
            <a:r>
              <a:rPr lang="en-GB" dirty="0" smtClean="0"/>
              <a:t>Examples cited earlier and arguments presented earlier in this Handout testify to contributions made by entrepreneurs to technological development. </a:t>
            </a:r>
          </a:p>
          <a:p>
            <a:r>
              <a:rPr lang="en-GB" dirty="0" smtClean="0"/>
              <a:t>Their efforts transformed our agrarian Western economies into industrial states, and more recently, their efforts have begun to transform the nature of our industrial states from labour-intensive manufacturing to technology-driven economies. </a:t>
            </a:r>
          </a:p>
          <a:p>
            <a:r>
              <a:rPr lang="en-GB" dirty="0" smtClean="0"/>
              <a:t>Without a doubt, these transformations will occur in Eastern bloc countries that have begun to reassess their priorities, both domestically in terms of productivity and globally in terms of economic trade</a:t>
            </a:r>
            <a:endParaRPr lang="en-GB" dirty="0"/>
          </a:p>
        </p:txBody>
      </p:sp>
      <p:sp>
        <p:nvSpPr>
          <p:cNvPr id="4" name="Slide Number Placeholder 3"/>
          <p:cNvSpPr>
            <a:spLocks noGrp="1"/>
          </p:cNvSpPr>
          <p:nvPr>
            <p:ph type="sldNum" sz="quarter" idx="12"/>
          </p:nvPr>
        </p:nvSpPr>
        <p:spPr/>
        <p:txBody>
          <a:bodyPr/>
          <a:lstStyle/>
          <a:p>
            <a:fld id="{16BF4B21-383E-4FDC-ABE0-7EFB2B39A5F9}" type="slidenum">
              <a:rPr lang="en-GB" smtClean="0"/>
              <a:pPr/>
              <a:t>20</a:t>
            </a:fld>
            <a:endParaRPr lang="en-GB"/>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08720"/>
          </a:xfrm>
        </p:spPr>
        <p:txBody>
          <a:bodyPr>
            <a:normAutofit/>
          </a:bodyPr>
          <a:lstStyle/>
          <a:p>
            <a:r>
              <a:rPr lang="en-GB" b="1" dirty="0" smtClean="0"/>
              <a:t>Implications of Productivity</a:t>
            </a:r>
            <a:endParaRPr lang="en-GB" dirty="0"/>
          </a:p>
        </p:txBody>
      </p:sp>
      <p:sp>
        <p:nvSpPr>
          <p:cNvPr id="3" name="Content Placeholder 2"/>
          <p:cNvSpPr>
            <a:spLocks noGrp="1"/>
          </p:cNvSpPr>
          <p:nvPr>
            <p:ph idx="1"/>
          </p:nvPr>
        </p:nvSpPr>
        <p:spPr>
          <a:xfrm>
            <a:off x="457200" y="836712"/>
            <a:ext cx="8229600" cy="5832648"/>
          </a:xfrm>
        </p:spPr>
        <p:txBody>
          <a:bodyPr>
            <a:normAutofit fontScale="92500" lnSpcReduction="10000"/>
          </a:bodyPr>
          <a:lstStyle/>
          <a:p>
            <a:r>
              <a:rPr lang="en-GB" dirty="0" smtClean="0"/>
              <a:t>As the 20th century closes, there are extraordinary opportunities for new products, processes, technologies, and services needed in Eastern Europe, Pacific Rim countries, and developing nations in Latin America, Africa, and the Middle East. </a:t>
            </a:r>
          </a:p>
          <a:p>
            <a:r>
              <a:rPr lang="en-GB" dirty="0" smtClean="0"/>
              <a:t>The opportunities are limited only by one's imagination. For example, </a:t>
            </a:r>
          </a:p>
          <a:p>
            <a:pPr lvl="1"/>
            <a:r>
              <a:rPr lang="en-GB" dirty="0" smtClean="0"/>
              <a:t>with an awakening free press in Rumania, new means of producing and distributing magazines and newspapers are needed, and </a:t>
            </a:r>
          </a:p>
          <a:p>
            <a:pPr lvl="1"/>
            <a:r>
              <a:rPr lang="en-GB" dirty="0" smtClean="0"/>
              <a:t>in East Germany, the unshackling of the media means a proliferation of television programs, stations, television sets, and transmission capabilities. </a:t>
            </a:r>
          </a:p>
          <a:p>
            <a:endParaRPr lang="en-GB" dirty="0"/>
          </a:p>
        </p:txBody>
      </p:sp>
      <p:sp>
        <p:nvSpPr>
          <p:cNvPr id="4" name="Slide Number Placeholder 3"/>
          <p:cNvSpPr>
            <a:spLocks noGrp="1"/>
          </p:cNvSpPr>
          <p:nvPr>
            <p:ph type="sldNum" sz="quarter" idx="12"/>
          </p:nvPr>
        </p:nvSpPr>
        <p:spPr/>
        <p:txBody>
          <a:bodyPr/>
          <a:lstStyle/>
          <a:p>
            <a:fld id="{16BF4B21-383E-4FDC-ABE0-7EFB2B39A5F9}" type="slidenum">
              <a:rPr lang="en-GB" smtClean="0"/>
              <a:pPr/>
              <a:t>21</a:t>
            </a:fld>
            <a:endParaRPr lang="en-GB"/>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6712"/>
          </a:xfrm>
        </p:spPr>
        <p:txBody>
          <a:bodyPr/>
          <a:lstStyle/>
          <a:p>
            <a:r>
              <a:rPr lang="en-GB" b="1" dirty="0" smtClean="0"/>
              <a:t>Implications of Productivity</a:t>
            </a:r>
            <a:endParaRPr lang="en-GB" dirty="0"/>
          </a:p>
        </p:txBody>
      </p:sp>
      <p:sp>
        <p:nvSpPr>
          <p:cNvPr id="3" name="Content Placeholder 2"/>
          <p:cNvSpPr>
            <a:spLocks noGrp="1"/>
          </p:cNvSpPr>
          <p:nvPr>
            <p:ph idx="1"/>
          </p:nvPr>
        </p:nvSpPr>
        <p:spPr>
          <a:xfrm>
            <a:off x="457200" y="764704"/>
            <a:ext cx="8229600" cy="5760640"/>
          </a:xfrm>
        </p:spPr>
        <p:txBody>
          <a:bodyPr>
            <a:normAutofit fontScale="85000" lnSpcReduction="20000"/>
          </a:bodyPr>
          <a:lstStyle/>
          <a:p>
            <a:r>
              <a:rPr lang="en-GB" dirty="0" smtClean="0"/>
              <a:t>Although these are exceptional opportunities born of extraordinary events, there are equally exciting opportunities at home. </a:t>
            </a:r>
          </a:p>
          <a:p>
            <a:r>
              <a:rPr lang="en-GB" dirty="0" smtClean="0"/>
              <a:t>Agriculture will continue to be a challenge for new products and new technologies in food-growing processes as long as population continues to expand. </a:t>
            </a:r>
          </a:p>
          <a:p>
            <a:r>
              <a:rPr lang="en-GB" dirty="0" smtClean="0"/>
              <a:t>Water has become a critical resource, and there is a pressing need for new farming techniques, water control processes, and urban water technology to serve expanding cities. </a:t>
            </a:r>
          </a:p>
          <a:p>
            <a:r>
              <a:rPr lang="en-GB" dirty="0" smtClean="0"/>
              <a:t>Housing systems and technologies are archaic, and a revolution in construction is needed with new materials and home-building processes emerging. </a:t>
            </a:r>
          </a:p>
          <a:p>
            <a:r>
              <a:rPr lang="en-GB" dirty="0" smtClean="0"/>
              <a:t>And, of course, information technology is only beginning to find its way into consumer products, homes, and industrial production techniques.</a:t>
            </a:r>
          </a:p>
          <a:p>
            <a:endParaRPr lang="en-GB" dirty="0"/>
          </a:p>
        </p:txBody>
      </p:sp>
      <p:sp>
        <p:nvSpPr>
          <p:cNvPr id="4" name="Slide Number Placeholder 3"/>
          <p:cNvSpPr>
            <a:spLocks noGrp="1"/>
          </p:cNvSpPr>
          <p:nvPr>
            <p:ph type="sldNum" sz="quarter" idx="12"/>
          </p:nvPr>
        </p:nvSpPr>
        <p:spPr/>
        <p:txBody>
          <a:bodyPr/>
          <a:lstStyle/>
          <a:p>
            <a:fld id="{16BF4B21-383E-4FDC-ABE0-7EFB2B39A5F9}" type="slidenum">
              <a:rPr lang="en-GB" smtClean="0"/>
              <a:pPr/>
              <a:t>22</a:t>
            </a:fld>
            <a:endParaRPr lang="en-GB"/>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a:bodyPr>
          <a:lstStyle/>
          <a:p>
            <a:r>
              <a:rPr lang="en-GB" b="1" dirty="0" smtClean="0"/>
              <a:t>REVIEW</a:t>
            </a:r>
            <a:endParaRPr lang="en-GB" dirty="0"/>
          </a:p>
        </p:txBody>
      </p:sp>
      <p:sp>
        <p:nvSpPr>
          <p:cNvPr id="3" name="Content Placeholder 2"/>
          <p:cNvSpPr>
            <a:spLocks noGrp="1"/>
          </p:cNvSpPr>
          <p:nvPr>
            <p:ph idx="1"/>
          </p:nvPr>
        </p:nvSpPr>
        <p:spPr>
          <a:xfrm>
            <a:off x="457200" y="1196752"/>
            <a:ext cx="8229600" cy="4929411"/>
          </a:xfrm>
        </p:spPr>
        <p:txBody>
          <a:bodyPr/>
          <a:lstStyle/>
          <a:p>
            <a:pPr>
              <a:buNone/>
            </a:pPr>
            <a:endParaRPr lang="en-GB" dirty="0" smtClean="0"/>
          </a:p>
          <a:p>
            <a:pPr lvl="0"/>
            <a:r>
              <a:rPr lang="en-GB" dirty="0" smtClean="0"/>
              <a:t>Discuss how manufacturing matters, and discuss the opportunities for new products and technologies as the world moves toward the 21st century.</a:t>
            </a:r>
          </a:p>
          <a:p>
            <a:pPr lvl="0"/>
            <a:r>
              <a:rPr lang="en-GB" dirty="0" smtClean="0"/>
              <a:t>Explain how agriculture and manufacturing both continue to be vital economic sectors despite downtrends in direct employment.</a:t>
            </a:r>
          </a:p>
          <a:p>
            <a:endParaRPr lang="en-GB" dirty="0"/>
          </a:p>
        </p:txBody>
      </p:sp>
      <p:sp>
        <p:nvSpPr>
          <p:cNvPr id="4" name="Slide Number Placeholder 3"/>
          <p:cNvSpPr>
            <a:spLocks noGrp="1"/>
          </p:cNvSpPr>
          <p:nvPr>
            <p:ph type="sldNum" sz="quarter" idx="12"/>
          </p:nvPr>
        </p:nvSpPr>
        <p:spPr/>
        <p:txBody>
          <a:bodyPr/>
          <a:lstStyle/>
          <a:p>
            <a:fld id="{16BF4B21-383E-4FDC-ABE0-7EFB2B39A5F9}" type="slidenum">
              <a:rPr lang="en-GB" smtClean="0"/>
              <a:pPr/>
              <a:t>23</a:t>
            </a:fld>
            <a:endParaRPr lang="en-GB"/>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4704"/>
          </a:xfrm>
        </p:spPr>
        <p:txBody>
          <a:bodyPr>
            <a:normAutofit/>
          </a:bodyPr>
          <a:lstStyle/>
          <a:p>
            <a:r>
              <a:rPr lang="en-GB" b="1" dirty="0" smtClean="0"/>
              <a:t>PRODUCTS AND TECHNOLOGY</a:t>
            </a:r>
            <a:endParaRPr lang="en-GB" dirty="0"/>
          </a:p>
        </p:txBody>
      </p:sp>
      <p:sp>
        <p:nvSpPr>
          <p:cNvPr id="3" name="Content Placeholder 2"/>
          <p:cNvSpPr>
            <a:spLocks noGrp="1"/>
          </p:cNvSpPr>
          <p:nvPr>
            <p:ph idx="1"/>
          </p:nvPr>
        </p:nvSpPr>
        <p:spPr>
          <a:xfrm>
            <a:off x="457200" y="1124744"/>
            <a:ext cx="8229600" cy="5544616"/>
          </a:xfrm>
        </p:spPr>
        <p:txBody>
          <a:bodyPr>
            <a:normAutofit fontScale="85000" lnSpcReduction="20000"/>
          </a:bodyPr>
          <a:lstStyle/>
          <a:p>
            <a:r>
              <a:rPr lang="en-GB" sz="4400" i="1" dirty="0" smtClean="0"/>
              <a:t>The concepts of high-tech, mid-tech, and low-tech products. </a:t>
            </a:r>
            <a:endParaRPr lang="en-GB" sz="4400" dirty="0" smtClean="0"/>
          </a:p>
          <a:p>
            <a:r>
              <a:rPr lang="en-GB" sz="4400" dirty="0" smtClean="0"/>
              <a:t>All three concepts are perceptual definitions dependent on the current state of technology, education, and diffusion of information. </a:t>
            </a:r>
          </a:p>
          <a:p>
            <a:r>
              <a:rPr lang="en-GB" sz="4400" dirty="0" smtClean="0"/>
              <a:t>The electric light bulb was high tech a century ago; VCRs were considered high-tech products a decade ago; and high-powered microcomputer s are still considered high tech today. </a:t>
            </a:r>
          </a:p>
          <a:p>
            <a:endParaRPr lang="en-GB" sz="4400" dirty="0" smtClean="0"/>
          </a:p>
          <a:p>
            <a:endParaRPr lang="en-GB"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964440" y="544680"/>
              <a:ext cx="955800" cy="89640"/>
            </p14:xfrm>
          </p:contentPart>
        </mc:Choice>
        <mc:Fallback xmlns="">
          <p:pic>
            <p:nvPicPr>
              <p:cNvPr id="4" name="Ink 3"/>
              <p:cNvPicPr/>
              <p:nvPr/>
            </p:nvPicPr>
            <p:blipFill>
              <a:blip r:embed="rId3"/>
              <a:stretch>
                <a:fillRect/>
              </a:stretch>
            </p:blipFill>
            <p:spPr>
              <a:xfrm>
                <a:off x="948600" y="481320"/>
                <a:ext cx="987480" cy="216720"/>
              </a:xfrm>
              <a:prstGeom prst="rect">
                <a:avLst/>
              </a:prstGeom>
            </p:spPr>
          </p:pic>
        </mc:Fallback>
      </mc:AlternateContent>
      <p:sp>
        <p:nvSpPr>
          <p:cNvPr id="5" name="Slide Number Placeholder 4"/>
          <p:cNvSpPr>
            <a:spLocks noGrp="1"/>
          </p:cNvSpPr>
          <p:nvPr>
            <p:ph type="sldNum" sz="quarter" idx="12"/>
          </p:nvPr>
        </p:nvSpPr>
        <p:spPr/>
        <p:txBody>
          <a:bodyPr/>
          <a:lstStyle/>
          <a:p>
            <a:fld id="{16BF4B21-383E-4FDC-ABE0-7EFB2B39A5F9}" type="slidenum">
              <a:rPr lang="en-GB" smtClean="0"/>
              <a:pPr/>
              <a:t>24</a:t>
            </a:fld>
            <a:endParaRPr lang="en-GB"/>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PRODUCTS AND TECHNOLOGY</a:t>
            </a:r>
            <a:endParaRPr lang="en-GB" dirty="0"/>
          </a:p>
        </p:txBody>
      </p:sp>
      <p:sp>
        <p:nvSpPr>
          <p:cNvPr id="3" name="Content Placeholder 2"/>
          <p:cNvSpPr>
            <a:spLocks noGrp="1"/>
          </p:cNvSpPr>
          <p:nvPr>
            <p:ph idx="1"/>
          </p:nvPr>
        </p:nvSpPr>
        <p:spPr>
          <a:xfrm>
            <a:off x="179512" y="1340768"/>
            <a:ext cx="8964488" cy="5328592"/>
          </a:xfrm>
        </p:spPr>
        <p:txBody>
          <a:bodyPr>
            <a:normAutofit fontScale="85000" lnSpcReduction="10000"/>
          </a:bodyPr>
          <a:lstStyle/>
          <a:p>
            <a:r>
              <a:rPr lang="en-GB" dirty="0" smtClean="0"/>
              <a:t>All three technologies, however, have become commonplace, easily replicated in factories with production processes that are equally commonplace. </a:t>
            </a:r>
          </a:p>
          <a:p>
            <a:r>
              <a:rPr lang="en-GB" dirty="0" smtClean="0"/>
              <a:t>Perhaps they have become ''mid tech" in the sense that they still require skilled employees to produce them, but they are no longer on the cutting edge of new technology. </a:t>
            </a:r>
          </a:p>
          <a:p>
            <a:r>
              <a:rPr lang="en-GB" dirty="0" smtClean="0"/>
              <a:t>Low-tech (or no-tech) products are those requiring few skills and common materials or technologies to produce. For example, anyone with simple tools can build television stands or make plastic signs, yet low tech is very much a part of every economy. The fact that a product is simple does not mean it has no value to consumers.</a:t>
            </a:r>
            <a:endParaRPr lang="en-GB" dirty="0"/>
          </a:p>
        </p:txBody>
      </p:sp>
      <p:sp>
        <p:nvSpPr>
          <p:cNvPr id="4" name="Slide Number Placeholder 3"/>
          <p:cNvSpPr>
            <a:spLocks noGrp="1"/>
          </p:cNvSpPr>
          <p:nvPr>
            <p:ph type="sldNum" sz="quarter" idx="12"/>
          </p:nvPr>
        </p:nvSpPr>
        <p:spPr/>
        <p:txBody>
          <a:bodyPr/>
          <a:lstStyle/>
          <a:p>
            <a:fld id="{16BF4B21-383E-4FDC-ABE0-7EFB2B39A5F9}" type="slidenum">
              <a:rPr lang="en-GB" smtClean="0"/>
              <a:pPr/>
              <a:t>25</a:t>
            </a:fld>
            <a:endParaRPr lang="en-GB"/>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92696"/>
          </a:xfrm>
        </p:spPr>
        <p:txBody>
          <a:bodyPr>
            <a:normAutofit fontScale="90000"/>
          </a:bodyPr>
          <a:lstStyle/>
          <a:p>
            <a:r>
              <a:rPr lang="en-GB" b="1" dirty="0" smtClean="0"/>
              <a:t>PRODUCTS AND TECHNOLOGY</a:t>
            </a:r>
            <a:endParaRPr lang="en-GB" dirty="0"/>
          </a:p>
        </p:txBody>
      </p:sp>
      <p:sp>
        <p:nvSpPr>
          <p:cNvPr id="3" name="Content Placeholder 2"/>
          <p:cNvSpPr>
            <a:spLocks noGrp="1"/>
          </p:cNvSpPr>
          <p:nvPr>
            <p:ph idx="1"/>
          </p:nvPr>
        </p:nvSpPr>
        <p:spPr>
          <a:xfrm>
            <a:off x="0" y="908720"/>
            <a:ext cx="9144000" cy="5949280"/>
          </a:xfrm>
        </p:spPr>
        <p:txBody>
          <a:bodyPr>
            <a:normAutofit fontScale="70000" lnSpcReduction="20000"/>
          </a:bodyPr>
          <a:lstStyle/>
          <a:p>
            <a:r>
              <a:rPr lang="en-GB" dirty="0" smtClean="0"/>
              <a:t>At both the macro and micro levels of innovation, few products require exceptionally sophisticated scientific knowledge. Sensational new products occasionally make headlines, but most are not </a:t>
            </a:r>
            <a:r>
              <a:rPr lang="en-GB" i="1" dirty="0" smtClean="0"/>
              <a:t>high tech </a:t>
            </a:r>
            <a:r>
              <a:rPr lang="en-GB" dirty="0" smtClean="0"/>
              <a:t>in the sense of having historic significance to humankind, such as Edison's light bulb. Periodically, major inventions or discoveries emerge that are vitally important; the transistor inspired new industries and technological applications impossible with conventional electronics. </a:t>
            </a:r>
          </a:p>
          <a:p>
            <a:endParaRPr lang="en-GB" dirty="0" smtClean="0"/>
          </a:p>
          <a:p>
            <a:r>
              <a:rPr lang="en-GB" dirty="0" smtClean="0"/>
              <a:t>A majority of new products, however, will evolve at the other end of the technology spectrum as </a:t>
            </a:r>
            <a:r>
              <a:rPr lang="en-GB" i="1" dirty="0" smtClean="0"/>
              <a:t>low-tech </a:t>
            </a:r>
            <a:r>
              <a:rPr lang="en-GB" dirty="0" smtClean="0"/>
              <a:t>or </a:t>
            </a:r>
            <a:r>
              <a:rPr lang="en-GB" i="1" dirty="0" err="1" smtClean="0"/>
              <a:t>no‑tech</a:t>
            </a:r>
            <a:r>
              <a:rPr lang="en-GB" i="1" dirty="0" smtClean="0"/>
              <a:t> </a:t>
            </a:r>
            <a:r>
              <a:rPr lang="en-GB" dirty="0" smtClean="0"/>
              <a:t>innovations. Recent examples include no‑</a:t>
            </a:r>
            <a:r>
              <a:rPr lang="en-GB" dirty="0" err="1" smtClean="0"/>
              <a:t>glare</a:t>
            </a:r>
            <a:r>
              <a:rPr lang="en-GB" dirty="0" smtClean="0"/>
              <a:t> sunglasses, jogging shoes, automatic coffee makers, and interesting games such as Trivial Pursuit. </a:t>
            </a:r>
          </a:p>
          <a:p>
            <a:endParaRPr lang="en-GB" dirty="0" smtClean="0"/>
          </a:p>
          <a:p>
            <a:r>
              <a:rPr lang="en-GB" dirty="0" smtClean="0"/>
              <a:t>Between the extremes, there are products that require moderate expertise or special resources but are themselves uncomplicated. We conveniently call these </a:t>
            </a:r>
            <a:r>
              <a:rPr lang="en-GB" i="1" dirty="0" smtClean="0"/>
              <a:t>mid-tech </a:t>
            </a:r>
            <a:r>
              <a:rPr lang="en-GB" dirty="0" smtClean="0"/>
              <a:t>products. Examples include desktop publishing software, appealing newspapers such as USA Today, ergonomic chairs, exercise machines, and keyboard synthesisers.</a:t>
            </a:r>
          </a:p>
          <a:p>
            <a:endParaRPr lang="en-GB" dirty="0"/>
          </a:p>
        </p:txBody>
      </p:sp>
      <p:sp>
        <p:nvSpPr>
          <p:cNvPr id="4" name="Slide Number Placeholder 3"/>
          <p:cNvSpPr>
            <a:spLocks noGrp="1"/>
          </p:cNvSpPr>
          <p:nvPr>
            <p:ph type="sldNum" sz="quarter" idx="12"/>
          </p:nvPr>
        </p:nvSpPr>
        <p:spPr/>
        <p:txBody>
          <a:bodyPr/>
          <a:lstStyle/>
          <a:p>
            <a:fld id="{16BF4B21-383E-4FDC-ABE0-7EFB2B39A5F9}" type="slidenum">
              <a:rPr lang="en-GB" smtClean="0"/>
              <a:pPr/>
              <a:t>26</a:t>
            </a:fld>
            <a:endParaRPr lang="en-GB"/>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6712"/>
          </a:xfrm>
        </p:spPr>
        <p:txBody>
          <a:bodyPr>
            <a:normAutofit/>
          </a:bodyPr>
          <a:lstStyle/>
          <a:p>
            <a:r>
              <a:rPr lang="en-GB" b="1" dirty="0" smtClean="0"/>
              <a:t>High-Tech Products</a:t>
            </a:r>
            <a:endParaRPr lang="en-GB" dirty="0"/>
          </a:p>
        </p:txBody>
      </p:sp>
      <p:sp>
        <p:nvSpPr>
          <p:cNvPr id="3" name="Content Placeholder 2"/>
          <p:cNvSpPr>
            <a:spLocks noGrp="1"/>
          </p:cNvSpPr>
          <p:nvPr>
            <p:ph idx="1"/>
          </p:nvPr>
        </p:nvSpPr>
        <p:spPr>
          <a:xfrm>
            <a:off x="179512" y="836712"/>
            <a:ext cx="8964488" cy="6021288"/>
          </a:xfrm>
        </p:spPr>
        <p:txBody>
          <a:bodyPr>
            <a:normAutofit fontScale="92500" lnSpcReduction="10000"/>
          </a:bodyPr>
          <a:lstStyle/>
          <a:p>
            <a:r>
              <a:rPr lang="en-GB" dirty="0" smtClean="0"/>
              <a:t>A </a:t>
            </a:r>
            <a:r>
              <a:rPr lang="en-GB" b="1" dirty="0" smtClean="0"/>
              <a:t>high-tech product </a:t>
            </a:r>
            <a:r>
              <a:rPr lang="en-GB" dirty="0" smtClean="0"/>
              <a:t>is more a state of mind than a discernible entity, but calling something high-tech is useful for describing products that </a:t>
            </a:r>
            <a:r>
              <a:rPr lang="en-GB" i="1" dirty="0" smtClean="0"/>
              <a:t>currently </a:t>
            </a:r>
            <a:r>
              <a:rPr lang="en-GB" dirty="0" smtClean="0"/>
              <a:t>reflect state-of-the-art technology. </a:t>
            </a:r>
          </a:p>
          <a:p>
            <a:r>
              <a:rPr lang="en-GB" dirty="0" smtClean="0"/>
              <a:t>Products we call high tech today might be considered part of our "rust-bucket" technology tomorrow. Edison was certainly engaged in high technology for his era when he fashioned a carbon-filament light bulb, but that was long ago. </a:t>
            </a:r>
          </a:p>
          <a:p>
            <a:r>
              <a:rPr lang="en-GB" dirty="0" smtClean="0"/>
              <a:t>More recently, the 1984‑vintage</a:t>
            </a:r>
            <a:r>
              <a:rPr lang="en-GB" b="1" dirty="0" smtClean="0"/>
              <a:t> </a:t>
            </a:r>
            <a:r>
              <a:rPr lang="en-GB" dirty="0" smtClean="0"/>
              <a:t>microcomputer, revolutionary at the time, has passed into a "mid-tech" stage where it can be reproduced (cloned) in back-alley Asian factories. </a:t>
            </a:r>
          </a:p>
        </p:txBody>
      </p:sp>
      <p:sp>
        <p:nvSpPr>
          <p:cNvPr id="4" name="Slide Number Placeholder 3"/>
          <p:cNvSpPr>
            <a:spLocks noGrp="1"/>
          </p:cNvSpPr>
          <p:nvPr>
            <p:ph type="sldNum" sz="quarter" idx="12"/>
          </p:nvPr>
        </p:nvSpPr>
        <p:spPr/>
        <p:txBody>
          <a:bodyPr/>
          <a:lstStyle/>
          <a:p>
            <a:fld id="{16BF4B21-383E-4FDC-ABE0-7EFB2B39A5F9}" type="slidenum">
              <a:rPr lang="en-GB" smtClean="0"/>
              <a:pPr/>
              <a:t>27</a:t>
            </a:fld>
            <a:endParaRPr lang="en-GB"/>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52736"/>
          </a:xfrm>
        </p:spPr>
        <p:txBody>
          <a:bodyPr/>
          <a:lstStyle/>
          <a:p>
            <a:r>
              <a:rPr lang="en-GB" b="1" dirty="0" smtClean="0"/>
              <a:t>High-Tech Products</a:t>
            </a:r>
            <a:endParaRPr lang="en-GB" dirty="0"/>
          </a:p>
        </p:txBody>
      </p:sp>
      <p:sp>
        <p:nvSpPr>
          <p:cNvPr id="3" name="Content Placeholder 2"/>
          <p:cNvSpPr>
            <a:spLocks noGrp="1"/>
          </p:cNvSpPr>
          <p:nvPr>
            <p:ph idx="1"/>
          </p:nvPr>
        </p:nvSpPr>
        <p:spPr>
          <a:xfrm>
            <a:off x="0" y="1268760"/>
            <a:ext cx="9144000" cy="5400600"/>
          </a:xfrm>
        </p:spPr>
        <p:txBody>
          <a:bodyPr>
            <a:normAutofit fontScale="77500" lnSpcReduction="20000"/>
          </a:bodyPr>
          <a:lstStyle/>
          <a:p>
            <a:r>
              <a:rPr lang="en-GB" dirty="0" smtClean="0"/>
              <a:t>The world of high technology promises breathtaking challenges for youthful entrepreneurs willing to pick up the gauntlet. </a:t>
            </a:r>
          </a:p>
          <a:p>
            <a:r>
              <a:rPr lang="en-GB" dirty="0" smtClean="0"/>
              <a:t>Digital audio systems are coming onto the market. Digital technology threatens to make obsolete non-digitalised CDs, which replaced those old cassette tapes, which in turn made LP albums obsolete. </a:t>
            </a:r>
          </a:p>
          <a:p>
            <a:r>
              <a:rPr lang="en-GB" dirty="0" smtClean="0"/>
              <a:t>At the same time, an enterprising group of entrepreneurs in Sunnyvale, California, has developed a laser stylus using </a:t>
            </a:r>
            <a:r>
              <a:rPr lang="en-GB" dirty="0" err="1" smtClean="0"/>
              <a:t>analog</a:t>
            </a:r>
            <a:r>
              <a:rPr lang="en-GB" dirty="0" smtClean="0"/>
              <a:t> signals carried by reflected light to “read” records without friction, The new laser stylus may soon make existing </a:t>
            </a:r>
            <a:r>
              <a:rPr lang="en-GB" dirty="0" err="1" smtClean="0"/>
              <a:t>electromechanics</a:t>
            </a:r>
            <a:r>
              <a:rPr lang="en-GB" dirty="0" smtClean="0"/>
              <a:t> used in stereos obsolete.  </a:t>
            </a:r>
          </a:p>
          <a:p>
            <a:r>
              <a:rPr lang="en-GB" dirty="0" smtClean="0"/>
              <a:t>Neither digital systems nor lasers were considered useful in commercial audio systems as the 1980s began; both will probably be replaced by more sophisticated systems before the next decade expires. Someone will develop these products; others will commercialise them; and still others will render them obsolete.</a:t>
            </a:r>
          </a:p>
          <a:p>
            <a:endParaRPr lang="en-GB" dirty="0" smtClean="0"/>
          </a:p>
          <a:p>
            <a:endParaRPr lang="en-GB" dirty="0"/>
          </a:p>
        </p:txBody>
      </p:sp>
      <p:sp>
        <p:nvSpPr>
          <p:cNvPr id="4" name="Slide Number Placeholder 3"/>
          <p:cNvSpPr>
            <a:spLocks noGrp="1"/>
          </p:cNvSpPr>
          <p:nvPr>
            <p:ph type="sldNum" sz="quarter" idx="12"/>
          </p:nvPr>
        </p:nvSpPr>
        <p:spPr/>
        <p:txBody>
          <a:bodyPr/>
          <a:lstStyle/>
          <a:p>
            <a:fld id="{16BF4B21-383E-4FDC-ABE0-7EFB2B39A5F9}" type="slidenum">
              <a:rPr lang="en-GB" smtClean="0"/>
              <a:pPr/>
              <a:t>28</a:t>
            </a:fld>
            <a:endParaRPr lang="en-GB"/>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08720"/>
          </a:xfrm>
        </p:spPr>
        <p:txBody>
          <a:bodyPr>
            <a:normAutofit/>
          </a:bodyPr>
          <a:lstStyle/>
          <a:p>
            <a:r>
              <a:rPr lang="en-GB" b="1" dirty="0" smtClean="0"/>
              <a:t>Mid-Tech Products </a:t>
            </a:r>
            <a:endParaRPr lang="en-GB" dirty="0"/>
          </a:p>
        </p:txBody>
      </p:sp>
      <p:sp>
        <p:nvSpPr>
          <p:cNvPr id="3" name="Content Placeholder 2"/>
          <p:cNvSpPr>
            <a:spLocks noGrp="1"/>
          </p:cNvSpPr>
          <p:nvPr>
            <p:ph idx="1"/>
          </p:nvPr>
        </p:nvSpPr>
        <p:spPr>
          <a:xfrm>
            <a:off x="179512" y="836712"/>
            <a:ext cx="8964488" cy="6021288"/>
          </a:xfrm>
        </p:spPr>
        <p:txBody>
          <a:bodyPr>
            <a:normAutofit fontScale="70000" lnSpcReduction="20000"/>
          </a:bodyPr>
          <a:lstStyle/>
          <a:p>
            <a:r>
              <a:rPr lang="en-GB" dirty="0" smtClean="0"/>
              <a:t>A majority of familiar products are less sophisticated and more readily understood than high-tech innovations and they are classified as </a:t>
            </a:r>
            <a:r>
              <a:rPr lang="en-GB" b="1" dirty="0" smtClean="0"/>
              <a:t>mid-tech.  </a:t>
            </a:r>
          </a:p>
          <a:p>
            <a:r>
              <a:rPr lang="en-GB" dirty="0" smtClean="0"/>
              <a:t>An insulated storm window, for instance, is easy to understand. It consists of two or more panes of glass fabricated into a framed unit and manufactured to close specifications to assure reliable insulation. The technology required to fabricate the storm window is much more complex; it requires special machinery, skilled workers, and efficient manufacturing processes. </a:t>
            </a:r>
          </a:p>
          <a:p>
            <a:r>
              <a:rPr lang="en-GB" dirty="0" smtClean="0"/>
              <a:t>Many existing products have new or unusual (but far from "high-tech") applications. For example, </a:t>
            </a:r>
            <a:r>
              <a:rPr lang="en-GB" dirty="0" err="1" smtClean="0"/>
              <a:t>Velcro‑that</a:t>
            </a:r>
            <a:r>
              <a:rPr lang="en-GB" dirty="0" smtClean="0"/>
              <a:t> familiar bristles-and-fuzz </a:t>
            </a:r>
            <a:r>
              <a:rPr lang="en-GB" dirty="0" err="1" smtClean="0"/>
              <a:t>fastener‑has</a:t>
            </a:r>
            <a:r>
              <a:rPr lang="en-GB" dirty="0" smtClean="0"/>
              <a:t> an industrial-strength cousin. The new Velcro fastener is made with small metal hooks rather than bristles. The hooks look like hundreds of very small Js with arrowheads on a metal pad manufactured in much the same way as small integrated circuits. The new product requires a force of more than 100 pounds per square inch to pull apart, and it is strong enough to replace most ordinary metal fasteners (screws, rivets, and bolts). </a:t>
            </a:r>
          </a:p>
          <a:p>
            <a:r>
              <a:rPr lang="en-GB" dirty="0" smtClean="0"/>
              <a:t>The next generation of clothes washers and dryers may be “stuck” together with strips of metal Velcro, and it will not be long before an enterprising designer creates a "Velcro-separating" tool for repair work. </a:t>
            </a:r>
          </a:p>
          <a:p>
            <a:endParaRPr lang="en-GB" dirty="0"/>
          </a:p>
        </p:txBody>
      </p:sp>
      <p:sp>
        <p:nvSpPr>
          <p:cNvPr id="4" name="Slide Number Placeholder 3"/>
          <p:cNvSpPr>
            <a:spLocks noGrp="1"/>
          </p:cNvSpPr>
          <p:nvPr>
            <p:ph type="sldNum" sz="quarter" idx="12"/>
          </p:nvPr>
        </p:nvSpPr>
        <p:spPr/>
        <p:txBody>
          <a:bodyPr/>
          <a:lstStyle/>
          <a:p>
            <a:fld id="{16BF4B21-383E-4FDC-ABE0-7EFB2B39A5F9}" type="slidenum">
              <a:rPr lang="en-GB" smtClean="0"/>
              <a:pPr/>
              <a:t>29</a:t>
            </a:fld>
            <a:endParaRPr lang="en-GB"/>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lstStyle/>
          <a:p>
            <a:r>
              <a:rPr lang="en-GB" b="1" dirty="0" smtClean="0"/>
              <a:t>Mid-Tech Products</a:t>
            </a:r>
            <a:endParaRPr lang="en-GB" dirty="0"/>
          </a:p>
        </p:txBody>
      </p:sp>
      <p:sp>
        <p:nvSpPr>
          <p:cNvPr id="3" name="Content Placeholder 2"/>
          <p:cNvSpPr>
            <a:spLocks noGrp="1"/>
          </p:cNvSpPr>
          <p:nvPr>
            <p:ph idx="1"/>
          </p:nvPr>
        </p:nvSpPr>
        <p:spPr>
          <a:xfrm>
            <a:off x="0" y="1124744"/>
            <a:ext cx="9144000" cy="5472608"/>
          </a:xfrm>
        </p:spPr>
        <p:txBody>
          <a:bodyPr>
            <a:normAutofit fontScale="92500" lnSpcReduction="20000"/>
          </a:bodyPr>
          <a:lstStyle/>
          <a:p>
            <a:r>
              <a:rPr lang="en-GB" dirty="0" smtClean="0"/>
              <a:t>Mid-tech, also a state of mind assumes new uses of existing resources or methods of production that result in new products. </a:t>
            </a:r>
          </a:p>
          <a:p>
            <a:r>
              <a:rPr lang="en-GB" dirty="0" smtClean="0"/>
              <a:t>This category might also include</a:t>
            </a:r>
            <a:r>
              <a:rPr lang="en-GB" b="1" dirty="0" smtClean="0"/>
              <a:t> </a:t>
            </a:r>
            <a:r>
              <a:rPr lang="en-GB" dirty="0" smtClean="0"/>
              <a:t>commercialisation of existing technology that evolves through proprietary knowledge. Differentiating high-tech from mid-tech products is largely a matter of perception, but unlike high-tech products that presume application of </a:t>
            </a:r>
            <a:r>
              <a:rPr lang="en-GB" i="1" dirty="0" smtClean="0"/>
              <a:t>new </a:t>
            </a:r>
            <a:r>
              <a:rPr lang="en-GB" dirty="0" smtClean="0"/>
              <a:t>knowledge, mid-tech products can often be fabricated through adaptation of existing</a:t>
            </a:r>
            <a:r>
              <a:rPr lang="en-GB" i="1" dirty="0" smtClean="0"/>
              <a:t> </a:t>
            </a:r>
            <a:r>
              <a:rPr lang="en-GB" dirty="0" smtClean="0"/>
              <a:t>knowledge. </a:t>
            </a:r>
          </a:p>
          <a:p>
            <a:r>
              <a:rPr lang="en-GB" dirty="0" smtClean="0"/>
              <a:t>Consequently, entrepreneurs need not be inventive geniuses to pursue mid-tech innovations; they only need to be clever in developing methods to use ideas or resources in beneficial ways. </a:t>
            </a:r>
          </a:p>
          <a:p>
            <a:endParaRPr lang="en-GB" dirty="0"/>
          </a:p>
        </p:txBody>
      </p:sp>
      <p:sp>
        <p:nvSpPr>
          <p:cNvPr id="4" name="Slide Number Placeholder 3"/>
          <p:cNvSpPr>
            <a:spLocks noGrp="1"/>
          </p:cNvSpPr>
          <p:nvPr>
            <p:ph type="sldNum" sz="quarter" idx="12"/>
          </p:nvPr>
        </p:nvSpPr>
        <p:spPr/>
        <p:txBody>
          <a:bodyPr/>
          <a:lstStyle/>
          <a:p>
            <a:fld id="{16BF4B21-383E-4FDC-ABE0-7EFB2B39A5F9}" type="slidenum">
              <a:rPr lang="en-GB" smtClean="0"/>
              <a:pPr/>
              <a:t>30</a:t>
            </a:fld>
            <a:endParaRPr lang="en-GB"/>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08720"/>
          </a:xfrm>
        </p:spPr>
        <p:txBody>
          <a:bodyPr>
            <a:normAutofit/>
          </a:bodyPr>
          <a:lstStyle/>
          <a:p>
            <a:r>
              <a:rPr lang="en-GB" b="1" dirty="0" smtClean="0"/>
              <a:t>Low-Tech Products</a:t>
            </a:r>
            <a:endParaRPr lang="en-GB" dirty="0"/>
          </a:p>
        </p:txBody>
      </p:sp>
      <p:sp>
        <p:nvSpPr>
          <p:cNvPr id="3" name="Content Placeholder 2"/>
          <p:cNvSpPr>
            <a:spLocks noGrp="1"/>
          </p:cNvSpPr>
          <p:nvPr>
            <p:ph idx="1"/>
          </p:nvPr>
        </p:nvSpPr>
        <p:spPr>
          <a:xfrm>
            <a:off x="0" y="692696"/>
            <a:ext cx="9144000" cy="6165304"/>
          </a:xfrm>
        </p:spPr>
        <p:txBody>
          <a:bodyPr>
            <a:normAutofit fontScale="92500"/>
          </a:bodyPr>
          <a:lstStyle/>
          <a:p>
            <a:pPr>
              <a:buNone/>
            </a:pPr>
            <a:endParaRPr lang="en-GB" dirty="0" smtClean="0"/>
          </a:p>
          <a:p>
            <a:r>
              <a:rPr lang="en-GB" dirty="0" smtClean="0"/>
              <a:t>Perception also plays a role in defining what is meant by low tech</a:t>
            </a:r>
            <a:r>
              <a:rPr lang="en-GB" b="1" dirty="0" smtClean="0"/>
              <a:t>, </a:t>
            </a:r>
            <a:r>
              <a:rPr lang="en-GB" dirty="0" smtClean="0"/>
              <a:t>but we assume a rather unsophisticated viewpoint. </a:t>
            </a:r>
          </a:p>
          <a:p>
            <a:r>
              <a:rPr lang="en-GB" dirty="0" smtClean="0"/>
              <a:t>Low-tech products are usually thought to be marginal changes or improvements in existing products. </a:t>
            </a:r>
          </a:p>
          <a:p>
            <a:pPr lvl="1"/>
            <a:r>
              <a:rPr lang="en-GB" dirty="0" smtClean="0"/>
              <a:t>For example, using sheets of plastic and moulds, it is not difficult to create boxes to hold floppy disks. With the same materials, most of us could fashion paper trays, desktop pencil holders, VCR tape racks, and so on. Yet someone had to pull the resources together to manufacture these products. Someone had to design the boxes, trays, and racks, and someone will improve upon them. </a:t>
            </a:r>
          </a:p>
          <a:p>
            <a:endParaRPr lang="en-GB" dirty="0"/>
          </a:p>
        </p:txBody>
      </p:sp>
      <p:sp>
        <p:nvSpPr>
          <p:cNvPr id="4" name="Slide Number Placeholder 3"/>
          <p:cNvSpPr>
            <a:spLocks noGrp="1"/>
          </p:cNvSpPr>
          <p:nvPr>
            <p:ph type="sldNum" sz="quarter" idx="12"/>
          </p:nvPr>
        </p:nvSpPr>
        <p:spPr/>
        <p:txBody>
          <a:bodyPr/>
          <a:lstStyle/>
          <a:p>
            <a:fld id="{16BF4B21-383E-4FDC-ABE0-7EFB2B39A5F9}" type="slidenum">
              <a:rPr lang="en-GB" smtClean="0"/>
              <a:pPr/>
              <a:t>31</a:t>
            </a:fld>
            <a:endParaRPr lang="en-GB"/>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lstStyle/>
          <a:p>
            <a:r>
              <a:rPr lang="en-GB" b="1" dirty="0" smtClean="0"/>
              <a:t>Low-Tech Products</a:t>
            </a:r>
            <a:endParaRPr lang="en-GB" dirty="0"/>
          </a:p>
        </p:txBody>
      </p:sp>
      <p:sp>
        <p:nvSpPr>
          <p:cNvPr id="3" name="Content Placeholder 2"/>
          <p:cNvSpPr>
            <a:spLocks noGrp="1"/>
          </p:cNvSpPr>
          <p:nvPr>
            <p:ph idx="1"/>
          </p:nvPr>
        </p:nvSpPr>
        <p:spPr>
          <a:xfrm>
            <a:off x="0" y="1196752"/>
            <a:ext cx="9144000" cy="5472608"/>
          </a:xfrm>
        </p:spPr>
        <p:txBody>
          <a:bodyPr>
            <a:normAutofit fontScale="92500" lnSpcReduction="20000"/>
          </a:bodyPr>
          <a:lstStyle/>
          <a:p>
            <a:r>
              <a:rPr lang="en-GB" dirty="0" smtClean="0"/>
              <a:t>Paul Bush, president of Bush Industries, a New York firm that makes computer workstations and a successful line of wooden furniture for electronic products , was nearly bankrupt a few years ago. </a:t>
            </a:r>
          </a:p>
          <a:p>
            <a:r>
              <a:rPr lang="en-GB" dirty="0" smtClean="0"/>
              <a:t>He took over a second-generation family business in wood and plastic products, began with zero cash and “negative assets” of nearly a million dollars, yet within six years had created a powerhouse company. </a:t>
            </a:r>
          </a:p>
          <a:p>
            <a:r>
              <a:rPr lang="en-GB" dirty="0" smtClean="0"/>
              <a:t>Success came with the same workers, the same facilities, and the same materials that nearly broke his father's firm. The difference was that Paul Bush introduced new products with innovative designs to provide customers with useful furniture. </a:t>
            </a:r>
          </a:p>
          <a:p>
            <a:endParaRPr lang="en-GB"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464400" y="1330560"/>
              <a:ext cx="1491840" cy="107640"/>
            </p14:xfrm>
          </p:contentPart>
        </mc:Choice>
        <mc:Fallback xmlns="">
          <p:pic>
            <p:nvPicPr>
              <p:cNvPr id="4" name="Ink 3"/>
              <p:cNvPicPr/>
              <p:nvPr/>
            </p:nvPicPr>
            <p:blipFill>
              <a:blip r:embed="rId3"/>
              <a:stretch>
                <a:fillRect/>
              </a:stretch>
            </p:blipFill>
            <p:spPr>
              <a:xfrm>
                <a:off x="448560" y="1267200"/>
                <a:ext cx="1523520" cy="234360"/>
              </a:xfrm>
              <a:prstGeom prst="rect">
                <a:avLst/>
              </a:prstGeom>
            </p:spPr>
          </p:pic>
        </mc:Fallback>
      </mc:AlternateContent>
      <p:sp>
        <p:nvSpPr>
          <p:cNvPr id="5" name="Slide Number Placeholder 4"/>
          <p:cNvSpPr>
            <a:spLocks noGrp="1"/>
          </p:cNvSpPr>
          <p:nvPr>
            <p:ph type="sldNum" sz="quarter" idx="12"/>
          </p:nvPr>
        </p:nvSpPr>
        <p:spPr/>
        <p:txBody>
          <a:bodyPr/>
          <a:lstStyle/>
          <a:p>
            <a:fld id="{16BF4B21-383E-4FDC-ABE0-7EFB2B39A5F9}" type="slidenum">
              <a:rPr lang="en-GB" smtClean="0"/>
              <a:pPr/>
              <a:t>32</a:t>
            </a:fld>
            <a:endParaRPr lang="en-GB"/>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08720"/>
          </a:xfrm>
        </p:spPr>
        <p:txBody>
          <a:bodyPr>
            <a:normAutofit/>
          </a:bodyPr>
          <a:lstStyle/>
          <a:p>
            <a:r>
              <a:rPr lang="en-GB" b="1" dirty="0" smtClean="0"/>
              <a:t>Low-Tech Products</a:t>
            </a:r>
            <a:endParaRPr lang="en-GB" dirty="0"/>
          </a:p>
        </p:txBody>
      </p:sp>
      <p:sp>
        <p:nvSpPr>
          <p:cNvPr id="3" name="Content Placeholder 2"/>
          <p:cNvSpPr>
            <a:spLocks noGrp="1"/>
          </p:cNvSpPr>
          <p:nvPr>
            <p:ph idx="1"/>
          </p:nvPr>
        </p:nvSpPr>
        <p:spPr>
          <a:xfrm>
            <a:off x="0" y="764704"/>
            <a:ext cx="9144000" cy="6093296"/>
          </a:xfrm>
        </p:spPr>
        <p:txBody>
          <a:bodyPr>
            <a:normAutofit fontScale="77500" lnSpcReduction="20000"/>
          </a:bodyPr>
          <a:lstStyle/>
          <a:p>
            <a:r>
              <a:rPr lang="en-GB" dirty="0" smtClean="0"/>
              <a:t>During the 1960s, cargo ships were laboriously loaded and unloaded with slow, expensive bulk-loading equipment. </a:t>
            </a:r>
          </a:p>
          <a:p>
            <a:endParaRPr lang="en-GB" dirty="0" smtClean="0"/>
          </a:p>
          <a:p>
            <a:r>
              <a:rPr lang="en-GB" dirty="0" smtClean="0"/>
              <a:t>A dock worker designed the first prototype cargo container as an experiment to reduce item-by-item loading. This innovation led to improved security and rapid freight packaging. Today “containerised” shipping is the norm. </a:t>
            </a:r>
          </a:p>
          <a:p>
            <a:endParaRPr lang="en-GB" dirty="0" smtClean="0"/>
          </a:p>
          <a:p>
            <a:r>
              <a:rPr lang="en-GB" dirty="0" smtClean="0"/>
              <a:t>In 1965, </a:t>
            </a:r>
            <a:r>
              <a:rPr lang="en-GB" dirty="0" err="1" smtClean="0"/>
              <a:t>Tamon</a:t>
            </a:r>
            <a:r>
              <a:rPr lang="en-GB" dirty="0" smtClean="0"/>
              <a:t> </a:t>
            </a:r>
            <a:r>
              <a:rPr lang="en-GB" dirty="0" err="1" smtClean="0"/>
              <a:t>lwasa</a:t>
            </a:r>
            <a:r>
              <a:rPr lang="en-GB" dirty="0" smtClean="0"/>
              <a:t>, a young Japanese worker tinkering with glass beads, developed the highway reflector so common today. The reflector catches and reflects headlight glare to guide motorists better at night and in foul weather conditions. During the first several years of use in Japan, the </a:t>
            </a:r>
            <a:r>
              <a:rPr lang="en-GB" dirty="0" err="1" smtClean="0"/>
              <a:t>lwasa</a:t>
            </a:r>
            <a:r>
              <a:rPr lang="en-GB" dirty="0" smtClean="0"/>
              <a:t> reflector reduced that nation's accident rate by more than a third.</a:t>
            </a:r>
          </a:p>
          <a:p>
            <a:endParaRPr lang="en-GB" dirty="0" smtClean="0"/>
          </a:p>
          <a:p>
            <a:r>
              <a:rPr lang="en-GB" dirty="0" smtClean="0"/>
              <a:t>Other low-tech innovations include such common items as disposable razors, butane lighters, felt-tipped pens, and pop-top cans.  </a:t>
            </a:r>
          </a:p>
          <a:p>
            <a:endParaRPr lang="en-GB" dirty="0"/>
          </a:p>
        </p:txBody>
      </p:sp>
      <p:sp>
        <p:nvSpPr>
          <p:cNvPr id="4" name="Slide Number Placeholder 3"/>
          <p:cNvSpPr>
            <a:spLocks noGrp="1"/>
          </p:cNvSpPr>
          <p:nvPr>
            <p:ph type="sldNum" sz="quarter" idx="12"/>
          </p:nvPr>
        </p:nvSpPr>
        <p:spPr/>
        <p:txBody>
          <a:bodyPr/>
          <a:lstStyle/>
          <a:p>
            <a:fld id="{16BF4B21-383E-4FDC-ABE0-7EFB2B39A5F9}" type="slidenum">
              <a:rPr lang="en-GB" smtClean="0"/>
              <a:pPr/>
              <a:t>33</a:t>
            </a:fld>
            <a:endParaRPr lang="en-GB"/>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24744"/>
          </a:xfrm>
        </p:spPr>
        <p:txBody>
          <a:bodyPr/>
          <a:lstStyle/>
          <a:p>
            <a:r>
              <a:rPr lang="en-GB" b="1" dirty="0" smtClean="0"/>
              <a:t>Low-Tech Products</a:t>
            </a:r>
            <a:endParaRPr lang="en-GB" dirty="0"/>
          </a:p>
        </p:txBody>
      </p:sp>
      <p:sp>
        <p:nvSpPr>
          <p:cNvPr id="3" name="Content Placeholder 2"/>
          <p:cNvSpPr>
            <a:spLocks noGrp="1"/>
          </p:cNvSpPr>
          <p:nvPr>
            <p:ph idx="1"/>
          </p:nvPr>
        </p:nvSpPr>
        <p:spPr>
          <a:xfrm>
            <a:off x="0" y="980728"/>
            <a:ext cx="9144000" cy="5877272"/>
          </a:xfrm>
        </p:spPr>
        <p:txBody>
          <a:bodyPr>
            <a:normAutofit fontScale="85000" lnSpcReduction="20000"/>
          </a:bodyPr>
          <a:lstStyle/>
          <a:p>
            <a:r>
              <a:rPr lang="en-GB" dirty="0" smtClean="0"/>
              <a:t>Low-tech product development still requires insight by entrepreneurs to see opportunities, and although the resulting products are often short-lived, they represent a vast array of most consumer goods. </a:t>
            </a:r>
          </a:p>
          <a:p>
            <a:r>
              <a:rPr lang="en-GB" dirty="0" smtClean="0"/>
              <a:t>They are short-lived because the lack of skill or technology used in manufacturing makes it easy for new competitors to emerge, or for the existing products to be replaced with slightly improved items. Nevertheless, even in high-tech industries like computer-systems manufacturing, thousands of low-tech products are needed to enhance workstations and to provide computer users with desks, trays, diskette cases, storage bins, printer ribbons, files, and so on. </a:t>
            </a:r>
          </a:p>
          <a:p>
            <a:r>
              <a:rPr lang="en-GB" dirty="0" smtClean="0"/>
              <a:t>The low-tech entrepreneur focuses on products that can be made easily, marketed quickly, and terminated with a minimum of effort. The last point is important because patents can seldom protect low-tech products, and they can be copied or replicated easy by competitors. </a:t>
            </a:r>
          </a:p>
          <a:p>
            <a:endParaRPr lang="en-GB" dirty="0"/>
          </a:p>
        </p:txBody>
      </p:sp>
      <p:sp>
        <p:nvSpPr>
          <p:cNvPr id="4" name="Slide Number Placeholder 3"/>
          <p:cNvSpPr>
            <a:spLocks noGrp="1"/>
          </p:cNvSpPr>
          <p:nvPr>
            <p:ph type="sldNum" sz="quarter" idx="12"/>
          </p:nvPr>
        </p:nvSpPr>
        <p:spPr/>
        <p:txBody>
          <a:bodyPr/>
          <a:lstStyle/>
          <a:p>
            <a:fld id="{16BF4B21-383E-4FDC-ABE0-7EFB2B39A5F9}" type="slidenum">
              <a:rPr lang="en-GB" smtClean="0"/>
              <a:pPr/>
              <a:t>34</a:t>
            </a:fld>
            <a:endParaRPr lang="en-GB"/>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GB" b="1" dirty="0" smtClean="0"/>
              <a:t>IDENTIFYING OPPORTUNITIES</a:t>
            </a:r>
            <a:endParaRPr lang="en-GB" dirty="0"/>
          </a:p>
        </p:txBody>
      </p:sp>
      <p:sp>
        <p:nvSpPr>
          <p:cNvPr id="3" name="Content Placeholder 2"/>
          <p:cNvSpPr>
            <a:spLocks noGrp="1"/>
          </p:cNvSpPr>
          <p:nvPr>
            <p:ph idx="1"/>
          </p:nvPr>
        </p:nvSpPr>
        <p:spPr>
          <a:xfrm>
            <a:off x="457200" y="836712"/>
            <a:ext cx="8229600" cy="5832648"/>
          </a:xfrm>
        </p:spPr>
        <p:txBody>
          <a:bodyPr>
            <a:normAutofit fontScale="70000" lnSpcReduction="20000"/>
          </a:bodyPr>
          <a:lstStyle/>
          <a:p>
            <a:pPr>
              <a:buNone/>
            </a:pPr>
            <a:endParaRPr lang="en-GB" dirty="0" smtClean="0"/>
          </a:p>
          <a:p>
            <a:r>
              <a:rPr lang="en-GB" dirty="0" smtClean="0"/>
              <a:t>In a free-enterprise system, markets arise for new products and services from </a:t>
            </a:r>
            <a:r>
              <a:rPr lang="en-GB" i="1" dirty="0" smtClean="0"/>
              <a:t>wants </a:t>
            </a:r>
            <a:r>
              <a:rPr lang="en-GB" dirty="0" smtClean="0"/>
              <a:t>and </a:t>
            </a:r>
            <a:r>
              <a:rPr lang="en-GB" i="1" dirty="0" smtClean="0"/>
              <a:t>needs </a:t>
            </a:r>
            <a:r>
              <a:rPr lang="en-GB" dirty="0" smtClean="0"/>
              <a:t>of consumers. </a:t>
            </a:r>
          </a:p>
          <a:p>
            <a:r>
              <a:rPr lang="en-GB" dirty="0" smtClean="0"/>
              <a:t>In each of the examples noted previously, the entrepreneurs identified opportunities based on both wants and needs. </a:t>
            </a:r>
          </a:p>
          <a:p>
            <a:r>
              <a:rPr lang="en-GB" dirty="0" smtClean="0"/>
              <a:t>Paul Bush, for example, recognised that electronic products had to sit on something; home consumers wanted practical television stands, VCR cabinets, and desks designed for microcomputer workstations. However, consumers' </a:t>
            </a:r>
            <a:r>
              <a:rPr lang="en-GB" i="1" dirty="0" smtClean="0"/>
              <a:t>wanting </a:t>
            </a:r>
            <a:r>
              <a:rPr lang="en-GB" dirty="0" smtClean="0"/>
              <a:t>such products would not have been</a:t>
            </a:r>
            <a:r>
              <a:rPr lang="en-GB" b="1" dirty="0" smtClean="0"/>
              <a:t> </a:t>
            </a:r>
            <a:r>
              <a:rPr lang="en-GB" dirty="0" smtClean="0"/>
              <a:t>sufficient to launch a multimillion dollar business; customers also had to </a:t>
            </a:r>
            <a:r>
              <a:rPr lang="en-GB" i="1" dirty="0" smtClean="0"/>
              <a:t>need </a:t>
            </a:r>
            <a:r>
              <a:rPr lang="en-GB" dirty="0" smtClean="0"/>
              <a:t>them. </a:t>
            </a:r>
          </a:p>
          <a:p>
            <a:r>
              <a:rPr lang="en-GB" dirty="0" smtClean="0"/>
              <a:t>Bush invested heavily in market research and found that existing products (such as television stands) were often flimsy and ugly. He also found that few companies made computer workstations, and that a large gap existed between functional metal tables (modified typewriter stands) and fashionable office furniture designed specifically for word processors and personal computers. </a:t>
            </a:r>
          </a:p>
          <a:p>
            <a:r>
              <a:rPr lang="en-GB" dirty="0" smtClean="0"/>
              <a:t>Paul Bush recognised the opportunity and created his product line.</a:t>
            </a:r>
          </a:p>
          <a:p>
            <a:pPr>
              <a:buNone/>
            </a:pPr>
            <a:endParaRPr lang="en-GB" dirty="0" smtClean="0"/>
          </a:p>
          <a:p>
            <a:endParaRPr lang="en-GB"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6090120" y="1330560"/>
              <a:ext cx="1438200" cy="27000"/>
            </p14:xfrm>
          </p:contentPart>
        </mc:Choice>
        <mc:Fallback xmlns="">
          <p:pic>
            <p:nvPicPr>
              <p:cNvPr id="4" name="Ink 3"/>
              <p:cNvPicPr/>
              <p:nvPr/>
            </p:nvPicPr>
            <p:blipFill>
              <a:blip r:embed="rId3"/>
              <a:stretch>
                <a:fillRect/>
              </a:stretch>
            </p:blipFill>
            <p:spPr>
              <a:xfrm>
                <a:off x="6074280" y="1267200"/>
                <a:ext cx="146988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p14:cNvContentPartPr/>
              <p14:nvPr/>
            </p14:nvContentPartPr>
            <p14:xfrm>
              <a:off x="964440" y="1625040"/>
              <a:ext cx="839880" cy="45000"/>
            </p14:xfrm>
          </p:contentPart>
        </mc:Choice>
        <mc:Fallback xmlns="">
          <p:pic>
            <p:nvPicPr>
              <p:cNvPr id="5" name="Ink 4"/>
              <p:cNvPicPr/>
              <p:nvPr/>
            </p:nvPicPr>
            <p:blipFill>
              <a:blip r:embed="rId5"/>
              <a:stretch>
                <a:fillRect/>
              </a:stretch>
            </p:blipFill>
            <p:spPr>
              <a:xfrm>
                <a:off x="948600" y="1561680"/>
                <a:ext cx="87156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p14:cNvContentPartPr/>
              <p14:nvPr/>
            </p14:nvContentPartPr>
            <p14:xfrm>
              <a:off x="2589840" y="1607400"/>
              <a:ext cx="625320" cy="360"/>
            </p14:xfrm>
          </p:contentPart>
        </mc:Choice>
        <mc:Fallback xmlns="">
          <p:pic>
            <p:nvPicPr>
              <p:cNvPr id="6" name="Ink 5"/>
              <p:cNvPicPr/>
              <p:nvPr/>
            </p:nvPicPr>
            <p:blipFill>
              <a:blip r:embed="rId7"/>
              <a:stretch>
                <a:fillRect/>
              </a:stretch>
            </p:blipFill>
            <p:spPr>
              <a:xfrm>
                <a:off x="2574000" y="1543680"/>
                <a:ext cx="65700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p14:cNvContentPartPr/>
              <p14:nvPr/>
            </p14:nvContentPartPr>
            <p14:xfrm>
              <a:off x="3714840" y="1661040"/>
              <a:ext cx="616680" cy="360"/>
            </p14:xfrm>
          </p:contentPart>
        </mc:Choice>
        <mc:Fallback xmlns="">
          <p:pic>
            <p:nvPicPr>
              <p:cNvPr id="7" name="Ink 6"/>
              <p:cNvPicPr/>
              <p:nvPr/>
            </p:nvPicPr>
            <p:blipFill>
              <a:blip r:embed="rId9"/>
              <a:stretch>
                <a:fillRect/>
              </a:stretch>
            </p:blipFill>
            <p:spPr>
              <a:xfrm>
                <a:off x="3699000" y="1597320"/>
                <a:ext cx="648360" cy="127440"/>
              </a:xfrm>
              <a:prstGeom prst="rect">
                <a:avLst/>
              </a:prstGeom>
            </p:spPr>
          </p:pic>
        </mc:Fallback>
      </mc:AlternateContent>
      <p:sp>
        <p:nvSpPr>
          <p:cNvPr id="8" name="Slide Number Placeholder 7"/>
          <p:cNvSpPr>
            <a:spLocks noGrp="1"/>
          </p:cNvSpPr>
          <p:nvPr>
            <p:ph type="sldNum" sz="quarter" idx="12"/>
          </p:nvPr>
        </p:nvSpPr>
        <p:spPr/>
        <p:txBody>
          <a:bodyPr/>
          <a:lstStyle/>
          <a:p>
            <a:fld id="{16BF4B21-383E-4FDC-ABE0-7EFB2B39A5F9}" type="slidenum">
              <a:rPr lang="en-GB" smtClean="0"/>
              <a:pPr/>
              <a:t>35</a:t>
            </a:fld>
            <a:endParaRPr lang="en-GB"/>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GB" b="1" dirty="0" smtClean="0"/>
              <a:t>IDENTIFYING OPPORTUNITIES</a:t>
            </a:r>
            <a:endParaRPr lang="en-GB" dirty="0"/>
          </a:p>
        </p:txBody>
      </p:sp>
      <p:sp>
        <p:nvSpPr>
          <p:cNvPr id="3" name="Content Placeholder 2"/>
          <p:cNvSpPr>
            <a:spLocks noGrp="1"/>
          </p:cNvSpPr>
          <p:nvPr>
            <p:ph idx="1"/>
          </p:nvPr>
        </p:nvSpPr>
        <p:spPr>
          <a:xfrm>
            <a:off x="457200" y="980728"/>
            <a:ext cx="8229600" cy="5877272"/>
          </a:xfrm>
        </p:spPr>
        <p:txBody>
          <a:bodyPr>
            <a:normAutofit fontScale="92500" lnSpcReduction="20000"/>
          </a:bodyPr>
          <a:lstStyle/>
          <a:p>
            <a:r>
              <a:rPr lang="en-GB" dirty="0" smtClean="0"/>
              <a:t>Yet another example is the plastic template that can be slipped over a microcomputer keyboard for quick reference to keyboard functions. Templates provide PC users with fingertip information about keys and functions for various software applications. The opportunity gap was one of useful knowledge. </a:t>
            </a:r>
          </a:p>
          <a:p>
            <a:r>
              <a:rPr lang="en-GB" dirty="0" smtClean="0"/>
              <a:t>Software developers have created exciting applications from word processing to computer-aided design, but learning to use these applications usually means wading through a thick manual written by engineers. Plastic templates help make systems more “friendly,” yet they are only printed sheets of plastic costing pennies to make.</a:t>
            </a:r>
          </a:p>
          <a:p>
            <a:endParaRPr lang="en-GB" dirty="0"/>
          </a:p>
        </p:txBody>
      </p:sp>
      <p:sp>
        <p:nvSpPr>
          <p:cNvPr id="4" name="Slide Number Placeholder 3"/>
          <p:cNvSpPr>
            <a:spLocks noGrp="1"/>
          </p:cNvSpPr>
          <p:nvPr>
            <p:ph type="sldNum" sz="quarter" idx="12"/>
          </p:nvPr>
        </p:nvSpPr>
        <p:spPr/>
        <p:txBody>
          <a:bodyPr/>
          <a:lstStyle/>
          <a:p>
            <a:fld id="{16BF4B21-383E-4FDC-ABE0-7EFB2B39A5F9}" type="slidenum">
              <a:rPr lang="en-GB" smtClean="0"/>
              <a:pPr/>
              <a:t>36</a:t>
            </a:fld>
            <a:endParaRPr lang="en-GB"/>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GB" b="1" dirty="0" smtClean="0"/>
              <a:t>Generating Product Ideas</a:t>
            </a:r>
            <a:endParaRPr lang="en-GB" dirty="0"/>
          </a:p>
        </p:txBody>
      </p:sp>
      <p:sp>
        <p:nvSpPr>
          <p:cNvPr id="3" name="Content Placeholder 2"/>
          <p:cNvSpPr>
            <a:spLocks noGrp="1"/>
          </p:cNvSpPr>
          <p:nvPr>
            <p:ph idx="1"/>
          </p:nvPr>
        </p:nvSpPr>
        <p:spPr>
          <a:xfrm>
            <a:off x="457200" y="836712"/>
            <a:ext cx="8229600" cy="6021288"/>
          </a:xfrm>
        </p:spPr>
        <p:txBody>
          <a:bodyPr>
            <a:normAutofit fontScale="70000" lnSpcReduction="20000"/>
          </a:bodyPr>
          <a:lstStyle/>
          <a:p>
            <a:pPr>
              <a:buNone/>
            </a:pPr>
            <a:endParaRPr lang="en-GB" dirty="0" smtClean="0"/>
          </a:p>
          <a:p>
            <a:r>
              <a:rPr lang="en-GB" sz="3600" dirty="0" smtClean="0"/>
              <a:t>Every person has tremendous experience with a wide array of products and services. We store knowledge far more complex and in quantities that far exceed the capabilities of even the most sophisticated computer system. </a:t>
            </a:r>
          </a:p>
          <a:p>
            <a:r>
              <a:rPr lang="en-GB" sz="3600" dirty="0" smtClean="0"/>
              <a:t>Yet when students in an entrepreneurship course were asked to brainstorm new product ideas, 35 students representing nearly 735 total years of consumer experience sat numb (and mute) for the first two weeks of the course. </a:t>
            </a:r>
          </a:p>
          <a:p>
            <a:r>
              <a:rPr lang="en-GB" sz="3600" dirty="0" smtClean="0"/>
              <a:t>With a bit of nudging, however, they formulated a rather impressive list of ideas. They were given an assignment to identify and explain the commercial viability of at least ten new products during the third week of the course. As a result, students identified nearly 800 product </a:t>
            </a:r>
            <a:r>
              <a:rPr lang="en-GB" sz="3600" dirty="0" err="1" smtClean="0"/>
              <a:t>ideas‑more</a:t>
            </a:r>
            <a:r>
              <a:rPr lang="en-GB" sz="3600" dirty="0" smtClean="0"/>
              <a:t> than one for each year of each student's life.</a:t>
            </a:r>
          </a:p>
          <a:p>
            <a:endParaRPr lang="en-GB" sz="3600" dirty="0"/>
          </a:p>
        </p:txBody>
      </p:sp>
      <p:sp>
        <p:nvSpPr>
          <p:cNvPr id="4" name="Slide Number Placeholder 3"/>
          <p:cNvSpPr>
            <a:spLocks noGrp="1"/>
          </p:cNvSpPr>
          <p:nvPr>
            <p:ph type="sldNum" sz="quarter" idx="12"/>
          </p:nvPr>
        </p:nvSpPr>
        <p:spPr/>
        <p:txBody>
          <a:bodyPr/>
          <a:lstStyle/>
          <a:p>
            <a:fld id="{16BF4B21-383E-4FDC-ABE0-7EFB2B39A5F9}" type="slidenum">
              <a:rPr lang="en-GB" smtClean="0"/>
              <a:pPr/>
              <a:t>37</a:t>
            </a:fld>
            <a:endParaRPr lang="en-GB"/>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GB" b="1" dirty="0" smtClean="0"/>
              <a:t>Mapping New Ideas</a:t>
            </a:r>
            <a:endParaRPr lang="en-GB" dirty="0"/>
          </a:p>
        </p:txBody>
      </p:sp>
      <p:sp>
        <p:nvSpPr>
          <p:cNvPr id="3" name="Content Placeholder 2"/>
          <p:cNvSpPr>
            <a:spLocks noGrp="1"/>
          </p:cNvSpPr>
          <p:nvPr>
            <p:ph idx="1"/>
          </p:nvPr>
        </p:nvSpPr>
        <p:spPr>
          <a:xfrm>
            <a:off x="457200" y="980728"/>
            <a:ext cx="8229600" cy="5145435"/>
          </a:xfrm>
        </p:spPr>
        <p:txBody>
          <a:bodyPr>
            <a:normAutofit fontScale="92500" lnSpcReduction="20000"/>
          </a:bodyPr>
          <a:lstStyle/>
          <a:p>
            <a:pPr>
              <a:buNone/>
            </a:pPr>
            <a:r>
              <a:rPr lang="en-GB" b="1" dirty="0" smtClean="0"/>
              <a:t> </a:t>
            </a:r>
            <a:endParaRPr lang="en-GB" dirty="0" smtClean="0"/>
          </a:p>
          <a:p>
            <a:r>
              <a:rPr lang="en-GB" dirty="0" smtClean="0"/>
              <a:t>One way to develop innovative ideas is to </a:t>
            </a:r>
            <a:r>
              <a:rPr lang="en-GB" b="1" dirty="0" smtClean="0"/>
              <a:t>mind-map. </a:t>
            </a:r>
            <a:r>
              <a:rPr lang="en-GB" dirty="0" smtClean="0"/>
              <a:t>This is a method of brainstorming in which a general idea is refined into components that represent markets, and from those components, product ideas are evaluated for their value to a particular customer. Group decision-making techniques, such as Delphi and the Nominal Group Technique (NGT), have less meaning for entrepreneurs who usually find themselves making individual decisions, yet a </a:t>
            </a:r>
            <a:r>
              <a:rPr lang="en-GB" dirty="0" err="1" smtClean="0"/>
              <a:t>mind‑mapping</a:t>
            </a:r>
            <a:r>
              <a:rPr lang="en-GB" dirty="0" smtClean="0"/>
              <a:t> process can have interesting results.</a:t>
            </a:r>
          </a:p>
          <a:p>
            <a:r>
              <a:rPr lang="en-GB" dirty="0" smtClean="0"/>
              <a:t> </a:t>
            </a:r>
          </a:p>
          <a:p>
            <a:endParaRPr lang="en-GB"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7304760" y="1589400"/>
              <a:ext cx="803880" cy="45000"/>
            </p14:xfrm>
          </p:contentPart>
        </mc:Choice>
        <mc:Fallback xmlns="">
          <p:pic>
            <p:nvPicPr>
              <p:cNvPr id="4" name="Ink 3"/>
              <p:cNvPicPr/>
              <p:nvPr/>
            </p:nvPicPr>
            <p:blipFill>
              <a:blip r:embed="rId3"/>
              <a:stretch>
                <a:fillRect/>
              </a:stretch>
            </p:blipFill>
            <p:spPr>
              <a:xfrm>
                <a:off x="7288560" y="1526040"/>
                <a:ext cx="83592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p14:cNvContentPartPr/>
              <p14:nvPr/>
            </p14:nvContentPartPr>
            <p14:xfrm>
              <a:off x="866160" y="2027160"/>
              <a:ext cx="723960" cy="62640"/>
            </p14:xfrm>
          </p:contentPart>
        </mc:Choice>
        <mc:Fallback xmlns="">
          <p:pic>
            <p:nvPicPr>
              <p:cNvPr id="5" name="Ink 4"/>
              <p:cNvPicPr/>
              <p:nvPr/>
            </p:nvPicPr>
            <p:blipFill>
              <a:blip r:embed="rId5"/>
              <a:stretch>
                <a:fillRect/>
              </a:stretch>
            </p:blipFill>
            <p:spPr>
              <a:xfrm>
                <a:off x="850320" y="1963440"/>
                <a:ext cx="75564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p14:cNvContentPartPr/>
              <p14:nvPr/>
            </p14:nvContentPartPr>
            <p14:xfrm>
              <a:off x="3062880" y="2035800"/>
              <a:ext cx="2545560" cy="72000"/>
            </p14:xfrm>
          </p:contentPart>
        </mc:Choice>
        <mc:Fallback xmlns="">
          <p:pic>
            <p:nvPicPr>
              <p:cNvPr id="6" name="Ink 5"/>
              <p:cNvPicPr/>
              <p:nvPr/>
            </p:nvPicPr>
            <p:blipFill>
              <a:blip r:embed="rId7"/>
              <a:stretch>
                <a:fillRect/>
              </a:stretch>
            </p:blipFill>
            <p:spPr>
              <a:xfrm>
                <a:off x="3047040" y="1972440"/>
                <a:ext cx="257724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p14:cNvContentPartPr/>
              <p14:nvPr/>
            </p14:nvContentPartPr>
            <p14:xfrm>
              <a:off x="5608080" y="2107440"/>
              <a:ext cx="2589840" cy="125280"/>
            </p14:xfrm>
          </p:contentPart>
        </mc:Choice>
        <mc:Fallback xmlns="">
          <p:pic>
            <p:nvPicPr>
              <p:cNvPr id="7" name="Ink 6"/>
              <p:cNvPicPr/>
              <p:nvPr/>
            </p:nvPicPr>
            <p:blipFill>
              <a:blip r:embed="rId9"/>
              <a:stretch>
                <a:fillRect/>
              </a:stretch>
            </p:blipFill>
            <p:spPr>
              <a:xfrm>
                <a:off x="5592240" y="2044080"/>
                <a:ext cx="262152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p14:cNvContentPartPr/>
              <p14:nvPr/>
            </p14:nvContentPartPr>
            <p14:xfrm>
              <a:off x="6420600" y="1937880"/>
              <a:ext cx="1741680" cy="142920"/>
            </p14:xfrm>
          </p:contentPart>
        </mc:Choice>
        <mc:Fallback xmlns="">
          <p:pic>
            <p:nvPicPr>
              <p:cNvPr id="8" name="Ink 7"/>
              <p:cNvPicPr/>
              <p:nvPr/>
            </p:nvPicPr>
            <p:blipFill>
              <a:blip r:embed="rId11"/>
              <a:stretch>
                <a:fillRect/>
              </a:stretch>
            </p:blipFill>
            <p:spPr>
              <a:xfrm>
                <a:off x="6404760" y="1874160"/>
                <a:ext cx="177336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p14:cNvContentPartPr/>
              <p14:nvPr/>
            </p14:nvContentPartPr>
            <p14:xfrm>
              <a:off x="1027080" y="2286000"/>
              <a:ext cx="2420280" cy="160920"/>
            </p14:xfrm>
          </p:contentPart>
        </mc:Choice>
        <mc:Fallback xmlns="">
          <p:pic>
            <p:nvPicPr>
              <p:cNvPr id="9" name="Ink 8"/>
              <p:cNvPicPr/>
              <p:nvPr/>
            </p:nvPicPr>
            <p:blipFill>
              <a:blip r:embed="rId13"/>
              <a:stretch>
                <a:fillRect/>
              </a:stretch>
            </p:blipFill>
            <p:spPr>
              <a:xfrm>
                <a:off x="1011240" y="2222640"/>
                <a:ext cx="245196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p14:cNvContentPartPr/>
              <p14:nvPr/>
            </p14:nvContentPartPr>
            <p14:xfrm>
              <a:off x="3456000" y="2446560"/>
              <a:ext cx="1563120" cy="360"/>
            </p14:xfrm>
          </p:contentPart>
        </mc:Choice>
        <mc:Fallback xmlns="">
          <p:pic>
            <p:nvPicPr>
              <p:cNvPr id="10" name="Ink 9"/>
              <p:cNvPicPr/>
              <p:nvPr/>
            </p:nvPicPr>
            <p:blipFill>
              <a:blip r:embed="rId15"/>
              <a:stretch>
                <a:fillRect/>
              </a:stretch>
            </p:blipFill>
            <p:spPr>
              <a:xfrm>
                <a:off x="3440160" y="2383200"/>
                <a:ext cx="159480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p14:cNvContentPartPr/>
              <p14:nvPr/>
            </p14:nvContentPartPr>
            <p14:xfrm>
              <a:off x="5018760" y="2446560"/>
              <a:ext cx="1428840" cy="360"/>
            </p14:xfrm>
          </p:contentPart>
        </mc:Choice>
        <mc:Fallback xmlns="">
          <p:pic>
            <p:nvPicPr>
              <p:cNvPr id="11" name="Ink 10"/>
              <p:cNvPicPr/>
              <p:nvPr/>
            </p:nvPicPr>
            <p:blipFill>
              <a:blip r:embed="rId17"/>
              <a:stretch>
                <a:fillRect/>
              </a:stretch>
            </p:blipFill>
            <p:spPr>
              <a:xfrm>
                <a:off x="5002560" y="2383200"/>
                <a:ext cx="146088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p14:cNvContentPartPr/>
              <p14:nvPr/>
            </p14:nvContentPartPr>
            <p14:xfrm>
              <a:off x="6447240" y="2446560"/>
              <a:ext cx="795240" cy="18360"/>
            </p14:xfrm>
          </p:contentPart>
        </mc:Choice>
        <mc:Fallback xmlns="">
          <p:pic>
            <p:nvPicPr>
              <p:cNvPr id="12" name="Ink 11"/>
              <p:cNvPicPr/>
              <p:nvPr/>
            </p:nvPicPr>
            <p:blipFill>
              <a:blip r:embed="rId19"/>
              <a:stretch>
                <a:fillRect/>
              </a:stretch>
            </p:blipFill>
            <p:spPr>
              <a:xfrm>
                <a:off x="6431400" y="2383200"/>
                <a:ext cx="82692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p14:cNvContentPartPr/>
              <p14:nvPr/>
            </p14:nvContentPartPr>
            <p14:xfrm>
              <a:off x="4179240" y="2035800"/>
              <a:ext cx="3866760" cy="402480"/>
            </p14:xfrm>
          </p:contentPart>
        </mc:Choice>
        <mc:Fallback xmlns="">
          <p:pic>
            <p:nvPicPr>
              <p:cNvPr id="13" name="Ink 12"/>
              <p:cNvPicPr/>
              <p:nvPr/>
            </p:nvPicPr>
            <p:blipFill>
              <a:blip r:embed="rId21"/>
              <a:stretch>
                <a:fillRect/>
              </a:stretch>
            </p:blipFill>
            <p:spPr>
              <a:xfrm>
                <a:off x="4163400" y="1972440"/>
                <a:ext cx="3898440" cy="5292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p14:cNvContentPartPr/>
              <p14:nvPr/>
            </p14:nvContentPartPr>
            <p14:xfrm>
              <a:off x="1027080" y="2705760"/>
              <a:ext cx="2697120" cy="36000"/>
            </p14:xfrm>
          </p:contentPart>
        </mc:Choice>
        <mc:Fallback xmlns="">
          <p:pic>
            <p:nvPicPr>
              <p:cNvPr id="14" name="Ink 13"/>
              <p:cNvPicPr/>
              <p:nvPr/>
            </p:nvPicPr>
            <p:blipFill>
              <a:blip r:embed="rId23"/>
              <a:stretch>
                <a:fillRect/>
              </a:stretch>
            </p:blipFill>
            <p:spPr>
              <a:xfrm>
                <a:off x="1011240" y="2642040"/>
                <a:ext cx="272880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p14:cNvContentPartPr/>
              <p14:nvPr/>
            </p14:nvContentPartPr>
            <p14:xfrm>
              <a:off x="3938040" y="2741400"/>
              <a:ext cx="3241800" cy="36000"/>
            </p14:xfrm>
          </p:contentPart>
        </mc:Choice>
        <mc:Fallback xmlns="">
          <p:pic>
            <p:nvPicPr>
              <p:cNvPr id="15" name="Ink 14"/>
              <p:cNvPicPr/>
              <p:nvPr/>
            </p:nvPicPr>
            <p:blipFill>
              <a:blip r:embed="rId25"/>
              <a:stretch>
                <a:fillRect/>
              </a:stretch>
            </p:blipFill>
            <p:spPr>
              <a:xfrm>
                <a:off x="3922200" y="2678040"/>
                <a:ext cx="327348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p14:cNvContentPartPr/>
              <p14:nvPr/>
            </p14:nvContentPartPr>
            <p14:xfrm>
              <a:off x="7179480" y="2777040"/>
              <a:ext cx="1206000" cy="187920"/>
            </p14:xfrm>
          </p:contentPart>
        </mc:Choice>
        <mc:Fallback xmlns="">
          <p:pic>
            <p:nvPicPr>
              <p:cNvPr id="16" name="Ink 15"/>
              <p:cNvPicPr/>
              <p:nvPr/>
            </p:nvPicPr>
            <p:blipFill>
              <a:blip r:embed="rId27"/>
              <a:stretch>
                <a:fillRect/>
              </a:stretch>
            </p:blipFill>
            <p:spPr>
              <a:xfrm>
                <a:off x="7163640" y="2713680"/>
                <a:ext cx="1237680" cy="315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p14:cNvContentPartPr/>
              <p14:nvPr/>
            </p14:nvContentPartPr>
            <p14:xfrm>
              <a:off x="973440" y="3214800"/>
              <a:ext cx="3974040" cy="36000"/>
            </p14:xfrm>
          </p:contentPart>
        </mc:Choice>
        <mc:Fallback xmlns="">
          <p:pic>
            <p:nvPicPr>
              <p:cNvPr id="17" name="Ink 16"/>
              <p:cNvPicPr/>
              <p:nvPr/>
            </p:nvPicPr>
            <p:blipFill>
              <a:blip r:embed="rId29"/>
              <a:stretch>
                <a:fillRect/>
              </a:stretch>
            </p:blipFill>
            <p:spPr>
              <a:xfrm>
                <a:off x="957600" y="3151080"/>
                <a:ext cx="400572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Ink 17"/>
              <p14:cNvContentPartPr/>
              <p14:nvPr/>
            </p14:nvContentPartPr>
            <p14:xfrm>
              <a:off x="4956120" y="3232440"/>
              <a:ext cx="116280" cy="360"/>
            </p14:xfrm>
          </p:contentPart>
        </mc:Choice>
        <mc:Fallback xmlns="">
          <p:pic>
            <p:nvPicPr>
              <p:cNvPr id="18" name="Ink 17"/>
              <p:cNvPicPr/>
              <p:nvPr/>
            </p:nvPicPr>
            <p:blipFill>
              <a:blip r:embed="rId31"/>
              <a:stretch>
                <a:fillRect/>
              </a:stretch>
            </p:blipFill>
            <p:spPr>
              <a:xfrm>
                <a:off x="4940280" y="3169080"/>
                <a:ext cx="14832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Ink 18"/>
              <p14:cNvContentPartPr/>
              <p14:nvPr/>
            </p14:nvContentPartPr>
            <p14:xfrm>
              <a:off x="5375880" y="3205800"/>
              <a:ext cx="360" cy="360"/>
            </p14:xfrm>
          </p:contentPart>
        </mc:Choice>
        <mc:Fallback xmlns="">
          <p:pic>
            <p:nvPicPr>
              <p:cNvPr id="19" name="Ink 18"/>
              <p:cNvPicPr/>
              <p:nvPr/>
            </p:nvPicPr>
            <p:blipFill>
              <a:blip r:embed="rId33"/>
              <a:stretch>
                <a:fillRect/>
              </a:stretch>
            </p:blipFill>
            <p:spPr>
              <a:xfrm>
                <a:off x="5360040" y="3142080"/>
                <a:ext cx="3204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0" name="Ink 19"/>
              <p14:cNvContentPartPr/>
              <p14:nvPr/>
            </p14:nvContentPartPr>
            <p14:xfrm>
              <a:off x="5375880" y="3170160"/>
              <a:ext cx="2607840" cy="53640"/>
            </p14:xfrm>
          </p:contentPart>
        </mc:Choice>
        <mc:Fallback xmlns="">
          <p:pic>
            <p:nvPicPr>
              <p:cNvPr id="20" name="Ink 19"/>
              <p:cNvPicPr/>
              <p:nvPr/>
            </p:nvPicPr>
            <p:blipFill>
              <a:blip r:embed="rId35"/>
              <a:stretch>
                <a:fillRect/>
              </a:stretch>
            </p:blipFill>
            <p:spPr>
              <a:xfrm>
                <a:off x="5360040" y="3106440"/>
                <a:ext cx="263952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Ink 20"/>
              <p14:cNvContentPartPr/>
              <p14:nvPr/>
            </p14:nvContentPartPr>
            <p14:xfrm>
              <a:off x="1009080" y="3544920"/>
              <a:ext cx="2875680" cy="54000"/>
            </p14:xfrm>
          </p:contentPart>
        </mc:Choice>
        <mc:Fallback xmlns="">
          <p:pic>
            <p:nvPicPr>
              <p:cNvPr id="21" name="Ink 20"/>
              <p:cNvPicPr/>
              <p:nvPr/>
            </p:nvPicPr>
            <p:blipFill>
              <a:blip r:embed="rId37"/>
              <a:stretch>
                <a:fillRect/>
              </a:stretch>
            </p:blipFill>
            <p:spPr>
              <a:xfrm>
                <a:off x="993240" y="3481560"/>
                <a:ext cx="290736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2" name="Ink 21"/>
              <p14:cNvContentPartPr/>
              <p14:nvPr/>
            </p14:nvContentPartPr>
            <p14:xfrm>
              <a:off x="4616640" y="3455640"/>
              <a:ext cx="1813320" cy="27360"/>
            </p14:xfrm>
          </p:contentPart>
        </mc:Choice>
        <mc:Fallback xmlns="">
          <p:pic>
            <p:nvPicPr>
              <p:cNvPr id="22" name="Ink 21"/>
              <p:cNvPicPr/>
              <p:nvPr/>
            </p:nvPicPr>
            <p:blipFill>
              <a:blip r:embed="rId39"/>
              <a:stretch>
                <a:fillRect/>
              </a:stretch>
            </p:blipFill>
            <p:spPr>
              <a:xfrm>
                <a:off x="4600800" y="3392280"/>
                <a:ext cx="184500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3" name="Ink 22"/>
              <p14:cNvContentPartPr/>
              <p14:nvPr/>
            </p14:nvContentPartPr>
            <p14:xfrm>
              <a:off x="6322320" y="3447000"/>
              <a:ext cx="1295280" cy="18000"/>
            </p14:xfrm>
          </p:contentPart>
        </mc:Choice>
        <mc:Fallback xmlns="">
          <p:pic>
            <p:nvPicPr>
              <p:cNvPr id="23" name="Ink 22"/>
              <p:cNvPicPr/>
              <p:nvPr/>
            </p:nvPicPr>
            <p:blipFill>
              <a:blip r:embed="rId41"/>
              <a:stretch>
                <a:fillRect/>
              </a:stretch>
            </p:blipFill>
            <p:spPr>
              <a:xfrm>
                <a:off x="6306480" y="3383280"/>
                <a:ext cx="132696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4" name="Ink 23"/>
              <p14:cNvContentPartPr/>
              <p14:nvPr/>
            </p14:nvContentPartPr>
            <p14:xfrm>
              <a:off x="4125600" y="3813120"/>
              <a:ext cx="1384560" cy="71640"/>
            </p14:xfrm>
          </p:contentPart>
        </mc:Choice>
        <mc:Fallback xmlns="">
          <p:pic>
            <p:nvPicPr>
              <p:cNvPr id="24" name="Ink 23"/>
              <p:cNvPicPr/>
              <p:nvPr/>
            </p:nvPicPr>
            <p:blipFill>
              <a:blip r:embed="rId43"/>
              <a:stretch>
                <a:fillRect/>
              </a:stretch>
            </p:blipFill>
            <p:spPr>
              <a:xfrm>
                <a:off x="4109760" y="3749400"/>
                <a:ext cx="141624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5" name="Ink 24"/>
              <p14:cNvContentPartPr/>
              <p14:nvPr/>
            </p14:nvContentPartPr>
            <p14:xfrm>
              <a:off x="6393960" y="3786120"/>
              <a:ext cx="1062720" cy="80640"/>
            </p14:xfrm>
          </p:contentPart>
        </mc:Choice>
        <mc:Fallback xmlns="">
          <p:pic>
            <p:nvPicPr>
              <p:cNvPr id="25" name="Ink 24"/>
              <p:cNvPicPr/>
              <p:nvPr/>
            </p:nvPicPr>
            <p:blipFill>
              <a:blip r:embed="rId45"/>
              <a:stretch>
                <a:fillRect/>
              </a:stretch>
            </p:blipFill>
            <p:spPr>
              <a:xfrm>
                <a:off x="6377760" y="3722760"/>
                <a:ext cx="109476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6" name="Ink 25"/>
              <p14:cNvContentPartPr/>
              <p14:nvPr/>
            </p14:nvContentPartPr>
            <p14:xfrm>
              <a:off x="1946880" y="4205880"/>
              <a:ext cx="2580840" cy="259200"/>
            </p14:xfrm>
          </p:contentPart>
        </mc:Choice>
        <mc:Fallback xmlns="">
          <p:pic>
            <p:nvPicPr>
              <p:cNvPr id="26" name="Ink 25"/>
              <p:cNvPicPr/>
              <p:nvPr/>
            </p:nvPicPr>
            <p:blipFill>
              <a:blip r:embed="rId47"/>
              <a:stretch>
                <a:fillRect/>
              </a:stretch>
            </p:blipFill>
            <p:spPr>
              <a:xfrm>
                <a:off x="1931040" y="4142520"/>
                <a:ext cx="2612520" cy="386280"/>
              </a:xfrm>
              <a:prstGeom prst="rect">
                <a:avLst/>
              </a:prstGeom>
            </p:spPr>
          </p:pic>
        </mc:Fallback>
      </mc:AlternateContent>
      <p:sp>
        <p:nvSpPr>
          <p:cNvPr id="27" name="Slide Number Placeholder 26"/>
          <p:cNvSpPr>
            <a:spLocks noGrp="1"/>
          </p:cNvSpPr>
          <p:nvPr>
            <p:ph type="sldNum" sz="quarter" idx="12"/>
          </p:nvPr>
        </p:nvSpPr>
        <p:spPr/>
        <p:txBody>
          <a:bodyPr/>
          <a:lstStyle/>
          <a:p>
            <a:fld id="{16BF4B21-383E-4FDC-ABE0-7EFB2B39A5F9}" type="slidenum">
              <a:rPr lang="en-GB" smtClean="0"/>
              <a:pPr/>
              <a:t>38</a:t>
            </a:fld>
            <a:endParaRPr lang="en-GB"/>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lstStyle/>
          <a:p>
            <a:r>
              <a:rPr lang="en-GB" b="1" dirty="0" smtClean="0"/>
              <a:t>Mapping New Ideas</a:t>
            </a:r>
            <a:endParaRPr lang="en-GB" dirty="0"/>
          </a:p>
        </p:txBody>
      </p:sp>
      <p:sp>
        <p:nvSpPr>
          <p:cNvPr id="3" name="Content Placeholder 2"/>
          <p:cNvSpPr>
            <a:spLocks noGrp="1"/>
          </p:cNvSpPr>
          <p:nvPr>
            <p:ph idx="1"/>
          </p:nvPr>
        </p:nvSpPr>
        <p:spPr>
          <a:xfrm>
            <a:off x="457200" y="908720"/>
            <a:ext cx="8229600" cy="5949280"/>
          </a:xfrm>
        </p:spPr>
        <p:txBody>
          <a:bodyPr>
            <a:normAutofit fontScale="70000" lnSpcReduction="20000"/>
          </a:bodyPr>
          <a:lstStyle/>
          <a:p>
            <a:r>
              <a:rPr lang="en-GB" dirty="0" smtClean="0"/>
              <a:t>The first stage of the mind map is to develop likely areas of product or market interests related to an entrepreneur's general business interest. </a:t>
            </a:r>
          </a:p>
          <a:p>
            <a:r>
              <a:rPr lang="en-GB" dirty="0" smtClean="0"/>
              <a:t>In the illustration, the entrepreneur was an amateur photographer interested in turning a lifelong hobby into a business. </a:t>
            </a:r>
          </a:p>
          <a:p>
            <a:r>
              <a:rPr lang="en-GB" dirty="0" smtClean="0"/>
              <a:t>From the first stage, she identified "consumer products‑ as being of more interest to her than other options. From the focus of consumer products, she extended her ideas to specific products or services, including camera bags, developing </a:t>
            </a:r>
            <a:r>
              <a:rPr lang="en-GB" dirty="0" err="1" smtClean="0"/>
              <a:t>photography‑instruction</a:t>
            </a:r>
            <a:r>
              <a:rPr lang="en-GB" dirty="0" smtClean="0"/>
              <a:t> seminars, designing technical equipment for professional photography, and creating publications on photography. </a:t>
            </a:r>
          </a:p>
          <a:p>
            <a:r>
              <a:rPr lang="en-GB" dirty="0" smtClean="0"/>
              <a:t>She selected the area of publications to explore, and in the third stage she identified several related business opportunities. Being an avid writer as well as a photographer, she quickly narrowed the field to three types of magazines that would interest her. She researched all three, and eventually decided to create a photography instruction magazine aimed at photography hobbyists and parents. (see fig 1)</a:t>
            </a:r>
          </a:p>
          <a:p>
            <a:pPr>
              <a:buNone/>
            </a:pPr>
            <a:endParaRPr lang="en-GB" dirty="0" smtClean="0"/>
          </a:p>
          <a:p>
            <a:pPr>
              <a:buNone/>
            </a:pPr>
            <a:endParaRPr lang="en-GB" dirty="0" smtClean="0"/>
          </a:p>
        </p:txBody>
      </p:sp>
      <p:sp>
        <p:nvSpPr>
          <p:cNvPr id="4" name="Slide Number Placeholder 3"/>
          <p:cNvSpPr>
            <a:spLocks noGrp="1"/>
          </p:cNvSpPr>
          <p:nvPr>
            <p:ph type="sldNum" sz="quarter" idx="12"/>
          </p:nvPr>
        </p:nvSpPr>
        <p:spPr/>
        <p:txBody>
          <a:bodyPr/>
          <a:lstStyle/>
          <a:p>
            <a:fld id="{16BF4B21-383E-4FDC-ABE0-7EFB2B39A5F9}" type="slidenum">
              <a:rPr lang="en-GB" smtClean="0"/>
              <a:pPr/>
              <a:t>39</a:t>
            </a:fld>
            <a:endParaRPr lang="en-GB"/>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GB" b="1" dirty="0" smtClean="0"/>
              <a:t>Mapping New Ideas</a:t>
            </a:r>
            <a:endParaRPr lang="en-GB" dirty="0"/>
          </a:p>
        </p:txBody>
      </p:sp>
      <p:sp>
        <p:nvSpPr>
          <p:cNvPr id="3" name="Content Placeholder 2"/>
          <p:cNvSpPr>
            <a:spLocks noGrp="1"/>
          </p:cNvSpPr>
          <p:nvPr>
            <p:ph idx="1"/>
          </p:nvPr>
        </p:nvSpPr>
        <p:spPr>
          <a:xfrm>
            <a:off x="457200" y="1052736"/>
            <a:ext cx="8229600" cy="5544616"/>
          </a:xfrm>
        </p:spPr>
        <p:txBody>
          <a:bodyPr>
            <a:normAutofit fontScale="92500" lnSpcReduction="20000"/>
          </a:bodyPr>
          <a:lstStyle/>
          <a:p>
            <a:r>
              <a:rPr lang="en-GB" dirty="0" smtClean="0"/>
              <a:t>Although mind-mapping is simply an illustration of how one might go about identifying opportunities, it is more than a gimmick. </a:t>
            </a:r>
          </a:p>
          <a:p>
            <a:r>
              <a:rPr lang="en-GB" dirty="0" smtClean="0"/>
              <a:t>It reflects the first stage in the creative process. As part of that discussion, we also described a variety of ways that opportunities arise (such as through demographic changes) and how entrepreneurs allow their ideas to "incubate‑ into commercially viable innovations. </a:t>
            </a:r>
          </a:p>
          <a:p>
            <a:r>
              <a:rPr lang="en-GB" dirty="0" smtClean="0"/>
              <a:t>Incubation of ideas reflects the model of innovation described in detail. We build on these concepts in the next section, specifically expanding the model of a creative process as it relates to bringing a product idea to fruition.</a:t>
            </a:r>
          </a:p>
          <a:p>
            <a:endParaRPr lang="en-GB" dirty="0"/>
          </a:p>
        </p:txBody>
      </p:sp>
      <p:sp>
        <p:nvSpPr>
          <p:cNvPr id="4" name="Slide Number Placeholder 3"/>
          <p:cNvSpPr>
            <a:spLocks noGrp="1"/>
          </p:cNvSpPr>
          <p:nvPr>
            <p:ph type="sldNum" sz="quarter" idx="12"/>
          </p:nvPr>
        </p:nvSpPr>
        <p:spPr/>
        <p:txBody>
          <a:bodyPr/>
          <a:lstStyle/>
          <a:p>
            <a:fld id="{16BF4B21-383E-4FDC-ABE0-7EFB2B39A5F9}" type="slidenum">
              <a:rPr lang="en-GB" smtClean="0"/>
              <a:pPr/>
              <a:t>40</a:t>
            </a:fld>
            <a:endParaRPr lang="en-GB"/>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251520" y="0"/>
            <a:ext cx="8892480" cy="6610095"/>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fld id="{16BF4B21-383E-4FDC-ABE0-7EFB2B39A5F9}" type="slidenum">
              <a:rPr lang="en-GB" smtClean="0"/>
              <a:pPr/>
              <a:t>41</a:t>
            </a:fld>
            <a:endParaRPr lang="en-GB"/>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1846</TotalTime>
  <Words>4435</Words>
  <Application>Microsoft Office PowerPoint</Application>
  <PresentationFormat>On-screen Show (4:3)</PresentationFormat>
  <Paragraphs>245</Paragraphs>
  <Slides>41</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Calibri</vt:lpstr>
      <vt:lpstr>Wingdings</vt:lpstr>
      <vt:lpstr>Office Theme</vt:lpstr>
      <vt:lpstr> 3 Product and Service  Concepts for New Ventures   </vt:lpstr>
      <vt:lpstr>OBJECTIVES</vt:lpstr>
      <vt:lpstr>INTRODUCTION</vt:lpstr>
      <vt:lpstr> Opportunities in new products and processes, and why manufacturing is important in a free-market economy. </vt:lpstr>
      <vt:lpstr>A MACRO VIEW‑MANUFACTURING MATTERS</vt:lpstr>
      <vt:lpstr>A MACRO VIEW‑MANUFACTURING MATTERS</vt:lpstr>
      <vt:lpstr>A MACRO VIEW‑MANUFACTURING MATTERS</vt:lpstr>
      <vt:lpstr>Clarifying the Role of Manufacturing</vt:lpstr>
      <vt:lpstr>Clarifying the Role of Manufacturing</vt:lpstr>
      <vt:lpstr>Clarifying the Role of Manufacturing</vt:lpstr>
      <vt:lpstr>Clarifying the Role of Manufacturing</vt:lpstr>
      <vt:lpstr>The Productivity Shift</vt:lpstr>
      <vt:lpstr>The Agricultural Perspective</vt:lpstr>
      <vt:lpstr>The Agricultural Perspective</vt:lpstr>
      <vt:lpstr>The Manufacturing Perspective </vt:lpstr>
      <vt:lpstr>The Manufacturing Perspective </vt:lpstr>
      <vt:lpstr>The Manufacturing Perspective </vt:lpstr>
      <vt:lpstr>The Manufacturing Perspective </vt:lpstr>
      <vt:lpstr>Implications of Productivity</vt:lpstr>
      <vt:lpstr>Implications of Productivity</vt:lpstr>
      <vt:lpstr>Implications of Productivity</vt:lpstr>
      <vt:lpstr>Implications of Productivity</vt:lpstr>
      <vt:lpstr>REVIEW</vt:lpstr>
      <vt:lpstr>PRODUCTS AND TECHNOLOGY</vt:lpstr>
      <vt:lpstr>PRODUCTS AND TECHNOLOGY</vt:lpstr>
      <vt:lpstr>PRODUCTS AND TECHNOLOGY</vt:lpstr>
      <vt:lpstr>High-Tech Products</vt:lpstr>
      <vt:lpstr>High-Tech Products</vt:lpstr>
      <vt:lpstr>Mid-Tech Products </vt:lpstr>
      <vt:lpstr>Mid-Tech Products</vt:lpstr>
      <vt:lpstr>Low-Tech Products</vt:lpstr>
      <vt:lpstr>Low-Tech Products</vt:lpstr>
      <vt:lpstr>Low-Tech Products</vt:lpstr>
      <vt:lpstr>Low-Tech Products</vt:lpstr>
      <vt:lpstr>IDENTIFYING OPPORTUNITIES</vt:lpstr>
      <vt:lpstr>IDENTIFYING OPPORTUNITIES</vt:lpstr>
      <vt:lpstr>Generating Product Ideas</vt:lpstr>
      <vt:lpstr>Mapping New Ideas</vt:lpstr>
      <vt:lpstr>Mapping New Ideas</vt:lpstr>
      <vt:lpstr>Mapping New Ideas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 Product and Service  Concepts for New Ventures</dc:title>
  <dc:creator>Araba Kwegyirba</dc:creator>
  <cp:lastModifiedBy>JEROME</cp:lastModifiedBy>
  <cp:revision>58</cp:revision>
  <dcterms:created xsi:type="dcterms:W3CDTF">2011-01-09T17:53:33Z</dcterms:created>
  <dcterms:modified xsi:type="dcterms:W3CDTF">2017-04-30T00:21:12Z</dcterms:modified>
</cp:coreProperties>
</file>