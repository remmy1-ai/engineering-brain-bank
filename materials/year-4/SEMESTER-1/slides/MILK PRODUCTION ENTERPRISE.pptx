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9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FE75A-4875-4E98-B35B-028BF7BBD1D6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91B25-56B3-4331-B5F1-D189216D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6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8BD6-EEB5-4A48-9667-14507E0041A4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E2C2-5505-4B68-8F55-627D681D14E9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A395-886C-45BC-A46D-75E6D8C5AC44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0172-767D-4CAC-8FB9-5B9482E552F2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81D9A-E7DE-4EC8-917D-4FBE4492E368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88F9-72A4-47D0-A032-2768928DD6DA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093C-5E6A-4D85-8E6B-930F142CD548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5F94-12AC-4A3D-8DE7-8319B4C32352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F9FEE-57A4-455D-847D-8B4D5CFF9246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38619-DDBA-46AF-B7EA-EFC84DB061A3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FD2A-306D-4D56-BC53-AA643C96BEAB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D688F-8351-4171-AE0A-D008FB96366E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C793-D360-490F-8D0F-31131378C272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15673-F306-44B1-9FB5-91E8BA99AAA6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1879-8A3F-4044-97F4-5441982516A8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A995-3C3B-47D9-8B9A-62453429213B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F8D6B-37EE-4459-B2C1-533923122F60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2526CF-B777-4EDD-A6C5-B8336B3BBF78}" type="datetime1">
              <a:rPr lang="en-US" smtClean="0"/>
              <a:t>8/4/2020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BELA MILK PRODUCTION ENTERPRISE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BELA MILK PRODUCTION ENTERPRISE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AGRICULTURAL &amp; BIOSYSTEMS ENGINEERING</a:t>
            </a:r>
          </a:p>
          <a:p>
            <a:r>
              <a:rPr lang="en-US" dirty="0" smtClean="0"/>
              <a:t>FARM STRUCTURES</a:t>
            </a:r>
          </a:p>
          <a:p>
            <a:r>
              <a:rPr lang="en-US" dirty="0" smtClean="0"/>
              <a:t>GROUP 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DF4A-D346-4F61-AC91-2E35B46C3E5C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45456" y="5883275"/>
            <a:ext cx="4210999" cy="365125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9895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788" y="0"/>
            <a:ext cx="9906237" cy="982639"/>
          </a:xfrm>
        </p:spPr>
        <p:txBody>
          <a:bodyPr>
            <a:normAutofit/>
          </a:bodyPr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424" y="982639"/>
            <a:ext cx="10813576" cy="488449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3000" dirty="0" smtClean="0"/>
              <a:t>Introduction</a:t>
            </a:r>
          </a:p>
          <a:p>
            <a:pPr marL="457200" indent="-457200">
              <a:buAutoNum type="arabicPeriod"/>
            </a:pPr>
            <a:r>
              <a:rPr lang="en-US" sz="3000" dirty="0" smtClean="0"/>
              <a:t>Production</a:t>
            </a:r>
          </a:p>
          <a:p>
            <a:pPr marL="457200" indent="-457200">
              <a:buAutoNum type="arabicPeriod"/>
            </a:pPr>
            <a:r>
              <a:rPr lang="en-US" sz="3000" dirty="0" smtClean="0"/>
              <a:t>Structures &amp; Equipment</a:t>
            </a:r>
          </a:p>
          <a:p>
            <a:pPr marL="457200" indent="-457200">
              <a:buAutoNum type="arabicPeriod"/>
            </a:pPr>
            <a:r>
              <a:rPr lang="en-US" sz="3000" dirty="0" smtClean="0"/>
              <a:t>Processing Line or Activity Analysis</a:t>
            </a:r>
          </a:p>
          <a:p>
            <a:pPr marL="457200" indent="-457200">
              <a:buAutoNum type="arabicPeriod"/>
            </a:pPr>
            <a:r>
              <a:rPr lang="en-US" sz="3000" dirty="0" smtClean="0"/>
              <a:t>Flow of Material</a:t>
            </a:r>
          </a:p>
          <a:p>
            <a:pPr marL="457200" indent="-457200">
              <a:buAutoNum type="arabicPeriod"/>
            </a:pPr>
            <a:r>
              <a:rPr lang="en-US" sz="3000" dirty="0" smtClean="0"/>
              <a:t>Farmstead Planning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52C-9811-41A7-BD14-B390A1B2882D}" type="datetime1">
              <a:rPr lang="en-US" sz="1400" b="1" smtClean="0"/>
              <a:t>8/4/2020</a:t>
            </a:fld>
            <a:endParaRPr lang="en-US" sz="14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6570" y="5867131"/>
            <a:ext cx="7036086" cy="348981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38208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3989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4311" y="444500"/>
            <a:ext cx="10161589" cy="1625601"/>
          </a:xfrm>
        </p:spPr>
        <p:txBody>
          <a:bodyPr/>
          <a:lstStyle/>
          <a:p>
            <a:r>
              <a:rPr lang="en-US" sz="4400" b="1" dirty="0" smtClean="0"/>
              <a:t>Introduction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46200" y="1917700"/>
            <a:ext cx="10515600" cy="4076701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3000" dirty="0" smtClean="0"/>
              <a:t>Bela </a:t>
            </a:r>
            <a:r>
              <a:rPr lang="en-US" sz="3000" dirty="0"/>
              <a:t>m</a:t>
            </a:r>
            <a:r>
              <a:rPr lang="en-US" sz="3000" dirty="0" smtClean="0"/>
              <a:t>ilk production enterprise is an enterprise under the production and processing of milk from dairy cattle (livestock).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0319-F0B6-40C8-A370-5456561F3093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9323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0"/>
            <a:ext cx="10085389" cy="1092201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71600"/>
            <a:ext cx="10339390" cy="44196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200" dirty="0" smtClean="0"/>
              <a:t>600 dairy cattle for the milk production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r>
              <a:rPr lang="en-US" sz="3200" dirty="0" smtClean="0"/>
              <a:t>An average weight of an adult dairy cow is about 700 Kg producing about 6 gallons (22 litres) of milk per day. </a:t>
            </a:r>
          </a:p>
          <a:p>
            <a:endParaRPr lang="en-US" dirty="0" smtClean="0"/>
          </a:p>
          <a:p>
            <a:r>
              <a:rPr lang="en-US" sz="3000" dirty="0"/>
              <a:t> </a:t>
            </a:r>
            <a:r>
              <a:rPr lang="en-US" sz="3200" dirty="0"/>
              <a:t>T</a:t>
            </a:r>
            <a:r>
              <a:rPr lang="en-US" sz="3200" dirty="0" smtClean="0"/>
              <a:t>herefore an estimate of 3,600 gallons approximately 13,320 litres of milk will be produced daily by the milk house (600 dairy cattle).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F7D46-49C2-4C19-B594-E29BA3C7A4C5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 dirty="0" smtClean="0"/>
              <a:t>BELA MILK PRODUCTION ENTERPRISE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4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092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-121925"/>
            <a:ext cx="10085389" cy="1048517"/>
          </a:xfrm>
        </p:spPr>
        <p:txBody>
          <a:bodyPr/>
          <a:lstStyle/>
          <a:p>
            <a:r>
              <a:rPr lang="en-US" dirty="0" smtClean="0"/>
              <a:t>Structures &amp; Equipment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600073"/>
            <a:ext cx="4583113" cy="2991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40" y="2123444"/>
            <a:ext cx="4805360" cy="3197341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463686" y="6368471"/>
            <a:ext cx="1143000" cy="365125"/>
          </a:xfrm>
        </p:spPr>
        <p:txBody>
          <a:bodyPr/>
          <a:lstStyle/>
          <a:p>
            <a:fld id="{795C8F45-252E-406D-8636-F41FF172B383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05496" y="6383525"/>
            <a:ext cx="7084177" cy="365125"/>
          </a:xfrm>
        </p:spPr>
        <p:txBody>
          <a:bodyPr/>
          <a:lstStyle/>
          <a:p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033956" y="6244753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5</a:t>
            </a:fld>
            <a:endParaRPr lang="en-US" sz="1400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0" y="1023581"/>
            <a:ext cx="12192000" cy="53599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 smtClean="0"/>
              <a:t>1. Dairy House/ cattle structure                           2. Milk </a:t>
            </a:r>
            <a:r>
              <a:rPr lang="en-US" sz="3200" dirty="0" err="1" smtClean="0"/>
              <a:t>Palour</a:t>
            </a:r>
            <a:r>
              <a:rPr lang="en-US" sz="3200" dirty="0" smtClean="0"/>
              <a:t> &amp; Milking </a:t>
            </a:r>
          </a:p>
          <a:p>
            <a:pPr marL="0" indent="0">
              <a:buNone/>
            </a:pPr>
            <a:r>
              <a:rPr lang="en-US" sz="3200" dirty="0" smtClean="0"/>
              <a:t>                                                                                                 machine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                                                  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200" dirty="0" smtClean="0"/>
              <a:t>3. Manure Pit                                                                 4. Implement shed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9714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888999"/>
          </a:xfrm>
        </p:spPr>
        <p:txBody>
          <a:bodyPr/>
          <a:lstStyle/>
          <a:p>
            <a:r>
              <a:rPr lang="en-US" dirty="0" smtClean="0"/>
              <a:t>Structures &amp; Equipment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731520"/>
            <a:ext cx="12082818" cy="59232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5. Pasture land / grazing field                          6. Milking storage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                                                                                  structure or Milk silo</a:t>
            </a:r>
          </a:p>
          <a:p>
            <a:pPr marL="0" indent="0">
              <a:buNone/>
            </a:pPr>
            <a:r>
              <a:rPr lang="en-US" sz="3200" dirty="0" smtClean="0"/>
              <a:t>                                                                                       </a:t>
            </a: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7. Packaging Machinery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5" y="1620519"/>
            <a:ext cx="4968240" cy="37261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066" y="2171504"/>
            <a:ext cx="4236592" cy="468649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21903" y="6433947"/>
            <a:ext cx="7084177" cy="365125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232107" y="6433947"/>
            <a:ext cx="372058" cy="292989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6613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448" y="1"/>
            <a:ext cx="9009888" cy="987551"/>
          </a:xfrm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Structures &amp; Equipment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3856"/>
            <a:ext cx="12192000" cy="5724144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 smtClean="0"/>
              <a:t>8. Processing Tanks                                                          9. Homogenizer &amp; </a:t>
            </a:r>
          </a:p>
          <a:p>
            <a:pPr marL="0" indent="0">
              <a:buNone/>
            </a:pPr>
            <a:r>
              <a:rPr lang="en-US" sz="3000" dirty="0"/>
              <a:t> </a:t>
            </a:r>
            <a:r>
              <a:rPr lang="en-US" sz="3000" dirty="0" smtClean="0"/>
              <a:t>                                                                                                      Separators</a:t>
            </a:r>
          </a:p>
          <a:p>
            <a:pPr marL="0" indent="0">
              <a:buNone/>
            </a:pPr>
            <a:r>
              <a:rPr lang="en-US" sz="3000" dirty="0"/>
              <a:t> </a:t>
            </a:r>
            <a:r>
              <a:rPr lang="en-US" sz="3000" dirty="0" smtClean="0"/>
              <a:t>                                                                         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000" dirty="0" smtClean="0"/>
              <a:t>10. Pasteurizer or Pasteurising Plant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825"/>
            <a:ext cx="6297205" cy="3207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864614"/>
            <a:ext cx="4762500" cy="476250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691379" y="6261988"/>
            <a:ext cx="1143000" cy="365125"/>
          </a:xfrm>
        </p:spPr>
        <p:txBody>
          <a:bodyPr/>
          <a:lstStyle/>
          <a:p>
            <a:fld id="{C7680A72-8190-4D5B-AC57-2FF14410EDA8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685174" y="6261989"/>
            <a:ext cx="7084177" cy="365125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205240" y="6261987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548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20" y="1"/>
            <a:ext cx="9552304" cy="1099436"/>
          </a:xfrm>
        </p:spPr>
        <p:txBody>
          <a:bodyPr/>
          <a:lstStyle/>
          <a:p>
            <a:r>
              <a:rPr lang="en-US" dirty="0" smtClean="0"/>
              <a:t>Processing Lines or Activity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231394"/>
            <a:ext cx="12622681" cy="5626608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003805" y="2827782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Milking Reception</a:t>
            </a:r>
            <a:endParaRPr lang="en-US" sz="2400" dirty="0"/>
          </a:p>
        </p:txBody>
      </p:sp>
      <p:sp>
        <p:nvSpPr>
          <p:cNvPr id="7" name="Down Arrow 6"/>
          <p:cNvSpPr/>
          <p:nvPr/>
        </p:nvSpPr>
        <p:spPr>
          <a:xfrm>
            <a:off x="3038856" y="210235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5284503" y="2097024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484310" y="1251966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Grazing/Feeding</a:t>
            </a:r>
            <a:endParaRPr lang="en-US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4360959" y="1626108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Laboratory &amp; Testing</a:t>
            </a:r>
            <a:endParaRPr lang="en-US" sz="2400" dirty="0"/>
          </a:p>
        </p:txBody>
      </p:sp>
      <p:sp>
        <p:nvSpPr>
          <p:cNvPr id="15" name="Rounded Rectangle 14"/>
          <p:cNvSpPr/>
          <p:nvPr/>
        </p:nvSpPr>
        <p:spPr>
          <a:xfrm>
            <a:off x="6335170" y="2880614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Cream Separation</a:t>
            </a:r>
            <a:endParaRPr lang="en-US" sz="2400" dirty="0"/>
          </a:p>
        </p:txBody>
      </p:sp>
      <p:sp>
        <p:nvSpPr>
          <p:cNvPr id="16" name="Right Arrow 15"/>
          <p:cNvSpPr/>
          <p:nvPr/>
        </p:nvSpPr>
        <p:spPr>
          <a:xfrm>
            <a:off x="5609398" y="30800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484310" y="2637282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smtClean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7020394" y="4185026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Product Processing</a:t>
            </a:r>
            <a:endParaRPr lang="en-US" sz="2400" dirty="0"/>
          </a:p>
        </p:txBody>
      </p:sp>
      <p:sp>
        <p:nvSpPr>
          <p:cNvPr id="19" name="Down Arrow 18"/>
          <p:cNvSpPr/>
          <p:nvPr/>
        </p:nvSpPr>
        <p:spPr>
          <a:xfrm>
            <a:off x="8666890" y="347472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/>
          <p:cNvSpPr/>
          <p:nvPr/>
        </p:nvSpPr>
        <p:spPr>
          <a:xfrm>
            <a:off x="9603807" y="4414266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0237900" y="4199382"/>
            <a:ext cx="1770386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Vitamin Addition</a:t>
            </a:r>
            <a:endParaRPr lang="en-US" sz="2400" dirty="0"/>
          </a:p>
        </p:txBody>
      </p:sp>
      <p:sp>
        <p:nvSpPr>
          <p:cNvPr id="23" name="Up Arrow 22"/>
          <p:cNvSpPr/>
          <p:nvPr/>
        </p:nvSpPr>
        <p:spPr>
          <a:xfrm>
            <a:off x="9274961" y="486194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7909918" y="5444176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Pasteurisation</a:t>
            </a:r>
            <a:endParaRPr lang="en-US" sz="2400" dirty="0"/>
          </a:p>
        </p:txBody>
      </p:sp>
      <p:sp>
        <p:nvSpPr>
          <p:cNvPr id="26" name="Rounded Rectangle 25"/>
          <p:cNvSpPr/>
          <p:nvPr/>
        </p:nvSpPr>
        <p:spPr>
          <a:xfrm>
            <a:off x="4198024" y="4185026"/>
            <a:ext cx="2220173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Packaging</a:t>
            </a:r>
            <a:endParaRPr lang="en-US" sz="2400" dirty="0"/>
          </a:p>
        </p:txBody>
      </p:sp>
      <p:sp>
        <p:nvSpPr>
          <p:cNvPr id="27" name="Left Arrow 26"/>
          <p:cNvSpPr/>
          <p:nvPr/>
        </p:nvSpPr>
        <p:spPr>
          <a:xfrm>
            <a:off x="6159736" y="4414266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960451" y="4199382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Cold or Warm Storage </a:t>
            </a:r>
            <a:endParaRPr lang="en-US" sz="2400" dirty="0"/>
          </a:p>
        </p:txBody>
      </p:sp>
      <p:sp>
        <p:nvSpPr>
          <p:cNvPr id="32" name="Left Arrow 31"/>
          <p:cNvSpPr/>
          <p:nvPr/>
        </p:nvSpPr>
        <p:spPr>
          <a:xfrm>
            <a:off x="3537962" y="442626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1060338" y="5692374"/>
            <a:ext cx="2816352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Distribution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5" name="Down Arrow 34"/>
          <p:cNvSpPr/>
          <p:nvPr/>
        </p:nvSpPr>
        <p:spPr>
          <a:xfrm>
            <a:off x="2129213" y="495194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>
          <a:xfrm>
            <a:off x="9509533" y="6417757"/>
            <a:ext cx="1143000" cy="365125"/>
          </a:xfrm>
        </p:spPr>
        <p:txBody>
          <a:bodyPr/>
          <a:lstStyle/>
          <a:p>
            <a:fld id="{1BE9821F-20A6-4EE3-BBC8-A9D36BB434C2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>
          <a:xfrm>
            <a:off x="3821594" y="6496165"/>
            <a:ext cx="7084177" cy="365125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>
          <a:xfrm>
            <a:off x="11258369" y="635444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0460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51129"/>
          </a:xfrm>
        </p:spPr>
        <p:txBody>
          <a:bodyPr>
            <a:normAutofit/>
          </a:bodyPr>
          <a:lstStyle/>
          <a:p>
            <a:r>
              <a:rPr lang="en-US" dirty="0" smtClean="0"/>
              <a:t>Flow of Material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91069" y="741524"/>
            <a:ext cx="12528645" cy="624636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26" name="Oval 25"/>
          <p:cNvSpPr/>
          <p:nvPr/>
        </p:nvSpPr>
        <p:spPr>
          <a:xfrm>
            <a:off x="-191069" y="982639"/>
            <a:ext cx="1709052" cy="1518381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Raw Milk from Cattle </a:t>
            </a:r>
            <a:endParaRPr lang="en-US" sz="2400" dirty="0"/>
          </a:p>
        </p:txBody>
      </p:sp>
      <p:sp>
        <p:nvSpPr>
          <p:cNvPr id="27" name="Oval 26"/>
          <p:cNvSpPr/>
          <p:nvPr/>
        </p:nvSpPr>
        <p:spPr>
          <a:xfrm>
            <a:off x="1691666" y="1336210"/>
            <a:ext cx="1360559" cy="1107771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Filter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3243294" y="1149892"/>
            <a:ext cx="2229459" cy="135112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Processing Tank </a:t>
            </a:r>
            <a:endParaRPr lang="en-US" sz="2400" dirty="0"/>
          </a:p>
        </p:txBody>
      </p:sp>
      <p:sp>
        <p:nvSpPr>
          <p:cNvPr id="31" name="Right Arrow 30"/>
          <p:cNvSpPr/>
          <p:nvPr/>
        </p:nvSpPr>
        <p:spPr>
          <a:xfrm>
            <a:off x="2767594" y="1636213"/>
            <a:ext cx="731520" cy="36576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1200917" y="1697782"/>
            <a:ext cx="731520" cy="36576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164403" y="2652818"/>
            <a:ext cx="2229459" cy="135112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Separator </a:t>
            </a:r>
            <a:endParaRPr lang="en-US" sz="2400" dirty="0"/>
          </a:p>
        </p:txBody>
      </p:sp>
      <p:sp>
        <p:nvSpPr>
          <p:cNvPr id="37" name="Down Arrow 36"/>
          <p:cNvSpPr/>
          <p:nvPr/>
        </p:nvSpPr>
        <p:spPr>
          <a:xfrm>
            <a:off x="4115707" y="2301430"/>
            <a:ext cx="365760" cy="64008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6" idx="6"/>
          </p:cNvCxnSpPr>
          <p:nvPr/>
        </p:nvCxnSpPr>
        <p:spPr>
          <a:xfrm>
            <a:off x="5393862" y="3328382"/>
            <a:ext cx="346039" cy="0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717351" y="2878884"/>
            <a:ext cx="1191225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Raw Cream Storage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3129267" y="4088738"/>
            <a:ext cx="2338640" cy="119585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Pasteurizer </a:t>
            </a:r>
            <a:endParaRPr lang="en-US" sz="2400" dirty="0"/>
          </a:p>
        </p:txBody>
      </p:sp>
      <p:sp>
        <p:nvSpPr>
          <p:cNvPr id="44" name="Down Arrow 43"/>
          <p:cNvSpPr/>
          <p:nvPr/>
        </p:nvSpPr>
        <p:spPr>
          <a:xfrm>
            <a:off x="4115707" y="3793284"/>
            <a:ext cx="365760" cy="64008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2818364" y="4560387"/>
            <a:ext cx="346039" cy="0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2818364" y="4715369"/>
            <a:ext cx="314990" cy="0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200918" y="4193790"/>
            <a:ext cx="165208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Homogenizer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052225" y="5421035"/>
            <a:ext cx="2548537" cy="119585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 Pasteurized storage</a:t>
            </a:r>
            <a:endParaRPr lang="en-US" sz="2400" dirty="0"/>
          </a:p>
        </p:txBody>
      </p:sp>
      <p:sp>
        <p:nvSpPr>
          <p:cNvPr id="51" name="Down Arrow 50"/>
          <p:cNvSpPr/>
          <p:nvPr/>
        </p:nvSpPr>
        <p:spPr>
          <a:xfrm flipH="1">
            <a:off x="4132313" y="5071174"/>
            <a:ext cx="332548" cy="64008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5717351" y="5479080"/>
            <a:ext cx="2217948" cy="99194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 Filler</a:t>
            </a:r>
            <a:endParaRPr lang="en-US" sz="2400" dirty="0"/>
          </a:p>
        </p:txBody>
      </p:sp>
      <p:sp>
        <p:nvSpPr>
          <p:cNvPr id="53" name="Right Arrow 52"/>
          <p:cNvSpPr/>
          <p:nvPr/>
        </p:nvSpPr>
        <p:spPr>
          <a:xfrm>
            <a:off x="5235002" y="5807373"/>
            <a:ext cx="731520" cy="36576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6822694" y="5108190"/>
            <a:ext cx="7261" cy="385042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031535" y="4193790"/>
            <a:ext cx="165208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Packaging Material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7897444" y="4794752"/>
            <a:ext cx="2440999" cy="104438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 Milk Silos</a:t>
            </a:r>
            <a:endParaRPr lang="en-US" sz="2400" dirty="0"/>
          </a:p>
        </p:txBody>
      </p:sp>
      <p:sp>
        <p:nvSpPr>
          <p:cNvPr id="59" name="Right Arrow 58"/>
          <p:cNvSpPr/>
          <p:nvPr/>
        </p:nvSpPr>
        <p:spPr>
          <a:xfrm rot="19111282">
            <a:off x="7531684" y="5449289"/>
            <a:ext cx="731520" cy="36576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7974232" y="5943501"/>
            <a:ext cx="2440999" cy="104438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sz="2400" dirty="0" smtClean="0"/>
              <a:t> Distribution</a:t>
            </a:r>
            <a:endParaRPr lang="en-US" sz="2400" dirty="0"/>
          </a:p>
        </p:txBody>
      </p:sp>
      <p:sp>
        <p:nvSpPr>
          <p:cNvPr id="61" name="Right Arrow 60"/>
          <p:cNvSpPr/>
          <p:nvPr/>
        </p:nvSpPr>
        <p:spPr>
          <a:xfrm rot="1546564">
            <a:off x="7512937" y="6110269"/>
            <a:ext cx="731520" cy="36576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Date Placeholder 61"/>
          <p:cNvSpPr>
            <a:spLocks noGrp="1"/>
          </p:cNvSpPr>
          <p:nvPr>
            <p:ph type="dt" sz="half" idx="10"/>
          </p:nvPr>
        </p:nvSpPr>
        <p:spPr>
          <a:xfrm>
            <a:off x="10264793" y="6398101"/>
            <a:ext cx="1143000" cy="365125"/>
          </a:xfrm>
        </p:spPr>
        <p:txBody>
          <a:bodyPr/>
          <a:lstStyle/>
          <a:p>
            <a:fld id="{833EEFB9-9846-44F4-876C-D9989E6D4293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63" name="Footer Placeholder 62"/>
          <p:cNvSpPr>
            <a:spLocks noGrp="1"/>
          </p:cNvSpPr>
          <p:nvPr>
            <p:ph type="ftr" sz="quarter" idx="11"/>
          </p:nvPr>
        </p:nvSpPr>
        <p:spPr>
          <a:xfrm>
            <a:off x="2371945" y="6580053"/>
            <a:ext cx="7084177" cy="365125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>
          <a:xfrm>
            <a:off x="11240737" y="5839140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9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1318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664" y="2"/>
            <a:ext cx="10056360" cy="835926"/>
          </a:xfrm>
        </p:spPr>
        <p:txBody>
          <a:bodyPr/>
          <a:lstStyle/>
          <a:p>
            <a:r>
              <a:rPr lang="en-US" dirty="0" smtClean="0"/>
              <a:t>Farmstead 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96" y="791570"/>
            <a:ext cx="12192000" cy="606643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                                                Road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037230" y="3971499"/>
            <a:ext cx="7533564" cy="40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887104" y="4883339"/>
            <a:ext cx="8188657" cy="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1978925" y="941697"/>
            <a:ext cx="27296" cy="30502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006221" y="921225"/>
            <a:ext cx="5636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642746" y="941697"/>
            <a:ext cx="0" cy="3029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476467" y="3370997"/>
            <a:ext cx="763956" cy="4350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 1</a:t>
            </a:r>
            <a:endParaRPr lang="en-US" dirty="0"/>
          </a:p>
        </p:txBody>
      </p:sp>
      <p:sp>
        <p:nvSpPr>
          <p:cNvPr id="41" name="Rounded Rectangle 40"/>
          <p:cNvSpPr/>
          <p:nvPr/>
        </p:nvSpPr>
        <p:spPr>
          <a:xfrm>
            <a:off x="3691429" y="2825943"/>
            <a:ext cx="606382" cy="394931"/>
          </a:xfrm>
          <a:prstGeom prst="roundRect">
            <a:avLst>
              <a:gd name="adj" fmla="val 606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 2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4054330" y="3306171"/>
            <a:ext cx="6788" cy="6857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049743" y="3285699"/>
            <a:ext cx="1345505" cy="20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382829" y="3306171"/>
            <a:ext cx="12419" cy="6857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3507476" y="2754289"/>
            <a:ext cx="29150" cy="1258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5828216" y="2774761"/>
            <a:ext cx="1" cy="1217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 flipV="1">
            <a:off x="3516184" y="2768790"/>
            <a:ext cx="2298386" cy="1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2700736" y="1866332"/>
            <a:ext cx="44502" cy="2146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H="1" flipV="1">
            <a:off x="6576809" y="1866333"/>
            <a:ext cx="12592" cy="2105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2737334" y="1867470"/>
            <a:ext cx="3839474" cy="99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5395248" y="1973383"/>
            <a:ext cx="1062293" cy="581307"/>
          </a:xfrm>
          <a:prstGeom prst="roundRect">
            <a:avLst>
              <a:gd name="adj" fmla="val 606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 3</a:t>
            </a:r>
            <a:endParaRPr lang="en-US" dirty="0"/>
          </a:p>
        </p:txBody>
      </p:sp>
      <p:sp>
        <p:nvSpPr>
          <p:cNvPr id="97" name="Rounded Rectangle 96"/>
          <p:cNvSpPr/>
          <p:nvPr/>
        </p:nvSpPr>
        <p:spPr>
          <a:xfrm>
            <a:off x="2419796" y="1006524"/>
            <a:ext cx="1087680" cy="578751"/>
          </a:xfrm>
          <a:prstGeom prst="roundRect">
            <a:avLst>
              <a:gd name="adj" fmla="val 606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 4</a:t>
            </a:r>
            <a:endParaRPr lang="en-US" dirty="0"/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6589401" y="3038334"/>
            <a:ext cx="1053345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V="1">
            <a:off x="4297811" y="921226"/>
            <a:ext cx="0" cy="945105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lowchart: Terminator 104"/>
          <p:cNvSpPr/>
          <p:nvPr/>
        </p:nvSpPr>
        <p:spPr>
          <a:xfrm>
            <a:off x="4352860" y="1228689"/>
            <a:ext cx="1213735" cy="41444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15 – 30 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6" name="Flowchart: Terminator 105"/>
          <p:cNvSpPr/>
          <p:nvPr/>
        </p:nvSpPr>
        <p:spPr>
          <a:xfrm>
            <a:off x="6576808" y="2577134"/>
            <a:ext cx="1213735" cy="41444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10 – 30 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8" name="Straight Arrow Connector 107"/>
          <p:cNvCxnSpPr/>
          <p:nvPr/>
        </p:nvCxnSpPr>
        <p:spPr>
          <a:xfrm>
            <a:off x="1534468" y="2252737"/>
            <a:ext cx="13649" cy="956838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1269243" y="2837298"/>
            <a:ext cx="5707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1304905" y="1846713"/>
            <a:ext cx="499423" cy="37558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119" name="Straight Arrow Connector 118"/>
          <p:cNvCxnSpPr/>
          <p:nvPr/>
        </p:nvCxnSpPr>
        <p:spPr>
          <a:xfrm flipV="1">
            <a:off x="8132739" y="1225274"/>
            <a:ext cx="1198855" cy="3415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9261696" y="759333"/>
            <a:ext cx="1725984" cy="88380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Wind Direction</a:t>
            </a:r>
            <a:endParaRPr lang="en-US" dirty="0"/>
          </a:p>
        </p:txBody>
      </p:sp>
      <p:sp>
        <p:nvSpPr>
          <p:cNvPr id="122" name="Date Placeholder 1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5DE2-1C24-4A9E-94D7-67B7BE4D4F7F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123" name="Footer Placeholder 1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124" name="Slide Number Placeholder 1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10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7153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173706"/>
          </a:xfrm>
        </p:spPr>
        <p:txBody>
          <a:bodyPr/>
          <a:lstStyle/>
          <a:p>
            <a:r>
              <a:rPr lang="en-US" dirty="0"/>
              <a:t>Farmstead </a:t>
            </a:r>
            <a:r>
              <a:rPr lang="en-US" dirty="0" smtClean="0"/>
              <a:t>Planning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5342"/>
            <a:ext cx="12191999" cy="59026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u="sng" dirty="0" smtClean="0"/>
              <a:t>KEY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                Z 1 : Farmhouses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 smtClean="0"/>
              <a:t>                Z 2 : Implement shed, Machinery storage area and fuel storage site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 smtClean="0"/>
              <a:t>                Z 3 : Pasture land, feeding storage site and Milk Silos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                 Z 4 : Dairy house or Cattle structure and Milk processing plant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772043" y="6373188"/>
            <a:ext cx="1143000" cy="365125"/>
          </a:xfrm>
        </p:spPr>
        <p:txBody>
          <a:bodyPr/>
          <a:lstStyle/>
          <a:p>
            <a:fld id="{978FE155-CD23-4540-9C95-ACE6A90ABE6C}" type="datetime1">
              <a:rPr lang="en-US" sz="1200" b="1" smtClean="0"/>
              <a:t>8/4/2020</a:t>
            </a:fld>
            <a:endParaRPr lang="en-US" sz="12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53910" y="6374594"/>
            <a:ext cx="7084177" cy="365125"/>
          </a:xfrm>
        </p:spPr>
        <p:txBody>
          <a:bodyPr/>
          <a:lstStyle/>
          <a:p>
            <a:pPr algn="ctr"/>
            <a:r>
              <a:rPr lang="en-US" sz="1200" b="1" dirty="0" smtClean="0"/>
              <a:t>BELA MILK PRODUCTION ENTERPRISE</a:t>
            </a:r>
            <a:endParaRPr lang="en-US" sz="12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32227" y="6190625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1531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1228</TotalTime>
  <Words>378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Parallax</vt:lpstr>
      <vt:lpstr>BELA MILK PRODUCTION ENTERPRISE </vt:lpstr>
      <vt:lpstr>Content</vt:lpstr>
      <vt:lpstr>Introduction</vt:lpstr>
      <vt:lpstr>Production</vt:lpstr>
      <vt:lpstr>Structures &amp; Equipment</vt:lpstr>
      <vt:lpstr>Structures &amp; Equipment Cont’d…</vt:lpstr>
      <vt:lpstr>Structures &amp; Equipment Cont’d…</vt:lpstr>
      <vt:lpstr>Processing Lines or Activity Analysis</vt:lpstr>
      <vt:lpstr>Flow of Material</vt:lpstr>
      <vt:lpstr>Farmstead Planning</vt:lpstr>
      <vt:lpstr>Farmstead Planning Cont’d…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MILK PRODUCTION ENTERPRISE</dc:title>
  <dc:creator>Windows User</dc:creator>
  <cp:lastModifiedBy>Windows User</cp:lastModifiedBy>
  <cp:revision>64</cp:revision>
  <dcterms:created xsi:type="dcterms:W3CDTF">2019-10-21T10:58:17Z</dcterms:created>
  <dcterms:modified xsi:type="dcterms:W3CDTF">2020-08-04T11:58:35Z</dcterms:modified>
</cp:coreProperties>
</file>