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1.xml" ContentType="application/vnd.openxmlformats-officedocument.drawingml.chart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ink/ink1.xml" ContentType="application/inkml+xml"/>
  <Override PartName="/ppt/notesSlides/notesSlide38.xml" ContentType="application/vnd.openxmlformats-officedocument.presentationml.notesSlide+xml"/>
  <Override PartName="/ppt/ink/ink2.xml" ContentType="application/inkml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ink/ink3.xml" ContentType="application/inkml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10">
  <p:sldMasterIdLst>
    <p:sldMasterId id="2147483684" r:id="rId1"/>
  </p:sldMasterIdLst>
  <p:notesMasterIdLst>
    <p:notesMasterId r:id="rId43"/>
  </p:notesMasterIdLst>
  <p:handoutMasterIdLst>
    <p:handoutMasterId r:id="rId44"/>
  </p:handoutMasterIdLst>
  <p:sldIdLst>
    <p:sldId id="262" r:id="rId2"/>
    <p:sldId id="264" r:id="rId3"/>
    <p:sldId id="265" r:id="rId4"/>
    <p:sldId id="293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9" r:id="rId18"/>
    <p:sldId id="278" r:id="rId19"/>
    <p:sldId id="280" r:id="rId20"/>
    <p:sldId id="282" r:id="rId21"/>
    <p:sldId id="281" r:id="rId22"/>
    <p:sldId id="283" r:id="rId23"/>
    <p:sldId id="285" r:id="rId24"/>
    <p:sldId id="284" r:id="rId25"/>
    <p:sldId id="286" r:id="rId26"/>
    <p:sldId id="294" r:id="rId27"/>
    <p:sldId id="287" r:id="rId28"/>
    <p:sldId id="288" r:id="rId29"/>
    <p:sldId id="289" r:id="rId30"/>
    <p:sldId id="290" r:id="rId31"/>
    <p:sldId id="304" r:id="rId32"/>
    <p:sldId id="295" r:id="rId33"/>
    <p:sldId id="296" r:id="rId34"/>
    <p:sldId id="297" r:id="rId35"/>
    <p:sldId id="291" r:id="rId36"/>
    <p:sldId id="292" r:id="rId37"/>
    <p:sldId id="298" r:id="rId38"/>
    <p:sldId id="300" r:id="rId39"/>
    <p:sldId id="301" r:id="rId40"/>
    <p:sldId id="302" r:id="rId41"/>
    <p:sldId id="303" r:id="rId42"/>
  </p:sldIdLst>
  <p:sldSz cx="9144000" cy="6858000" type="screen4x3"/>
  <p:notesSz cx="9926638" cy="6797675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aola Gatto" initials="PG" lastIdx="1" clrIdx="0"/>
  <p:cmAuthor id="1" name="Ariadna Chavarría Reséndez" initials="ACR" lastIdx="3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171F"/>
    <a:srgbClr val="2C4D75"/>
    <a:srgbClr val="F9B590"/>
    <a:srgbClr val="91C3D5"/>
    <a:srgbClr val="4198AF"/>
    <a:srgbClr val="DB843D"/>
    <a:srgbClr val="F79646"/>
    <a:srgbClr val="8064A2"/>
    <a:srgbClr val="FDFDFD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8" autoAdjust="0"/>
    <p:restoredTop sz="83586" autoAdjust="0"/>
  </p:normalViewPr>
  <p:slideViewPr>
    <p:cSldViewPr snapToGrid="0" snapToObjects="1">
      <p:cViewPr varScale="1">
        <p:scale>
          <a:sx n="90" d="100"/>
          <a:sy n="90" d="100"/>
        </p:scale>
        <p:origin x="-1090" y="-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2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William\Documents\THESIS\Paper\Magra\Report\Magra_12022014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432118266993044"/>
          <c:y val="4.8376992091674807E-2"/>
          <c:w val="0.76010284171209364"/>
          <c:h val="0.81917996270203064"/>
        </c:manualLayout>
      </c:layout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diamond"/>
            <c:size val="2"/>
          </c:marker>
          <c:trendline>
            <c:spPr>
              <a:ln>
                <a:solidFill>
                  <a:sysClr val="windowText" lastClr="000000">
                    <a:alpha val="0"/>
                  </a:sysClr>
                </a:solidFill>
              </a:ln>
            </c:spPr>
            <c:trendlineType val="linear"/>
            <c:dispRSqr val="1"/>
            <c:dispEq val="1"/>
            <c:trendlineLbl>
              <c:layout>
                <c:manualLayout>
                  <c:x val="-5.3308660181560982E-2"/>
                  <c:y val="-4.6944669874911207E-2"/>
                </c:manualLayout>
              </c:layout>
              <c:tx>
                <c:rich>
                  <a:bodyPr/>
                  <a:lstStyle/>
                  <a:p>
                    <a:pPr>
                      <a:defRPr sz="1800" b="1" i="1"/>
                    </a:pPr>
                    <a:r>
                      <a:rPr lang="en-US" baseline="0" dirty="0" smtClean="0"/>
                      <a:t>R² </a:t>
                    </a:r>
                    <a:r>
                      <a:rPr lang="en-US" baseline="0" dirty="0"/>
                      <a:t>= </a:t>
                    </a:r>
                    <a:r>
                      <a:rPr lang="en-US" baseline="0" dirty="0" smtClean="0"/>
                      <a:t>0.77</a:t>
                    </a:r>
                    <a:endParaRPr lang="en-US" dirty="0"/>
                  </a:p>
                </c:rich>
              </c:tx>
              <c:numFmt formatCode="General" sourceLinked="0"/>
            </c:trendlineLbl>
          </c:trendline>
          <c:xVal>
            <c:numRef>
              <c:f>IPEC!$Z$3:$Z$34</c:f>
              <c:numCache>
                <c:formatCode>0</c:formatCode>
                <c:ptCount val="32"/>
                <c:pt idx="0">
                  <c:v>15.321736249171638</c:v>
                </c:pt>
                <c:pt idx="1">
                  <c:v>19.675273224043714</c:v>
                </c:pt>
                <c:pt idx="2">
                  <c:v>15.955145118733508</c:v>
                </c:pt>
                <c:pt idx="3">
                  <c:v>3.3953155245838174</c:v>
                </c:pt>
                <c:pt idx="4">
                  <c:v>1.3865143699336773</c:v>
                </c:pt>
                <c:pt idx="5">
                  <c:v>23.964189189189188</c:v>
                </c:pt>
                <c:pt idx="6">
                  <c:v>7.7222174657534248</c:v>
                </c:pt>
                <c:pt idx="7">
                  <c:v>21.529465523128529</c:v>
                </c:pt>
                <c:pt idx="8">
                  <c:v>10.106327348788565</c:v>
                </c:pt>
                <c:pt idx="9">
                  <c:v>5.5325292397660819</c:v>
                </c:pt>
                <c:pt idx="10">
                  <c:v>1.6260224948875257</c:v>
                </c:pt>
                <c:pt idx="11">
                  <c:v>3.2366930917327292</c:v>
                </c:pt>
                <c:pt idx="12">
                  <c:v>3.15</c:v>
                </c:pt>
                <c:pt idx="13">
                  <c:v>13.014628820960699</c:v>
                </c:pt>
                <c:pt idx="14">
                  <c:v>16.462326621923935</c:v>
                </c:pt>
                <c:pt idx="15">
                  <c:v>2.8303587856485741</c:v>
                </c:pt>
                <c:pt idx="16">
                  <c:v>12.35736182071528</c:v>
                </c:pt>
                <c:pt idx="17">
                  <c:v>21.685766423357663</c:v>
                </c:pt>
                <c:pt idx="18">
                  <c:v>4.767107195301028</c:v>
                </c:pt>
                <c:pt idx="19">
                  <c:v>10.561109670728545</c:v>
                </c:pt>
                <c:pt idx="20">
                  <c:v>5.3992790697674424</c:v>
                </c:pt>
                <c:pt idx="21">
                  <c:v>3.1967472118959108</c:v>
                </c:pt>
                <c:pt idx="22">
                  <c:v>3.1170341463414633</c:v>
                </c:pt>
                <c:pt idx="23">
                  <c:v>10.389416058394159</c:v>
                </c:pt>
                <c:pt idx="24">
                  <c:v>9.1906873614190694</c:v>
                </c:pt>
                <c:pt idx="25">
                  <c:v>1.8417404129793511</c:v>
                </c:pt>
                <c:pt idx="26">
                  <c:v>3.1272566371681418</c:v>
                </c:pt>
                <c:pt idx="27">
                  <c:v>3.346865104496517</c:v>
                </c:pt>
                <c:pt idx="28">
                  <c:v>6.4492922564529565</c:v>
                </c:pt>
                <c:pt idx="29">
                  <c:v>33.11083051139299</c:v>
                </c:pt>
                <c:pt idx="30">
                  <c:v>19.354199683042786</c:v>
                </c:pt>
                <c:pt idx="31">
                  <c:v>22.954917816183077</c:v>
                </c:pt>
              </c:numCache>
            </c:numRef>
          </c:xVal>
          <c:yVal>
            <c:numRef>
              <c:f>IPEC!$Y$3:$Y$34</c:f>
              <c:numCache>
                <c:formatCode>0.00</c:formatCode>
                <c:ptCount val="32"/>
                <c:pt idx="0">
                  <c:v>15.904572564612327</c:v>
                </c:pt>
                <c:pt idx="1">
                  <c:v>27.3224043715847</c:v>
                </c:pt>
                <c:pt idx="2">
                  <c:v>17.150395778364118</c:v>
                </c:pt>
                <c:pt idx="3">
                  <c:v>3.4843205574912894</c:v>
                </c:pt>
                <c:pt idx="4">
                  <c:v>3.6845983787767134</c:v>
                </c:pt>
                <c:pt idx="5">
                  <c:v>17.736486486486488</c:v>
                </c:pt>
                <c:pt idx="6">
                  <c:v>11.558219178082192</c:v>
                </c:pt>
                <c:pt idx="7">
                  <c:v>12.302408259184125</c:v>
                </c:pt>
                <c:pt idx="8">
                  <c:v>8.7153564580791354</c:v>
                </c:pt>
                <c:pt idx="9">
                  <c:v>3.2894736842105265</c:v>
                </c:pt>
                <c:pt idx="10">
                  <c:v>1.8404907975460123</c:v>
                </c:pt>
                <c:pt idx="11">
                  <c:v>2.491506228765572</c:v>
                </c:pt>
                <c:pt idx="12">
                  <c:v>7.3138297872340425</c:v>
                </c:pt>
                <c:pt idx="13">
                  <c:v>10.91703056768559</c:v>
                </c:pt>
                <c:pt idx="14">
                  <c:v>22.818791946308725</c:v>
                </c:pt>
                <c:pt idx="15">
                  <c:v>5.0597976080956766</c:v>
                </c:pt>
                <c:pt idx="16">
                  <c:v>10.450534138411518</c:v>
                </c:pt>
                <c:pt idx="17">
                  <c:v>20.985401459854014</c:v>
                </c:pt>
                <c:pt idx="18">
                  <c:v>4.4052863436123353</c:v>
                </c:pt>
                <c:pt idx="19">
                  <c:v>10.370754472387866</c:v>
                </c:pt>
                <c:pt idx="20">
                  <c:v>7.9069767441860463</c:v>
                </c:pt>
                <c:pt idx="21">
                  <c:v>4.8791821561338287</c:v>
                </c:pt>
                <c:pt idx="22">
                  <c:v>4.6829268292682924</c:v>
                </c:pt>
                <c:pt idx="23">
                  <c:v>13.990267639902676</c:v>
                </c:pt>
                <c:pt idx="24">
                  <c:v>12.195121951219512</c:v>
                </c:pt>
                <c:pt idx="25">
                  <c:v>2.0648967551622421</c:v>
                </c:pt>
                <c:pt idx="26">
                  <c:v>2.781289506953224</c:v>
                </c:pt>
                <c:pt idx="27">
                  <c:v>3.0610090774751955</c:v>
                </c:pt>
                <c:pt idx="28">
                  <c:v>9.1590341382181517</c:v>
                </c:pt>
                <c:pt idx="29">
                  <c:v>21.236296848992712</c:v>
                </c:pt>
                <c:pt idx="30">
                  <c:v>21.790808240887479</c:v>
                </c:pt>
                <c:pt idx="31">
                  <c:v>29.949086552860138</c:v>
                </c:pt>
              </c:numCache>
            </c:numRef>
          </c:yVal>
          <c:smooth val="0"/>
        </c:ser>
        <c:ser>
          <c:idx val="1"/>
          <c:order val="1"/>
          <c:tx>
            <c:v>'Wet' basins</c:v>
          </c:tx>
          <c:spPr>
            <a:ln w="28575">
              <a:noFill/>
            </a:ln>
          </c:spPr>
          <c:marker>
            <c:symbol val="diamond"/>
            <c:size val="10"/>
            <c:spPr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ysClr val="windowText" lastClr="000000"/>
                </a:solidFill>
              </a:ln>
            </c:spPr>
          </c:marker>
          <c:xVal>
            <c:numRef>
              <c:f>IPEC!$AG$3:$AG$26</c:f>
              <c:numCache>
                <c:formatCode>0</c:formatCode>
                <c:ptCount val="24"/>
                <c:pt idx="0">
                  <c:v>15.321736249171638</c:v>
                </c:pt>
                <c:pt idx="1">
                  <c:v>19.675273224043714</c:v>
                </c:pt>
                <c:pt idx="2">
                  <c:v>15.955145118733508</c:v>
                </c:pt>
                <c:pt idx="3">
                  <c:v>23.964189189189188</c:v>
                </c:pt>
                <c:pt idx="4">
                  <c:v>7.7222174657534248</c:v>
                </c:pt>
                <c:pt idx="5">
                  <c:v>21.529465523128529</c:v>
                </c:pt>
                <c:pt idx="6">
                  <c:v>10.106327348788565</c:v>
                </c:pt>
                <c:pt idx="7">
                  <c:v>5.5325292397660819</c:v>
                </c:pt>
                <c:pt idx="8">
                  <c:v>13.014628820960699</c:v>
                </c:pt>
                <c:pt idx="9">
                  <c:v>16.462326621923935</c:v>
                </c:pt>
                <c:pt idx="10">
                  <c:v>12.35736182071528</c:v>
                </c:pt>
                <c:pt idx="11">
                  <c:v>21.685766423357663</c:v>
                </c:pt>
                <c:pt idx="12">
                  <c:v>10.561109670728545</c:v>
                </c:pt>
                <c:pt idx="13">
                  <c:v>5.3992790697674424</c:v>
                </c:pt>
                <c:pt idx="14">
                  <c:v>3.1967472118959108</c:v>
                </c:pt>
                <c:pt idx="15">
                  <c:v>3.1170341463414633</c:v>
                </c:pt>
                <c:pt idx="16">
                  <c:v>10.389416058394159</c:v>
                </c:pt>
                <c:pt idx="17">
                  <c:v>9.1906873614190694</c:v>
                </c:pt>
                <c:pt idx="18">
                  <c:v>3.1272566371681418</c:v>
                </c:pt>
                <c:pt idx="19">
                  <c:v>3.346865104496517</c:v>
                </c:pt>
                <c:pt idx="20">
                  <c:v>6.4492922564529565</c:v>
                </c:pt>
                <c:pt idx="21">
                  <c:v>33.11083051139299</c:v>
                </c:pt>
                <c:pt idx="22">
                  <c:v>19.354199683042786</c:v>
                </c:pt>
                <c:pt idx="23">
                  <c:v>22.954917816183077</c:v>
                </c:pt>
              </c:numCache>
            </c:numRef>
          </c:xVal>
          <c:yVal>
            <c:numRef>
              <c:f>IPEC!$AF$3:$AF$26</c:f>
              <c:numCache>
                <c:formatCode>0.00</c:formatCode>
                <c:ptCount val="24"/>
                <c:pt idx="0">
                  <c:v>15.904572564612327</c:v>
                </c:pt>
                <c:pt idx="1">
                  <c:v>27.3224043715847</c:v>
                </c:pt>
                <c:pt idx="2">
                  <c:v>17.150395778364118</c:v>
                </c:pt>
                <c:pt idx="3">
                  <c:v>17.736486486486488</c:v>
                </c:pt>
                <c:pt idx="4">
                  <c:v>11.558219178082192</c:v>
                </c:pt>
                <c:pt idx="5">
                  <c:v>12.302408259184125</c:v>
                </c:pt>
                <c:pt idx="6">
                  <c:v>8.7153564580791354</c:v>
                </c:pt>
                <c:pt idx="7">
                  <c:v>3.2894736842105265</c:v>
                </c:pt>
                <c:pt idx="8">
                  <c:v>10.91703056768559</c:v>
                </c:pt>
                <c:pt idx="9">
                  <c:v>22.818791946308725</c:v>
                </c:pt>
                <c:pt idx="10">
                  <c:v>10.450534138411518</c:v>
                </c:pt>
                <c:pt idx="11">
                  <c:v>20.985401459854014</c:v>
                </c:pt>
                <c:pt idx="12">
                  <c:v>10.370754472387866</c:v>
                </c:pt>
                <c:pt idx="13">
                  <c:v>7.9069767441860463</c:v>
                </c:pt>
                <c:pt idx="14">
                  <c:v>4.8791821561338287</c:v>
                </c:pt>
                <c:pt idx="15">
                  <c:v>4.6829268292682924</c:v>
                </c:pt>
                <c:pt idx="16">
                  <c:v>13.990267639902676</c:v>
                </c:pt>
                <c:pt idx="17">
                  <c:v>12.195121951219512</c:v>
                </c:pt>
                <c:pt idx="18">
                  <c:v>2.781289506953224</c:v>
                </c:pt>
                <c:pt idx="19">
                  <c:v>3.0610090774751955</c:v>
                </c:pt>
                <c:pt idx="20">
                  <c:v>9.1590341382181517</c:v>
                </c:pt>
                <c:pt idx="21">
                  <c:v>21.236296848992712</c:v>
                </c:pt>
                <c:pt idx="22">
                  <c:v>21.790808240887479</c:v>
                </c:pt>
                <c:pt idx="23">
                  <c:v>29.949086552860138</c:v>
                </c:pt>
              </c:numCache>
            </c:numRef>
          </c:yVal>
          <c:smooth val="0"/>
        </c:ser>
        <c:ser>
          <c:idx val="2"/>
          <c:order val="2"/>
          <c:tx>
            <c:v>'Dry' basins</c:v>
          </c:tx>
          <c:spPr>
            <a:ln w="28575">
              <a:noFill/>
            </a:ln>
          </c:spPr>
          <c:marker>
            <c:symbol val="diamond"/>
            <c:size val="10"/>
            <c:spPr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ysClr val="windowText" lastClr="000000"/>
                </a:solidFill>
              </a:ln>
            </c:spPr>
          </c:marker>
          <c:xVal>
            <c:numRef>
              <c:f>IPEC!$AN$3:$AN$10</c:f>
              <c:numCache>
                <c:formatCode>0</c:formatCode>
                <c:ptCount val="8"/>
                <c:pt idx="0">
                  <c:v>3.3953155245838174</c:v>
                </c:pt>
                <c:pt idx="1">
                  <c:v>1.3865143699336773</c:v>
                </c:pt>
                <c:pt idx="2">
                  <c:v>1.6260224948875257</c:v>
                </c:pt>
                <c:pt idx="3">
                  <c:v>3.2366930917327292</c:v>
                </c:pt>
                <c:pt idx="4">
                  <c:v>3.15</c:v>
                </c:pt>
                <c:pt idx="5">
                  <c:v>2.8303587856485741</c:v>
                </c:pt>
                <c:pt idx="6">
                  <c:v>4.767107195301028</c:v>
                </c:pt>
                <c:pt idx="7">
                  <c:v>1.8417404129793511</c:v>
                </c:pt>
              </c:numCache>
            </c:numRef>
          </c:xVal>
          <c:yVal>
            <c:numRef>
              <c:f>IPEC!$AM$3:$AM$10</c:f>
              <c:numCache>
                <c:formatCode>0.00</c:formatCode>
                <c:ptCount val="8"/>
                <c:pt idx="0">
                  <c:v>3.4843205574912894</c:v>
                </c:pt>
                <c:pt idx="1">
                  <c:v>3.6845983787767134</c:v>
                </c:pt>
                <c:pt idx="2">
                  <c:v>1.8404907975460123</c:v>
                </c:pt>
                <c:pt idx="3">
                  <c:v>2.491506228765572</c:v>
                </c:pt>
                <c:pt idx="4">
                  <c:v>7.3138297872340425</c:v>
                </c:pt>
                <c:pt idx="5">
                  <c:v>5.0597976080956766</c:v>
                </c:pt>
                <c:pt idx="6">
                  <c:v>4.4052863436123353</c:v>
                </c:pt>
                <c:pt idx="7">
                  <c:v>2.0648967551622421</c:v>
                </c:pt>
              </c:numCache>
            </c:numRef>
          </c:yVal>
          <c:smooth val="0"/>
        </c:ser>
        <c:ser>
          <c:idx val="3"/>
          <c:order val="3"/>
          <c:spPr>
            <a:ln w="28575">
              <a:noFill/>
            </a:ln>
          </c:spPr>
          <c:marker>
            <c:symbol val="none"/>
          </c:marker>
          <c:trendline>
            <c:spPr>
              <a:ln w="31750">
                <a:solidFill>
                  <a:sysClr val="windowText" lastClr="000000"/>
                </a:solidFill>
              </a:ln>
            </c:spPr>
            <c:trendlineType val="linear"/>
            <c:dispRSqr val="0"/>
            <c:dispEq val="0"/>
          </c:trendline>
          <c:xVal>
            <c:numRef>
              <c:f>IPEC!$AK$26:$AK$27</c:f>
              <c:numCache>
                <c:formatCode>General</c:formatCode>
                <c:ptCount val="2"/>
                <c:pt idx="0">
                  <c:v>0</c:v>
                </c:pt>
                <c:pt idx="1">
                  <c:v>40</c:v>
                </c:pt>
              </c:numCache>
            </c:numRef>
          </c:xVal>
          <c:yVal>
            <c:numRef>
              <c:f>IPEC!$AJ$26:$AJ$27</c:f>
              <c:numCache>
                <c:formatCode>General</c:formatCode>
                <c:ptCount val="2"/>
                <c:pt idx="0">
                  <c:v>0</c:v>
                </c:pt>
                <c:pt idx="1">
                  <c:v>40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21877888"/>
        <c:axId val="221879040"/>
      </c:scatterChart>
      <c:valAx>
        <c:axId val="221877888"/>
        <c:scaling>
          <c:orientation val="minMax"/>
          <c:max val="4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800"/>
                </a:pPr>
                <a:r>
                  <a:rPr lang="da-DK" sz="1800" dirty="0" smtClean="0"/>
                  <a:t>Estimated </a:t>
                </a:r>
                <a:r>
                  <a:rPr lang="da-DK" sz="1800" dirty="0"/>
                  <a:t>unit peak discharges</a:t>
                </a:r>
                <a:r>
                  <a:rPr lang="da-DK" sz="1800" baseline="0" dirty="0"/>
                  <a:t> (m</a:t>
                </a:r>
                <a:r>
                  <a:rPr lang="da-DK" sz="1800" baseline="30000" dirty="0"/>
                  <a:t>3</a:t>
                </a:r>
                <a:r>
                  <a:rPr lang="da-DK" sz="1800" baseline="0" dirty="0"/>
                  <a:t>s</a:t>
                </a:r>
                <a:r>
                  <a:rPr lang="da-DK" sz="1800" baseline="30000" dirty="0"/>
                  <a:t>-1</a:t>
                </a:r>
                <a:r>
                  <a:rPr lang="da-DK" sz="1800" baseline="0" dirty="0"/>
                  <a:t>km</a:t>
                </a:r>
                <a:r>
                  <a:rPr lang="da-DK" sz="1800" baseline="30000" dirty="0"/>
                  <a:t>-2</a:t>
                </a:r>
                <a:r>
                  <a:rPr lang="da-DK" sz="1800" baseline="0" dirty="0"/>
                  <a:t>)</a:t>
                </a:r>
                <a:endParaRPr lang="da-DK" sz="1800" dirty="0"/>
              </a:p>
            </c:rich>
          </c:tx>
          <c:layout>
            <c:manualLayout>
              <c:xMode val="edge"/>
              <c:yMode val="edge"/>
              <c:x val="0.22972814870300207"/>
              <c:y val="0.93132898050978419"/>
            </c:manualLayout>
          </c:layout>
          <c:overlay val="0"/>
        </c:title>
        <c:numFmt formatCode="0" sourceLinked="1"/>
        <c:majorTickMark val="out"/>
        <c:minorTickMark val="none"/>
        <c:tickLblPos val="nextTo"/>
        <c:txPr>
          <a:bodyPr/>
          <a:lstStyle/>
          <a:p>
            <a:pPr>
              <a:defRPr sz="1600" b="1"/>
            </a:pPr>
            <a:endParaRPr lang="en-US"/>
          </a:p>
        </c:txPr>
        <c:crossAx val="221879040"/>
        <c:crosses val="autoZero"/>
        <c:crossBetween val="midCat"/>
        <c:majorUnit val="10"/>
        <c:minorUnit val="1"/>
      </c:valAx>
      <c:valAx>
        <c:axId val="221879040"/>
        <c:scaling>
          <c:orientation val="minMax"/>
          <c:max val="40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1800"/>
                </a:pPr>
                <a:r>
                  <a:rPr lang="da-DK" sz="1800" dirty="0" smtClean="0"/>
                  <a:t>Simulated unit </a:t>
                </a:r>
                <a:r>
                  <a:rPr lang="da-DK" sz="1800" dirty="0"/>
                  <a:t>peak discharges (m</a:t>
                </a:r>
                <a:r>
                  <a:rPr lang="da-DK" sz="1800" baseline="30000" dirty="0"/>
                  <a:t>3</a:t>
                </a:r>
                <a:r>
                  <a:rPr lang="da-DK" sz="1800" dirty="0"/>
                  <a:t>s</a:t>
                </a:r>
                <a:r>
                  <a:rPr lang="da-DK" sz="1800" baseline="30000" dirty="0"/>
                  <a:t>-1</a:t>
                </a:r>
                <a:r>
                  <a:rPr lang="da-DK" sz="1800" dirty="0"/>
                  <a:t>km</a:t>
                </a:r>
                <a:r>
                  <a:rPr lang="da-DK" sz="1800" baseline="30000" dirty="0"/>
                  <a:t>-2</a:t>
                </a:r>
                <a:r>
                  <a:rPr lang="da-DK" sz="1800" dirty="0"/>
                  <a:t>)</a:t>
                </a:r>
              </a:p>
            </c:rich>
          </c:tx>
          <c:layout>
            <c:manualLayout>
              <c:xMode val="edge"/>
              <c:yMode val="edge"/>
              <c:x val="3.1188342075068522E-2"/>
              <c:y val="0.11132965773143398"/>
            </c:manualLayout>
          </c:layout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600" b="1"/>
            </a:pPr>
            <a:endParaRPr lang="en-US"/>
          </a:p>
        </c:txPr>
        <c:crossAx val="221877888"/>
        <c:crosses val="autoZero"/>
        <c:crossBetween val="midCat"/>
        <c:majorUnit val="10"/>
      </c:valAx>
    </c:plotArea>
    <c:plotVisOnly val="1"/>
    <c:dispBlanksAs val="gap"/>
    <c:showDLblsOverMax val="0"/>
  </c:chart>
  <c:spPr>
    <a:ln w="19050">
      <a:solidFill>
        <a:schemeClr val="tx1"/>
      </a:solidFill>
    </a:ln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8BB5B-C2B9-4E05-A99B-1798080C8FF6}" type="datetimeFigureOut">
              <a:rPr lang="en-US" smtClean="0"/>
              <a:t>03-Oct-19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1696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A07DA-430D-426F-A796-3E0CCB032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78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18-10-09T13:30:22.1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3687 13123,'0'36,"-35"34,-1 89,-34 53,17 52,35 18,-52 1,70-107,0-35,0-17,0-72,0-16,0-19,17-17,1 0,0 0,17 0,0 0,-17 0,17 0,36 0,-19 0,1-17,18-19,0 19,-1-18,-17-1,0 1,0 17,0 1,0-19,0 19,17-36,-35 35,1 1,-1 17,0-18,1 0,-1 18,-18 0,1 0,0-17,-1-1,1 18,-18-18,18 18,-18-17,0-1,35 1,53-1,0 0,18 1,18-19,-19 19,19-1,-18 18,0-35,-18 35,-35 0,17 0,1 0,-18 0,0 0,-18 0,53-18,124-52,88-19,158-16,-105 52,-71 53,-35-36,-106 36,0 0,-52 0,-36 0,-1 0,-16 0,-19 18,19-18,-19 18,1-18,0 17,17-17,0 18,0 0,18-18,0 17,18 1,-18-18,0 0,-18 0,18 17,17-17,-17 0,0 0,-18 0,1 0,-1 0,-17 0,-1 0,1 0,35 0,0 0,53-17,-36-1,-17 1,-18 17,1-18,-1 18,-17 0,-1 0,1 0,-1 0,19 0,-1 0,0 0,1 0,-1 0,0 0,0 0,-17 0,17-18,1 1,-19-1,19 0,-19-17,18 0,1-36,17 18,-18 0,0 18,-17-35,-1 34,1 1,-18 17,0 1,0-1,0-17,0 0,0-1,0 1,-18 0,1-18,-1-18,1 36,-1 17,0 18,1-17,-19-1,-17 0,-35 1,-18 17,-35-35,53 35,-18-18,36 18,-18 0,17-18,-17 18,17 0,-35 0,36 0,17 0,-18 0,18 0,-35 0,18 0,-19 0,-34 0,-71 0,18 0,-36 0,-70-35,70 17,36-17,52 35,54 0,17 0,-53 0,-53 18,-17-18,-36 0,0 0,-35 0,36 0,70 0,0 0,52 0,19 0,-18 0,70 0,-17 0,-1 0,1 0,-53 0,35 0,-35 17,17-17,18 0,0 0,-17 0,17 0,0 18,0-18,18 0,-18 0,18 0,-1 0,1 0,-18 0,18 0,0 0,-18 0,17 0,1 18,0-18,0 0,17 0,-17 0,-1 17,19-17,-18 0,-1 0,36 18,-17-18,-1 0,0 0,1 0,-1 0,0 0,18 18,0-1,0 1,0-1,0 1,-17-18,17 18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18-10-09T13:30:03.5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14517 10530,'-17'0,"-1"0,-17 0,-1 53,-17 0,18 35,-18 36,18-18,-18 17,53-35,-18-35,18 0,0-17,0 16,0-16,0-1,0 0,0 18,0-18,18-17,0 17,-1-17,1 17,17-17,18 0,0 17,18 18,-1-36,54 19,-36 17,-35-36,35 19,-35-19,35-17,-35 35,35-35,-17 0,17 0,18 0,-36 0,36 0,35 0,0 0,0 0,53 0,53 0,18 0,-36 0,18 0,-17 0,-1 0,-17 0,-1 0,1 0,35-52,0-1,-18 0,18-35,53 35,-88 17,-1 36,-34 0,-36 0,-53 0,-53 0,53 71,53 17,-17-17,35-1,-36 1,-52-18,-18-18,0 0,-18 0,18-17,-18 0,0 17,-17-17,0-1,-1-17,1 18,-1-18,1 0,0 0,-1 0,1 0,17 0,1 0,17 0,-18-18,0 1,0-1,-17 0,17 1</inkml:trace>
  <inkml:trace contextRef="#ctx0" brushRef="#br0" timeOffset="4264.4129">3228 12047,'0'0,"18"0,17 0,-17-17,35 17,-18-18,18 18,0-18,35 18,-17 0,34 0,19 0,17 0,35 0,1 0,-1 0,1 18,-36-18,-18 0,-17 18,0-18,-18 17,-17-17,-1 0,-35 18,-17-18,0 0,-1 0,1 0,0 18,-1-1,19 1,-19-18,18 18,1-18,-1 17,0 1,-17-1,17 1,0 0,1-1,-1 1,-17 17,17-17,-17 17,-1-17,1 17,-18 18,17-18,-17 1,0-1,0 0,0 0,0 18,0-17,0-1,0 0,0 0,-35 1,0 17,17 0,-17-18,0-17,17 17,-17-18,-18 19,18-19,-36 1,18 0,-17-1,-1 1,0-18,19 35,-19-35,0 0,19 18,-37-18,36 0,-35 0,18 17,-19-17,19 0,-18 0,17 0,-17 18,17-18,19 0,-19 0,0 0,18 0,-35 0,35 0,-35 0,18 0,-72 0,37 0,-36 0,-18-35,88 35,-17 0,35-18,0 18,18 0,0 0,17 0,0 0,1 0,-1 0,-17 0,17 0,-52 18</inkml:trace>
  <inkml:trace contextRef="#ctx0" brushRef="#br0" timeOffset="8630.7062">14429 10601,'18'0,"-1"0,19 0,-1 0,35 0,19 0,-19-18,71 18,-53-17,18 17,0 0,18 0,17 0,35 0,-70 0,-36 0,19 0,-36 0,-18 0,-18 0,1 0,35-18,18 0,17-34,35 34,-17-17,53 17,-53 0,-18 1,-35 17,53-36,-18 36,-18 0,-17 0,35 0,-17 0,0 0,-54 0,18 0,36 0,35 0,106 18,-1 70,54-35,140 35,19 18,-71-53,-71 0,35 18,-34-54,-54 18,-123-17,-18-18,-70 0,-1 0,18-35,1 0,-1-1,18 1,-18 0,0-1,1-16,-1 34,18-17,-18 17,36 18,-36-18,0 1,1 17,-1-18,0 18,0 0,1 0,-1 0,-17 0,17 0,0 0,0 0,1 0,-1-18,0 18,1 0,-19 0,18 0,1 0,-1 0,0 0,-17 0,0 0,-1 0,1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81395" units="1/cm"/>
          <inkml:channelProperty channel="Y" name="resolution" value="55.95855" units="1/cm"/>
        </inkml:channelProperties>
      </inkml:inkSource>
      <inkml:timestamp xml:id="ts0" timeString="2018-10-09T13:32:50.2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3211 9666,'35'0,"53"0,-17 0,34 35,-16-35,-19 0,18 0,-17 0,0 0,-1 0,-17 0,0 0,-18 0,0 0,-17 0,17 0,1 0,-1 0,-17 0,-1 0,19 0,-19 0,18 0,1 0,-1 0,0 0,-17 0,35 0,-36 0,19 0,34 0,-17 0,0 0,0 0,0 0,-18 0,0 0,1 0,-19 0</inkml:trace>
  <inkml:trace contextRef="#ctx0" brushRef="#br0" timeOffset="1419.7205">5733 9790,'0'0,"35"0,-17 0,17 0,0 0,18 0,-17-18,-1 0,18 18,-18 0,0-17,1-1,-1 18,0-18,-17 18,17-17,-17 17,17 0,0-18,-17 18,17 0,1 0,-1 0,0 0,0 0,1 0,-1 0,0-18,-17 18,-1 0,19 0,-19 0,1 0,0 0,-1 0</inkml:trace>
  <inkml:trace contextRef="#ctx0" brushRef="#br0" timeOffset="4992.5241">7567 9631,'18'0,"0"0,-1 0,54 0,-1 0,19 0,-19 0,36 17,-18-17,-17 0,17 0,-35 18,35-18,-35 0,0 0,-18 0,-17 0,17 0,-17 0,-1 0,19 0,-19 18,1-18,17 0,-17 0,17 0,-17 0,17 0,0 0,1 0,-19 0,1 0,17 0,-17 17,-1-17,1 0,0 0,-1 0,1 0,0 0,-1 0,1 0,0 0,-1 0,1 0,-1 0,19 0,-19 0,19 0,-19 0,1 0,0 0</inkml:trace>
  <inkml:trace contextRef="#ctx0" brushRef="#br0" timeOffset="6247.2772">10301 9701,'0'0,"18"0,17 0,-17 0,0 0,17 0,0 0,-17 0,-1 0,1 0,0 0,-1 0,1 0</inkml:trace>
  <inkml:trace contextRef="#ctx0" brushRef="#br0" timeOffset="7244.5065">11254 9737,'18'0,"-1"0,18 0,-17 0,17 0,1 0,-1 0,0 0,1 0,-19 0,18 0,-17 0,0 0</inkml:trace>
  <inkml:trace contextRef="#ctx0" brushRef="#br0" timeOffset="8435.6628">12594 9737,'18'0,"17"0,36 0,-18 0,0 0,17 0,19-18,-19 18,36 0,-18-35,-35 35,35 0,-52 0,-1 0,0 0</inkml:trace>
  <inkml:trace contextRef="#ctx0" brushRef="#br0" timeOffset="9600.7532">14764 9648,'0'0,"18"0,-1 0,1 0,17 0,1-17,-1 17,53 0,-35 0,0 0,35 0,-35 0,0 0,-18 0,0 0,1 0,-1 0,18 0,-18 0,-17 0,-1 0,1 0,0 0,-1 0,1 0</inkml:trace>
  <inkml:trace contextRef="#ctx0" brushRef="#br0" timeOffset="11379.4047">16916 9613,'0'0,"18"0,17 0,0 0,18 0,-18 0,18 0,0 0,18 0,-18 0,-18 0,0 0,1 0,-19 0,1 0,-1 0</inkml:trace>
  <inkml:trace contextRef="#ctx0" brushRef="#br0" timeOffset="21043.9858">3211 11712,'53'0,"105"0,54 0,35 0,0 0,0 0,106 0,-1 0,-34 0,-36 36,-70-36,-1 35,36-35,0 17,-17 19,-19-19,-34 19,-19-19,-52-17,-35 18,-1 0,-17-18,106 0,123 0,-35 0,0 0,35 0,106 0,-70 0,35 0,-18 0,-18 0,-34 35,-107-35,18 17,-141 1,0-18,53 0,88 0,88-53,35 18,177 0,-17-36,16 71,-140 0,-106 0,-194 0,53 0,70 0,36 0,17 0,18 18,-70-18,-1 0,-70 0,-18 0,-70 0,17 0,53 17,18-17,88 36,18-36,35 0,-36 0,-34 0,-1 17,-70-17,-53 0,17 0,-34 0,69 0,107 0,35 0,35 0,0-17,107-1,-107-17,-35 17,-53-17,-18 17,-88 18,-52 0,34 0,71 0,0 18,0-18,18 35,-88-35,17 18,-35-18,-18 17,-17-17,-18 18,53-18,53 18,35-1,53 19,-88-36,35 17,-53-17,-18 0,1 0,-18 0,-35 0,-1 0,1 0,-1 0,1 0,0 0,-1 0,1 0,0 0,-1 0,36 0,0 0,53 0,-18-17,18-1,17 18,-17-35,18 17,-18 0,-1 18,-16-17,-36 17,-1 0,-16 0,-1 0,-17 0,-1 0,1 0</inkml:trace>
  <inkml:trace contextRef="#ctx0" brushRef="#br0" timeOffset="23654.1709">3299 12947,'17'0,"36"0,0 0,35-18,-17 1,88 17,-89 0,71-36,-70 36,35 0,-18 0,-17 0,-18 0,17 0,-17 0,0 0,-18 0,18 0,-18 0,1 0,-19 0,1 0,0 0</inkml:trace>
  <inkml:trace contextRef="#ctx0" brushRef="#br0" timeOffset="25741.0279">5451 12823,'17'0,"36"0,36 0,16 0,1 0,18 18,17 17,-35-35,-1 0,-16 0,-19 0,18 0,-35 0,0 18,-18-18,1 0,-1 0,0 0,-17 0,0 0,-1 0,1 0,0 0,-1 0,1 0,-1 0,19 0,-1 0,0 0,1 0,-1 0,0 0,0-18,1 18,-1 0,0-17,-17 17,-1 0,1 0,0 0,-1 0,1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2F4C6F-5D26-4DAE-B7BA-F3A165A8948C}" type="datetimeFigureOut">
              <a:rPr lang="en-US" smtClean="0"/>
              <a:pPr/>
              <a:t>03-Oct-19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ABA381-7040-46AB-A0C1-0078C136BD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71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77FFBF-A903-4987-B095-350EADBDC895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76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03/10/2019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525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03/10/2019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177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03/10/2019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3872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03/10/2019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4667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03/10/2019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7222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03/10/2019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106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03/10/2019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1634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03/10/2019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8027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03/10/2019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7433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03/10/2019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6653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0214A-A849-8F45-B579-9C84A9199CA3}" type="datetimeFigureOut">
              <a:rPr lang="it-IT" smtClean="0"/>
              <a:pPr/>
              <a:t>03/10/2019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1229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0214A-A849-8F45-B579-9C84A9199CA3}" type="datetimeFigureOut">
              <a:rPr lang="it-IT" smtClean="0"/>
              <a:pPr/>
              <a:t>03/10/2019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B18BF-23CC-434B-ADA0-FB36742EDD76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116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customXml" Target="../ink/ink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customXml" Target="../ink/ink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customXml" Target="../ink/ink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95926" y="2484632"/>
            <a:ext cx="8448486" cy="1517000"/>
          </a:xfrm>
        </p:spPr>
        <p:txBody>
          <a:bodyPr>
            <a:noAutofit/>
          </a:bodyPr>
          <a:lstStyle/>
          <a:p>
            <a:r>
              <a:rPr lang="en-GB" sz="3200" b="1" cap="small" dirty="0" smtClean="0">
                <a:latin typeface="Gill Sans MT" panose="020B0502020104020203" pitchFamily="34" charset="0"/>
              </a:rPr>
              <a:t>AE 497-8</a:t>
            </a:r>
            <a:r>
              <a:rPr lang="en-US" sz="3200" b="1" dirty="0"/>
              <a:t/>
            </a:r>
            <a:br>
              <a:rPr lang="en-US" sz="3200" b="1" dirty="0"/>
            </a:br>
            <a:r>
              <a:rPr lang="en-GB" sz="3200" b="1" cap="small" dirty="0" smtClean="0">
                <a:latin typeface="Gill Sans MT" panose="020B0502020104020203" pitchFamily="34" charset="0"/>
              </a:rPr>
              <a:t>Seminar on Student’s Projects</a:t>
            </a:r>
            <a:endParaRPr lang="en-US" sz="3200" b="1" dirty="0"/>
          </a:p>
        </p:txBody>
      </p:sp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914401" y="489776"/>
            <a:ext cx="8229600" cy="156536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3600" b="1" cap="small" dirty="0">
                <a:latin typeface="Gill Sans MT" panose="020B0502020104020203" pitchFamily="34" charset="0"/>
              </a:rPr>
              <a:t>D</a:t>
            </a:r>
            <a:r>
              <a:rPr lang="en-GB" sz="3600" b="1" cap="small" dirty="0" smtClean="0">
                <a:latin typeface="Gill Sans MT" panose="020B0502020104020203" pitchFamily="34" charset="0"/>
              </a:rPr>
              <a:t>epartment of Agricultural and Biosystems Engineering</a:t>
            </a:r>
            <a:endParaRPr lang="en-US" sz="3600" b="1" dirty="0"/>
          </a:p>
        </p:txBody>
      </p:sp>
      <p:sp>
        <p:nvSpPr>
          <p:cNvPr id="10" name="TextBox 6"/>
          <p:cNvSpPr txBox="1"/>
          <p:nvPr/>
        </p:nvSpPr>
        <p:spPr>
          <a:xfrm>
            <a:off x="3270422" y="5125066"/>
            <a:ext cx="55060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cap="small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Lecturer:</a:t>
            </a:r>
            <a:r>
              <a:rPr lang="en-GB" sz="2400" b="1" cap="small" dirty="0" smtClean="0">
                <a:latin typeface="Gill Sans MT" panose="020B0502020104020203" pitchFamily="34" charset="0"/>
              </a:rPr>
              <a:t>  William Amponsah, PhD</a:t>
            </a:r>
            <a:endParaRPr lang="it-IT" sz="2400" b="1" dirty="0" smtClean="0">
              <a:latin typeface="Gill Sans MT" panose="020B0502020104020203" pitchFamily="34" charset="0"/>
            </a:endParaRPr>
          </a:p>
          <a:p>
            <a:pPr algn="r"/>
            <a:endParaRPr lang="it-IT" sz="1600" b="1" dirty="0">
              <a:latin typeface="Gill Sans MT" panose="020B0502020104020203" pitchFamily="34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595926" y="2390116"/>
            <a:ext cx="856500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578993" y="4099712"/>
            <a:ext cx="856500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992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405467"/>
            <a:ext cx="8052486" cy="5036522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Student’s Final Project and Assessment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Student-Supervisor Working Relationship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Contents and Structure of the Dissertation 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Oral Presentation (Next Seminar)</a:t>
            </a:r>
          </a:p>
          <a:p>
            <a:pPr marL="0" indent="0">
              <a:lnSpc>
                <a:spcPct val="120000"/>
              </a:lnSpc>
              <a:buNone/>
            </a:pPr>
            <a:endParaRPr lang="en-US" sz="3600" dirty="0"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GB" cap="small" dirty="0" smtClean="0">
                <a:latin typeface="Gill Sans MT" panose="020B0502020104020203" pitchFamily="34" charset="0"/>
              </a:rPr>
              <a:t>Content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1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105014"/>
            <a:ext cx="8052486" cy="5336975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Supervised research project by individual students as part of requirement for graduation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Duration: </a:t>
            </a:r>
            <a:r>
              <a:rPr lang="en-US" dirty="0" smtClean="0">
                <a:latin typeface="Gill Sans MT" panose="020B0502020104020203" pitchFamily="34" charset="0"/>
              </a:rPr>
              <a:t>1 year</a:t>
            </a:r>
          </a:p>
          <a:p>
            <a:pPr>
              <a:lnSpc>
                <a:spcPct val="120000"/>
              </a:lnSpc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Objective:  </a:t>
            </a:r>
            <a:r>
              <a:rPr lang="en-US" dirty="0" smtClean="0">
                <a:latin typeface="Gill Sans MT" panose="020B0502020104020203" pitchFamily="34" charset="0"/>
              </a:rPr>
              <a:t>To train students to carry out independent research projects through the application of accumulated knowledge in specialized field of study</a:t>
            </a:r>
            <a:endParaRPr lang="en-US" dirty="0"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Student’s Final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1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105014"/>
            <a:ext cx="8052486" cy="5336975"/>
          </a:xfrm>
        </p:spPr>
        <p:txBody>
          <a:bodyPr>
            <a:noAutofit/>
          </a:bodyPr>
          <a:lstStyle/>
          <a:p>
            <a:pPr marL="0" lv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dirty="0" smtClean="0">
                <a:latin typeface="Gill Sans MT" panose="020B0502020104020203" pitchFamily="34" charset="0"/>
              </a:rPr>
              <a:t>Also related to Post-Grad specializations: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Soil and Water Engineering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Food and Post-Harvest </a:t>
            </a:r>
            <a:r>
              <a:rPr lang="en-US" dirty="0" smtClean="0">
                <a:latin typeface="Gill Sans MT" panose="020B0502020104020203" pitchFamily="34" charset="0"/>
              </a:rPr>
              <a:t>Engineering</a:t>
            </a:r>
            <a:endParaRPr lang="en-US" dirty="0" smtClean="0">
              <a:latin typeface="Gill Sans MT" panose="020B0502020104020203" pitchFamily="34" charset="0"/>
            </a:endParaRP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Farm Power and Machinery Engineering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Agro-Environmental Engineering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Bio-Engineering</a:t>
            </a:r>
            <a:endParaRPr lang="en-US" dirty="0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Specializations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913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105014"/>
            <a:ext cx="8052486" cy="5336975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Formulation of project topic and research objectives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Establishing the problem and scientific justification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Literature review on important aspects of the research theme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Proposed methodology to address the problem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1</a:t>
            </a:r>
            <a:r>
              <a:rPr lang="en-US" cap="small" baseline="30000" dirty="0" smtClean="0">
                <a:latin typeface="Gill Sans MT" panose="020B0502020104020203" pitchFamily="34" charset="0"/>
              </a:rPr>
              <a:t>st</a:t>
            </a:r>
            <a:r>
              <a:rPr lang="en-US" cap="small" dirty="0" smtClean="0">
                <a:latin typeface="Gill Sans MT" panose="020B0502020104020203" pitchFamily="34" charset="0"/>
              </a:rPr>
              <a:t> Semester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078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105014"/>
            <a:ext cx="8052486" cy="5336975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Building on the proposed methodology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Actual field experiment/ lab-work/ surveys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Data collection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Data analysis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>
                <a:solidFill>
                  <a:srgbClr val="FF0000"/>
                </a:solidFill>
                <a:latin typeface="Gill Sans MT" panose="020B0502020104020203" pitchFamily="34" charset="0"/>
              </a:rPr>
              <a:t>I</a:t>
            </a: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nterpretation of data</a:t>
            </a: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Final write-up of the dissertation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2</a:t>
            </a:r>
            <a:r>
              <a:rPr lang="en-US" cap="small" baseline="30000" dirty="0" smtClean="0">
                <a:latin typeface="Gill Sans MT" panose="020B0502020104020203" pitchFamily="34" charset="0"/>
              </a:rPr>
              <a:t>nd</a:t>
            </a:r>
            <a:r>
              <a:rPr lang="en-US" cap="small" dirty="0" smtClean="0">
                <a:latin typeface="Gill Sans MT" panose="020B0502020104020203" pitchFamily="34" charset="0"/>
              </a:rPr>
              <a:t> Semester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427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105014"/>
            <a:ext cx="8052486" cy="5336975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b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1</a:t>
            </a:r>
            <a:r>
              <a:rPr lang="en-US" b="1" baseline="300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st</a:t>
            </a:r>
            <a:r>
              <a:rPr lang="en-US" b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 semester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Credit: 1 for presentation of synopsis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b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2</a:t>
            </a:r>
            <a:r>
              <a:rPr lang="en-US" b="1" baseline="300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nd</a:t>
            </a:r>
            <a:r>
              <a:rPr lang="en-US" b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 semester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Credit: 5 for dissertation and presentation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30% for presentation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70% for </a:t>
            </a:r>
            <a:r>
              <a:rPr lang="en-US" dirty="0" smtClean="0">
                <a:latin typeface="Gill Sans MT" panose="020B0502020104020203" pitchFamily="34" charset="0"/>
              </a:rPr>
              <a:t>dissertation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sz="2400" dirty="0" smtClean="0">
                <a:latin typeface="Gill Sans MT" panose="020B0502020104020203" pitchFamily="34" charset="0"/>
              </a:rPr>
              <a:t>1 and </a:t>
            </a:r>
            <a:r>
              <a:rPr lang="en-US" sz="2400" b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6</a:t>
            </a:r>
            <a:r>
              <a:rPr lang="en-US" sz="2400" dirty="0" smtClean="0">
                <a:latin typeface="Gill Sans MT" panose="020B0502020104020203" pitchFamily="34" charset="0"/>
              </a:rPr>
              <a:t> for presentation and </a:t>
            </a:r>
            <a:r>
              <a:rPr lang="en-US" sz="2400" b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dissertation</a:t>
            </a:r>
            <a:r>
              <a:rPr lang="en-US" sz="2400" dirty="0" smtClean="0">
                <a:latin typeface="Gill Sans MT" panose="020B0502020104020203" pitchFamily="34" charset="0"/>
              </a:rPr>
              <a:t> (Agric. Mech.)</a:t>
            </a:r>
            <a:endParaRPr lang="en-US" sz="2400" dirty="0" smtClean="0"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Assessment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871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105014"/>
            <a:ext cx="8052486" cy="5336975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This is your </a:t>
            </a: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work.</a:t>
            </a:r>
            <a:endParaRPr lang="en-US" sz="3600" dirty="0" smtClean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Your supervisor is to guide and direct </a:t>
            </a:r>
            <a:r>
              <a:rPr lang="en-US" sz="3600" dirty="0" smtClean="0">
                <a:latin typeface="Gill Sans MT" panose="020B0502020104020203" pitchFamily="34" charset="0"/>
              </a:rPr>
              <a:t>you.</a:t>
            </a:r>
            <a:endParaRPr lang="en-US" sz="3600" dirty="0" smtClean="0">
              <a:latin typeface="Gill Sans MT" panose="020B0502020104020203" pitchFamily="34" charset="0"/>
            </a:endParaRP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You are a STUDENT not a </a:t>
            </a: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LABOURER.</a:t>
            </a:r>
            <a:endParaRPr lang="en-US" sz="3600" dirty="0" smtClean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Have constructive discussions with them, not YES SIR, YES SIR </a:t>
            </a:r>
            <a:r>
              <a:rPr lang="en-US" sz="3600" dirty="0" smtClean="0">
                <a:latin typeface="Gill Sans MT" panose="020B0502020104020203" pitchFamily="34" charset="0"/>
              </a:rPr>
              <a:t>attitude.</a:t>
            </a:r>
            <a:endParaRPr lang="en-US" sz="3600" dirty="0" smtClean="0">
              <a:latin typeface="Gill Sans MT" panose="020B0502020104020203" pitchFamily="34" charset="0"/>
            </a:endParaRP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My BSc project as an </a:t>
            </a: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example.</a:t>
            </a:r>
            <a:endParaRPr lang="en-US" sz="3600" dirty="0" smtClean="0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Student-Supervisor </a:t>
            </a:r>
            <a:r>
              <a:rPr lang="en-US" cap="small" dirty="0" smtClean="0">
                <a:latin typeface="Gill Sans MT" panose="020B0502020104020203" pitchFamily="34" charset="0"/>
              </a:rPr>
              <a:t>Relationship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83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105014"/>
            <a:ext cx="8052486" cy="5336975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This is the first most important step for your career human </a:t>
            </a: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relationship.</a:t>
            </a:r>
            <a:endParaRPr lang="en-US" sz="3600" dirty="0" smtClean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You probably wouldn’t be going for lectures and writing exams for the rest of your </a:t>
            </a:r>
            <a:r>
              <a:rPr lang="en-US" sz="3600" dirty="0" smtClean="0">
                <a:latin typeface="Gill Sans MT" panose="020B0502020104020203" pitchFamily="34" charset="0"/>
              </a:rPr>
              <a:t>life.</a:t>
            </a:r>
            <a:endParaRPr lang="en-US" sz="3600" dirty="0" smtClean="0">
              <a:latin typeface="Gill Sans MT" panose="020B0502020104020203" pitchFamily="34" charset="0"/>
            </a:endParaRPr>
          </a:p>
          <a:p>
            <a:pPr lvl="0">
              <a:lnSpc>
                <a:spcPct val="120000"/>
              </a:lnSpc>
              <a:spcAft>
                <a:spcPts val="6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You will be working with </a:t>
            </a: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people.</a:t>
            </a:r>
            <a:endParaRPr lang="en-US" sz="3600" dirty="0" smtClean="0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Student-Supervisor </a:t>
            </a:r>
            <a:r>
              <a:rPr lang="en-US" cap="small" dirty="0" smtClean="0">
                <a:latin typeface="Gill Sans MT" panose="020B0502020104020203" pitchFamily="34" charset="0"/>
              </a:rPr>
              <a:t>Relationship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4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Tenant-Landlady Relationship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883900"/>
              </p:ext>
            </p:extLst>
          </p:nvPr>
        </p:nvGraphicFramePr>
        <p:xfrm>
          <a:off x="578992" y="1046900"/>
          <a:ext cx="8407165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29236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TENANT’S PERCEPTION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tx1"/>
                          </a:solidFill>
                        </a:rPr>
                        <a:t>LANDLADY’S PERCEPTION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The rent is already too high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The rent has not been increased for a long time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With other costs</a:t>
                      </a:r>
                      <a:r>
                        <a:rPr lang="en-US" sz="2400" baseline="0" dirty="0" smtClean="0"/>
                        <a:t> going up, I can’t afford to pay more for housing</a:t>
                      </a:r>
                      <a:endParaRPr lang="en-US" sz="2400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With other costs going</a:t>
                      </a:r>
                      <a:r>
                        <a:rPr lang="en-US" sz="2400" baseline="0" dirty="0" smtClean="0"/>
                        <a:t> up, I need more rental income</a:t>
                      </a:r>
                      <a:endParaRPr lang="en-US" sz="2400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I know</a:t>
                      </a:r>
                      <a:r>
                        <a:rPr lang="en-US" sz="2400" baseline="0" dirty="0" smtClean="0">
                          <a:solidFill>
                            <a:srgbClr val="FF0000"/>
                          </a:solidFill>
                        </a:rPr>
                        <a:t> people who pay less for a comparable apartment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I know</a:t>
                      </a:r>
                      <a:r>
                        <a:rPr lang="en-US" sz="2400" baseline="0" dirty="0" smtClean="0">
                          <a:solidFill>
                            <a:srgbClr val="FF0000"/>
                          </a:solidFill>
                        </a:rPr>
                        <a:t> people who pay more for a comparable apartment</a:t>
                      </a:r>
                      <a:endParaRPr lang="en-US" sz="2400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Young</a:t>
                      </a:r>
                      <a:r>
                        <a:rPr lang="en-US" sz="2400" baseline="0" dirty="0" smtClean="0"/>
                        <a:t> people like me can’t afford to pay high rents</a:t>
                      </a:r>
                      <a:endParaRPr lang="en-US" sz="2400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Young people like him</a:t>
                      </a:r>
                      <a:r>
                        <a:rPr lang="en-US" sz="2400" baseline="0" dirty="0" smtClean="0"/>
                        <a:t> tend to make noise and to be hard on an apartment</a:t>
                      </a:r>
                      <a:endParaRPr lang="en-US" sz="2400" dirty="0"/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The rent ought to be low because the neighborhood is rundown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We landlords</a:t>
                      </a:r>
                      <a:r>
                        <a:rPr lang="en-US" sz="2400" baseline="0" dirty="0" smtClean="0">
                          <a:solidFill>
                            <a:srgbClr val="FF0000"/>
                          </a:solidFill>
                        </a:rPr>
                        <a:t> should raise rents in order to improve the quality of the neighborhood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357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9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Tenant-Landlady Relationship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4686561"/>
              </p:ext>
            </p:extLst>
          </p:nvPr>
        </p:nvGraphicFramePr>
        <p:xfrm>
          <a:off x="578992" y="1046900"/>
          <a:ext cx="8407165" cy="441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29236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TENANT’S PERCEPTION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solidFill>
                            <a:schemeClr val="tx1"/>
                          </a:solidFill>
                        </a:rPr>
                        <a:t>LANDLADY’S PERCEPTION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I am</a:t>
                      </a:r>
                      <a:r>
                        <a:rPr lang="en-US" sz="2400" baseline="0" dirty="0" smtClean="0">
                          <a:solidFill>
                            <a:srgbClr val="FF0000"/>
                          </a:solidFill>
                        </a:rPr>
                        <a:t> a desirable tenant with no dogs and cats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rgbClr val="FF0000"/>
                          </a:solidFill>
                        </a:rPr>
                        <a:t>His Facebook</a:t>
                      </a:r>
                      <a:r>
                        <a:rPr lang="en-US" sz="2400" baseline="0" dirty="0" smtClean="0">
                          <a:solidFill>
                            <a:srgbClr val="FF0000"/>
                          </a:solidFill>
                        </a:rPr>
                        <a:t> and </a:t>
                      </a:r>
                      <a:r>
                        <a:rPr lang="en-US" sz="2400" baseline="0" dirty="0" err="1" smtClean="0">
                          <a:solidFill>
                            <a:srgbClr val="FF0000"/>
                          </a:solidFill>
                        </a:rPr>
                        <a:t>Insta</a:t>
                      </a:r>
                      <a:r>
                        <a:rPr lang="en-US" sz="2400" baseline="0" dirty="0" smtClean="0">
                          <a:solidFill>
                            <a:srgbClr val="FF0000"/>
                          </a:solidFill>
                        </a:rPr>
                        <a:t> drive me crazy</a:t>
                      </a:r>
                      <a:endParaRPr 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The</a:t>
                      </a:r>
                      <a:r>
                        <a:rPr lang="en-US" sz="2400" baseline="0" dirty="0" smtClean="0"/>
                        <a:t> apartment needs painting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He has given that</a:t>
                      </a:r>
                      <a:r>
                        <a:rPr lang="en-US" sz="2400" baseline="0" dirty="0" smtClean="0"/>
                        <a:t> apartment heavy wear and tear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I always pay the rent whenever she asks for it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He never pays</a:t>
                      </a:r>
                      <a:r>
                        <a:rPr lang="en-US" sz="2800" b="1" baseline="0" dirty="0" smtClean="0">
                          <a:solidFill>
                            <a:srgbClr val="FF0000"/>
                          </a:solidFill>
                        </a:rPr>
                        <a:t> the rent until I ask for it</a:t>
                      </a:r>
                      <a:endParaRPr lang="en-US" sz="2800" b="1" dirty="0" smtClean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She is cold and distant; she never asks</a:t>
                      </a:r>
                      <a:r>
                        <a:rPr lang="en-US" sz="2800" b="1" baseline="0" dirty="0" smtClean="0"/>
                        <a:t> me how things are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I am</a:t>
                      </a:r>
                      <a:r>
                        <a:rPr lang="en-US" sz="2800" b="1" baseline="0" dirty="0" smtClean="0"/>
                        <a:t> a considerate person who never intrudes on a tenant’s privacy</a:t>
                      </a:r>
                      <a:endParaRPr lang="en-US" sz="2800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7266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087640"/>
            <a:ext cx="8052486" cy="5657925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Cover and Title-Page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dirty="0" smtClean="0">
                <a:latin typeface="Gill Sans MT" panose="020B0502020104020203" pitchFamily="34" charset="0"/>
              </a:rPr>
              <a:t>Front/Signature Page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Abstract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dirty="0" smtClean="0">
                <a:latin typeface="Gill Sans MT" panose="020B0502020104020203" pitchFamily="34" charset="0"/>
              </a:rPr>
              <a:t>Acknowledgements and Dedication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Table of Contents (List of Tables and Figures)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b="1" dirty="0" smtClean="0">
                <a:latin typeface="Gill Sans MT" panose="020B0502020104020203" pitchFamily="34" charset="0"/>
              </a:rPr>
              <a:t>Introduction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b="1" dirty="0" smtClean="0">
                <a:latin typeface="Gill Sans MT" panose="020B0502020104020203" pitchFamily="34" charset="0"/>
              </a:rPr>
              <a:t>Literature Review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b="1" dirty="0" smtClean="0">
                <a:latin typeface="Gill Sans MT" panose="020B0502020104020203" pitchFamily="34" charset="0"/>
              </a:rPr>
              <a:t>Materials and Methods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b="1" dirty="0" smtClean="0">
                <a:latin typeface="Gill Sans MT" panose="020B0502020104020203" pitchFamily="34" charset="0"/>
              </a:rPr>
              <a:t>Results and Discussion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b="1" dirty="0" smtClean="0">
                <a:latin typeface="Gill Sans MT" panose="020B0502020104020203" pitchFamily="34" charset="0"/>
              </a:rPr>
              <a:t>Conclusions and Recommendations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b="1" dirty="0" smtClean="0">
                <a:latin typeface="Gill Sans MT" panose="020B0502020104020203" pitchFamily="34" charset="0"/>
              </a:rPr>
              <a:t>References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Appendices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Contents of the Dissertation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407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Cover and </a:t>
            </a:r>
            <a:r>
              <a:rPr lang="en-US" cap="small" dirty="0" smtClean="0">
                <a:latin typeface="Gill Sans MT" panose="020B0502020104020203" pitchFamily="34" charset="0"/>
              </a:rPr>
              <a:t>Title-Page: Example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86842" y="1131683"/>
            <a:ext cx="8657158" cy="572631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>
              <a:buFont typeface="Arial"/>
              <a:buNone/>
            </a:pPr>
            <a:r>
              <a:rPr lang="en-GB" sz="2200" b="1" dirty="0"/>
              <a:t>KWAME NKRUMAH UNIVERSITY OF SCIENCE AND TECHNOLOGY KUMASI, </a:t>
            </a:r>
            <a:r>
              <a:rPr lang="en-GB" sz="2200" b="1" dirty="0" smtClean="0"/>
              <a:t>GHANA</a:t>
            </a:r>
          </a:p>
          <a:p>
            <a:pPr marL="0" lvl="1" indent="0" algn="ctr">
              <a:buFont typeface="Arial"/>
              <a:buNone/>
            </a:pPr>
            <a:endParaRPr lang="en-GB" sz="2200" b="1" dirty="0"/>
          </a:p>
          <a:p>
            <a:pPr marL="0" lvl="1" indent="0" algn="ctr">
              <a:buFont typeface="Arial"/>
              <a:buNone/>
            </a:pPr>
            <a:r>
              <a:rPr lang="en-GB" sz="2200" b="1" dirty="0"/>
              <a:t>COLLEGE OF </a:t>
            </a:r>
            <a:r>
              <a:rPr lang="en-GB" sz="2200" b="1" dirty="0" smtClean="0"/>
              <a:t>ENGINEERING</a:t>
            </a:r>
          </a:p>
          <a:p>
            <a:pPr marL="0" lvl="1" indent="0" algn="ctr">
              <a:buFont typeface="Arial"/>
              <a:buNone/>
            </a:pPr>
            <a:endParaRPr lang="en-GB" sz="2200" b="1" dirty="0"/>
          </a:p>
          <a:p>
            <a:pPr marL="0" lvl="1" indent="0" algn="ctr">
              <a:buFont typeface="Arial"/>
              <a:buNone/>
            </a:pPr>
            <a:r>
              <a:rPr lang="en-GB" sz="2200" b="1" dirty="0"/>
              <a:t>DEPARTMENT OF AGRICULTURAL AND BIOSYSTEMS </a:t>
            </a:r>
            <a:r>
              <a:rPr lang="en-GB" sz="2200" b="1" dirty="0" smtClean="0"/>
              <a:t>ENGINEERING</a:t>
            </a:r>
          </a:p>
          <a:p>
            <a:pPr marL="0" lvl="1" indent="0" algn="ctr">
              <a:buFont typeface="Arial"/>
              <a:buNone/>
            </a:pPr>
            <a:endParaRPr lang="en-GB" sz="2200" b="1" dirty="0"/>
          </a:p>
          <a:p>
            <a:pPr marL="0" lvl="1" indent="0" algn="ctr">
              <a:buFont typeface="Arial"/>
              <a:buNone/>
            </a:pPr>
            <a:r>
              <a:rPr lang="en-GB" sz="2200" b="1" dirty="0" smtClean="0"/>
              <a:t>IMPROVEMENT </a:t>
            </a:r>
            <a:r>
              <a:rPr lang="en-GB" sz="2200" b="1" dirty="0"/>
              <a:t>OF IRRIGATION TECHNIQUES FOR FARMERS IN BANKYEKROM</a:t>
            </a:r>
          </a:p>
          <a:p>
            <a:pPr marL="0" lvl="1" indent="0" algn="ctr">
              <a:buFont typeface="Arial"/>
              <a:buNone/>
            </a:pPr>
            <a:endParaRPr lang="en-GB" sz="2200" b="1" dirty="0">
              <a:solidFill>
                <a:srgbClr val="00B050"/>
              </a:solidFill>
            </a:endParaRPr>
          </a:p>
          <a:p>
            <a:pPr marL="0" lvl="1" indent="0" algn="ctr">
              <a:buFont typeface="Arial"/>
              <a:buNone/>
            </a:pPr>
            <a:r>
              <a:rPr lang="en-GB" sz="2200" b="1" dirty="0"/>
              <a:t>NAME: KWEKU ANANSE</a:t>
            </a:r>
          </a:p>
          <a:p>
            <a:pPr marL="0" lvl="1" indent="0" algn="ctr">
              <a:buFont typeface="Arial"/>
              <a:buNone/>
            </a:pPr>
            <a:r>
              <a:rPr lang="en-GB" sz="2200" b="1" dirty="0"/>
              <a:t>INDEX NO.: 0000000</a:t>
            </a:r>
          </a:p>
          <a:p>
            <a:pPr marL="0" lvl="1" indent="0" algn="ctr">
              <a:buFont typeface="Arial"/>
              <a:buNone/>
            </a:pPr>
            <a:r>
              <a:rPr lang="en-GB" sz="2200" b="1" dirty="0"/>
              <a:t>JANUARY 1777</a:t>
            </a:r>
          </a:p>
        </p:txBody>
      </p:sp>
    </p:spTree>
    <p:extLst>
      <p:ext uri="{BB962C8B-B14F-4D97-AF65-F5344CB8AC3E}">
        <p14:creationId xmlns:p14="http://schemas.microsoft.com/office/powerpoint/2010/main" val="3987862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087640"/>
            <a:ext cx="8052486" cy="5657925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The title is the most important element of the cover page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The best title is this title correctly explaining the context of the dissertation in as few as possible words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Try to avoid extra words as “Study of…”, “Contribution to the study of…”.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Avoid abbreviations, chemical formulae and trade names in the tile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University logo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Cover and Title-Page</a:t>
            </a:r>
          </a:p>
        </p:txBody>
      </p:sp>
    </p:spTree>
    <p:extLst>
      <p:ext uri="{BB962C8B-B14F-4D97-AF65-F5344CB8AC3E}">
        <p14:creationId xmlns:p14="http://schemas.microsoft.com/office/powerpoint/2010/main" val="48338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285592"/>
            <a:ext cx="8052486" cy="5459973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First page of the dissertation report</a:t>
            </a:r>
          </a:p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Comes immediately after the cover page</a:t>
            </a:r>
          </a:p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Explicitly states the title of the dissertation and the purpose</a:t>
            </a:r>
          </a:p>
          <a:p>
            <a:pPr lvl="0">
              <a:spcBef>
                <a:spcPts val="0"/>
              </a:spcBef>
              <a:spcAft>
                <a:spcPts val="18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It also serves as the signature page for both student and supervisor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Front/Signature Page</a:t>
            </a:r>
          </a:p>
        </p:txBody>
      </p:sp>
    </p:spTree>
    <p:extLst>
      <p:ext uri="{BB962C8B-B14F-4D97-AF65-F5344CB8AC3E}">
        <p14:creationId xmlns:p14="http://schemas.microsoft.com/office/powerpoint/2010/main" val="1204310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22960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Front/Signature </a:t>
            </a:r>
            <a:r>
              <a:rPr lang="en-US" cap="small" dirty="0" smtClean="0">
                <a:latin typeface="Gill Sans MT" panose="020B0502020104020203" pitchFamily="34" charset="0"/>
              </a:rPr>
              <a:t>Page: Example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42" y="1120366"/>
            <a:ext cx="8663347" cy="5189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200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087640"/>
            <a:ext cx="8052486" cy="5657925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Summary of the dissertation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It includes MAIN </a:t>
            </a:r>
            <a:r>
              <a:rPr lang="en-US" b="1" i="1" dirty="0" smtClean="0">
                <a:latin typeface="Gill Sans MT" panose="020B0502020104020203" pitchFamily="34" charset="0"/>
              </a:rPr>
              <a:t>purpose</a:t>
            </a:r>
            <a:r>
              <a:rPr lang="en-US" dirty="0" smtClean="0">
                <a:latin typeface="Gill Sans MT" panose="020B0502020104020203" pitchFamily="34" charset="0"/>
              </a:rPr>
              <a:t>, </a:t>
            </a:r>
            <a:r>
              <a:rPr lang="en-US" b="1" i="1" dirty="0" smtClean="0">
                <a:latin typeface="Gill Sans MT" panose="020B0502020104020203" pitchFamily="34" charset="0"/>
              </a:rPr>
              <a:t>methods</a:t>
            </a:r>
            <a:r>
              <a:rPr lang="en-US" dirty="0" smtClean="0">
                <a:latin typeface="Gill Sans MT" panose="020B0502020104020203" pitchFamily="34" charset="0"/>
              </a:rPr>
              <a:t>, </a:t>
            </a:r>
            <a:r>
              <a:rPr lang="en-US" b="1" i="1" dirty="0" smtClean="0">
                <a:latin typeface="Gill Sans MT" panose="020B0502020104020203" pitchFamily="34" charset="0"/>
              </a:rPr>
              <a:t>results</a:t>
            </a:r>
            <a:r>
              <a:rPr lang="en-US" dirty="0" smtClean="0">
                <a:latin typeface="Gill Sans MT" panose="020B0502020104020203" pitchFamily="34" charset="0"/>
              </a:rPr>
              <a:t>, </a:t>
            </a:r>
            <a:r>
              <a:rPr lang="en-US" b="1" i="1" dirty="0" smtClean="0">
                <a:latin typeface="Gill Sans MT" panose="020B0502020104020203" pitchFamily="34" charset="0"/>
              </a:rPr>
              <a:t>conclusions</a:t>
            </a:r>
            <a:r>
              <a:rPr lang="en-US" dirty="0" smtClean="0">
                <a:latin typeface="Gill Sans MT" panose="020B0502020104020203" pitchFamily="34" charset="0"/>
              </a:rPr>
              <a:t> and </a:t>
            </a:r>
            <a:r>
              <a:rPr lang="en-US" b="1" i="1" dirty="0" smtClean="0">
                <a:latin typeface="Gill Sans MT" panose="020B0502020104020203" pitchFamily="34" charset="0"/>
              </a:rPr>
              <a:t>recommendations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It highlights the essential points of the dissertation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Keep the abstract not more than one page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The abstract also adds no new information but simply summarizes the dissertation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Presentations should highlight the contents of the abstract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Abstract</a:t>
            </a:r>
            <a:endParaRPr lang="en-US" cap="small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34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079" y="1087640"/>
            <a:ext cx="8052486" cy="5657925"/>
          </a:xfrm>
        </p:spPr>
        <p:txBody>
          <a:bodyPr>
            <a:noAutofit/>
          </a:bodyPr>
          <a:lstStyle/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Can appear on different pages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800" dirty="0" smtClean="0">
                <a:latin typeface="Gill Sans MT" panose="020B0502020104020203" pitchFamily="34" charset="0"/>
              </a:rPr>
              <a:t>This is the only non-scientific part of the thesis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 simple and courteous relation made between the student and all persons having helped in one or another way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800" dirty="0" smtClean="0">
                <a:latin typeface="Gill Sans MT" panose="020B0502020104020203" pitchFamily="34" charset="0"/>
              </a:rPr>
              <a:t>It gives evidence of courtesy to thank somebody (your supervisor, parents, technicians, mates) who helped you with your studies, with any material or with an important idea or interpretation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Write correctly the name, title and function and take care of the order of importance</a:t>
            </a:r>
          </a:p>
          <a:p>
            <a:pPr lvl="0">
              <a:spcBef>
                <a:spcPts val="0"/>
              </a:spcBef>
              <a:spcAft>
                <a:spcPts val="600"/>
              </a:spcAft>
            </a:pPr>
            <a:r>
              <a:rPr lang="en-US" sz="2800" dirty="0" smtClean="0">
                <a:latin typeface="Gill Sans MT" panose="020B0502020104020203" pitchFamily="34" charset="0"/>
              </a:rPr>
              <a:t>Dedication means DEDICATION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Acknowledgements and Dedication</a:t>
            </a:r>
            <a:endParaRPr lang="en-US" cap="small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902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Table of Contents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855" y="1113576"/>
            <a:ext cx="8095129" cy="5744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082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List of Tables and Figures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78992" y="1113576"/>
            <a:ext cx="8153400" cy="534003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lnSpc>
                <a:spcPct val="120000"/>
              </a:lnSpc>
            </a:pPr>
            <a:r>
              <a:rPr lang="en-GB" dirty="0">
                <a:solidFill>
                  <a:srgbClr val="FF0000"/>
                </a:solidFill>
                <a:latin typeface="Gill Sans MT" panose="020B0502020104020203" pitchFamily="34" charset="0"/>
              </a:rPr>
              <a:t>Figures include </a:t>
            </a:r>
            <a:r>
              <a:rPr lang="en-GB" b="1" i="1" dirty="0">
                <a:solidFill>
                  <a:srgbClr val="FF0000"/>
                </a:solidFill>
                <a:latin typeface="Gill Sans MT" panose="020B0502020104020203" pitchFamily="34" charset="0"/>
              </a:rPr>
              <a:t>pictures</a:t>
            </a:r>
            <a:r>
              <a:rPr lang="en-GB" i="1" dirty="0">
                <a:solidFill>
                  <a:srgbClr val="FF0000"/>
                </a:solidFill>
                <a:latin typeface="Gill Sans MT" panose="020B0502020104020203" pitchFamily="34" charset="0"/>
              </a:rPr>
              <a:t>, </a:t>
            </a:r>
            <a:r>
              <a:rPr lang="en-GB" b="1" i="1" dirty="0">
                <a:solidFill>
                  <a:srgbClr val="FF0000"/>
                </a:solidFill>
                <a:latin typeface="Gill Sans MT" panose="020B0502020104020203" pitchFamily="34" charset="0"/>
              </a:rPr>
              <a:t>graphs</a:t>
            </a:r>
            <a:r>
              <a:rPr lang="en-GB" i="1" dirty="0">
                <a:solidFill>
                  <a:srgbClr val="FF0000"/>
                </a:solidFill>
                <a:latin typeface="Gill Sans MT" panose="020B0502020104020203" pitchFamily="34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Gill Sans MT" panose="020B0502020104020203" pitchFamily="34" charset="0"/>
              </a:rPr>
              <a:t>and </a:t>
            </a:r>
            <a:r>
              <a:rPr lang="en-GB" b="1" i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charts</a:t>
            </a:r>
            <a:endParaRPr lang="en-GB" b="1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r>
              <a:rPr lang="en-GB" dirty="0">
                <a:latin typeface="Gill Sans MT" panose="020B0502020104020203" pitchFamily="34" charset="0"/>
              </a:rPr>
              <a:t>The list should include the table or figure number, the exact title and the page where it is </a:t>
            </a:r>
            <a:r>
              <a:rPr lang="en-GB" dirty="0" smtClean="0">
                <a:latin typeface="Gill Sans MT" panose="020B0502020104020203" pitchFamily="34" charset="0"/>
              </a:rPr>
              <a:t>found</a:t>
            </a:r>
            <a:endParaRPr lang="en-GB" dirty="0"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r>
              <a:rPr lang="en-GB" dirty="0">
                <a:solidFill>
                  <a:srgbClr val="FF0000"/>
                </a:solidFill>
                <a:latin typeface="Gill Sans MT" panose="020B0502020104020203" pitchFamily="34" charset="0"/>
              </a:rPr>
              <a:t>Tables and figures should stand on their own without reference to the text </a:t>
            </a:r>
            <a:r>
              <a:rPr lang="en-GB" b="1" i="1" dirty="0">
                <a:solidFill>
                  <a:srgbClr val="FF0000"/>
                </a:solidFill>
                <a:latin typeface="Gill Sans MT" panose="020B0502020104020203" pitchFamily="34" charset="0"/>
              </a:rPr>
              <a:t>but they need to be referred to in the </a:t>
            </a:r>
            <a:r>
              <a:rPr lang="en-GB" b="1" i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text</a:t>
            </a:r>
          </a:p>
          <a:p>
            <a:pPr marL="271463" indent="-271463">
              <a:lnSpc>
                <a:spcPct val="120000"/>
              </a:lnSpc>
            </a:pPr>
            <a:r>
              <a:rPr lang="en-GB" dirty="0" smtClean="0">
                <a:latin typeface="Gill Sans MT" panose="020B0502020104020203" pitchFamily="34" charset="0"/>
              </a:rPr>
              <a:t>HOW TO DO THIS AUTHOMATICALLY IN </a:t>
            </a:r>
            <a:r>
              <a:rPr lang="en-GB" b="1" i="1" dirty="0" smtClean="0">
                <a:latin typeface="Gill Sans MT" panose="020B0502020104020203" pitchFamily="34" charset="0"/>
              </a:rPr>
              <a:t>MICROSOFT WORD</a:t>
            </a:r>
            <a:r>
              <a:rPr lang="en-GB" dirty="0" smtClean="0">
                <a:latin typeface="Gill Sans MT" panose="020B0502020104020203" pitchFamily="34" charset="0"/>
              </a:rPr>
              <a:t>! </a:t>
            </a:r>
            <a:r>
              <a:rPr lang="en-GB" dirty="0" smtClean="0">
                <a:latin typeface="Gill Sans MT" panose="020B0502020104020203" pitchFamily="34" charset="0"/>
              </a:rPr>
              <a:t>(</a:t>
            </a:r>
            <a:r>
              <a:rPr lang="en-GB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Any idea?</a:t>
            </a:r>
            <a:r>
              <a:rPr lang="en-GB" dirty="0" smtClean="0">
                <a:latin typeface="Gill Sans MT" panose="020B0502020104020203" pitchFamily="34" charset="0"/>
              </a:rPr>
              <a:t>)</a:t>
            </a:r>
            <a:endParaRPr lang="en-GB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467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List of Tables and Figures</a:t>
            </a:r>
          </a:p>
        </p:txBody>
      </p:sp>
      <p:pic>
        <p:nvPicPr>
          <p:cNvPr id="11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26" y="1999824"/>
            <a:ext cx="8524390" cy="104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92" y="3871866"/>
            <a:ext cx="8519848" cy="174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2457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Introduction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2648" y="1104522"/>
            <a:ext cx="8153400" cy="534003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spcBef>
                <a:spcPts val="0"/>
              </a:spcBef>
              <a:spcAft>
                <a:spcPts val="600"/>
              </a:spcAft>
            </a:pPr>
            <a:r>
              <a:rPr lang="en-GB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Answer to ‘</a:t>
            </a:r>
            <a:r>
              <a:rPr lang="en-GB" b="1" i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WHAT IS THE PROBLEM?</a:t>
            </a:r>
            <a:r>
              <a:rPr lang="en-GB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’</a:t>
            </a:r>
          </a:p>
          <a:p>
            <a:pPr marL="271463" indent="-271463"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latin typeface="Gill Sans MT" panose="020B0502020104020203" pitchFamily="34" charset="0"/>
              </a:rPr>
              <a:t>Tell readers what you plan to tell </a:t>
            </a:r>
            <a:r>
              <a:rPr lang="en-US" dirty="0" smtClean="0">
                <a:latin typeface="Gill Sans MT" panose="020B0502020104020203" pitchFamily="34" charset="0"/>
              </a:rPr>
              <a:t>them.</a:t>
            </a:r>
            <a:endParaRPr lang="en-US" dirty="0" smtClean="0">
              <a:latin typeface="Gill Sans MT" panose="020B0502020104020203" pitchFamily="34" charset="0"/>
            </a:endParaRPr>
          </a:p>
          <a:p>
            <a:pPr marL="271463" indent="-271463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Enough background information should be given in order to let the reader understand and evaluate the results without consulting other papers </a:t>
            </a: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before.</a:t>
            </a:r>
            <a:endParaRPr lang="en-US" dirty="0" smtClean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The aim and possible limitations of the proposed study are </a:t>
            </a:r>
            <a:r>
              <a:rPr lang="en-US" dirty="0" smtClean="0">
                <a:latin typeface="Gill Sans MT" panose="020B0502020104020203" pitchFamily="34" charset="0"/>
              </a:rPr>
              <a:t>given.</a:t>
            </a:r>
            <a:endParaRPr lang="en-US" dirty="0" smtClean="0">
              <a:latin typeface="Gill Sans MT" panose="020B0502020104020203" pitchFamily="34" charset="0"/>
            </a:endParaRPr>
          </a:p>
          <a:p>
            <a:pPr marL="271463" indent="-271463">
              <a:spcBef>
                <a:spcPts val="0"/>
              </a:spcBef>
              <a:spcAft>
                <a:spcPts val="600"/>
              </a:spcAft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You would BETTER write it after having written the main </a:t>
            </a: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part.</a:t>
            </a:r>
            <a:endParaRPr lang="en-GB" dirty="0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922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Introduction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86843" y="1095468"/>
            <a:ext cx="8539462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b="1" dirty="0" smtClean="0">
                <a:latin typeface="Gill Sans MT" panose="020B0502020104020203" pitchFamily="34" charset="0"/>
              </a:rPr>
              <a:t>FORMAT:</a:t>
            </a:r>
          </a:p>
          <a:p>
            <a:pPr marL="271463" indent="-271463">
              <a:spcBef>
                <a:spcPts val="600"/>
              </a:spcBef>
            </a:pP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Background to the study</a:t>
            </a:r>
          </a:p>
          <a:p>
            <a:pPr marL="671513" lvl="1" indent="-271463">
              <a:spcBef>
                <a:spcPts val="600"/>
              </a:spcBef>
            </a:pPr>
            <a:r>
              <a:rPr lang="en-US" sz="2400" dirty="0" smtClean="0">
                <a:latin typeface="Gill Sans MT" panose="020B0502020104020203" pitchFamily="34" charset="0"/>
              </a:rPr>
              <a:t>Must include </a:t>
            </a:r>
            <a:r>
              <a:rPr lang="en-US" sz="2400" dirty="0" smtClean="0">
                <a:latin typeface="Gill Sans MT" panose="020B0502020104020203" pitchFamily="34" charset="0"/>
              </a:rPr>
              <a:t>the ‘</a:t>
            </a:r>
            <a:r>
              <a:rPr lang="en-US" sz="2400" b="1" i="1" dirty="0" smtClean="0">
                <a:latin typeface="Gill Sans MT" panose="020B0502020104020203" pitchFamily="34" charset="0"/>
              </a:rPr>
              <a:t>problem statement</a:t>
            </a:r>
            <a:r>
              <a:rPr lang="en-US" sz="2400" dirty="0" smtClean="0">
                <a:latin typeface="Gill Sans MT" panose="020B0502020104020203" pitchFamily="34" charset="0"/>
              </a:rPr>
              <a:t>’</a:t>
            </a:r>
            <a:endParaRPr lang="en-US" sz="2400" dirty="0" smtClean="0">
              <a:latin typeface="Gill Sans MT" panose="020B0502020104020203" pitchFamily="34" charset="0"/>
            </a:endParaRPr>
          </a:p>
          <a:p>
            <a:pPr marL="271463" indent="-271463">
              <a:spcBef>
                <a:spcPts val="600"/>
              </a:spcBef>
            </a:pP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Significance of the study </a:t>
            </a:r>
          </a:p>
          <a:p>
            <a:pPr marL="671513" lvl="1" indent="-271463">
              <a:spcBef>
                <a:spcPts val="600"/>
              </a:spcBef>
            </a:pPr>
            <a:r>
              <a:rPr lang="en-US" sz="2400" dirty="0" smtClean="0">
                <a:latin typeface="Gill Sans MT" panose="020B0502020104020203" pitchFamily="34" charset="0"/>
              </a:rPr>
              <a:t>How is the study going to solve the problem (</a:t>
            </a:r>
            <a:r>
              <a:rPr lang="en-US" sz="2400" b="1" i="1" dirty="0" smtClean="0">
                <a:latin typeface="Gill Sans MT" panose="020B0502020104020203" pitchFamily="34" charset="0"/>
              </a:rPr>
              <a:t>scientifically!</a:t>
            </a:r>
            <a:r>
              <a:rPr lang="en-US" sz="2400" dirty="0" smtClean="0">
                <a:latin typeface="Gill Sans MT" panose="020B0502020104020203" pitchFamily="34" charset="0"/>
              </a:rPr>
              <a:t>)?</a:t>
            </a:r>
            <a:endParaRPr lang="en-US" sz="2400" dirty="0" smtClean="0">
              <a:latin typeface="Gill Sans MT" panose="020B0502020104020203" pitchFamily="34" charset="0"/>
            </a:endParaRPr>
          </a:p>
          <a:p>
            <a:pPr marL="271463" indent="-271463">
              <a:spcBef>
                <a:spcPts val="600"/>
              </a:spcBef>
            </a:pP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Aim and objectives</a:t>
            </a:r>
            <a:endParaRPr lang="en-US" sz="2800" dirty="0" smtClean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671513" lvl="1" indent="-271463">
              <a:spcBef>
                <a:spcPts val="600"/>
              </a:spcBef>
            </a:pPr>
            <a:r>
              <a:rPr lang="en-US" sz="2400" dirty="0" smtClean="0">
                <a:latin typeface="Gill Sans MT" panose="020B0502020104020203" pitchFamily="34" charset="0"/>
              </a:rPr>
              <a:t>Main </a:t>
            </a:r>
            <a:r>
              <a:rPr lang="en-US" sz="2400" dirty="0" smtClean="0">
                <a:latin typeface="Gill Sans MT" panose="020B0502020104020203" pitchFamily="34" charset="0"/>
              </a:rPr>
              <a:t>aim/objective </a:t>
            </a:r>
            <a:r>
              <a:rPr lang="en-US" sz="2400" dirty="0" smtClean="0">
                <a:latin typeface="Gill Sans MT" panose="020B0502020104020203" pitchFamily="34" charset="0"/>
              </a:rPr>
              <a:t>(reference to the title)</a:t>
            </a:r>
          </a:p>
          <a:p>
            <a:pPr marL="671513" lvl="1" indent="-271463">
              <a:spcBef>
                <a:spcPts val="600"/>
              </a:spcBef>
            </a:pPr>
            <a:r>
              <a:rPr lang="en-US" sz="2400" dirty="0" smtClean="0">
                <a:latin typeface="Gill Sans MT" panose="020B0502020104020203" pitchFamily="34" charset="0"/>
              </a:rPr>
              <a:t>Specific objectives (what you would </a:t>
            </a:r>
            <a:r>
              <a:rPr lang="en-US" sz="2400" dirty="0" smtClean="0">
                <a:latin typeface="Gill Sans MT" panose="020B0502020104020203" pitchFamily="34" charset="0"/>
              </a:rPr>
              <a:t>do </a:t>
            </a:r>
            <a:r>
              <a:rPr lang="en-US" sz="2400" dirty="0" smtClean="0">
                <a:latin typeface="Gill Sans MT" panose="020B0502020104020203" pitchFamily="34" charset="0"/>
              </a:rPr>
              <a:t>to achieve the main </a:t>
            </a:r>
            <a:r>
              <a:rPr lang="en-US" sz="2400" dirty="0" smtClean="0">
                <a:latin typeface="Gill Sans MT" panose="020B0502020104020203" pitchFamily="34" charset="0"/>
              </a:rPr>
              <a:t>objective – measurable)</a:t>
            </a:r>
          </a:p>
          <a:p>
            <a:pPr marL="671513" lvl="1" indent="-271463">
              <a:spcBef>
                <a:spcPts val="600"/>
              </a:spcBef>
            </a:pPr>
            <a:r>
              <a:rPr lang="en-US" sz="2400" dirty="0" smtClean="0">
                <a:latin typeface="Gill Sans MT" panose="020B0502020104020203" pitchFamily="34" charset="0"/>
              </a:rPr>
              <a:t>Use terms like (TO) </a:t>
            </a:r>
            <a:r>
              <a:rPr lang="en-US" sz="2400" b="1" i="1" dirty="0" smtClean="0">
                <a:latin typeface="Gill Sans MT" panose="020B0502020104020203" pitchFamily="34" charset="0"/>
              </a:rPr>
              <a:t>DETERMINE, EVALUATE, DESIGN </a:t>
            </a:r>
            <a:r>
              <a:rPr lang="en-US" sz="2400" dirty="0" err="1" smtClean="0">
                <a:latin typeface="Gill Sans MT" panose="020B0502020104020203" pitchFamily="34" charset="0"/>
              </a:rPr>
              <a:t>etc</a:t>
            </a:r>
            <a:endParaRPr lang="en-US" sz="2400" dirty="0" smtClean="0">
              <a:latin typeface="Gill Sans MT" panose="020B0502020104020203" pitchFamily="34" charset="0"/>
            </a:endParaRPr>
          </a:p>
          <a:p>
            <a:pPr marL="271463" indent="-271463">
              <a:spcBef>
                <a:spcPts val="600"/>
              </a:spcBef>
            </a:pPr>
            <a:r>
              <a:rPr lang="en-US" sz="2800" dirty="0">
                <a:solidFill>
                  <a:srgbClr val="FF0000"/>
                </a:solidFill>
                <a:latin typeface="Gill Sans MT" panose="020B0502020104020203" pitchFamily="34" charset="0"/>
              </a:rPr>
              <a:t>Do not show figures, tables and bulleted/ numbered points in the </a:t>
            </a: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introduction (except specific objectives)</a:t>
            </a:r>
            <a:endParaRPr lang="en-US" sz="280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spcBef>
                <a:spcPts val="600"/>
              </a:spcBef>
            </a:pPr>
            <a:endParaRPr lang="en-GB" sz="28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983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Introduction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2648" y="1162361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b="1" dirty="0" smtClean="0">
                <a:latin typeface="Gill Sans MT" panose="020B0502020104020203" pitchFamily="34" charset="0"/>
              </a:rPr>
              <a:t>SOME RULES:</a:t>
            </a:r>
          </a:p>
          <a:p>
            <a:pPr marL="271463" indent="-271463">
              <a:lnSpc>
                <a:spcPct val="120000"/>
              </a:lnSpc>
            </a:pP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First explain the nature of the </a:t>
            </a: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problem.</a:t>
            </a:r>
            <a:endParaRPr lang="en-US" sz="2800" dirty="0" smtClean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r>
              <a:rPr lang="en-US" sz="2800" dirty="0" smtClean="0">
                <a:latin typeface="Gill Sans MT" panose="020B0502020104020203" pitchFamily="34" charset="0"/>
              </a:rPr>
              <a:t>For orientation, the most important references can be shortly </a:t>
            </a:r>
            <a:r>
              <a:rPr lang="en-US" sz="2800" dirty="0" smtClean="0">
                <a:latin typeface="Gill Sans MT" panose="020B0502020104020203" pitchFamily="34" charset="0"/>
              </a:rPr>
              <a:t>cited.</a:t>
            </a:r>
            <a:endParaRPr lang="en-US" sz="2800" dirty="0" smtClean="0"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Mention the used methods and </a:t>
            </a: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materials.</a:t>
            </a:r>
            <a:endParaRPr lang="en-US" sz="2800" dirty="0" smtClean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r>
              <a:rPr lang="en-US" sz="2800" dirty="0" smtClean="0">
                <a:latin typeface="Gill Sans MT" panose="020B0502020104020203" pitchFamily="34" charset="0"/>
              </a:rPr>
              <a:t>A lay-out must be given as well as the general connection between the different </a:t>
            </a:r>
            <a:r>
              <a:rPr lang="en-US" sz="2800" dirty="0" smtClean="0">
                <a:latin typeface="Gill Sans MT" panose="020B0502020104020203" pitchFamily="34" charset="0"/>
              </a:rPr>
              <a:t>parts.</a:t>
            </a:r>
            <a:endParaRPr lang="en-US" sz="2800" dirty="0" smtClean="0"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An abbreviation can be put immediately after the word between brackets when it is used for the first </a:t>
            </a:r>
            <a:r>
              <a:rPr lang="en-US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time.</a:t>
            </a:r>
            <a:endParaRPr lang="en-GB" sz="2800" dirty="0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297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Literature Review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578992" y="1111558"/>
            <a:ext cx="8447313" cy="564484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lnSpc>
                <a:spcPct val="120000"/>
              </a:lnSpc>
            </a:pPr>
            <a:r>
              <a:rPr lang="en-US" sz="30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 summary of the different aspects of the subject, as it was found in the </a:t>
            </a:r>
            <a:r>
              <a:rPr lang="en-US" sz="30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literature.</a:t>
            </a:r>
            <a:endParaRPr lang="en-US" sz="3000" dirty="0" smtClean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r>
              <a:rPr lang="en-US" sz="3000" dirty="0" smtClean="0">
                <a:latin typeface="Gill Sans MT" panose="020B0502020104020203" pitchFamily="34" charset="0"/>
              </a:rPr>
              <a:t>A critical discussion of important related </a:t>
            </a:r>
            <a:r>
              <a:rPr lang="en-US" sz="3000" dirty="0" smtClean="0">
                <a:latin typeface="Gill Sans MT" panose="020B0502020104020203" pitchFamily="34" charset="0"/>
              </a:rPr>
              <a:t>research.</a:t>
            </a:r>
          </a:p>
          <a:p>
            <a:pPr marL="271463" indent="-271463">
              <a:lnSpc>
                <a:spcPct val="120000"/>
              </a:lnSpc>
            </a:pPr>
            <a:r>
              <a:rPr lang="en-US" sz="30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Work others have done in relation to your area of study.</a:t>
            </a:r>
          </a:p>
          <a:p>
            <a:pPr marL="271463" indent="-271463">
              <a:lnSpc>
                <a:spcPct val="120000"/>
              </a:lnSpc>
            </a:pPr>
            <a:r>
              <a:rPr lang="en-US" sz="3000" dirty="0" smtClean="0">
                <a:latin typeface="Gill Sans MT" panose="020B0502020104020203" pitchFamily="34" charset="0"/>
              </a:rPr>
              <a:t>Identify </a:t>
            </a:r>
            <a:r>
              <a:rPr lang="en-US" sz="3000" b="1" dirty="0" smtClean="0">
                <a:latin typeface="Gill Sans MT" panose="020B0502020104020203" pitchFamily="34" charset="0"/>
              </a:rPr>
              <a:t>PROGRESS</a:t>
            </a:r>
            <a:r>
              <a:rPr lang="en-US" sz="3000" dirty="0" smtClean="0">
                <a:latin typeface="Gill Sans MT" panose="020B0502020104020203" pitchFamily="34" charset="0"/>
              </a:rPr>
              <a:t> and </a:t>
            </a:r>
            <a:r>
              <a:rPr lang="en-US" sz="3000" b="1" dirty="0" smtClean="0">
                <a:latin typeface="Gill Sans MT" panose="020B0502020104020203" pitchFamily="34" charset="0"/>
              </a:rPr>
              <a:t>LIMITATIONS</a:t>
            </a:r>
            <a:r>
              <a:rPr lang="en-US" sz="3000" dirty="0" smtClean="0">
                <a:latin typeface="Gill Sans MT" panose="020B0502020104020203" pitchFamily="34" charset="0"/>
              </a:rPr>
              <a:t> in the area of study.</a:t>
            </a:r>
            <a:endParaRPr lang="en-US" sz="3000" dirty="0" smtClean="0"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r>
              <a:rPr lang="en-US" sz="3000" b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REFERENCES</a:t>
            </a:r>
            <a:r>
              <a:rPr lang="en-US" sz="3000" b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!</a:t>
            </a:r>
            <a:r>
              <a:rPr lang="en-US" sz="30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 Don’t </a:t>
            </a:r>
            <a:r>
              <a:rPr lang="en-US" sz="3000" b="1" i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copy and paste</a:t>
            </a:r>
            <a:r>
              <a:rPr lang="en-US" sz="30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.</a:t>
            </a:r>
          </a:p>
          <a:p>
            <a:pPr marL="271463" indent="-271463">
              <a:lnSpc>
                <a:spcPct val="120000"/>
              </a:lnSpc>
            </a:pPr>
            <a:r>
              <a:rPr lang="en-US" sz="3000" b="1" dirty="0" smtClean="0">
                <a:latin typeface="Gill Sans MT" panose="020B0502020104020203" pitchFamily="34" charset="0"/>
              </a:rPr>
              <a:t>PLAGIARISM </a:t>
            </a:r>
            <a:r>
              <a:rPr lang="en-US" sz="3000" dirty="0" smtClean="0">
                <a:latin typeface="Gill Sans MT" panose="020B0502020104020203" pitchFamily="34" charset="0"/>
              </a:rPr>
              <a:t>is an academic crime, corruption!</a:t>
            </a:r>
            <a:endParaRPr lang="en-GB" sz="30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64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Materials and Methods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2648" y="1086414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lnSpc>
                <a:spcPct val="120000"/>
              </a:lnSpc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Answer to ‘</a:t>
            </a:r>
            <a:r>
              <a:rPr lang="en-US" b="1" i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HOW DID YOU STUDY THE </a:t>
            </a:r>
            <a:r>
              <a:rPr lang="en-US" b="1" i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PROBLEM?</a:t>
            </a: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’</a:t>
            </a:r>
            <a:endParaRPr lang="en-US" dirty="0" smtClean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r>
              <a:rPr lang="en-US" dirty="0" smtClean="0">
                <a:latin typeface="Gill Sans MT" panose="020B0502020104020203" pitchFamily="34" charset="0"/>
              </a:rPr>
              <a:t>The used methods and materials are discussed in </a:t>
            </a:r>
            <a:r>
              <a:rPr lang="en-US" dirty="0" smtClean="0">
                <a:latin typeface="Gill Sans MT" panose="020B0502020104020203" pitchFamily="34" charset="0"/>
              </a:rPr>
              <a:t>detail.</a:t>
            </a:r>
            <a:endParaRPr lang="en-US" dirty="0" smtClean="0"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With this information, it should be possible for the reader to repeat the </a:t>
            </a: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experiment/study.</a:t>
            </a:r>
            <a:endParaRPr lang="en-US" dirty="0" smtClean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r>
              <a:rPr lang="en-US" dirty="0" smtClean="0">
                <a:latin typeface="Gill Sans MT" panose="020B0502020104020203" pitchFamily="34" charset="0"/>
              </a:rPr>
              <a:t>Technical details are often necessary, mention also the </a:t>
            </a:r>
            <a:r>
              <a:rPr lang="en-US" dirty="0" smtClean="0">
                <a:latin typeface="Gill Sans MT" panose="020B0502020104020203" pitchFamily="34" charset="0"/>
              </a:rPr>
              <a:t>sources (references)</a:t>
            </a:r>
            <a:endParaRPr lang="en-US" dirty="0" smtClean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28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Materials and Methods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2648" y="1086414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lnSpc>
                <a:spcPct val="120000"/>
              </a:lnSpc>
              <a:spcAft>
                <a:spcPts val="1200"/>
              </a:spcAft>
            </a:pPr>
            <a:r>
              <a:rPr lang="en-GB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If this chapter is subdivided, use the same order in the ‘Results and </a:t>
            </a:r>
            <a:r>
              <a:rPr lang="en-GB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Discussion’</a:t>
            </a:r>
            <a:endParaRPr lang="en-GB" dirty="0" smtClean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  <a:spcAft>
                <a:spcPts val="1200"/>
              </a:spcAft>
            </a:pPr>
            <a:r>
              <a:rPr lang="en-GB" dirty="0" smtClean="0">
                <a:latin typeface="Gill Sans MT" panose="020B0502020104020203" pitchFamily="34" charset="0"/>
              </a:rPr>
              <a:t>When the used methods are new, all details must be given</a:t>
            </a:r>
          </a:p>
          <a:p>
            <a:pPr marL="271463" indent="-271463">
              <a:lnSpc>
                <a:spcPct val="120000"/>
              </a:lnSpc>
              <a:spcAft>
                <a:spcPts val="1200"/>
              </a:spcAft>
            </a:pPr>
            <a:r>
              <a:rPr lang="en-GB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If the used methods are described in standard books, mention only the reference</a:t>
            </a:r>
            <a:endParaRPr lang="en-GB" dirty="0">
              <a:solidFill>
                <a:srgbClr val="FF0000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60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Results and Discussion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2648" y="1086414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lnSpc>
                <a:spcPct val="120000"/>
              </a:lnSpc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Answer to ‘</a:t>
            </a:r>
            <a:r>
              <a:rPr lang="en-US" b="1" i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WHAT DID YOU FIND AND WHAT DOES IT </a:t>
            </a:r>
            <a:r>
              <a:rPr lang="en-US" b="1" i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MEAN?’</a:t>
            </a:r>
            <a:endParaRPr lang="en-US" b="1" i="1" dirty="0" smtClean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r>
              <a:rPr lang="en-US" dirty="0" smtClean="0">
                <a:latin typeface="Gill Sans MT" panose="020B0502020104020203" pitchFamily="34" charset="0"/>
              </a:rPr>
              <a:t>The experiments are briefly arranged and the results are given and discussed</a:t>
            </a:r>
          </a:p>
          <a:p>
            <a:pPr marL="271463" indent="-271463">
              <a:lnSpc>
                <a:spcPct val="120000"/>
              </a:lnSpc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If an experiment leads to results, TABLES and FIGURES are used</a:t>
            </a:r>
          </a:p>
          <a:p>
            <a:pPr marL="271463" indent="-271463">
              <a:lnSpc>
                <a:spcPct val="120000"/>
              </a:lnSpc>
            </a:pPr>
            <a:r>
              <a:rPr lang="en-US" dirty="0" smtClean="0">
                <a:latin typeface="Gill Sans MT" panose="020B0502020104020203" pitchFamily="34" charset="0"/>
              </a:rPr>
              <a:t>Also, ‘negative’ results can be given</a:t>
            </a:r>
          </a:p>
          <a:p>
            <a:pPr marL="271463" indent="-271463">
              <a:lnSpc>
                <a:spcPct val="120000"/>
              </a:lnSpc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Clearly separate main findings from secondary findings</a:t>
            </a:r>
          </a:p>
        </p:txBody>
      </p:sp>
    </p:spTree>
    <p:extLst>
      <p:ext uri="{BB962C8B-B14F-4D97-AF65-F5344CB8AC3E}">
        <p14:creationId xmlns:p14="http://schemas.microsoft.com/office/powerpoint/2010/main" val="413634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Results and Discussion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2648" y="1086414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lnSpc>
                <a:spcPct val="120000"/>
              </a:lnSpc>
            </a:pPr>
            <a:r>
              <a:rPr lang="en-US" sz="3000" dirty="0">
                <a:solidFill>
                  <a:srgbClr val="FF0000"/>
                </a:solidFill>
                <a:latin typeface="Gill Sans MT" panose="020B0502020104020203" pitchFamily="34" charset="0"/>
              </a:rPr>
              <a:t>Avoid ‘luxuriousness’ in the presentation by repeating the results in tables, figures and the text</a:t>
            </a:r>
            <a:endParaRPr lang="en-GB" sz="300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r>
              <a:rPr lang="en-US" sz="3000" dirty="0" smtClean="0">
                <a:latin typeface="Gill Sans MT" panose="020B0502020104020203" pitchFamily="34" charset="0"/>
              </a:rPr>
              <a:t>Make reference as straight as possible</a:t>
            </a:r>
          </a:p>
          <a:p>
            <a:pPr marL="91440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‘Out of Table 1 it is clear that decreasing the temperature enhanced the number of dead </a:t>
            </a: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plants’</a:t>
            </a:r>
          </a:p>
          <a:p>
            <a:pPr marL="914400" lvl="1" indent="-514350">
              <a:lnSpc>
                <a:spcPct val="120000"/>
              </a:lnSpc>
              <a:buFont typeface="+mj-lt"/>
              <a:buAutoNum type="alphaLcPeriod"/>
            </a:pP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Decreasing </a:t>
            </a: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the temperature enhanced the number of dead plants (Table 1)</a:t>
            </a:r>
          </a:p>
          <a:p>
            <a:pPr marL="271463" indent="-271463">
              <a:lnSpc>
                <a:spcPct val="120000"/>
              </a:lnSpc>
            </a:pPr>
            <a:r>
              <a:rPr lang="en-US" sz="3000" dirty="0">
                <a:latin typeface="Gill Sans MT" panose="020B0502020104020203" pitchFamily="34" charset="0"/>
              </a:rPr>
              <a:t>In the discussion, a relation needs to be made between most of the observed results</a:t>
            </a:r>
            <a:endParaRPr lang="en-GB" sz="3000" dirty="0"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endParaRPr lang="en-GB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483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Results and Discussion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2648" y="1086414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b="1" dirty="0" smtClean="0">
                <a:latin typeface="Gill Sans MT" panose="020B0502020104020203" pitchFamily="34" charset="0"/>
              </a:rPr>
              <a:t>Keep the following points in mind:</a:t>
            </a:r>
          </a:p>
          <a:p>
            <a:pPr marL="271463" indent="-271463">
              <a:lnSpc>
                <a:spcPct val="120000"/>
              </a:lnSpc>
            </a:pPr>
            <a:r>
              <a:rPr lang="en-GB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Demonstrate in the results the principles, relations and general trends</a:t>
            </a:r>
          </a:p>
          <a:p>
            <a:pPr marL="271463" indent="-271463">
              <a:lnSpc>
                <a:spcPct val="120000"/>
              </a:lnSpc>
            </a:pPr>
            <a:r>
              <a:rPr lang="en-GB" sz="2800" dirty="0" smtClean="0">
                <a:latin typeface="Gill Sans MT" panose="020B0502020104020203" pitchFamily="34" charset="0"/>
              </a:rPr>
              <a:t>Do not repeat the results, but discuss them</a:t>
            </a:r>
          </a:p>
          <a:p>
            <a:pPr marL="271463" indent="-271463">
              <a:lnSpc>
                <a:spcPct val="120000"/>
              </a:lnSpc>
            </a:pPr>
            <a:r>
              <a:rPr lang="en-GB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Points out the exceptions, the absence or lack of correlation</a:t>
            </a:r>
          </a:p>
          <a:p>
            <a:pPr marL="271463" indent="-271463">
              <a:lnSpc>
                <a:spcPct val="120000"/>
              </a:lnSpc>
            </a:pPr>
            <a:r>
              <a:rPr lang="en-GB" sz="2800" dirty="0" smtClean="0">
                <a:latin typeface="Gill Sans MT" panose="020B0502020104020203" pitchFamily="34" charset="0"/>
              </a:rPr>
              <a:t>Demonstrate the accordance or discordance between the obtained results and earlier published work</a:t>
            </a:r>
          </a:p>
          <a:p>
            <a:pPr marL="271463" indent="-271463">
              <a:lnSpc>
                <a:spcPct val="120000"/>
              </a:lnSpc>
            </a:pPr>
            <a:r>
              <a:rPr lang="en-GB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Conclude as clearly as possible</a:t>
            </a:r>
            <a:endParaRPr lang="en-GB" sz="280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endParaRPr lang="en-GB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25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Results and Discussion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graphicFrame>
        <p:nvGraphicFramePr>
          <p:cNvPr id="12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0239229"/>
              </p:ext>
            </p:extLst>
          </p:nvPr>
        </p:nvGraphicFramePr>
        <p:xfrm>
          <a:off x="1149643" y="1073892"/>
          <a:ext cx="7179734" cy="53749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Rectangle 1"/>
          <p:cNvSpPr/>
          <p:nvPr/>
        </p:nvSpPr>
        <p:spPr>
          <a:xfrm>
            <a:off x="486840" y="6448164"/>
            <a:ext cx="850533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sz="2000" b="1" dirty="0"/>
              <a:t>Objective</a:t>
            </a:r>
            <a:r>
              <a:rPr lang="en-US" sz="2000" dirty="0"/>
              <a:t>: To </a:t>
            </a:r>
            <a:r>
              <a:rPr lang="en-GB" sz="2000" dirty="0"/>
              <a:t>reconstruct </a:t>
            </a:r>
            <a:r>
              <a:rPr lang="en-GB" sz="2000" dirty="0" smtClean="0"/>
              <a:t>peak </a:t>
            </a:r>
            <a:r>
              <a:rPr lang="en-GB" sz="2000" dirty="0"/>
              <a:t>discharges </a:t>
            </a:r>
            <a:r>
              <a:rPr lang="en-GB" sz="2000" dirty="0" smtClean="0"/>
              <a:t>through hydrological modelling.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5784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Tables and Figures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2648" y="1086414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lnSpc>
                <a:spcPct val="120000"/>
              </a:lnSpc>
              <a:spcAft>
                <a:spcPts val="600"/>
              </a:spcAft>
            </a:pPr>
            <a:r>
              <a:rPr lang="en-US" dirty="0">
                <a:latin typeface="Gill Sans MT" panose="020B0502020104020203" pitchFamily="34" charset="0"/>
              </a:rPr>
              <a:t>Give each figure and table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a number and title</a:t>
            </a:r>
            <a:r>
              <a:rPr lang="en-US" dirty="0">
                <a:latin typeface="Gill Sans MT" panose="020B0502020104020203" pitchFamily="34" charset="0"/>
              </a:rPr>
              <a:t>.</a:t>
            </a:r>
          </a:p>
          <a:p>
            <a:pPr marL="271463" indent="-271463">
              <a:lnSpc>
                <a:spcPct val="120000"/>
              </a:lnSpc>
              <a:spcAft>
                <a:spcPts val="600"/>
              </a:spcAft>
            </a:pPr>
            <a:r>
              <a:rPr lang="en-US" dirty="0">
                <a:latin typeface="Gill Sans MT" panose="020B0502020104020203" pitchFamily="34" charset="0"/>
              </a:rPr>
              <a:t>Refer to each figure and table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in the text of the </a:t>
            </a: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dissertation</a:t>
            </a:r>
            <a:r>
              <a:rPr lang="en-US" dirty="0" smtClean="0">
                <a:latin typeface="Gill Sans MT" panose="020B0502020104020203" pitchFamily="34" charset="0"/>
              </a:rPr>
              <a:t>.</a:t>
            </a:r>
          </a:p>
          <a:p>
            <a:pPr marL="271463" indent="-271463">
              <a:lnSpc>
                <a:spcPct val="120000"/>
              </a:lnSpc>
              <a:spcAft>
                <a:spcPts val="600"/>
              </a:spcAft>
            </a:pPr>
            <a:r>
              <a:rPr lang="en-US" dirty="0" smtClean="0">
                <a:latin typeface="Gill Sans MT" panose="020B0502020104020203" pitchFamily="34" charset="0"/>
              </a:rPr>
              <a:t>First reference in the text should be on the </a:t>
            </a:r>
            <a:r>
              <a:rPr lang="en-US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same page or close to</a:t>
            </a:r>
            <a:r>
              <a:rPr lang="en-US" dirty="0" smtClean="0">
                <a:latin typeface="Gill Sans MT" panose="020B0502020104020203" pitchFamily="34" charset="0"/>
              </a:rPr>
              <a:t> the table/figure</a:t>
            </a:r>
            <a:endParaRPr lang="en-US" dirty="0"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  <a:spcAft>
                <a:spcPts val="600"/>
              </a:spcAft>
            </a:pPr>
            <a:r>
              <a:rPr lang="en-US" dirty="0">
                <a:latin typeface="Gill Sans MT" panose="020B0502020104020203" pitchFamily="34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title of a table goes above the table</a:t>
            </a:r>
            <a:r>
              <a:rPr lang="en-US" dirty="0">
                <a:latin typeface="Gill Sans MT" panose="020B0502020104020203" pitchFamily="34" charset="0"/>
              </a:rPr>
              <a:t>, while the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title of a figure goes below the figure</a:t>
            </a:r>
            <a:r>
              <a:rPr lang="en-US" dirty="0" smtClean="0">
                <a:latin typeface="Gill Sans MT" panose="020B0502020104020203" pitchFamily="34" charset="0"/>
              </a:rPr>
              <a:t>.</a:t>
            </a:r>
            <a:endParaRPr lang="en-US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595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Tables: Example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1" name="Content Placeholder 4"/>
          <p:cNvSpPr txBox="1">
            <a:spLocks/>
          </p:cNvSpPr>
          <p:nvPr/>
        </p:nvSpPr>
        <p:spPr>
          <a:xfrm>
            <a:off x="612648" y="1438835"/>
            <a:ext cx="8153400" cy="4495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GB" dirty="0">
                <a:latin typeface="Gill Sans MT" panose="020B0502020104020203" pitchFamily="34" charset="0"/>
              </a:rPr>
              <a:t>Table 1: Number of phones stolen from 8:00 to 9:00 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t="12193"/>
          <a:stretch/>
        </p:blipFill>
        <p:spPr>
          <a:xfrm>
            <a:off x="1545372" y="2677792"/>
            <a:ext cx="6287951" cy="337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45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Figures: Example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4"/>
          <p:cNvSpPr txBox="1">
            <a:spLocks/>
          </p:cNvSpPr>
          <p:nvPr/>
        </p:nvSpPr>
        <p:spPr>
          <a:xfrm>
            <a:off x="578992" y="5624799"/>
            <a:ext cx="8153400" cy="614427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GB" dirty="0">
                <a:latin typeface="Gill Sans MT" panose="020B0502020104020203" pitchFamily="34" charset="0"/>
              </a:rPr>
              <a:t>Figure 1: Centre lathe</a:t>
            </a:r>
          </a:p>
        </p:txBody>
      </p:sp>
      <p:pic>
        <p:nvPicPr>
          <p:cNvPr id="13" name="Picture 2" descr="http://i01.i.aliimg.com/photo/v0/104071501/AMAR_Heavy_Duty_Precision_Lathe_Machin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56" y="1549755"/>
            <a:ext cx="7810500" cy="357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6320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Conclusions and Recommendations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12648" y="1086414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lnSpc>
                <a:spcPct val="120000"/>
              </a:lnSpc>
            </a:pPr>
            <a:r>
              <a:rPr lang="en-GB" sz="29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The most important results and how they were obtained are repeated</a:t>
            </a:r>
          </a:p>
          <a:p>
            <a:pPr marL="271463" indent="-271463">
              <a:lnSpc>
                <a:spcPct val="120000"/>
              </a:lnSpc>
            </a:pPr>
            <a:r>
              <a:rPr lang="en-GB" sz="2900" dirty="0" smtClean="0">
                <a:latin typeface="Gill Sans MT" panose="020B0502020104020203" pitchFamily="34" charset="0"/>
              </a:rPr>
              <a:t>In the introduction the aim of the work is explained</a:t>
            </a:r>
          </a:p>
          <a:p>
            <a:pPr marL="271463" indent="-271463">
              <a:lnSpc>
                <a:spcPct val="120000"/>
              </a:lnSpc>
            </a:pPr>
            <a:r>
              <a:rPr lang="en-GB" sz="29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In the conclusion it is shown to which degree the aim has been attained</a:t>
            </a:r>
          </a:p>
          <a:p>
            <a:pPr marL="271463" indent="-271463">
              <a:lnSpc>
                <a:spcPct val="120000"/>
              </a:lnSpc>
            </a:pPr>
            <a:r>
              <a:rPr lang="en-GB" sz="2900" dirty="0" smtClean="0">
                <a:latin typeface="Gill Sans MT" panose="020B0502020104020203" pitchFamily="34" charset="0"/>
              </a:rPr>
              <a:t>Do not give any conclusions to things which have not been discussed</a:t>
            </a:r>
          </a:p>
          <a:p>
            <a:pPr marL="271463" indent="-271463">
              <a:lnSpc>
                <a:spcPct val="120000"/>
              </a:lnSpc>
            </a:pPr>
            <a:r>
              <a:rPr lang="en-GB" sz="29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Provide recommendations based on important findings and way forward to improve the study</a:t>
            </a:r>
            <a:endParaRPr lang="en-GB" sz="290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lnSpc>
                <a:spcPct val="120000"/>
              </a:lnSpc>
            </a:pPr>
            <a:endParaRPr lang="en-GB" sz="29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6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 smtClean="0">
                <a:latin typeface="Gill Sans MT" panose="020B0502020104020203" pitchFamily="34" charset="0"/>
              </a:rPr>
              <a:t>References</a:t>
            </a:r>
            <a:endParaRPr lang="en-US" cap="small" dirty="0">
              <a:latin typeface="Gill Sans MT" panose="020B0502020104020203" pitchFamily="34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23995" y="1133331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spcBef>
                <a:spcPts val="600"/>
              </a:spcBef>
              <a:spcAft>
                <a:spcPts val="600"/>
              </a:spcAft>
            </a:pPr>
            <a:r>
              <a:rPr lang="en-GB" sz="28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In-text references and Reference list</a:t>
            </a:r>
          </a:p>
          <a:p>
            <a:pPr marL="271463" indent="-271463">
              <a:spcBef>
                <a:spcPts val="600"/>
              </a:spcBef>
              <a:spcAft>
                <a:spcPts val="600"/>
              </a:spcAft>
            </a:pPr>
            <a:r>
              <a:rPr lang="en-GB" sz="2800" dirty="0" smtClean="0">
                <a:latin typeface="Gill Sans MT" panose="020B0502020104020203" pitchFamily="34" charset="0"/>
              </a:rPr>
              <a:t>Use the Harvard Referencing Style</a:t>
            </a:r>
          </a:p>
          <a:p>
            <a:pPr marL="271463" indent="-271463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FF0000"/>
                </a:solidFill>
                <a:latin typeface="Gill Sans MT" panose="020B0502020104020203" pitchFamily="34" charset="0"/>
              </a:rPr>
              <a:t>References serve as a guide to any reader who wants to refer to previous work on the subject.</a:t>
            </a:r>
          </a:p>
          <a:p>
            <a:pPr marL="271463" indent="-271463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latin typeface="Gill Sans MT" panose="020B0502020104020203" pitchFamily="34" charset="0"/>
              </a:rPr>
              <a:t>It is also meant to show appreciation for the invaluable work of other researchers.</a:t>
            </a:r>
          </a:p>
          <a:p>
            <a:pPr marL="271463" indent="-271463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solidFill>
                  <a:srgbClr val="FF0000"/>
                </a:solidFill>
                <a:latin typeface="Gill Sans MT" panose="020B0502020104020203" pitchFamily="34" charset="0"/>
              </a:rPr>
              <a:t>Failure to credit the work of others is regarded as:</a:t>
            </a:r>
          </a:p>
          <a:p>
            <a:pPr marL="671513" lvl="1" indent="-271463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Gill Sans MT" panose="020B0502020104020203" pitchFamily="34" charset="0"/>
              </a:rPr>
              <a:t>Carelessness on the part of the author</a:t>
            </a:r>
          </a:p>
          <a:p>
            <a:pPr marL="671513" lvl="1" indent="-271463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Gill Sans MT" panose="020B0502020104020203" pitchFamily="34" charset="0"/>
              </a:rPr>
              <a:t>Lack of courtesy and even more seriously</a:t>
            </a:r>
          </a:p>
          <a:p>
            <a:pPr marL="671513" lvl="1" indent="-271463"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latin typeface="Gill Sans MT" panose="020B0502020104020203" pitchFamily="34" charset="0"/>
              </a:rPr>
              <a:t>Plagiarism, in which case the student would be failed</a:t>
            </a:r>
          </a:p>
          <a:p>
            <a:pPr marL="271463" indent="-271463">
              <a:spcBef>
                <a:spcPts val="600"/>
              </a:spcBef>
              <a:spcAft>
                <a:spcPts val="600"/>
              </a:spcAft>
            </a:pPr>
            <a:endParaRPr lang="en-GB" sz="28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20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Harvard Referencing Style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23995" y="1006159"/>
            <a:ext cx="8153400" cy="551356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>
              <a:spcBef>
                <a:spcPts val="300"/>
              </a:spcBef>
            </a:pPr>
            <a:r>
              <a:rPr lang="en-US" sz="2600" dirty="0" smtClean="0">
                <a:latin typeface="Gill Sans MT" panose="020B0502020104020203" pitchFamily="34" charset="0"/>
              </a:rPr>
              <a:t>In-text </a:t>
            </a:r>
            <a:r>
              <a:rPr lang="en-US" sz="2600" dirty="0">
                <a:latin typeface="Gill Sans MT" panose="020B0502020104020203" pitchFamily="34" charset="0"/>
              </a:rPr>
              <a:t>reference </a:t>
            </a:r>
            <a:r>
              <a:rPr lang="en-US" sz="2600" dirty="0" smtClean="0">
                <a:latin typeface="Gill Sans MT" panose="020B0502020104020203" pitchFamily="34" charset="0"/>
              </a:rPr>
              <a:t>should </a:t>
            </a:r>
            <a:r>
              <a:rPr lang="en-US" sz="2600" dirty="0">
                <a:latin typeface="Gill Sans MT" panose="020B0502020104020203" pitchFamily="34" charset="0"/>
              </a:rPr>
              <a:t>simply have the surname of the author and the year of </a:t>
            </a:r>
            <a:r>
              <a:rPr lang="en-US" sz="2600" dirty="0" smtClean="0">
                <a:latin typeface="Gill Sans MT" panose="020B0502020104020203" pitchFamily="34" charset="0"/>
              </a:rPr>
              <a:t>publication</a:t>
            </a:r>
          </a:p>
          <a:p>
            <a:pPr marL="671513" lvl="1" indent="-271463">
              <a:spcBef>
                <a:spcPts val="300"/>
              </a:spcBef>
            </a:pPr>
            <a:r>
              <a:rPr lang="en-US" sz="22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(Amponsah, 2018)</a:t>
            </a:r>
            <a:endParaRPr lang="en-US" sz="220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spcBef>
                <a:spcPts val="300"/>
              </a:spcBef>
            </a:pPr>
            <a:r>
              <a:rPr lang="en-US" sz="2600" dirty="0">
                <a:latin typeface="Gill Sans MT" panose="020B0502020104020203" pitchFamily="34" charset="0"/>
              </a:rPr>
              <a:t>If there are two authors, both </a:t>
            </a:r>
            <a:r>
              <a:rPr lang="en-US" sz="2600" dirty="0" smtClean="0">
                <a:latin typeface="Gill Sans MT" panose="020B0502020104020203" pitchFamily="34" charset="0"/>
              </a:rPr>
              <a:t>surnames </a:t>
            </a:r>
            <a:r>
              <a:rPr lang="en-US" sz="2600" dirty="0">
                <a:latin typeface="Gill Sans MT" panose="020B0502020104020203" pitchFamily="34" charset="0"/>
              </a:rPr>
              <a:t>are given before the </a:t>
            </a:r>
            <a:r>
              <a:rPr lang="en-US" sz="2600" dirty="0" smtClean="0">
                <a:latin typeface="Gill Sans MT" panose="020B0502020104020203" pitchFamily="34" charset="0"/>
              </a:rPr>
              <a:t>year</a:t>
            </a:r>
          </a:p>
          <a:p>
            <a:pPr marL="671513" lvl="1" indent="-271463">
              <a:spcBef>
                <a:spcPts val="300"/>
              </a:spcBef>
            </a:pPr>
            <a:r>
              <a:rPr lang="en-US" sz="22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(Kemausuor and </a:t>
            </a:r>
            <a:r>
              <a:rPr lang="en-US" sz="2200" dirty="0" err="1" smtClean="0">
                <a:solidFill>
                  <a:srgbClr val="FF0000"/>
                </a:solidFill>
                <a:latin typeface="Gill Sans MT" panose="020B0502020104020203" pitchFamily="34" charset="0"/>
              </a:rPr>
              <a:t>Akowuah</a:t>
            </a:r>
            <a:r>
              <a:rPr lang="en-US" sz="22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, 2018)</a:t>
            </a:r>
            <a:endParaRPr lang="en-US" sz="220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spcBef>
                <a:spcPts val="300"/>
              </a:spcBef>
            </a:pPr>
            <a:r>
              <a:rPr lang="en-US" sz="2600" dirty="0">
                <a:latin typeface="Gill Sans MT" panose="020B0502020104020203" pitchFamily="34" charset="0"/>
              </a:rPr>
              <a:t>If there are more than two authors, the surname of the first author is given, followed by “</a:t>
            </a:r>
            <a:r>
              <a:rPr lang="en-US" sz="2600" i="1" dirty="0">
                <a:latin typeface="Gill Sans MT" panose="020B0502020104020203" pitchFamily="34" charset="0"/>
              </a:rPr>
              <a:t>et al</a:t>
            </a:r>
            <a:r>
              <a:rPr lang="en-US" sz="2600" dirty="0">
                <a:latin typeface="Gill Sans MT" panose="020B0502020104020203" pitchFamily="34" charset="0"/>
              </a:rPr>
              <a:t>” in italics and then the </a:t>
            </a:r>
            <a:r>
              <a:rPr lang="en-US" sz="2600" dirty="0" smtClean="0">
                <a:latin typeface="Gill Sans MT" panose="020B0502020104020203" pitchFamily="34" charset="0"/>
              </a:rPr>
              <a:t>year</a:t>
            </a:r>
          </a:p>
          <a:p>
            <a:pPr marL="671513" lvl="1" indent="-271463">
              <a:spcBef>
                <a:spcPts val="300"/>
              </a:spcBef>
            </a:pPr>
            <a:r>
              <a:rPr lang="en-US" sz="22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(Agyare </a:t>
            </a:r>
            <a:r>
              <a:rPr lang="en-US" sz="2200" i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et al.</a:t>
            </a:r>
            <a:r>
              <a:rPr lang="en-US" sz="22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, 2018)</a:t>
            </a:r>
            <a:endParaRPr lang="en-US" sz="220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spcBef>
                <a:spcPts val="300"/>
              </a:spcBef>
            </a:pPr>
            <a:r>
              <a:rPr lang="en-US" sz="2600" dirty="0">
                <a:latin typeface="Gill Sans MT" panose="020B0502020104020203" pitchFamily="34" charset="0"/>
              </a:rPr>
              <a:t>If one author has published more than one cited document in the same year, these are distinguished by adding lower case letters after the year</a:t>
            </a:r>
            <a:r>
              <a:rPr lang="en-US" sz="2600" dirty="0" smtClean="0">
                <a:latin typeface="Gill Sans MT" panose="020B0502020104020203" pitchFamily="34" charset="0"/>
              </a:rPr>
              <a:t>.</a:t>
            </a:r>
          </a:p>
          <a:p>
            <a:pPr marL="671513" lvl="1" indent="-271463">
              <a:spcBef>
                <a:spcPts val="300"/>
              </a:spcBef>
            </a:pPr>
            <a:r>
              <a:rPr lang="en-US" sz="22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(</a:t>
            </a:r>
            <a:r>
              <a:rPr lang="en-US" sz="2200" dirty="0" err="1" smtClean="0">
                <a:solidFill>
                  <a:srgbClr val="FF0000"/>
                </a:solidFill>
                <a:latin typeface="Gill Sans MT" panose="020B0502020104020203" pitchFamily="34" charset="0"/>
              </a:rPr>
              <a:t>Kyei-Baffour</a:t>
            </a:r>
            <a:r>
              <a:rPr lang="en-US" sz="22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, 2018a)</a:t>
            </a:r>
            <a:endParaRPr lang="en-US" sz="2200" dirty="0">
              <a:solidFill>
                <a:srgbClr val="FF0000"/>
              </a:solidFill>
              <a:latin typeface="Gill Sans MT" panose="020B0502020104020203" pitchFamily="34" charset="0"/>
            </a:endParaRPr>
          </a:p>
          <a:p>
            <a:pPr marL="271463" indent="-271463">
              <a:spcBef>
                <a:spcPts val="300"/>
              </a:spcBef>
            </a:pPr>
            <a:endParaRPr lang="en-GB" sz="2400" dirty="0">
              <a:latin typeface="Gill Sans MT" panose="020B0502020104020203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1225800" y="4641840"/>
              <a:ext cx="2559240" cy="7495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16440" y="4632480"/>
                <a:ext cx="2577960" cy="76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7960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Harvard Referencing Style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23995" y="1158844"/>
            <a:ext cx="8153400" cy="536087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3600" b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Examples: in-text</a:t>
            </a:r>
            <a:r>
              <a:rPr lang="en-US" sz="3600" b="1" dirty="0">
                <a:solidFill>
                  <a:srgbClr val="FF0000"/>
                </a:solidFill>
                <a:latin typeface="Gill Sans MT" panose="020B0502020104020203" pitchFamily="34" charset="0"/>
              </a:rPr>
              <a:t> </a:t>
            </a:r>
            <a:r>
              <a:rPr lang="en-US" sz="3600" b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references</a:t>
            </a:r>
          </a:p>
          <a:p>
            <a:pPr marL="271463" indent="-271463">
              <a:spcBef>
                <a:spcPts val="300"/>
              </a:spcBef>
              <a:spcAft>
                <a:spcPts val="1200"/>
              </a:spcAft>
            </a:pPr>
            <a:r>
              <a:rPr lang="en-US" dirty="0">
                <a:latin typeface="Gill Sans MT" panose="020B0502020104020203" pitchFamily="34" charset="0"/>
              </a:rPr>
              <a:t>“According to </a:t>
            </a:r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0"/>
              </a:rPr>
              <a:t>Agodzo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 (2003a)</a:t>
            </a:r>
            <a:r>
              <a:rPr lang="en-US" dirty="0">
                <a:latin typeface="Gill Sans MT" panose="020B0502020104020203" pitchFamily="34" charset="0"/>
              </a:rPr>
              <a:t> it is indicated …”</a:t>
            </a:r>
          </a:p>
          <a:p>
            <a:pPr marL="271463" indent="-271463">
              <a:spcBef>
                <a:spcPts val="300"/>
              </a:spcBef>
              <a:spcAft>
                <a:spcPts val="1200"/>
              </a:spcAft>
            </a:pPr>
            <a:r>
              <a:rPr lang="en-US" dirty="0">
                <a:latin typeface="Gill Sans MT" panose="020B0502020104020203" pitchFamily="34" charset="0"/>
              </a:rPr>
              <a:t>………………..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0"/>
              </a:rPr>
              <a:t>Aikins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, 2015)</a:t>
            </a:r>
          </a:p>
          <a:p>
            <a:pPr marL="271463" indent="-271463">
              <a:spcBef>
                <a:spcPts val="300"/>
              </a:spcBef>
              <a:spcAft>
                <a:spcPts val="1200"/>
              </a:spcAft>
            </a:pPr>
            <a:r>
              <a:rPr lang="en-US" dirty="0">
                <a:latin typeface="Gill Sans MT" panose="020B0502020104020203" pitchFamily="34" charset="0"/>
              </a:rPr>
              <a:t>“Equations developed by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Bart-</a:t>
            </a:r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0"/>
              </a:rPr>
              <a:t>Plange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 </a:t>
            </a:r>
            <a:r>
              <a:rPr lang="en-US" i="1" dirty="0">
                <a:solidFill>
                  <a:srgbClr val="FF0000"/>
                </a:solidFill>
                <a:latin typeface="Gill Sans MT" panose="020B0502020104020203" pitchFamily="34" charset="0"/>
              </a:rPr>
              <a:t>et </a:t>
            </a:r>
            <a:r>
              <a:rPr lang="en-US" i="1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al.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(2002)</a:t>
            </a:r>
            <a:r>
              <a:rPr lang="en-US" dirty="0">
                <a:latin typeface="Gill Sans MT" panose="020B0502020104020203" pitchFamily="34" charset="0"/>
              </a:rPr>
              <a:t> can be used to …”</a:t>
            </a:r>
          </a:p>
          <a:p>
            <a:pPr marL="271463" indent="-271463">
              <a:spcBef>
                <a:spcPts val="300"/>
              </a:spcBef>
              <a:spcAft>
                <a:spcPts val="1200"/>
              </a:spcAft>
            </a:pPr>
            <a:r>
              <a:rPr lang="en-US" dirty="0">
                <a:latin typeface="Gill Sans MT" panose="020B0502020104020203" pitchFamily="34" charset="0"/>
              </a:rPr>
              <a:t>“</a:t>
            </a:r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0"/>
              </a:rPr>
              <a:t>Kyei-Baffour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0"/>
              </a:rPr>
              <a:t> (2004)</a:t>
            </a:r>
            <a:r>
              <a:rPr lang="en-US" dirty="0">
                <a:latin typeface="Gill Sans MT" panose="020B0502020104020203" pitchFamily="34" charset="0"/>
              </a:rPr>
              <a:t> outlines the principle for the design of simulators…”</a:t>
            </a:r>
          </a:p>
          <a:p>
            <a:pPr marL="271463" indent="-271463">
              <a:spcBef>
                <a:spcPts val="300"/>
              </a:spcBef>
              <a:spcAft>
                <a:spcPts val="1200"/>
              </a:spcAft>
            </a:pPr>
            <a:endParaRPr lang="en-GB" sz="3600" dirty="0">
              <a:latin typeface="Gill Sans MT" panose="020B0502020104020203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997200" y="3720960"/>
              <a:ext cx="6959880" cy="10609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7840" y="3711600"/>
                <a:ext cx="6978600" cy="107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6208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Harvard Referencing Style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23995" y="1007383"/>
            <a:ext cx="8402310" cy="536087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2800" b="1" dirty="0">
                <a:latin typeface="Gill Sans MT" panose="020B0502020104020203" pitchFamily="34" charset="0"/>
              </a:rPr>
              <a:t>List of </a:t>
            </a:r>
            <a:r>
              <a:rPr lang="en-US" sz="2800" b="1" dirty="0" smtClean="0">
                <a:latin typeface="Gill Sans MT" panose="020B0502020104020203" pitchFamily="34" charset="0"/>
              </a:rPr>
              <a:t>References</a:t>
            </a:r>
          </a:p>
          <a:p>
            <a:pPr>
              <a:spcBef>
                <a:spcPts val="300"/>
              </a:spcBef>
            </a:pPr>
            <a:r>
              <a:rPr lang="en-US" sz="2270" b="1" dirty="0">
                <a:latin typeface="Gill Sans MT" panose="020B0502020104020203" pitchFamily="34" charset="0"/>
              </a:rPr>
              <a:t>Journal:</a:t>
            </a:r>
            <a:r>
              <a:rPr lang="en-US" sz="2270" dirty="0">
                <a:latin typeface="Gill Sans MT" panose="020B0502020104020203" pitchFamily="34" charset="0"/>
              </a:rPr>
              <a:t> </a:t>
            </a:r>
            <a:r>
              <a:rPr lang="en-US" sz="2270" dirty="0">
                <a:solidFill>
                  <a:srgbClr val="FF0000"/>
                </a:solidFill>
                <a:latin typeface="Gill Sans MT" panose="020B0502020104020203" pitchFamily="34" charset="0"/>
              </a:rPr>
              <a:t>Bart-</a:t>
            </a:r>
            <a:r>
              <a:rPr lang="en-US" sz="2270" dirty="0" err="1">
                <a:solidFill>
                  <a:srgbClr val="FF0000"/>
                </a:solidFill>
                <a:latin typeface="Gill Sans MT" panose="020B0502020104020203" pitchFamily="34" charset="0"/>
              </a:rPr>
              <a:t>Plange</a:t>
            </a:r>
            <a:r>
              <a:rPr lang="en-US" sz="2270" dirty="0">
                <a:solidFill>
                  <a:srgbClr val="FF0000"/>
                </a:solidFill>
                <a:latin typeface="Gill Sans MT" panose="020B0502020104020203" pitchFamily="34" charset="0"/>
              </a:rPr>
              <a:t>, </a:t>
            </a:r>
            <a:r>
              <a:rPr lang="en-US" sz="227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 A</a:t>
            </a:r>
            <a:r>
              <a:rPr lang="en-US" sz="2270" dirty="0">
                <a:solidFill>
                  <a:srgbClr val="FF0000"/>
                </a:solidFill>
                <a:latin typeface="Gill Sans MT" panose="020B0502020104020203" pitchFamily="34" charset="0"/>
              </a:rPr>
              <a:t>. and </a:t>
            </a:r>
            <a:r>
              <a:rPr lang="en-US" sz="2270" dirty="0" err="1">
                <a:solidFill>
                  <a:srgbClr val="FF0000"/>
                </a:solidFill>
                <a:latin typeface="Gill Sans MT" panose="020B0502020104020203" pitchFamily="34" charset="0"/>
              </a:rPr>
              <a:t>Baryeh</a:t>
            </a:r>
            <a:r>
              <a:rPr lang="en-US" sz="2270" dirty="0">
                <a:solidFill>
                  <a:srgbClr val="FF0000"/>
                </a:solidFill>
                <a:latin typeface="Gill Sans MT" panose="020B0502020104020203" pitchFamily="34" charset="0"/>
              </a:rPr>
              <a:t>, E. A. (2003). </a:t>
            </a:r>
            <a:r>
              <a:rPr lang="en-US" sz="2270" dirty="0">
                <a:latin typeface="Gill Sans MT" panose="020B0502020104020203" pitchFamily="34" charset="0"/>
              </a:rPr>
              <a:t>The physical properties of Category B cocoa beans. Journal of Food Engineering. 20(1): 219-227</a:t>
            </a:r>
          </a:p>
          <a:p>
            <a:pPr>
              <a:spcBef>
                <a:spcPts val="300"/>
              </a:spcBef>
            </a:pPr>
            <a:r>
              <a:rPr lang="en-US" sz="2270" b="1" dirty="0">
                <a:latin typeface="Gill Sans MT" panose="020B0502020104020203" pitchFamily="34" charset="0"/>
              </a:rPr>
              <a:t>Book:</a:t>
            </a:r>
            <a:r>
              <a:rPr lang="en-US" sz="2270" dirty="0">
                <a:latin typeface="Gill Sans MT" panose="020B0502020104020203" pitchFamily="34" charset="0"/>
              </a:rPr>
              <a:t> </a:t>
            </a:r>
            <a:r>
              <a:rPr lang="en-US" sz="2270" dirty="0">
                <a:solidFill>
                  <a:srgbClr val="FF0000"/>
                </a:solidFill>
                <a:latin typeface="Gill Sans MT" panose="020B0502020104020203" pitchFamily="34" charset="0"/>
              </a:rPr>
              <a:t>Morgan, R. P. C. (1986).</a:t>
            </a:r>
            <a:r>
              <a:rPr lang="en-US" sz="2270" dirty="0">
                <a:latin typeface="Gill Sans MT" panose="020B0502020104020203" pitchFamily="34" charset="0"/>
              </a:rPr>
              <a:t> Soil erosion and conservation. Longman, U.K.</a:t>
            </a:r>
          </a:p>
          <a:p>
            <a:pPr>
              <a:spcBef>
                <a:spcPts val="300"/>
              </a:spcBef>
            </a:pPr>
            <a:r>
              <a:rPr lang="en-US" sz="2270" b="1" dirty="0">
                <a:latin typeface="Gill Sans MT" panose="020B0502020104020203" pitchFamily="34" charset="0"/>
              </a:rPr>
              <a:t>Contribution to a book:</a:t>
            </a:r>
            <a:r>
              <a:rPr lang="en-US" sz="2270" dirty="0">
                <a:latin typeface="Gill Sans MT" panose="020B0502020104020203" pitchFamily="34" charset="0"/>
              </a:rPr>
              <a:t> </a:t>
            </a:r>
            <a:r>
              <a:rPr lang="en-US" sz="2270" dirty="0" err="1">
                <a:solidFill>
                  <a:srgbClr val="FF0000"/>
                </a:solidFill>
                <a:latin typeface="Gill Sans MT" panose="020B0502020104020203" pitchFamily="34" charset="0"/>
              </a:rPr>
              <a:t>Kyei-Baffour</a:t>
            </a:r>
            <a:r>
              <a:rPr lang="en-US" sz="2270" dirty="0">
                <a:solidFill>
                  <a:srgbClr val="FF0000"/>
                </a:solidFill>
                <a:latin typeface="Gill Sans MT" panose="020B0502020104020203" pitchFamily="34" charset="0"/>
              </a:rPr>
              <a:t>, N., Bobobee, E. Y. H. and </a:t>
            </a:r>
            <a:r>
              <a:rPr lang="en-US" sz="2270" dirty="0" err="1">
                <a:solidFill>
                  <a:srgbClr val="FF0000"/>
                </a:solidFill>
                <a:latin typeface="Gill Sans MT" panose="020B0502020104020203" pitchFamily="34" charset="0"/>
              </a:rPr>
              <a:t>Koram</a:t>
            </a:r>
            <a:r>
              <a:rPr lang="en-US" sz="2270" dirty="0">
                <a:solidFill>
                  <a:srgbClr val="FF0000"/>
                </a:solidFill>
                <a:latin typeface="Gill Sans MT" panose="020B0502020104020203" pitchFamily="34" charset="0"/>
              </a:rPr>
              <a:t>, S. A. (1994). </a:t>
            </a:r>
            <a:r>
              <a:rPr lang="en-US" sz="2270" dirty="0">
                <a:latin typeface="Gill Sans MT" panose="020B0502020104020203" pitchFamily="34" charset="0"/>
              </a:rPr>
              <a:t>The effects of tillage and irrigation practices on soils in Ghana: </a:t>
            </a:r>
            <a:r>
              <a:rPr lang="en-US" sz="2270" dirty="0" smtClean="0">
                <a:latin typeface="Gill Sans MT" panose="020B0502020104020203" pitchFamily="34" charset="0"/>
              </a:rPr>
              <a:t> A </a:t>
            </a:r>
            <a:r>
              <a:rPr lang="en-US" sz="2270" dirty="0">
                <a:latin typeface="Gill Sans MT" panose="020B0502020104020203" pitchFamily="34" charset="0"/>
              </a:rPr>
              <a:t>case study. In: L. O. Fresco, L. </a:t>
            </a:r>
            <a:r>
              <a:rPr lang="en-US" sz="2270" dirty="0" err="1">
                <a:latin typeface="Gill Sans MT" panose="020B0502020104020203" pitchFamily="34" charset="0"/>
              </a:rPr>
              <a:t>Stroosnijder</a:t>
            </a:r>
            <a:r>
              <a:rPr lang="en-US" sz="2270" dirty="0">
                <a:latin typeface="Gill Sans MT" panose="020B0502020104020203" pitchFamily="34" charset="0"/>
              </a:rPr>
              <a:t>, J. </a:t>
            </a:r>
            <a:r>
              <a:rPr lang="en-US" sz="2270" dirty="0" err="1">
                <a:latin typeface="Gill Sans MT" panose="020B0502020104020203" pitchFamily="34" charset="0"/>
              </a:rPr>
              <a:t>Bouma</a:t>
            </a:r>
            <a:r>
              <a:rPr lang="en-US" sz="2270" dirty="0">
                <a:latin typeface="Gill Sans MT" panose="020B0502020104020203" pitchFamily="34" charset="0"/>
              </a:rPr>
              <a:t> and H. van </a:t>
            </a:r>
            <a:r>
              <a:rPr lang="en-US" sz="2270" dirty="0" err="1">
                <a:latin typeface="Gill Sans MT" panose="020B0502020104020203" pitchFamily="34" charset="0"/>
              </a:rPr>
              <a:t>Keulen</a:t>
            </a:r>
            <a:r>
              <a:rPr lang="en-US" sz="2270" dirty="0">
                <a:latin typeface="Gill Sans MT" panose="020B0502020104020203" pitchFamily="34" charset="0"/>
              </a:rPr>
              <a:t>, eds. The future of the land. Willey, Sussex. 363-364</a:t>
            </a:r>
          </a:p>
          <a:p>
            <a:pPr>
              <a:spcBef>
                <a:spcPts val="300"/>
              </a:spcBef>
            </a:pPr>
            <a:r>
              <a:rPr lang="en-US" sz="2270" b="1" dirty="0">
                <a:latin typeface="Gill Sans MT" panose="020B0502020104020203" pitchFamily="34" charset="0"/>
              </a:rPr>
              <a:t>Technical Report:</a:t>
            </a:r>
            <a:r>
              <a:rPr lang="en-US" sz="2270" dirty="0">
                <a:latin typeface="Gill Sans MT" panose="020B0502020104020203" pitchFamily="34" charset="0"/>
              </a:rPr>
              <a:t> </a:t>
            </a:r>
            <a:r>
              <a:rPr lang="en-US" sz="2270" dirty="0" smtClean="0">
                <a:latin typeface="Gill Sans MT" panose="020B0502020104020203" pitchFamily="34" charset="0"/>
              </a:rPr>
              <a:t> </a:t>
            </a:r>
            <a:r>
              <a:rPr lang="en-US" sz="2270" dirty="0" err="1" smtClean="0">
                <a:solidFill>
                  <a:srgbClr val="FF0000"/>
                </a:solidFill>
                <a:latin typeface="Gill Sans MT" panose="020B0502020104020203" pitchFamily="34" charset="0"/>
              </a:rPr>
              <a:t>Agodzo</a:t>
            </a:r>
            <a:r>
              <a:rPr lang="en-US" sz="2270" dirty="0">
                <a:solidFill>
                  <a:srgbClr val="FF0000"/>
                </a:solidFill>
                <a:latin typeface="Gill Sans MT" panose="020B0502020104020203" pitchFamily="34" charset="0"/>
              </a:rPr>
              <a:t>, S. K., </a:t>
            </a:r>
            <a:r>
              <a:rPr lang="en-US" sz="2270" dirty="0" err="1">
                <a:solidFill>
                  <a:srgbClr val="FF0000"/>
                </a:solidFill>
                <a:latin typeface="Gill Sans MT" panose="020B0502020104020203" pitchFamily="34" charset="0"/>
              </a:rPr>
              <a:t>Huibers</a:t>
            </a:r>
            <a:r>
              <a:rPr lang="en-US" sz="2270" dirty="0">
                <a:solidFill>
                  <a:srgbClr val="FF0000"/>
                </a:solidFill>
                <a:latin typeface="Gill Sans MT" panose="020B0502020104020203" pitchFamily="34" charset="0"/>
              </a:rPr>
              <a:t>, F. P., </a:t>
            </a:r>
            <a:r>
              <a:rPr lang="en-US" sz="2270" dirty="0" err="1">
                <a:solidFill>
                  <a:srgbClr val="FF0000"/>
                </a:solidFill>
                <a:latin typeface="Gill Sans MT" panose="020B0502020104020203" pitchFamily="34" charset="0"/>
              </a:rPr>
              <a:t>Chenini</a:t>
            </a:r>
            <a:r>
              <a:rPr lang="en-US" sz="2270" dirty="0">
                <a:solidFill>
                  <a:srgbClr val="FF0000"/>
                </a:solidFill>
                <a:latin typeface="Gill Sans MT" panose="020B0502020104020203" pitchFamily="34" charset="0"/>
              </a:rPr>
              <a:t>, F., van Lier, J. B. and Duran, A. (2003). </a:t>
            </a:r>
            <a:r>
              <a:rPr lang="en-US" sz="2270" dirty="0">
                <a:latin typeface="Gill Sans MT" panose="020B0502020104020203" pitchFamily="34" charset="0"/>
              </a:rPr>
              <a:t>Use of wastewater in irrigated agriculture. Country studies from Bolivia, Ghana and Tunisia. Volume 2: Ghana. </a:t>
            </a:r>
            <a:r>
              <a:rPr lang="en-US" sz="2270" dirty="0" err="1">
                <a:latin typeface="Gill Sans MT" panose="020B0502020104020203" pitchFamily="34" charset="0"/>
              </a:rPr>
              <a:t>Wageningen</a:t>
            </a:r>
            <a:r>
              <a:rPr lang="en-US" sz="2270" dirty="0">
                <a:latin typeface="Gill Sans MT" panose="020B0502020104020203" pitchFamily="34" charset="0"/>
              </a:rPr>
              <a:t> WUR (WF4-Wastewater)-ISBN 90-6754-704-2</a:t>
            </a:r>
          </a:p>
        </p:txBody>
      </p:sp>
    </p:spTree>
    <p:extLst>
      <p:ext uri="{BB962C8B-B14F-4D97-AF65-F5344CB8AC3E}">
        <p14:creationId xmlns:p14="http://schemas.microsoft.com/office/powerpoint/2010/main" val="3917691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Harvard Referencing Style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23995" y="1132907"/>
            <a:ext cx="8153400" cy="536087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b="1" dirty="0" smtClean="0">
                <a:latin typeface="Gill Sans MT" panose="020B0502020104020203" pitchFamily="34" charset="0"/>
              </a:rPr>
              <a:t>Examples: List </a:t>
            </a:r>
            <a:r>
              <a:rPr lang="en-US" b="1" dirty="0">
                <a:latin typeface="Gill Sans MT" panose="020B0502020104020203" pitchFamily="34" charset="0"/>
              </a:rPr>
              <a:t>of </a:t>
            </a:r>
            <a:r>
              <a:rPr lang="en-US" b="1" dirty="0" smtClean="0">
                <a:latin typeface="Gill Sans MT" panose="020B0502020104020203" pitchFamily="34" charset="0"/>
              </a:rPr>
              <a:t>References</a:t>
            </a:r>
          </a:p>
          <a:p>
            <a:pPr>
              <a:spcBef>
                <a:spcPts val="300"/>
              </a:spcBef>
              <a:spcAft>
                <a:spcPts val="1200"/>
              </a:spcAft>
            </a:pPr>
            <a:r>
              <a:rPr lang="en-US" sz="2400" dirty="0" err="1">
                <a:solidFill>
                  <a:srgbClr val="FF0000"/>
                </a:solidFill>
                <a:latin typeface="Gill Sans MT" panose="020B0502020104020203" pitchFamily="34" charset="0"/>
              </a:rPr>
              <a:t>Agco</a:t>
            </a:r>
            <a:r>
              <a:rPr lang="en-US" sz="2400" dirty="0">
                <a:solidFill>
                  <a:srgbClr val="FF0000"/>
                </a:solidFill>
                <a:latin typeface="Gill Sans MT" panose="020B0502020104020203" pitchFamily="34" charset="0"/>
              </a:rPr>
              <a:t> Allis (</a:t>
            </a:r>
            <a:r>
              <a:rPr lang="en-US" sz="24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2011).</a:t>
            </a:r>
            <a:r>
              <a:rPr lang="en-US" sz="2400" dirty="0" smtClean="0">
                <a:latin typeface="Gill Sans MT" panose="020B0502020104020203" pitchFamily="34" charset="0"/>
              </a:rPr>
              <a:t> </a:t>
            </a:r>
            <a:r>
              <a:rPr lang="en-US" sz="2400" dirty="0">
                <a:latin typeface="Gill Sans MT" panose="020B0502020104020203" pitchFamily="34" charset="0"/>
              </a:rPr>
              <a:t>Tractor, Service and Operator’s Manuals. Electronic document. Retrieved from: http://www.tractormanual.info/. </a:t>
            </a:r>
            <a:r>
              <a:rPr lang="en-US" sz="2400" dirty="0" smtClean="0">
                <a:latin typeface="Gill Sans MT" panose="020B0502020104020203" pitchFamily="34" charset="0"/>
              </a:rPr>
              <a:t> Accessed on 3 </a:t>
            </a:r>
            <a:r>
              <a:rPr lang="en-US" sz="2400" dirty="0">
                <a:latin typeface="Gill Sans MT" panose="020B0502020104020203" pitchFamily="34" charset="0"/>
              </a:rPr>
              <a:t>May 2011.</a:t>
            </a:r>
          </a:p>
          <a:p>
            <a:pPr>
              <a:spcBef>
                <a:spcPts val="300"/>
              </a:spcBef>
              <a:spcAft>
                <a:spcPts val="1200"/>
              </a:spcAft>
            </a:pPr>
            <a:r>
              <a:rPr lang="en-US" sz="2400" dirty="0" err="1">
                <a:solidFill>
                  <a:srgbClr val="FF0000"/>
                </a:solidFill>
                <a:latin typeface="Gill Sans MT" panose="020B0502020104020203" pitchFamily="34" charset="0"/>
              </a:rPr>
              <a:t>Bhutta</a:t>
            </a:r>
            <a:r>
              <a:rPr lang="en-US" sz="2400" dirty="0">
                <a:solidFill>
                  <a:srgbClr val="FF0000"/>
                </a:solidFill>
                <a:latin typeface="Gill Sans MT" panose="020B0502020104020203" pitchFamily="34" charset="0"/>
              </a:rPr>
              <a:t>, M.S., </a:t>
            </a:r>
            <a:r>
              <a:rPr lang="en-US" sz="2400" dirty="0" err="1">
                <a:solidFill>
                  <a:srgbClr val="FF0000"/>
                </a:solidFill>
                <a:latin typeface="Gill Sans MT" panose="020B0502020104020203" pitchFamily="34" charset="0"/>
              </a:rPr>
              <a:t>Tanveer</a:t>
            </a:r>
            <a:r>
              <a:rPr lang="en-US" sz="2400" dirty="0">
                <a:solidFill>
                  <a:srgbClr val="FF0000"/>
                </a:solidFill>
                <a:latin typeface="Gill Sans MT" panose="020B0502020104020203" pitchFamily="34" charset="0"/>
              </a:rPr>
              <a:t>, T. </a:t>
            </a:r>
            <a:r>
              <a:rPr lang="en-US" sz="24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and </a:t>
            </a:r>
            <a:r>
              <a:rPr lang="en-US" sz="2400" dirty="0">
                <a:solidFill>
                  <a:srgbClr val="FF0000"/>
                </a:solidFill>
                <a:latin typeface="Gill Sans MT" panose="020B0502020104020203" pitchFamily="34" charset="0"/>
              </a:rPr>
              <a:t>Awan, H.M. (1997). </a:t>
            </a:r>
            <a:r>
              <a:rPr lang="en-US" sz="2400" dirty="0">
                <a:latin typeface="Gill Sans MT" panose="020B0502020104020203" pitchFamily="34" charset="0"/>
              </a:rPr>
              <a:t>Technical Skill of Tractor Operator: A Case Study in Multan, Pakistan. </a:t>
            </a:r>
            <a:r>
              <a:rPr lang="en-US" sz="2400" dirty="0" smtClean="0">
                <a:latin typeface="Gill Sans MT" panose="020B0502020104020203" pitchFamily="34" charset="0"/>
              </a:rPr>
              <a:t>Agricultural Mechanisation </a:t>
            </a:r>
            <a:r>
              <a:rPr lang="en-US" sz="2400" dirty="0">
                <a:latin typeface="Gill Sans MT" panose="020B0502020104020203" pitchFamily="34" charset="0"/>
              </a:rPr>
              <a:t>in Asia, Africa and Latin America, 28 (1</a:t>
            </a:r>
            <a:r>
              <a:rPr lang="en-US" sz="2400" dirty="0" smtClean="0">
                <a:latin typeface="Gill Sans MT" panose="020B0502020104020203" pitchFamily="34" charset="0"/>
              </a:rPr>
              <a:t>): 18–22.</a:t>
            </a:r>
          </a:p>
          <a:p>
            <a:pPr>
              <a:spcBef>
                <a:spcPts val="300"/>
              </a:spcBef>
              <a:spcAft>
                <a:spcPts val="1200"/>
              </a:spcAft>
            </a:pPr>
            <a:r>
              <a:rPr lang="en-US" sz="24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Davies</a:t>
            </a:r>
            <a:r>
              <a:rPr lang="en-US" sz="2400" dirty="0">
                <a:solidFill>
                  <a:srgbClr val="FF0000"/>
                </a:solidFill>
                <a:latin typeface="Gill Sans MT" panose="020B0502020104020203" pitchFamily="34" charset="0"/>
              </a:rPr>
              <a:t>, D.B., Eagle, D.J. </a:t>
            </a:r>
            <a:r>
              <a:rPr lang="en-US" sz="24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and </a:t>
            </a:r>
            <a:r>
              <a:rPr lang="en-US" sz="2400" dirty="0">
                <a:solidFill>
                  <a:srgbClr val="FF0000"/>
                </a:solidFill>
                <a:latin typeface="Gill Sans MT" panose="020B0502020104020203" pitchFamily="34" charset="0"/>
              </a:rPr>
              <a:t>Finney, J.B. (1993). </a:t>
            </a:r>
            <a:r>
              <a:rPr lang="en-US" sz="2400" dirty="0">
                <a:latin typeface="Gill Sans MT" panose="020B0502020104020203" pitchFamily="34" charset="0"/>
              </a:rPr>
              <a:t>Soil Management, Ipswich, Farming Press.</a:t>
            </a:r>
          </a:p>
          <a:p>
            <a:pPr>
              <a:spcBef>
                <a:spcPts val="300"/>
              </a:spcBef>
              <a:spcAft>
                <a:spcPts val="1200"/>
              </a:spcAft>
            </a:pPr>
            <a:r>
              <a:rPr lang="en-US" sz="2400" dirty="0">
                <a:solidFill>
                  <a:srgbClr val="FF0000"/>
                </a:solidFill>
                <a:latin typeface="Gill Sans MT" panose="020B0502020104020203" pitchFamily="34" charset="0"/>
              </a:rPr>
              <a:t>MINITAB Inc. (2007).</a:t>
            </a:r>
            <a:r>
              <a:rPr lang="en-US" sz="2400" dirty="0">
                <a:latin typeface="Gill Sans MT" panose="020B0502020104020203" pitchFamily="34" charset="0"/>
              </a:rPr>
              <a:t> MINITAB Statistical Software Release 15 for Windows. Pennsylvania, Minitab Inc., State College</a:t>
            </a:r>
            <a:r>
              <a:rPr lang="en-US" sz="2400" dirty="0" smtClean="0">
                <a:latin typeface="Gill Sans MT" panose="020B0502020104020203" pitchFamily="34" charset="0"/>
              </a:rPr>
              <a:t>.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1155960" y="3460680"/>
              <a:ext cx="7328160" cy="120060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46600" y="3451320"/>
                <a:ext cx="7346880" cy="121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4726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331" y="0"/>
            <a:ext cx="581323" cy="304281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1279150" y="1276820"/>
            <a:ext cx="3042810" cy="48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486842" y="1006158"/>
            <a:ext cx="8657158" cy="1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520965" y="233450"/>
            <a:ext cx="8505340" cy="649143"/>
          </a:xfrm>
        </p:spPr>
        <p:txBody>
          <a:bodyPr>
            <a:normAutofit fontScale="90000"/>
          </a:bodyPr>
          <a:lstStyle/>
          <a:p>
            <a:r>
              <a:rPr lang="en-US" cap="small" dirty="0">
                <a:latin typeface="Gill Sans MT" panose="020B0502020104020203" pitchFamily="34" charset="0"/>
              </a:rPr>
              <a:t>Appendices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23995" y="1132907"/>
            <a:ext cx="8153400" cy="536087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dirty="0">
                <a:solidFill>
                  <a:srgbClr val="FF0000"/>
                </a:solidFill>
                <a:latin typeface="Gill Sans MT" panose="020B0502020104020203" pitchFamily="34" charset="0"/>
              </a:rPr>
              <a:t>Copies of your questionnaire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dirty="0">
                <a:latin typeface="Gill Sans MT" panose="020B0502020104020203" pitchFamily="34" charset="0"/>
              </a:rPr>
              <a:t>Any additional Maps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Formulae/ Tables/ Charts that are relevant to the work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dirty="0" smtClean="0">
                <a:latin typeface="Gill Sans MT" panose="020B0502020104020203" pitchFamily="34" charset="0"/>
              </a:rPr>
              <a:t>Additional designs that were not included in the text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sz="3600" dirty="0" smtClean="0">
                <a:solidFill>
                  <a:srgbClr val="FF0000"/>
                </a:solidFill>
                <a:latin typeface="Gill Sans MT" panose="020B0502020104020203" pitchFamily="34" charset="0"/>
              </a:rPr>
              <a:t>Any other relevant information, letters</a:t>
            </a:r>
          </a:p>
        </p:txBody>
      </p:sp>
    </p:spTree>
    <p:extLst>
      <p:ext uri="{BB962C8B-B14F-4D97-AF65-F5344CB8AC3E}">
        <p14:creationId xmlns:p14="http://schemas.microsoft.com/office/powerpoint/2010/main" val="384617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SAF_DESTRA_ALT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o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31700</TotalTime>
  <Words>2273</Words>
  <Application>Microsoft Office PowerPoint</Application>
  <PresentationFormat>On-screen Show (4:3)</PresentationFormat>
  <Paragraphs>292</Paragraphs>
  <Slides>41</Slides>
  <Notes>41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TESAF_DESTRA_ALTO</vt:lpstr>
      <vt:lpstr>AE 497-8 Seminar on Student’s Projects</vt:lpstr>
      <vt:lpstr>Content</vt:lpstr>
      <vt:lpstr>Student’s Final Project</vt:lpstr>
      <vt:lpstr>Specializations</vt:lpstr>
      <vt:lpstr>1st Semester</vt:lpstr>
      <vt:lpstr>2nd Semester</vt:lpstr>
      <vt:lpstr>Assessment</vt:lpstr>
      <vt:lpstr>Student-Supervisor Relationship</vt:lpstr>
      <vt:lpstr>Student-Supervisor Relationship</vt:lpstr>
      <vt:lpstr>Tenant-Landlady Relationship</vt:lpstr>
      <vt:lpstr>Tenant-Landlady Relationship</vt:lpstr>
      <vt:lpstr>Contents of the Dissertation</vt:lpstr>
      <vt:lpstr>Cover and Title-Page: Example</vt:lpstr>
      <vt:lpstr>Cover and Title-Page</vt:lpstr>
      <vt:lpstr>Front/Signature Page</vt:lpstr>
      <vt:lpstr>Front/Signature Page: Example</vt:lpstr>
      <vt:lpstr>Abstract</vt:lpstr>
      <vt:lpstr>Acknowledgements and Dedication</vt:lpstr>
      <vt:lpstr>Table of Contents </vt:lpstr>
      <vt:lpstr>List of Tables and Figures</vt:lpstr>
      <vt:lpstr>List of Tables and Figures</vt:lpstr>
      <vt:lpstr>Introduction</vt:lpstr>
      <vt:lpstr>Introduction</vt:lpstr>
      <vt:lpstr>Introduction</vt:lpstr>
      <vt:lpstr>Literature Review</vt:lpstr>
      <vt:lpstr>Materials and Methods</vt:lpstr>
      <vt:lpstr>Materials and Methods</vt:lpstr>
      <vt:lpstr>Results and Discussion</vt:lpstr>
      <vt:lpstr>Results and Discussion</vt:lpstr>
      <vt:lpstr>Results and Discussion</vt:lpstr>
      <vt:lpstr>Results and Discussion</vt:lpstr>
      <vt:lpstr>Tables and Figures</vt:lpstr>
      <vt:lpstr>Tables: Example</vt:lpstr>
      <vt:lpstr>Figures: Example</vt:lpstr>
      <vt:lpstr>Conclusions and Recommendations</vt:lpstr>
      <vt:lpstr>References</vt:lpstr>
      <vt:lpstr>Harvard Referencing Style</vt:lpstr>
      <vt:lpstr>Harvard Referencing Style</vt:lpstr>
      <vt:lpstr>Harvard Referencing Style</vt:lpstr>
      <vt:lpstr>Harvard Referencing Style</vt:lpstr>
      <vt:lpstr>Appendices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Paolo Semenzato</dc:creator>
  <cp:lastModifiedBy>William</cp:lastModifiedBy>
  <cp:revision>1031</cp:revision>
  <cp:lastPrinted>2013-11-27T15:21:15Z</cp:lastPrinted>
  <dcterms:created xsi:type="dcterms:W3CDTF">2013-11-25T10:12:09Z</dcterms:created>
  <dcterms:modified xsi:type="dcterms:W3CDTF">2019-10-05T13:04:04Z</dcterms:modified>
</cp:coreProperties>
</file>