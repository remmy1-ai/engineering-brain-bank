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0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62" r:id="rId2"/>
    <p:sldId id="264" r:id="rId3"/>
    <p:sldId id="265" r:id="rId4"/>
    <p:sldId id="293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78" r:id="rId19"/>
    <p:sldId id="280" r:id="rId20"/>
    <p:sldId id="281" r:id="rId21"/>
    <p:sldId id="282" r:id="rId22"/>
    <p:sldId id="283" r:id="rId23"/>
    <p:sldId id="285" r:id="rId24"/>
    <p:sldId id="284" r:id="rId25"/>
    <p:sldId id="286" r:id="rId26"/>
    <p:sldId id="294" r:id="rId27"/>
    <p:sldId id="287" r:id="rId28"/>
    <p:sldId id="288" r:id="rId29"/>
    <p:sldId id="289" r:id="rId30"/>
    <p:sldId id="290" r:id="rId31"/>
    <p:sldId id="295" r:id="rId32"/>
    <p:sldId id="296" r:id="rId33"/>
    <p:sldId id="297" r:id="rId34"/>
    <p:sldId id="291" r:id="rId35"/>
    <p:sldId id="292" r:id="rId36"/>
    <p:sldId id="298" r:id="rId37"/>
    <p:sldId id="300" r:id="rId38"/>
    <p:sldId id="301" r:id="rId39"/>
    <p:sldId id="302" r:id="rId40"/>
    <p:sldId id="303" r:id="rId41"/>
  </p:sldIdLst>
  <p:sldSz cx="9144000" cy="6858000" type="screen4x3"/>
  <p:notesSz cx="9926638" cy="6797675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a Gatto" initials="PG" lastIdx="1" clrIdx="0"/>
  <p:cmAuthor id="1" name="Ariadna Chavarría Reséndez" initials="ACR" lastIdx="3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171F"/>
    <a:srgbClr val="2C4D75"/>
    <a:srgbClr val="F9B590"/>
    <a:srgbClr val="91C3D5"/>
    <a:srgbClr val="4198AF"/>
    <a:srgbClr val="DB843D"/>
    <a:srgbClr val="F79646"/>
    <a:srgbClr val="8064A2"/>
    <a:srgbClr val="FDFDF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8" autoAdjust="0"/>
    <p:restoredTop sz="83586" autoAdjust="0"/>
  </p:normalViewPr>
  <p:slideViewPr>
    <p:cSldViewPr snapToGrid="0" snapToObjects="1">
      <p:cViewPr varScale="1">
        <p:scale>
          <a:sx n="70" d="100"/>
          <a:sy n="70" d="100"/>
        </p:scale>
        <p:origin x="-992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8BB5B-C2B9-4E05-A99B-1798080C8FF6}" type="datetimeFigureOut">
              <a:rPr lang="en-US" smtClean="0"/>
              <a:t>04-Oct-18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07DA-430D-426F-A796-3E0CCB03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F4C6F-5D26-4DAE-B7BA-F3A165A8948C}" type="datetimeFigureOut">
              <a:rPr lang="en-US" smtClean="0"/>
              <a:pPr/>
              <a:t>04-Oct-18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BA381-7040-46AB-A0C1-0078C136BD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7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52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177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87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66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22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0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163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02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4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665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122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214A-A849-8F45-B579-9C84A9199CA3}" type="datetimeFigureOut">
              <a:rPr lang="it-IT" smtClean="0"/>
              <a:pPr/>
              <a:t>04/10/2018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11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95926" y="2484632"/>
            <a:ext cx="8448486" cy="1517000"/>
          </a:xfrm>
        </p:spPr>
        <p:txBody>
          <a:bodyPr>
            <a:noAutofit/>
          </a:bodyPr>
          <a:lstStyle/>
          <a:p>
            <a:r>
              <a:rPr lang="en-GB" sz="3200" b="1" cap="small" dirty="0" smtClean="0">
                <a:latin typeface="Gill Sans MT" panose="020B0502020104020203" pitchFamily="34" charset="0"/>
              </a:rPr>
              <a:t>AE 497-8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GB" sz="3200" b="1" cap="small" dirty="0" smtClean="0">
                <a:latin typeface="Gill Sans MT" panose="020B0502020104020203" pitchFamily="34" charset="0"/>
              </a:rPr>
              <a:t>Seminar </a:t>
            </a:r>
            <a:r>
              <a:rPr lang="en-GB" sz="3200" b="1" cap="small" dirty="0" smtClean="0">
                <a:latin typeface="Gill Sans MT" panose="020B0502020104020203" pitchFamily="34" charset="0"/>
              </a:rPr>
              <a:t>on </a:t>
            </a:r>
            <a:r>
              <a:rPr lang="en-GB" sz="3200" b="1" cap="small" dirty="0" smtClean="0">
                <a:latin typeface="Gill Sans MT" panose="020B0502020104020203" pitchFamily="34" charset="0"/>
              </a:rPr>
              <a:t>Student’s Projects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14401" y="489776"/>
            <a:ext cx="8229600" cy="156536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600" b="1" cap="small" dirty="0">
                <a:latin typeface="Gill Sans MT" panose="020B0502020104020203" pitchFamily="34" charset="0"/>
              </a:rPr>
              <a:t>D</a:t>
            </a:r>
            <a:r>
              <a:rPr lang="en-GB" sz="3600" b="1" cap="small" dirty="0" smtClean="0">
                <a:latin typeface="Gill Sans MT" panose="020B0502020104020203" pitchFamily="34" charset="0"/>
              </a:rPr>
              <a:t>epartment of Agricultural and Biosystems Engineering</a:t>
            </a:r>
            <a:endParaRPr lang="en-US" sz="3600" b="1" dirty="0"/>
          </a:p>
        </p:txBody>
      </p:sp>
      <p:sp>
        <p:nvSpPr>
          <p:cNvPr id="10" name="TextBox 6"/>
          <p:cNvSpPr txBox="1"/>
          <p:nvPr/>
        </p:nvSpPr>
        <p:spPr>
          <a:xfrm>
            <a:off x="3270422" y="5125066"/>
            <a:ext cx="550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cap="small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Lecturer:</a:t>
            </a:r>
            <a:r>
              <a:rPr lang="en-GB" sz="2400" b="1" cap="small" dirty="0" smtClean="0">
                <a:latin typeface="Gill Sans MT" panose="020B0502020104020203" pitchFamily="34" charset="0"/>
              </a:rPr>
              <a:t>  William Amponsah, PhD</a:t>
            </a:r>
            <a:endParaRPr lang="it-IT" sz="2400" b="1" dirty="0" smtClean="0">
              <a:latin typeface="Gill Sans MT" panose="020B0502020104020203" pitchFamily="34" charset="0"/>
            </a:endParaRPr>
          </a:p>
          <a:p>
            <a:pPr algn="r"/>
            <a:endParaRPr lang="it-IT" sz="1600" b="1" dirty="0">
              <a:latin typeface="Gill Sans MT" panose="020B0502020104020203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95926" y="2390116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78993" y="4099712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92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Student’s Final Project and Assessment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Student-Supervisor Working Relationship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Contents and Structure of the Dissertation 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Oral Presentation </a:t>
            </a:r>
            <a:r>
              <a:rPr lang="en-US" sz="3600" dirty="0" smtClean="0">
                <a:latin typeface="Gill Sans MT" panose="020B0502020104020203" pitchFamily="34" charset="0"/>
              </a:rPr>
              <a:t>(Next Seminar)</a:t>
            </a:r>
            <a:endParaRPr lang="en-US" sz="3600" dirty="0" smtClean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Statistical Analysis (Next Semester)</a:t>
            </a:r>
            <a:endParaRPr lang="en-US" sz="36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>
              <a:lnSpc>
                <a:spcPct val="120000"/>
              </a:lnSpc>
            </a:pP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 smtClean="0">
                <a:latin typeface="Gill Sans MT" panose="020B0502020104020203" pitchFamily="34" charset="0"/>
              </a:rPr>
              <a:t>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Supervised research project by individual students as part of requirement for graduation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Duration: </a:t>
            </a:r>
            <a:r>
              <a:rPr lang="en-US" dirty="0" smtClean="0">
                <a:latin typeface="Gill Sans MT" panose="020B0502020104020203" pitchFamily="34" charset="0"/>
              </a:rPr>
              <a:t>1 year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Objective: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dirty="0" smtClean="0">
                <a:latin typeface="Gill Sans MT" panose="020B0502020104020203" pitchFamily="34" charset="0"/>
              </a:rPr>
              <a:t>To </a:t>
            </a:r>
            <a:r>
              <a:rPr lang="en-US" dirty="0" smtClean="0">
                <a:latin typeface="Gill Sans MT" panose="020B0502020104020203" pitchFamily="34" charset="0"/>
              </a:rPr>
              <a:t>train students to carry out independent research projects through the application of accumulated knowledge in specialized field of study</a:t>
            </a:r>
            <a:endParaRPr lang="en-US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Student’s Final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1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>
                <a:latin typeface="Gill Sans MT" panose="020B0502020104020203" pitchFamily="34" charset="0"/>
              </a:rPr>
              <a:t>Also related to Post-Grad specializations: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Soil and Water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Food and Post-Harvest Technology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Farm Power and Machinery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Agro-Environmental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Bio-Engineering</a:t>
            </a:r>
            <a:endParaRPr lang="en-US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Specializations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1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Formulation of project topic and research objectives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Establishing the problem and scientific justification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Literature review on important aspects of the research theme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Proposed methodology to address the problem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1</a:t>
            </a:r>
            <a:r>
              <a:rPr lang="en-US" cap="small" baseline="30000" dirty="0" smtClean="0">
                <a:latin typeface="Gill Sans MT" panose="020B0502020104020203" pitchFamily="34" charset="0"/>
              </a:rPr>
              <a:t>st</a:t>
            </a:r>
            <a:r>
              <a:rPr lang="en-US" cap="small" dirty="0" smtClean="0">
                <a:latin typeface="Gill Sans MT" panose="020B0502020104020203" pitchFamily="34" charset="0"/>
              </a:rPr>
              <a:t>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Building on the proposed methodology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Actual field experiment/ lab-work/ surveys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Data collection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Data analysis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I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nterpretation of data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Final write-up of the dissertation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2</a:t>
            </a:r>
            <a:r>
              <a:rPr lang="en-US" cap="small" baseline="30000" dirty="0" smtClean="0">
                <a:latin typeface="Gill Sans MT" panose="020B0502020104020203" pitchFamily="34" charset="0"/>
              </a:rPr>
              <a:t>nd</a:t>
            </a:r>
            <a:r>
              <a:rPr lang="en-US" cap="small" dirty="0" smtClean="0">
                <a:latin typeface="Gill Sans MT" panose="020B0502020104020203" pitchFamily="34" charset="0"/>
              </a:rPr>
              <a:t>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2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1</a:t>
            </a:r>
            <a:r>
              <a:rPr lang="en-US" baseline="30000" dirty="0" smtClean="0">
                <a:latin typeface="Gill Sans MT" panose="020B0502020104020203" pitchFamily="34" charset="0"/>
              </a:rPr>
              <a:t>st</a:t>
            </a:r>
            <a:r>
              <a:rPr lang="en-US" dirty="0" smtClean="0">
                <a:latin typeface="Gill Sans MT" panose="020B0502020104020203" pitchFamily="34" charset="0"/>
              </a:rPr>
              <a:t> semester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Credit: 1 for presentation of synopsis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2</a:t>
            </a:r>
            <a:r>
              <a:rPr lang="en-US" baseline="30000" dirty="0" smtClean="0">
                <a:latin typeface="Gill Sans MT" panose="020B0502020104020203" pitchFamily="34" charset="0"/>
              </a:rPr>
              <a:t>nd</a:t>
            </a:r>
            <a:r>
              <a:rPr lang="en-US" dirty="0" smtClean="0">
                <a:latin typeface="Gill Sans MT" panose="020B0502020104020203" pitchFamily="34" charset="0"/>
              </a:rPr>
              <a:t> semester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Credit: 5 for dissertation and presentation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30% for presentation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70% for dissertation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7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This is your work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Your supervisor is to guide and direct you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are a STUDENT not a LABOURER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Have constructive discussions with them, not YES SIR, YES SIR attitude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My BSc project as an example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Student-Supervisor </a:t>
            </a:r>
            <a:r>
              <a:rPr lang="en-US" cap="small" dirty="0" smtClean="0">
                <a:latin typeface="Gill Sans MT" panose="020B0502020104020203" pitchFamily="34" charset="0"/>
              </a:rPr>
              <a:t>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This is the first most important step for your career human relationship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You probably wouldn’t be going for lectures and writing exams for the rest of your life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will be working with people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Student-Supervisor </a:t>
            </a:r>
            <a:r>
              <a:rPr lang="en-US" cap="small" dirty="0" smtClean="0">
                <a:latin typeface="Gill Sans MT" panose="020B0502020104020203" pitchFamily="34" charset="0"/>
              </a:rPr>
              <a:t>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Tenant-Landlady Relationship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83900"/>
              </p:ext>
            </p:extLst>
          </p:nvPr>
        </p:nvGraphicFramePr>
        <p:xfrm>
          <a:off x="578992" y="1046900"/>
          <a:ext cx="8407165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9236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TENANT’S PERCEPTION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LANDLADY’S PERCEPTION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is already too high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has not been increased for a long time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With other costs</a:t>
                      </a:r>
                      <a:r>
                        <a:rPr lang="en-US" sz="2400" baseline="0" dirty="0" smtClean="0"/>
                        <a:t> going up, I can’t afford to pay more for housing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With other costs going</a:t>
                      </a:r>
                      <a:r>
                        <a:rPr lang="en-US" sz="2400" baseline="0" dirty="0" smtClean="0"/>
                        <a:t> up, I need more rental income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know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people who pay less for a comparable apartment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know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people who pay more for a comparable apartment</a:t>
                      </a:r>
                      <a:endParaRPr lang="en-US" sz="24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Young</a:t>
                      </a:r>
                      <a:r>
                        <a:rPr lang="en-US" sz="2400" baseline="0" dirty="0" smtClean="0"/>
                        <a:t> people like me can’t afford to pay high rents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Young people like him</a:t>
                      </a:r>
                      <a:r>
                        <a:rPr lang="en-US" sz="2400" baseline="0" dirty="0" smtClean="0"/>
                        <a:t> tend to make noise and to be hard on an apartment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ought to be low because the neighborhood is rundown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We landlords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should raise rents in order to improve the quality of the neighborhood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57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Tenant-Landlady Relationship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443726"/>
              </p:ext>
            </p:extLst>
          </p:nvPr>
        </p:nvGraphicFramePr>
        <p:xfrm>
          <a:off x="578992" y="1046900"/>
          <a:ext cx="840716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9236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TENANT’S PERCEPTION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LANDLADY’S PERCEPTION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am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a desirable tenant with no dogs and cats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His Facebook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and </a:t>
                      </a:r>
                      <a:r>
                        <a:rPr lang="en-US" sz="2400" baseline="0" dirty="0" err="1" smtClean="0">
                          <a:solidFill>
                            <a:srgbClr val="FF0000"/>
                          </a:solidFill>
                        </a:rPr>
                        <a:t>Insta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drive me crazy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</a:t>
                      </a:r>
                      <a:r>
                        <a:rPr lang="en-US" sz="2400" baseline="0" dirty="0" smtClean="0"/>
                        <a:t> apartment needs painting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He has given that</a:t>
                      </a:r>
                      <a:r>
                        <a:rPr lang="en-US" sz="2400" baseline="0" dirty="0" smtClean="0"/>
                        <a:t> apartment heavy wear and tear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always pay the rent whenever she asks for it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He never pays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the rent until I ask for it</a:t>
                      </a:r>
                      <a:endParaRPr lang="en-US" sz="24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She is cold and distant; she never asks</a:t>
                      </a:r>
                      <a:r>
                        <a:rPr lang="en-US" sz="2400" baseline="0" dirty="0" smtClean="0"/>
                        <a:t> me how things are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 am</a:t>
                      </a:r>
                      <a:r>
                        <a:rPr lang="en-US" sz="2400" baseline="0" dirty="0" smtClean="0"/>
                        <a:t> a considerate person who never intrudes on a tenant’s privacy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26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Cover and Title-Page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latin typeface="Gill Sans MT" panose="020B0502020104020203" pitchFamily="34" charset="0"/>
              </a:rPr>
              <a:t>Front/Signature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Abstract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latin typeface="Gill Sans MT" panose="020B0502020104020203" pitchFamily="34" charset="0"/>
              </a:rPr>
              <a:t>Acknowledgements and Dedication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Table of Contents (List of Tables and Figures)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Introduction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Literature Review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Materials and Methods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Results and Discussion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Conclusions and Recommendations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References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Appendices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Contents of the Dissertation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Cover and </a:t>
            </a:r>
            <a:r>
              <a:rPr lang="en-US" cap="small" dirty="0" smtClean="0">
                <a:latin typeface="Gill Sans MT" panose="020B0502020104020203" pitchFamily="34" charset="0"/>
              </a:rPr>
              <a:t>Title-Page: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86842" y="1131683"/>
            <a:ext cx="8657158" cy="57263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/>
              <a:buNone/>
            </a:pPr>
            <a:r>
              <a:rPr lang="en-GB" sz="2200" b="1" dirty="0"/>
              <a:t>KWAME NKRUMAH UNIVERSITY OF SCIENCE AND TECHNOLOGY KUMASI, </a:t>
            </a:r>
            <a:r>
              <a:rPr lang="en-GB" sz="2200" b="1" dirty="0" smtClean="0"/>
              <a:t>GHANA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COLLEGE OF </a:t>
            </a:r>
            <a:r>
              <a:rPr lang="en-GB" sz="2200" b="1" dirty="0" smtClean="0"/>
              <a:t>ENGINEERING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DEPARTMENT OF AGRICULTURAL AND BIOSYSTEMS </a:t>
            </a:r>
            <a:r>
              <a:rPr lang="en-GB" sz="2200" b="1" dirty="0" smtClean="0"/>
              <a:t>ENGINEERING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 smtClean="0"/>
              <a:t>IMPROVEMENT </a:t>
            </a:r>
            <a:r>
              <a:rPr lang="en-GB" sz="2200" b="1" dirty="0"/>
              <a:t>OF IRRIGATION TECHNIQUES FOR FARMERS IN BANKYEKROM</a:t>
            </a:r>
          </a:p>
          <a:p>
            <a:pPr marL="0" lvl="1" indent="0" algn="ctr">
              <a:buFont typeface="Arial"/>
              <a:buNone/>
            </a:pPr>
            <a:endParaRPr lang="en-GB" sz="2200" b="1" dirty="0">
              <a:solidFill>
                <a:srgbClr val="00B050"/>
              </a:solidFill>
            </a:endParaRP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NAME: KWEKU ANANSE</a:t>
            </a: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INDEX NO.: 0000000</a:t>
            </a: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JANUARY 1777</a:t>
            </a:r>
          </a:p>
        </p:txBody>
      </p:sp>
    </p:spTree>
    <p:extLst>
      <p:ext uri="{BB962C8B-B14F-4D97-AF65-F5344CB8AC3E}">
        <p14:creationId xmlns:p14="http://schemas.microsoft.com/office/powerpoint/2010/main" val="398786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title is the most important element of the cover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The best title is this title correctly explaining the context of the dissertation in as few as possible words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Try to avoid extra words as “Study of…”, “Contribution to the study of…”.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Avoid abbreviations, chemical formulae and trade names in the tile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University logo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Cover and Title-Page</a:t>
            </a:r>
          </a:p>
        </p:txBody>
      </p:sp>
    </p:spTree>
    <p:extLst>
      <p:ext uri="{BB962C8B-B14F-4D97-AF65-F5344CB8AC3E}">
        <p14:creationId xmlns:p14="http://schemas.microsoft.com/office/powerpoint/2010/main" val="48338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285592"/>
            <a:ext cx="8052486" cy="545997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First page of the dissertation report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Comes immediately after the cover page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Explicitly states the title of the dissertation and the purpose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It also serves as the signature page for both student and supervisor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Front/Signature Page</a:t>
            </a:r>
          </a:p>
        </p:txBody>
      </p:sp>
    </p:spTree>
    <p:extLst>
      <p:ext uri="{BB962C8B-B14F-4D97-AF65-F5344CB8AC3E}">
        <p14:creationId xmlns:p14="http://schemas.microsoft.com/office/powerpoint/2010/main" val="120431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Front/Signature </a:t>
            </a:r>
            <a:r>
              <a:rPr lang="en-US" cap="small" dirty="0" smtClean="0">
                <a:latin typeface="Gill Sans MT" panose="020B0502020104020203" pitchFamily="34" charset="0"/>
              </a:rPr>
              <a:t>Page: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42" y="1120366"/>
            <a:ext cx="8663347" cy="518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0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Summary of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It includes </a:t>
            </a:r>
            <a:r>
              <a:rPr lang="en-US" dirty="0" smtClean="0">
                <a:latin typeface="Gill Sans MT" panose="020B0502020104020203" pitchFamily="34" charset="0"/>
              </a:rPr>
              <a:t>MAIN </a:t>
            </a:r>
            <a:r>
              <a:rPr lang="en-US" b="1" i="1" dirty="0" smtClean="0">
                <a:latin typeface="Gill Sans MT" panose="020B0502020104020203" pitchFamily="34" charset="0"/>
              </a:rPr>
              <a:t>purpose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methods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results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conclusions</a:t>
            </a:r>
            <a:r>
              <a:rPr lang="en-US" dirty="0" smtClean="0">
                <a:latin typeface="Gill Sans MT" panose="020B0502020104020203" pitchFamily="34" charset="0"/>
              </a:rPr>
              <a:t> and </a:t>
            </a:r>
            <a:r>
              <a:rPr lang="en-US" b="1" i="1" dirty="0" smtClean="0">
                <a:latin typeface="Gill Sans MT" panose="020B0502020104020203" pitchFamily="34" charset="0"/>
              </a:rPr>
              <a:t>recommendations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It highlights the essential points of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Keep the abstract not more than one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abstract also adds no new information but simply summarizes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Presentations should highlight the contents of the abstract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Abstract</a:t>
            </a:r>
            <a:endParaRPr lang="en-US" cap="small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Can appear on different pages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This is the only non-scientific part of the thesis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 simple </a:t>
            </a: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and courteous relation made between the student and all persons having helped in one or another way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It gives evidence of courtesy to thank somebody (your supervisor, parents, technicians, mates) who helped you with your studies, with any material or with an important idea or interpretation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Write correctly the name, title and function and take care of the order of importance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Dedication means DEDICATION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Acknowledgements and Dedication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Table of Contents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55" y="1113576"/>
            <a:ext cx="8095129" cy="5744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82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List of Tables and Figures</a:t>
            </a: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26" y="1999824"/>
            <a:ext cx="8524390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92" y="3871866"/>
            <a:ext cx="8519848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45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List of Tables and Figures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8992" y="1113576"/>
            <a:ext cx="8153400" cy="53400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Figures include </a:t>
            </a:r>
            <a:r>
              <a:rPr lang="en-GB" i="1" dirty="0">
                <a:solidFill>
                  <a:srgbClr val="FF0000"/>
                </a:solidFill>
                <a:latin typeface="Gill Sans MT" panose="020B0502020104020203" pitchFamily="34" charset="0"/>
              </a:rPr>
              <a:t>pictures, graphs </a:t>
            </a: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GB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charts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GB" dirty="0">
                <a:latin typeface="Gill Sans MT" panose="020B0502020104020203" pitchFamily="34" charset="0"/>
              </a:rPr>
              <a:t>The list should include the table or figure number, the exact title and the page where it is </a:t>
            </a:r>
            <a:r>
              <a:rPr lang="en-GB" dirty="0" smtClean="0">
                <a:latin typeface="Gill Sans MT" panose="020B0502020104020203" pitchFamily="34" charset="0"/>
              </a:rPr>
              <a:t>found</a:t>
            </a:r>
            <a:endParaRPr lang="en-GB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Tables and figures should stand on their own without reference to the text but they need to be referred to in the 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text</a:t>
            </a:r>
          </a:p>
          <a:p>
            <a:pPr marL="271463" indent="-271463">
              <a:lnSpc>
                <a:spcPct val="120000"/>
              </a:lnSpc>
            </a:pPr>
            <a:r>
              <a:rPr lang="en-GB" dirty="0" smtClean="0">
                <a:latin typeface="Gill Sans MT" panose="020B0502020104020203" pitchFamily="34" charset="0"/>
              </a:rPr>
              <a:t>HOW TO DO THIS AUTHOMATICALLY IN MICROSOFT WORD</a:t>
            </a:r>
            <a:r>
              <a:rPr lang="en-GB" dirty="0" smtClean="0">
                <a:latin typeface="Gill Sans MT" panose="020B0502020104020203" pitchFamily="34" charset="0"/>
              </a:rPr>
              <a:t>! (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Next semester</a:t>
            </a:r>
            <a:r>
              <a:rPr lang="en-GB" dirty="0" smtClean="0">
                <a:latin typeface="Gill Sans MT" panose="020B0502020104020203" pitchFamily="34" charset="0"/>
              </a:rPr>
              <a:t>)</a:t>
            </a: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6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104522"/>
            <a:ext cx="8153400" cy="53400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‘WHAT IS THE PROBLEM?’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Tell readers what you plan to tell </a:t>
            </a:r>
            <a:r>
              <a:rPr lang="en-US" dirty="0" smtClean="0">
                <a:latin typeface="Gill Sans MT" panose="020B0502020104020203" pitchFamily="34" charset="0"/>
              </a:rPr>
              <a:t>them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Enough background information should be given in order to let the reader understand and evaluate the results without consulting other papers before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The aim and possible limitations of the proposed study are given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would BETTER write it after having written the main part 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2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95468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FORMAT: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Background to the study</a:t>
            </a:r>
          </a:p>
          <a:p>
            <a:pPr marL="671513" lvl="1" indent="-271463">
              <a:lnSpc>
                <a:spcPct val="120000"/>
              </a:lnSpc>
            </a:pPr>
            <a:r>
              <a:rPr lang="en-US" sz="2400" dirty="0" smtClean="0">
                <a:latin typeface="Gill Sans MT" panose="020B0502020104020203" pitchFamily="34" charset="0"/>
              </a:rPr>
              <a:t>Must include problem statement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Justification for the study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Objective</a:t>
            </a:r>
          </a:p>
          <a:p>
            <a:pPr marL="671513" lvl="1" indent="-271463">
              <a:lnSpc>
                <a:spcPct val="120000"/>
              </a:lnSpc>
            </a:pPr>
            <a:r>
              <a:rPr lang="en-US" sz="2400" dirty="0" smtClean="0">
                <a:latin typeface="Gill Sans MT" panose="020B0502020104020203" pitchFamily="34" charset="0"/>
              </a:rPr>
              <a:t>Main objective (reference to the title)</a:t>
            </a:r>
          </a:p>
          <a:p>
            <a:pPr marL="671513" lvl="1" indent="-271463">
              <a:lnSpc>
                <a:spcPct val="120000"/>
              </a:lnSpc>
            </a:pPr>
            <a:r>
              <a:rPr lang="en-US" sz="2400" dirty="0" smtClean="0">
                <a:latin typeface="Gill Sans MT" panose="020B0502020104020203" pitchFamily="34" charset="0"/>
              </a:rPr>
              <a:t>Specific objectives (what you would d to achieve the main objective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Do not show figures, tables and bulleted/ numbered points in the introduction</a:t>
            </a:r>
          </a:p>
          <a:p>
            <a:pPr marL="271463" indent="-271463">
              <a:lnSpc>
                <a:spcPct val="120000"/>
              </a:lnSpc>
            </a:pP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8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213163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SOME RULES: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First explain the nature of the problem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latin typeface="Gill Sans MT" panose="020B0502020104020203" pitchFamily="34" charset="0"/>
              </a:rPr>
              <a:t>For orientation, the most important references can be shortly cited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Mention the used methods and materials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latin typeface="Gill Sans MT" panose="020B0502020104020203" pitchFamily="34" charset="0"/>
              </a:rPr>
              <a:t>A lay-out must be given as well as the general connection between the different parts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 abbreviation can be put immediately after the word between brackets when it is used for the first time</a:t>
            </a:r>
            <a:endParaRPr lang="en-GB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9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Literature Review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213163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 summary of the different aspects of the subject, as it was found in the literature</a:t>
            </a: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US" smtClean="0">
                <a:latin typeface="Gill Sans MT" panose="020B0502020104020203" pitchFamily="34" charset="0"/>
              </a:rPr>
              <a:t>A critical </a:t>
            </a:r>
            <a:r>
              <a:rPr lang="en-US" dirty="0" smtClean="0">
                <a:latin typeface="Gill Sans MT" panose="020B0502020104020203" pitchFamily="34" charset="0"/>
              </a:rPr>
              <a:t>discussion of important related research</a:t>
            </a: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REFERENCES!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6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Materials and Methods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‘HOW DID YOU STUDY THE PROBLEM’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The used methods and materials are discussed in detail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With this information, it should be possible for the reader to repeat the experiments/study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Technical details are often necessary, mention also the </a:t>
            </a:r>
            <a:r>
              <a:rPr lang="en-US" dirty="0" smtClean="0">
                <a:latin typeface="Gill Sans MT" panose="020B0502020104020203" pitchFamily="34" charset="0"/>
              </a:rPr>
              <a:t>source</a:t>
            </a:r>
            <a:endParaRPr lang="en-US" dirty="0" smtClean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Materials and Methods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this chapter is subdivided, use the same order in the ‘Results and Discussion</a:t>
            </a: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latin typeface="Gill Sans MT" panose="020B0502020104020203" pitchFamily="34" charset="0"/>
              </a:rPr>
              <a:t>When the used methods are new, all details must be given</a:t>
            </a: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the used methods are described in standard books, mention only the reference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‘WHAT DID YOU FIND AND WHAT DOES IT MEAN’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The experiments are briefly arranged and the results are given and discussed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an experiment leads to results, TABLES and FIGURES are used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Also, ‘negative’ results can be given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Clearly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separate main findings from secondary findings</a:t>
            </a:r>
          </a:p>
        </p:txBody>
      </p:sp>
    </p:spTree>
    <p:extLst>
      <p:ext uri="{BB962C8B-B14F-4D97-AF65-F5344CB8AC3E}">
        <p14:creationId xmlns:p14="http://schemas.microsoft.com/office/powerpoint/2010/main" val="41363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sz="3000" dirty="0">
                <a:solidFill>
                  <a:srgbClr val="FF0000"/>
                </a:solidFill>
                <a:latin typeface="Gill Sans MT" panose="020B0502020104020203" pitchFamily="34" charset="0"/>
              </a:rPr>
              <a:t>Avoid ‘luxuriousness’ in the presentation by repeating the results in tables, figures and the text</a:t>
            </a:r>
            <a:endParaRPr lang="en-GB" sz="30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latin typeface="Gill Sans MT" panose="020B0502020104020203" pitchFamily="34" charset="0"/>
              </a:rPr>
              <a:t>Make reference as straight as possible</a:t>
            </a:r>
          </a:p>
          <a:p>
            <a:pPr marL="671513" lvl="1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‘Out of Table 1 it is clear that decreasing the temperature enhanced the number of dead plants’</a:t>
            </a:r>
          </a:p>
          <a:p>
            <a:pPr marL="671513" lvl="1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Decreasing the temperature enhanced the number of dead plants (Table 1)</a:t>
            </a:r>
          </a:p>
          <a:p>
            <a:pPr marL="271463" indent="-271463">
              <a:lnSpc>
                <a:spcPct val="120000"/>
              </a:lnSpc>
            </a:pPr>
            <a:r>
              <a:rPr lang="en-US" sz="3000" dirty="0">
                <a:latin typeface="Gill Sans MT" panose="020B0502020104020203" pitchFamily="34" charset="0"/>
              </a:rPr>
              <a:t>In the discussion, a relation needs to be made between most of the observed results</a:t>
            </a:r>
            <a:endParaRPr lang="en-GB" sz="3000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48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Keep the following points in mind: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Demonstrate in the results the principles, relations and general trends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latin typeface="Gill Sans MT" panose="020B0502020104020203" pitchFamily="34" charset="0"/>
              </a:rPr>
              <a:t>Do not repeat the results, but discuss them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Points out the exceptions, the absence or lack of correlation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latin typeface="Gill Sans MT" panose="020B0502020104020203" pitchFamily="34" charset="0"/>
              </a:rPr>
              <a:t>Demonstrate the accordance or discordance between the obtained results and earlier published work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Conclude as clearly as possible</a:t>
            </a:r>
            <a:endParaRPr lang="en-GB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5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Tables and Figures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Give each figure and table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a number and title</a:t>
            </a:r>
            <a:r>
              <a:rPr lang="en-US" dirty="0">
                <a:latin typeface="Gill Sans MT" panose="020B0502020104020203" pitchFamily="34" charset="0"/>
              </a:rPr>
              <a:t>.</a:t>
            </a: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Refer to each figure and table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in the text of the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dissertation</a:t>
            </a:r>
            <a:r>
              <a:rPr lang="en-US" dirty="0" smtClean="0">
                <a:latin typeface="Gill Sans MT" panose="020B0502020104020203" pitchFamily="34" charset="0"/>
              </a:rPr>
              <a:t>.</a:t>
            </a: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First reference in the text should be on the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same page or close to</a:t>
            </a:r>
            <a:r>
              <a:rPr lang="en-US" dirty="0" smtClean="0">
                <a:latin typeface="Gill Sans MT" panose="020B0502020104020203" pitchFamily="34" charset="0"/>
              </a:rPr>
              <a:t> the table/figure</a:t>
            </a:r>
            <a:endParaRPr lang="en-US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title of a table goes above the table</a:t>
            </a:r>
            <a:r>
              <a:rPr lang="en-US" dirty="0">
                <a:latin typeface="Gill Sans MT" panose="020B0502020104020203" pitchFamily="34" charset="0"/>
              </a:rPr>
              <a:t>, while the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title of a figure goes below the figure</a:t>
            </a:r>
            <a:r>
              <a:rPr lang="en-US" dirty="0" smtClean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9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Tables: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612648" y="1438835"/>
            <a:ext cx="81534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latin typeface="Gill Sans MT" panose="020B0502020104020203" pitchFamily="34" charset="0"/>
              </a:rPr>
              <a:t>Table 1: Number of phones stolen from 8:00 to 9:00 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t="12193"/>
          <a:stretch/>
        </p:blipFill>
        <p:spPr>
          <a:xfrm>
            <a:off x="1545372" y="2677792"/>
            <a:ext cx="6287951" cy="33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Figures: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578992" y="5624799"/>
            <a:ext cx="8153400" cy="61442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latin typeface="Gill Sans MT" panose="020B0502020104020203" pitchFamily="34" charset="0"/>
              </a:rPr>
              <a:t>Figure 1: Centre lathe</a:t>
            </a:r>
          </a:p>
        </p:txBody>
      </p:sp>
      <p:pic>
        <p:nvPicPr>
          <p:cNvPr id="13" name="Picture 2" descr="http://i01.i.aliimg.com/photo/v0/104071501/AMAR_Heavy_Duty_Precision_Lathe_Machin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56" y="1549755"/>
            <a:ext cx="7810500" cy="357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32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Conclusions and Recommendations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most important results and how they were obtained are repeated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latin typeface="Gill Sans MT" panose="020B0502020104020203" pitchFamily="34" charset="0"/>
              </a:rPr>
              <a:t>In the introduction the aim of the work is explained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In the conclusion it is shown to which degree the aim has been attained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latin typeface="Gill Sans MT" panose="020B0502020104020203" pitchFamily="34" charset="0"/>
              </a:rPr>
              <a:t>Do not give any conclusions to things which have not been discussed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Provide recommendations based on important findings and way forward to improve the study</a:t>
            </a:r>
            <a:endParaRPr lang="en-GB" sz="29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sz="29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References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3331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In-text references and Reference list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GB" sz="2800" dirty="0" smtClean="0">
                <a:latin typeface="Gill Sans MT" panose="020B0502020104020203" pitchFamily="34" charset="0"/>
              </a:rPr>
              <a:t>Use the Harvard Referencing Style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References serve as a guide to any reader who wants to refer to previous work on the subject.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Gill Sans MT" panose="020B0502020104020203" pitchFamily="34" charset="0"/>
              </a:rPr>
              <a:t>It is also meant to show appreciation for the invaluable work of other researchers.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Failure to credit the work of others is regarded as: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Carelessness on the part of the author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Lack of courtesy and even more seriously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Plagiarism, in which case the student would be failed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0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006159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300"/>
              </a:spcBef>
            </a:pPr>
            <a:r>
              <a:rPr lang="en-US" sz="2600" dirty="0" smtClean="0">
                <a:latin typeface="Gill Sans MT" panose="020B0502020104020203" pitchFamily="34" charset="0"/>
              </a:rPr>
              <a:t>In-text </a:t>
            </a:r>
            <a:r>
              <a:rPr lang="en-US" sz="2600" dirty="0">
                <a:latin typeface="Gill Sans MT" panose="020B0502020104020203" pitchFamily="34" charset="0"/>
              </a:rPr>
              <a:t>reference </a:t>
            </a:r>
            <a:r>
              <a:rPr lang="en-US" sz="2600" dirty="0" smtClean="0">
                <a:latin typeface="Gill Sans MT" panose="020B0502020104020203" pitchFamily="34" charset="0"/>
              </a:rPr>
              <a:t>should </a:t>
            </a:r>
            <a:r>
              <a:rPr lang="en-US" sz="2600" dirty="0">
                <a:latin typeface="Gill Sans MT" panose="020B0502020104020203" pitchFamily="34" charset="0"/>
              </a:rPr>
              <a:t>simply have the surname of the author and the year of </a:t>
            </a:r>
            <a:r>
              <a:rPr lang="en-US" sz="2600" dirty="0" smtClean="0">
                <a:latin typeface="Gill Sans MT" panose="020B0502020104020203" pitchFamily="34" charset="0"/>
              </a:rPr>
              <a:t>publication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(Amponsah,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there are two authors, both </a:t>
            </a:r>
            <a:r>
              <a:rPr lang="en-US" sz="2600" dirty="0" smtClean="0">
                <a:latin typeface="Gill Sans MT" panose="020B0502020104020203" pitchFamily="34" charset="0"/>
              </a:rPr>
              <a:t>surnames </a:t>
            </a:r>
            <a:r>
              <a:rPr lang="en-US" sz="2600" dirty="0">
                <a:latin typeface="Gill Sans MT" panose="020B0502020104020203" pitchFamily="34" charset="0"/>
              </a:rPr>
              <a:t>are given before the </a:t>
            </a:r>
            <a:r>
              <a:rPr lang="en-US" sz="2600" dirty="0" smtClean="0">
                <a:latin typeface="Gill Sans MT" panose="020B0502020104020203" pitchFamily="34" charset="0"/>
              </a:rPr>
              <a:t>year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(Kemausuor and </a:t>
            </a:r>
            <a:r>
              <a:rPr lang="en-US" sz="220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Akowuah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there are more than two authors, the surname of the first author is given, followed by “</a:t>
            </a:r>
            <a:r>
              <a:rPr lang="en-US" sz="2600" i="1" dirty="0">
                <a:latin typeface="Gill Sans MT" panose="020B0502020104020203" pitchFamily="34" charset="0"/>
              </a:rPr>
              <a:t>et al</a:t>
            </a:r>
            <a:r>
              <a:rPr lang="en-US" sz="2600" dirty="0">
                <a:latin typeface="Gill Sans MT" panose="020B0502020104020203" pitchFamily="34" charset="0"/>
              </a:rPr>
              <a:t>” in italics and then the </a:t>
            </a:r>
            <a:r>
              <a:rPr lang="en-US" sz="2600" dirty="0" smtClean="0">
                <a:latin typeface="Gill Sans MT" panose="020B0502020104020203" pitchFamily="34" charset="0"/>
              </a:rPr>
              <a:t>year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(Agyare </a:t>
            </a:r>
            <a:r>
              <a:rPr lang="en-US" sz="2200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et al.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one author has published more than one cited document in the same year, these are distinguished by adding lower case letters after the year</a:t>
            </a:r>
            <a:r>
              <a:rPr lang="en-US" sz="2600" dirty="0" smtClean="0">
                <a:latin typeface="Gill Sans MT" panose="020B0502020104020203" pitchFamily="34" charset="0"/>
              </a:rPr>
              <a:t>.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</a:t>
            </a:r>
            <a:r>
              <a:rPr lang="en-US" sz="220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2018a)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endParaRPr lang="en-GB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96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58844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Examples: in-text</a:t>
            </a:r>
            <a:r>
              <a:rPr lang="en-US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references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“According to 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Agodzo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(2003a)</a:t>
            </a:r>
            <a:r>
              <a:rPr lang="en-US" dirty="0">
                <a:latin typeface="Gill Sans MT" panose="020B0502020104020203" pitchFamily="34" charset="0"/>
              </a:rPr>
              <a:t> it is indicated 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………………..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Aikins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, 2015)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“Equations developed by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Bart-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Plange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Gill Sans MT" panose="020B0502020104020203" pitchFamily="34" charset="0"/>
              </a:rPr>
              <a:t>et </a:t>
            </a:r>
            <a:r>
              <a:rPr lang="en-US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al.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(2002)</a:t>
            </a:r>
            <a:r>
              <a:rPr lang="en-US" dirty="0">
                <a:latin typeface="Gill Sans MT" panose="020B0502020104020203" pitchFamily="34" charset="0"/>
              </a:rPr>
              <a:t> can be used to 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(2004)</a:t>
            </a:r>
            <a:r>
              <a:rPr lang="en-US" dirty="0">
                <a:latin typeface="Gill Sans MT" panose="020B0502020104020203" pitchFamily="34" charset="0"/>
              </a:rPr>
              <a:t> outlines the principle for the design of simulators…”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2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007383"/>
            <a:ext cx="840231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2800" b="1" dirty="0">
                <a:latin typeface="Gill Sans MT" panose="020B0502020104020203" pitchFamily="34" charset="0"/>
              </a:rPr>
              <a:t>List of </a:t>
            </a:r>
            <a:r>
              <a:rPr lang="en-US" sz="2800" b="1" dirty="0" smtClean="0">
                <a:latin typeface="Gill Sans MT" panose="020B0502020104020203" pitchFamily="34" charset="0"/>
              </a:rPr>
              <a:t>References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Journal: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Bart-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Plange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</a:t>
            </a:r>
            <a:r>
              <a:rPr lang="en-US" sz="227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A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. and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Baryeh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E. A. (2003). </a:t>
            </a:r>
            <a:r>
              <a:rPr lang="en-US" sz="2270" dirty="0">
                <a:latin typeface="Gill Sans MT" panose="020B0502020104020203" pitchFamily="34" charset="0"/>
              </a:rPr>
              <a:t>The physical properties of Category B cocoa beans. Journal of Food Engineering. 20(1): 219-227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Book: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Morgan, R. P. C. (1986).</a:t>
            </a:r>
            <a:r>
              <a:rPr lang="en-US" sz="2270" dirty="0">
                <a:latin typeface="Gill Sans MT" panose="020B0502020104020203" pitchFamily="34" charset="0"/>
              </a:rPr>
              <a:t> Soil erosion and conservation. Longman, U.K.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Contribution to a book: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N., Bobobee, E. Y. H. and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Koram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S. A. (1994). </a:t>
            </a:r>
            <a:r>
              <a:rPr lang="en-US" sz="2270" dirty="0">
                <a:latin typeface="Gill Sans MT" panose="020B0502020104020203" pitchFamily="34" charset="0"/>
              </a:rPr>
              <a:t>The effects of tillage and irrigation practices on soils in Ghana: </a:t>
            </a:r>
            <a:r>
              <a:rPr lang="en-US" sz="2270" dirty="0" smtClean="0">
                <a:latin typeface="Gill Sans MT" panose="020B0502020104020203" pitchFamily="34" charset="0"/>
              </a:rPr>
              <a:t> A </a:t>
            </a:r>
            <a:r>
              <a:rPr lang="en-US" sz="2270" dirty="0">
                <a:latin typeface="Gill Sans MT" panose="020B0502020104020203" pitchFamily="34" charset="0"/>
              </a:rPr>
              <a:t>case study. In: L. O. Fresco, L. </a:t>
            </a:r>
            <a:r>
              <a:rPr lang="en-US" sz="2270" dirty="0" err="1">
                <a:latin typeface="Gill Sans MT" panose="020B0502020104020203" pitchFamily="34" charset="0"/>
              </a:rPr>
              <a:t>Stroosnijder</a:t>
            </a:r>
            <a:r>
              <a:rPr lang="en-US" sz="2270" dirty="0">
                <a:latin typeface="Gill Sans MT" panose="020B0502020104020203" pitchFamily="34" charset="0"/>
              </a:rPr>
              <a:t>, J. </a:t>
            </a:r>
            <a:r>
              <a:rPr lang="en-US" sz="2270" dirty="0" err="1">
                <a:latin typeface="Gill Sans MT" panose="020B0502020104020203" pitchFamily="34" charset="0"/>
              </a:rPr>
              <a:t>Bouma</a:t>
            </a:r>
            <a:r>
              <a:rPr lang="en-US" sz="2270" dirty="0">
                <a:latin typeface="Gill Sans MT" panose="020B0502020104020203" pitchFamily="34" charset="0"/>
              </a:rPr>
              <a:t> and H. van </a:t>
            </a:r>
            <a:r>
              <a:rPr lang="en-US" sz="2270" dirty="0" err="1">
                <a:latin typeface="Gill Sans MT" panose="020B0502020104020203" pitchFamily="34" charset="0"/>
              </a:rPr>
              <a:t>Keulen</a:t>
            </a:r>
            <a:r>
              <a:rPr lang="en-US" sz="2270" dirty="0">
                <a:latin typeface="Gill Sans MT" panose="020B0502020104020203" pitchFamily="34" charset="0"/>
              </a:rPr>
              <a:t>, eds. The future of the land. Willey, Sussex. 363-364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Technical Report: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 smtClean="0">
                <a:latin typeface="Gill Sans MT" panose="020B0502020104020203" pitchFamily="34" charset="0"/>
              </a:rPr>
              <a:t> </a:t>
            </a:r>
            <a:r>
              <a:rPr lang="en-US" sz="227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Agodzo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S. K.,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Huibers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F. P.,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Chenini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F., van Lier, J. B. and Duran, A. (2003). </a:t>
            </a:r>
            <a:r>
              <a:rPr lang="en-US" sz="2270" dirty="0">
                <a:latin typeface="Gill Sans MT" panose="020B0502020104020203" pitchFamily="34" charset="0"/>
              </a:rPr>
              <a:t>Use of wastewater in irrigated agriculture. Country studies from Bolivia, Ghana and Tunisia. Volume 2: Ghana. </a:t>
            </a:r>
            <a:r>
              <a:rPr lang="en-US" sz="2270" dirty="0" err="1">
                <a:latin typeface="Gill Sans MT" panose="020B0502020104020203" pitchFamily="34" charset="0"/>
              </a:rPr>
              <a:t>Wageningen</a:t>
            </a:r>
            <a:r>
              <a:rPr lang="en-US" sz="2270" dirty="0">
                <a:latin typeface="Gill Sans MT" panose="020B0502020104020203" pitchFamily="34" charset="0"/>
              </a:rPr>
              <a:t> WUR (WF4-Wastewater)-ISBN 90-6754-704-2</a:t>
            </a:r>
          </a:p>
        </p:txBody>
      </p:sp>
    </p:spTree>
    <p:extLst>
      <p:ext uri="{BB962C8B-B14F-4D97-AF65-F5344CB8AC3E}">
        <p14:creationId xmlns:p14="http://schemas.microsoft.com/office/powerpoint/2010/main" val="391769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2907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Examples: List </a:t>
            </a:r>
            <a:r>
              <a:rPr lang="en-US" b="1" dirty="0">
                <a:latin typeface="Gill Sans MT" panose="020B0502020104020203" pitchFamily="34" charset="0"/>
              </a:rPr>
              <a:t>of </a:t>
            </a:r>
            <a:r>
              <a:rPr lang="en-US" b="1" dirty="0" smtClean="0">
                <a:latin typeface="Gill Sans MT" panose="020B0502020104020203" pitchFamily="34" charset="0"/>
              </a:rPr>
              <a:t>References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Agco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 Allis (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2011).</a:t>
            </a:r>
            <a:r>
              <a:rPr lang="en-US" sz="2400" dirty="0" smtClean="0"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Gill Sans MT" panose="020B0502020104020203" pitchFamily="34" charset="0"/>
              </a:rPr>
              <a:t>Tractor, Service and Operator’s Manuals. Electronic document. Retrieved from: http://www.tractormanual.info/. </a:t>
            </a:r>
            <a:r>
              <a:rPr lang="en-US" sz="2400" dirty="0" smtClean="0">
                <a:latin typeface="Gill Sans MT" panose="020B0502020104020203" pitchFamily="34" charset="0"/>
              </a:rPr>
              <a:t> Accessed on 3 </a:t>
            </a:r>
            <a:r>
              <a:rPr lang="en-US" sz="2400" dirty="0">
                <a:latin typeface="Gill Sans MT" panose="020B0502020104020203" pitchFamily="34" charset="0"/>
              </a:rPr>
              <a:t>May 2011.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Bhutta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M.S., </a:t>
            </a: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Tanveer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T. 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Awan, H.M. (1997). </a:t>
            </a:r>
            <a:r>
              <a:rPr lang="en-US" sz="2400" dirty="0">
                <a:latin typeface="Gill Sans MT" panose="020B0502020104020203" pitchFamily="34" charset="0"/>
              </a:rPr>
              <a:t>Technical Skill of Tractor Operator: A Case Study in Multan, Pakistan. </a:t>
            </a:r>
            <a:r>
              <a:rPr lang="en-US" sz="2400" dirty="0" smtClean="0">
                <a:latin typeface="Gill Sans MT" panose="020B0502020104020203" pitchFamily="34" charset="0"/>
              </a:rPr>
              <a:t>Agricultural Mechanisation </a:t>
            </a:r>
            <a:r>
              <a:rPr lang="en-US" sz="2400" dirty="0">
                <a:latin typeface="Gill Sans MT" panose="020B0502020104020203" pitchFamily="34" charset="0"/>
              </a:rPr>
              <a:t>in Asia, Africa and Latin America, 28 (1</a:t>
            </a:r>
            <a:r>
              <a:rPr lang="en-US" sz="2400" dirty="0" smtClean="0">
                <a:latin typeface="Gill Sans MT" panose="020B0502020104020203" pitchFamily="34" charset="0"/>
              </a:rPr>
              <a:t>): 18–22.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Davies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D.B., Eagle, D.J. 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Finney, J.B. (1993). </a:t>
            </a:r>
            <a:r>
              <a:rPr lang="en-US" sz="2400" dirty="0">
                <a:latin typeface="Gill Sans MT" panose="020B0502020104020203" pitchFamily="34" charset="0"/>
              </a:rPr>
              <a:t>Soil Management, Ipswich, Farming Press.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MINITAB Inc. (2007).</a:t>
            </a:r>
            <a:r>
              <a:rPr lang="en-US" sz="2400" dirty="0">
                <a:latin typeface="Gill Sans MT" panose="020B0502020104020203" pitchFamily="34" charset="0"/>
              </a:rPr>
              <a:t> MINITAB Statistical Software Release 15 for Windows. Pennsylvania, Minitab Inc., State College</a:t>
            </a:r>
            <a:r>
              <a:rPr lang="en-US" sz="2400" dirty="0" smtClean="0">
                <a:latin typeface="Gill Sans MT" panose="020B0502020104020203" pitchFamily="34" charset="0"/>
              </a:rPr>
              <a:t>.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2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Appendices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2907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Copies of your questionnaire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latin typeface="Gill Sans MT" panose="020B0502020104020203" pitchFamily="34" charset="0"/>
              </a:rPr>
              <a:t>Any additional Maps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Formulae/ Tables/ Charts that are relevant to the work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Additional designs that were not included in the text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Any other relevant information, letters</a:t>
            </a:r>
          </a:p>
        </p:txBody>
      </p:sp>
    </p:spTree>
    <p:extLst>
      <p:ext uri="{BB962C8B-B14F-4D97-AF65-F5344CB8AC3E}">
        <p14:creationId xmlns:p14="http://schemas.microsoft.com/office/powerpoint/2010/main" val="38461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SAF_DESTRA_AL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29077</TotalTime>
  <Words>2142</Words>
  <Application>Microsoft Office PowerPoint</Application>
  <PresentationFormat>On-screen Show (4:3)</PresentationFormat>
  <Paragraphs>282</Paragraphs>
  <Slides>40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TESAF_DESTRA_ALTO</vt:lpstr>
      <vt:lpstr>AE 497-8 Seminar on Student’s Projects</vt:lpstr>
      <vt:lpstr>Content</vt:lpstr>
      <vt:lpstr>Student’s Final Project</vt:lpstr>
      <vt:lpstr>Specializations</vt:lpstr>
      <vt:lpstr>1st Semester</vt:lpstr>
      <vt:lpstr>2nd Semester</vt:lpstr>
      <vt:lpstr>Assessment</vt:lpstr>
      <vt:lpstr>Student-Supervisor Relationship</vt:lpstr>
      <vt:lpstr>Student-Supervisor Relationship</vt:lpstr>
      <vt:lpstr>Tenant-Landlady Relationship</vt:lpstr>
      <vt:lpstr>Tenant-Landlady Relationship</vt:lpstr>
      <vt:lpstr>Contents of the Dissertation</vt:lpstr>
      <vt:lpstr>Cover and Title-Page: Example</vt:lpstr>
      <vt:lpstr>Cover and Title-Page</vt:lpstr>
      <vt:lpstr>Front/Signature Page</vt:lpstr>
      <vt:lpstr>Front/Signature Page: Example</vt:lpstr>
      <vt:lpstr>Abstract</vt:lpstr>
      <vt:lpstr>Acknowledgements and Dedication</vt:lpstr>
      <vt:lpstr>Table of Contents </vt:lpstr>
      <vt:lpstr>List of Tables and Figures</vt:lpstr>
      <vt:lpstr>List of Tables and Figures</vt:lpstr>
      <vt:lpstr>Introduction</vt:lpstr>
      <vt:lpstr>Introduction</vt:lpstr>
      <vt:lpstr>Introduction</vt:lpstr>
      <vt:lpstr>Literature Review</vt:lpstr>
      <vt:lpstr>Materials and Methods</vt:lpstr>
      <vt:lpstr>Materials and Methods</vt:lpstr>
      <vt:lpstr>Results and Discussion</vt:lpstr>
      <vt:lpstr>Results and Discussion</vt:lpstr>
      <vt:lpstr>Results and Discussion</vt:lpstr>
      <vt:lpstr>Tables and Figures</vt:lpstr>
      <vt:lpstr>Tables: Example</vt:lpstr>
      <vt:lpstr>Figures: Example</vt:lpstr>
      <vt:lpstr>Conclusions and Recommendations</vt:lpstr>
      <vt:lpstr>References</vt:lpstr>
      <vt:lpstr>Harvard Referencing Style</vt:lpstr>
      <vt:lpstr>Harvard Referencing Style</vt:lpstr>
      <vt:lpstr>Harvard Referencing Style</vt:lpstr>
      <vt:lpstr>Harvard Referencing Style</vt:lpstr>
      <vt:lpstr>Appendices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Paolo Semenzato</dc:creator>
  <cp:lastModifiedBy>William</cp:lastModifiedBy>
  <cp:revision>1020</cp:revision>
  <cp:lastPrinted>2013-11-27T15:21:15Z</cp:lastPrinted>
  <dcterms:created xsi:type="dcterms:W3CDTF">2013-11-25T10:12:09Z</dcterms:created>
  <dcterms:modified xsi:type="dcterms:W3CDTF">2018-10-05T15:48:25Z</dcterms:modified>
</cp:coreProperties>
</file>