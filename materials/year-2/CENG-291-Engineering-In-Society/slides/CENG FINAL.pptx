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Lst>
  <p:sldSz cy="6858000" cx="9144000"/>
  <p:notesSz cx="6794500" cy="9931400"/>
  <p:embeddedFontLst>
    <p:embeddedFont>
      <p:font typeface="Constantia"/>
      <p:regular r:id="rId114"/>
      <p:bold r:id="rId115"/>
      <p:italic r:id="rId116"/>
      <p:boldItalic r:id="rId1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18" roundtripDataSignature="AMtx7mhxtJTBI0cTG4h2vgce7Dt4ZJmd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customschemas.google.com/relationships/presentationmetadata" Target="metadata"/><Relationship Id="rId117" Type="http://schemas.openxmlformats.org/officeDocument/2006/relationships/font" Target="fonts/Constantia-boldItalic.fntdata"/><Relationship Id="rId116" Type="http://schemas.openxmlformats.org/officeDocument/2006/relationships/font" Target="fonts/Constantia-italic.fntdata"/><Relationship Id="rId115" Type="http://schemas.openxmlformats.org/officeDocument/2006/relationships/font" Target="fonts/Constantia-bold.fntdata"/><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Constantia-regular.fntdata"/><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4283" cy="49657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48645" y="0"/>
            <a:ext cx="2944283" cy="49657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450" y="4717415"/>
            <a:ext cx="5435600" cy="446913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33106"/>
            <a:ext cx="2944283" cy="49657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48645" y="9433106"/>
            <a:ext cx="2944283" cy="49657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3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3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3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3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3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4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4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4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4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4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4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4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4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5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5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5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5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5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5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5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5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5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5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5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5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5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6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6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6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6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6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6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6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6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6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6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6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6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6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6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6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6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6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6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6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6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7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7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7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7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7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72:notes"/>
          <p:cNvSpPr txBox="1"/>
          <p:nvPr>
            <p:ph idx="1" type="body"/>
          </p:nvPr>
        </p:nvSpPr>
        <p:spPr>
          <a:xfrm>
            <a:off x="679450" y="4717415"/>
            <a:ext cx="5435600" cy="44691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05" name="Google Shape;605;p72:notes"/>
          <p:cNvSpPr txBox="1"/>
          <p:nvPr>
            <p:ph idx="12" type="sldNum"/>
          </p:nvPr>
        </p:nvSpPr>
        <p:spPr>
          <a:xfrm>
            <a:off x="3848645" y="9433106"/>
            <a:ext cx="2944283" cy="49657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7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7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7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7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7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7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7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7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7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7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7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 name="Google Shape;647;p7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7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7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8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8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8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8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8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p8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8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p83:notes"/>
          <p:cNvSpPr txBox="1"/>
          <p:nvPr>
            <p:ph idx="1" type="body"/>
          </p:nvPr>
        </p:nvSpPr>
        <p:spPr>
          <a:xfrm>
            <a:off x="679450" y="4717415"/>
            <a:ext cx="5435600" cy="44691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83:notes"/>
          <p:cNvSpPr txBox="1"/>
          <p:nvPr>
            <p:ph idx="12" type="sldNum"/>
          </p:nvPr>
        </p:nvSpPr>
        <p:spPr>
          <a:xfrm>
            <a:off x="3848645" y="9433106"/>
            <a:ext cx="2944283" cy="49657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8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8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8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8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8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8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8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2" name="Google Shape;712;p8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8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9" name="Google Shape;719;p8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8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p8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9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9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9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p9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9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9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9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9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9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9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9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9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9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5" name="Google Shape;775;p9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9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9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9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9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99: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6" name="Google Shape;796;p99: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00: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p100: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101: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101: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02: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8" name="Google Shape;818;p102: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03: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103: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104: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104: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105: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p105: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106: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106: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07: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 name="Google Shape;853;p107: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08:notes"/>
          <p:cNvSpPr txBox="1"/>
          <p:nvPr>
            <p:ph idx="1" type="body"/>
          </p:nvPr>
        </p:nvSpPr>
        <p:spPr>
          <a:xfrm>
            <a:off x="679450" y="4717415"/>
            <a:ext cx="5435600" cy="446913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108:notes"/>
          <p:cNvSpPr/>
          <p:nvPr>
            <p:ph idx="2" type="sldImg"/>
          </p:nvPr>
        </p:nvSpPr>
        <p:spPr>
          <a:xfrm>
            <a:off x="914400" y="744538"/>
            <a:ext cx="4965700"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11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1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3" name="Google Shape;23;p11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1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6" name="Shape 26"/>
        <p:cNvGrpSpPr/>
        <p:nvPr/>
      </p:nvGrpSpPr>
      <p:grpSpPr>
        <a:xfrm>
          <a:off x="0" y="0"/>
          <a:ext cx="0" cy="0"/>
          <a:chOff x="0" y="0"/>
          <a:chExt cx="0" cy="0"/>
        </a:xfrm>
      </p:grpSpPr>
      <p:sp>
        <p:nvSpPr>
          <p:cNvPr id="27" name="Google Shape;27;p1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11"/>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9" name="Google Shape;29;p111"/>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0" name="Google Shape;30;p11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1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33" name="Shape 33"/>
        <p:cNvGrpSpPr/>
        <p:nvPr/>
      </p:nvGrpSpPr>
      <p:grpSpPr>
        <a:xfrm>
          <a:off x="0" y="0"/>
          <a:ext cx="0" cy="0"/>
          <a:chOff x="0" y="0"/>
          <a:chExt cx="0" cy="0"/>
        </a:xfrm>
      </p:grpSpPr>
      <p:sp>
        <p:nvSpPr>
          <p:cNvPr id="34" name="Google Shape;34;p11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1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36" name="Google Shape;36;p11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1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39" name="Shape 39"/>
        <p:cNvGrpSpPr/>
        <p:nvPr/>
      </p:nvGrpSpPr>
      <p:grpSpPr>
        <a:xfrm>
          <a:off x="0" y="0"/>
          <a:ext cx="0" cy="0"/>
          <a:chOff x="0" y="0"/>
          <a:chExt cx="0" cy="0"/>
        </a:xfrm>
      </p:grpSpPr>
      <p:sp>
        <p:nvSpPr>
          <p:cNvPr id="40" name="Google Shape;40;p113"/>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13"/>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2" name="Google Shape;42;p11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1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4"/>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114"/>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9" name="Google Shape;49;p114"/>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0" name="Google Shape;50;p114"/>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1" name="Google Shape;51;p11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1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15"/>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1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1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1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1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117"/>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17"/>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117"/>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11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1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0" name="Shape 70"/>
        <p:cNvGrpSpPr/>
        <p:nvPr/>
      </p:nvGrpSpPr>
      <p:grpSpPr>
        <a:xfrm>
          <a:off x="0" y="0"/>
          <a:ext cx="0" cy="0"/>
          <a:chOff x="0" y="0"/>
          <a:chExt cx="0" cy="0"/>
        </a:xfrm>
      </p:grpSpPr>
      <p:sp>
        <p:nvSpPr>
          <p:cNvPr id="71" name="Google Shape;71;p118"/>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72" name="Google Shape;72;p118"/>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73" name="Google Shape;73;p118"/>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8"/>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5" name="Google Shape;75;p11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8"/>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78" name="Google Shape;78;p118"/>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79" name="Google Shape;79;p118"/>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80" name="Google Shape;80;p118"/>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1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19"/>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11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20"/>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20"/>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0" name="Google Shape;90;p12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109"/>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nstantia"/>
              <a:ea typeface="Constantia"/>
              <a:cs typeface="Constantia"/>
              <a:sym typeface="Constantia"/>
            </a:endParaRPr>
          </a:p>
        </p:txBody>
      </p:sp>
      <p:sp>
        <p:nvSpPr>
          <p:cNvPr id="11" name="Google Shape;11;p109"/>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nstantia"/>
              <a:ea typeface="Constantia"/>
              <a:cs typeface="Constantia"/>
              <a:sym typeface="Constantia"/>
            </a:endParaRPr>
          </a:p>
        </p:txBody>
      </p:sp>
      <p:sp>
        <p:nvSpPr>
          <p:cNvPr id="12" name="Google Shape;12;p10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0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4" name="Google Shape;14;p10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5" name="Google Shape;15;p10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6" name="Google Shape;16;p10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035C75"/>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035C75"/>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035C75"/>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035C75"/>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035C75"/>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035C75"/>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035C75"/>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035C75"/>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GB"/>
              <a:t>‹#›</a:t>
            </a:fld>
            <a:endParaRPr/>
          </a:p>
        </p:txBody>
      </p:sp>
      <p:grpSp>
        <p:nvGrpSpPr>
          <p:cNvPr id="17" name="Google Shape;17;p109"/>
          <p:cNvGrpSpPr/>
          <p:nvPr/>
        </p:nvGrpSpPr>
        <p:grpSpPr>
          <a:xfrm>
            <a:off x="-29294" y="-16113"/>
            <a:ext cx="9198255" cy="1086266"/>
            <a:chOff x="-29322" y="-1971"/>
            <a:chExt cx="9198255" cy="1086266"/>
          </a:xfrm>
        </p:grpSpPr>
        <p:sp>
          <p:nvSpPr>
            <p:cNvPr id="18" name="Google Shape;18;p109"/>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9" name="Google Shape;19;p109"/>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jpg"/><Relationship Id="rId4"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1.jpg"/><Relationship Id="rId4" Type="http://schemas.openxmlformats.org/officeDocument/2006/relationships/image" Target="../media/image1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14.jpg"/><Relationship Id="rId4" Type="http://schemas.openxmlformats.org/officeDocument/2006/relationships/image" Target="../media/image15.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16.jpg"/><Relationship Id="rId4" Type="http://schemas.openxmlformats.org/officeDocument/2006/relationships/image" Target="../media/image17.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type="title"/>
          </p:nvPr>
        </p:nvSpPr>
        <p:spPr>
          <a:xfrm>
            <a:off x="467544" y="404664"/>
            <a:ext cx="8219256" cy="324036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3200"/>
              <a:buFont typeface="Calibri"/>
              <a:buNone/>
            </a:pPr>
            <a:r>
              <a:rPr b="1" lang="en-GB" sz="3200"/>
              <a:t>KWAME NKRUMAH UNIVERSITY OF SCIENCE AND TECHNOLOGY, KUMASI</a:t>
            </a:r>
            <a:br>
              <a:rPr lang="en-GB" sz="2800"/>
            </a:br>
            <a:br>
              <a:rPr lang="en-GB" sz="2800"/>
            </a:br>
            <a:r>
              <a:rPr b="1" lang="en-GB" sz="2800"/>
              <a:t>COLLEGE OF ENGINEERING</a:t>
            </a:r>
            <a:br>
              <a:rPr b="1" lang="en-GB" sz="2800"/>
            </a:br>
            <a:br>
              <a:rPr b="1" lang="en-GB" sz="2800"/>
            </a:br>
            <a:r>
              <a:rPr b="1" lang="en-GB" sz="2800"/>
              <a:t>DEPARTMENT OF AGRICULTURAL &amp; BIOSYSTEMS ENGINEERING</a:t>
            </a:r>
            <a:endParaRPr sz="2800"/>
          </a:p>
        </p:txBody>
      </p:sp>
      <p:sp>
        <p:nvSpPr>
          <p:cNvPr id="98" name="Google Shape;98;p1"/>
          <p:cNvSpPr txBox="1"/>
          <p:nvPr>
            <p:ph idx="1" type="body"/>
          </p:nvPr>
        </p:nvSpPr>
        <p:spPr>
          <a:xfrm>
            <a:off x="395536" y="3396133"/>
            <a:ext cx="8229600" cy="3849291"/>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4560"/>
              <a:buNone/>
            </a:pPr>
            <a:r>
              <a:t/>
            </a:r>
            <a:endParaRPr b="1" sz="4800"/>
          </a:p>
          <a:p>
            <a:pPr indent="0" lvl="0" marL="0" rtl="0" algn="ctr">
              <a:spcBef>
                <a:spcPts val="960"/>
              </a:spcBef>
              <a:spcAft>
                <a:spcPts val="0"/>
              </a:spcAft>
              <a:buSzPts val="4560"/>
              <a:buNone/>
            </a:pPr>
            <a:r>
              <a:rPr b="1" lang="en-GB" sz="4800">
                <a:solidFill>
                  <a:srgbClr val="3D10BC"/>
                </a:solidFill>
              </a:rPr>
              <a:t>ENGINEERING IN SOCIETY</a:t>
            </a:r>
            <a:endParaRPr/>
          </a:p>
          <a:p>
            <a:pPr indent="0" lvl="0" marL="0" rtl="0" algn="ctr">
              <a:spcBef>
                <a:spcPts val="960"/>
              </a:spcBef>
              <a:spcAft>
                <a:spcPts val="0"/>
              </a:spcAft>
              <a:buSzPts val="4560"/>
              <a:buNone/>
            </a:pPr>
            <a:r>
              <a:rPr b="1" lang="en-GB" sz="4800">
                <a:solidFill>
                  <a:srgbClr val="3D10BC"/>
                </a:solidFill>
              </a:rPr>
              <a:t>CENG 291</a:t>
            </a:r>
            <a:endParaRPr b="1" sz="4800">
              <a:solidFill>
                <a:srgbClr val="3D10BC"/>
              </a:solidFill>
            </a:endParaRPr>
          </a:p>
        </p:txBody>
      </p:sp>
      <p:sp>
        <p:nvSpPr>
          <p:cNvPr id="99" name="Google Shape;99;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457200" y="0"/>
            <a:ext cx="8229600" cy="692696"/>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onstantia"/>
              <a:buNone/>
            </a:pPr>
            <a:r>
              <a:rPr lang="en-GB">
                <a:latin typeface="Constantia"/>
                <a:ea typeface="Constantia"/>
                <a:cs typeface="Constantia"/>
                <a:sym typeface="Constantia"/>
              </a:rPr>
              <a:t>COURSE OBJECTIVES</a:t>
            </a:r>
            <a:endParaRPr>
              <a:latin typeface="Constantia"/>
              <a:ea typeface="Constantia"/>
              <a:cs typeface="Constantia"/>
              <a:sym typeface="Constantia"/>
            </a:endParaRPr>
          </a:p>
        </p:txBody>
      </p:sp>
      <p:sp>
        <p:nvSpPr>
          <p:cNvPr id="105" name="Google Shape;105;p2"/>
          <p:cNvSpPr txBox="1"/>
          <p:nvPr>
            <p:ph idx="1" type="body"/>
          </p:nvPr>
        </p:nvSpPr>
        <p:spPr>
          <a:xfrm>
            <a:off x="107504" y="980728"/>
            <a:ext cx="9036496" cy="5616624"/>
          </a:xfrm>
          <a:prstGeom prst="rect">
            <a:avLst/>
          </a:prstGeom>
          <a:noFill/>
          <a:ln>
            <a:noFill/>
          </a:ln>
        </p:spPr>
        <p:txBody>
          <a:bodyPr anchorCtr="0" anchor="t" bIns="45700" lIns="91425" spcFirstLastPara="1" rIns="91425" wrap="square" tIns="45700">
            <a:normAutofit/>
          </a:bodyPr>
          <a:lstStyle/>
          <a:p>
            <a:pPr indent="-274320" lvl="0" marL="274320" rtl="0" algn="just">
              <a:lnSpc>
                <a:spcPct val="150000"/>
              </a:lnSpc>
              <a:spcBef>
                <a:spcPts val="0"/>
              </a:spcBef>
              <a:spcAft>
                <a:spcPts val="0"/>
              </a:spcAft>
              <a:buSzPts val="2470"/>
              <a:buChar char="⚫"/>
            </a:pPr>
            <a:r>
              <a:rPr lang="en-GB"/>
              <a:t>To aid students appreciate the purpose of engineering to solve societal problems</a:t>
            </a:r>
            <a:endParaRPr/>
          </a:p>
          <a:p>
            <a:pPr indent="-274320" lvl="0" marL="274320" rtl="0" algn="just">
              <a:lnSpc>
                <a:spcPct val="150000"/>
              </a:lnSpc>
              <a:spcBef>
                <a:spcPts val="520"/>
              </a:spcBef>
              <a:spcAft>
                <a:spcPts val="0"/>
              </a:spcAft>
              <a:buSzPts val="2470"/>
              <a:buChar char="⚫"/>
            </a:pPr>
            <a:r>
              <a:rPr lang="en-GB"/>
              <a:t>To draw a link between agricultural engineering and its application to societal problems</a:t>
            </a:r>
            <a:endParaRPr/>
          </a:p>
          <a:p>
            <a:pPr indent="-274320" lvl="0" marL="274320" rtl="0" algn="just">
              <a:lnSpc>
                <a:spcPct val="150000"/>
              </a:lnSpc>
              <a:spcBef>
                <a:spcPts val="560"/>
              </a:spcBef>
              <a:spcAft>
                <a:spcPts val="0"/>
              </a:spcAft>
              <a:buSzPts val="2660"/>
              <a:buChar char="⚫"/>
            </a:pPr>
            <a:r>
              <a:rPr lang="en-GB" sz="2800"/>
              <a:t>To professionally and ethically prepare students for their chosen engineering field.</a:t>
            </a:r>
            <a:endParaRPr/>
          </a:p>
          <a:p>
            <a:pPr indent="-274320" lvl="0" marL="274320" rtl="0" algn="just">
              <a:lnSpc>
                <a:spcPct val="150000"/>
              </a:lnSpc>
              <a:spcBef>
                <a:spcPts val="520"/>
              </a:spcBef>
              <a:spcAft>
                <a:spcPts val="0"/>
              </a:spcAft>
              <a:buSzPts val="2470"/>
              <a:buChar char="⚫"/>
            </a:pPr>
            <a:r>
              <a:rPr lang="en-GB"/>
              <a:t>To develop applicable communication, reasoning and reflection skills.</a:t>
            </a:r>
            <a:endParaRPr/>
          </a:p>
        </p:txBody>
      </p:sp>
      <p:sp>
        <p:nvSpPr>
          <p:cNvPr id="106" name="Google Shape;106;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457200" y="274638"/>
            <a:ext cx="8229600" cy="77809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800"/>
              <a:buFont typeface="Constantia"/>
              <a:buNone/>
            </a:pPr>
            <a:r>
              <a:rPr lang="en-GB" sz="4800">
                <a:latin typeface="Constantia"/>
                <a:ea typeface="Constantia"/>
                <a:cs typeface="Constantia"/>
                <a:sym typeface="Constantia"/>
              </a:rPr>
              <a:t>COURSE OUTLINE</a:t>
            </a:r>
            <a:endParaRPr sz="4800">
              <a:latin typeface="Constantia"/>
              <a:ea typeface="Constantia"/>
              <a:cs typeface="Constantia"/>
              <a:sym typeface="Constantia"/>
            </a:endParaRPr>
          </a:p>
        </p:txBody>
      </p:sp>
      <p:sp>
        <p:nvSpPr>
          <p:cNvPr id="112" name="Google Shape;112;p3"/>
          <p:cNvSpPr txBox="1"/>
          <p:nvPr>
            <p:ph idx="1" type="body"/>
          </p:nvPr>
        </p:nvSpPr>
        <p:spPr>
          <a:xfrm>
            <a:off x="251520" y="1124744"/>
            <a:ext cx="8568952" cy="5733256"/>
          </a:xfrm>
          <a:prstGeom prst="rect">
            <a:avLst/>
          </a:prstGeom>
          <a:noFill/>
          <a:ln>
            <a:noFill/>
          </a:ln>
        </p:spPr>
        <p:txBody>
          <a:bodyPr anchorCtr="0" anchor="t" bIns="45700" lIns="91425" spcFirstLastPara="1" rIns="91425" wrap="square" tIns="45700">
            <a:noAutofit/>
          </a:bodyPr>
          <a:lstStyle/>
          <a:p>
            <a:pPr indent="-274320" lvl="0" marL="274320" rtl="0" algn="just">
              <a:lnSpc>
                <a:spcPct val="150000"/>
              </a:lnSpc>
              <a:spcBef>
                <a:spcPts val="0"/>
              </a:spcBef>
              <a:spcAft>
                <a:spcPts val="0"/>
              </a:spcAft>
              <a:buSzPts val="3420"/>
              <a:buChar char="⚫"/>
            </a:pPr>
            <a:r>
              <a:rPr lang="en-GB" sz="3600"/>
              <a:t>Ethics and Professionalism</a:t>
            </a:r>
            <a:endParaRPr/>
          </a:p>
          <a:p>
            <a:pPr indent="-274320" lvl="0" marL="274320" rtl="0" algn="just">
              <a:lnSpc>
                <a:spcPct val="150000"/>
              </a:lnSpc>
              <a:spcBef>
                <a:spcPts val="720"/>
              </a:spcBef>
              <a:spcAft>
                <a:spcPts val="0"/>
              </a:spcAft>
              <a:buSzPts val="3420"/>
              <a:buChar char="⚫"/>
            </a:pPr>
            <a:r>
              <a:rPr lang="en-GB" sz="3600"/>
              <a:t>Moral Reasoning and Codes of Ethics</a:t>
            </a:r>
            <a:endParaRPr/>
          </a:p>
          <a:p>
            <a:pPr indent="-274320" lvl="0" marL="274320" rtl="0" algn="just">
              <a:lnSpc>
                <a:spcPct val="150000"/>
              </a:lnSpc>
              <a:spcBef>
                <a:spcPts val="720"/>
              </a:spcBef>
              <a:spcAft>
                <a:spcPts val="0"/>
              </a:spcAft>
              <a:buSzPts val="3420"/>
              <a:buChar char="⚫"/>
            </a:pPr>
            <a:r>
              <a:rPr lang="en-GB" sz="3600"/>
              <a:t>Moral Frameworks</a:t>
            </a:r>
            <a:endParaRPr/>
          </a:p>
          <a:p>
            <a:pPr indent="-274320" lvl="0" marL="274320" rtl="0" algn="just">
              <a:lnSpc>
                <a:spcPct val="150000"/>
              </a:lnSpc>
              <a:spcBef>
                <a:spcPts val="720"/>
              </a:spcBef>
              <a:spcAft>
                <a:spcPts val="0"/>
              </a:spcAft>
              <a:buSzPts val="3420"/>
              <a:buChar char="⚫"/>
            </a:pPr>
            <a:r>
              <a:rPr lang="en-GB" sz="3600"/>
              <a:t>Commitment to Safety</a:t>
            </a:r>
            <a:endParaRPr/>
          </a:p>
          <a:p>
            <a:pPr indent="-274320" lvl="0" marL="274320" rtl="0" algn="just">
              <a:lnSpc>
                <a:spcPct val="150000"/>
              </a:lnSpc>
              <a:spcBef>
                <a:spcPts val="720"/>
              </a:spcBef>
              <a:spcAft>
                <a:spcPts val="0"/>
              </a:spcAft>
              <a:buSzPts val="3420"/>
              <a:buChar char="⚫"/>
            </a:pPr>
            <a:r>
              <a:rPr lang="en-GB" sz="3600"/>
              <a:t>Workplace Responsibilities and Rights</a:t>
            </a:r>
            <a:endParaRPr/>
          </a:p>
        </p:txBody>
      </p:sp>
      <p:sp>
        <p:nvSpPr>
          <p:cNvPr id="113" name="Google Shape;113;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251520" y="404664"/>
            <a:ext cx="8229600" cy="79208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800"/>
              <a:buFont typeface="Constantia"/>
              <a:buNone/>
            </a:pPr>
            <a:r>
              <a:rPr lang="en-GB" sz="4800">
                <a:latin typeface="Constantia"/>
                <a:ea typeface="Constantia"/>
                <a:cs typeface="Constantia"/>
                <a:sym typeface="Constantia"/>
              </a:rPr>
              <a:t>COURSE OUTLINE</a:t>
            </a:r>
            <a:endParaRPr sz="4800">
              <a:latin typeface="Constantia"/>
              <a:ea typeface="Constantia"/>
              <a:cs typeface="Constantia"/>
              <a:sym typeface="Constantia"/>
            </a:endParaRPr>
          </a:p>
        </p:txBody>
      </p:sp>
      <p:sp>
        <p:nvSpPr>
          <p:cNvPr id="119" name="Google Shape;119;p4"/>
          <p:cNvSpPr txBox="1"/>
          <p:nvPr>
            <p:ph idx="1" type="body"/>
          </p:nvPr>
        </p:nvSpPr>
        <p:spPr>
          <a:xfrm>
            <a:off x="457200" y="1412776"/>
            <a:ext cx="8229600" cy="5328592"/>
          </a:xfrm>
          <a:prstGeom prst="rect">
            <a:avLst/>
          </a:prstGeom>
          <a:noFill/>
          <a:ln>
            <a:noFill/>
          </a:ln>
        </p:spPr>
        <p:txBody>
          <a:bodyPr anchorCtr="0" anchor="t" bIns="45700" lIns="91425" spcFirstLastPara="1" rIns="91425" wrap="square" tIns="45700">
            <a:normAutofit/>
          </a:bodyPr>
          <a:lstStyle/>
          <a:p>
            <a:pPr indent="-274320" lvl="0" marL="274320" rtl="0" algn="just">
              <a:lnSpc>
                <a:spcPct val="150000"/>
              </a:lnSpc>
              <a:spcBef>
                <a:spcPts val="0"/>
              </a:spcBef>
              <a:spcAft>
                <a:spcPts val="0"/>
              </a:spcAft>
              <a:buSzPts val="3040"/>
              <a:buChar char="⚫"/>
            </a:pPr>
            <a:r>
              <a:rPr lang="en-GB" sz="3200"/>
              <a:t>Workplace Responsibilities and Rights</a:t>
            </a:r>
            <a:endParaRPr/>
          </a:p>
          <a:p>
            <a:pPr indent="-274320" lvl="0" marL="274320" rtl="0" algn="just">
              <a:lnSpc>
                <a:spcPct val="150000"/>
              </a:lnSpc>
              <a:spcBef>
                <a:spcPts val="640"/>
              </a:spcBef>
              <a:spcAft>
                <a:spcPts val="0"/>
              </a:spcAft>
              <a:buSzPts val="3040"/>
              <a:buChar char="⚫"/>
            </a:pPr>
            <a:r>
              <a:rPr lang="en-GB" sz="3200"/>
              <a:t>Honesty and Integrity</a:t>
            </a:r>
            <a:endParaRPr/>
          </a:p>
          <a:p>
            <a:pPr indent="-274320" lvl="0" marL="274320" rtl="0" algn="just">
              <a:lnSpc>
                <a:spcPct val="150000"/>
              </a:lnSpc>
              <a:spcBef>
                <a:spcPts val="640"/>
              </a:spcBef>
              <a:spcAft>
                <a:spcPts val="0"/>
              </a:spcAft>
              <a:buSzPts val="3040"/>
              <a:buChar char="⚫"/>
            </a:pPr>
            <a:r>
              <a:rPr lang="en-GB" sz="3200"/>
              <a:t>Code of Ethics and Disciplinary Procedure of Ghana Institutions of Engineers (GHIE)</a:t>
            </a:r>
            <a:endParaRPr/>
          </a:p>
          <a:p>
            <a:pPr indent="-274320" lvl="0" marL="274320" rtl="0" algn="just">
              <a:lnSpc>
                <a:spcPct val="150000"/>
              </a:lnSpc>
              <a:spcBef>
                <a:spcPts val="640"/>
              </a:spcBef>
              <a:spcAft>
                <a:spcPts val="0"/>
              </a:spcAft>
              <a:buSzPts val="3040"/>
              <a:buChar char="⚫"/>
            </a:pPr>
            <a:r>
              <a:rPr lang="en-GB" sz="3200"/>
              <a:t>The Canons of Engineering and Code of Ethics of the Professional Disciplines</a:t>
            </a:r>
            <a:endParaRPr/>
          </a:p>
          <a:p>
            <a:pPr indent="0" lvl="0" marL="0" rtl="0" algn="just">
              <a:lnSpc>
                <a:spcPct val="150000"/>
              </a:lnSpc>
              <a:spcBef>
                <a:spcPts val="640"/>
              </a:spcBef>
              <a:spcAft>
                <a:spcPts val="0"/>
              </a:spcAft>
              <a:buSzPts val="3040"/>
              <a:buNone/>
            </a:pPr>
            <a:r>
              <a:t/>
            </a:r>
            <a:endParaRPr sz="3200"/>
          </a:p>
        </p:txBody>
      </p:sp>
      <p:sp>
        <p:nvSpPr>
          <p:cNvPr id="120" name="Google Shape;120;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385192" y="548680"/>
            <a:ext cx="8229600" cy="852704"/>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onstantia"/>
              <a:buNone/>
            </a:pPr>
            <a:r>
              <a:rPr lang="en-GB" sz="4000">
                <a:latin typeface="Constantia"/>
                <a:ea typeface="Constantia"/>
                <a:cs typeface="Constantia"/>
                <a:sym typeface="Constantia"/>
              </a:rPr>
              <a:t>UNIT 1     ETHICS AND PROFESSIONALISM</a:t>
            </a:r>
            <a:endParaRPr sz="4000">
              <a:latin typeface="Constantia"/>
              <a:ea typeface="Constantia"/>
              <a:cs typeface="Constantia"/>
              <a:sym typeface="Constantia"/>
            </a:endParaRPr>
          </a:p>
        </p:txBody>
      </p:sp>
      <p:sp>
        <p:nvSpPr>
          <p:cNvPr id="126" name="Google Shape;126;p5"/>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a:p>
            <a:pPr indent="0" lvl="0" marL="0" rtl="0" algn="l">
              <a:spcBef>
                <a:spcPts val="520"/>
              </a:spcBef>
              <a:spcAft>
                <a:spcPts val="0"/>
              </a:spcAft>
              <a:buSzPts val="2470"/>
              <a:buNone/>
            </a:pPr>
            <a:r>
              <a:t/>
            </a:r>
            <a:endParaRPr/>
          </a:p>
        </p:txBody>
      </p:sp>
      <p:sp>
        <p:nvSpPr>
          <p:cNvPr id="127" name="Google Shape;127;p5"/>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p:txBody>
      </p:sp>
      <p:pic>
        <p:nvPicPr>
          <p:cNvPr id="128" name="Google Shape;128;p5"/>
          <p:cNvPicPr preferRelativeResize="0"/>
          <p:nvPr/>
        </p:nvPicPr>
        <p:blipFill rotWithShape="1">
          <a:blip r:embed="rId3">
            <a:alphaModFix/>
          </a:blip>
          <a:srcRect b="0" l="0" r="0" t="0"/>
          <a:stretch/>
        </p:blipFill>
        <p:spPr>
          <a:xfrm>
            <a:off x="323528" y="1916832"/>
            <a:ext cx="4176464" cy="4320480"/>
          </a:xfrm>
          <a:prstGeom prst="rect">
            <a:avLst/>
          </a:prstGeom>
          <a:noFill/>
          <a:ln>
            <a:noFill/>
          </a:ln>
        </p:spPr>
      </p:pic>
      <p:pic>
        <p:nvPicPr>
          <p:cNvPr id="129" name="Google Shape;129;p5"/>
          <p:cNvPicPr preferRelativeResize="0"/>
          <p:nvPr/>
        </p:nvPicPr>
        <p:blipFill rotWithShape="1">
          <a:blip r:embed="rId4">
            <a:alphaModFix/>
          </a:blip>
          <a:srcRect b="0" l="0" r="0" t="0"/>
          <a:stretch/>
        </p:blipFill>
        <p:spPr>
          <a:xfrm>
            <a:off x="4788024" y="2060848"/>
            <a:ext cx="3807681" cy="4464496"/>
          </a:xfrm>
          <a:prstGeom prst="rect">
            <a:avLst/>
          </a:prstGeom>
          <a:noFill/>
          <a:ln>
            <a:noFill/>
          </a:ln>
        </p:spPr>
      </p:pic>
      <p:sp>
        <p:nvSpPr>
          <p:cNvPr id="130" name="Google Shape;130;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457200" y="476672"/>
            <a:ext cx="8229600" cy="936104"/>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ETHICS</a:t>
            </a:r>
            <a:endParaRPr sz="4400">
              <a:latin typeface="Constantia"/>
              <a:ea typeface="Constantia"/>
              <a:cs typeface="Constantia"/>
              <a:sym typeface="Constantia"/>
            </a:endParaRPr>
          </a:p>
        </p:txBody>
      </p:sp>
      <p:sp>
        <p:nvSpPr>
          <p:cNvPr id="136" name="Google Shape;136;p6"/>
          <p:cNvSpPr txBox="1"/>
          <p:nvPr>
            <p:ph idx="1" type="body"/>
          </p:nvPr>
        </p:nvSpPr>
        <p:spPr>
          <a:xfrm>
            <a:off x="395536" y="1484784"/>
            <a:ext cx="8291264" cy="4839816"/>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3040"/>
              <a:buFont typeface="Noto Sans Symbols"/>
              <a:buChar char="❑"/>
            </a:pPr>
            <a:r>
              <a:rPr lang="en-GB" sz="3200">
                <a:solidFill>
                  <a:srgbClr val="3D10BC"/>
                </a:solidFill>
              </a:rPr>
              <a:t>What are </a:t>
            </a:r>
            <a:r>
              <a:rPr b="1" i="1" lang="en-GB" sz="3200">
                <a:solidFill>
                  <a:srgbClr val="3D10BC"/>
                </a:solidFill>
              </a:rPr>
              <a:t>ethics</a:t>
            </a:r>
            <a:r>
              <a:rPr lang="en-GB" sz="3200">
                <a:solidFill>
                  <a:srgbClr val="3D10BC"/>
                </a:solidFill>
              </a:rPr>
              <a:t>?</a:t>
            </a:r>
            <a:endParaRPr/>
          </a:p>
          <a:p>
            <a:pPr indent="0" lvl="0" marL="0" rtl="0" algn="just">
              <a:lnSpc>
                <a:spcPct val="150000"/>
              </a:lnSpc>
              <a:spcBef>
                <a:spcPts val="520"/>
              </a:spcBef>
              <a:spcAft>
                <a:spcPts val="0"/>
              </a:spcAft>
              <a:buSzPts val="2470"/>
              <a:buNone/>
            </a:pPr>
            <a:r>
              <a:rPr lang="en-GB"/>
              <a:t>Moral values that are sound, actions that are morally right, policies and laws that are desirable.</a:t>
            </a:r>
            <a:endParaRPr/>
          </a:p>
          <a:p>
            <a:pPr indent="0" lvl="0" marL="0" rtl="0" algn="just">
              <a:spcBef>
                <a:spcPts val="520"/>
              </a:spcBef>
              <a:spcAft>
                <a:spcPts val="0"/>
              </a:spcAft>
              <a:buSzPts val="2470"/>
              <a:buNone/>
            </a:pPr>
            <a:r>
              <a:t/>
            </a:r>
            <a:endParaRPr/>
          </a:p>
          <a:p>
            <a:pPr indent="-274320" lvl="0" marL="274320" rtl="0" algn="just">
              <a:spcBef>
                <a:spcPts val="640"/>
              </a:spcBef>
              <a:spcAft>
                <a:spcPts val="0"/>
              </a:spcAft>
              <a:buSzPts val="3040"/>
              <a:buFont typeface="Noto Sans Symbols"/>
              <a:buChar char="❑"/>
            </a:pPr>
            <a:r>
              <a:rPr lang="en-GB" sz="3200">
                <a:solidFill>
                  <a:srgbClr val="3D10BC"/>
                </a:solidFill>
              </a:rPr>
              <a:t>What are </a:t>
            </a:r>
            <a:r>
              <a:rPr b="1" i="1" lang="en-GB" sz="3200">
                <a:solidFill>
                  <a:srgbClr val="3D10BC"/>
                </a:solidFill>
              </a:rPr>
              <a:t>engineering ethics</a:t>
            </a:r>
            <a:r>
              <a:rPr lang="en-GB" sz="3200">
                <a:solidFill>
                  <a:srgbClr val="3D10BC"/>
                </a:solidFill>
              </a:rPr>
              <a:t>?</a:t>
            </a:r>
            <a:endParaRPr/>
          </a:p>
          <a:p>
            <a:pPr indent="0" lvl="0" marL="0" rtl="0" algn="just">
              <a:lnSpc>
                <a:spcPct val="150000"/>
              </a:lnSpc>
              <a:spcBef>
                <a:spcPts val="520"/>
              </a:spcBef>
              <a:spcAft>
                <a:spcPts val="0"/>
              </a:spcAft>
              <a:buSzPts val="2470"/>
              <a:buNone/>
            </a:pPr>
            <a:r>
              <a:rPr lang="en-GB"/>
              <a:t>Responsibilities and rights that ought to be endorsed by those engaged in engineering, and also of desirable ideals and personal commitments in engineering.</a:t>
            </a:r>
            <a:endParaRPr/>
          </a:p>
        </p:txBody>
      </p:sp>
      <p:sp>
        <p:nvSpPr>
          <p:cNvPr id="137" name="Google Shape;137;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7"/>
          <p:cNvSpPr txBox="1"/>
          <p:nvPr>
            <p:ph type="title"/>
          </p:nvPr>
        </p:nvSpPr>
        <p:spPr>
          <a:xfrm>
            <a:off x="457200" y="476672"/>
            <a:ext cx="8229600" cy="792088"/>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ETHICS</a:t>
            </a:r>
            <a:endParaRPr sz="4400">
              <a:latin typeface="Constantia"/>
              <a:ea typeface="Constantia"/>
              <a:cs typeface="Constantia"/>
              <a:sym typeface="Constantia"/>
            </a:endParaRPr>
          </a:p>
        </p:txBody>
      </p:sp>
      <p:sp>
        <p:nvSpPr>
          <p:cNvPr id="143" name="Google Shape;143;p7"/>
          <p:cNvSpPr txBox="1"/>
          <p:nvPr>
            <p:ph idx="1" type="body"/>
          </p:nvPr>
        </p:nvSpPr>
        <p:spPr>
          <a:xfrm>
            <a:off x="395536" y="1628800"/>
            <a:ext cx="8291264" cy="4767808"/>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3040"/>
              <a:buFont typeface="Noto Sans Symbols"/>
              <a:buChar char="❑"/>
            </a:pPr>
            <a:r>
              <a:rPr i="1" lang="en-GB" sz="3200">
                <a:solidFill>
                  <a:srgbClr val="3D10BC"/>
                </a:solidFill>
              </a:rPr>
              <a:t>Why study engineering ethics?</a:t>
            </a:r>
            <a:endParaRPr/>
          </a:p>
          <a:p>
            <a:pPr indent="-274320" lvl="0" marL="274320" rtl="0" algn="just">
              <a:lnSpc>
                <a:spcPct val="150000"/>
              </a:lnSpc>
              <a:spcBef>
                <a:spcPts val="520"/>
              </a:spcBef>
              <a:spcAft>
                <a:spcPts val="0"/>
              </a:spcAft>
              <a:buSzPts val="2470"/>
              <a:buChar char="⚫"/>
            </a:pPr>
            <a:r>
              <a:rPr lang="en-GB"/>
              <a:t>Contribute to safe and useful technological products</a:t>
            </a:r>
            <a:endParaRPr/>
          </a:p>
          <a:p>
            <a:pPr indent="-274320" lvl="0" marL="274320" rtl="0" algn="just">
              <a:lnSpc>
                <a:spcPct val="150000"/>
              </a:lnSpc>
              <a:spcBef>
                <a:spcPts val="520"/>
              </a:spcBef>
              <a:spcAft>
                <a:spcPts val="0"/>
              </a:spcAft>
              <a:buSzPts val="2470"/>
              <a:buChar char="⚫"/>
            </a:pPr>
            <a:r>
              <a:rPr lang="en-GB"/>
              <a:t>Gives meaning to engineers’ endeavours</a:t>
            </a:r>
            <a:endParaRPr/>
          </a:p>
          <a:p>
            <a:pPr indent="-274320" lvl="0" marL="274320" rtl="0" algn="just">
              <a:lnSpc>
                <a:spcPct val="150000"/>
              </a:lnSpc>
              <a:spcBef>
                <a:spcPts val="520"/>
              </a:spcBef>
              <a:spcAft>
                <a:spcPts val="0"/>
              </a:spcAft>
              <a:buSzPts val="2470"/>
              <a:buChar char="⚫"/>
            </a:pPr>
            <a:r>
              <a:rPr lang="en-GB"/>
              <a:t>Strengthens one’s ability to reason clearly and carefully about moral questions</a:t>
            </a:r>
            <a:endParaRPr/>
          </a:p>
          <a:p>
            <a:pPr indent="-274320" lvl="0" marL="274320" rtl="0" algn="just">
              <a:lnSpc>
                <a:spcPct val="150000"/>
              </a:lnSpc>
              <a:spcBef>
                <a:spcPts val="520"/>
              </a:spcBef>
              <a:spcAft>
                <a:spcPts val="0"/>
              </a:spcAft>
              <a:buSzPts val="2470"/>
              <a:buChar char="⚫"/>
            </a:pPr>
            <a:r>
              <a:rPr lang="en-GB"/>
              <a:t>Increases </a:t>
            </a:r>
            <a:r>
              <a:rPr b="1" lang="en-GB"/>
              <a:t>moral autonomy</a:t>
            </a:r>
            <a:r>
              <a:rPr lang="en-GB"/>
              <a:t> (self-determining or independent)</a:t>
            </a:r>
            <a:endParaRPr/>
          </a:p>
          <a:p>
            <a:pPr indent="0" lvl="0" marL="0" rtl="0" algn="just">
              <a:spcBef>
                <a:spcPts val="520"/>
              </a:spcBef>
              <a:spcAft>
                <a:spcPts val="0"/>
              </a:spcAft>
              <a:buSzPts val="2470"/>
              <a:buNone/>
            </a:pPr>
            <a:r>
              <a:t/>
            </a:r>
            <a:endParaRPr b="1"/>
          </a:p>
        </p:txBody>
      </p:sp>
      <p:sp>
        <p:nvSpPr>
          <p:cNvPr id="144" name="Google Shape;144;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txBox="1"/>
          <p:nvPr>
            <p:ph type="title"/>
          </p:nvPr>
        </p:nvSpPr>
        <p:spPr>
          <a:xfrm>
            <a:off x="457200" y="0"/>
            <a:ext cx="8229600" cy="836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onstantia"/>
              <a:buNone/>
            </a:pPr>
            <a:r>
              <a:rPr lang="en-GB" sz="4500">
                <a:latin typeface="Constantia"/>
                <a:ea typeface="Constantia"/>
                <a:cs typeface="Constantia"/>
                <a:sym typeface="Constantia"/>
              </a:rPr>
              <a:t>ETHICS</a:t>
            </a:r>
            <a:endParaRPr sz="4500">
              <a:latin typeface="Constantia"/>
              <a:ea typeface="Constantia"/>
              <a:cs typeface="Constantia"/>
              <a:sym typeface="Constantia"/>
            </a:endParaRPr>
          </a:p>
        </p:txBody>
      </p:sp>
      <p:sp>
        <p:nvSpPr>
          <p:cNvPr id="150" name="Google Shape;150;p8"/>
          <p:cNvSpPr txBox="1"/>
          <p:nvPr>
            <p:ph idx="1" type="body"/>
          </p:nvPr>
        </p:nvSpPr>
        <p:spPr>
          <a:xfrm>
            <a:off x="179512" y="836712"/>
            <a:ext cx="8784976" cy="590465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470"/>
              <a:buNone/>
            </a:pPr>
            <a:r>
              <a:rPr lang="en-GB">
                <a:solidFill>
                  <a:srgbClr val="3D10BC"/>
                </a:solidFill>
              </a:rPr>
              <a:t>Accepting and Sharing Responsibility</a:t>
            </a:r>
            <a:endParaRPr/>
          </a:p>
          <a:p>
            <a:pPr indent="0" lvl="0" marL="0" rtl="0" algn="l">
              <a:spcBef>
                <a:spcPts val="520"/>
              </a:spcBef>
              <a:spcAft>
                <a:spcPts val="0"/>
              </a:spcAft>
              <a:buSzPts val="2470"/>
              <a:buNone/>
            </a:pPr>
            <a:r>
              <a:t/>
            </a:r>
            <a:endParaRPr/>
          </a:p>
        </p:txBody>
      </p:sp>
      <p:pic>
        <p:nvPicPr>
          <p:cNvPr descr="C:\Users\michael\Downloads\chevron+bracing+CitiCorp.jpg" id="151" name="Google Shape;151;p8"/>
          <p:cNvPicPr preferRelativeResize="0"/>
          <p:nvPr/>
        </p:nvPicPr>
        <p:blipFill rotWithShape="1">
          <a:blip r:embed="rId3">
            <a:alphaModFix/>
          </a:blip>
          <a:srcRect b="0" l="0" r="0" t="0"/>
          <a:stretch/>
        </p:blipFill>
        <p:spPr>
          <a:xfrm>
            <a:off x="395536" y="1412776"/>
            <a:ext cx="8424936" cy="5184576"/>
          </a:xfrm>
          <a:prstGeom prst="rect">
            <a:avLst/>
          </a:prstGeom>
          <a:noFill/>
          <a:ln>
            <a:noFill/>
          </a:ln>
        </p:spPr>
      </p:pic>
      <p:sp>
        <p:nvSpPr>
          <p:cNvPr id="152" name="Google Shape;152;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9"/>
          <p:cNvSpPr txBox="1"/>
          <p:nvPr>
            <p:ph type="title"/>
          </p:nvPr>
        </p:nvSpPr>
        <p:spPr>
          <a:xfrm>
            <a:off x="457200" y="-27384"/>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GB">
                <a:latin typeface="Constantia"/>
                <a:ea typeface="Constantia"/>
                <a:cs typeface="Constantia"/>
                <a:sym typeface="Constantia"/>
              </a:rPr>
              <a:t>ETHICS</a:t>
            </a:r>
            <a:endParaRPr>
              <a:latin typeface="Constantia"/>
              <a:ea typeface="Constantia"/>
              <a:cs typeface="Constantia"/>
              <a:sym typeface="Constantia"/>
            </a:endParaRPr>
          </a:p>
        </p:txBody>
      </p:sp>
      <p:sp>
        <p:nvSpPr>
          <p:cNvPr id="158" name="Google Shape;158;p9"/>
          <p:cNvSpPr txBox="1"/>
          <p:nvPr>
            <p:ph idx="1" type="body"/>
          </p:nvPr>
        </p:nvSpPr>
        <p:spPr>
          <a:xfrm>
            <a:off x="457200" y="1268760"/>
            <a:ext cx="8363272" cy="5256584"/>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95000"/>
              <a:buFont typeface="Noto Sans Symbols"/>
              <a:buChar char="❑"/>
            </a:pPr>
            <a:r>
              <a:rPr b="1" i="1" lang="en-GB" sz="3200">
                <a:solidFill>
                  <a:srgbClr val="3D10BC"/>
                </a:solidFill>
              </a:rPr>
              <a:t>Accepting and sharing responsibility</a:t>
            </a:r>
            <a:endParaRPr/>
          </a:p>
          <a:p>
            <a:pPr indent="-274320" lvl="0" marL="274320" rtl="0" algn="l">
              <a:lnSpc>
                <a:spcPct val="150000"/>
              </a:lnSpc>
              <a:spcBef>
                <a:spcPts val="481"/>
              </a:spcBef>
              <a:spcAft>
                <a:spcPts val="0"/>
              </a:spcAft>
              <a:buSzPct val="95000"/>
              <a:buChar char="⚫"/>
            </a:pPr>
            <a:r>
              <a:rPr lang="en-GB"/>
              <a:t>What does it mean to be responsible?</a:t>
            </a:r>
            <a:endParaRPr/>
          </a:p>
          <a:p>
            <a:pPr indent="-514350" lvl="0" marL="514350" rtl="0" algn="l">
              <a:lnSpc>
                <a:spcPct val="150000"/>
              </a:lnSpc>
              <a:spcBef>
                <a:spcPts val="481"/>
              </a:spcBef>
              <a:spcAft>
                <a:spcPts val="0"/>
              </a:spcAft>
              <a:buSzPct val="95000"/>
              <a:buFont typeface="Calibri"/>
              <a:buAutoNum type="arabicPeriod"/>
            </a:pPr>
            <a:r>
              <a:rPr lang="en-GB"/>
              <a:t>Obligations (the core idea around which all other senses revolve). Obligations are role responsibilities</a:t>
            </a:r>
            <a:endParaRPr/>
          </a:p>
          <a:p>
            <a:pPr indent="-514350" lvl="0" marL="514350" rtl="0" algn="l">
              <a:lnSpc>
                <a:spcPct val="150000"/>
              </a:lnSpc>
              <a:spcBef>
                <a:spcPts val="481"/>
              </a:spcBef>
              <a:spcAft>
                <a:spcPts val="0"/>
              </a:spcAft>
              <a:buSzPct val="95000"/>
              <a:buFont typeface="Calibri"/>
              <a:buAutoNum type="arabicPeriod"/>
            </a:pPr>
            <a:r>
              <a:rPr lang="en-GB"/>
              <a:t>Accountable (to be answerable to an obligation)</a:t>
            </a:r>
            <a:endParaRPr/>
          </a:p>
          <a:p>
            <a:pPr indent="-514350" lvl="0" marL="514350" rtl="0" algn="l">
              <a:lnSpc>
                <a:spcPct val="150000"/>
              </a:lnSpc>
              <a:spcBef>
                <a:spcPts val="481"/>
              </a:spcBef>
              <a:spcAft>
                <a:spcPts val="0"/>
              </a:spcAft>
              <a:buSzPct val="95000"/>
              <a:buFont typeface="Calibri"/>
              <a:buAutoNum type="arabicPeriod"/>
            </a:pPr>
            <a:r>
              <a:rPr lang="en-GB"/>
              <a:t>Conscientious (Acceptance of obligations and diligence in fulfilling them even under difficult circumstances.)</a:t>
            </a:r>
            <a:endParaRPr/>
          </a:p>
          <a:p>
            <a:pPr indent="-514350" lvl="0" marL="514350" rtl="0" algn="l">
              <a:lnSpc>
                <a:spcPct val="150000"/>
              </a:lnSpc>
              <a:spcBef>
                <a:spcPts val="481"/>
              </a:spcBef>
              <a:spcAft>
                <a:spcPts val="0"/>
              </a:spcAft>
              <a:buSzPct val="95000"/>
              <a:buFont typeface="Calibri"/>
              <a:buAutoNum type="arabicPeriod"/>
            </a:pPr>
            <a:r>
              <a:rPr lang="en-GB"/>
              <a:t>Blameworthy/Praiseworthy</a:t>
            </a:r>
            <a:endParaRPr/>
          </a:p>
          <a:p>
            <a:pPr indent="-369268" lvl="0" marL="514350" rtl="0" algn="l">
              <a:spcBef>
                <a:spcPts val="481"/>
              </a:spcBef>
              <a:spcAft>
                <a:spcPts val="0"/>
              </a:spcAft>
              <a:buSzPct val="95000"/>
              <a:buFont typeface="Calibri"/>
              <a:buNone/>
            </a:pPr>
            <a:r>
              <a:t/>
            </a:r>
            <a:endParaRPr/>
          </a:p>
        </p:txBody>
      </p:sp>
      <p:sp>
        <p:nvSpPr>
          <p:cNvPr id="159" name="Google Shape;159;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0"/>
          <p:cNvSpPr txBox="1"/>
          <p:nvPr>
            <p:ph type="title"/>
          </p:nvPr>
        </p:nvSpPr>
        <p:spPr>
          <a:xfrm>
            <a:off x="457200" y="548680"/>
            <a:ext cx="8229600" cy="64807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ETHICS</a:t>
            </a:r>
            <a:endParaRPr sz="4400">
              <a:latin typeface="Constantia"/>
              <a:ea typeface="Constantia"/>
              <a:cs typeface="Constantia"/>
              <a:sym typeface="Constantia"/>
            </a:endParaRPr>
          </a:p>
        </p:txBody>
      </p:sp>
      <p:sp>
        <p:nvSpPr>
          <p:cNvPr id="165" name="Google Shape;165;p10"/>
          <p:cNvSpPr txBox="1"/>
          <p:nvPr>
            <p:ph idx="1" type="body"/>
          </p:nvPr>
        </p:nvSpPr>
        <p:spPr>
          <a:xfrm>
            <a:off x="467544" y="1484784"/>
            <a:ext cx="8568952" cy="5400600"/>
          </a:xfrm>
          <a:prstGeom prst="rect">
            <a:avLst/>
          </a:prstGeom>
          <a:noFill/>
          <a:ln>
            <a:noFill/>
          </a:ln>
        </p:spPr>
        <p:txBody>
          <a:bodyPr anchorCtr="0" anchor="t" bIns="45700" lIns="91425" spcFirstLastPara="1" rIns="91425" wrap="square" tIns="45700">
            <a:normAutofit fontScale="92500"/>
          </a:bodyPr>
          <a:lstStyle/>
          <a:p>
            <a:pPr indent="-274320" lvl="0" marL="274320" rtl="0" algn="just">
              <a:spcBef>
                <a:spcPts val="0"/>
              </a:spcBef>
              <a:spcAft>
                <a:spcPts val="0"/>
              </a:spcAft>
              <a:buSzPct val="95000"/>
              <a:buFont typeface="Noto Sans Symbols"/>
              <a:buChar char="❑"/>
            </a:pPr>
            <a:r>
              <a:rPr i="1" lang="en-GB" sz="3200">
                <a:solidFill>
                  <a:srgbClr val="3D10BC"/>
                </a:solidFill>
              </a:rPr>
              <a:t>How to be morally autonomous or independent.</a:t>
            </a:r>
            <a:endParaRPr/>
          </a:p>
          <a:p>
            <a:pPr indent="-274320" lvl="0" marL="274320" rtl="0" algn="just">
              <a:lnSpc>
                <a:spcPct val="150000"/>
              </a:lnSpc>
              <a:spcBef>
                <a:spcPts val="481"/>
              </a:spcBef>
              <a:spcAft>
                <a:spcPts val="0"/>
              </a:spcAft>
              <a:buSzPct val="95000"/>
              <a:buChar char="⚫"/>
            </a:pPr>
            <a:r>
              <a:rPr lang="en-GB"/>
              <a:t>Moral awareness</a:t>
            </a:r>
            <a:endParaRPr/>
          </a:p>
          <a:p>
            <a:pPr indent="-274320" lvl="0" marL="274320" rtl="0" algn="just">
              <a:lnSpc>
                <a:spcPct val="150000"/>
              </a:lnSpc>
              <a:spcBef>
                <a:spcPts val="481"/>
              </a:spcBef>
              <a:spcAft>
                <a:spcPts val="0"/>
              </a:spcAft>
              <a:buSzPct val="95000"/>
              <a:buChar char="⚫"/>
            </a:pPr>
            <a:r>
              <a:rPr lang="en-GB"/>
              <a:t>Cogent moral reasoning</a:t>
            </a:r>
            <a:endParaRPr/>
          </a:p>
          <a:p>
            <a:pPr indent="-274320" lvl="0" marL="274320" rtl="0" algn="just">
              <a:lnSpc>
                <a:spcPct val="150000"/>
              </a:lnSpc>
              <a:spcBef>
                <a:spcPts val="481"/>
              </a:spcBef>
              <a:spcAft>
                <a:spcPts val="0"/>
              </a:spcAft>
              <a:buSzPct val="95000"/>
              <a:buChar char="⚫"/>
            </a:pPr>
            <a:r>
              <a:rPr lang="en-GB"/>
              <a:t>Moral coherence</a:t>
            </a:r>
            <a:endParaRPr/>
          </a:p>
          <a:p>
            <a:pPr indent="-274320" lvl="0" marL="274320" rtl="0" algn="just">
              <a:lnSpc>
                <a:spcPct val="150000"/>
              </a:lnSpc>
              <a:spcBef>
                <a:spcPts val="481"/>
              </a:spcBef>
              <a:spcAft>
                <a:spcPts val="0"/>
              </a:spcAft>
              <a:buSzPct val="95000"/>
              <a:buChar char="⚫"/>
            </a:pPr>
            <a:r>
              <a:rPr lang="en-GB"/>
              <a:t>Moral imagination</a:t>
            </a:r>
            <a:endParaRPr/>
          </a:p>
          <a:p>
            <a:pPr indent="-274320" lvl="0" marL="274320" rtl="0" algn="just">
              <a:lnSpc>
                <a:spcPct val="150000"/>
              </a:lnSpc>
              <a:spcBef>
                <a:spcPts val="481"/>
              </a:spcBef>
              <a:spcAft>
                <a:spcPts val="0"/>
              </a:spcAft>
              <a:buSzPct val="95000"/>
              <a:buChar char="⚫"/>
            </a:pPr>
            <a:r>
              <a:rPr lang="en-GB"/>
              <a:t>Moral communication</a:t>
            </a:r>
            <a:endParaRPr/>
          </a:p>
          <a:p>
            <a:pPr indent="-274320" lvl="0" marL="274320" rtl="0" algn="just">
              <a:lnSpc>
                <a:spcPct val="150000"/>
              </a:lnSpc>
              <a:spcBef>
                <a:spcPts val="481"/>
              </a:spcBef>
              <a:spcAft>
                <a:spcPts val="0"/>
              </a:spcAft>
              <a:buSzPct val="95000"/>
              <a:buChar char="⚫"/>
            </a:pPr>
            <a:r>
              <a:rPr lang="en-GB"/>
              <a:t>Respect for persons</a:t>
            </a:r>
            <a:endParaRPr/>
          </a:p>
          <a:p>
            <a:pPr indent="-274320" lvl="0" marL="274320" rtl="0" algn="just">
              <a:lnSpc>
                <a:spcPct val="150000"/>
              </a:lnSpc>
              <a:spcBef>
                <a:spcPts val="481"/>
              </a:spcBef>
              <a:spcAft>
                <a:spcPts val="0"/>
              </a:spcAft>
              <a:buSzPct val="95000"/>
              <a:buChar char="⚫"/>
            </a:pPr>
            <a:r>
              <a:rPr lang="en-GB"/>
              <a:t>Integrity</a:t>
            </a:r>
            <a:endParaRPr/>
          </a:p>
          <a:p>
            <a:pPr indent="-118078" lvl="0" marL="274320" rtl="0" algn="just">
              <a:spcBef>
                <a:spcPts val="518"/>
              </a:spcBef>
              <a:spcAft>
                <a:spcPts val="0"/>
              </a:spcAft>
              <a:buSzPct val="95000"/>
              <a:buNone/>
            </a:pPr>
            <a:r>
              <a:t/>
            </a:r>
            <a:endParaRPr sz="2800"/>
          </a:p>
          <a:p>
            <a:pPr indent="-129238" lvl="0" marL="274320" rtl="0" algn="just">
              <a:spcBef>
                <a:spcPts val="481"/>
              </a:spcBef>
              <a:spcAft>
                <a:spcPts val="0"/>
              </a:spcAft>
              <a:buSzPct val="95000"/>
              <a:buNone/>
            </a:pPr>
            <a:r>
              <a:t/>
            </a:r>
            <a:endParaRPr/>
          </a:p>
        </p:txBody>
      </p:sp>
      <p:sp>
        <p:nvSpPr>
          <p:cNvPr id="166" name="Google Shape;166;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txBox="1"/>
          <p:nvPr>
            <p:ph type="title"/>
          </p:nvPr>
        </p:nvSpPr>
        <p:spPr>
          <a:xfrm>
            <a:off x="323528" y="692696"/>
            <a:ext cx="8424936" cy="72008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400"/>
              <a:buFont typeface="Calibri"/>
              <a:buNone/>
            </a:pPr>
            <a:r>
              <a:rPr lang="en-GB" sz="4400"/>
              <a:t>CODE OF ETHICS OF ENGINEERS</a:t>
            </a:r>
            <a:br>
              <a:rPr lang="en-GB" sz="4400"/>
            </a:br>
            <a:r>
              <a:rPr lang="en-GB" sz="4400"/>
              <a:t> BY ASABE</a:t>
            </a:r>
            <a:endParaRPr sz="4400"/>
          </a:p>
        </p:txBody>
      </p:sp>
      <p:sp>
        <p:nvSpPr>
          <p:cNvPr id="172" name="Google Shape;172;p11"/>
          <p:cNvSpPr txBox="1"/>
          <p:nvPr>
            <p:ph idx="1" type="body"/>
          </p:nvPr>
        </p:nvSpPr>
        <p:spPr>
          <a:xfrm>
            <a:off x="251520" y="1412776"/>
            <a:ext cx="8568952" cy="540060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3040"/>
              <a:buFont typeface="Noto Sans Symbols"/>
              <a:buChar char="❑"/>
            </a:pPr>
            <a:r>
              <a:rPr b="1" i="1" lang="en-GB" sz="3200">
                <a:solidFill>
                  <a:srgbClr val="3D10BC"/>
                </a:solidFill>
              </a:rPr>
              <a:t>Fundamental Principles</a:t>
            </a:r>
            <a:endParaRPr/>
          </a:p>
          <a:p>
            <a:pPr indent="-274320" lvl="0" marL="274320" rtl="0" algn="just">
              <a:lnSpc>
                <a:spcPct val="150000"/>
              </a:lnSpc>
              <a:spcBef>
                <a:spcPts val="520"/>
              </a:spcBef>
              <a:spcAft>
                <a:spcPts val="0"/>
              </a:spcAft>
              <a:buSzPts val="2470"/>
              <a:buChar char="⚫"/>
            </a:pPr>
            <a:r>
              <a:rPr lang="en-GB"/>
              <a:t>Engineers must use their knowledge and skill for the enhancement of human welfare</a:t>
            </a:r>
            <a:endParaRPr/>
          </a:p>
          <a:p>
            <a:pPr indent="-274320" lvl="0" marL="274320" rtl="0" algn="just">
              <a:lnSpc>
                <a:spcPct val="150000"/>
              </a:lnSpc>
              <a:spcBef>
                <a:spcPts val="520"/>
              </a:spcBef>
              <a:spcAft>
                <a:spcPts val="0"/>
              </a:spcAft>
              <a:buSzPts val="2470"/>
              <a:buChar char="⚫"/>
            </a:pPr>
            <a:r>
              <a:rPr lang="en-GB"/>
              <a:t>Engineers must be honest and impartial, and serving with fidelity the public their employers and clients</a:t>
            </a:r>
            <a:endParaRPr/>
          </a:p>
          <a:p>
            <a:pPr indent="-274320" lvl="0" marL="274320" rtl="0" algn="just">
              <a:lnSpc>
                <a:spcPct val="150000"/>
              </a:lnSpc>
              <a:spcBef>
                <a:spcPts val="520"/>
              </a:spcBef>
              <a:spcAft>
                <a:spcPts val="0"/>
              </a:spcAft>
              <a:buSzPts val="2470"/>
              <a:buChar char="⚫"/>
            </a:pPr>
            <a:r>
              <a:rPr lang="en-GB"/>
              <a:t>Engineers must strive to increase the competence and prestige of the engineering profession</a:t>
            </a:r>
            <a:endParaRPr/>
          </a:p>
          <a:p>
            <a:pPr indent="-274320" lvl="0" marL="274320" rtl="0" algn="just">
              <a:lnSpc>
                <a:spcPct val="150000"/>
              </a:lnSpc>
              <a:spcBef>
                <a:spcPts val="520"/>
              </a:spcBef>
              <a:spcAft>
                <a:spcPts val="0"/>
              </a:spcAft>
              <a:buSzPts val="2470"/>
              <a:buChar char="⚫"/>
            </a:pPr>
            <a:r>
              <a:rPr lang="en-GB"/>
              <a:t>Engineers must support the professional and technical societies of their disciplines</a:t>
            </a:r>
            <a:endParaRPr/>
          </a:p>
          <a:p>
            <a:pPr indent="-117475" lvl="0" marL="274320" rtl="0" algn="just">
              <a:spcBef>
                <a:spcPts val="520"/>
              </a:spcBef>
              <a:spcAft>
                <a:spcPts val="0"/>
              </a:spcAft>
              <a:buSzPts val="2470"/>
              <a:buNone/>
            </a:pPr>
            <a:r>
              <a:t/>
            </a:r>
            <a:endParaRPr/>
          </a:p>
        </p:txBody>
      </p:sp>
      <p:sp>
        <p:nvSpPr>
          <p:cNvPr id="173" name="Google Shape;173;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2"/>
          <p:cNvSpPr txBox="1"/>
          <p:nvPr>
            <p:ph type="title"/>
          </p:nvPr>
        </p:nvSpPr>
        <p:spPr>
          <a:xfrm>
            <a:off x="457200" y="260648"/>
            <a:ext cx="8229600" cy="1008112"/>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GB" sz="4000"/>
              <a:t>CODE OF ETHICS OF ENGINEERS</a:t>
            </a:r>
            <a:br>
              <a:rPr lang="en-GB" sz="4000"/>
            </a:br>
            <a:r>
              <a:rPr lang="en-GB" sz="4000"/>
              <a:t> BY ASABE</a:t>
            </a:r>
            <a:endParaRPr/>
          </a:p>
        </p:txBody>
      </p:sp>
      <p:sp>
        <p:nvSpPr>
          <p:cNvPr id="179" name="Google Shape;179;p12"/>
          <p:cNvSpPr txBox="1"/>
          <p:nvPr>
            <p:ph idx="1" type="body"/>
          </p:nvPr>
        </p:nvSpPr>
        <p:spPr>
          <a:xfrm>
            <a:off x="107504" y="980728"/>
            <a:ext cx="9036496" cy="5760640"/>
          </a:xfrm>
          <a:prstGeom prst="rect">
            <a:avLst/>
          </a:prstGeom>
          <a:noFill/>
          <a:ln>
            <a:noFill/>
          </a:ln>
        </p:spPr>
        <p:txBody>
          <a:bodyPr anchorCtr="0" anchor="t" bIns="45700" lIns="91425" spcFirstLastPara="1" rIns="91425" wrap="square" tIns="45700">
            <a:normAutofit fontScale="92500"/>
          </a:bodyPr>
          <a:lstStyle/>
          <a:p>
            <a:pPr indent="-274350" lvl="0" marL="274320" rtl="0" algn="l">
              <a:lnSpc>
                <a:spcPct val="150000"/>
              </a:lnSpc>
              <a:spcBef>
                <a:spcPts val="0"/>
              </a:spcBef>
              <a:spcAft>
                <a:spcPts val="0"/>
              </a:spcAft>
              <a:buSzPct val="95000"/>
              <a:buFont typeface="Noto Sans Symbols"/>
              <a:buChar char="❑"/>
            </a:pPr>
            <a:r>
              <a:rPr b="1" i="1" lang="en-GB" sz="3500">
                <a:solidFill>
                  <a:srgbClr val="3D10BC"/>
                </a:solidFill>
              </a:rPr>
              <a:t>Fundamental Canons</a:t>
            </a:r>
            <a:endParaRPr/>
          </a:p>
          <a:p>
            <a:pPr indent="0" lvl="0" marL="0" rtl="0" algn="l">
              <a:lnSpc>
                <a:spcPct val="150000"/>
              </a:lnSpc>
              <a:spcBef>
                <a:spcPts val="481"/>
              </a:spcBef>
              <a:spcAft>
                <a:spcPts val="0"/>
              </a:spcAft>
              <a:buSzPct val="95000"/>
              <a:buNone/>
            </a:pPr>
            <a:r>
              <a:rPr lang="en-GB"/>
              <a:t>Engineers shall:</a:t>
            </a:r>
            <a:endParaRPr/>
          </a:p>
          <a:p>
            <a:pPr indent="-274320" lvl="0" marL="274320" rtl="0" algn="l">
              <a:lnSpc>
                <a:spcPct val="150000"/>
              </a:lnSpc>
              <a:spcBef>
                <a:spcPts val="481"/>
              </a:spcBef>
              <a:spcAft>
                <a:spcPts val="0"/>
              </a:spcAft>
              <a:buSzPct val="95000"/>
              <a:buChar char="⚫"/>
            </a:pPr>
            <a:r>
              <a:rPr lang="en-GB"/>
              <a:t>hold paramount safety, health and welfare in the performance of duties</a:t>
            </a:r>
            <a:endParaRPr/>
          </a:p>
          <a:p>
            <a:pPr indent="-274320" lvl="0" marL="274320" rtl="0" algn="l">
              <a:lnSpc>
                <a:spcPct val="150000"/>
              </a:lnSpc>
              <a:spcBef>
                <a:spcPts val="481"/>
              </a:spcBef>
              <a:spcAft>
                <a:spcPts val="0"/>
              </a:spcAft>
              <a:buSzPct val="95000"/>
              <a:buChar char="⚫"/>
            </a:pPr>
            <a:r>
              <a:rPr lang="en-GB"/>
              <a:t>perform services only in the areas of competence</a:t>
            </a:r>
            <a:endParaRPr/>
          </a:p>
          <a:p>
            <a:pPr indent="-274320" lvl="0" marL="274320" rtl="0" algn="l">
              <a:lnSpc>
                <a:spcPct val="150000"/>
              </a:lnSpc>
              <a:spcBef>
                <a:spcPts val="481"/>
              </a:spcBef>
              <a:spcAft>
                <a:spcPts val="0"/>
              </a:spcAft>
              <a:buSzPct val="95000"/>
              <a:buChar char="⚫"/>
            </a:pPr>
            <a:r>
              <a:rPr lang="en-GB"/>
              <a:t>issue only truthful and objective public statements</a:t>
            </a:r>
            <a:endParaRPr/>
          </a:p>
          <a:p>
            <a:pPr indent="-274320" lvl="0" marL="274320" rtl="0" algn="l">
              <a:lnSpc>
                <a:spcPct val="150000"/>
              </a:lnSpc>
              <a:spcBef>
                <a:spcPts val="481"/>
              </a:spcBef>
              <a:spcAft>
                <a:spcPts val="0"/>
              </a:spcAft>
              <a:buSzPct val="95000"/>
              <a:buChar char="⚫"/>
            </a:pPr>
            <a:r>
              <a:rPr lang="en-GB"/>
              <a:t>continue their professional development throughout their careers  </a:t>
            </a:r>
            <a:endParaRPr/>
          </a:p>
          <a:p>
            <a:pPr indent="-274320" lvl="0" marL="274320" rtl="0" algn="l">
              <a:lnSpc>
                <a:spcPct val="150000"/>
              </a:lnSpc>
              <a:spcBef>
                <a:spcPts val="481"/>
              </a:spcBef>
              <a:spcAft>
                <a:spcPts val="0"/>
              </a:spcAft>
              <a:buSzPct val="95000"/>
              <a:buChar char="⚫"/>
            </a:pPr>
            <a:r>
              <a:rPr lang="en-GB"/>
              <a:t>provide opportunities for development of those engineers under their supervision.</a:t>
            </a:r>
            <a:endParaRPr/>
          </a:p>
          <a:p>
            <a:pPr indent="-129238" lvl="0" marL="274320" rtl="0" algn="l">
              <a:lnSpc>
                <a:spcPct val="150000"/>
              </a:lnSpc>
              <a:spcBef>
                <a:spcPts val="481"/>
              </a:spcBef>
              <a:spcAft>
                <a:spcPts val="0"/>
              </a:spcAft>
              <a:buSzPct val="95000"/>
              <a:buNone/>
            </a:pPr>
            <a:r>
              <a:t/>
            </a:r>
            <a:endParaRPr/>
          </a:p>
          <a:p>
            <a:pPr indent="0" lvl="0" marL="0" rtl="0" algn="l">
              <a:lnSpc>
                <a:spcPct val="150000"/>
              </a:lnSpc>
              <a:spcBef>
                <a:spcPts val="481"/>
              </a:spcBef>
              <a:spcAft>
                <a:spcPts val="0"/>
              </a:spcAft>
              <a:buSzPct val="95000"/>
              <a:buNone/>
            </a:pPr>
            <a:r>
              <a:t/>
            </a:r>
            <a:endParaRPr/>
          </a:p>
        </p:txBody>
      </p:sp>
      <p:sp>
        <p:nvSpPr>
          <p:cNvPr id="180" name="Google Shape;180;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type="title"/>
          </p:nvPr>
        </p:nvSpPr>
        <p:spPr>
          <a:xfrm>
            <a:off x="467544" y="704088"/>
            <a:ext cx="8219256" cy="78069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PROFESSIONALISM</a:t>
            </a:r>
            <a:endParaRPr sz="4400">
              <a:latin typeface="Constantia"/>
              <a:ea typeface="Constantia"/>
              <a:cs typeface="Constantia"/>
              <a:sym typeface="Constantia"/>
            </a:endParaRPr>
          </a:p>
        </p:txBody>
      </p:sp>
      <p:sp>
        <p:nvSpPr>
          <p:cNvPr id="186" name="Google Shape;186;p13"/>
          <p:cNvSpPr txBox="1"/>
          <p:nvPr>
            <p:ph idx="1" type="body"/>
          </p:nvPr>
        </p:nvSpPr>
        <p:spPr>
          <a:xfrm>
            <a:off x="395536" y="1556792"/>
            <a:ext cx="8291264" cy="4767808"/>
          </a:xfrm>
          <a:prstGeom prst="rect">
            <a:avLst/>
          </a:prstGeom>
          <a:noFill/>
          <a:ln>
            <a:noFill/>
          </a:ln>
        </p:spPr>
        <p:txBody>
          <a:bodyPr anchorCtr="0" anchor="t" bIns="45700" lIns="91425" spcFirstLastPara="1" rIns="91425" wrap="square" tIns="45700">
            <a:normAutofit fontScale="92500"/>
          </a:bodyPr>
          <a:lstStyle/>
          <a:p>
            <a:pPr indent="-274320" lvl="0" marL="274320" rtl="0" algn="just">
              <a:spcBef>
                <a:spcPts val="0"/>
              </a:spcBef>
              <a:spcAft>
                <a:spcPts val="0"/>
              </a:spcAft>
              <a:buSzPct val="95000"/>
              <a:buFont typeface="Noto Sans Symbols"/>
              <a:buChar char="❑"/>
            </a:pPr>
            <a:r>
              <a:rPr i="1" lang="en-GB" sz="3200">
                <a:solidFill>
                  <a:srgbClr val="3D10BC"/>
                </a:solidFill>
              </a:rPr>
              <a:t>What is a </a:t>
            </a:r>
            <a:r>
              <a:rPr b="1" i="1" lang="en-GB" sz="3200">
                <a:solidFill>
                  <a:srgbClr val="3D10BC"/>
                </a:solidFill>
              </a:rPr>
              <a:t>Profession</a:t>
            </a:r>
            <a:r>
              <a:rPr i="1" lang="en-GB" sz="3200">
                <a:solidFill>
                  <a:srgbClr val="3D10BC"/>
                </a:solidFill>
              </a:rPr>
              <a:t>?</a:t>
            </a:r>
            <a:endParaRPr/>
          </a:p>
          <a:p>
            <a:pPr indent="0" lvl="0" marL="0" rtl="0" algn="just">
              <a:spcBef>
                <a:spcPts val="481"/>
              </a:spcBef>
              <a:spcAft>
                <a:spcPts val="0"/>
              </a:spcAft>
              <a:buSzPct val="95000"/>
              <a:buNone/>
            </a:pPr>
            <a:r>
              <a:rPr lang="en-GB"/>
              <a:t>Any occupation which provides a means by which to earn a living. It involves </a:t>
            </a:r>
            <a:endParaRPr/>
          </a:p>
          <a:p>
            <a:pPr indent="-274320" lvl="0" marL="274320" rtl="0" algn="just">
              <a:lnSpc>
                <a:spcPct val="150000"/>
              </a:lnSpc>
              <a:spcBef>
                <a:spcPts val="481"/>
              </a:spcBef>
              <a:spcAft>
                <a:spcPts val="0"/>
              </a:spcAft>
              <a:buSzPct val="95000"/>
              <a:buChar char="⚫"/>
            </a:pPr>
            <a:r>
              <a:rPr b="1" lang="en-GB"/>
              <a:t>Advanced expertise </a:t>
            </a:r>
            <a:r>
              <a:rPr lang="en-GB"/>
              <a:t>(theoretical and technical know-how)</a:t>
            </a:r>
            <a:endParaRPr/>
          </a:p>
          <a:p>
            <a:pPr indent="-274320" lvl="0" marL="274320" rtl="0" algn="just">
              <a:lnSpc>
                <a:spcPct val="150000"/>
              </a:lnSpc>
              <a:spcBef>
                <a:spcPts val="481"/>
              </a:spcBef>
              <a:spcAft>
                <a:spcPts val="0"/>
              </a:spcAft>
              <a:buSzPct val="95000"/>
              <a:buChar char="⚫"/>
            </a:pPr>
            <a:r>
              <a:rPr lang="en-GB"/>
              <a:t> </a:t>
            </a:r>
            <a:r>
              <a:rPr b="1" lang="en-GB"/>
              <a:t>Self-regulation </a:t>
            </a:r>
            <a:r>
              <a:rPr lang="en-GB"/>
              <a:t>(setting standards for admission to professions, drafting code of ethics, enforcing standard of conducts, etc.)</a:t>
            </a:r>
            <a:endParaRPr/>
          </a:p>
          <a:p>
            <a:pPr indent="-274320" lvl="0" marL="274320" rtl="0" algn="just">
              <a:lnSpc>
                <a:spcPct val="150000"/>
              </a:lnSpc>
              <a:spcBef>
                <a:spcPts val="481"/>
              </a:spcBef>
              <a:spcAft>
                <a:spcPts val="0"/>
              </a:spcAft>
              <a:buSzPct val="95000"/>
              <a:buChar char="⚫"/>
            </a:pPr>
            <a:r>
              <a:rPr lang="en-GB"/>
              <a:t>Concerted service to </a:t>
            </a:r>
            <a:r>
              <a:rPr b="1" lang="en-GB"/>
              <a:t>public good</a:t>
            </a:r>
            <a:endParaRPr b="1"/>
          </a:p>
        </p:txBody>
      </p:sp>
      <p:sp>
        <p:nvSpPr>
          <p:cNvPr id="187" name="Google Shape;187;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ph type="title"/>
          </p:nvPr>
        </p:nvSpPr>
        <p:spPr>
          <a:xfrm>
            <a:off x="457200" y="548680"/>
            <a:ext cx="8229600" cy="114300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onstantia"/>
              <a:buNone/>
            </a:pPr>
            <a:r>
              <a:rPr lang="en-GB">
                <a:latin typeface="Constantia"/>
                <a:ea typeface="Constantia"/>
                <a:cs typeface="Constantia"/>
                <a:sym typeface="Constantia"/>
              </a:rPr>
              <a:t>UNIT 2 MORAL REASONING AND CODES OF ETHICS</a:t>
            </a:r>
            <a:endParaRPr>
              <a:latin typeface="Constantia"/>
              <a:ea typeface="Constantia"/>
              <a:cs typeface="Constantia"/>
              <a:sym typeface="Constantia"/>
            </a:endParaRPr>
          </a:p>
        </p:txBody>
      </p:sp>
      <p:sp>
        <p:nvSpPr>
          <p:cNvPr id="193" name="Google Shape;193;p14"/>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p:txBody>
      </p:sp>
      <p:sp>
        <p:nvSpPr>
          <p:cNvPr id="194" name="Google Shape;194;p14"/>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p:txBody>
      </p:sp>
      <p:pic>
        <p:nvPicPr>
          <p:cNvPr id="195" name="Google Shape;195;p14"/>
          <p:cNvPicPr preferRelativeResize="0"/>
          <p:nvPr/>
        </p:nvPicPr>
        <p:blipFill rotWithShape="1">
          <a:blip r:embed="rId3">
            <a:alphaModFix/>
          </a:blip>
          <a:srcRect b="0" l="0" r="0" t="0"/>
          <a:stretch/>
        </p:blipFill>
        <p:spPr>
          <a:xfrm>
            <a:off x="4644008" y="1916832"/>
            <a:ext cx="4176464" cy="4464496"/>
          </a:xfrm>
          <a:prstGeom prst="rect">
            <a:avLst/>
          </a:prstGeom>
          <a:noFill/>
          <a:ln>
            <a:noFill/>
          </a:ln>
        </p:spPr>
      </p:pic>
      <p:pic>
        <p:nvPicPr>
          <p:cNvPr id="196" name="Google Shape;196;p14"/>
          <p:cNvPicPr preferRelativeResize="0"/>
          <p:nvPr/>
        </p:nvPicPr>
        <p:blipFill rotWithShape="1">
          <a:blip r:embed="rId4">
            <a:alphaModFix/>
          </a:blip>
          <a:srcRect b="0" l="0" r="0" t="0"/>
          <a:stretch/>
        </p:blipFill>
        <p:spPr>
          <a:xfrm>
            <a:off x="755576" y="1916832"/>
            <a:ext cx="3672408" cy="4418492"/>
          </a:xfrm>
          <a:prstGeom prst="rect">
            <a:avLst/>
          </a:prstGeom>
          <a:noFill/>
          <a:ln>
            <a:noFill/>
          </a:ln>
        </p:spPr>
      </p:pic>
      <p:sp>
        <p:nvSpPr>
          <p:cNvPr id="197" name="Google Shape;197;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5"/>
          <p:cNvSpPr txBox="1"/>
          <p:nvPr>
            <p:ph type="title"/>
          </p:nvPr>
        </p:nvSpPr>
        <p:spPr>
          <a:xfrm>
            <a:off x="302840" y="-27384"/>
            <a:ext cx="8445624" cy="936104"/>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REASONING </a:t>
            </a:r>
            <a:endParaRPr sz="4400">
              <a:latin typeface="Constantia"/>
              <a:ea typeface="Constantia"/>
              <a:cs typeface="Constantia"/>
              <a:sym typeface="Constantia"/>
            </a:endParaRPr>
          </a:p>
        </p:txBody>
      </p:sp>
      <p:sp>
        <p:nvSpPr>
          <p:cNvPr id="203" name="Google Shape;203;p15"/>
          <p:cNvSpPr txBox="1"/>
          <p:nvPr>
            <p:ph idx="1" type="body"/>
          </p:nvPr>
        </p:nvSpPr>
        <p:spPr>
          <a:xfrm>
            <a:off x="179512" y="908720"/>
            <a:ext cx="8507288" cy="541588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3420"/>
              <a:buFont typeface="Noto Sans Symbols"/>
              <a:buChar char="❑"/>
            </a:pPr>
            <a:r>
              <a:rPr b="1" i="1" lang="en-GB" sz="3600">
                <a:solidFill>
                  <a:srgbClr val="3D10BC"/>
                </a:solidFill>
              </a:rPr>
              <a:t>Moral reasoning</a:t>
            </a:r>
            <a:endParaRPr/>
          </a:p>
          <a:p>
            <a:pPr indent="0" lvl="0" marL="0" rtl="0" algn="just">
              <a:lnSpc>
                <a:spcPct val="150000"/>
              </a:lnSpc>
              <a:spcBef>
                <a:spcPts val="520"/>
              </a:spcBef>
              <a:spcAft>
                <a:spcPts val="0"/>
              </a:spcAft>
              <a:buSzPts val="2470"/>
              <a:buNone/>
            </a:pPr>
            <a:r>
              <a:rPr lang="en-GB"/>
              <a:t>A thinking process with the objective of determining whether an idea is right or wrong. Expectedly, moral reasoning should culminate in a good decision or choice. </a:t>
            </a:r>
            <a:endParaRPr/>
          </a:p>
          <a:p>
            <a:pPr indent="0" lvl="0" marL="0" rtl="0" algn="just">
              <a:lnSpc>
                <a:spcPct val="150000"/>
              </a:lnSpc>
              <a:spcBef>
                <a:spcPts val="520"/>
              </a:spcBef>
              <a:spcAft>
                <a:spcPts val="0"/>
              </a:spcAft>
              <a:buSzPts val="2470"/>
              <a:buNone/>
            </a:pPr>
            <a:r>
              <a:t/>
            </a:r>
            <a:endParaRPr/>
          </a:p>
          <a:p>
            <a:pPr indent="0" lvl="0" marL="0" rtl="0" algn="just">
              <a:lnSpc>
                <a:spcPct val="150000"/>
              </a:lnSpc>
              <a:spcBef>
                <a:spcPts val="520"/>
              </a:spcBef>
              <a:spcAft>
                <a:spcPts val="0"/>
              </a:spcAft>
              <a:buSzPts val="2470"/>
              <a:buNone/>
            </a:pPr>
            <a:r>
              <a:rPr lang="en-GB"/>
              <a:t>According to John Dewey,</a:t>
            </a:r>
            <a:r>
              <a:rPr b="1" lang="en-GB"/>
              <a:t> </a:t>
            </a:r>
            <a:r>
              <a:rPr b="1" lang="en-GB">
                <a:solidFill>
                  <a:srgbClr val="FF0000"/>
                </a:solidFill>
              </a:rPr>
              <a:t>“</a:t>
            </a:r>
            <a:r>
              <a:rPr b="1" i="1" lang="en-GB">
                <a:solidFill>
                  <a:srgbClr val="FF0000"/>
                </a:solidFill>
              </a:rPr>
              <a:t>Choice is reasonable when it…coordinates, organizes and functions each factor of the situation which gave rise to conflict, suspense and deliberation.” </a:t>
            </a:r>
            <a:endParaRPr b="1" i="1">
              <a:solidFill>
                <a:srgbClr val="FF0000"/>
              </a:solidFill>
            </a:endParaRPr>
          </a:p>
        </p:txBody>
      </p:sp>
      <p:sp>
        <p:nvSpPr>
          <p:cNvPr id="204" name="Google Shape;204;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6"/>
          <p:cNvSpPr txBox="1"/>
          <p:nvPr>
            <p:ph type="title"/>
          </p:nvPr>
        </p:nvSpPr>
        <p:spPr>
          <a:xfrm>
            <a:off x="251520" y="-99392"/>
            <a:ext cx="8435280" cy="86409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REASONING</a:t>
            </a:r>
            <a:endParaRPr sz="4400">
              <a:latin typeface="Constantia"/>
              <a:ea typeface="Constantia"/>
              <a:cs typeface="Constantia"/>
              <a:sym typeface="Constantia"/>
            </a:endParaRPr>
          </a:p>
        </p:txBody>
      </p:sp>
      <p:sp>
        <p:nvSpPr>
          <p:cNvPr id="210" name="Google Shape;210;p16"/>
          <p:cNvSpPr txBox="1"/>
          <p:nvPr>
            <p:ph idx="1" type="body"/>
          </p:nvPr>
        </p:nvSpPr>
        <p:spPr>
          <a:xfrm>
            <a:off x="251520" y="980728"/>
            <a:ext cx="8712968" cy="5904656"/>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just">
              <a:spcBef>
                <a:spcPts val="0"/>
              </a:spcBef>
              <a:spcAft>
                <a:spcPts val="0"/>
              </a:spcAft>
              <a:buSzPct val="95000"/>
              <a:buFont typeface="Noto Sans Symbols"/>
              <a:buChar char="❑"/>
            </a:pPr>
            <a:r>
              <a:rPr b="1" i="1" lang="en-GB" sz="3100">
                <a:solidFill>
                  <a:srgbClr val="3D10BC"/>
                </a:solidFill>
              </a:rPr>
              <a:t>Ethical (moral) Dilemmas</a:t>
            </a:r>
            <a:endParaRPr/>
          </a:p>
          <a:p>
            <a:pPr indent="0" lvl="0" marL="0" rtl="0" algn="just">
              <a:lnSpc>
                <a:spcPct val="170000"/>
              </a:lnSpc>
              <a:spcBef>
                <a:spcPts val="442"/>
              </a:spcBef>
              <a:spcAft>
                <a:spcPts val="0"/>
              </a:spcAft>
              <a:buSzPct val="95000"/>
              <a:buNone/>
            </a:pPr>
            <a:r>
              <a:rPr lang="en-GB"/>
              <a:t>Situations in which moral reasons come into conflict, or in which the applications of moral values are unclear, and not immediately obvious what should be done.</a:t>
            </a:r>
            <a:endParaRPr/>
          </a:p>
          <a:p>
            <a:pPr indent="0" lvl="0" marL="0" rtl="0" algn="just">
              <a:spcBef>
                <a:spcPts val="442"/>
              </a:spcBef>
              <a:spcAft>
                <a:spcPts val="0"/>
              </a:spcAft>
              <a:buSzPct val="95000"/>
              <a:buNone/>
            </a:pPr>
            <a:r>
              <a:t/>
            </a:r>
            <a:endParaRPr/>
          </a:p>
          <a:p>
            <a:pPr indent="-274320" lvl="0" marL="274320" rtl="0" algn="just">
              <a:spcBef>
                <a:spcPts val="527"/>
              </a:spcBef>
              <a:spcAft>
                <a:spcPts val="0"/>
              </a:spcAft>
              <a:buSzPct val="95000"/>
              <a:buFont typeface="Noto Sans Symbols"/>
              <a:buChar char="❑"/>
            </a:pPr>
            <a:r>
              <a:rPr b="1" i="1" lang="en-GB" sz="3100">
                <a:solidFill>
                  <a:srgbClr val="3D10BC"/>
                </a:solidFill>
              </a:rPr>
              <a:t>Resolving Ethical Dilemmas</a:t>
            </a:r>
            <a:endParaRPr/>
          </a:p>
          <a:p>
            <a:pPr indent="0" lvl="0" marL="0" rtl="0" algn="just">
              <a:spcBef>
                <a:spcPts val="442"/>
              </a:spcBef>
              <a:spcAft>
                <a:spcPts val="0"/>
              </a:spcAft>
              <a:buSzPct val="95000"/>
              <a:buNone/>
            </a:pPr>
            <a:r>
              <a:rPr lang="en-GB"/>
              <a:t>The outcome of a resolved ethical dilemma is:</a:t>
            </a:r>
            <a:endParaRPr/>
          </a:p>
          <a:p>
            <a:pPr indent="-274320" lvl="0" marL="274320" rtl="0" algn="just">
              <a:lnSpc>
                <a:spcPct val="160000"/>
              </a:lnSpc>
              <a:spcBef>
                <a:spcPts val="442"/>
              </a:spcBef>
              <a:spcAft>
                <a:spcPts val="0"/>
              </a:spcAft>
              <a:buSzPct val="95000"/>
              <a:buChar char="⚫"/>
            </a:pPr>
            <a:r>
              <a:rPr lang="en-GB"/>
              <a:t>Clear (moral clarity)</a:t>
            </a:r>
            <a:endParaRPr/>
          </a:p>
          <a:p>
            <a:pPr indent="-274320" lvl="0" marL="274320" rtl="0" algn="just">
              <a:lnSpc>
                <a:spcPct val="160000"/>
              </a:lnSpc>
              <a:spcBef>
                <a:spcPts val="442"/>
              </a:spcBef>
              <a:spcAft>
                <a:spcPts val="0"/>
              </a:spcAft>
              <a:buSzPct val="95000"/>
              <a:buChar char="⚫"/>
            </a:pPr>
            <a:r>
              <a:rPr lang="en-GB"/>
              <a:t>Informed (Knowing and appreciating the implications of morally and relevant available facts)</a:t>
            </a:r>
            <a:endParaRPr/>
          </a:p>
          <a:p>
            <a:pPr indent="-274320" lvl="0" marL="274320" rtl="0" algn="just">
              <a:lnSpc>
                <a:spcPct val="160000"/>
              </a:lnSpc>
              <a:spcBef>
                <a:spcPts val="442"/>
              </a:spcBef>
              <a:spcAft>
                <a:spcPts val="0"/>
              </a:spcAft>
              <a:buSzPct val="95000"/>
              <a:buChar char="⚫"/>
            </a:pPr>
            <a:r>
              <a:rPr lang="en-GB"/>
              <a:t>Well reasoned(good judgement on the available facts received to arrive at a morally desirable solutions).</a:t>
            </a:r>
            <a:endParaRPr/>
          </a:p>
        </p:txBody>
      </p:sp>
      <p:sp>
        <p:nvSpPr>
          <p:cNvPr id="211" name="Google Shape;211;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7"/>
          <p:cNvSpPr txBox="1"/>
          <p:nvPr>
            <p:ph type="title"/>
          </p:nvPr>
        </p:nvSpPr>
        <p:spPr>
          <a:xfrm>
            <a:off x="457200" y="116632"/>
            <a:ext cx="8229600" cy="79208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REASONING</a:t>
            </a:r>
            <a:endParaRPr sz="4400">
              <a:latin typeface="Constantia"/>
              <a:ea typeface="Constantia"/>
              <a:cs typeface="Constantia"/>
              <a:sym typeface="Constantia"/>
            </a:endParaRPr>
          </a:p>
        </p:txBody>
      </p:sp>
      <p:sp>
        <p:nvSpPr>
          <p:cNvPr id="217" name="Google Shape;217;p17"/>
          <p:cNvSpPr txBox="1"/>
          <p:nvPr>
            <p:ph idx="1" type="body"/>
          </p:nvPr>
        </p:nvSpPr>
        <p:spPr>
          <a:xfrm>
            <a:off x="179512" y="836712"/>
            <a:ext cx="8712968" cy="5760640"/>
          </a:xfrm>
          <a:prstGeom prst="rect">
            <a:avLst/>
          </a:prstGeom>
          <a:noFill/>
          <a:ln>
            <a:noFill/>
          </a:ln>
        </p:spPr>
        <p:txBody>
          <a:bodyPr anchorCtr="0" anchor="t" bIns="45700" lIns="91425" spcFirstLastPara="1" rIns="91425" wrap="square" tIns="45700">
            <a:normAutofit fontScale="92500"/>
          </a:bodyPr>
          <a:lstStyle/>
          <a:p>
            <a:pPr indent="-274320" lvl="0" marL="274320" rtl="0" algn="l">
              <a:lnSpc>
                <a:spcPct val="150000"/>
              </a:lnSpc>
              <a:spcBef>
                <a:spcPts val="0"/>
              </a:spcBef>
              <a:spcAft>
                <a:spcPts val="0"/>
              </a:spcAft>
              <a:buSzPct val="95000"/>
              <a:buFont typeface="Noto Sans Symbols"/>
              <a:buChar char="❑"/>
            </a:pPr>
            <a:r>
              <a:rPr lang="en-GB" sz="3600">
                <a:solidFill>
                  <a:srgbClr val="3D10BC"/>
                </a:solidFill>
              </a:rPr>
              <a:t>Steps in </a:t>
            </a:r>
            <a:r>
              <a:rPr b="1" i="1" lang="en-GB" sz="3600">
                <a:solidFill>
                  <a:srgbClr val="3D10BC"/>
                </a:solidFill>
              </a:rPr>
              <a:t>Resolving</a:t>
            </a:r>
            <a:r>
              <a:rPr lang="en-GB" sz="3600">
                <a:solidFill>
                  <a:srgbClr val="3D10BC"/>
                </a:solidFill>
              </a:rPr>
              <a:t> </a:t>
            </a:r>
            <a:r>
              <a:rPr b="1" i="1" lang="en-GB" sz="3600">
                <a:solidFill>
                  <a:srgbClr val="3D10BC"/>
                </a:solidFill>
              </a:rPr>
              <a:t>Ethical Dilemmas </a:t>
            </a:r>
            <a:endParaRPr/>
          </a:p>
          <a:p>
            <a:pPr indent="0" lvl="0" marL="0" rtl="0" algn="just">
              <a:lnSpc>
                <a:spcPct val="150000"/>
              </a:lnSpc>
              <a:spcBef>
                <a:spcPts val="518"/>
              </a:spcBef>
              <a:spcAft>
                <a:spcPts val="0"/>
              </a:spcAft>
              <a:buSzPct val="95000"/>
              <a:buNone/>
            </a:pPr>
            <a:r>
              <a:rPr lang="en-GB" sz="2800"/>
              <a:t>The following guidelines are considerable steps that will lead to a clear, informed and well reasoned choice</a:t>
            </a:r>
            <a:endParaRPr/>
          </a:p>
          <a:p>
            <a:pPr indent="-514350" lvl="0" marL="514350" rtl="0" algn="just">
              <a:lnSpc>
                <a:spcPct val="150000"/>
              </a:lnSpc>
              <a:spcBef>
                <a:spcPts val="518"/>
              </a:spcBef>
              <a:spcAft>
                <a:spcPts val="0"/>
              </a:spcAft>
              <a:buSzPct val="95000"/>
              <a:buFont typeface="Calibri"/>
              <a:buAutoNum type="arabicPeriod"/>
            </a:pPr>
            <a:r>
              <a:rPr lang="en-GB" sz="2800"/>
              <a:t>Moral Clarity: Identify the relevant moral values</a:t>
            </a:r>
            <a:endParaRPr/>
          </a:p>
          <a:p>
            <a:pPr indent="-514350" lvl="0" marL="514350" rtl="0" algn="just">
              <a:lnSpc>
                <a:spcPct val="150000"/>
              </a:lnSpc>
              <a:spcBef>
                <a:spcPts val="518"/>
              </a:spcBef>
              <a:spcAft>
                <a:spcPts val="0"/>
              </a:spcAft>
              <a:buSzPct val="95000"/>
              <a:buFont typeface="Calibri"/>
              <a:buAutoNum type="arabicPeriod"/>
            </a:pPr>
            <a:r>
              <a:rPr lang="en-GB" sz="2800"/>
              <a:t>Conceptual clarity: Clarify key concepts</a:t>
            </a:r>
            <a:endParaRPr/>
          </a:p>
          <a:p>
            <a:pPr indent="-514350" lvl="0" marL="514350" rtl="0" algn="just">
              <a:lnSpc>
                <a:spcPct val="150000"/>
              </a:lnSpc>
              <a:spcBef>
                <a:spcPts val="518"/>
              </a:spcBef>
              <a:spcAft>
                <a:spcPts val="0"/>
              </a:spcAft>
              <a:buSzPct val="95000"/>
              <a:buFont typeface="Calibri"/>
              <a:buAutoNum type="arabicPeriod"/>
            </a:pPr>
            <a:r>
              <a:rPr lang="en-GB" sz="2800"/>
              <a:t>Informed about the facts: Obtain relevant information</a:t>
            </a:r>
            <a:endParaRPr/>
          </a:p>
          <a:p>
            <a:pPr indent="-514350" lvl="0" marL="514350" rtl="0" algn="just">
              <a:lnSpc>
                <a:spcPct val="150000"/>
              </a:lnSpc>
              <a:spcBef>
                <a:spcPts val="518"/>
              </a:spcBef>
              <a:spcAft>
                <a:spcPts val="0"/>
              </a:spcAft>
              <a:buSzPct val="95000"/>
              <a:buFont typeface="Calibri"/>
              <a:buAutoNum type="arabicPeriod"/>
            </a:pPr>
            <a:r>
              <a:rPr lang="en-GB" sz="2800"/>
              <a:t>Informed about the options: Consider all options</a:t>
            </a:r>
            <a:endParaRPr/>
          </a:p>
          <a:p>
            <a:pPr indent="-514350" lvl="0" marL="514350" rtl="0" algn="just">
              <a:lnSpc>
                <a:spcPct val="150000"/>
              </a:lnSpc>
              <a:spcBef>
                <a:spcPts val="518"/>
              </a:spcBef>
              <a:spcAft>
                <a:spcPts val="0"/>
              </a:spcAft>
              <a:buSzPct val="95000"/>
              <a:buFont typeface="Calibri"/>
              <a:buAutoNum type="arabicPeriod"/>
            </a:pPr>
            <a:r>
              <a:rPr lang="en-GB" sz="2800"/>
              <a:t>Well- reasoned: Make a reasonable decision</a:t>
            </a:r>
            <a:endParaRPr sz="2800"/>
          </a:p>
        </p:txBody>
      </p:sp>
      <p:sp>
        <p:nvSpPr>
          <p:cNvPr id="218" name="Google Shape;218;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8"/>
          <p:cNvSpPr txBox="1"/>
          <p:nvPr>
            <p:ph type="title"/>
          </p:nvPr>
        </p:nvSpPr>
        <p:spPr>
          <a:xfrm>
            <a:off x="457200" y="-387424"/>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REASONING</a:t>
            </a:r>
            <a:endParaRPr sz="4400">
              <a:latin typeface="Constantia"/>
              <a:ea typeface="Constantia"/>
              <a:cs typeface="Constantia"/>
              <a:sym typeface="Constantia"/>
            </a:endParaRPr>
          </a:p>
        </p:txBody>
      </p:sp>
      <p:sp>
        <p:nvSpPr>
          <p:cNvPr id="224" name="Google Shape;224;p18"/>
          <p:cNvSpPr txBox="1"/>
          <p:nvPr>
            <p:ph idx="1" type="body"/>
          </p:nvPr>
        </p:nvSpPr>
        <p:spPr>
          <a:xfrm>
            <a:off x="457200" y="720080"/>
            <a:ext cx="8229600" cy="630932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lnSpc>
                <a:spcPct val="160000"/>
              </a:lnSpc>
              <a:spcBef>
                <a:spcPts val="0"/>
              </a:spcBef>
              <a:spcAft>
                <a:spcPts val="0"/>
              </a:spcAft>
              <a:buSzPct val="95000"/>
              <a:buFont typeface="Noto Sans Symbols"/>
              <a:buChar char="❑"/>
            </a:pPr>
            <a:r>
              <a:rPr lang="en-GB"/>
              <a:t>Ethical Dilemmas can be divided into two main categories</a:t>
            </a:r>
            <a:endParaRPr/>
          </a:p>
          <a:p>
            <a:pPr indent="-274320" lvl="0" marL="274320" rtl="0" algn="just">
              <a:lnSpc>
                <a:spcPct val="160000"/>
              </a:lnSpc>
              <a:spcBef>
                <a:spcPts val="481"/>
              </a:spcBef>
              <a:spcAft>
                <a:spcPts val="0"/>
              </a:spcAft>
              <a:buSzPct val="95000"/>
              <a:buChar char="⚫"/>
            </a:pPr>
            <a:r>
              <a:rPr lang="en-GB"/>
              <a:t>Right-Wrong</a:t>
            </a:r>
            <a:endParaRPr/>
          </a:p>
          <a:p>
            <a:pPr indent="0" lvl="0" marL="0" rtl="0" algn="just">
              <a:lnSpc>
                <a:spcPct val="160000"/>
              </a:lnSpc>
              <a:spcBef>
                <a:spcPts val="481"/>
              </a:spcBef>
              <a:spcAft>
                <a:spcPts val="0"/>
              </a:spcAft>
              <a:buSzPct val="95000"/>
              <a:buNone/>
            </a:pPr>
            <a:r>
              <a:rPr lang="en-GB"/>
              <a:t>These are dilemmas with solutions that are either right or wrong</a:t>
            </a:r>
            <a:endParaRPr/>
          </a:p>
          <a:p>
            <a:pPr indent="-274320" lvl="0" marL="274320" rtl="0" algn="just">
              <a:lnSpc>
                <a:spcPct val="160000"/>
              </a:lnSpc>
              <a:spcBef>
                <a:spcPts val="481"/>
              </a:spcBef>
              <a:spcAft>
                <a:spcPts val="0"/>
              </a:spcAft>
              <a:buSzPct val="95000"/>
              <a:buChar char="⚫"/>
            </a:pPr>
            <a:r>
              <a:rPr lang="en-GB"/>
              <a:t>Better-Worse</a:t>
            </a:r>
            <a:endParaRPr/>
          </a:p>
          <a:p>
            <a:pPr indent="0" lvl="0" marL="0" rtl="0" algn="just">
              <a:lnSpc>
                <a:spcPct val="160000"/>
              </a:lnSpc>
              <a:spcBef>
                <a:spcPts val="481"/>
              </a:spcBef>
              <a:spcAft>
                <a:spcPts val="0"/>
              </a:spcAft>
              <a:buSzPct val="95000"/>
              <a:buNone/>
            </a:pPr>
            <a:r>
              <a:rPr lang="en-GB"/>
              <a:t>Dilemmas with two or more solutions, none of which is mandatory but one of which should be chosen.</a:t>
            </a:r>
            <a:endParaRPr/>
          </a:p>
          <a:p>
            <a:pPr indent="-274320" lvl="0" marL="274320" rtl="0" algn="just">
              <a:lnSpc>
                <a:spcPct val="160000"/>
              </a:lnSpc>
              <a:spcBef>
                <a:spcPts val="481"/>
              </a:spcBef>
              <a:spcAft>
                <a:spcPts val="0"/>
              </a:spcAft>
              <a:buSzPct val="95000"/>
              <a:buFont typeface="Noto Sans Symbols"/>
              <a:buChar char="❑"/>
            </a:pPr>
            <a:r>
              <a:rPr lang="en-GB"/>
              <a:t>Also, the NSPE board of Ethical Review provides the valuable service to apply the NSPE code to fictionalized cases which are based on actual events. The board’s rulings are available on the internet at </a:t>
            </a:r>
            <a:r>
              <a:rPr b="1" lang="en-GB"/>
              <a:t>(http://www.niee.org)</a:t>
            </a:r>
            <a:endParaRPr b="1"/>
          </a:p>
        </p:txBody>
      </p:sp>
      <p:sp>
        <p:nvSpPr>
          <p:cNvPr id="225" name="Google Shape;225;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9"/>
          <p:cNvSpPr txBox="1"/>
          <p:nvPr>
            <p:ph type="title"/>
          </p:nvPr>
        </p:nvSpPr>
        <p:spPr>
          <a:xfrm>
            <a:off x="457200" y="-315416"/>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REASONING</a:t>
            </a:r>
            <a:endParaRPr sz="4400">
              <a:latin typeface="Constantia"/>
              <a:ea typeface="Constantia"/>
              <a:cs typeface="Constantia"/>
              <a:sym typeface="Constantia"/>
            </a:endParaRPr>
          </a:p>
        </p:txBody>
      </p:sp>
      <p:sp>
        <p:nvSpPr>
          <p:cNvPr id="231" name="Google Shape;231;p19"/>
          <p:cNvSpPr txBox="1"/>
          <p:nvPr>
            <p:ph idx="1" type="body"/>
          </p:nvPr>
        </p:nvSpPr>
        <p:spPr>
          <a:xfrm>
            <a:off x="457200" y="864096"/>
            <a:ext cx="8229600" cy="6021288"/>
          </a:xfrm>
          <a:prstGeom prst="rect">
            <a:avLst/>
          </a:prstGeom>
          <a:noFill/>
          <a:ln>
            <a:noFill/>
          </a:ln>
        </p:spPr>
        <p:txBody>
          <a:bodyPr anchorCtr="0" anchor="t" bIns="45700" lIns="91425" spcFirstLastPara="1" rIns="91425" wrap="square" tIns="45700">
            <a:normAutofit fontScale="92500" lnSpcReduction="20000"/>
          </a:bodyPr>
          <a:lstStyle/>
          <a:p>
            <a:pPr indent="-274350" lvl="0" marL="274320" rtl="0" algn="just">
              <a:lnSpc>
                <a:spcPct val="150000"/>
              </a:lnSpc>
              <a:spcBef>
                <a:spcPts val="0"/>
              </a:spcBef>
              <a:spcAft>
                <a:spcPts val="0"/>
              </a:spcAft>
              <a:buSzPct val="95000"/>
              <a:buFont typeface="Noto Sans Symbols"/>
              <a:buChar char="❑"/>
            </a:pPr>
            <a:r>
              <a:rPr i="1" lang="en-GB" sz="3500">
                <a:solidFill>
                  <a:srgbClr val="3D10BC"/>
                </a:solidFill>
              </a:rPr>
              <a:t>Making Moral Choices</a:t>
            </a:r>
            <a:endParaRPr b="1" i="1" sz="3500">
              <a:solidFill>
                <a:srgbClr val="3D10BC"/>
              </a:solidFill>
            </a:endParaRPr>
          </a:p>
          <a:p>
            <a:pPr indent="0" lvl="0" marL="0" rtl="0" algn="just">
              <a:lnSpc>
                <a:spcPct val="150000"/>
              </a:lnSpc>
              <a:spcBef>
                <a:spcPts val="481"/>
              </a:spcBef>
              <a:spcAft>
                <a:spcPts val="0"/>
              </a:spcAft>
              <a:buSzPct val="95000"/>
              <a:buNone/>
            </a:pPr>
            <a:r>
              <a:rPr lang="en-GB"/>
              <a:t>Although ethical dilemmas comprise the most difficult occasions for moral reasoning, they only constitute a small percentage of </a:t>
            </a:r>
            <a:r>
              <a:rPr b="1" i="1" lang="en-GB"/>
              <a:t>moral choices</a:t>
            </a:r>
            <a:r>
              <a:rPr lang="en-GB"/>
              <a:t>. Moral choices are decisions involving moral values. They are mostly routine and straight-forward.</a:t>
            </a:r>
            <a:endParaRPr/>
          </a:p>
          <a:p>
            <a:pPr indent="-274320" lvl="0" marL="274320" rtl="0" algn="just">
              <a:lnSpc>
                <a:spcPct val="150000"/>
              </a:lnSpc>
              <a:spcBef>
                <a:spcPts val="481"/>
              </a:spcBef>
              <a:spcAft>
                <a:spcPts val="0"/>
              </a:spcAft>
              <a:buSzPct val="95000"/>
              <a:buChar char="⚫"/>
            </a:pPr>
            <a:r>
              <a:rPr lang="en-GB"/>
              <a:t>The examples below entail how choices involving moral values entered into routine decisions during technological development:</a:t>
            </a:r>
            <a:endParaRPr/>
          </a:p>
          <a:p>
            <a:pPr indent="-514350" lvl="0" marL="514350" rtl="0" algn="just">
              <a:lnSpc>
                <a:spcPct val="150000"/>
              </a:lnSpc>
              <a:spcBef>
                <a:spcPts val="481"/>
              </a:spcBef>
              <a:spcAft>
                <a:spcPts val="0"/>
              </a:spcAft>
              <a:buSzPct val="95000"/>
              <a:buFont typeface="Calibri"/>
              <a:buAutoNum type="arabicPeriod"/>
            </a:pPr>
            <a:r>
              <a:rPr lang="en-GB"/>
              <a:t>Design of aluminium Cans</a:t>
            </a:r>
            <a:endParaRPr/>
          </a:p>
          <a:p>
            <a:pPr indent="-514350" lvl="0" marL="514350" rtl="0" algn="just">
              <a:lnSpc>
                <a:spcPct val="150000"/>
              </a:lnSpc>
              <a:spcBef>
                <a:spcPts val="481"/>
              </a:spcBef>
              <a:spcAft>
                <a:spcPts val="0"/>
              </a:spcAft>
              <a:buSzPct val="95000"/>
              <a:buFont typeface="Calibri"/>
              <a:buAutoNum type="arabicPeriod"/>
            </a:pPr>
            <a:r>
              <a:rPr lang="en-GB"/>
              <a:t>Design Analogy: Whitbeck</a:t>
            </a:r>
            <a:endParaRPr/>
          </a:p>
          <a:p>
            <a:pPr indent="0" lvl="0" marL="0" rtl="0" algn="just">
              <a:lnSpc>
                <a:spcPct val="150000"/>
              </a:lnSpc>
              <a:spcBef>
                <a:spcPts val="481"/>
              </a:spcBef>
              <a:spcAft>
                <a:spcPts val="0"/>
              </a:spcAft>
              <a:buSzPct val="95000"/>
              <a:buNone/>
            </a:pPr>
            <a:r>
              <a:t/>
            </a:r>
            <a:endParaRPr/>
          </a:p>
          <a:p>
            <a:pPr indent="-369268" lvl="0" marL="514350" rtl="0" algn="just">
              <a:lnSpc>
                <a:spcPct val="150000"/>
              </a:lnSpc>
              <a:spcBef>
                <a:spcPts val="481"/>
              </a:spcBef>
              <a:spcAft>
                <a:spcPts val="0"/>
              </a:spcAft>
              <a:buSzPct val="95000"/>
              <a:buFont typeface="Calibri"/>
              <a:buNone/>
            </a:pPr>
            <a:r>
              <a:t/>
            </a:r>
            <a:endParaRPr/>
          </a:p>
          <a:p>
            <a:pPr indent="-369268" lvl="0" marL="514350" rtl="0" algn="just">
              <a:lnSpc>
                <a:spcPct val="150000"/>
              </a:lnSpc>
              <a:spcBef>
                <a:spcPts val="481"/>
              </a:spcBef>
              <a:spcAft>
                <a:spcPts val="0"/>
              </a:spcAft>
              <a:buSzPct val="95000"/>
              <a:buFont typeface="Calibri"/>
              <a:buNone/>
            </a:pPr>
            <a:r>
              <a:t/>
            </a:r>
            <a:endParaRPr/>
          </a:p>
          <a:p>
            <a:pPr indent="0" lvl="0" marL="0" rtl="0" algn="just">
              <a:spcBef>
                <a:spcPts val="481"/>
              </a:spcBef>
              <a:spcAft>
                <a:spcPts val="0"/>
              </a:spcAft>
              <a:buSzPct val="95000"/>
              <a:buNone/>
            </a:pPr>
            <a:r>
              <a:t/>
            </a:r>
            <a:endParaRPr/>
          </a:p>
        </p:txBody>
      </p:sp>
      <p:sp>
        <p:nvSpPr>
          <p:cNvPr id="232" name="Google Shape;232;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0"/>
          <p:cNvSpPr txBox="1"/>
          <p:nvPr>
            <p:ph type="title"/>
          </p:nvPr>
        </p:nvSpPr>
        <p:spPr>
          <a:xfrm>
            <a:off x="457200" y="-459432"/>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CODES OF ETHICS</a:t>
            </a:r>
            <a:endParaRPr sz="4400">
              <a:latin typeface="Constantia"/>
              <a:ea typeface="Constantia"/>
              <a:cs typeface="Constantia"/>
              <a:sym typeface="Constantia"/>
            </a:endParaRPr>
          </a:p>
        </p:txBody>
      </p:sp>
      <p:sp>
        <p:nvSpPr>
          <p:cNvPr id="238" name="Google Shape;238;p20"/>
          <p:cNvSpPr txBox="1"/>
          <p:nvPr>
            <p:ph idx="1" type="body"/>
          </p:nvPr>
        </p:nvSpPr>
        <p:spPr>
          <a:xfrm>
            <a:off x="457200" y="548680"/>
            <a:ext cx="8229600" cy="6408712"/>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lnSpc>
                <a:spcPct val="160000"/>
              </a:lnSpc>
              <a:spcBef>
                <a:spcPts val="0"/>
              </a:spcBef>
              <a:spcAft>
                <a:spcPts val="0"/>
              </a:spcAft>
              <a:buSzPct val="95000"/>
              <a:buNone/>
            </a:pPr>
            <a:r>
              <a:rPr lang="en-GB"/>
              <a:t>Codes of ethics state the moral responsibilities of engineers as seen by the profession, and as represented by a professional society. Engineers must perform under a standard of professional behaviour that requires adherence to the highest principles of ethical conduct.</a:t>
            </a:r>
            <a:endParaRPr/>
          </a:p>
          <a:p>
            <a:pPr indent="-274320" lvl="0" marL="274320" rtl="0" algn="just">
              <a:spcBef>
                <a:spcPts val="403"/>
              </a:spcBef>
              <a:spcAft>
                <a:spcPts val="0"/>
              </a:spcAft>
              <a:buSzPct val="95000"/>
              <a:buFont typeface="Noto Sans Symbols"/>
              <a:buChar char="❑"/>
            </a:pPr>
            <a:r>
              <a:rPr lang="en-GB"/>
              <a:t> </a:t>
            </a:r>
            <a:r>
              <a:rPr i="1" lang="en-GB">
                <a:solidFill>
                  <a:srgbClr val="3D10BC"/>
                </a:solidFill>
              </a:rPr>
              <a:t>The </a:t>
            </a:r>
            <a:r>
              <a:rPr b="1" i="1" lang="en-GB">
                <a:solidFill>
                  <a:srgbClr val="3D10BC"/>
                </a:solidFill>
              </a:rPr>
              <a:t>Roles</a:t>
            </a:r>
            <a:r>
              <a:rPr i="1" lang="en-GB">
                <a:solidFill>
                  <a:srgbClr val="3D10BC"/>
                </a:solidFill>
              </a:rPr>
              <a:t> of the </a:t>
            </a:r>
            <a:r>
              <a:rPr b="1" i="1" lang="en-GB">
                <a:solidFill>
                  <a:srgbClr val="3D10BC"/>
                </a:solidFill>
              </a:rPr>
              <a:t>Codes of Ethics </a:t>
            </a:r>
            <a:r>
              <a:rPr i="1" lang="en-GB">
                <a:solidFill>
                  <a:srgbClr val="3D10BC"/>
                </a:solidFill>
              </a:rPr>
              <a:t>are:</a:t>
            </a:r>
            <a:endParaRPr/>
          </a:p>
          <a:p>
            <a:pPr indent="-274320" lvl="0" marL="274320" rtl="0" algn="just">
              <a:lnSpc>
                <a:spcPct val="170000"/>
              </a:lnSpc>
              <a:spcBef>
                <a:spcPts val="403"/>
              </a:spcBef>
              <a:spcAft>
                <a:spcPts val="0"/>
              </a:spcAft>
              <a:buSzPct val="95000"/>
              <a:buChar char="⚫"/>
            </a:pPr>
            <a:r>
              <a:rPr lang="en-GB"/>
              <a:t>Serving and protecting the public</a:t>
            </a:r>
            <a:endParaRPr/>
          </a:p>
          <a:p>
            <a:pPr indent="-274320" lvl="0" marL="274320" rtl="0" algn="just">
              <a:lnSpc>
                <a:spcPct val="170000"/>
              </a:lnSpc>
              <a:spcBef>
                <a:spcPts val="403"/>
              </a:spcBef>
              <a:spcAft>
                <a:spcPts val="0"/>
              </a:spcAft>
              <a:buSzPct val="95000"/>
              <a:buChar char="⚫"/>
            </a:pPr>
            <a:r>
              <a:rPr lang="en-GB"/>
              <a:t>Providing guidance</a:t>
            </a:r>
            <a:endParaRPr/>
          </a:p>
          <a:p>
            <a:pPr indent="-274320" lvl="0" marL="274320" rtl="0" algn="just">
              <a:lnSpc>
                <a:spcPct val="170000"/>
              </a:lnSpc>
              <a:spcBef>
                <a:spcPts val="403"/>
              </a:spcBef>
              <a:spcAft>
                <a:spcPts val="0"/>
              </a:spcAft>
              <a:buSzPct val="95000"/>
              <a:buChar char="⚫"/>
            </a:pPr>
            <a:r>
              <a:rPr lang="en-GB"/>
              <a:t>Offering inspiration</a:t>
            </a:r>
            <a:endParaRPr/>
          </a:p>
          <a:p>
            <a:pPr indent="-274320" lvl="0" marL="274320" rtl="0" algn="just">
              <a:lnSpc>
                <a:spcPct val="170000"/>
              </a:lnSpc>
              <a:spcBef>
                <a:spcPts val="403"/>
              </a:spcBef>
              <a:spcAft>
                <a:spcPts val="0"/>
              </a:spcAft>
              <a:buSzPct val="95000"/>
              <a:buChar char="⚫"/>
            </a:pPr>
            <a:r>
              <a:rPr lang="en-GB"/>
              <a:t>Establishing shared standards</a:t>
            </a:r>
            <a:endParaRPr/>
          </a:p>
          <a:p>
            <a:pPr indent="-274320" lvl="0" marL="274320" rtl="0" algn="just">
              <a:lnSpc>
                <a:spcPct val="170000"/>
              </a:lnSpc>
              <a:spcBef>
                <a:spcPts val="403"/>
              </a:spcBef>
              <a:spcAft>
                <a:spcPts val="0"/>
              </a:spcAft>
              <a:buSzPct val="95000"/>
              <a:buChar char="⚫"/>
            </a:pPr>
            <a:r>
              <a:rPr lang="en-GB"/>
              <a:t>Supporting responsible professionals</a:t>
            </a:r>
            <a:endParaRPr/>
          </a:p>
          <a:p>
            <a:pPr indent="-274320" lvl="0" marL="274320" rtl="0" algn="just">
              <a:lnSpc>
                <a:spcPct val="170000"/>
              </a:lnSpc>
              <a:spcBef>
                <a:spcPts val="403"/>
              </a:spcBef>
              <a:spcAft>
                <a:spcPts val="0"/>
              </a:spcAft>
              <a:buSzPct val="95000"/>
              <a:buChar char="⚫"/>
            </a:pPr>
            <a:r>
              <a:rPr lang="en-GB"/>
              <a:t>Contributing to education</a:t>
            </a:r>
            <a:endParaRPr/>
          </a:p>
          <a:p>
            <a:pPr indent="-274320" lvl="0" marL="274320" rtl="0" algn="just">
              <a:lnSpc>
                <a:spcPct val="170000"/>
              </a:lnSpc>
              <a:spcBef>
                <a:spcPts val="403"/>
              </a:spcBef>
              <a:spcAft>
                <a:spcPts val="0"/>
              </a:spcAft>
              <a:buSzPct val="95000"/>
              <a:buChar char="⚫"/>
            </a:pPr>
            <a:r>
              <a:rPr lang="en-GB"/>
              <a:t>Deterring wrong doing</a:t>
            </a:r>
            <a:endParaRPr/>
          </a:p>
          <a:p>
            <a:pPr indent="-274320" lvl="0" marL="274320" rtl="0" algn="just">
              <a:lnSpc>
                <a:spcPct val="170000"/>
              </a:lnSpc>
              <a:spcBef>
                <a:spcPts val="403"/>
              </a:spcBef>
              <a:spcAft>
                <a:spcPts val="0"/>
              </a:spcAft>
              <a:buSzPct val="95000"/>
              <a:buChar char="⚫"/>
            </a:pPr>
            <a:r>
              <a:rPr lang="en-GB"/>
              <a:t>Strengthening a profession’s image</a:t>
            </a:r>
            <a:endParaRPr/>
          </a:p>
          <a:p>
            <a:pPr indent="0" lvl="0" marL="0" rtl="0" algn="just">
              <a:spcBef>
                <a:spcPts val="403"/>
              </a:spcBef>
              <a:spcAft>
                <a:spcPts val="0"/>
              </a:spcAft>
              <a:buSzPct val="95000"/>
              <a:buNone/>
            </a:pPr>
            <a:r>
              <a:t/>
            </a:r>
            <a:endParaRPr/>
          </a:p>
          <a:p>
            <a:pPr indent="0" lvl="0" marL="0" rtl="0" algn="just">
              <a:spcBef>
                <a:spcPts val="403"/>
              </a:spcBef>
              <a:spcAft>
                <a:spcPts val="0"/>
              </a:spcAft>
              <a:buSzPct val="95000"/>
              <a:buNone/>
            </a:pPr>
            <a:r>
              <a:t/>
            </a:r>
            <a:endParaRPr/>
          </a:p>
        </p:txBody>
      </p:sp>
      <p:sp>
        <p:nvSpPr>
          <p:cNvPr id="239" name="Google Shape;239;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1"/>
          <p:cNvSpPr txBox="1"/>
          <p:nvPr>
            <p:ph type="title"/>
          </p:nvPr>
        </p:nvSpPr>
        <p:spPr>
          <a:xfrm>
            <a:off x="457200" y="-24340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CODES OF ETHICS</a:t>
            </a:r>
            <a:endParaRPr sz="4400">
              <a:latin typeface="Constantia"/>
              <a:ea typeface="Constantia"/>
              <a:cs typeface="Constantia"/>
              <a:sym typeface="Constantia"/>
            </a:endParaRPr>
          </a:p>
        </p:txBody>
      </p:sp>
      <p:sp>
        <p:nvSpPr>
          <p:cNvPr id="245" name="Google Shape;245;p21"/>
          <p:cNvSpPr txBox="1"/>
          <p:nvPr>
            <p:ph idx="1" type="body"/>
          </p:nvPr>
        </p:nvSpPr>
        <p:spPr>
          <a:xfrm>
            <a:off x="457200" y="980728"/>
            <a:ext cx="8229600" cy="5544616"/>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lnSpc>
                <a:spcPct val="150000"/>
              </a:lnSpc>
              <a:spcBef>
                <a:spcPts val="0"/>
              </a:spcBef>
              <a:spcAft>
                <a:spcPts val="0"/>
              </a:spcAft>
              <a:buSzPts val="2470"/>
              <a:buFont typeface="Noto Sans Symbols"/>
              <a:buChar char="❑"/>
            </a:pPr>
            <a:r>
              <a:rPr lang="en-GB"/>
              <a:t> </a:t>
            </a:r>
            <a:r>
              <a:rPr i="1" lang="en-GB" sz="3200">
                <a:solidFill>
                  <a:srgbClr val="3D10BC"/>
                </a:solidFill>
              </a:rPr>
              <a:t>Limitation to Code of Ethics</a:t>
            </a:r>
            <a:endParaRPr/>
          </a:p>
          <a:p>
            <a:pPr indent="-274320" lvl="0" marL="274320" rtl="0" algn="just">
              <a:lnSpc>
                <a:spcPct val="150000"/>
              </a:lnSpc>
              <a:spcBef>
                <a:spcPts val="520"/>
              </a:spcBef>
              <a:spcAft>
                <a:spcPts val="0"/>
              </a:spcAft>
              <a:buSzPts val="2470"/>
              <a:buChar char="⚫"/>
            </a:pPr>
            <a:r>
              <a:rPr lang="en-GB"/>
              <a:t>The may not be able to straightforwardly address all situations.</a:t>
            </a:r>
            <a:endParaRPr/>
          </a:p>
          <a:p>
            <a:pPr indent="-274320" lvl="0" marL="274320" rtl="0" algn="just">
              <a:lnSpc>
                <a:spcPct val="150000"/>
              </a:lnSpc>
              <a:spcBef>
                <a:spcPts val="520"/>
              </a:spcBef>
              <a:spcAft>
                <a:spcPts val="0"/>
              </a:spcAft>
              <a:buSzPts val="2470"/>
              <a:buChar char="⚫"/>
            </a:pPr>
            <a:r>
              <a:rPr lang="en-GB"/>
              <a:t>Codes provide little guidance on the order of priority as conflict may arise.</a:t>
            </a:r>
            <a:endParaRPr/>
          </a:p>
          <a:p>
            <a:pPr indent="-274320" lvl="0" marL="274320" rtl="0" algn="just">
              <a:lnSpc>
                <a:spcPct val="150000"/>
              </a:lnSpc>
              <a:spcBef>
                <a:spcPts val="520"/>
              </a:spcBef>
              <a:spcAft>
                <a:spcPts val="0"/>
              </a:spcAft>
              <a:buSzPts val="2470"/>
              <a:buChar char="⚫"/>
            </a:pPr>
            <a:r>
              <a:rPr lang="en-GB"/>
              <a:t>Codes are not always the complete and final word and as such can be flawed, both by omission and commission.</a:t>
            </a:r>
            <a:endParaRPr/>
          </a:p>
          <a:p>
            <a:pPr indent="-274320" lvl="0" marL="274320" rtl="0" algn="just">
              <a:lnSpc>
                <a:spcPct val="150000"/>
              </a:lnSpc>
              <a:spcBef>
                <a:spcPts val="520"/>
              </a:spcBef>
              <a:spcAft>
                <a:spcPts val="0"/>
              </a:spcAft>
              <a:buSzPts val="2470"/>
              <a:buChar char="⚫"/>
            </a:pPr>
            <a:r>
              <a:rPr lang="en-GB"/>
              <a:t> Proliferation of codes</a:t>
            </a:r>
            <a:endParaRPr/>
          </a:p>
        </p:txBody>
      </p:sp>
      <p:sp>
        <p:nvSpPr>
          <p:cNvPr id="246" name="Google Shape;246;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2"/>
          <p:cNvSpPr txBox="1"/>
          <p:nvPr>
            <p:ph type="title"/>
          </p:nvPr>
        </p:nvSpPr>
        <p:spPr>
          <a:xfrm>
            <a:off x="457200" y="-171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CODE OF ETHICS</a:t>
            </a:r>
            <a:endParaRPr sz="4400">
              <a:latin typeface="Constantia"/>
              <a:ea typeface="Constantia"/>
              <a:cs typeface="Constantia"/>
              <a:sym typeface="Constantia"/>
            </a:endParaRPr>
          </a:p>
        </p:txBody>
      </p:sp>
      <p:sp>
        <p:nvSpPr>
          <p:cNvPr id="252" name="Google Shape;252;p22"/>
          <p:cNvSpPr txBox="1"/>
          <p:nvPr>
            <p:ph idx="1" type="body"/>
          </p:nvPr>
        </p:nvSpPr>
        <p:spPr>
          <a:xfrm>
            <a:off x="457200" y="1052736"/>
            <a:ext cx="8229600" cy="5271864"/>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lnSpc>
                <a:spcPct val="150000"/>
              </a:lnSpc>
              <a:spcBef>
                <a:spcPts val="0"/>
              </a:spcBef>
              <a:spcAft>
                <a:spcPts val="0"/>
              </a:spcAft>
              <a:buSzPct val="95000"/>
              <a:buFont typeface="Noto Sans Symbols"/>
              <a:buChar char="❑"/>
            </a:pPr>
            <a:r>
              <a:rPr lang="en-GB"/>
              <a:t> </a:t>
            </a:r>
            <a:r>
              <a:rPr i="1" lang="en-GB" sz="3200">
                <a:solidFill>
                  <a:srgbClr val="3D10BC"/>
                </a:solidFill>
              </a:rPr>
              <a:t>Ethical Relativism</a:t>
            </a:r>
            <a:endParaRPr/>
          </a:p>
          <a:p>
            <a:pPr indent="0" lvl="0" marL="0" rtl="0" algn="just">
              <a:lnSpc>
                <a:spcPct val="150000"/>
              </a:lnSpc>
              <a:spcBef>
                <a:spcPts val="481"/>
              </a:spcBef>
              <a:spcAft>
                <a:spcPts val="0"/>
              </a:spcAft>
              <a:buSzPct val="95000"/>
              <a:buNone/>
            </a:pPr>
            <a:r>
              <a:rPr lang="en-GB"/>
              <a:t>Ethical relativism is the theory that holds that morality is relative to the norms of one's culture. That is, whether an action is right or wrong depends on the moral norms of the “society” in which it is practiced. </a:t>
            </a:r>
            <a:endParaRPr/>
          </a:p>
          <a:p>
            <a:pPr indent="-274320" lvl="0" marL="274320" rtl="0" algn="just">
              <a:lnSpc>
                <a:spcPct val="150000"/>
              </a:lnSpc>
              <a:spcBef>
                <a:spcPts val="481"/>
              </a:spcBef>
              <a:spcAft>
                <a:spcPts val="0"/>
              </a:spcAft>
              <a:buSzPct val="95000"/>
              <a:buFont typeface="Noto Sans Symbols"/>
              <a:buChar char="❑"/>
            </a:pPr>
            <a:r>
              <a:rPr lang="en-GB"/>
              <a:t> Problems of Ethical Relativism</a:t>
            </a:r>
            <a:endParaRPr/>
          </a:p>
          <a:p>
            <a:pPr indent="-274320" lvl="0" marL="274320" rtl="0" algn="just">
              <a:lnSpc>
                <a:spcPct val="150000"/>
              </a:lnSpc>
              <a:spcBef>
                <a:spcPts val="481"/>
              </a:spcBef>
              <a:spcAft>
                <a:spcPts val="0"/>
              </a:spcAft>
              <a:buSzPct val="95000"/>
              <a:buChar char="⚫"/>
            </a:pPr>
            <a:r>
              <a:rPr lang="en-GB"/>
              <a:t>Rules out the possibility of critiquing the code of ethics of another professional society.</a:t>
            </a:r>
            <a:endParaRPr/>
          </a:p>
          <a:p>
            <a:pPr indent="-274320" lvl="0" marL="274320" rtl="0" algn="just">
              <a:lnSpc>
                <a:spcPct val="150000"/>
              </a:lnSpc>
              <a:spcBef>
                <a:spcPts val="481"/>
              </a:spcBef>
              <a:spcAft>
                <a:spcPts val="0"/>
              </a:spcAft>
              <a:buSzPct val="95000"/>
              <a:buChar char="⚫"/>
            </a:pPr>
            <a:r>
              <a:rPr lang="en-GB"/>
              <a:t>Gives freedom to individuals to form their own society</a:t>
            </a:r>
            <a:endParaRPr/>
          </a:p>
          <a:p>
            <a:pPr indent="-129238" lvl="0" marL="274320" rtl="0" algn="just">
              <a:lnSpc>
                <a:spcPct val="150000"/>
              </a:lnSpc>
              <a:spcBef>
                <a:spcPts val="481"/>
              </a:spcBef>
              <a:spcAft>
                <a:spcPts val="0"/>
              </a:spcAft>
              <a:buSzPct val="95000"/>
              <a:buNone/>
            </a:pPr>
            <a:r>
              <a:t/>
            </a:r>
            <a:endParaRPr/>
          </a:p>
          <a:p>
            <a:pPr indent="0" lvl="0" marL="0" rtl="0" algn="just">
              <a:lnSpc>
                <a:spcPct val="150000"/>
              </a:lnSpc>
              <a:spcBef>
                <a:spcPts val="481"/>
              </a:spcBef>
              <a:spcAft>
                <a:spcPts val="0"/>
              </a:spcAft>
              <a:buSzPct val="95000"/>
              <a:buNone/>
            </a:pPr>
            <a:r>
              <a:t/>
            </a:r>
            <a:endParaRPr/>
          </a:p>
        </p:txBody>
      </p:sp>
      <p:sp>
        <p:nvSpPr>
          <p:cNvPr id="253" name="Google Shape;253;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3"/>
          <p:cNvSpPr txBox="1"/>
          <p:nvPr>
            <p:ph type="title"/>
          </p:nvPr>
        </p:nvSpPr>
        <p:spPr>
          <a:xfrm>
            <a:off x="323528" y="-27384"/>
            <a:ext cx="8363272" cy="936104"/>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UNIT 3  MORAL FRAMEWORKS</a:t>
            </a:r>
            <a:endParaRPr sz="4400">
              <a:latin typeface="Constantia"/>
              <a:ea typeface="Constantia"/>
              <a:cs typeface="Constantia"/>
              <a:sym typeface="Constantia"/>
            </a:endParaRPr>
          </a:p>
        </p:txBody>
      </p:sp>
      <p:pic>
        <p:nvPicPr>
          <p:cNvPr id="259" name="Google Shape;259;p23"/>
          <p:cNvPicPr preferRelativeResize="0"/>
          <p:nvPr>
            <p:ph idx="2" type="body"/>
          </p:nvPr>
        </p:nvPicPr>
        <p:blipFill rotWithShape="1">
          <a:blip r:embed="rId3">
            <a:alphaModFix/>
          </a:blip>
          <a:srcRect b="0" l="0" r="0" t="0"/>
          <a:stretch/>
        </p:blipFill>
        <p:spPr>
          <a:xfrm>
            <a:off x="4788024" y="1412776"/>
            <a:ext cx="4254624" cy="5040560"/>
          </a:xfrm>
          <a:prstGeom prst="rect">
            <a:avLst/>
          </a:prstGeom>
          <a:noFill/>
          <a:ln>
            <a:noFill/>
          </a:ln>
        </p:spPr>
      </p:pic>
      <p:pic>
        <p:nvPicPr>
          <p:cNvPr id="260" name="Google Shape;260;p23"/>
          <p:cNvPicPr preferRelativeResize="0"/>
          <p:nvPr>
            <p:ph idx="1" type="body"/>
          </p:nvPr>
        </p:nvPicPr>
        <p:blipFill rotWithShape="1">
          <a:blip r:embed="rId4">
            <a:alphaModFix/>
          </a:blip>
          <a:srcRect b="0" l="0" r="0" t="0"/>
          <a:stretch/>
        </p:blipFill>
        <p:spPr>
          <a:xfrm>
            <a:off x="179512" y="1484783"/>
            <a:ext cx="4608512" cy="4752529"/>
          </a:xfrm>
          <a:prstGeom prst="rect">
            <a:avLst/>
          </a:prstGeom>
          <a:noFill/>
          <a:ln>
            <a:noFill/>
          </a:ln>
        </p:spPr>
      </p:pic>
      <p:sp>
        <p:nvSpPr>
          <p:cNvPr id="261" name="Google Shape;261;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4"/>
          <p:cNvSpPr txBox="1"/>
          <p:nvPr>
            <p:ph type="title"/>
          </p:nvPr>
        </p:nvSpPr>
        <p:spPr>
          <a:xfrm>
            <a:off x="179512" y="-27384"/>
            <a:ext cx="8229600" cy="936104"/>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FRAMEWORKS</a:t>
            </a:r>
            <a:endParaRPr/>
          </a:p>
        </p:txBody>
      </p:sp>
      <p:sp>
        <p:nvSpPr>
          <p:cNvPr id="267" name="Google Shape;267;p24"/>
          <p:cNvSpPr txBox="1"/>
          <p:nvPr>
            <p:ph idx="1" type="body"/>
          </p:nvPr>
        </p:nvSpPr>
        <p:spPr>
          <a:xfrm>
            <a:off x="179512" y="1052736"/>
            <a:ext cx="8507288" cy="54006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spcBef>
                <a:spcPts val="0"/>
              </a:spcBef>
              <a:spcAft>
                <a:spcPts val="0"/>
              </a:spcAft>
              <a:buSzPct val="95000"/>
              <a:buFont typeface="Noto Sans Symbols"/>
              <a:buChar char="❑"/>
            </a:pPr>
            <a:r>
              <a:rPr i="1" lang="en-GB" sz="3200">
                <a:solidFill>
                  <a:srgbClr val="3D10BC"/>
                </a:solidFill>
              </a:rPr>
              <a:t>Moral Framework</a:t>
            </a:r>
            <a:endParaRPr/>
          </a:p>
          <a:p>
            <a:pPr indent="0" lvl="0" marL="0" rtl="0" algn="just">
              <a:lnSpc>
                <a:spcPct val="150000"/>
              </a:lnSpc>
              <a:spcBef>
                <a:spcPts val="481"/>
              </a:spcBef>
              <a:spcAft>
                <a:spcPts val="0"/>
              </a:spcAft>
              <a:buSzPct val="95000"/>
              <a:buNone/>
            </a:pPr>
            <a:r>
              <a:rPr lang="en-GB"/>
              <a:t>A set of ethical codes based on moral judgements that guides an individual’s behaviour in choosing a best solution for a problem.</a:t>
            </a:r>
            <a:endParaRPr/>
          </a:p>
          <a:p>
            <a:pPr indent="0" lvl="0" marL="0" rtl="0" algn="just">
              <a:spcBef>
                <a:spcPts val="592"/>
              </a:spcBef>
              <a:spcAft>
                <a:spcPts val="0"/>
              </a:spcAft>
              <a:buSzPct val="95000"/>
              <a:buNone/>
            </a:pPr>
            <a:r>
              <a:t/>
            </a:r>
            <a:endParaRPr sz="3200"/>
          </a:p>
          <a:p>
            <a:pPr indent="-274320" lvl="0" marL="274320" rtl="0" algn="just">
              <a:spcBef>
                <a:spcPts val="592"/>
              </a:spcBef>
              <a:spcAft>
                <a:spcPts val="0"/>
              </a:spcAft>
              <a:buSzPct val="95000"/>
              <a:buFont typeface="Noto Sans Symbols"/>
              <a:buChar char="❑"/>
            </a:pPr>
            <a:r>
              <a:rPr i="1" lang="en-GB" sz="3200">
                <a:solidFill>
                  <a:srgbClr val="3D10BC"/>
                </a:solidFill>
              </a:rPr>
              <a:t>Ethical Theory</a:t>
            </a:r>
            <a:endParaRPr/>
          </a:p>
          <a:p>
            <a:pPr indent="0" lvl="0" marL="0" rtl="0" algn="just">
              <a:lnSpc>
                <a:spcPct val="160000"/>
              </a:lnSpc>
              <a:spcBef>
                <a:spcPts val="481"/>
              </a:spcBef>
              <a:spcAft>
                <a:spcPts val="0"/>
              </a:spcAft>
              <a:buSzPct val="95000"/>
              <a:buNone/>
            </a:pPr>
            <a:r>
              <a:rPr lang="en-GB"/>
              <a:t>A comprehensive perspective on morality that clarifies, organises, and guides moral reflection. It grounds the requirements in engineering codes of ethics  and moral values that play a role in all areas of life.</a:t>
            </a:r>
            <a:endParaRPr/>
          </a:p>
        </p:txBody>
      </p:sp>
      <p:sp>
        <p:nvSpPr>
          <p:cNvPr id="268" name="Google Shape;268;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5"/>
          <p:cNvSpPr txBox="1"/>
          <p:nvPr>
            <p:ph type="title"/>
          </p:nvPr>
        </p:nvSpPr>
        <p:spPr>
          <a:xfrm>
            <a:off x="457200" y="0"/>
            <a:ext cx="8229600" cy="90872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sz="4400">
              <a:latin typeface="Constantia"/>
              <a:ea typeface="Constantia"/>
              <a:cs typeface="Constantia"/>
              <a:sym typeface="Constantia"/>
            </a:endParaRPr>
          </a:p>
        </p:txBody>
      </p:sp>
      <p:sp>
        <p:nvSpPr>
          <p:cNvPr id="274" name="Google Shape;274;p25"/>
          <p:cNvSpPr txBox="1"/>
          <p:nvPr>
            <p:ph idx="1" type="body"/>
          </p:nvPr>
        </p:nvSpPr>
        <p:spPr>
          <a:xfrm>
            <a:off x="107504" y="908720"/>
            <a:ext cx="8856984" cy="5832648"/>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lnSpc>
                <a:spcPct val="150000"/>
              </a:lnSpc>
              <a:spcBef>
                <a:spcPts val="0"/>
              </a:spcBef>
              <a:spcAft>
                <a:spcPts val="0"/>
              </a:spcAft>
              <a:buSzPts val="2660"/>
              <a:buFont typeface="Noto Sans Symbols"/>
              <a:buChar char="❑"/>
            </a:pPr>
            <a:r>
              <a:rPr i="1" lang="en-GB" sz="2800">
                <a:solidFill>
                  <a:srgbClr val="3D10BC"/>
                </a:solidFill>
              </a:rPr>
              <a:t>Types of Ethical Theories</a:t>
            </a:r>
            <a:endParaRPr/>
          </a:p>
          <a:p>
            <a:pPr indent="-274320" lvl="0" marL="274320" rtl="0" algn="just">
              <a:lnSpc>
                <a:spcPct val="150000"/>
              </a:lnSpc>
              <a:spcBef>
                <a:spcPts val="520"/>
              </a:spcBef>
              <a:spcAft>
                <a:spcPts val="0"/>
              </a:spcAft>
              <a:buSzPts val="2470"/>
              <a:buChar char="⚫"/>
            </a:pPr>
            <a:r>
              <a:rPr lang="en-GB"/>
              <a:t>Utilitarianism (maximise the overall good, accounting for those affected by actions)</a:t>
            </a:r>
            <a:endParaRPr/>
          </a:p>
          <a:p>
            <a:pPr indent="-274320" lvl="0" marL="274320" rtl="0" algn="just">
              <a:lnSpc>
                <a:spcPct val="150000"/>
              </a:lnSpc>
              <a:spcBef>
                <a:spcPts val="520"/>
              </a:spcBef>
              <a:spcAft>
                <a:spcPts val="0"/>
              </a:spcAft>
              <a:buSzPts val="2470"/>
              <a:buChar char="⚫"/>
            </a:pPr>
            <a:r>
              <a:rPr lang="en-GB"/>
              <a:t>Right ethics (respect for human rights)</a:t>
            </a:r>
            <a:endParaRPr/>
          </a:p>
          <a:p>
            <a:pPr indent="-274320" lvl="0" marL="274320" rtl="0" algn="just">
              <a:lnSpc>
                <a:spcPct val="150000"/>
              </a:lnSpc>
              <a:spcBef>
                <a:spcPts val="520"/>
              </a:spcBef>
              <a:spcAft>
                <a:spcPts val="0"/>
              </a:spcAft>
              <a:buSzPts val="2470"/>
              <a:buChar char="⚫"/>
            </a:pPr>
            <a:r>
              <a:rPr lang="en-GB"/>
              <a:t>Duty ethics (respect for individuals’ autonomy)</a:t>
            </a:r>
            <a:endParaRPr/>
          </a:p>
          <a:p>
            <a:pPr indent="-274320" lvl="0" marL="274320" rtl="0" algn="just">
              <a:lnSpc>
                <a:spcPct val="150000"/>
              </a:lnSpc>
              <a:spcBef>
                <a:spcPts val="520"/>
              </a:spcBef>
              <a:spcAft>
                <a:spcPts val="0"/>
              </a:spcAft>
              <a:buSzPts val="2470"/>
              <a:buChar char="⚫"/>
            </a:pPr>
            <a:r>
              <a:rPr lang="en-GB"/>
              <a:t>Virtue ethics and self realisation (good character is central to morality)</a:t>
            </a:r>
            <a:endParaRPr/>
          </a:p>
          <a:p>
            <a:pPr indent="-274320" lvl="0" marL="274320" rtl="0" algn="just">
              <a:lnSpc>
                <a:spcPct val="150000"/>
              </a:lnSpc>
              <a:spcBef>
                <a:spcPts val="520"/>
              </a:spcBef>
              <a:spcAft>
                <a:spcPts val="0"/>
              </a:spcAft>
              <a:buSzPts val="2470"/>
              <a:buChar char="⚫"/>
            </a:pPr>
            <a:r>
              <a:rPr lang="en-GB"/>
              <a:t>Self realisation ethics (moral significance of  self fulfilment) </a:t>
            </a:r>
            <a:endParaRPr/>
          </a:p>
        </p:txBody>
      </p:sp>
      <p:sp>
        <p:nvSpPr>
          <p:cNvPr id="275" name="Google Shape;275;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6"/>
          <p:cNvSpPr txBox="1"/>
          <p:nvPr>
            <p:ph type="title"/>
          </p:nvPr>
        </p:nvSpPr>
        <p:spPr>
          <a:xfrm>
            <a:off x="395536" y="188640"/>
            <a:ext cx="8291264" cy="72008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sz="4400">
              <a:latin typeface="Constantia"/>
              <a:ea typeface="Constantia"/>
              <a:cs typeface="Constantia"/>
              <a:sym typeface="Constantia"/>
            </a:endParaRPr>
          </a:p>
        </p:txBody>
      </p:sp>
      <p:sp>
        <p:nvSpPr>
          <p:cNvPr id="281" name="Google Shape;281;p26"/>
          <p:cNvSpPr txBox="1"/>
          <p:nvPr>
            <p:ph idx="1" type="body"/>
          </p:nvPr>
        </p:nvSpPr>
        <p:spPr>
          <a:xfrm>
            <a:off x="323528" y="836712"/>
            <a:ext cx="8496944" cy="5847928"/>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lnSpc>
                <a:spcPct val="150000"/>
              </a:lnSpc>
              <a:spcBef>
                <a:spcPts val="0"/>
              </a:spcBef>
              <a:spcAft>
                <a:spcPts val="0"/>
              </a:spcAft>
              <a:buSzPts val="2660"/>
              <a:buFont typeface="Noto Sans Symbols"/>
              <a:buChar char="❑"/>
            </a:pPr>
            <a:r>
              <a:rPr i="1" lang="en-GB" sz="2800">
                <a:solidFill>
                  <a:srgbClr val="3D10BC"/>
                </a:solidFill>
              </a:rPr>
              <a:t>Utilitarianism</a:t>
            </a:r>
            <a:endParaRPr/>
          </a:p>
          <a:p>
            <a:pPr indent="0" lvl="0" marL="0" rtl="0" algn="just">
              <a:lnSpc>
                <a:spcPct val="150000"/>
              </a:lnSpc>
              <a:spcBef>
                <a:spcPts val="520"/>
              </a:spcBef>
              <a:spcAft>
                <a:spcPts val="0"/>
              </a:spcAft>
              <a:buSzPts val="2470"/>
              <a:buNone/>
            </a:pPr>
            <a:r>
              <a:rPr lang="en-GB"/>
              <a:t>The view to always produce the most good for the most people, giving equal consideration to everyone affected.</a:t>
            </a:r>
            <a:endParaRPr/>
          </a:p>
          <a:p>
            <a:pPr indent="0" lvl="0" marL="0" rtl="0" algn="just">
              <a:lnSpc>
                <a:spcPct val="150000"/>
              </a:lnSpc>
              <a:spcBef>
                <a:spcPts val="520"/>
              </a:spcBef>
              <a:spcAft>
                <a:spcPts val="0"/>
              </a:spcAft>
              <a:buSzPts val="2470"/>
              <a:buNone/>
            </a:pPr>
            <a:r>
              <a:t/>
            </a:r>
            <a:endParaRPr/>
          </a:p>
          <a:p>
            <a:pPr indent="-274320" lvl="0" marL="274320" rtl="0" algn="just">
              <a:lnSpc>
                <a:spcPct val="150000"/>
              </a:lnSpc>
              <a:spcBef>
                <a:spcPts val="560"/>
              </a:spcBef>
              <a:spcAft>
                <a:spcPts val="0"/>
              </a:spcAft>
              <a:buSzPts val="2660"/>
              <a:buFont typeface="Noto Sans Symbols"/>
              <a:buChar char="❑"/>
            </a:pPr>
            <a:r>
              <a:rPr i="1" lang="en-GB" sz="2800">
                <a:solidFill>
                  <a:srgbClr val="3D10BC"/>
                </a:solidFill>
              </a:rPr>
              <a:t>Cost Benefit Analysis</a:t>
            </a:r>
            <a:endParaRPr/>
          </a:p>
          <a:p>
            <a:pPr indent="0" lvl="0" marL="0" rtl="0" algn="just">
              <a:lnSpc>
                <a:spcPct val="150000"/>
              </a:lnSpc>
              <a:spcBef>
                <a:spcPts val="520"/>
              </a:spcBef>
              <a:spcAft>
                <a:spcPts val="0"/>
              </a:spcAft>
              <a:buSzPts val="2470"/>
              <a:buNone/>
            </a:pPr>
            <a:r>
              <a:rPr lang="en-GB"/>
              <a:t>A systematic approach that estimates the strengths and weaknesses of alternatives and determine options that provide the best approach to achieve benefits while preserving savings.</a:t>
            </a:r>
            <a:endParaRPr/>
          </a:p>
          <a:p>
            <a:pPr indent="0" lvl="0" marL="0" rtl="0" algn="just">
              <a:lnSpc>
                <a:spcPct val="150000"/>
              </a:lnSpc>
              <a:spcBef>
                <a:spcPts val="520"/>
              </a:spcBef>
              <a:spcAft>
                <a:spcPts val="0"/>
              </a:spcAft>
              <a:buSzPts val="2470"/>
              <a:buNone/>
            </a:pPr>
            <a:r>
              <a:t/>
            </a:r>
            <a:endParaRPr/>
          </a:p>
          <a:p>
            <a:pPr indent="0" lvl="0" marL="0" rtl="0" algn="just">
              <a:lnSpc>
                <a:spcPct val="150000"/>
              </a:lnSpc>
              <a:spcBef>
                <a:spcPts val="520"/>
              </a:spcBef>
              <a:spcAft>
                <a:spcPts val="0"/>
              </a:spcAft>
              <a:buSzPts val="2470"/>
              <a:buNone/>
            </a:pPr>
            <a:r>
              <a:t/>
            </a:r>
            <a:endParaRPr/>
          </a:p>
          <a:p>
            <a:pPr indent="0" lvl="0" marL="0" rtl="0" algn="just">
              <a:lnSpc>
                <a:spcPct val="150000"/>
              </a:lnSpc>
              <a:spcBef>
                <a:spcPts val="520"/>
              </a:spcBef>
              <a:spcAft>
                <a:spcPts val="0"/>
              </a:spcAft>
              <a:buSzPts val="2470"/>
              <a:buNone/>
            </a:pPr>
            <a:r>
              <a:t/>
            </a:r>
            <a:endParaRPr/>
          </a:p>
        </p:txBody>
      </p:sp>
      <p:sp>
        <p:nvSpPr>
          <p:cNvPr id="282" name="Google Shape;282;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7"/>
          <p:cNvSpPr txBox="1"/>
          <p:nvPr>
            <p:ph type="title"/>
          </p:nvPr>
        </p:nvSpPr>
        <p:spPr>
          <a:xfrm>
            <a:off x="323528" y="116632"/>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onstantia"/>
              <a:buNone/>
            </a:pPr>
            <a:r>
              <a:rPr lang="en-GB" sz="3600">
                <a:latin typeface="Constantia"/>
                <a:ea typeface="Constantia"/>
                <a:cs typeface="Constantia"/>
                <a:sym typeface="Constantia"/>
              </a:rPr>
              <a:t>MORAL FRAMEWORK</a:t>
            </a:r>
            <a:br>
              <a:rPr lang="en-GB" sz="3200">
                <a:latin typeface="Constantia"/>
                <a:ea typeface="Constantia"/>
                <a:cs typeface="Constantia"/>
                <a:sym typeface="Constantia"/>
              </a:rPr>
            </a:br>
            <a:r>
              <a:rPr lang="en-GB" sz="3200">
                <a:latin typeface="Constantia"/>
                <a:ea typeface="Constantia"/>
                <a:cs typeface="Constantia"/>
                <a:sym typeface="Constantia"/>
              </a:rPr>
              <a:t>Utilitarianism versus Cost-Benefit Analysis</a:t>
            </a:r>
            <a:endParaRPr sz="3200">
              <a:latin typeface="Constantia"/>
              <a:ea typeface="Constantia"/>
              <a:cs typeface="Constantia"/>
              <a:sym typeface="Constantia"/>
            </a:endParaRPr>
          </a:p>
        </p:txBody>
      </p:sp>
      <p:pic>
        <p:nvPicPr>
          <p:cNvPr id="288" name="Google Shape;288;p27"/>
          <p:cNvPicPr preferRelativeResize="0"/>
          <p:nvPr>
            <p:ph idx="1" type="body"/>
          </p:nvPr>
        </p:nvPicPr>
        <p:blipFill rotWithShape="1">
          <a:blip r:embed="rId3">
            <a:alphaModFix/>
          </a:blip>
          <a:srcRect b="0" l="0" r="0" t="0"/>
          <a:stretch/>
        </p:blipFill>
        <p:spPr>
          <a:xfrm>
            <a:off x="4572000" y="1700808"/>
            <a:ext cx="4572000" cy="4941168"/>
          </a:xfrm>
          <a:prstGeom prst="rect">
            <a:avLst/>
          </a:prstGeom>
          <a:noFill/>
          <a:ln>
            <a:noFill/>
          </a:ln>
        </p:spPr>
      </p:pic>
      <p:pic>
        <p:nvPicPr>
          <p:cNvPr id="289" name="Google Shape;289;p27"/>
          <p:cNvPicPr preferRelativeResize="0"/>
          <p:nvPr>
            <p:ph idx="2" type="body"/>
          </p:nvPr>
        </p:nvPicPr>
        <p:blipFill rotWithShape="1">
          <a:blip r:embed="rId4">
            <a:alphaModFix/>
          </a:blip>
          <a:srcRect b="0" l="0" r="0" t="0"/>
          <a:stretch/>
        </p:blipFill>
        <p:spPr>
          <a:xfrm>
            <a:off x="323528" y="1628800"/>
            <a:ext cx="4608512" cy="4824536"/>
          </a:xfrm>
          <a:prstGeom prst="rect">
            <a:avLst/>
          </a:prstGeom>
          <a:noFill/>
          <a:ln>
            <a:noFill/>
          </a:ln>
        </p:spPr>
      </p:pic>
      <p:sp>
        <p:nvSpPr>
          <p:cNvPr id="290" name="Google Shape;290;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8"/>
          <p:cNvSpPr txBox="1"/>
          <p:nvPr>
            <p:ph type="title"/>
          </p:nvPr>
        </p:nvSpPr>
        <p:spPr>
          <a:xfrm>
            <a:off x="251520" y="116632"/>
            <a:ext cx="8435280" cy="504056"/>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onstantia"/>
              <a:buNone/>
            </a:pPr>
            <a:r>
              <a:rPr lang="en-GB" sz="4400">
                <a:latin typeface="Constantia"/>
                <a:ea typeface="Constantia"/>
                <a:cs typeface="Constantia"/>
                <a:sym typeface="Constantia"/>
              </a:rPr>
              <a:t>MORAL FRAMEWORK</a:t>
            </a:r>
            <a:endParaRPr/>
          </a:p>
        </p:txBody>
      </p:sp>
      <p:sp>
        <p:nvSpPr>
          <p:cNvPr id="296" name="Google Shape;296;p28"/>
          <p:cNvSpPr txBox="1"/>
          <p:nvPr>
            <p:ph idx="1" type="body"/>
          </p:nvPr>
        </p:nvSpPr>
        <p:spPr>
          <a:xfrm>
            <a:off x="179512" y="548680"/>
            <a:ext cx="8712968" cy="6165304"/>
          </a:xfrm>
          <a:prstGeom prst="rect">
            <a:avLst/>
          </a:prstGeom>
          <a:noFill/>
          <a:ln>
            <a:noFill/>
          </a:ln>
        </p:spPr>
        <p:txBody>
          <a:bodyPr anchorCtr="0" anchor="t" bIns="45700" lIns="91425" spcFirstLastPara="1" rIns="91425" wrap="square" tIns="45700">
            <a:normAutofit fontScale="62500" lnSpcReduction="20000"/>
          </a:bodyPr>
          <a:lstStyle/>
          <a:p>
            <a:pPr indent="-274350" lvl="0" marL="274320" rtl="0" algn="just">
              <a:lnSpc>
                <a:spcPct val="150000"/>
              </a:lnSpc>
              <a:spcBef>
                <a:spcPts val="0"/>
              </a:spcBef>
              <a:spcAft>
                <a:spcPts val="0"/>
              </a:spcAft>
              <a:buSzPct val="95000"/>
              <a:buFont typeface="Noto Sans Symbols"/>
              <a:buChar char="❑"/>
            </a:pPr>
            <a:r>
              <a:rPr lang="en-GB" sz="4500">
                <a:solidFill>
                  <a:srgbClr val="3D10BC"/>
                </a:solidFill>
              </a:rPr>
              <a:t>Utilitarianism versus Cost–Benefit Analysis</a:t>
            </a:r>
            <a:endParaRPr/>
          </a:p>
          <a:p>
            <a:pPr indent="-274350" lvl="0" marL="274320" rtl="0" algn="just">
              <a:lnSpc>
                <a:spcPct val="150000"/>
              </a:lnSpc>
              <a:spcBef>
                <a:spcPts val="462"/>
              </a:spcBef>
              <a:spcAft>
                <a:spcPts val="0"/>
              </a:spcAft>
              <a:buSzPct val="95000"/>
              <a:buChar char="⚫"/>
            </a:pPr>
            <a:r>
              <a:rPr lang="en-GB" sz="3700"/>
              <a:t>Cost-Benefit analysis sounds like utilitarianism, but often it is not. </a:t>
            </a:r>
            <a:endParaRPr/>
          </a:p>
          <a:p>
            <a:pPr indent="-274350" lvl="0" marL="274320" rtl="0" algn="just">
              <a:lnSpc>
                <a:spcPct val="150000"/>
              </a:lnSpc>
              <a:spcBef>
                <a:spcPts val="462"/>
              </a:spcBef>
              <a:spcAft>
                <a:spcPts val="0"/>
              </a:spcAft>
              <a:buSzPct val="95000"/>
              <a:buChar char="⚫"/>
            </a:pPr>
            <a:r>
              <a:rPr lang="en-GB" sz="3700"/>
              <a:t>Cost benefit analysis may usually centre around the good of a corporation, rather than the good of everyone affected, considered impartially.</a:t>
            </a:r>
            <a:endParaRPr/>
          </a:p>
          <a:p>
            <a:pPr indent="-274350" lvl="0" marL="274320" rtl="0" algn="just">
              <a:lnSpc>
                <a:spcPct val="170000"/>
              </a:lnSpc>
              <a:spcBef>
                <a:spcPts val="462"/>
              </a:spcBef>
              <a:spcAft>
                <a:spcPts val="0"/>
              </a:spcAft>
              <a:buSzPct val="95000"/>
              <a:buChar char="⚫"/>
            </a:pPr>
            <a:r>
              <a:rPr lang="en-GB" sz="3700"/>
              <a:t>Utilitarianism  consider the cost and benefits to everyone affected by a project or proposal.</a:t>
            </a:r>
            <a:endParaRPr/>
          </a:p>
          <a:p>
            <a:pPr indent="-274350" lvl="0" marL="274320" rtl="0" algn="just">
              <a:lnSpc>
                <a:spcPct val="150000"/>
              </a:lnSpc>
              <a:spcBef>
                <a:spcPts val="462"/>
              </a:spcBef>
              <a:spcAft>
                <a:spcPts val="0"/>
              </a:spcAft>
              <a:buSzPct val="95000"/>
              <a:buChar char="⚫"/>
            </a:pPr>
            <a:r>
              <a:rPr lang="en-GB" sz="3700"/>
              <a:t>Utilitarianism weighs the interests of each person affected equally, giving no preference to members of a corporation.</a:t>
            </a:r>
            <a:endParaRPr/>
          </a:p>
          <a:p>
            <a:pPr indent="-274350" lvl="0" marL="274320" rtl="0" algn="just">
              <a:lnSpc>
                <a:spcPct val="150000"/>
              </a:lnSpc>
              <a:spcBef>
                <a:spcPts val="462"/>
              </a:spcBef>
              <a:spcAft>
                <a:spcPts val="0"/>
              </a:spcAft>
              <a:buSzPct val="95000"/>
              <a:buChar char="⚫"/>
            </a:pPr>
            <a:r>
              <a:rPr lang="en-GB" sz="3700"/>
              <a:t>Utilitarianism adopts a long term view and do not reduce good and bad to only money.</a:t>
            </a:r>
            <a:endParaRPr sz="3700"/>
          </a:p>
        </p:txBody>
      </p:sp>
      <p:sp>
        <p:nvSpPr>
          <p:cNvPr id="297" name="Google Shape;297;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9"/>
          <p:cNvSpPr txBox="1"/>
          <p:nvPr>
            <p:ph type="title"/>
          </p:nvPr>
        </p:nvSpPr>
        <p:spPr>
          <a:xfrm>
            <a:off x="251520" y="-23428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03" name="Google Shape;303;p29"/>
          <p:cNvSpPr txBox="1"/>
          <p:nvPr>
            <p:ph idx="1" type="body"/>
          </p:nvPr>
        </p:nvSpPr>
        <p:spPr>
          <a:xfrm>
            <a:off x="302840" y="836712"/>
            <a:ext cx="8517632" cy="6021288"/>
          </a:xfrm>
          <a:prstGeom prst="rect">
            <a:avLst/>
          </a:prstGeom>
          <a:noFill/>
          <a:ln>
            <a:noFill/>
          </a:ln>
        </p:spPr>
        <p:txBody>
          <a:bodyPr anchorCtr="0" anchor="t" bIns="45700" lIns="91425" spcFirstLastPara="1" rIns="91425" wrap="square" tIns="45700">
            <a:normAutofit fontScale="92500"/>
          </a:bodyPr>
          <a:lstStyle/>
          <a:p>
            <a:pPr indent="-274320" lvl="0" marL="274320" rtl="0" algn="just">
              <a:lnSpc>
                <a:spcPct val="160000"/>
              </a:lnSpc>
              <a:spcBef>
                <a:spcPts val="0"/>
              </a:spcBef>
              <a:spcAft>
                <a:spcPts val="0"/>
              </a:spcAft>
              <a:buSzPct val="95000"/>
              <a:buFont typeface="Noto Sans Symbols"/>
              <a:buChar char="❑"/>
            </a:pPr>
            <a:r>
              <a:rPr i="1" lang="en-GB" sz="3200">
                <a:solidFill>
                  <a:srgbClr val="3D10BC"/>
                </a:solidFill>
              </a:rPr>
              <a:t>Act-Utilitarianism</a:t>
            </a:r>
            <a:endParaRPr/>
          </a:p>
          <a:p>
            <a:pPr indent="0" lvl="0" marL="0" rtl="0" algn="just">
              <a:lnSpc>
                <a:spcPct val="160000"/>
              </a:lnSpc>
              <a:spcBef>
                <a:spcPts val="481"/>
              </a:spcBef>
              <a:spcAft>
                <a:spcPts val="0"/>
              </a:spcAft>
              <a:buSzPct val="95000"/>
              <a:buNone/>
            </a:pPr>
            <a:r>
              <a:rPr lang="en-GB"/>
              <a:t>A utilitarian theory of ethics which states that a person's act is morally right if and only if it produces the best possible results in that specific situation.</a:t>
            </a:r>
            <a:endParaRPr/>
          </a:p>
          <a:p>
            <a:pPr indent="0" lvl="0" marL="0" rtl="0" algn="just">
              <a:lnSpc>
                <a:spcPct val="160000"/>
              </a:lnSpc>
              <a:spcBef>
                <a:spcPts val="481"/>
              </a:spcBef>
              <a:spcAft>
                <a:spcPts val="0"/>
              </a:spcAft>
              <a:buSzPct val="95000"/>
              <a:buNone/>
            </a:pPr>
            <a:r>
              <a:t/>
            </a:r>
            <a:endParaRPr/>
          </a:p>
          <a:p>
            <a:pPr indent="-274320" lvl="0" marL="274320" rtl="0" algn="just">
              <a:lnSpc>
                <a:spcPct val="160000"/>
              </a:lnSpc>
              <a:spcBef>
                <a:spcPts val="592"/>
              </a:spcBef>
              <a:spcAft>
                <a:spcPts val="0"/>
              </a:spcAft>
              <a:buSzPct val="95000"/>
              <a:buFont typeface="Noto Sans Symbols"/>
              <a:buChar char="❑"/>
            </a:pPr>
            <a:r>
              <a:rPr i="1" lang="en-GB" sz="3200">
                <a:solidFill>
                  <a:srgbClr val="3D10BC"/>
                </a:solidFill>
              </a:rPr>
              <a:t>Rule-Utilitarianism</a:t>
            </a:r>
            <a:endParaRPr/>
          </a:p>
          <a:p>
            <a:pPr indent="0" lvl="0" marL="0" rtl="0" algn="just">
              <a:lnSpc>
                <a:spcPct val="160000"/>
              </a:lnSpc>
              <a:spcBef>
                <a:spcPts val="481"/>
              </a:spcBef>
              <a:spcAft>
                <a:spcPts val="0"/>
              </a:spcAft>
              <a:buSzPct val="95000"/>
              <a:buNone/>
            </a:pPr>
            <a:r>
              <a:rPr lang="en-GB"/>
              <a:t>A form of utilitarian theory which states that an action is right as it conforms to a rule that leads to the greatest good.</a:t>
            </a:r>
            <a:endParaRPr/>
          </a:p>
          <a:p>
            <a:pPr indent="0" lvl="0" marL="0" rtl="0" algn="just">
              <a:lnSpc>
                <a:spcPct val="160000"/>
              </a:lnSpc>
              <a:spcBef>
                <a:spcPts val="481"/>
              </a:spcBef>
              <a:spcAft>
                <a:spcPts val="0"/>
              </a:spcAft>
              <a:buSzPct val="95000"/>
              <a:buNone/>
            </a:pPr>
            <a:r>
              <a:t/>
            </a:r>
            <a:endParaRPr/>
          </a:p>
        </p:txBody>
      </p:sp>
      <p:sp>
        <p:nvSpPr>
          <p:cNvPr id="304" name="Google Shape;304;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0"/>
          <p:cNvSpPr txBox="1"/>
          <p:nvPr>
            <p:ph type="title"/>
          </p:nvPr>
        </p:nvSpPr>
        <p:spPr>
          <a:xfrm>
            <a:off x="251520" y="44624"/>
            <a:ext cx="8363272" cy="72008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10" name="Google Shape;310;p30"/>
          <p:cNvSpPr txBox="1"/>
          <p:nvPr>
            <p:ph idx="1" type="body"/>
          </p:nvPr>
        </p:nvSpPr>
        <p:spPr>
          <a:xfrm>
            <a:off x="323528" y="836712"/>
            <a:ext cx="8568952" cy="5904656"/>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spcBef>
                <a:spcPts val="0"/>
              </a:spcBef>
              <a:spcAft>
                <a:spcPts val="0"/>
              </a:spcAft>
              <a:buSzPct val="95000"/>
              <a:buFont typeface="Noto Sans Symbols"/>
              <a:buChar char="❑"/>
            </a:pPr>
            <a:r>
              <a:rPr i="1" lang="en-GB" sz="3000">
                <a:solidFill>
                  <a:srgbClr val="3D10BC"/>
                </a:solidFill>
              </a:rPr>
              <a:t>Act-Utilitarianism versus Rule-Utilitarianism</a:t>
            </a:r>
            <a:endParaRPr/>
          </a:p>
          <a:p>
            <a:pPr indent="-274320" lvl="0" marL="274320" rtl="0" algn="just">
              <a:lnSpc>
                <a:spcPct val="160000"/>
              </a:lnSpc>
              <a:spcBef>
                <a:spcPts val="481"/>
              </a:spcBef>
              <a:spcAft>
                <a:spcPts val="0"/>
              </a:spcAft>
              <a:buSzPct val="95000"/>
              <a:buChar char="⚫"/>
            </a:pPr>
            <a:r>
              <a:rPr lang="en-GB"/>
              <a:t>Act-utilitarianism  apparently permits some actions that are patently immoral but someway beneficial and causes no or little harm.</a:t>
            </a:r>
            <a:endParaRPr/>
          </a:p>
          <a:p>
            <a:pPr indent="-274320" lvl="0" marL="274320" rtl="0" algn="just">
              <a:lnSpc>
                <a:spcPct val="160000"/>
              </a:lnSpc>
              <a:spcBef>
                <a:spcPts val="481"/>
              </a:spcBef>
              <a:spcAft>
                <a:spcPts val="0"/>
              </a:spcAft>
              <a:buSzPct val="95000"/>
              <a:buChar char="⚫"/>
            </a:pPr>
            <a:r>
              <a:rPr lang="en-GB"/>
              <a:t>Rule-utilitarianism demonstrate that the overall good is promoted  and as such do not permit actions that are not in line with principles .</a:t>
            </a:r>
            <a:endParaRPr/>
          </a:p>
          <a:p>
            <a:pPr indent="-274320" lvl="0" marL="274320" rtl="0" algn="just">
              <a:lnSpc>
                <a:spcPct val="160000"/>
              </a:lnSpc>
              <a:spcBef>
                <a:spcPts val="481"/>
              </a:spcBef>
              <a:spcAft>
                <a:spcPts val="0"/>
              </a:spcAft>
              <a:buSzPct val="95000"/>
              <a:buChar char="⚫"/>
            </a:pPr>
            <a:r>
              <a:rPr lang="en-GB"/>
              <a:t>Act-utilitarianism seems to permit injustice by promoting social good at the expense of individuals.</a:t>
            </a:r>
            <a:endParaRPr/>
          </a:p>
          <a:p>
            <a:pPr indent="-274320" lvl="0" marL="274320" rtl="0" algn="just">
              <a:lnSpc>
                <a:spcPct val="160000"/>
              </a:lnSpc>
              <a:spcBef>
                <a:spcPts val="481"/>
              </a:spcBef>
              <a:spcAft>
                <a:spcPts val="0"/>
              </a:spcAft>
              <a:buSzPct val="95000"/>
              <a:buChar char="⚫"/>
            </a:pPr>
            <a:r>
              <a:rPr lang="en-GB"/>
              <a:t>Rule-utilitarianism on the other hand emphasises the general good in heeding to rules.</a:t>
            </a:r>
            <a:endParaRPr/>
          </a:p>
        </p:txBody>
      </p:sp>
      <p:sp>
        <p:nvSpPr>
          <p:cNvPr id="311" name="Google Shape;311;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1"/>
          <p:cNvSpPr txBox="1"/>
          <p:nvPr>
            <p:ph type="title"/>
          </p:nvPr>
        </p:nvSpPr>
        <p:spPr>
          <a:xfrm>
            <a:off x="251520" y="-27384"/>
            <a:ext cx="8229600" cy="79208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17" name="Google Shape;317;p31"/>
          <p:cNvSpPr txBox="1"/>
          <p:nvPr>
            <p:ph idx="1" type="body"/>
          </p:nvPr>
        </p:nvSpPr>
        <p:spPr>
          <a:xfrm>
            <a:off x="251520" y="764704"/>
            <a:ext cx="8640960" cy="5976664"/>
          </a:xfrm>
          <a:prstGeom prst="rect">
            <a:avLst/>
          </a:prstGeom>
          <a:noFill/>
          <a:ln>
            <a:noFill/>
          </a:ln>
        </p:spPr>
        <p:txBody>
          <a:bodyPr anchorCtr="0" anchor="t" bIns="45700" lIns="91425" spcFirstLastPara="1" rIns="91425" wrap="square" tIns="45700">
            <a:normAutofit/>
          </a:bodyPr>
          <a:lstStyle/>
          <a:p>
            <a:pPr indent="-274320" lvl="0" marL="274320" rtl="0" algn="just">
              <a:lnSpc>
                <a:spcPct val="150000"/>
              </a:lnSpc>
              <a:spcBef>
                <a:spcPts val="0"/>
              </a:spcBef>
              <a:spcAft>
                <a:spcPts val="0"/>
              </a:spcAft>
              <a:buSzPts val="2660"/>
              <a:buFont typeface="Noto Sans Symbols"/>
              <a:buChar char="❑"/>
            </a:pPr>
            <a:r>
              <a:rPr i="1" lang="en-GB" sz="2800">
                <a:solidFill>
                  <a:srgbClr val="3D10BC"/>
                </a:solidFill>
              </a:rPr>
              <a:t>Right Ethics</a:t>
            </a:r>
            <a:endParaRPr/>
          </a:p>
          <a:p>
            <a:pPr indent="0" lvl="0" marL="0" rtl="0" algn="just">
              <a:lnSpc>
                <a:spcPct val="150000"/>
              </a:lnSpc>
              <a:spcBef>
                <a:spcPts val="520"/>
              </a:spcBef>
              <a:spcAft>
                <a:spcPts val="0"/>
              </a:spcAft>
              <a:buSzPts val="2470"/>
              <a:buNone/>
            </a:pPr>
            <a:r>
              <a:rPr lang="en-GB"/>
              <a:t>The regard for human right as fundamental.</a:t>
            </a:r>
            <a:endParaRPr/>
          </a:p>
          <a:p>
            <a:pPr indent="-274320" lvl="0" marL="274320" rtl="0" algn="just">
              <a:lnSpc>
                <a:spcPct val="150000"/>
              </a:lnSpc>
              <a:spcBef>
                <a:spcPts val="560"/>
              </a:spcBef>
              <a:spcAft>
                <a:spcPts val="0"/>
              </a:spcAft>
              <a:buSzPts val="2660"/>
              <a:buFont typeface="Noto Sans Symbols"/>
              <a:buChar char="❑"/>
            </a:pPr>
            <a:r>
              <a:rPr i="1" lang="en-GB" sz="2800">
                <a:solidFill>
                  <a:srgbClr val="3D10BC"/>
                </a:solidFill>
              </a:rPr>
              <a:t>Duty ethics</a:t>
            </a:r>
            <a:endParaRPr/>
          </a:p>
          <a:p>
            <a:pPr indent="0" lvl="0" marL="0" rtl="0" algn="just">
              <a:lnSpc>
                <a:spcPct val="150000"/>
              </a:lnSpc>
              <a:spcBef>
                <a:spcPts val="520"/>
              </a:spcBef>
              <a:spcAft>
                <a:spcPts val="0"/>
              </a:spcAft>
              <a:buSzPts val="2470"/>
              <a:buNone/>
            </a:pPr>
            <a:r>
              <a:rPr lang="en-GB"/>
              <a:t>The regard for duty of respect for autonomy as fundamental.</a:t>
            </a:r>
            <a:endParaRPr/>
          </a:p>
          <a:p>
            <a:pPr indent="0" lvl="0" marL="0" rtl="0" algn="just">
              <a:lnSpc>
                <a:spcPct val="150000"/>
              </a:lnSpc>
              <a:spcBef>
                <a:spcPts val="520"/>
              </a:spcBef>
              <a:spcAft>
                <a:spcPts val="0"/>
              </a:spcAft>
              <a:buSzPts val="2470"/>
              <a:buNone/>
            </a:pPr>
            <a:r>
              <a:t/>
            </a:r>
            <a:endParaRPr/>
          </a:p>
          <a:p>
            <a:pPr indent="0" lvl="0" marL="0" rtl="0" algn="just">
              <a:lnSpc>
                <a:spcPct val="150000"/>
              </a:lnSpc>
              <a:spcBef>
                <a:spcPts val="520"/>
              </a:spcBef>
              <a:spcAft>
                <a:spcPts val="0"/>
              </a:spcAft>
              <a:buSzPts val="2470"/>
              <a:buNone/>
            </a:pPr>
            <a:r>
              <a:rPr lang="en-GB"/>
              <a:t>Both theories emphasise respect for individuals’ dignity and worth, in contrast with utilitarians’ emphasises on general good.</a:t>
            </a:r>
            <a:endParaRPr/>
          </a:p>
        </p:txBody>
      </p:sp>
      <p:sp>
        <p:nvSpPr>
          <p:cNvPr id="318" name="Google Shape;318;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2"/>
          <p:cNvSpPr txBox="1"/>
          <p:nvPr>
            <p:ph type="title"/>
          </p:nvPr>
        </p:nvSpPr>
        <p:spPr>
          <a:xfrm>
            <a:off x="179512" y="116632"/>
            <a:ext cx="8208912" cy="92697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24" name="Google Shape;324;p32"/>
          <p:cNvSpPr txBox="1"/>
          <p:nvPr>
            <p:ph idx="1" type="body"/>
          </p:nvPr>
        </p:nvSpPr>
        <p:spPr>
          <a:xfrm>
            <a:off x="179512" y="980728"/>
            <a:ext cx="8640960" cy="576064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50000"/>
              </a:lnSpc>
              <a:spcBef>
                <a:spcPts val="0"/>
              </a:spcBef>
              <a:spcAft>
                <a:spcPts val="0"/>
              </a:spcAft>
              <a:buSzPts val="2470"/>
              <a:buNone/>
            </a:pPr>
            <a:r>
              <a:t/>
            </a:r>
            <a:endParaRPr/>
          </a:p>
          <a:p>
            <a:pPr indent="0" lvl="0" marL="0" rtl="0" algn="just">
              <a:lnSpc>
                <a:spcPct val="150000"/>
              </a:lnSpc>
              <a:spcBef>
                <a:spcPts val="520"/>
              </a:spcBef>
              <a:spcAft>
                <a:spcPts val="0"/>
              </a:spcAft>
              <a:buSzPts val="2470"/>
              <a:buNone/>
            </a:pPr>
            <a:r>
              <a:rPr b="1" i="1" lang="en-GB">
                <a:solidFill>
                  <a:srgbClr val="3D10BC"/>
                </a:solidFill>
              </a:rPr>
              <a:t>Right ethics </a:t>
            </a:r>
            <a:r>
              <a:rPr lang="en-GB"/>
              <a:t>and </a:t>
            </a:r>
            <a:r>
              <a:rPr b="1" i="1" lang="en-GB">
                <a:solidFill>
                  <a:srgbClr val="3D10BC"/>
                </a:solidFill>
              </a:rPr>
              <a:t>duty ethics</a:t>
            </a:r>
            <a:r>
              <a:rPr lang="en-GB">
                <a:solidFill>
                  <a:srgbClr val="3D10BC"/>
                </a:solidFill>
              </a:rPr>
              <a:t> </a:t>
            </a:r>
            <a:r>
              <a:rPr lang="en-GB"/>
              <a:t>are largely mirror images of each other.</a:t>
            </a:r>
            <a:endParaRPr/>
          </a:p>
          <a:p>
            <a:pPr indent="0" lvl="0" marL="0" rtl="0" algn="just">
              <a:lnSpc>
                <a:spcPct val="150000"/>
              </a:lnSpc>
              <a:spcBef>
                <a:spcPts val="520"/>
              </a:spcBef>
              <a:spcAft>
                <a:spcPts val="0"/>
              </a:spcAft>
              <a:buSzPts val="2470"/>
              <a:buNone/>
            </a:pPr>
            <a:r>
              <a:t/>
            </a:r>
            <a:endParaRPr/>
          </a:p>
          <a:p>
            <a:pPr indent="0" lvl="0" marL="0" rtl="0" algn="just">
              <a:lnSpc>
                <a:spcPct val="150000"/>
              </a:lnSpc>
              <a:spcBef>
                <a:spcPts val="520"/>
              </a:spcBef>
              <a:spcAft>
                <a:spcPts val="0"/>
              </a:spcAft>
              <a:buSzPts val="2470"/>
              <a:buNone/>
            </a:pPr>
            <a:r>
              <a:rPr lang="en-GB"/>
              <a:t>That is:</a:t>
            </a:r>
            <a:endParaRPr/>
          </a:p>
          <a:p>
            <a:pPr indent="0" lvl="0" marL="0" rtl="0" algn="just">
              <a:lnSpc>
                <a:spcPct val="150000"/>
              </a:lnSpc>
              <a:spcBef>
                <a:spcPts val="520"/>
              </a:spcBef>
              <a:spcAft>
                <a:spcPts val="0"/>
              </a:spcAft>
              <a:buSzPts val="2470"/>
              <a:buNone/>
            </a:pPr>
            <a:r>
              <a:rPr lang="en-GB"/>
              <a:t>Because you have a right to life, I have a duty not to kill you.</a:t>
            </a:r>
            <a:endParaRPr/>
          </a:p>
          <a:p>
            <a:pPr indent="0" lvl="0" marL="0" rtl="0" algn="just">
              <a:lnSpc>
                <a:spcPct val="150000"/>
              </a:lnSpc>
              <a:spcBef>
                <a:spcPts val="520"/>
              </a:spcBef>
              <a:spcAft>
                <a:spcPts val="0"/>
              </a:spcAft>
              <a:buSzPts val="2470"/>
              <a:buNone/>
            </a:pPr>
            <a:r>
              <a:t/>
            </a:r>
            <a:endParaRPr/>
          </a:p>
          <a:p>
            <a:pPr indent="0" lvl="0" marL="0" rtl="0" algn="just">
              <a:lnSpc>
                <a:spcPct val="150000"/>
              </a:lnSpc>
              <a:spcBef>
                <a:spcPts val="520"/>
              </a:spcBef>
              <a:spcAft>
                <a:spcPts val="0"/>
              </a:spcAft>
              <a:buSzPts val="2470"/>
              <a:buNone/>
            </a:pPr>
            <a:r>
              <a:rPr lang="en-GB"/>
              <a:t>If I have a duty not to deceive you then you have a right not to be deceived. </a:t>
            </a:r>
            <a:endParaRPr/>
          </a:p>
        </p:txBody>
      </p:sp>
      <p:sp>
        <p:nvSpPr>
          <p:cNvPr id="325" name="Google Shape;325;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3"/>
          <p:cNvSpPr txBox="1"/>
          <p:nvPr>
            <p:ph type="title"/>
          </p:nvPr>
        </p:nvSpPr>
        <p:spPr>
          <a:xfrm>
            <a:off x="251520" y="476672"/>
            <a:ext cx="8435280" cy="79208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GB" sz="4400"/>
              <a:t>MORAL FRAMEWORK</a:t>
            </a:r>
            <a:endParaRPr/>
          </a:p>
        </p:txBody>
      </p:sp>
      <p:sp>
        <p:nvSpPr>
          <p:cNvPr id="331" name="Google Shape;331;p33"/>
          <p:cNvSpPr txBox="1"/>
          <p:nvPr>
            <p:ph idx="1" type="body"/>
          </p:nvPr>
        </p:nvSpPr>
        <p:spPr>
          <a:xfrm>
            <a:off x="251520" y="1268760"/>
            <a:ext cx="8568952" cy="54006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95000"/>
              <a:buFont typeface="Noto Sans Symbols"/>
              <a:buChar char="❑"/>
            </a:pPr>
            <a:r>
              <a:rPr lang="en-GB" sz="3200">
                <a:solidFill>
                  <a:srgbClr val="3D10BC"/>
                </a:solidFill>
              </a:rPr>
              <a:t>Human Rights</a:t>
            </a:r>
            <a:endParaRPr/>
          </a:p>
          <a:p>
            <a:pPr indent="0" lvl="0" marL="0" rtl="0" algn="l">
              <a:lnSpc>
                <a:spcPct val="150000"/>
              </a:lnSpc>
              <a:spcBef>
                <a:spcPts val="481"/>
              </a:spcBef>
              <a:spcAft>
                <a:spcPts val="0"/>
              </a:spcAft>
              <a:buSzPct val="95000"/>
              <a:buNone/>
            </a:pPr>
            <a:r>
              <a:rPr lang="en-GB"/>
              <a:t>These constitute a moral authority to make legitimate moral demands on others to respect our choices, recognising that others can make similar claims on us.</a:t>
            </a:r>
            <a:endParaRPr/>
          </a:p>
          <a:p>
            <a:pPr indent="0" lvl="0" marL="0" rtl="0" algn="l">
              <a:lnSpc>
                <a:spcPct val="150000"/>
              </a:lnSpc>
              <a:spcBef>
                <a:spcPts val="481"/>
              </a:spcBef>
              <a:spcAft>
                <a:spcPts val="0"/>
              </a:spcAft>
              <a:buSzPct val="95000"/>
              <a:buNone/>
            </a:pPr>
            <a:r>
              <a:t/>
            </a:r>
            <a:endParaRPr/>
          </a:p>
          <a:p>
            <a:pPr indent="0" lvl="0" marL="0" rtl="0" algn="l">
              <a:lnSpc>
                <a:spcPct val="150000"/>
              </a:lnSpc>
              <a:spcBef>
                <a:spcPts val="481"/>
              </a:spcBef>
              <a:spcAft>
                <a:spcPts val="0"/>
              </a:spcAft>
              <a:buSzPct val="95000"/>
              <a:buNone/>
            </a:pPr>
            <a:r>
              <a:rPr lang="en-GB"/>
              <a:t>Holding paramount the </a:t>
            </a:r>
            <a:r>
              <a:rPr b="1" i="1" lang="en-GB">
                <a:solidFill>
                  <a:srgbClr val="FF0000"/>
                </a:solidFill>
              </a:rPr>
              <a:t>safety, health</a:t>
            </a:r>
            <a:r>
              <a:rPr b="1" i="1" lang="en-GB"/>
              <a:t> </a:t>
            </a:r>
            <a:r>
              <a:rPr lang="en-GB"/>
              <a:t>and</a:t>
            </a:r>
            <a:r>
              <a:rPr b="1" i="1" lang="en-GB"/>
              <a:t> </a:t>
            </a:r>
            <a:r>
              <a:rPr b="1" i="1" lang="en-GB">
                <a:solidFill>
                  <a:srgbClr val="FF0000"/>
                </a:solidFill>
              </a:rPr>
              <a:t>welfare </a:t>
            </a:r>
            <a:r>
              <a:rPr lang="en-GB"/>
              <a:t>of the public can be interpreted as having respect for public’s rights to </a:t>
            </a:r>
            <a:r>
              <a:rPr b="1" i="1" lang="en-GB">
                <a:solidFill>
                  <a:srgbClr val="FF0000"/>
                </a:solidFill>
              </a:rPr>
              <a:t>life</a:t>
            </a:r>
            <a:r>
              <a:rPr lang="en-GB"/>
              <a:t>, rights to </a:t>
            </a:r>
            <a:r>
              <a:rPr b="1" i="1" lang="en-GB">
                <a:solidFill>
                  <a:srgbClr val="FF0000"/>
                </a:solidFill>
              </a:rPr>
              <a:t>privacy</a:t>
            </a:r>
            <a:r>
              <a:rPr lang="en-GB"/>
              <a:t>, rights </a:t>
            </a:r>
            <a:r>
              <a:rPr b="1" i="1" lang="en-GB">
                <a:solidFill>
                  <a:srgbClr val="FF0000"/>
                </a:solidFill>
              </a:rPr>
              <a:t>not to be injured</a:t>
            </a:r>
            <a:r>
              <a:rPr lang="en-GB"/>
              <a:t>, rights to </a:t>
            </a:r>
            <a:r>
              <a:rPr b="1" i="1" lang="en-GB">
                <a:solidFill>
                  <a:srgbClr val="FF0000"/>
                </a:solidFill>
              </a:rPr>
              <a:t>receive benefits through fair and honest exchanges</a:t>
            </a:r>
            <a:r>
              <a:rPr b="1" lang="en-GB">
                <a:solidFill>
                  <a:srgbClr val="FF0000"/>
                </a:solidFill>
              </a:rPr>
              <a:t> </a:t>
            </a:r>
            <a:r>
              <a:rPr lang="en-GB"/>
              <a:t>in a free marketplace.</a:t>
            </a:r>
            <a:endParaRPr/>
          </a:p>
        </p:txBody>
      </p:sp>
      <p:sp>
        <p:nvSpPr>
          <p:cNvPr id="332" name="Google Shape;332;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4"/>
          <p:cNvSpPr txBox="1"/>
          <p:nvPr>
            <p:ph type="title"/>
          </p:nvPr>
        </p:nvSpPr>
        <p:spPr>
          <a:xfrm>
            <a:off x="179512" y="0"/>
            <a:ext cx="8229600" cy="89959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38" name="Google Shape;338;p34"/>
          <p:cNvSpPr txBox="1"/>
          <p:nvPr>
            <p:ph idx="1" type="body"/>
          </p:nvPr>
        </p:nvSpPr>
        <p:spPr>
          <a:xfrm>
            <a:off x="395536" y="912088"/>
            <a:ext cx="8229600" cy="575727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660"/>
              <a:buFont typeface="Noto Sans Symbols"/>
              <a:buChar char="❑"/>
            </a:pPr>
            <a:r>
              <a:rPr i="1" lang="en-GB" sz="2800">
                <a:solidFill>
                  <a:srgbClr val="3D10BC"/>
                </a:solidFill>
              </a:rPr>
              <a:t>Two versions of Right Ethics</a:t>
            </a:r>
            <a:endParaRPr/>
          </a:p>
          <a:p>
            <a:pPr indent="-274320" lvl="0" marL="274320" rtl="0" algn="just">
              <a:lnSpc>
                <a:spcPct val="150000"/>
              </a:lnSpc>
              <a:spcBef>
                <a:spcPts val="520"/>
              </a:spcBef>
              <a:spcAft>
                <a:spcPts val="0"/>
              </a:spcAft>
              <a:buSzPts val="2470"/>
              <a:buChar char="⚫"/>
            </a:pPr>
            <a:r>
              <a:rPr lang="en-GB"/>
              <a:t>The first version  conceives of human rights as intimately related to communities of people mainly welfare rights</a:t>
            </a:r>
            <a:endParaRPr/>
          </a:p>
          <a:p>
            <a:pPr indent="0" lvl="0" marL="0" rtl="0" algn="just">
              <a:lnSpc>
                <a:spcPct val="150000"/>
              </a:lnSpc>
              <a:spcBef>
                <a:spcPts val="520"/>
              </a:spcBef>
              <a:spcAft>
                <a:spcPts val="0"/>
              </a:spcAft>
              <a:buSzPts val="2470"/>
              <a:buNone/>
            </a:pPr>
            <a:r>
              <a:t/>
            </a:r>
            <a:endParaRPr/>
          </a:p>
          <a:p>
            <a:pPr indent="-274320" lvl="0" marL="274320" rtl="0" algn="just">
              <a:lnSpc>
                <a:spcPct val="150000"/>
              </a:lnSpc>
              <a:spcBef>
                <a:spcPts val="520"/>
              </a:spcBef>
              <a:spcAft>
                <a:spcPts val="0"/>
              </a:spcAft>
              <a:buSzPts val="2470"/>
              <a:buChar char="⚫"/>
            </a:pPr>
            <a:r>
              <a:rPr lang="en-GB"/>
              <a:t>The second version of rights ethics considers only liberty rights and denies there are welfare human rights</a:t>
            </a:r>
            <a:endParaRPr/>
          </a:p>
        </p:txBody>
      </p:sp>
      <p:sp>
        <p:nvSpPr>
          <p:cNvPr id="339" name="Google Shape;339;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5"/>
          <p:cNvSpPr txBox="1"/>
          <p:nvPr>
            <p:ph type="title"/>
          </p:nvPr>
        </p:nvSpPr>
        <p:spPr>
          <a:xfrm>
            <a:off x="457200" y="341784"/>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45" name="Google Shape;345;p35"/>
          <p:cNvSpPr txBox="1"/>
          <p:nvPr>
            <p:ph idx="1" type="body"/>
          </p:nvPr>
        </p:nvSpPr>
        <p:spPr>
          <a:xfrm>
            <a:off x="457200" y="1920085"/>
            <a:ext cx="4258816" cy="4749276"/>
          </a:xfrm>
          <a:prstGeom prst="rect">
            <a:avLst/>
          </a:prstGeom>
          <a:noFill/>
          <a:ln>
            <a:noFill/>
          </a:ln>
        </p:spPr>
        <p:txBody>
          <a:bodyPr anchorCtr="0" anchor="t" bIns="45700" lIns="91425" spcFirstLastPara="1" rIns="91425" wrap="square" tIns="45700">
            <a:normAutofit fontScale="70000" lnSpcReduction="20000"/>
          </a:bodyPr>
          <a:lstStyle/>
          <a:p>
            <a:pPr indent="-274320" lvl="0" marL="274320" rtl="0" algn="just">
              <a:lnSpc>
                <a:spcPct val="170000"/>
              </a:lnSpc>
              <a:spcBef>
                <a:spcPts val="0"/>
              </a:spcBef>
              <a:spcAft>
                <a:spcPts val="0"/>
              </a:spcAft>
              <a:buSzPct val="95000"/>
              <a:buFont typeface="Noto Sans Symbols"/>
              <a:buChar char="❑"/>
            </a:pPr>
            <a:r>
              <a:rPr lang="en-GB" sz="3200">
                <a:solidFill>
                  <a:srgbClr val="3D10BC"/>
                </a:solidFill>
              </a:rPr>
              <a:t>Duty Ethics</a:t>
            </a:r>
            <a:endParaRPr/>
          </a:p>
          <a:p>
            <a:pPr indent="0" lvl="0" marL="0" rtl="0" algn="just">
              <a:lnSpc>
                <a:spcPct val="170000"/>
              </a:lnSpc>
              <a:spcBef>
                <a:spcPts val="364"/>
              </a:spcBef>
              <a:spcAft>
                <a:spcPts val="0"/>
              </a:spcAft>
              <a:buSzPct val="95000"/>
              <a:buNone/>
            </a:pPr>
            <a:r>
              <a:rPr lang="en-GB"/>
              <a:t>These are right actions required by duties to respect the liberty or autonomy of individuals.</a:t>
            </a:r>
            <a:endParaRPr/>
          </a:p>
          <a:p>
            <a:pPr indent="0" lvl="0" marL="0" rtl="0" algn="just">
              <a:lnSpc>
                <a:spcPct val="170000"/>
              </a:lnSpc>
              <a:spcBef>
                <a:spcPts val="364"/>
              </a:spcBef>
              <a:spcAft>
                <a:spcPts val="0"/>
              </a:spcAft>
              <a:buSzPct val="95000"/>
              <a:buNone/>
            </a:pPr>
            <a:r>
              <a:rPr lang="en-GB"/>
              <a:t>A writer suggests the following list of important duties</a:t>
            </a:r>
            <a:endParaRPr/>
          </a:p>
          <a:p>
            <a:pPr indent="0" lvl="0" marL="0" rtl="0" algn="just">
              <a:spcBef>
                <a:spcPts val="364"/>
              </a:spcBef>
              <a:spcAft>
                <a:spcPts val="0"/>
              </a:spcAft>
              <a:buSzPct val="95000"/>
              <a:buNone/>
            </a:pPr>
            <a:r>
              <a:t/>
            </a:r>
            <a:endParaRPr/>
          </a:p>
          <a:p>
            <a:pPr indent="0" lvl="0" marL="0" rtl="0" algn="just">
              <a:spcBef>
                <a:spcPts val="364"/>
              </a:spcBef>
              <a:spcAft>
                <a:spcPts val="0"/>
              </a:spcAft>
              <a:buSzPct val="95000"/>
              <a:buNone/>
            </a:pPr>
            <a:r>
              <a:t/>
            </a:r>
            <a:endParaRPr/>
          </a:p>
        </p:txBody>
      </p:sp>
      <p:sp>
        <p:nvSpPr>
          <p:cNvPr id="346" name="Google Shape;346;p35"/>
          <p:cNvSpPr txBox="1"/>
          <p:nvPr>
            <p:ph idx="2" type="body"/>
          </p:nvPr>
        </p:nvSpPr>
        <p:spPr>
          <a:xfrm>
            <a:off x="5004048" y="1920085"/>
            <a:ext cx="4038600" cy="4434840"/>
          </a:xfrm>
          <a:prstGeom prst="rect">
            <a:avLst/>
          </a:prstGeom>
          <a:noFill/>
          <a:ln>
            <a:noFill/>
          </a:ln>
        </p:spPr>
        <p:txBody>
          <a:bodyPr anchorCtr="0" anchor="t" bIns="45700" lIns="91425" spcFirstLastPara="1" rIns="91425" wrap="square" tIns="45700">
            <a:normAutofit fontScale="70000" lnSpcReduction="20000"/>
          </a:bodyPr>
          <a:lstStyle/>
          <a:p>
            <a:pPr indent="-514350" lvl="0" marL="514350" rtl="0" algn="just">
              <a:lnSpc>
                <a:spcPct val="160000"/>
              </a:lnSpc>
              <a:spcBef>
                <a:spcPts val="0"/>
              </a:spcBef>
              <a:spcAft>
                <a:spcPts val="0"/>
              </a:spcAft>
              <a:buSzPct val="95000"/>
              <a:buFont typeface="Calibri"/>
              <a:buAutoNum type="arabicPeriod"/>
            </a:pPr>
            <a:r>
              <a:rPr lang="en-GB"/>
              <a:t>Don’t kill</a:t>
            </a:r>
            <a:endParaRPr/>
          </a:p>
          <a:p>
            <a:pPr indent="-514350" lvl="0" marL="514350" rtl="0" algn="just">
              <a:lnSpc>
                <a:spcPct val="160000"/>
              </a:lnSpc>
              <a:spcBef>
                <a:spcPts val="364"/>
              </a:spcBef>
              <a:spcAft>
                <a:spcPts val="0"/>
              </a:spcAft>
              <a:buSzPct val="95000"/>
              <a:buFont typeface="Calibri"/>
              <a:buAutoNum type="arabicPeriod"/>
            </a:pPr>
            <a:r>
              <a:rPr lang="en-GB"/>
              <a:t>Don’t cause pain </a:t>
            </a:r>
            <a:endParaRPr/>
          </a:p>
          <a:p>
            <a:pPr indent="-514350" lvl="0" marL="514350" rtl="0" algn="just">
              <a:lnSpc>
                <a:spcPct val="160000"/>
              </a:lnSpc>
              <a:spcBef>
                <a:spcPts val="364"/>
              </a:spcBef>
              <a:spcAft>
                <a:spcPts val="0"/>
              </a:spcAft>
              <a:buSzPct val="95000"/>
              <a:buFont typeface="Calibri"/>
              <a:buAutoNum type="arabicPeriod"/>
            </a:pPr>
            <a:r>
              <a:rPr lang="en-GB"/>
              <a:t>Don’t disable</a:t>
            </a:r>
            <a:endParaRPr/>
          </a:p>
          <a:p>
            <a:pPr indent="-514350" lvl="0" marL="514350" rtl="0" algn="just">
              <a:lnSpc>
                <a:spcPct val="160000"/>
              </a:lnSpc>
              <a:spcBef>
                <a:spcPts val="364"/>
              </a:spcBef>
              <a:spcAft>
                <a:spcPts val="0"/>
              </a:spcAft>
              <a:buSzPct val="95000"/>
              <a:buFont typeface="Calibri"/>
              <a:buAutoNum type="arabicPeriod"/>
            </a:pPr>
            <a:r>
              <a:rPr lang="en-GB"/>
              <a:t>Don’t deprive freedom</a:t>
            </a:r>
            <a:endParaRPr/>
          </a:p>
          <a:p>
            <a:pPr indent="-514350" lvl="0" marL="514350" rtl="0" algn="just">
              <a:lnSpc>
                <a:spcPct val="160000"/>
              </a:lnSpc>
              <a:spcBef>
                <a:spcPts val="364"/>
              </a:spcBef>
              <a:spcAft>
                <a:spcPts val="0"/>
              </a:spcAft>
              <a:buSzPct val="95000"/>
              <a:buFont typeface="Calibri"/>
              <a:buAutoNum type="arabicPeriod"/>
            </a:pPr>
            <a:r>
              <a:rPr lang="en-GB"/>
              <a:t>Don’t deprive pressure</a:t>
            </a:r>
            <a:endParaRPr/>
          </a:p>
          <a:p>
            <a:pPr indent="-514350" lvl="0" marL="514350" rtl="0" algn="just">
              <a:lnSpc>
                <a:spcPct val="160000"/>
              </a:lnSpc>
              <a:spcBef>
                <a:spcPts val="364"/>
              </a:spcBef>
              <a:spcAft>
                <a:spcPts val="0"/>
              </a:spcAft>
              <a:buSzPct val="95000"/>
              <a:buFont typeface="Calibri"/>
              <a:buAutoNum type="arabicPeriod"/>
            </a:pPr>
            <a:r>
              <a:rPr lang="en-GB"/>
              <a:t>Don’t deceive</a:t>
            </a:r>
            <a:endParaRPr/>
          </a:p>
          <a:p>
            <a:pPr indent="-514350" lvl="0" marL="514350" rtl="0" algn="just">
              <a:lnSpc>
                <a:spcPct val="160000"/>
              </a:lnSpc>
              <a:spcBef>
                <a:spcPts val="364"/>
              </a:spcBef>
              <a:spcAft>
                <a:spcPts val="0"/>
              </a:spcAft>
              <a:buSzPct val="95000"/>
              <a:buFont typeface="Calibri"/>
              <a:buAutoNum type="arabicPeriod"/>
            </a:pPr>
            <a:r>
              <a:rPr lang="en-GB"/>
              <a:t>Keep your promise </a:t>
            </a:r>
            <a:endParaRPr/>
          </a:p>
          <a:p>
            <a:pPr indent="-514350" lvl="0" marL="514350" rtl="0" algn="just">
              <a:lnSpc>
                <a:spcPct val="160000"/>
              </a:lnSpc>
              <a:spcBef>
                <a:spcPts val="364"/>
              </a:spcBef>
              <a:spcAft>
                <a:spcPts val="0"/>
              </a:spcAft>
              <a:buSzPct val="95000"/>
              <a:buFont typeface="Calibri"/>
              <a:buAutoNum type="arabicPeriod"/>
            </a:pPr>
            <a:r>
              <a:rPr lang="en-GB"/>
              <a:t>Don’t cheat</a:t>
            </a:r>
            <a:endParaRPr/>
          </a:p>
          <a:p>
            <a:pPr indent="-514350" lvl="0" marL="514350" rtl="0" algn="just">
              <a:lnSpc>
                <a:spcPct val="160000"/>
              </a:lnSpc>
              <a:spcBef>
                <a:spcPts val="364"/>
              </a:spcBef>
              <a:spcAft>
                <a:spcPts val="0"/>
              </a:spcAft>
              <a:buSzPct val="95000"/>
              <a:buFont typeface="Calibri"/>
              <a:buAutoNum type="arabicPeriod"/>
            </a:pPr>
            <a:r>
              <a:rPr lang="en-GB"/>
              <a:t>Obey the law</a:t>
            </a:r>
            <a:endParaRPr/>
          </a:p>
          <a:p>
            <a:pPr indent="-514350" lvl="0" marL="514350" rtl="0" algn="just">
              <a:lnSpc>
                <a:spcPct val="160000"/>
              </a:lnSpc>
              <a:spcBef>
                <a:spcPts val="364"/>
              </a:spcBef>
              <a:spcAft>
                <a:spcPts val="0"/>
              </a:spcAft>
              <a:buSzPct val="95000"/>
              <a:buFont typeface="Calibri"/>
              <a:buAutoNum type="arabicPeriod"/>
            </a:pPr>
            <a:r>
              <a:rPr lang="en-GB"/>
              <a:t>Do your duty</a:t>
            </a:r>
            <a:endParaRPr/>
          </a:p>
          <a:p>
            <a:pPr indent="-404558" lvl="0" marL="514350" rtl="0" algn="just">
              <a:spcBef>
                <a:spcPts val="364"/>
              </a:spcBef>
              <a:spcAft>
                <a:spcPts val="0"/>
              </a:spcAft>
              <a:buSzPct val="95000"/>
              <a:buFont typeface="Calibri"/>
              <a:buNone/>
            </a:pPr>
            <a:r>
              <a:t/>
            </a:r>
            <a:endParaRPr/>
          </a:p>
          <a:p>
            <a:pPr indent="0" lvl="0" marL="0" rtl="0" algn="just">
              <a:spcBef>
                <a:spcPts val="364"/>
              </a:spcBef>
              <a:spcAft>
                <a:spcPts val="0"/>
              </a:spcAft>
              <a:buSzPct val="95000"/>
              <a:buNone/>
            </a:pPr>
            <a:r>
              <a:t/>
            </a:r>
            <a:endParaRPr/>
          </a:p>
          <a:p>
            <a:pPr indent="0" lvl="0" marL="0" rtl="0" algn="just">
              <a:spcBef>
                <a:spcPts val="364"/>
              </a:spcBef>
              <a:spcAft>
                <a:spcPts val="0"/>
              </a:spcAft>
              <a:buSzPct val="95000"/>
              <a:buNone/>
            </a:pPr>
            <a:r>
              <a:t/>
            </a:r>
            <a:endParaRPr/>
          </a:p>
          <a:p>
            <a:pPr indent="0" lvl="0" marL="0" rtl="0" algn="just">
              <a:spcBef>
                <a:spcPts val="364"/>
              </a:spcBef>
              <a:spcAft>
                <a:spcPts val="0"/>
              </a:spcAft>
              <a:buSzPct val="95000"/>
              <a:buNone/>
            </a:pPr>
            <a:r>
              <a:t/>
            </a:r>
            <a:endParaRPr/>
          </a:p>
          <a:p>
            <a:pPr indent="0" lvl="0" marL="0" rtl="0" algn="just">
              <a:spcBef>
                <a:spcPts val="364"/>
              </a:spcBef>
              <a:spcAft>
                <a:spcPts val="0"/>
              </a:spcAft>
              <a:buSzPct val="95000"/>
              <a:buNone/>
            </a:pPr>
            <a:r>
              <a:t/>
            </a:r>
            <a:endParaRPr/>
          </a:p>
          <a:p>
            <a:pPr indent="-164528" lvl="0" marL="274320" rtl="0" algn="l">
              <a:spcBef>
                <a:spcPts val="364"/>
              </a:spcBef>
              <a:spcAft>
                <a:spcPts val="0"/>
              </a:spcAft>
              <a:buSzPct val="95000"/>
              <a:buNone/>
            </a:pPr>
            <a:r>
              <a:t/>
            </a:r>
            <a:endParaRPr/>
          </a:p>
        </p:txBody>
      </p:sp>
      <p:sp>
        <p:nvSpPr>
          <p:cNvPr id="347" name="Google Shape;347;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6"/>
          <p:cNvSpPr txBox="1"/>
          <p:nvPr>
            <p:ph type="title"/>
          </p:nvPr>
        </p:nvSpPr>
        <p:spPr>
          <a:xfrm>
            <a:off x="323528" y="116632"/>
            <a:ext cx="8229600" cy="72008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53" name="Google Shape;353;p36"/>
          <p:cNvSpPr txBox="1"/>
          <p:nvPr>
            <p:ph idx="1" type="body"/>
          </p:nvPr>
        </p:nvSpPr>
        <p:spPr>
          <a:xfrm>
            <a:off x="323528" y="692696"/>
            <a:ext cx="8496944" cy="6408712"/>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just">
              <a:lnSpc>
                <a:spcPct val="150000"/>
              </a:lnSpc>
              <a:spcBef>
                <a:spcPts val="0"/>
              </a:spcBef>
              <a:spcAft>
                <a:spcPts val="0"/>
              </a:spcAft>
              <a:buSzPct val="95000"/>
              <a:buFont typeface="Noto Sans Symbols"/>
              <a:buChar char="❑"/>
            </a:pPr>
            <a:r>
              <a:rPr lang="en-GB" sz="3200">
                <a:solidFill>
                  <a:srgbClr val="3D10BC"/>
                </a:solidFill>
              </a:rPr>
              <a:t>Duty Ethics</a:t>
            </a:r>
            <a:endParaRPr/>
          </a:p>
          <a:p>
            <a:pPr indent="-274320" lvl="0" marL="274320" rtl="0" algn="just">
              <a:lnSpc>
                <a:spcPct val="170000"/>
              </a:lnSpc>
              <a:spcBef>
                <a:spcPts val="442"/>
              </a:spcBef>
              <a:spcAft>
                <a:spcPts val="0"/>
              </a:spcAft>
              <a:buSzPct val="95000"/>
              <a:buChar char="⚫"/>
            </a:pPr>
            <a:r>
              <a:rPr lang="en-GB"/>
              <a:t>All specific duties derive from one fundamental duty to respect persons.</a:t>
            </a:r>
            <a:endParaRPr/>
          </a:p>
          <a:p>
            <a:pPr indent="-274320" lvl="0" marL="274320" rtl="0" algn="just">
              <a:lnSpc>
                <a:spcPct val="170000"/>
              </a:lnSpc>
              <a:spcBef>
                <a:spcPts val="442"/>
              </a:spcBef>
              <a:spcAft>
                <a:spcPts val="0"/>
              </a:spcAft>
              <a:buSzPct val="95000"/>
              <a:buChar char="⚫"/>
            </a:pPr>
            <a:r>
              <a:rPr lang="en-GB"/>
              <a:t>Hence, respect for persons amounts to respect for their moral autonomy.</a:t>
            </a:r>
            <a:endParaRPr/>
          </a:p>
          <a:p>
            <a:pPr indent="-274320" lvl="0" marL="274320" rtl="0" algn="just">
              <a:lnSpc>
                <a:spcPct val="170000"/>
              </a:lnSpc>
              <a:spcBef>
                <a:spcPts val="442"/>
              </a:spcBef>
              <a:spcAft>
                <a:spcPts val="0"/>
              </a:spcAft>
              <a:buSzPct val="95000"/>
              <a:buChar char="⚫"/>
            </a:pPr>
            <a:r>
              <a:rPr lang="en-GB"/>
              <a:t>Duty ethics takes into accounts duty to oneself since the individual is rational and autonomous being (e.g. A duty not to kill oneself).</a:t>
            </a:r>
            <a:endParaRPr/>
          </a:p>
          <a:p>
            <a:pPr indent="-274320" lvl="0" marL="274320" rtl="0" algn="just">
              <a:lnSpc>
                <a:spcPct val="170000"/>
              </a:lnSpc>
              <a:spcBef>
                <a:spcPts val="442"/>
              </a:spcBef>
              <a:spcAft>
                <a:spcPts val="0"/>
              </a:spcAft>
              <a:buSzPct val="95000"/>
              <a:buChar char="⚫"/>
            </a:pPr>
            <a:r>
              <a:rPr lang="en-GB"/>
              <a:t>Duty ethics also considers moral duties and interprets it as “categorical imperatives” (commands requiring what is right).</a:t>
            </a:r>
            <a:endParaRPr/>
          </a:p>
        </p:txBody>
      </p:sp>
      <p:sp>
        <p:nvSpPr>
          <p:cNvPr id="354" name="Google Shape;354;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7"/>
          <p:cNvSpPr txBox="1"/>
          <p:nvPr>
            <p:ph type="title"/>
          </p:nvPr>
        </p:nvSpPr>
        <p:spPr>
          <a:xfrm>
            <a:off x="251520" y="-99392"/>
            <a:ext cx="8435280" cy="936104"/>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60" name="Google Shape;360;p37"/>
          <p:cNvSpPr txBox="1"/>
          <p:nvPr>
            <p:ph idx="1" type="body"/>
          </p:nvPr>
        </p:nvSpPr>
        <p:spPr>
          <a:xfrm>
            <a:off x="323528" y="980728"/>
            <a:ext cx="8496944" cy="554461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040"/>
              <a:buFont typeface="Noto Sans Symbols"/>
              <a:buChar char="❑"/>
            </a:pPr>
            <a:r>
              <a:rPr i="1" lang="en-GB" sz="3200">
                <a:solidFill>
                  <a:srgbClr val="3D10BC"/>
                </a:solidFill>
              </a:rPr>
              <a:t>Prima Facie Duties</a:t>
            </a:r>
            <a:endParaRPr/>
          </a:p>
          <a:p>
            <a:pPr indent="0" lvl="0" marL="0" rtl="0" algn="l">
              <a:lnSpc>
                <a:spcPct val="150000"/>
              </a:lnSpc>
              <a:spcBef>
                <a:spcPts val="520"/>
              </a:spcBef>
              <a:spcAft>
                <a:spcPts val="0"/>
              </a:spcAft>
              <a:buSzPts val="2470"/>
              <a:buNone/>
            </a:pPr>
            <a:r>
              <a:rPr lang="en-GB"/>
              <a:t>Duties that have some permissible exceptions when they conflict with more pressing duties.</a:t>
            </a:r>
            <a:endParaRPr/>
          </a:p>
          <a:p>
            <a:pPr indent="-274320" lvl="0" marL="274320" rtl="0" algn="just">
              <a:lnSpc>
                <a:spcPct val="150000"/>
              </a:lnSpc>
              <a:spcBef>
                <a:spcPts val="520"/>
              </a:spcBef>
              <a:spcAft>
                <a:spcPts val="0"/>
              </a:spcAft>
              <a:buSzPts val="2470"/>
              <a:buChar char="⚫"/>
            </a:pPr>
            <a:r>
              <a:rPr lang="en-GB"/>
              <a:t>Universality- moral rules apply to all rational agents</a:t>
            </a:r>
            <a:endParaRPr/>
          </a:p>
          <a:p>
            <a:pPr indent="-274320" lvl="0" marL="274320" rtl="0" algn="just">
              <a:lnSpc>
                <a:spcPct val="150000"/>
              </a:lnSpc>
              <a:spcBef>
                <a:spcPts val="520"/>
              </a:spcBef>
              <a:spcAft>
                <a:spcPts val="0"/>
              </a:spcAft>
              <a:buSzPts val="2470"/>
              <a:buChar char="⚫"/>
            </a:pPr>
            <a:r>
              <a:rPr lang="en-GB"/>
              <a:t>Categorical imperatives- moral rules command what is right because it is right</a:t>
            </a:r>
            <a:endParaRPr/>
          </a:p>
          <a:p>
            <a:pPr indent="-274320" lvl="0" marL="274320" rtl="0" algn="just">
              <a:lnSpc>
                <a:spcPct val="150000"/>
              </a:lnSpc>
              <a:spcBef>
                <a:spcPts val="520"/>
              </a:spcBef>
              <a:spcAft>
                <a:spcPts val="0"/>
              </a:spcAft>
              <a:buSzPts val="2470"/>
              <a:buChar char="⚫"/>
            </a:pPr>
            <a:r>
              <a:rPr lang="en-GB"/>
              <a:t>Absolutism-moral rules have no exceptions</a:t>
            </a:r>
            <a:endParaRPr/>
          </a:p>
        </p:txBody>
      </p:sp>
      <p:sp>
        <p:nvSpPr>
          <p:cNvPr id="361" name="Google Shape;361;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8"/>
          <p:cNvSpPr txBox="1"/>
          <p:nvPr>
            <p:ph type="title"/>
          </p:nvPr>
        </p:nvSpPr>
        <p:spPr>
          <a:xfrm>
            <a:off x="251520" y="53752"/>
            <a:ext cx="8229600" cy="78296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67" name="Google Shape;367;p38"/>
          <p:cNvSpPr txBox="1"/>
          <p:nvPr>
            <p:ph idx="1" type="body"/>
          </p:nvPr>
        </p:nvSpPr>
        <p:spPr>
          <a:xfrm>
            <a:off x="230832" y="908720"/>
            <a:ext cx="8661648" cy="5688632"/>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95000"/>
              <a:buFont typeface="Noto Sans Symbols"/>
              <a:buChar char="❑"/>
            </a:pPr>
            <a:r>
              <a:rPr i="1" lang="en-GB">
                <a:solidFill>
                  <a:srgbClr val="3D10BC"/>
                </a:solidFill>
              </a:rPr>
              <a:t> Virtue Ethics</a:t>
            </a:r>
            <a:endParaRPr/>
          </a:p>
          <a:p>
            <a:pPr indent="-274320" lvl="0" marL="274320" rtl="0" algn="l">
              <a:lnSpc>
                <a:spcPct val="150000"/>
              </a:lnSpc>
              <a:spcBef>
                <a:spcPts val="481"/>
              </a:spcBef>
              <a:spcAft>
                <a:spcPts val="0"/>
              </a:spcAft>
              <a:buSzPct val="95000"/>
              <a:buChar char="⚫"/>
            </a:pPr>
            <a:r>
              <a:rPr lang="en-GB"/>
              <a:t>Virtue ethics emphasises character as the key element of ethical thinking more than rights and values.</a:t>
            </a:r>
            <a:endParaRPr/>
          </a:p>
          <a:p>
            <a:pPr indent="-274320" lvl="0" marL="274320" rtl="0" algn="l">
              <a:lnSpc>
                <a:spcPct val="150000"/>
              </a:lnSpc>
              <a:spcBef>
                <a:spcPts val="481"/>
              </a:spcBef>
              <a:spcAft>
                <a:spcPts val="0"/>
              </a:spcAft>
              <a:buSzPct val="95000"/>
              <a:buChar char="⚫"/>
            </a:pPr>
            <a:r>
              <a:rPr lang="en-GB"/>
              <a:t>Virtues are the morally desirable features of an individual’s character. </a:t>
            </a:r>
            <a:endParaRPr/>
          </a:p>
          <a:p>
            <a:pPr indent="-274320" lvl="0" marL="274320" rtl="0" algn="l">
              <a:lnSpc>
                <a:spcPct val="150000"/>
              </a:lnSpc>
              <a:spcBef>
                <a:spcPts val="481"/>
              </a:spcBef>
              <a:spcAft>
                <a:spcPts val="0"/>
              </a:spcAft>
              <a:buSzPct val="95000"/>
              <a:buChar char="⚫"/>
            </a:pPr>
            <a:r>
              <a:rPr lang="en-GB"/>
              <a:t>Vices on the other hand are morally undesirable habits or tendencies.</a:t>
            </a:r>
            <a:endParaRPr/>
          </a:p>
          <a:p>
            <a:pPr indent="-274320" lvl="0" marL="274320" rtl="0" algn="l">
              <a:lnSpc>
                <a:spcPct val="150000"/>
              </a:lnSpc>
              <a:spcBef>
                <a:spcPts val="481"/>
              </a:spcBef>
              <a:spcAft>
                <a:spcPts val="0"/>
              </a:spcAft>
              <a:buSzPct val="95000"/>
              <a:buChar char="⚫"/>
            </a:pPr>
            <a:r>
              <a:rPr lang="en-GB"/>
              <a:t>Virtues may be associated with competence, honesty, courage, fairness, loyalty and humility</a:t>
            </a:r>
            <a:endParaRPr/>
          </a:p>
          <a:p>
            <a:pPr indent="-274320" lvl="0" marL="274320" rtl="0" algn="l">
              <a:lnSpc>
                <a:spcPct val="150000"/>
              </a:lnSpc>
              <a:spcBef>
                <a:spcPts val="481"/>
              </a:spcBef>
              <a:spcAft>
                <a:spcPts val="0"/>
              </a:spcAft>
              <a:buSzPct val="95000"/>
              <a:buChar char="⚫"/>
            </a:pPr>
            <a:r>
              <a:rPr lang="en-GB"/>
              <a:t>Vices may be associated with incompetence, dishonesty, cowardice, unfairness, disloyalty and arrogance.</a:t>
            </a:r>
            <a:endParaRPr/>
          </a:p>
          <a:p>
            <a:pPr indent="-129238" lvl="0" marL="274320" rtl="0" algn="l">
              <a:lnSpc>
                <a:spcPct val="150000"/>
              </a:lnSpc>
              <a:spcBef>
                <a:spcPts val="481"/>
              </a:spcBef>
              <a:spcAft>
                <a:spcPts val="0"/>
              </a:spcAft>
              <a:buSzPct val="95000"/>
              <a:buNone/>
            </a:pPr>
            <a:r>
              <a:t/>
            </a:r>
            <a:endParaRPr/>
          </a:p>
          <a:p>
            <a:pPr indent="-129238" lvl="0" marL="274320" rtl="0" algn="l">
              <a:spcBef>
                <a:spcPts val="481"/>
              </a:spcBef>
              <a:spcAft>
                <a:spcPts val="0"/>
              </a:spcAft>
              <a:buSzPct val="95000"/>
              <a:buNone/>
            </a:pPr>
            <a:r>
              <a:t/>
            </a:r>
            <a:endParaRPr/>
          </a:p>
        </p:txBody>
      </p:sp>
      <p:sp>
        <p:nvSpPr>
          <p:cNvPr id="368" name="Google Shape;368;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9"/>
          <p:cNvSpPr txBox="1"/>
          <p:nvPr>
            <p:ph type="title"/>
          </p:nvPr>
        </p:nvSpPr>
        <p:spPr>
          <a:xfrm>
            <a:off x="251520" y="-27384"/>
            <a:ext cx="8229600" cy="86409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74" name="Google Shape;374;p39"/>
          <p:cNvSpPr txBox="1"/>
          <p:nvPr>
            <p:ph idx="1" type="body"/>
          </p:nvPr>
        </p:nvSpPr>
        <p:spPr>
          <a:xfrm>
            <a:off x="251520" y="836712"/>
            <a:ext cx="8435280" cy="6021288"/>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spcBef>
                <a:spcPts val="0"/>
              </a:spcBef>
              <a:spcAft>
                <a:spcPts val="0"/>
              </a:spcAft>
              <a:buSzPct val="95000"/>
              <a:buFont typeface="Noto Sans Symbols"/>
              <a:buChar char="❑"/>
            </a:pPr>
            <a:r>
              <a:rPr i="1" lang="en-GB" sz="2800">
                <a:solidFill>
                  <a:srgbClr val="3D10BC"/>
                </a:solidFill>
              </a:rPr>
              <a:t>Virtues in Engineering</a:t>
            </a:r>
            <a:endParaRPr/>
          </a:p>
          <a:p>
            <a:pPr indent="0" lvl="0" marL="0" rtl="0" algn="just">
              <a:lnSpc>
                <a:spcPct val="150000"/>
              </a:lnSpc>
              <a:spcBef>
                <a:spcPts val="481"/>
              </a:spcBef>
              <a:spcAft>
                <a:spcPts val="0"/>
              </a:spcAft>
              <a:buSzPct val="95000"/>
              <a:buNone/>
            </a:pPr>
            <a:r>
              <a:rPr lang="en-GB"/>
              <a:t>The most comprehensive virtue of engineers is responsible professionalism. This umbrella virtue implies four categories of virtues:</a:t>
            </a:r>
            <a:endParaRPr/>
          </a:p>
          <a:p>
            <a:pPr indent="-274320" lvl="0" marL="274320" rtl="0" algn="just">
              <a:lnSpc>
                <a:spcPct val="150000"/>
              </a:lnSpc>
              <a:spcBef>
                <a:spcPts val="481"/>
              </a:spcBef>
              <a:spcAft>
                <a:spcPts val="0"/>
              </a:spcAft>
              <a:buSzPct val="95000"/>
              <a:buChar char="⚫"/>
            </a:pPr>
            <a:r>
              <a:rPr lang="en-GB"/>
              <a:t>Public well being( public spirited virtue focusing on the good of clients)</a:t>
            </a:r>
            <a:endParaRPr/>
          </a:p>
          <a:p>
            <a:pPr indent="-274320" lvl="0" marL="274320" rtl="0" algn="just">
              <a:lnSpc>
                <a:spcPct val="150000"/>
              </a:lnSpc>
              <a:spcBef>
                <a:spcPts val="481"/>
              </a:spcBef>
              <a:spcAft>
                <a:spcPts val="0"/>
              </a:spcAft>
              <a:buSzPct val="95000"/>
              <a:buChar char="⚫"/>
            </a:pPr>
            <a:r>
              <a:rPr lang="en-GB"/>
              <a:t>Professional competence(virtues of mastery of profession and technical skills that characterises a good engineer)</a:t>
            </a:r>
            <a:endParaRPr/>
          </a:p>
          <a:p>
            <a:pPr indent="-274320" lvl="0" marL="274320" rtl="0" algn="just">
              <a:lnSpc>
                <a:spcPct val="150000"/>
              </a:lnSpc>
              <a:spcBef>
                <a:spcPts val="481"/>
              </a:spcBef>
              <a:spcAft>
                <a:spcPts val="0"/>
              </a:spcAft>
              <a:buSzPct val="95000"/>
              <a:buChar char="⚫"/>
            </a:pPr>
            <a:r>
              <a:rPr lang="en-GB"/>
              <a:t>Cooperative practices( team work virtues enabling successful work with other people)</a:t>
            </a:r>
            <a:endParaRPr/>
          </a:p>
          <a:p>
            <a:pPr indent="-274320" lvl="0" marL="274320" rtl="0" algn="just">
              <a:lnSpc>
                <a:spcPct val="150000"/>
              </a:lnSpc>
              <a:spcBef>
                <a:spcPts val="481"/>
              </a:spcBef>
              <a:spcAft>
                <a:spcPts val="0"/>
              </a:spcAft>
              <a:buSzPct val="95000"/>
              <a:buChar char="⚫"/>
            </a:pPr>
            <a:r>
              <a:rPr lang="en-GB"/>
              <a:t>Personal integrity( self governance virtues are those necessary in exercising responsibility).</a:t>
            </a:r>
            <a:endParaRPr/>
          </a:p>
        </p:txBody>
      </p:sp>
      <p:sp>
        <p:nvSpPr>
          <p:cNvPr id="375" name="Google Shape;375;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0"/>
          <p:cNvSpPr txBox="1"/>
          <p:nvPr>
            <p:ph type="title"/>
          </p:nvPr>
        </p:nvSpPr>
        <p:spPr>
          <a:xfrm>
            <a:off x="323528" y="44624"/>
            <a:ext cx="8363272" cy="86409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81" name="Google Shape;381;p40"/>
          <p:cNvSpPr txBox="1"/>
          <p:nvPr>
            <p:ph idx="1" type="body"/>
          </p:nvPr>
        </p:nvSpPr>
        <p:spPr>
          <a:xfrm>
            <a:off x="323528" y="1124744"/>
            <a:ext cx="8496944" cy="5733256"/>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spcBef>
                <a:spcPts val="0"/>
              </a:spcBef>
              <a:spcAft>
                <a:spcPts val="0"/>
              </a:spcAft>
              <a:buSzPct val="95000"/>
              <a:buFont typeface="Noto Sans Symbols"/>
              <a:buChar char="❑"/>
            </a:pPr>
            <a:r>
              <a:rPr i="1" lang="en-GB" sz="3200">
                <a:solidFill>
                  <a:srgbClr val="3D10BC"/>
                </a:solidFill>
              </a:rPr>
              <a:t> Self Realisation Ethics</a:t>
            </a:r>
            <a:endParaRPr/>
          </a:p>
          <a:p>
            <a:pPr indent="0" lvl="0" marL="0" rtl="0" algn="just">
              <a:lnSpc>
                <a:spcPct val="150000"/>
              </a:lnSpc>
              <a:spcBef>
                <a:spcPts val="481"/>
              </a:spcBef>
              <a:spcAft>
                <a:spcPts val="0"/>
              </a:spcAft>
              <a:buSzPct val="95000"/>
              <a:buNone/>
            </a:pPr>
            <a:r>
              <a:rPr lang="en-GB"/>
              <a:t>This gives greater prominence to self interest and to personal commitments that individuals develop. There are two versions to this depending on how the self is conceived.</a:t>
            </a:r>
            <a:endParaRPr/>
          </a:p>
          <a:p>
            <a:pPr indent="0" lvl="0" marL="0" rtl="0" algn="just">
              <a:lnSpc>
                <a:spcPct val="150000"/>
              </a:lnSpc>
              <a:spcBef>
                <a:spcPts val="481"/>
              </a:spcBef>
              <a:spcAft>
                <a:spcPts val="0"/>
              </a:spcAft>
              <a:buSzPct val="95000"/>
              <a:buNone/>
            </a:pPr>
            <a:r>
              <a:t/>
            </a:r>
            <a:endParaRPr/>
          </a:p>
          <a:p>
            <a:pPr indent="0" lvl="0" marL="0" rtl="0" algn="just">
              <a:lnSpc>
                <a:spcPct val="150000"/>
              </a:lnSpc>
              <a:spcBef>
                <a:spcPts val="481"/>
              </a:spcBef>
              <a:spcAft>
                <a:spcPts val="0"/>
              </a:spcAft>
              <a:buSzPct val="95000"/>
              <a:buNone/>
            </a:pPr>
            <a:r>
              <a:rPr lang="en-GB"/>
              <a:t>The first, </a:t>
            </a:r>
            <a:r>
              <a:rPr i="1" lang="en-GB">
                <a:solidFill>
                  <a:srgbClr val="C00000"/>
                </a:solidFill>
              </a:rPr>
              <a:t>ethical egoism</a:t>
            </a:r>
            <a:r>
              <a:rPr lang="en-GB"/>
              <a:t>, conceived in a highly individualist manner.</a:t>
            </a:r>
            <a:endParaRPr/>
          </a:p>
          <a:p>
            <a:pPr indent="0" lvl="0" marL="0" rtl="0" algn="just">
              <a:lnSpc>
                <a:spcPct val="150000"/>
              </a:lnSpc>
              <a:spcBef>
                <a:spcPts val="481"/>
              </a:spcBef>
              <a:spcAft>
                <a:spcPts val="0"/>
              </a:spcAft>
              <a:buSzPct val="95000"/>
              <a:buNone/>
            </a:pPr>
            <a:r>
              <a:t/>
            </a:r>
            <a:endParaRPr/>
          </a:p>
          <a:p>
            <a:pPr indent="0" lvl="0" marL="0" rtl="0" algn="just">
              <a:lnSpc>
                <a:spcPct val="150000"/>
              </a:lnSpc>
              <a:spcBef>
                <a:spcPts val="481"/>
              </a:spcBef>
              <a:spcAft>
                <a:spcPts val="0"/>
              </a:spcAft>
              <a:buSzPct val="95000"/>
              <a:buNone/>
            </a:pPr>
            <a:r>
              <a:rPr lang="en-GB"/>
              <a:t>In the second, the self is understood in terms of caring relationships and communities. </a:t>
            </a:r>
            <a:endParaRPr/>
          </a:p>
          <a:p>
            <a:pPr indent="0" lvl="0" marL="0" rtl="0" algn="just">
              <a:spcBef>
                <a:spcPts val="481"/>
              </a:spcBef>
              <a:spcAft>
                <a:spcPts val="0"/>
              </a:spcAft>
              <a:buSzPct val="95000"/>
              <a:buNone/>
            </a:pPr>
            <a:r>
              <a:t/>
            </a:r>
            <a:endParaRPr/>
          </a:p>
        </p:txBody>
      </p:sp>
      <p:sp>
        <p:nvSpPr>
          <p:cNvPr id="382" name="Google Shape;382;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1"/>
          <p:cNvSpPr txBox="1"/>
          <p:nvPr>
            <p:ph type="title"/>
          </p:nvPr>
        </p:nvSpPr>
        <p:spPr>
          <a:xfrm>
            <a:off x="251520" y="116632"/>
            <a:ext cx="8229600" cy="79208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88" name="Google Shape;388;p41"/>
          <p:cNvSpPr txBox="1"/>
          <p:nvPr>
            <p:ph idx="1" type="body"/>
          </p:nvPr>
        </p:nvSpPr>
        <p:spPr>
          <a:xfrm>
            <a:off x="251520" y="980728"/>
            <a:ext cx="8568952" cy="5616624"/>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lnSpc>
                <a:spcPct val="150000"/>
              </a:lnSpc>
              <a:spcBef>
                <a:spcPts val="0"/>
              </a:spcBef>
              <a:spcAft>
                <a:spcPts val="0"/>
              </a:spcAft>
              <a:buSzPts val="3040"/>
              <a:buFont typeface="Noto Sans Symbols"/>
              <a:buChar char="❑"/>
            </a:pPr>
            <a:r>
              <a:rPr i="1" lang="en-GB" sz="3200">
                <a:solidFill>
                  <a:srgbClr val="3D10BC"/>
                </a:solidFill>
              </a:rPr>
              <a:t>Ethical Egoism</a:t>
            </a:r>
            <a:endParaRPr/>
          </a:p>
          <a:p>
            <a:pPr indent="0" lvl="0" marL="0" rtl="0" algn="just">
              <a:lnSpc>
                <a:spcPct val="150000"/>
              </a:lnSpc>
              <a:spcBef>
                <a:spcPts val="520"/>
              </a:spcBef>
              <a:spcAft>
                <a:spcPts val="0"/>
              </a:spcAft>
              <a:buSzPts val="2470"/>
              <a:buNone/>
            </a:pPr>
            <a:r>
              <a:rPr lang="en-GB"/>
              <a:t>Ethical egoism says that each of us ought always and only to promote our own self interest.</a:t>
            </a:r>
            <a:endParaRPr/>
          </a:p>
          <a:p>
            <a:pPr indent="0" lvl="0" marL="0" rtl="0" algn="just">
              <a:lnSpc>
                <a:spcPct val="150000"/>
              </a:lnSpc>
              <a:spcBef>
                <a:spcPts val="520"/>
              </a:spcBef>
              <a:spcAft>
                <a:spcPts val="0"/>
              </a:spcAft>
              <a:buSzPts val="2470"/>
              <a:buNone/>
            </a:pPr>
            <a:r>
              <a:rPr lang="en-GB"/>
              <a:t>The theory is </a:t>
            </a:r>
            <a:r>
              <a:rPr i="1" lang="en-GB">
                <a:solidFill>
                  <a:srgbClr val="C00000"/>
                </a:solidFill>
              </a:rPr>
              <a:t>ethical</a:t>
            </a:r>
            <a:r>
              <a:rPr lang="en-GB"/>
              <a:t> because it is a theory about morality.</a:t>
            </a:r>
            <a:endParaRPr/>
          </a:p>
          <a:p>
            <a:pPr indent="0" lvl="0" marL="0" rtl="0" algn="just">
              <a:lnSpc>
                <a:spcPct val="150000"/>
              </a:lnSpc>
              <a:spcBef>
                <a:spcPts val="520"/>
              </a:spcBef>
              <a:spcAft>
                <a:spcPts val="0"/>
              </a:spcAft>
              <a:buSzPts val="2470"/>
              <a:buNone/>
            </a:pPr>
            <a:r>
              <a:rPr lang="en-GB"/>
              <a:t>It is </a:t>
            </a:r>
            <a:r>
              <a:rPr i="1" lang="en-GB">
                <a:solidFill>
                  <a:srgbClr val="C00000"/>
                </a:solidFill>
              </a:rPr>
              <a:t>egoistic</a:t>
            </a:r>
            <a:r>
              <a:rPr lang="en-GB"/>
              <a:t> because it says the sole duty of each of us is to maximise our well-being.</a:t>
            </a:r>
            <a:endParaRPr/>
          </a:p>
          <a:p>
            <a:pPr indent="0" lvl="0" marL="0" rtl="0" algn="just">
              <a:lnSpc>
                <a:spcPct val="150000"/>
              </a:lnSpc>
              <a:spcBef>
                <a:spcPts val="520"/>
              </a:spcBef>
              <a:spcAft>
                <a:spcPts val="0"/>
              </a:spcAft>
              <a:buSzPts val="2470"/>
              <a:buNone/>
            </a:pPr>
            <a:r>
              <a:rPr lang="en-GB"/>
              <a:t>Psychologically we are all egoistic.</a:t>
            </a:r>
            <a:endParaRPr/>
          </a:p>
          <a:p>
            <a:pPr indent="0" lvl="0" marL="0" rtl="0" algn="just">
              <a:lnSpc>
                <a:spcPct val="150000"/>
              </a:lnSpc>
              <a:spcBef>
                <a:spcPts val="520"/>
              </a:spcBef>
              <a:spcAft>
                <a:spcPts val="0"/>
              </a:spcAft>
              <a:buSzPts val="2470"/>
              <a:buNone/>
            </a:pPr>
            <a:r>
              <a:rPr lang="en-GB"/>
              <a:t>Here are two arguments to support and refute psychological egoism.</a:t>
            </a:r>
            <a:endParaRPr/>
          </a:p>
        </p:txBody>
      </p:sp>
      <p:sp>
        <p:nvSpPr>
          <p:cNvPr id="389" name="Google Shape;389;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2"/>
          <p:cNvSpPr txBox="1"/>
          <p:nvPr>
            <p:ph type="title"/>
          </p:nvPr>
        </p:nvSpPr>
        <p:spPr>
          <a:xfrm>
            <a:off x="251520" y="-171400"/>
            <a:ext cx="8435280" cy="936104"/>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395" name="Google Shape;395;p42"/>
          <p:cNvSpPr txBox="1"/>
          <p:nvPr>
            <p:ph idx="1" type="body"/>
          </p:nvPr>
        </p:nvSpPr>
        <p:spPr>
          <a:xfrm>
            <a:off x="323528" y="692696"/>
            <a:ext cx="8363272" cy="6021288"/>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spcBef>
                <a:spcPts val="0"/>
              </a:spcBef>
              <a:spcAft>
                <a:spcPts val="0"/>
              </a:spcAft>
              <a:buSzPct val="95000"/>
              <a:buFont typeface="Courier New"/>
              <a:buChar char="o"/>
            </a:pPr>
            <a:r>
              <a:rPr lang="en-GB">
                <a:solidFill>
                  <a:srgbClr val="3D10BC"/>
                </a:solidFill>
              </a:rPr>
              <a:t>Argument 1</a:t>
            </a:r>
            <a:endParaRPr/>
          </a:p>
          <a:p>
            <a:pPr indent="0" lvl="0" marL="0" rtl="0" algn="just">
              <a:lnSpc>
                <a:spcPct val="150000"/>
              </a:lnSpc>
              <a:spcBef>
                <a:spcPts val="481"/>
              </a:spcBef>
              <a:spcAft>
                <a:spcPts val="0"/>
              </a:spcAft>
              <a:buSzPct val="95000"/>
              <a:buNone/>
            </a:pPr>
            <a:r>
              <a:rPr lang="en-GB"/>
              <a:t>We always act on our own desires; therefore, we always and only seek something for ourselves, namely the satisfaction of our desires</a:t>
            </a:r>
            <a:endParaRPr/>
          </a:p>
          <a:p>
            <a:pPr indent="0" lvl="0" marL="0" rtl="0" algn="just">
              <a:lnSpc>
                <a:spcPct val="150000"/>
              </a:lnSpc>
              <a:spcBef>
                <a:spcPts val="481"/>
              </a:spcBef>
              <a:spcAft>
                <a:spcPts val="0"/>
              </a:spcAft>
              <a:buSzPct val="95000"/>
              <a:buNone/>
            </a:pPr>
            <a:r>
              <a:t/>
            </a:r>
            <a:endParaRPr/>
          </a:p>
          <a:p>
            <a:pPr indent="0" lvl="0" marL="0" rtl="0" algn="just">
              <a:lnSpc>
                <a:spcPct val="150000"/>
              </a:lnSpc>
              <a:spcBef>
                <a:spcPts val="481"/>
              </a:spcBef>
              <a:spcAft>
                <a:spcPts val="0"/>
              </a:spcAft>
              <a:buSzPct val="95000"/>
              <a:buNone/>
            </a:pPr>
            <a:r>
              <a:rPr lang="en-GB"/>
              <a:t>In reply, the premise is true: we always act on our own desires. Actions are motivated by desires together with beliefs about to satisfy those desires. When we desire goods for ourselves, we are self-seeking; but when we desire goods for other people(for their sake), we altruistic.</a:t>
            </a:r>
            <a:endParaRPr/>
          </a:p>
          <a:p>
            <a:pPr indent="0" lvl="0" marL="0" rtl="0" algn="just">
              <a:lnSpc>
                <a:spcPct val="150000"/>
              </a:lnSpc>
              <a:spcBef>
                <a:spcPts val="481"/>
              </a:spcBef>
              <a:spcAft>
                <a:spcPts val="0"/>
              </a:spcAft>
              <a:buSzPct val="95000"/>
              <a:buNone/>
            </a:pPr>
            <a:r>
              <a:rPr lang="en-GB"/>
              <a:t>The mere fact that in both instances we act on our own desires does nothing to support psychological egoism </a:t>
            </a:r>
            <a:endParaRPr/>
          </a:p>
          <a:p>
            <a:pPr indent="0" lvl="0" marL="0" rtl="0" algn="just">
              <a:spcBef>
                <a:spcPts val="481"/>
              </a:spcBef>
              <a:spcAft>
                <a:spcPts val="0"/>
              </a:spcAft>
              <a:buSzPct val="95000"/>
              <a:buNone/>
            </a:pPr>
            <a:r>
              <a:t/>
            </a:r>
            <a:endParaRPr/>
          </a:p>
        </p:txBody>
      </p:sp>
      <p:sp>
        <p:nvSpPr>
          <p:cNvPr id="396" name="Google Shape;396;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3"/>
          <p:cNvSpPr txBox="1"/>
          <p:nvPr>
            <p:ph type="title"/>
          </p:nvPr>
        </p:nvSpPr>
        <p:spPr>
          <a:xfrm>
            <a:off x="323528" y="-27384"/>
            <a:ext cx="8363272" cy="90872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402" name="Google Shape;402;p43"/>
          <p:cNvSpPr txBox="1"/>
          <p:nvPr>
            <p:ph idx="1" type="body"/>
          </p:nvPr>
        </p:nvSpPr>
        <p:spPr>
          <a:xfrm>
            <a:off x="323528" y="836712"/>
            <a:ext cx="8568952" cy="5904656"/>
          </a:xfrm>
          <a:prstGeom prst="rect">
            <a:avLst/>
          </a:prstGeom>
          <a:noFill/>
          <a:ln>
            <a:noFill/>
          </a:ln>
        </p:spPr>
        <p:txBody>
          <a:bodyPr anchorCtr="0" anchor="t" bIns="45700" lIns="91425" spcFirstLastPara="1" rIns="91425" wrap="square" tIns="45700">
            <a:normAutofit/>
          </a:bodyPr>
          <a:lstStyle/>
          <a:p>
            <a:pPr indent="-274320" lvl="0" marL="274320" rtl="0" algn="just">
              <a:lnSpc>
                <a:spcPct val="150000"/>
              </a:lnSpc>
              <a:spcBef>
                <a:spcPts val="0"/>
              </a:spcBef>
              <a:spcAft>
                <a:spcPts val="0"/>
              </a:spcAft>
              <a:buSzPts val="3040"/>
              <a:buFont typeface="Courier New"/>
              <a:buChar char="o"/>
            </a:pPr>
            <a:r>
              <a:rPr lang="en-GB" sz="3200">
                <a:solidFill>
                  <a:srgbClr val="3D10BC"/>
                </a:solidFill>
              </a:rPr>
              <a:t>Argument 2</a:t>
            </a:r>
            <a:endParaRPr/>
          </a:p>
          <a:p>
            <a:pPr indent="0" lvl="0" marL="0" rtl="0" algn="just">
              <a:lnSpc>
                <a:spcPct val="150000"/>
              </a:lnSpc>
              <a:spcBef>
                <a:spcPts val="520"/>
              </a:spcBef>
              <a:spcAft>
                <a:spcPts val="0"/>
              </a:spcAft>
              <a:buSzPts val="2470"/>
              <a:buNone/>
            </a:pPr>
            <a:r>
              <a:rPr lang="en-GB"/>
              <a:t>People always ask for pleasures, therefore they always and only seek something for themselves, namely their pleasures.</a:t>
            </a:r>
            <a:endParaRPr/>
          </a:p>
          <a:p>
            <a:pPr indent="0" lvl="0" marL="0" rtl="0" algn="just">
              <a:lnSpc>
                <a:spcPct val="150000"/>
              </a:lnSpc>
              <a:spcBef>
                <a:spcPts val="520"/>
              </a:spcBef>
              <a:spcAft>
                <a:spcPts val="0"/>
              </a:spcAft>
              <a:buSzPts val="2470"/>
              <a:buNone/>
            </a:pPr>
            <a:r>
              <a:t/>
            </a:r>
            <a:endParaRPr/>
          </a:p>
          <a:p>
            <a:pPr indent="0" lvl="0" marL="0" rtl="0" algn="just">
              <a:lnSpc>
                <a:spcPct val="150000"/>
              </a:lnSpc>
              <a:spcBef>
                <a:spcPts val="520"/>
              </a:spcBef>
              <a:spcAft>
                <a:spcPts val="0"/>
              </a:spcAft>
              <a:buSzPts val="2470"/>
              <a:buNone/>
            </a:pPr>
            <a:r>
              <a:rPr lang="en-GB"/>
              <a:t>In reply, there are different sources of pleasures. Taking pleasure in seeking and getting a good solely for oneself is different from taking in helping others.</a:t>
            </a:r>
            <a:endParaRPr/>
          </a:p>
        </p:txBody>
      </p:sp>
      <p:sp>
        <p:nvSpPr>
          <p:cNvPr id="403" name="Google Shape;403;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4"/>
          <p:cNvSpPr txBox="1"/>
          <p:nvPr>
            <p:ph type="title"/>
          </p:nvPr>
        </p:nvSpPr>
        <p:spPr>
          <a:xfrm>
            <a:off x="323528" y="-243408"/>
            <a:ext cx="8363272" cy="9716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409" name="Google Shape;409;p44"/>
          <p:cNvSpPr txBox="1"/>
          <p:nvPr>
            <p:ph idx="1" type="body"/>
          </p:nvPr>
        </p:nvSpPr>
        <p:spPr>
          <a:xfrm>
            <a:off x="251520" y="908720"/>
            <a:ext cx="8568952" cy="5616624"/>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spcBef>
                <a:spcPts val="0"/>
              </a:spcBef>
              <a:spcAft>
                <a:spcPts val="0"/>
              </a:spcAft>
              <a:buSzPct val="95000"/>
              <a:buFont typeface="Noto Sans Symbols"/>
              <a:buChar char="❑"/>
            </a:pPr>
            <a:r>
              <a:rPr lang="en-GB" sz="3200">
                <a:solidFill>
                  <a:srgbClr val="3D10BC"/>
                </a:solidFill>
              </a:rPr>
              <a:t>Motives of engineers</a:t>
            </a:r>
            <a:endParaRPr/>
          </a:p>
          <a:p>
            <a:pPr indent="0" lvl="0" marL="0" rtl="0" algn="just">
              <a:lnSpc>
                <a:spcPct val="150000"/>
              </a:lnSpc>
              <a:spcBef>
                <a:spcPts val="481"/>
              </a:spcBef>
              <a:spcAft>
                <a:spcPts val="0"/>
              </a:spcAft>
              <a:buSzPct val="95000"/>
              <a:buNone/>
            </a:pPr>
            <a:r>
              <a:rPr lang="en-GB"/>
              <a:t>Engineers are motivated by self-interest, but they are also capable of responding to moral reasons in their own right as well as additional motives concerned with the particular nature of their work. Motives can be categorised into:</a:t>
            </a:r>
            <a:endParaRPr/>
          </a:p>
          <a:p>
            <a:pPr indent="-274320" lvl="0" marL="274320" rtl="0" algn="just">
              <a:lnSpc>
                <a:spcPct val="150000"/>
              </a:lnSpc>
              <a:spcBef>
                <a:spcPts val="481"/>
              </a:spcBef>
              <a:spcAft>
                <a:spcPts val="0"/>
              </a:spcAft>
              <a:buSzPct val="95000"/>
              <a:buChar char="⚫"/>
            </a:pPr>
            <a:r>
              <a:rPr lang="en-GB"/>
              <a:t>Proficiency motives (centre on excellence, technical standards together with aesthetic values of beauty)</a:t>
            </a:r>
            <a:endParaRPr/>
          </a:p>
          <a:p>
            <a:pPr indent="-274320" lvl="0" marL="274320" rtl="0" algn="just">
              <a:lnSpc>
                <a:spcPct val="150000"/>
              </a:lnSpc>
              <a:spcBef>
                <a:spcPts val="481"/>
              </a:spcBef>
              <a:spcAft>
                <a:spcPts val="0"/>
              </a:spcAft>
              <a:buSzPct val="95000"/>
              <a:buChar char="⚫"/>
            </a:pPr>
            <a:r>
              <a:rPr lang="en-GB"/>
              <a:t>Compensation motives (social rewards such as income, power, recognition and job or career stability) </a:t>
            </a:r>
            <a:endParaRPr/>
          </a:p>
          <a:p>
            <a:pPr indent="-274320" lvl="0" marL="274320" rtl="0" algn="just">
              <a:lnSpc>
                <a:spcPct val="150000"/>
              </a:lnSpc>
              <a:spcBef>
                <a:spcPts val="481"/>
              </a:spcBef>
              <a:spcAft>
                <a:spcPts val="0"/>
              </a:spcAft>
              <a:buSzPct val="95000"/>
              <a:buChar char="⚫"/>
            </a:pPr>
            <a:r>
              <a:rPr lang="en-GB"/>
              <a:t>Moral motives (desires to meet one’s responsibilities and to respect the right of others).</a:t>
            </a:r>
            <a:endParaRPr/>
          </a:p>
        </p:txBody>
      </p:sp>
      <p:sp>
        <p:nvSpPr>
          <p:cNvPr id="410" name="Google Shape;410;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5"/>
          <p:cNvSpPr txBox="1"/>
          <p:nvPr>
            <p:ph type="title"/>
          </p:nvPr>
        </p:nvSpPr>
        <p:spPr>
          <a:xfrm>
            <a:off x="323528" y="-99392"/>
            <a:ext cx="8363272" cy="79208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MORAL FRAMEWORK</a:t>
            </a:r>
            <a:endParaRPr/>
          </a:p>
        </p:txBody>
      </p:sp>
      <p:sp>
        <p:nvSpPr>
          <p:cNvPr id="416" name="Google Shape;416;p45"/>
          <p:cNvSpPr txBox="1"/>
          <p:nvPr>
            <p:ph idx="1" type="body"/>
          </p:nvPr>
        </p:nvSpPr>
        <p:spPr>
          <a:xfrm>
            <a:off x="323528" y="692696"/>
            <a:ext cx="8363272" cy="6048672"/>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l">
              <a:spcBef>
                <a:spcPts val="0"/>
              </a:spcBef>
              <a:spcAft>
                <a:spcPts val="0"/>
              </a:spcAft>
              <a:buSzPct val="95000"/>
              <a:buFont typeface="Noto Sans Symbols"/>
              <a:buChar char="❑"/>
            </a:pPr>
            <a:r>
              <a:rPr lang="en-GB" sz="3200">
                <a:solidFill>
                  <a:srgbClr val="3D10BC"/>
                </a:solidFill>
              </a:rPr>
              <a:t>What Ethical Theory is Best?</a:t>
            </a:r>
            <a:endParaRPr/>
          </a:p>
          <a:p>
            <a:pPr indent="0" lvl="0" marL="0" rtl="0" algn="l">
              <a:lnSpc>
                <a:spcPct val="150000"/>
              </a:lnSpc>
              <a:spcBef>
                <a:spcPts val="476"/>
              </a:spcBef>
              <a:spcAft>
                <a:spcPts val="0"/>
              </a:spcAft>
              <a:buSzPct val="95000"/>
              <a:buNone/>
            </a:pPr>
            <a:r>
              <a:rPr lang="en-GB" sz="2800"/>
              <a:t>Ethical theories are attempts to provide clarity and consistency, systematic and comprehensive understanding, and helpful practical guidance in moral matters. </a:t>
            </a:r>
            <a:endParaRPr/>
          </a:p>
          <a:p>
            <a:pPr indent="0" lvl="0" marL="0" rtl="0" algn="l">
              <a:lnSpc>
                <a:spcPct val="150000"/>
              </a:lnSpc>
              <a:spcBef>
                <a:spcPts val="476"/>
              </a:spcBef>
              <a:spcAft>
                <a:spcPts val="0"/>
              </a:spcAft>
              <a:buSzPct val="95000"/>
              <a:buNone/>
            </a:pPr>
            <a:r>
              <a:rPr lang="en-GB" sz="2800"/>
              <a:t>Sound  ethical theories succeed in meeting these aims because sound ethical theories are:</a:t>
            </a:r>
            <a:endParaRPr/>
          </a:p>
          <a:p>
            <a:pPr indent="-274320" lvl="0" marL="274320" rtl="0" algn="l">
              <a:lnSpc>
                <a:spcPct val="150000"/>
              </a:lnSpc>
              <a:spcBef>
                <a:spcPts val="476"/>
              </a:spcBef>
              <a:spcAft>
                <a:spcPts val="0"/>
              </a:spcAft>
              <a:buSzPct val="95000"/>
              <a:buChar char="⚫"/>
            </a:pPr>
            <a:r>
              <a:rPr lang="en-GB" sz="2800"/>
              <a:t>Clear and coherent</a:t>
            </a:r>
            <a:endParaRPr/>
          </a:p>
          <a:p>
            <a:pPr indent="-274320" lvl="0" marL="274320" rtl="0" algn="l">
              <a:lnSpc>
                <a:spcPct val="150000"/>
              </a:lnSpc>
              <a:spcBef>
                <a:spcPts val="476"/>
              </a:spcBef>
              <a:spcAft>
                <a:spcPts val="0"/>
              </a:spcAft>
              <a:buSzPct val="95000"/>
              <a:buChar char="⚫"/>
            </a:pPr>
            <a:r>
              <a:rPr lang="en-GB" sz="2800"/>
              <a:t>Organises basic moral values in a systematic and comprehensive way</a:t>
            </a:r>
            <a:endParaRPr/>
          </a:p>
          <a:p>
            <a:pPr indent="-274320" lvl="0" marL="274320" rtl="0" algn="l">
              <a:lnSpc>
                <a:spcPct val="150000"/>
              </a:lnSpc>
              <a:spcBef>
                <a:spcPts val="476"/>
              </a:spcBef>
              <a:spcAft>
                <a:spcPts val="0"/>
              </a:spcAft>
              <a:buSzPct val="95000"/>
              <a:buChar char="⚫"/>
            </a:pPr>
            <a:r>
              <a:rPr lang="en-GB" sz="2800"/>
              <a:t>Provides helpful guidance that is compatible with our most carefully considered moral convictions </a:t>
            </a:r>
            <a:endParaRPr/>
          </a:p>
          <a:p>
            <a:pPr indent="0" lvl="0" marL="0" rtl="0" algn="l">
              <a:lnSpc>
                <a:spcPct val="150000"/>
              </a:lnSpc>
              <a:spcBef>
                <a:spcPts val="476"/>
              </a:spcBef>
              <a:spcAft>
                <a:spcPts val="0"/>
              </a:spcAft>
              <a:buSzPct val="95000"/>
              <a:buNone/>
            </a:pPr>
            <a:r>
              <a:t/>
            </a:r>
            <a:endParaRPr sz="2800"/>
          </a:p>
        </p:txBody>
      </p:sp>
      <p:sp>
        <p:nvSpPr>
          <p:cNvPr id="417" name="Google Shape;417;p4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6"/>
          <p:cNvSpPr txBox="1"/>
          <p:nvPr>
            <p:ph type="title"/>
          </p:nvPr>
        </p:nvSpPr>
        <p:spPr>
          <a:xfrm>
            <a:off x="457200" y="-450304"/>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COMMITMENT TO SAFETY</a:t>
            </a:r>
            <a:endParaRPr sz="4400">
              <a:latin typeface="Constantia"/>
              <a:ea typeface="Constantia"/>
              <a:cs typeface="Constantia"/>
              <a:sym typeface="Constantia"/>
            </a:endParaRPr>
          </a:p>
        </p:txBody>
      </p:sp>
      <p:pic>
        <p:nvPicPr>
          <p:cNvPr id="423" name="Google Shape;423;p46"/>
          <p:cNvPicPr preferRelativeResize="0"/>
          <p:nvPr>
            <p:ph idx="1" type="body"/>
          </p:nvPr>
        </p:nvPicPr>
        <p:blipFill rotWithShape="1">
          <a:blip r:embed="rId3">
            <a:alphaModFix/>
          </a:blip>
          <a:srcRect b="0" l="0" r="0" t="0"/>
          <a:stretch/>
        </p:blipFill>
        <p:spPr>
          <a:xfrm>
            <a:off x="611560" y="1484785"/>
            <a:ext cx="4032448" cy="4464495"/>
          </a:xfrm>
          <a:prstGeom prst="rect">
            <a:avLst/>
          </a:prstGeom>
          <a:noFill/>
          <a:ln>
            <a:noFill/>
          </a:ln>
        </p:spPr>
      </p:pic>
      <p:sp>
        <p:nvSpPr>
          <p:cNvPr id="424" name="Google Shape;424;p46"/>
          <p:cNvSpPr txBox="1"/>
          <p:nvPr>
            <p:ph idx="2" type="body"/>
          </p:nvPr>
        </p:nvSpPr>
        <p:spPr>
          <a:xfrm>
            <a:off x="4648200" y="764704"/>
            <a:ext cx="4038600" cy="5976664"/>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95000"/>
              <a:buNone/>
            </a:pPr>
            <a:r>
              <a:t/>
            </a:r>
            <a:endParaRPr b="1" i="1">
              <a:solidFill>
                <a:srgbClr val="3D10BC"/>
              </a:solidFill>
            </a:endParaRPr>
          </a:p>
          <a:p>
            <a:pPr indent="0" lvl="0" marL="0" rtl="0" algn="l">
              <a:lnSpc>
                <a:spcPct val="150000"/>
              </a:lnSpc>
              <a:spcBef>
                <a:spcPts val="481"/>
              </a:spcBef>
              <a:spcAft>
                <a:spcPts val="0"/>
              </a:spcAft>
              <a:buSzPct val="95000"/>
              <a:buNone/>
            </a:pPr>
            <a:r>
              <a:rPr lang="en-GB"/>
              <a:t>According to William W. Lowrance, a thing is “</a:t>
            </a:r>
            <a:r>
              <a:rPr i="1" lang="en-GB">
                <a:solidFill>
                  <a:srgbClr val="C00000"/>
                </a:solidFill>
              </a:rPr>
              <a:t>safe</a:t>
            </a:r>
            <a:r>
              <a:rPr lang="en-GB"/>
              <a:t>” if its risks are judged to be acceptable. As such safety can be judged to be relative, as can risk. For instance, a power saw in the hands of a child will never be as safe as it can be in the hands of an adult.</a:t>
            </a:r>
            <a:endParaRPr/>
          </a:p>
        </p:txBody>
      </p:sp>
      <p:sp>
        <p:nvSpPr>
          <p:cNvPr id="425" name="Google Shape;425;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7"/>
          <p:cNvSpPr txBox="1"/>
          <p:nvPr>
            <p:ph type="title"/>
          </p:nvPr>
        </p:nvSpPr>
        <p:spPr>
          <a:xfrm>
            <a:off x="457200" y="-3062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COMMITMENT TO SAFETY</a:t>
            </a:r>
            <a:endParaRPr sz="4400">
              <a:latin typeface="Constantia"/>
              <a:ea typeface="Constantia"/>
              <a:cs typeface="Constantia"/>
              <a:sym typeface="Constantia"/>
            </a:endParaRPr>
          </a:p>
        </p:txBody>
      </p:sp>
      <p:sp>
        <p:nvSpPr>
          <p:cNvPr id="431" name="Google Shape;431;p47"/>
          <p:cNvSpPr txBox="1"/>
          <p:nvPr>
            <p:ph idx="1" type="body"/>
          </p:nvPr>
        </p:nvSpPr>
        <p:spPr>
          <a:xfrm>
            <a:off x="457200" y="764704"/>
            <a:ext cx="8229600" cy="6093296"/>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60000"/>
              </a:lnSpc>
              <a:spcBef>
                <a:spcPts val="0"/>
              </a:spcBef>
              <a:spcAft>
                <a:spcPts val="0"/>
              </a:spcAft>
              <a:buSzPct val="95000"/>
              <a:buNone/>
            </a:pPr>
            <a:r>
              <a:rPr lang="en-GB"/>
              <a:t>Accidents which occur at our various engineering agencies point out how vulnerable our intricate machines and control systems can be, and how they can malfunction because of unanticipated circumstances and as such how important it is to design for proper human-machine interactions as far as safety is concerned.</a:t>
            </a:r>
            <a:endParaRPr/>
          </a:p>
          <a:p>
            <a:pPr indent="0" lvl="0" marL="0" rtl="0" algn="l">
              <a:lnSpc>
                <a:spcPct val="160000"/>
              </a:lnSpc>
              <a:spcBef>
                <a:spcPts val="442"/>
              </a:spcBef>
              <a:spcAft>
                <a:spcPts val="0"/>
              </a:spcAft>
              <a:buSzPct val="95000"/>
              <a:buNone/>
            </a:pPr>
            <a:r>
              <a:rPr lang="en-GB"/>
              <a:t>Absolute safety, in the senses of </a:t>
            </a:r>
            <a:endParaRPr/>
          </a:p>
          <a:p>
            <a:pPr indent="-274320" lvl="0" marL="274320" rtl="0" algn="l">
              <a:lnSpc>
                <a:spcPct val="160000"/>
              </a:lnSpc>
              <a:spcBef>
                <a:spcPts val="442"/>
              </a:spcBef>
              <a:spcAft>
                <a:spcPts val="0"/>
              </a:spcAft>
              <a:buSzPct val="95000"/>
              <a:buChar char="⚫"/>
            </a:pPr>
            <a:r>
              <a:rPr lang="en-GB"/>
              <a:t>entirely risk-free activities and products</a:t>
            </a:r>
            <a:endParaRPr/>
          </a:p>
          <a:p>
            <a:pPr indent="-274320" lvl="0" marL="274320" rtl="0" algn="l">
              <a:lnSpc>
                <a:spcPct val="160000"/>
              </a:lnSpc>
              <a:spcBef>
                <a:spcPts val="442"/>
              </a:spcBef>
              <a:spcAft>
                <a:spcPts val="0"/>
              </a:spcAft>
              <a:buSzPct val="95000"/>
              <a:buChar char="⚫"/>
            </a:pPr>
            <a:r>
              <a:rPr lang="en-GB"/>
              <a:t>a degree of safety that satisfies all individuals or groups under all conditions,</a:t>
            </a:r>
            <a:endParaRPr/>
          </a:p>
          <a:p>
            <a:pPr indent="0" lvl="0" marL="0" rtl="0" algn="l">
              <a:lnSpc>
                <a:spcPct val="160000"/>
              </a:lnSpc>
              <a:spcBef>
                <a:spcPts val="442"/>
              </a:spcBef>
              <a:spcAft>
                <a:spcPts val="0"/>
              </a:spcAft>
              <a:buSzPct val="95000"/>
              <a:buNone/>
            </a:pPr>
            <a:r>
              <a:rPr lang="en-GB"/>
              <a:t>is neither</a:t>
            </a:r>
            <a:r>
              <a:rPr i="1" lang="en-GB"/>
              <a:t> </a:t>
            </a:r>
            <a:r>
              <a:rPr i="1" lang="en-GB">
                <a:solidFill>
                  <a:srgbClr val="C00000"/>
                </a:solidFill>
              </a:rPr>
              <a:t>attainable</a:t>
            </a:r>
            <a:r>
              <a:rPr i="1" lang="en-GB"/>
              <a:t> </a:t>
            </a:r>
            <a:r>
              <a:rPr lang="en-GB"/>
              <a:t>nor </a:t>
            </a:r>
            <a:r>
              <a:rPr i="1" lang="en-GB">
                <a:solidFill>
                  <a:srgbClr val="C00000"/>
                </a:solidFill>
              </a:rPr>
              <a:t>affordable</a:t>
            </a:r>
            <a:r>
              <a:rPr lang="en-GB"/>
              <a:t>, yet it is important we come to some understanding of safety.</a:t>
            </a:r>
            <a:endParaRPr>
              <a:solidFill>
                <a:srgbClr val="FF0000"/>
              </a:solidFill>
            </a:endParaRPr>
          </a:p>
        </p:txBody>
      </p:sp>
      <p:sp>
        <p:nvSpPr>
          <p:cNvPr id="432" name="Google Shape;432;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8"/>
          <p:cNvSpPr txBox="1"/>
          <p:nvPr>
            <p:ph type="title"/>
          </p:nvPr>
        </p:nvSpPr>
        <p:spPr>
          <a:xfrm>
            <a:off x="457200" y="-171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GB">
                <a:latin typeface="Constantia"/>
                <a:ea typeface="Constantia"/>
                <a:cs typeface="Constantia"/>
                <a:sym typeface="Constantia"/>
              </a:rPr>
              <a:t>COMMITMENT TO SAFETY</a:t>
            </a:r>
            <a:endParaRPr>
              <a:latin typeface="Constantia"/>
              <a:ea typeface="Constantia"/>
              <a:cs typeface="Constantia"/>
              <a:sym typeface="Constantia"/>
            </a:endParaRPr>
          </a:p>
        </p:txBody>
      </p:sp>
      <p:sp>
        <p:nvSpPr>
          <p:cNvPr id="438" name="Google Shape;438;p48"/>
          <p:cNvSpPr txBox="1"/>
          <p:nvPr>
            <p:ph idx="1" type="body"/>
          </p:nvPr>
        </p:nvSpPr>
        <p:spPr>
          <a:xfrm>
            <a:off x="457200" y="1124744"/>
            <a:ext cx="8229600" cy="54006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50000"/>
              </a:lnSpc>
              <a:spcBef>
                <a:spcPts val="0"/>
              </a:spcBef>
              <a:spcAft>
                <a:spcPts val="0"/>
              </a:spcAft>
              <a:buSzPct val="95000"/>
              <a:buNone/>
            </a:pPr>
            <a:r>
              <a:rPr lang="en-GB"/>
              <a:t>Lowrance’s definition of safety needs to be modified for it departs too far from our common understanding of safety. According to Lowrance, once the risks are acceptable, then it is known to be safe. Consider these situations:</a:t>
            </a:r>
            <a:endParaRPr/>
          </a:p>
          <a:p>
            <a:pPr indent="-274320" lvl="0" marL="274320" rtl="0" algn="l">
              <a:lnSpc>
                <a:spcPct val="150000"/>
              </a:lnSpc>
              <a:spcBef>
                <a:spcPts val="481"/>
              </a:spcBef>
              <a:spcAft>
                <a:spcPts val="0"/>
              </a:spcAft>
              <a:buSzPct val="95000"/>
              <a:buChar char="⚫"/>
            </a:pPr>
            <a:r>
              <a:rPr lang="en-GB"/>
              <a:t>A case where we seriously underestimate the risks of something, say of buying a smartphone from a shop, only to go home and realize it was faulty and had a broken screen. On the basis of a mistaken view that buying from a shop renders the product genuine, we judge it to be safe, thus concluding we were wrong in our earlier judgement.</a:t>
            </a:r>
            <a:endParaRPr/>
          </a:p>
        </p:txBody>
      </p:sp>
      <p:sp>
        <p:nvSpPr>
          <p:cNvPr id="439" name="Google Shape;439;p4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9"/>
          <p:cNvSpPr txBox="1"/>
          <p:nvPr>
            <p:ph type="title"/>
          </p:nvPr>
        </p:nvSpPr>
        <p:spPr>
          <a:xfrm>
            <a:off x="457200" y="-387424"/>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COMMITMENT TO SAFETY</a:t>
            </a:r>
            <a:endParaRPr/>
          </a:p>
        </p:txBody>
      </p:sp>
      <p:sp>
        <p:nvSpPr>
          <p:cNvPr id="445" name="Google Shape;445;p49"/>
          <p:cNvSpPr txBox="1"/>
          <p:nvPr>
            <p:ph idx="1" type="body"/>
          </p:nvPr>
        </p:nvSpPr>
        <p:spPr>
          <a:xfrm>
            <a:off x="457200" y="764704"/>
            <a:ext cx="8229600" cy="5904656"/>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l">
              <a:lnSpc>
                <a:spcPct val="150000"/>
              </a:lnSpc>
              <a:spcBef>
                <a:spcPts val="0"/>
              </a:spcBef>
              <a:spcAft>
                <a:spcPts val="0"/>
              </a:spcAft>
              <a:buSzPct val="95000"/>
              <a:buChar char="⚫"/>
            </a:pPr>
            <a:r>
              <a:rPr lang="en-GB"/>
              <a:t>A case where we grossly overestimate the risks of something. For example, we irrationally think flouride in drinking water will kill a fifth of the populace. According to Lowrance, the flouridated water is unsafe, since we judge the risks to be unacceptable. It would be impossible for someone to reason with us that the water is actually safe.</a:t>
            </a:r>
            <a:endParaRPr/>
          </a:p>
          <a:p>
            <a:pPr indent="-274320" lvl="0" marL="274320" rtl="0" algn="l">
              <a:lnSpc>
                <a:spcPct val="150000"/>
              </a:lnSpc>
              <a:spcBef>
                <a:spcPts val="442"/>
              </a:spcBef>
              <a:spcAft>
                <a:spcPts val="0"/>
              </a:spcAft>
              <a:buSzPct val="95000"/>
              <a:buChar char="⚫"/>
            </a:pPr>
            <a:r>
              <a:rPr lang="en-GB"/>
              <a:t>Finally, a situation in which a group makes no judgement at all about whether the risks of a thing are acceptable or not-they simply do not think about it. By Lowrance’s definition, the thing is neither safe nor unsafe with respect to that group. For example, some cars are considered safe and others unsafe, yet many people drive without thinking about the safety of the cars. </a:t>
            </a:r>
            <a:endParaRPr/>
          </a:p>
        </p:txBody>
      </p:sp>
      <p:sp>
        <p:nvSpPr>
          <p:cNvPr id="446" name="Google Shape;446;p4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0"/>
          <p:cNvSpPr txBox="1"/>
          <p:nvPr>
            <p:ph type="title"/>
          </p:nvPr>
        </p:nvSpPr>
        <p:spPr>
          <a:xfrm>
            <a:off x="457200" y="-387424"/>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COMMITMENT TO SAFETY</a:t>
            </a:r>
            <a:endParaRPr sz="4400">
              <a:latin typeface="Constantia"/>
              <a:ea typeface="Constantia"/>
              <a:cs typeface="Constantia"/>
              <a:sym typeface="Constantia"/>
            </a:endParaRPr>
          </a:p>
        </p:txBody>
      </p:sp>
      <p:sp>
        <p:nvSpPr>
          <p:cNvPr id="452" name="Google Shape;452;p50"/>
          <p:cNvSpPr txBox="1"/>
          <p:nvPr>
            <p:ph idx="1" type="body"/>
          </p:nvPr>
        </p:nvSpPr>
        <p:spPr>
          <a:xfrm>
            <a:off x="457200" y="720080"/>
            <a:ext cx="8229600" cy="594928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70000"/>
              </a:lnSpc>
              <a:spcBef>
                <a:spcPts val="0"/>
              </a:spcBef>
              <a:spcAft>
                <a:spcPts val="0"/>
              </a:spcAft>
              <a:buSzPct val="95000"/>
              <a:buNone/>
            </a:pPr>
            <a:r>
              <a:rPr lang="en-GB"/>
              <a:t>Because little in life, and nothing in engineering is risk-free, a modified version of Lowrance’s definition is preferred.</a:t>
            </a:r>
            <a:endParaRPr/>
          </a:p>
          <a:p>
            <a:pPr indent="0" lvl="0" marL="0" rtl="0" algn="l">
              <a:lnSpc>
                <a:spcPct val="170000"/>
              </a:lnSpc>
              <a:spcBef>
                <a:spcPts val="442"/>
              </a:spcBef>
              <a:spcAft>
                <a:spcPts val="0"/>
              </a:spcAft>
              <a:buSzPct val="95000"/>
              <a:buNone/>
            </a:pPr>
            <a:r>
              <a:rPr i="1" lang="en-GB">
                <a:solidFill>
                  <a:srgbClr val="FF0000"/>
                </a:solidFill>
              </a:rPr>
              <a:t>  </a:t>
            </a:r>
            <a:r>
              <a:rPr i="1" lang="en-GB">
                <a:solidFill>
                  <a:srgbClr val="C00000"/>
                </a:solidFill>
              </a:rPr>
              <a:t>A thing is safe if, where its risks fully known, those risks would be judged acceptable by a reasonable person in light of their settled value principles.</a:t>
            </a:r>
            <a:endParaRPr/>
          </a:p>
          <a:p>
            <a:pPr indent="0" lvl="0" marL="0" rtl="0" algn="l">
              <a:lnSpc>
                <a:spcPct val="170000"/>
              </a:lnSpc>
              <a:spcBef>
                <a:spcPts val="442"/>
              </a:spcBef>
              <a:spcAft>
                <a:spcPts val="0"/>
              </a:spcAft>
              <a:buSzPct val="95000"/>
              <a:buNone/>
            </a:pPr>
            <a:r>
              <a:rPr lang="en-GB"/>
              <a:t>From this explanation, safety can now be described as how people would find risks acceptable or unacceptable if they knew the risks and were basing their judgements on their most settled value perspectives. For example, when we say an airplane travel is safer than automobile travel, we say that based on the fewer risks of death and injuries of airplane travel to automobile travel. </a:t>
            </a:r>
            <a:endParaRPr/>
          </a:p>
        </p:txBody>
      </p:sp>
      <p:sp>
        <p:nvSpPr>
          <p:cNvPr id="453" name="Google Shape;453;p5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1"/>
          <p:cNvSpPr txBox="1"/>
          <p:nvPr>
            <p:ph type="title"/>
          </p:nvPr>
        </p:nvSpPr>
        <p:spPr>
          <a:xfrm>
            <a:off x="457200" y="-387424"/>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COMMITMENT TO SAFETY</a:t>
            </a:r>
            <a:endParaRPr sz="4400">
              <a:latin typeface="Constantia"/>
              <a:ea typeface="Constantia"/>
              <a:cs typeface="Constantia"/>
              <a:sym typeface="Constantia"/>
            </a:endParaRPr>
          </a:p>
        </p:txBody>
      </p:sp>
      <p:sp>
        <p:nvSpPr>
          <p:cNvPr id="459" name="Google Shape;459;p51"/>
          <p:cNvSpPr txBox="1"/>
          <p:nvPr>
            <p:ph idx="1" type="body"/>
          </p:nvPr>
        </p:nvSpPr>
        <p:spPr>
          <a:xfrm>
            <a:off x="467544" y="836712"/>
            <a:ext cx="8435280" cy="6025774"/>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Font typeface="Noto Sans Symbols"/>
              <a:buChar char="❑"/>
            </a:pPr>
            <a:r>
              <a:rPr lang="en-GB"/>
              <a:t> Risks</a:t>
            </a:r>
            <a:endParaRPr/>
          </a:p>
          <a:p>
            <a:pPr indent="0" lvl="0" marL="0" rtl="0" algn="l">
              <a:lnSpc>
                <a:spcPct val="160000"/>
              </a:lnSpc>
              <a:spcBef>
                <a:spcPts val="442"/>
              </a:spcBef>
              <a:spcAft>
                <a:spcPts val="0"/>
              </a:spcAft>
              <a:buSzPct val="95000"/>
              <a:buNone/>
            </a:pPr>
            <a:r>
              <a:rPr lang="en-GB"/>
              <a:t>A risk is the potential that something unwanted and harmful may occur. A risk is taken when we undertake something or use a product that is not safe. </a:t>
            </a:r>
            <a:endParaRPr/>
          </a:p>
          <a:p>
            <a:pPr indent="-274320" lvl="0" marL="274320" rtl="0" algn="l">
              <a:lnSpc>
                <a:spcPct val="160000"/>
              </a:lnSpc>
              <a:spcBef>
                <a:spcPts val="442"/>
              </a:spcBef>
              <a:spcAft>
                <a:spcPts val="0"/>
              </a:spcAft>
              <a:buSzPct val="95000"/>
              <a:buChar char="⚫"/>
            </a:pPr>
            <a:r>
              <a:rPr lang="en-GB"/>
              <a:t>Risks are somewhat unavoidable as a result of technology’s influence on society.</a:t>
            </a:r>
            <a:endParaRPr/>
          </a:p>
          <a:p>
            <a:pPr indent="-274320" lvl="0" marL="274320" rtl="0" algn="l">
              <a:lnSpc>
                <a:spcPct val="160000"/>
              </a:lnSpc>
              <a:spcBef>
                <a:spcPts val="442"/>
              </a:spcBef>
              <a:spcAft>
                <a:spcPts val="0"/>
              </a:spcAft>
              <a:buSzPct val="95000"/>
              <a:buChar char="⚫"/>
            </a:pPr>
            <a:r>
              <a:rPr lang="en-GB"/>
              <a:t>Some risks may be considered to be new but many have existed for some time. They are considered new only in the sense that:</a:t>
            </a:r>
            <a:endParaRPr/>
          </a:p>
          <a:p>
            <a:pPr indent="-514350" lvl="0" marL="514350" rtl="0" algn="l">
              <a:lnSpc>
                <a:spcPct val="160000"/>
              </a:lnSpc>
              <a:spcBef>
                <a:spcPts val="442"/>
              </a:spcBef>
              <a:spcAft>
                <a:spcPts val="0"/>
              </a:spcAft>
              <a:buSzPct val="95000"/>
              <a:buFont typeface="Calibri"/>
              <a:buAutoNum type="arabicPeriod"/>
            </a:pPr>
            <a:r>
              <a:rPr lang="en-GB"/>
              <a:t>They are now identifiable-because they have passed their accumulation threshold in our environment</a:t>
            </a:r>
            <a:endParaRPr/>
          </a:p>
          <a:p>
            <a:pPr indent="-514350" lvl="0" marL="514350" rtl="0" algn="l">
              <a:lnSpc>
                <a:spcPct val="160000"/>
              </a:lnSpc>
              <a:spcBef>
                <a:spcPts val="442"/>
              </a:spcBef>
              <a:spcAft>
                <a:spcPts val="0"/>
              </a:spcAft>
              <a:buSzPct val="95000"/>
              <a:buFont typeface="Calibri"/>
              <a:buAutoNum type="arabicPeriod"/>
            </a:pPr>
            <a:r>
              <a:rPr lang="en-GB"/>
              <a:t>The publics perception of them has changed-because of education, experience, media attention, etc.</a:t>
            </a:r>
            <a:endParaRPr/>
          </a:p>
        </p:txBody>
      </p:sp>
      <p:sp>
        <p:nvSpPr>
          <p:cNvPr id="460" name="Google Shape;460;p5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2"/>
          <p:cNvSpPr txBox="1"/>
          <p:nvPr>
            <p:ph type="title"/>
          </p:nvPr>
        </p:nvSpPr>
        <p:spPr>
          <a:xfrm>
            <a:off x="467544" y="-387424"/>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COMMITMENT TO SAFETY</a:t>
            </a:r>
            <a:endParaRPr sz="4400">
              <a:latin typeface="Constantia"/>
              <a:ea typeface="Constantia"/>
              <a:cs typeface="Constantia"/>
              <a:sym typeface="Constantia"/>
            </a:endParaRPr>
          </a:p>
        </p:txBody>
      </p:sp>
      <p:sp>
        <p:nvSpPr>
          <p:cNvPr id="466" name="Google Shape;466;p52"/>
          <p:cNvSpPr txBox="1"/>
          <p:nvPr>
            <p:ph idx="1" type="body"/>
          </p:nvPr>
        </p:nvSpPr>
        <p:spPr>
          <a:xfrm>
            <a:off x="457200" y="620688"/>
            <a:ext cx="8229600" cy="6165304"/>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lnSpc>
                <a:spcPct val="160000"/>
              </a:lnSpc>
              <a:spcBef>
                <a:spcPts val="0"/>
              </a:spcBef>
              <a:spcAft>
                <a:spcPts val="0"/>
              </a:spcAft>
              <a:buSzPct val="95000"/>
              <a:buFont typeface="Noto Sans Symbols"/>
              <a:buChar char="❑"/>
            </a:pPr>
            <a:r>
              <a:rPr lang="en-GB"/>
              <a:t> Acceptability of Risk</a:t>
            </a:r>
            <a:endParaRPr/>
          </a:p>
          <a:p>
            <a:pPr indent="0" lvl="0" marL="0" rtl="0" algn="l">
              <a:lnSpc>
                <a:spcPct val="160000"/>
              </a:lnSpc>
              <a:spcBef>
                <a:spcPts val="481"/>
              </a:spcBef>
              <a:spcAft>
                <a:spcPts val="0"/>
              </a:spcAft>
              <a:buSzPct val="95000"/>
              <a:buNone/>
            </a:pPr>
            <a:r>
              <a:rPr lang="en-GB"/>
              <a:t>According to William D. Rowe, a risk is acceptabe when those affected are no longer(or not) apprehensive about it. Apprehensiveness depends to a large extent on how the risk is perceived. This is influenced by factors such as:</a:t>
            </a:r>
            <a:endParaRPr/>
          </a:p>
          <a:p>
            <a:pPr indent="-274320" lvl="0" marL="274320" rtl="0" algn="l">
              <a:lnSpc>
                <a:spcPct val="160000"/>
              </a:lnSpc>
              <a:spcBef>
                <a:spcPts val="481"/>
              </a:spcBef>
              <a:spcAft>
                <a:spcPts val="0"/>
              </a:spcAft>
              <a:buSzPct val="95000"/>
              <a:buChar char="⚫"/>
            </a:pPr>
            <a:r>
              <a:rPr lang="en-GB"/>
              <a:t>Whether the risk is accepted voluntarily</a:t>
            </a:r>
            <a:endParaRPr/>
          </a:p>
          <a:p>
            <a:pPr indent="-274320" lvl="0" marL="274320" rtl="0" algn="l">
              <a:lnSpc>
                <a:spcPct val="160000"/>
              </a:lnSpc>
              <a:spcBef>
                <a:spcPts val="481"/>
              </a:spcBef>
              <a:spcAft>
                <a:spcPts val="0"/>
              </a:spcAft>
              <a:buSzPct val="95000"/>
              <a:buChar char="⚫"/>
            </a:pPr>
            <a:r>
              <a:rPr lang="en-GB"/>
              <a:t>The effects of knowledge on how the probabilities of harm are identified.</a:t>
            </a:r>
            <a:endParaRPr/>
          </a:p>
          <a:p>
            <a:pPr indent="-274320" lvl="0" marL="274320" rtl="0" algn="l">
              <a:lnSpc>
                <a:spcPct val="160000"/>
              </a:lnSpc>
              <a:spcBef>
                <a:spcPts val="481"/>
              </a:spcBef>
              <a:spcAft>
                <a:spcPts val="0"/>
              </a:spcAft>
              <a:buSzPct val="95000"/>
              <a:buChar char="⚫"/>
            </a:pPr>
            <a:r>
              <a:rPr lang="en-GB"/>
              <a:t>Whether the effects are immediately noticeable or close at hand.</a:t>
            </a:r>
            <a:endParaRPr/>
          </a:p>
          <a:p>
            <a:pPr indent="-274320" lvl="0" marL="274320" rtl="0" algn="l">
              <a:lnSpc>
                <a:spcPct val="160000"/>
              </a:lnSpc>
              <a:spcBef>
                <a:spcPts val="481"/>
              </a:spcBef>
              <a:spcAft>
                <a:spcPts val="0"/>
              </a:spcAft>
              <a:buSzPct val="95000"/>
              <a:buChar char="⚫"/>
            </a:pPr>
            <a:r>
              <a:rPr lang="en-GB"/>
              <a:t>Whether the potential victims are identifiable beforehand.</a:t>
            </a:r>
            <a:endParaRPr/>
          </a:p>
        </p:txBody>
      </p:sp>
      <p:sp>
        <p:nvSpPr>
          <p:cNvPr id="467" name="Google Shape;467;p5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3"/>
          <p:cNvSpPr txBox="1"/>
          <p:nvPr>
            <p:ph type="title"/>
          </p:nvPr>
        </p:nvSpPr>
        <p:spPr>
          <a:xfrm>
            <a:off x="457200" y="-23428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COMMITMENT TO SAFETY</a:t>
            </a:r>
            <a:endParaRPr sz="4400">
              <a:latin typeface="Constantia"/>
              <a:ea typeface="Constantia"/>
              <a:cs typeface="Constantia"/>
              <a:sym typeface="Constantia"/>
            </a:endParaRPr>
          </a:p>
        </p:txBody>
      </p:sp>
      <p:sp>
        <p:nvSpPr>
          <p:cNvPr id="473" name="Google Shape;473;p53"/>
          <p:cNvSpPr txBox="1"/>
          <p:nvPr>
            <p:ph idx="1" type="body"/>
          </p:nvPr>
        </p:nvSpPr>
        <p:spPr>
          <a:xfrm>
            <a:off x="457200" y="908720"/>
            <a:ext cx="8229600" cy="5544616"/>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150000"/>
              </a:lnSpc>
              <a:spcBef>
                <a:spcPts val="0"/>
              </a:spcBef>
              <a:spcAft>
                <a:spcPts val="0"/>
              </a:spcAft>
              <a:buSzPct val="95000"/>
              <a:buFont typeface="Noto Sans Symbols"/>
              <a:buChar char="❑"/>
            </a:pPr>
            <a:r>
              <a:rPr lang="en-GB"/>
              <a:t> Illustration of the elements of risk perception.</a:t>
            </a:r>
            <a:endParaRPr/>
          </a:p>
          <a:p>
            <a:pPr indent="-274320" lvl="0" marL="274320" rtl="0" algn="l">
              <a:lnSpc>
                <a:spcPct val="150000"/>
              </a:lnSpc>
              <a:spcBef>
                <a:spcPts val="481"/>
              </a:spcBef>
              <a:spcAft>
                <a:spcPts val="0"/>
              </a:spcAft>
              <a:buSzPct val="95000"/>
              <a:buChar char="⚫"/>
            </a:pPr>
            <a:r>
              <a:rPr lang="en-GB"/>
              <a:t>Voluntarism and Control</a:t>
            </a:r>
            <a:endParaRPr/>
          </a:p>
          <a:p>
            <a:pPr indent="0" lvl="0" marL="0" rtl="0" algn="l">
              <a:lnSpc>
                <a:spcPct val="150000"/>
              </a:lnSpc>
              <a:spcBef>
                <a:spcPts val="481"/>
              </a:spcBef>
              <a:spcAft>
                <a:spcPts val="0"/>
              </a:spcAft>
              <a:buSzPct val="95000"/>
              <a:buNone/>
            </a:pPr>
            <a:r>
              <a:rPr lang="en-GB"/>
              <a:t>People are much less apprehensive about the risks to which they expose themselves voluntarily than about those to which they are exposed involuntarily. People are more willing to be subject of their own experiments than of someone else’s.</a:t>
            </a:r>
            <a:endParaRPr/>
          </a:p>
          <a:p>
            <a:pPr indent="-274320" lvl="0" marL="274320" rtl="0" algn="l">
              <a:lnSpc>
                <a:spcPct val="150000"/>
              </a:lnSpc>
              <a:spcBef>
                <a:spcPts val="481"/>
              </a:spcBef>
              <a:spcAft>
                <a:spcPts val="0"/>
              </a:spcAft>
              <a:buSzPct val="95000"/>
              <a:buChar char="⚫"/>
            </a:pPr>
            <a:r>
              <a:rPr lang="en-GB"/>
              <a:t>Effect of Information on Risk Assessments</a:t>
            </a:r>
            <a:endParaRPr/>
          </a:p>
          <a:p>
            <a:pPr indent="0" lvl="0" marL="0" rtl="0" algn="l">
              <a:lnSpc>
                <a:spcPct val="150000"/>
              </a:lnSpc>
              <a:spcBef>
                <a:spcPts val="481"/>
              </a:spcBef>
              <a:spcAft>
                <a:spcPts val="0"/>
              </a:spcAft>
              <a:buSzPct val="95000"/>
              <a:buNone/>
            </a:pPr>
            <a:r>
              <a:rPr lang="en-GB"/>
              <a:t>The manner in which information necessary for decision making is presented can greatly influence how risks are perceived. </a:t>
            </a:r>
            <a:endParaRPr/>
          </a:p>
        </p:txBody>
      </p:sp>
      <p:sp>
        <p:nvSpPr>
          <p:cNvPr id="474" name="Google Shape;474;p5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4"/>
          <p:cNvSpPr txBox="1"/>
          <p:nvPr>
            <p:ph type="title"/>
          </p:nvPr>
        </p:nvSpPr>
        <p:spPr>
          <a:xfrm>
            <a:off x="457200" y="-24340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COMMITMENT TO SAFETY</a:t>
            </a:r>
            <a:endParaRPr sz="4400">
              <a:latin typeface="Constantia"/>
              <a:ea typeface="Constantia"/>
              <a:cs typeface="Constantia"/>
              <a:sym typeface="Constantia"/>
            </a:endParaRPr>
          </a:p>
        </p:txBody>
      </p:sp>
      <p:sp>
        <p:nvSpPr>
          <p:cNvPr id="480" name="Google Shape;480;p54"/>
          <p:cNvSpPr txBox="1"/>
          <p:nvPr>
            <p:ph idx="1" type="body"/>
          </p:nvPr>
        </p:nvSpPr>
        <p:spPr>
          <a:xfrm>
            <a:off x="457200" y="908720"/>
            <a:ext cx="8229600" cy="594928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lnSpc>
                <a:spcPct val="170000"/>
              </a:lnSpc>
              <a:spcBef>
                <a:spcPts val="0"/>
              </a:spcBef>
              <a:spcAft>
                <a:spcPts val="0"/>
              </a:spcAft>
              <a:buSzPct val="95000"/>
              <a:buChar char="⚫"/>
            </a:pPr>
            <a:r>
              <a:rPr lang="en-GB"/>
              <a:t>Job Related Risks</a:t>
            </a:r>
            <a:endParaRPr/>
          </a:p>
          <a:p>
            <a:pPr indent="0" lvl="0" marL="0" rtl="0" algn="l">
              <a:lnSpc>
                <a:spcPct val="170000"/>
              </a:lnSpc>
              <a:spcBef>
                <a:spcPts val="403"/>
              </a:spcBef>
              <a:spcAft>
                <a:spcPts val="0"/>
              </a:spcAft>
              <a:buSzPct val="95000"/>
              <a:buNone/>
            </a:pPr>
            <a:r>
              <a:rPr lang="en-GB"/>
              <a:t>Exposure to risk on a job, although voluntary since one can always refuse to submit oneself to the job, yet often employees have little choice other than to do as they are told. What they are often not told is their exposure to toxic substances and dangers that are not readily sensed.</a:t>
            </a:r>
            <a:endParaRPr/>
          </a:p>
          <a:p>
            <a:pPr indent="0" lvl="0" marL="0" rtl="0" algn="l">
              <a:lnSpc>
                <a:spcPct val="170000"/>
              </a:lnSpc>
              <a:spcBef>
                <a:spcPts val="403"/>
              </a:spcBef>
              <a:spcAft>
                <a:spcPts val="0"/>
              </a:spcAft>
              <a:buSzPct val="95000"/>
              <a:buNone/>
            </a:pPr>
            <a:r>
              <a:t/>
            </a:r>
            <a:endParaRPr/>
          </a:p>
          <a:p>
            <a:pPr indent="-274320" lvl="0" marL="274320" rtl="0" algn="l">
              <a:lnSpc>
                <a:spcPct val="170000"/>
              </a:lnSpc>
              <a:spcBef>
                <a:spcPts val="403"/>
              </a:spcBef>
              <a:spcAft>
                <a:spcPts val="0"/>
              </a:spcAft>
              <a:buSzPct val="95000"/>
              <a:buChar char="⚫"/>
            </a:pPr>
            <a:r>
              <a:rPr lang="en-GB"/>
              <a:t>Magnitude and Proximity </a:t>
            </a:r>
            <a:endParaRPr/>
          </a:p>
          <a:p>
            <a:pPr indent="0" lvl="0" marL="0" rtl="0" algn="l">
              <a:lnSpc>
                <a:spcPct val="170000"/>
              </a:lnSpc>
              <a:spcBef>
                <a:spcPts val="403"/>
              </a:spcBef>
              <a:spcAft>
                <a:spcPts val="0"/>
              </a:spcAft>
              <a:buSzPct val="95000"/>
              <a:buNone/>
            </a:pPr>
            <a:r>
              <a:rPr lang="en-GB"/>
              <a:t>Our reaction to risk is affected by the dread of a possible mishap, in terms of magnitude  and of the personal relationship we have with the victims. For example, as we feel much more keenly about a potential risk to a close friend out of a group of 20 intimate friends than to 50 strangers.</a:t>
            </a:r>
            <a:endParaRPr/>
          </a:p>
        </p:txBody>
      </p:sp>
      <p:sp>
        <p:nvSpPr>
          <p:cNvPr id="481" name="Google Shape;481;p5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5"/>
          <p:cNvSpPr txBox="1"/>
          <p:nvPr>
            <p:ph type="title"/>
          </p:nvPr>
        </p:nvSpPr>
        <p:spPr>
          <a:xfrm>
            <a:off x="457200" y="-315416"/>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GB" sz="4400">
                <a:latin typeface="Constantia"/>
                <a:ea typeface="Constantia"/>
                <a:cs typeface="Constantia"/>
                <a:sym typeface="Constantia"/>
              </a:rPr>
              <a:t>COMMITMENT TO SAFETY</a:t>
            </a:r>
            <a:endParaRPr sz="4400">
              <a:latin typeface="Constantia"/>
              <a:ea typeface="Constantia"/>
              <a:cs typeface="Constantia"/>
              <a:sym typeface="Constantia"/>
            </a:endParaRPr>
          </a:p>
        </p:txBody>
      </p:sp>
      <p:sp>
        <p:nvSpPr>
          <p:cNvPr id="487" name="Google Shape;487;p55"/>
          <p:cNvSpPr txBox="1"/>
          <p:nvPr>
            <p:ph idx="1" type="body"/>
          </p:nvPr>
        </p:nvSpPr>
        <p:spPr>
          <a:xfrm>
            <a:off x="457200" y="692696"/>
            <a:ext cx="8229600" cy="5832648"/>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l">
              <a:lnSpc>
                <a:spcPct val="150000"/>
              </a:lnSpc>
              <a:spcBef>
                <a:spcPts val="0"/>
              </a:spcBef>
              <a:spcAft>
                <a:spcPts val="0"/>
              </a:spcAft>
              <a:buSzPct val="95000"/>
              <a:buFont typeface="Noto Sans Symbols"/>
              <a:buChar char="❑"/>
            </a:pPr>
            <a:r>
              <a:rPr lang="en-GB" sz="3200"/>
              <a:t> </a:t>
            </a:r>
            <a:r>
              <a:rPr i="1" lang="en-GB" sz="3200">
                <a:solidFill>
                  <a:srgbClr val="3D10BC"/>
                </a:solidFill>
              </a:rPr>
              <a:t>Assessing and Reducing Risk</a:t>
            </a:r>
            <a:endParaRPr/>
          </a:p>
          <a:p>
            <a:pPr indent="0" lvl="0" marL="0" rtl="0" algn="l">
              <a:lnSpc>
                <a:spcPct val="150000"/>
              </a:lnSpc>
              <a:spcBef>
                <a:spcPts val="442"/>
              </a:spcBef>
              <a:spcAft>
                <a:spcPts val="0"/>
              </a:spcAft>
              <a:buSzPct val="95000"/>
              <a:buNone/>
            </a:pPr>
            <a:r>
              <a:rPr lang="en-GB"/>
              <a:t>Improvement in safety of an engineered product results in an increase in the cost of the product. On the other hand, unsafe products also incur secondary costs to the manufacturer beyond primary production costs such as</a:t>
            </a:r>
            <a:endParaRPr/>
          </a:p>
          <a:p>
            <a:pPr indent="-274320" lvl="0" marL="274320" rtl="0" algn="l">
              <a:lnSpc>
                <a:spcPct val="150000"/>
              </a:lnSpc>
              <a:spcBef>
                <a:spcPts val="442"/>
              </a:spcBef>
              <a:spcAft>
                <a:spcPts val="0"/>
              </a:spcAft>
              <a:buSzPct val="95000"/>
              <a:buChar char="⚫"/>
            </a:pPr>
            <a:r>
              <a:rPr lang="en-GB"/>
              <a:t>Warranty expenses</a:t>
            </a:r>
            <a:endParaRPr/>
          </a:p>
          <a:p>
            <a:pPr indent="-274320" lvl="0" marL="274320" rtl="0" algn="l">
              <a:lnSpc>
                <a:spcPct val="150000"/>
              </a:lnSpc>
              <a:spcBef>
                <a:spcPts val="442"/>
              </a:spcBef>
              <a:spcAft>
                <a:spcPts val="0"/>
              </a:spcAft>
              <a:buSzPct val="95000"/>
              <a:buChar char="⚫"/>
            </a:pPr>
            <a:r>
              <a:rPr lang="en-GB"/>
              <a:t>Loss of good customer goodwill</a:t>
            </a:r>
            <a:endParaRPr/>
          </a:p>
          <a:p>
            <a:pPr indent="-274320" lvl="0" marL="274320" rtl="0" algn="l">
              <a:lnSpc>
                <a:spcPct val="150000"/>
              </a:lnSpc>
              <a:spcBef>
                <a:spcPts val="442"/>
              </a:spcBef>
              <a:spcAft>
                <a:spcPts val="0"/>
              </a:spcAft>
              <a:buSzPct val="95000"/>
              <a:buChar char="⚫"/>
            </a:pPr>
            <a:r>
              <a:rPr lang="en-GB"/>
              <a:t>Loss of customers because of sustained injuries from the use of the product</a:t>
            </a:r>
            <a:endParaRPr/>
          </a:p>
          <a:p>
            <a:pPr indent="-274320" lvl="0" marL="274320" rtl="0" algn="l">
              <a:lnSpc>
                <a:spcPct val="150000"/>
              </a:lnSpc>
              <a:spcBef>
                <a:spcPts val="442"/>
              </a:spcBef>
              <a:spcAft>
                <a:spcPts val="0"/>
              </a:spcAft>
              <a:buSzPct val="95000"/>
              <a:buChar char="⚫"/>
            </a:pPr>
            <a:r>
              <a:rPr lang="en-GB"/>
              <a:t>Litigation</a:t>
            </a:r>
            <a:endParaRPr/>
          </a:p>
          <a:p>
            <a:pPr indent="-274320" lvl="0" marL="274320" rtl="0" algn="l">
              <a:lnSpc>
                <a:spcPct val="150000"/>
              </a:lnSpc>
              <a:spcBef>
                <a:spcPts val="442"/>
              </a:spcBef>
              <a:spcAft>
                <a:spcPts val="0"/>
              </a:spcAft>
              <a:buSzPct val="95000"/>
              <a:buChar char="⚫"/>
            </a:pPr>
            <a:r>
              <a:rPr lang="en-GB"/>
              <a:t>Possible downtime in the manufacturing process</a:t>
            </a:r>
            <a:endParaRPr/>
          </a:p>
        </p:txBody>
      </p:sp>
      <p:sp>
        <p:nvSpPr>
          <p:cNvPr id="488" name="Google Shape;488;p5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6"/>
          <p:cNvSpPr txBox="1"/>
          <p:nvPr>
            <p:ph type="title"/>
          </p:nvPr>
        </p:nvSpPr>
        <p:spPr>
          <a:xfrm>
            <a:off x="457200" y="-206896"/>
            <a:ext cx="8229600" cy="827584"/>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GB" sz="4400"/>
              <a:t>COMMITMENT TO SAFETY</a:t>
            </a:r>
            <a:endParaRPr sz="4400"/>
          </a:p>
        </p:txBody>
      </p:sp>
      <p:sp>
        <p:nvSpPr>
          <p:cNvPr id="494" name="Google Shape;494;p56"/>
          <p:cNvSpPr txBox="1"/>
          <p:nvPr>
            <p:ph idx="1" type="body"/>
          </p:nvPr>
        </p:nvSpPr>
        <p:spPr>
          <a:xfrm>
            <a:off x="457200" y="332656"/>
            <a:ext cx="8229600" cy="6768752"/>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lnSpc>
                <a:spcPct val="160000"/>
              </a:lnSpc>
              <a:spcBef>
                <a:spcPts val="0"/>
              </a:spcBef>
              <a:spcAft>
                <a:spcPts val="0"/>
              </a:spcAft>
              <a:buSzPct val="95000"/>
              <a:buFont typeface="Noto Sans Symbols"/>
              <a:buChar char="❑"/>
            </a:pPr>
            <a:r>
              <a:rPr i="1" lang="en-GB" sz="3300">
                <a:solidFill>
                  <a:srgbClr val="3D10BC"/>
                </a:solidFill>
              </a:rPr>
              <a:t>Risk-Benefit analysis</a:t>
            </a:r>
            <a:endParaRPr/>
          </a:p>
          <a:p>
            <a:pPr indent="-274320" lvl="0" marL="274320" rtl="0" algn="l">
              <a:lnSpc>
                <a:spcPct val="160000"/>
              </a:lnSpc>
              <a:spcBef>
                <a:spcPts val="442"/>
              </a:spcBef>
              <a:spcAft>
                <a:spcPts val="0"/>
              </a:spcAft>
              <a:buSzPct val="95000"/>
              <a:buChar char="⚫"/>
            </a:pPr>
            <a:r>
              <a:rPr lang="en-GB"/>
              <a:t>Many large projects are justified on the basis of a risk-benefit analysis. The question answered by such are study are:</a:t>
            </a:r>
            <a:endParaRPr/>
          </a:p>
          <a:p>
            <a:pPr indent="-514350" lvl="0" marL="514350" rtl="0" algn="l">
              <a:lnSpc>
                <a:spcPct val="160000"/>
              </a:lnSpc>
              <a:spcBef>
                <a:spcPts val="442"/>
              </a:spcBef>
              <a:spcAft>
                <a:spcPts val="0"/>
              </a:spcAft>
              <a:buSzPct val="95000"/>
              <a:buFont typeface="Calibri"/>
              <a:buAutoNum type="arabicPeriod"/>
            </a:pPr>
            <a:r>
              <a:rPr lang="en-GB"/>
              <a:t>Is the product worth the risks connected with its use?</a:t>
            </a:r>
            <a:endParaRPr/>
          </a:p>
          <a:p>
            <a:pPr indent="-514350" lvl="0" marL="514350" rtl="0" algn="l">
              <a:lnSpc>
                <a:spcPct val="160000"/>
              </a:lnSpc>
              <a:spcBef>
                <a:spcPts val="442"/>
              </a:spcBef>
              <a:spcAft>
                <a:spcPts val="0"/>
              </a:spcAft>
              <a:buSzPct val="95000"/>
              <a:buFont typeface="Calibri"/>
              <a:buAutoNum type="arabicPeriod"/>
            </a:pPr>
            <a:r>
              <a:rPr lang="en-GB"/>
              <a:t>What are the benefits?</a:t>
            </a:r>
            <a:endParaRPr/>
          </a:p>
          <a:p>
            <a:pPr indent="-514350" lvl="0" marL="514350" rtl="0" algn="l">
              <a:lnSpc>
                <a:spcPct val="160000"/>
              </a:lnSpc>
              <a:spcBef>
                <a:spcPts val="442"/>
              </a:spcBef>
              <a:spcAft>
                <a:spcPts val="0"/>
              </a:spcAft>
              <a:buSzPct val="95000"/>
              <a:buFont typeface="Calibri"/>
              <a:buAutoNum type="arabicPeriod"/>
            </a:pPr>
            <a:r>
              <a:rPr lang="en-GB"/>
              <a:t>Do they outweigh the risks?</a:t>
            </a:r>
            <a:endParaRPr/>
          </a:p>
          <a:p>
            <a:pPr indent="-274320" lvl="0" marL="274320" rtl="0" algn="l">
              <a:lnSpc>
                <a:spcPct val="160000"/>
              </a:lnSpc>
              <a:spcBef>
                <a:spcPts val="442"/>
              </a:spcBef>
              <a:spcAft>
                <a:spcPts val="0"/>
              </a:spcAft>
              <a:buSzPct val="95000"/>
              <a:buChar char="⚫"/>
            </a:pPr>
            <a:r>
              <a:rPr lang="en-GB"/>
              <a:t>If the risks and benefit can both be </a:t>
            </a:r>
            <a:r>
              <a:rPr b="1" lang="en-GB"/>
              <a:t>readily expressed in a common set of units</a:t>
            </a:r>
            <a:r>
              <a:rPr lang="en-GB"/>
              <a:t>, it is easy to carry out a risk-benefit analysis. However, it is more difficult to proceed when the analysis cannot be added in a common set of units, for instance assessing the effects of health, plus aesthetics plus reliability? Since these units vary from each other, it becomes relatively difficult to do a risk benefit analysis.</a:t>
            </a:r>
            <a:endParaRPr/>
          </a:p>
          <a:p>
            <a:pPr indent="0" lvl="0" marL="0" rtl="0" algn="l">
              <a:lnSpc>
                <a:spcPct val="160000"/>
              </a:lnSpc>
              <a:spcBef>
                <a:spcPts val="442"/>
              </a:spcBef>
              <a:spcAft>
                <a:spcPts val="0"/>
              </a:spcAft>
              <a:buSzPct val="95000"/>
              <a:buNone/>
            </a:pPr>
            <a:r>
              <a:t/>
            </a:r>
            <a:endParaRPr/>
          </a:p>
        </p:txBody>
      </p:sp>
      <p:sp>
        <p:nvSpPr>
          <p:cNvPr id="495" name="Google Shape;495;p5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7"/>
          <p:cNvSpPr txBox="1"/>
          <p:nvPr>
            <p:ph type="title"/>
          </p:nvPr>
        </p:nvSpPr>
        <p:spPr>
          <a:xfrm>
            <a:off x="457200" y="-27384"/>
            <a:ext cx="8229600" cy="71095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400"/>
              <a:buFont typeface="Calibri"/>
              <a:buNone/>
            </a:pPr>
            <a:r>
              <a:rPr lang="en-GB" sz="4400"/>
              <a:t>COMMITMENT TO SAFETY</a:t>
            </a:r>
            <a:endParaRPr sz="4400"/>
          </a:p>
        </p:txBody>
      </p:sp>
      <p:sp>
        <p:nvSpPr>
          <p:cNvPr id="501" name="Google Shape;501;p57"/>
          <p:cNvSpPr txBox="1"/>
          <p:nvPr>
            <p:ph idx="1" type="body"/>
          </p:nvPr>
        </p:nvSpPr>
        <p:spPr>
          <a:xfrm>
            <a:off x="457200" y="692696"/>
            <a:ext cx="8229600" cy="5631904"/>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2470"/>
              <a:buChar char="⚫"/>
            </a:pPr>
            <a:r>
              <a:rPr lang="en-GB"/>
              <a:t>As such, in order to do a risk-benefit analysis, one can compare designs that satisfy some constriants and try to compare the aesthetic values with those constraints, or when the risks can be expressed and measured in one set of units, and benefits in another,  we can use the ratio of risks to benefits for different designs. Like cost-benefit analysis, risk-benefit analysis is concerned with the advisability of undertaking a project. </a:t>
            </a:r>
            <a:endParaRPr/>
          </a:p>
        </p:txBody>
      </p:sp>
      <p:sp>
        <p:nvSpPr>
          <p:cNvPr id="502" name="Google Shape;502;p5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8"/>
          <p:cNvSpPr txBox="1"/>
          <p:nvPr>
            <p:ph type="title"/>
          </p:nvPr>
        </p:nvSpPr>
        <p:spPr>
          <a:xfrm>
            <a:off x="179512" y="404664"/>
            <a:ext cx="8568952" cy="864096"/>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pic>
        <p:nvPicPr>
          <p:cNvPr id="508" name="Google Shape;508;p58"/>
          <p:cNvPicPr preferRelativeResize="0"/>
          <p:nvPr>
            <p:ph idx="2" type="body"/>
          </p:nvPr>
        </p:nvPicPr>
        <p:blipFill rotWithShape="1">
          <a:blip r:embed="rId3">
            <a:alphaModFix/>
          </a:blip>
          <a:srcRect b="0" l="0" r="0" t="0"/>
          <a:stretch/>
        </p:blipFill>
        <p:spPr>
          <a:xfrm>
            <a:off x="4716016" y="1700808"/>
            <a:ext cx="4176464" cy="4896544"/>
          </a:xfrm>
          <a:prstGeom prst="rect">
            <a:avLst/>
          </a:prstGeom>
          <a:noFill/>
          <a:ln>
            <a:noFill/>
          </a:ln>
        </p:spPr>
      </p:pic>
      <p:pic>
        <p:nvPicPr>
          <p:cNvPr id="509" name="Google Shape;509;p58"/>
          <p:cNvPicPr preferRelativeResize="0"/>
          <p:nvPr>
            <p:ph idx="1" type="body"/>
          </p:nvPr>
        </p:nvPicPr>
        <p:blipFill rotWithShape="1">
          <a:blip r:embed="rId4">
            <a:alphaModFix/>
          </a:blip>
          <a:srcRect b="0" l="0" r="0" t="0"/>
          <a:stretch/>
        </p:blipFill>
        <p:spPr>
          <a:xfrm>
            <a:off x="323528" y="1628800"/>
            <a:ext cx="4305944" cy="5018038"/>
          </a:xfrm>
          <a:prstGeom prst="rect">
            <a:avLst/>
          </a:prstGeom>
          <a:noFill/>
          <a:ln>
            <a:noFill/>
          </a:ln>
        </p:spPr>
      </p:pic>
      <p:sp>
        <p:nvSpPr>
          <p:cNvPr id="510" name="Google Shape;510;p5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9"/>
          <p:cNvSpPr txBox="1"/>
          <p:nvPr>
            <p:ph type="title"/>
          </p:nvPr>
        </p:nvSpPr>
        <p:spPr>
          <a:xfrm>
            <a:off x="251520" y="116632"/>
            <a:ext cx="8496944" cy="1152128"/>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sz="4000"/>
          </a:p>
        </p:txBody>
      </p:sp>
      <p:sp>
        <p:nvSpPr>
          <p:cNvPr id="516" name="Google Shape;516;p59"/>
          <p:cNvSpPr txBox="1"/>
          <p:nvPr>
            <p:ph idx="1" type="body"/>
          </p:nvPr>
        </p:nvSpPr>
        <p:spPr>
          <a:xfrm>
            <a:off x="251520" y="1196752"/>
            <a:ext cx="8496944" cy="54006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3420"/>
              <a:buFont typeface="Noto Sans Symbols"/>
              <a:buChar char="❑"/>
            </a:pPr>
            <a:r>
              <a:rPr lang="en-GB" sz="3600">
                <a:solidFill>
                  <a:srgbClr val="00B0F0"/>
                </a:solidFill>
              </a:rPr>
              <a:t>Workplace</a:t>
            </a:r>
            <a:endParaRPr/>
          </a:p>
          <a:p>
            <a:pPr indent="0" lvl="0" marL="0" rtl="0" algn="just">
              <a:spcBef>
                <a:spcPts val="520"/>
              </a:spcBef>
              <a:spcAft>
                <a:spcPts val="0"/>
              </a:spcAft>
              <a:buSzPts val="2470"/>
              <a:buNone/>
            </a:pPr>
            <a:r>
              <a:rPr lang="en-GB"/>
              <a:t>Engineers need the opportunity to perform responsibly at their workplaces thus their professional rights must be observed.</a:t>
            </a:r>
            <a:endParaRPr/>
          </a:p>
          <a:p>
            <a:pPr indent="0" lvl="0" marL="0" rtl="0" algn="just">
              <a:spcBef>
                <a:spcPts val="520"/>
              </a:spcBef>
              <a:spcAft>
                <a:spcPts val="0"/>
              </a:spcAft>
              <a:buSzPts val="2470"/>
              <a:buNone/>
            </a:pPr>
            <a:r>
              <a:rPr lang="en-GB"/>
              <a:t>This unit looks at:</a:t>
            </a:r>
            <a:endParaRPr/>
          </a:p>
          <a:p>
            <a:pPr indent="-274320" lvl="0" marL="274320" rtl="0" algn="just">
              <a:spcBef>
                <a:spcPts val="520"/>
              </a:spcBef>
              <a:spcAft>
                <a:spcPts val="0"/>
              </a:spcAft>
              <a:buSzPts val="2470"/>
              <a:buChar char="⚫"/>
            </a:pPr>
            <a:r>
              <a:rPr lang="en-GB"/>
              <a:t>Teamwork</a:t>
            </a:r>
            <a:endParaRPr/>
          </a:p>
          <a:p>
            <a:pPr indent="-274320" lvl="0" marL="274320" rtl="0" algn="just">
              <a:spcBef>
                <a:spcPts val="520"/>
              </a:spcBef>
              <a:spcAft>
                <a:spcPts val="0"/>
              </a:spcAft>
              <a:buSzPts val="2470"/>
              <a:buChar char="⚫"/>
            </a:pPr>
            <a:r>
              <a:rPr lang="en-GB"/>
              <a:t>Confidentiality</a:t>
            </a:r>
            <a:endParaRPr/>
          </a:p>
          <a:p>
            <a:pPr indent="-274320" lvl="0" marL="274320" rtl="0" algn="just">
              <a:spcBef>
                <a:spcPts val="520"/>
              </a:spcBef>
              <a:spcAft>
                <a:spcPts val="0"/>
              </a:spcAft>
              <a:buSzPts val="2470"/>
              <a:buChar char="⚫"/>
            </a:pPr>
            <a:r>
              <a:rPr lang="en-GB"/>
              <a:t>Conflicts of interest</a:t>
            </a:r>
            <a:endParaRPr/>
          </a:p>
          <a:p>
            <a:pPr indent="-274320" lvl="0" marL="274320" rtl="0" algn="just">
              <a:spcBef>
                <a:spcPts val="520"/>
              </a:spcBef>
              <a:spcAft>
                <a:spcPts val="0"/>
              </a:spcAft>
              <a:buSzPts val="2470"/>
              <a:buChar char="⚫"/>
            </a:pPr>
            <a:r>
              <a:rPr lang="en-GB"/>
              <a:t>Professional rights</a:t>
            </a:r>
            <a:endParaRPr/>
          </a:p>
          <a:p>
            <a:pPr indent="-274320" lvl="0" marL="274320" rtl="0" algn="just">
              <a:spcBef>
                <a:spcPts val="520"/>
              </a:spcBef>
              <a:spcAft>
                <a:spcPts val="0"/>
              </a:spcAft>
              <a:buSzPts val="2470"/>
              <a:buChar char="⚫"/>
            </a:pPr>
            <a:r>
              <a:rPr lang="en-GB"/>
              <a:t>Employee rights</a:t>
            </a:r>
            <a:endParaRPr/>
          </a:p>
          <a:p>
            <a:pPr indent="-274320" lvl="0" marL="274320" rtl="0" algn="just">
              <a:spcBef>
                <a:spcPts val="520"/>
              </a:spcBef>
              <a:spcAft>
                <a:spcPts val="0"/>
              </a:spcAft>
              <a:buSzPts val="2470"/>
              <a:buChar char="⚫"/>
            </a:pPr>
            <a:r>
              <a:rPr lang="en-GB"/>
              <a:t>Whistleblowing</a:t>
            </a:r>
            <a:endParaRPr/>
          </a:p>
          <a:p>
            <a:pPr indent="0" lvl="0" marL="0" rtl="0" algn="just">
              <a:spcBef>
                <a:spcPts val="520"/>
              </a:spcBef>
              <a:spcAft>
                <a:spcPts val="0"/>
              </a:spcAft>
              <a:buSzPts val="2470"/>
              <a:buNone/>
            </a:pPr>
            <a:r>
              <a:t/>
            </a:r>
            <a:endParaRPr/>
          </a:p>
        </p:txBody>
      </p:sp>
      <p:sp>
        <p:nvSpPr>
          <p:cNvPr id="517" name="Google Shape;517;p5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0"/>
          <p:cNvSpPr txBox="1"/>
          <p:nvPr>
            <p:ph type="title"/>
          </p:nvPr>
        </p:nvSpPr>
        <p:spPr>
          <a:xfrm>
            <a:off x="323528" y="116632"/>
            <a:ext cx="8496944"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523" name="Google Shape;523;p60"/>
          <p:cNvSpPr txBox="1"/>
          <p:nvPr>
            <p:ph idx="1" type="body"/>
          </p:nvPr>
        </p:nvSpPr>
        <p:spPr>
          <a:xfrm>
            <a:off x="251520" y="1200120"/>
            <a:ext cx="8568952" cy="539723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420"/>
              <a:buFont typeface="Noto Sans Symbols"/>
              <a:buChar char="❑"/>
            </a:pPr>
            <a:r>
              <a:rPr lang="en-GB" sz="3600">
                <a:solidFill>
                  <a:srgbClr val="00B0F0"/>
                </a:solidFill>
              </a:rPr>
              <a:t>Teamwork</a:t>
            </a:r>
            <a:endParaRPr/>
          </a:p>
          <a:p>
            <a:pPr indent="0" lvl="0" marL="0" rtl="0" algn="l">
              <a:spcBef>
                <a:spcPts val="520"/>
              </a:spcBef>
              <a:spcAft>
                <a:spcPts val="0"/>
              </a:spcAft>
              <a:buSzPts val="2470"/>
              <a:buNone/>
            </a:pPr>
            <a:r>
              <a:rPr lang="en-GB"/>
              <a:t>The combined action of a group of people often resulting in an effective or efficient solution.</a:t>
            </a:r>
            <a:endParaRPr/>
          </a:p>
          <a:p>
            <a:pPr indent="0" lvl="0" marL="0" rtl="0" algn="just">
              <a:lnSpc>
                <a:spcPct val="150000"/>
              </a:lnSpc>
              <a:spcBef>
                <a:spcPts val="520"/>
              </a:spcBef>
              <a:spcAft>
                <a:spcPts val="0"/>
              </a:spcAft>
              <a:buSzPts val="2470"/>
              <a:buNone/>
            </a:pPr>
            <a:r>
              <a:rPr lang="en-GB"/>
              <a:t>The following teamwork virtues are important in engineering:</a:t>
            </a:r>
            <a:endParaRPr/>
          </a:p>
          <a:p>
            <a:pPr indent="-274320" lvl="0" marL="274320" rtl="0" algn="l">
              <a:spcBef>
                <a:spcPts val="520"/>
              </a:spcBef>
              <a:spcAft>
                <a:spcPts val="0"/>
              </a:spcAft>
              <a:buSzPts val="2470"/>
              <a:buChar char="⚫"/>
            </a:pPr>
            <a:r>
              <a:rPr lang="en-GB"/>
              <a:t>Loyalty to corporations</a:t>
            </a:r>
            <a:endParaRPr/>
          </a:p>
          <a:p>
            <a:pPr indent="-274320" lvl="0" marL="274320" rtl="0" algn="l">
              <a:spcBef>
                <a:spcPts val="520"/>
              </a:spcBef>
              <a:spcAft>
                <a:spcPts val="0"/>
              </a:spcAft>
              <a:buSzPts val="2470"/>
              <a:buChar char="⚫"/>
            </a:pPr>
            <a:r>
              <a:rPr lang="en-GB"/>
              <a:t>Respect for authority</a:t>
            </a:r>
            <a:endParaRPr/>
          </a:p>
          <a:p>
            <a:pPr indent="-274320" lvl="0" marL="274320" rtl="0" algn="l">
              <a:spcBef>
                <a:spcPts val="520"/>
              </a:spcBef>
              <a:spcAft>
                <a:spcPts val="0"/>
              </a:spcAft>
              <a:buSzPts val="2470"/>
              <a:buChar char="⚫"/>
            </a:pPr>
            <a:r>
              <a:rPr lang="en-GB"/>
              <a:t>Collegiality</a:t>
            </a:r>
            <a:endParaRPr/>
          </a:p>
          <a:p>
            <a:pPr indent="-274320" lvl="0" marL="274320" rtl="0" algn="l">
              <a:spcBef>
                <a:spcPts val="520"/>
              </a:spcBef>
              <a:spcAft>
                <a:spcPts val="0"/>
              </a:spcAft>
              <a:buSzPts val="2470"/>
              <a:buChar char="⚫"/>
            </a:pPr>
            <a:r>
              <a:rPr lang="en-GB"/>
              <a:t>Teamwork virtues</a:t>
            </a:r>
            <a:endParaRPr/>
          </a:p>
        </p:txBody>
      </p:sp>
      <p:sp>
        <p:nvSpPr>
          <p:cNvPr id="524" name="Google Shape;524;p6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1"/>
          <p:cNvSpPr txBox="1"/>
          <p:nvPr>
            <p:ph type="title"/>
          </p:nvPr>
        </p:nvSpPr>
        <p:spPr>
          <a:xfrm>
            <a:off x="230832" y="12576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530" name="Google Shape;530;p61"/>
          <p:cNvSpPr txBox="1"/>
          <p:nvPr>
            <p:ph idx="1" type="body"/>
          </p:nvPr>
        </p:nvSpPr>
        <p:spPr>
          <a:xfrm>
            <a:off x="230832" y="1196752"/>
            <a:ext cx="8589640" cy="5472608"/>
          </a:xfrm>
          <a:prstGeom prst="rect">
            <a:avLst/>
          </a:prstGeom>
          <a:noFill/>
          <a:ln>
            <a:noFill/>
          </a:ln>
        </p:spPr>
        <p:txBody>
          <a:bodyPr anchorCtr="0" anchor="t" bIns="45700" lIns="91425" spcFirstLastPara="1" rIns="91425" wrap="square" tIns="45700">
            <a:normAutofit/>
          </a:bodyPr>
          <a:lstStyle/>
          <a:p>
            <a:pPr indent="-274320" lvl="0" marL="274320" rtl="0" algn="just">
              <a:lnSpc>
                <a:spcPct val="150000"/>
              </a:lnSpc>
              <a:spcBef>
                <a:spcPts val="0"/>
              </a:spcBef>
              <a:spcAft>
                <a:spcPts val="0"/>
              </a:spcAft>
              <a:buSzPts val="3420"/>
              <a:buFont typeface="Noto Sans Symbols"/>
              <a:buChar char="❑"/>
            </a:pPr>
            <a:r>
              <a:rPr lang="en-GB" sz="3600">
                <a:solidFill>
                  <a:srgbClr val="00B0F0"/>
                </a:solidFill>
              </a:rPr>
              <a:t>Ethical Corporate Climate</a:t>
            </a:r>
            <a:endParaRPr/>
          </a:p>
          <a:p>
            <a:pPr indent="0" lvl="0" marL="0" rtl="0" algn="just">
              <a:lnSpc>
                <a:spcPct val="150000"/>
              </a:lnSpc>
              <a:spcBef>
                <a:spcPts val="520"/>
              </a:spcBef>
              <a:spcAft>
                <a:spcPts val="0"/>
              </a:spcAft>
              <a:buSzPts val="2470"/>
              <a:buNone/>
            </a:pPr>
            <a:r>
              <a:rPr lang="en-GB"/>
              <a:t>A working environment that is conducive to morally responsible conduct. It is produced by a combination of:</a:t>
            </a:r>
            <a:endParaRPr/>
          </a:p>
          <a:p>
            <a:pPr indent="-274320" lvl="0" marL="274320" rtl="0" algn="just">
              <a:lnSpc>
                <a:spcPct val="150000"/>
              </a:lnSpc>
              <a:spcBef>
                <a:spcPts val="520"/>
              </a:spcBef>
              <a:spcAft>
                <a:spcPts val="0"/>
              </a:spcAft>
              <a:buSzPts val="2470"/>
              <a:buChar char="⚫"/>
            </a:pPr>
            <a:r>
              <a:rPr lang="en-GB"/>
              <a:t>Formal organisation and policies</a:t>
            </a:r>
            <a:endParaRPr/>
          </a:p>
          <a:p>
            <a:pPr indent="-274320" lvl="0" marL="274320" rtl="0" algn="just">
              <a:lnSpc>
                <a:spcPct val="150000"/>
              </a:lnSpc>
              <a:spcBef>
                <a:spcPts val="520"/>
              </a:spcBef>
              <a:spcAft>
                <a:spcPts val="0"/>
              </a:spcAft>
              <a:buSzPts val="2470"/>
              <a:buChar char="⚫"/>
            </a:pPr>
            <a:r>
              <a:rPr lang="en-GB"/>
              <a:t>Informal traditions and practices</a:t>
            </a:r>
            <a:endParaRPr/>
          </a:p>
          <a:p>
            <a:pPr indent="-274320" lvl="0" marL="274320" rtl="0" algn="just">
              <a:lnSpc>
                <a:spcPct val="150000"/>
              </a:lnSpc>
              <a:spcBef>
                <a:spcPts val="520"/>
              </a:spcBef>
              <a:spcAft>
                <a:spcPts val="0"/>
              </a:spcAft>
              <a:buSzPts val="2470"/>
              <a:buChar char="⚫"/>
            </a:pPr>
            <a:r>
              <a:rPr lang="en-GB"/>
              <a:t>Personal attitudes and commitments</a:t>
            </a:r>
            <a:endParaRPr/>
          </a:p>
          <a:p>
            <a:pPr indent="-117475" lvl="0" marL="274320" rtl="0" algn="just">
              <a:lnSpc>
                <a:spcPct val="150000"/>
              </a:lnSpc>
              <a:spcBef>
                <a:spcPts val="520"/>
              </a:spcBef>
              <a:spcAft>
                <a:spcPts val="0"/>
              </a:spcAft>
              <a:buSzPts val="2470"/>
              <a:buNone/>
            </a:pPr>
            <a:r>
              <a:t/>
            </a:r>
            <a:endParaRPr/>
          </a:p>
        </p:txBody>
      </p:sp>
      <p:sp>
        <p:nvSpPr>
          <p:cNvPr id="531" name="Google Shape;531;p6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2"/>
          <p:cNvSpPr txBox="1"/>
          <p:nvPr>
            <p:ph type="title"/>
          </p:nvPr>
        </p:nvSpPr>
        <p:spPr>
          <a:xfrm>
            <a:off x="457200" y="19776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537" name="Google Shape;537;p62"/>
          <p:cNvSpPr txBox="1"/>
          <p:nvPr>
            <p:ph idx="1" type="body"/>
          </p:nvPr>
        </p:nvSpPr>
        <p:spPr>
          <a:xfrm>
            <a:off x="251520" y="1340768"/>
            <a:ext cx="8435280" cy="4968552"/>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lnSpc>
                <a:spcPct val="150000"/>
              </a:lnSpc>
              <a:spcBef>
                <a:spcPts val="0"/>
              </a:spcBef>
              <a:spcAft>
                <a:spcPts val="0"/>
              </a:spcAft>
              <a:buSzPct val="95000"/>
              <a:buFont typeface="Noto Sans Symbols"/>
              <a:buChar char="❑"/>
            </a:pPr>
            <a:r>
              <a:rPr lang="en-GB" sz="3600">
                <a:solidFill>
                  <a:srgbClr val="00B0F0"/>
                </a:solidFill>
              </a:rPr>
              <a:t>Features of an Ethical Corporate Climate</a:t>
            </a:r>
            <a:endParaRPr/>
          </a:p>
          <a:p>
            <a:pPr indent="-274320" lvl="0" marL="274320" rtl="0" algn="just">
              <a:lnSpc>
                <a:spcPct val="150000"/>
              </a:lnSpc>
              <a:spcBef>
                <a:spcPts val="481"/>
              </a:spcBef>
              <a:spcAft>
                <a:spcPts val="0"/>
              </a:spcAft>
              <a:buSzPct val="95000"/>
              <a:buChar char="⚫"/>
            </a:pPr>
            <a:r>
              <a:rPr lang="en-GB"/>
              <a:t>Acknowledgement and appreciation of ethical values in in their full complexity by managers and employees alike.</a:t>
            </a:r>
            <a:endParaRPr/>
          </a:p>
          <a:p>
            <a:pPr indent="-274320" lvl="0" marL="274320" rtl="0" algn="just">
              <a:lnSpc>
                <a:spcPct val="150000"/>
              </a:lnSpc>
              <a:spcBef>
                <a:spcPts val="481"/>
              </a:spcBef>
              <a:spcAft>
                <a:spcPts val="0"/>
              </a:spcAft>
              <a:buSzPct val="95000"/>
              <a:buChar char="⚫"/>
            </a:pPr>
            <a:r>
              <a:rPr lang="en-GB"/>
              <a:t>The honest use of ethical language as a legitimate part of corporate dialogue.</a:t>
            </a:r>
            <a:endParaRPr/>
          </a:p>
          <a:p>
            <a:pPr indent="-274320" lvl="0" marL="274320" rtl="0" algn="just">
              <a:lnSpc>
                <a:spcPct val="150000"/>
              </a:lnSpc>
              <a:spcBef>
                <a:spcPts val="481"/>
              </a:spcBef>
              <a:spcAft>
                <a:spcPts val="0"/>
              </a:spcAft>
              <a:buSzPct val="95000"/>
              <a:buChar char="⚫"/>
            </a:pPr>
            <a:r>
              <a:rPr lang="en-GB"/>
              <a:t>Top management sets a moral tone in words, in policies and by personal example.</a:t>
            </a:r>
            <a:endParaRPr/>
          </a:p>
          <a:p>
            <a:pPr indent="-274320" lvl="0" marL="274320" rtl="0" algn="just">
              <a:lnSpc>
                <a:spcPct val="150000"/>
              </a:lnSpc>
              <a:spcBef>
                <a:spcPts val="481"/>
              </a:spcBef>
              <a:spcAft>
                <a:spcPts val="0"/>
              </a:spcAft>
              <a:buSzPct val="95000"/>
              <a:buChar char="⚫"/>
            </a:pPr>
            <a:r>
              <a:rPr lang="en-GB"/>
              <a:t>Existence of a procedure for conflict resolution.</a:t>
            </a:r>
            <a:endParaRPr/>
          </a:p>
        </p:txBody>
      </p:sp>
      <p:sp>
        <p:nvSpPr>
          <p:cNvPr id="538" name="Google Shape;538;p6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3"/>
          <p:cNvSpPr txBox="1"/>
          <p:nvPr>
            <p:ph type="title"/>
          </p:nvPr>
        </p:nvSpPr>
        <p:spPr>
          <a:xfrm>
            <a:off x="302840" y="116632"/>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544" name="Google Shape;544;p63"/>
          <p:cNvSpPr txBox="1"/>
          <p:nvPr>
            <p:ph idx="1" type="body"/>
          </p:nvPr>
        </p:nvSpPr>
        <p:spPr>
          <a:xfrm>
            <a:off x="107504" y="1196752"/>
            <a:ext cx="8928992" cy="5661248"/>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just">
              <a:lnSpc>
                <a:spcPct val="150000"/>
              </a:lnSpc>
              <a:spcBef>
                <a:spcPts val="0"/>
              </a:spcBef>
              <a:spcAft>
                <a:spcPts val="0"/>
              </a:spcAft>
              <a:buSzPct val="95000"/>
              <a:buFont typeface="Noto Sans Symbols"/>
              <a:buChar char="❑"/>
            </a:pPr>
            <a:r>
              <a:rPr lang="en-GB" sz="3300">
                <a:solidFill>
                  <a:srgbClr val="00B0F0"/>
                </a:solidFill>
              </a:rPr>
              <a:t>Loyalty</a:t>
            </a:r>
            <a:endParaRPr/>
          </a:p>
          <a:p>
            <a:pPr indent="0" lvl="0" marL="0" rtl="0" algn="just">
              <a:lnSpc>
                <a:spcPct val="150000"/>
              </a:lnSpc>
              <a:spcBef>
                <a:spcPts val="476"/>
              </a:spcBef>
              <a:spcAft>
                <a:spcPts val="0"/>
              </a:spcAft>
              <a:buSzPct val="95000"/>
              <a:buNone/>
            </a:pPr>
            <a:r>
              <a:rPr lang="en-GB" sz="2800"/>
              <a:t>Loyalty to an employer can mean two things:</a:t>
            </a:r>
            <a:endParaRPr/>
          </a:p>
          <a:p>
            <a:pPr indent="-274320" lvl="0" marL="274320" rtl="0" algn="just">
              <a:lnSpc>
                <a:spcPct val="150000"/>
              </a:lnSpc>
              <a:spcBef>
                <a:spcPts val="476"/>
              </a:spcBef>
              <a:spcAft>
                <a:spcPts val="0"/>
              </a:spcAft>
              <a:buSzPct val="95000"/>
              <a:buChar char="⚫"/>
            </a:pPr>
            <a:r>
              <a:rPr lang="en-GB" sz="2800"/>
              <a:t>Agency-Loyalty (acting to fulfil one’s contractual duties to an employer).</a:t>
            </a:r>
            <a:endParaRPr/>
          </a:p>
          <a:p>
            <a:pPr indent="0" lvl="0" marL="0" rtl="0" algn="just">
              <a:lnSpc>
                <a:spcPct val="150000"/>
              </a:lnSpc>
              <a:spcBef>
                <a:spcPts val="476"/>
              </a:spcBef>
              <a:spcAft>
                <a:spcPts val="0"/>
              </a:spcAft>
              <a:buSzPct val="95000"/>
              <a:buNone/>
            </a:pPr>
            <a:r>
              <a:rPr lang="en-GB" sz="2800"/>
              <a:t>Agency-Loyalty is entirely a matter of actions, such as doing one’s job and not stealing from one’s employer regardless of the motives behind it.</a:t>
            </a:r>
            <a:endParaRPr/>
          </a:p>
          <a:p>
            <a:pPr indent="-274320" lvl="0" marL="274320" rtl="0" algn="just">
              <a:lnSpc>
                <a:spcPct val="150000"/>
              </a:lnSpc>
              <a:spcBef>
                <a:spcPts val="476"/>
              </a:spcBef>
              <a:spcAft>
                <a:spcPts val="0"/>
              </a:spcAft>
              <a:buSzPct val="95000"/>
              <a:buChar char="⚫"/>
            </a:pPr>
            <a:r>
              <a:rPr lang="en-GB" sz="2800"/>
              <a:t>Attitude-Loyalty (deals with attitudes, emotions, and a sense of personal identity as it does with actions).</a:t>
            </a:r>
            <a:endParaRPr/>
          </a:p>
          <a:p>
            <a:pPr indent="0" lvl="0" marL="0" rtl="0" algn="just">
              <a:lnSpc>
                <a:spcPct val="150000"/>
              </a:lnSpc>
              <a:spcBef>
                <a:spcPts val="476"/>
              </a:spcBef>
              <a:spcAft>
                <a:spcPts val="0"/>
              </a:spcAft>
              <a:buSzPct val="95000"/>
              <a:buNone/>
            </a:pPr>
            <a:r>
              <a:rPr lang="en-GB" sz="2800"/>
              <a:t>Attitude-Loyalty is often a virtue but not strictly an obligation.</a:t>
            </a:r>
            <a:endParaRPr sz="2800"/>
          </a:p>
        </p:txBody>
      </p:sp>
      <p:sp>
        <p:nvSpPr>
          <p:cNvPr id="545" name="Google Shape;545;p6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4"/>
          <p:cNvSpPr txBox="1"/>
          <p:nvPr>
            <p:ph type="title"/>
          </p:nvPr>
        </p:nvSpPr>
        <p:spPr>
          <a:xfrm>
            <a:off x="323528" y="197768"/>
            <a:ext cx="8496944"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551" name="Google Shape;551;p64"/>
          <p:cNvSpPr txBox="1"/>
          <p:nvPr>
            <p:ph idx="1" type="body"/>
          </p:nvPr>
        </p:nvSpPr>
        <p:spPr>
          <a:xfrm>
            <a:off x="323528" y="1268760"/>
            <a:ext cx="8568952" cy="540060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lnSpc>
                <a:spcPct val="150000"/>
              </a:lnSpc>
              <a:spcBef>
                <a:spcPts val="0"/>
              </a:spcBef>
              <a:spcAft>
                <a:spcPts val="0"/>
              </a:spcAft>
              <a:buSzPct val="95000"/>
              <a:buFont typeface="Noto Sans Symbols"/>
              <a:buChar char="❑"/>
            </a:pPr>
            <a:r>
              <a:rPr lang="en-GB" sz="3200">
                <a:solidFill>
                  <a:srgbClr val="00B0F0"/>
                </a:solidFill>
              </a:rPr>
              <a:t>Collegiality</a:t>
            </a:r>
            <a:endParaRPr/>
          </a:p>
          <a:p>
            <a:pPr indent="0" lvl="0" marL="0" rtl="0" algn="just">
              <a:lnSpc>
                <a:spcPct val="150000"/>
              </a:lnSpc>
              <a:spcBef>
                <a:spcPts val="481"/>
              </a:spcBef>
              <a:spcAft>
                <a:spcPts val="0"/>
              </a:spcAft>
              <a:buSzPct val="95000"/>
              <a:buNone/>
            </a:pPr>
            <a:r>
              <a:rPr lang="en-GB"/>
              <a:t>A kind of connectedness grounded in respect for professional expertise and in a commitment to goals and values of the profession. </a:t>
            </a:r>
            <a:endParaRPr/>
          </a:p>
          <a:p>
            <a:pPr indent="0" lvl="0" marL="0" rtl="0" algn="just">
              <a:lnSpc>
                <a:spcPct val="150000"/>
              </a:lnSpc>
              <a:spcBef>
                <a:spcPts val="481"/>
              </a:spcBef>
              <a:spcAft>
                <a:spcPts val="0"/>
              </a:spcAft>
              <a:buSzPct val="95000"/>
              <a:buNone/>
            </a:pPr>
            <a:r>
              <a:rPr lang="en-GB"/>
              <a:t>The central elements of collegiality includes</a:t>
            </a:r>
            <a:endParaRPr/>
          </a:p>
          <a:p>
            <a:pPr indent="-274320" lvl="0" marL="274320" rtl="0" algn="just">
              <a:lnSpc>
                <a:spcPct val="150000"/>
              </a:lnSpc>
              <a:spcBef>
                <a:spcPts val="481"/>
              </a:spcBef>
              <a:spcAft>
                <a:spcPts val="0"/>
              </a:spcAft>
              <a:buSzPct val="95000"/>
              <a:buChar char="⚫"/>
            </a:pPr>
            <a:r>
              <a:rPr lang="en-GB"/>
              <a:t>Respect for colleagues (valuing their professional expertise).</a:t>
            </a:r>
            <a:endParaRPr/>
          </a:p>
          <a:p>
            <a:pPr indent="-274320" lvl="0" marL="274320" rtl="0" algn="just">
              <a:lnSpc>
                <a:spcPct val="150000"/>
              </a:lnSpc>
              <a:spcBef>
                <a:spcPts val="481"/>
              </a:spcBef>
              <a:spcAft>
                <a:spcPts val="0"/>
              </a:spcAft>
              <a:buSzPct val="95000"/>
              <a:buChar char="⚫"/>
            </a:pPr>
            <a:r>
              <a:rPr lang="en-GB"/>
              <a:t>Commitment (devotion to the moral ideals inherent in one’s profession).</a:t>
            </a:r>
            <a:endParaRPr/>
          </a:p>
          <a:p>
            <a:pPr indent="-274320" lvl="0" marL="274320" rtl="0" algn="just">
              <a:lnSpc>
                <a:spcPct val="150000"/>
              </a:lnSpc>
              <a:spcBef>
                <a:spcPts val="481"/>
              </a:spcBef>
              <a:spcAft>
                <a:spcPts val="0"/>
              </a:spcAft>
              <a:buSzPct val="95000"/>
              <a:buChar char="⚫"/>
            </a:pPr>
            <a:r>
              <a:rPr lang="en-GB"/>
              <a:t>Connectedness (participating in cooperative projects based on shared commitments and mutual support).</a:t>
            </a:r>
            <a:endParaRPr/>
          </a:p>
        </p:txBody>
      </p:sp>
      <p:sp>
        <p:nvSpPr>
          <p:cNvPr id="552" name="Google Shape;552;p6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5"/>
          <p:cNvSpPr txBox="1"/>
          <p:nvPr>
            <p:ph type="title"/>
          </p:nvPr>
        </p:nvSpPr>
        <p:spPr>
          <a:xfrm>
            <a:off x="251520" y="-27384"/>
            <a:ext cx="8568952" cy="72008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500"/>
              <a:buFont typeface="Calibri"/>
              <a:buNone/>
            </a:pPr>
            <a:r>
              <a:rPr lang="en-GB" sz="3500"/>
              <a:t>WORKPLACE RESPONSIBILITIES AND RIGHTS</a:t>
            </a:r>
            <a:endParaRPr/>
          </a:p>
        </p:txBody>
      </p:sp>
      <p:sp>
        <p:nvSpPr>
          <p:cNvPr id="558" name="Google Shape;558;p65"/>
          <p:cNvSpPr txBox="1"/>
          <p:nvPr>
            <p:ph idx="1" type="body"/>
          </p:nvPr>
        </p:nvSpPr>
        <p:spPr>
          <a:xfrm>
            <a:off x="251520" y="692696"/>
            <a:ext cx="8640960" cy="5976664"/>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spcBef>
                <a:spcPts val="0"/>
              </a:spcBef>
              <a:spcAft>
                <a:spcPts val="0"/>
              </a:spcAft>
              <a:buSzPct val="95000"/>
              <a:buFont typeface="Noto Sans Symbols"/>
              <a:buChar char="❑"/>
            </a:pPr>
            <a:r>
              <a:rPr lang="en-GB" sz="3200">
                <a:solidFill>
                  <a:srgbClr val="00B0F0"/>
                </a:solidFill>
              </a:rPr>
              <a:t>Managing Conflicts</a:t>
            </a:r>
            <a:endParaRPr/>
          </a:p>
          <a:p>
            <a:pPr indent="0" lvl="0" marL="0" rtl="0" algn="just">
              <a:spcBef>
                <a:spcPts val="481"/>
              </a:spcBef>
              <a:spcAft>
                <a:spcPts val="0"/>
              </a:spcAft>
              <a:buSzPct val="95000"/>
              <a:buNone/>
            </a:pPr>
            <a:r>
              <a:rPr lang="en-GB"/>
              <a:t>Managers have the authority and responsibility to resolve or prevent damaging conflicts that threaten corporate efficiency.</a:t>
            </a:r>
            <a:endParaRPr/>
          </a:p>
          <a:p>
            <a:pPr indent="0" lvl="0" marL="0" rtl="0" algn="just">
              <a:spcBef>
                <a:spcPts val="481"/>
              </a:spcBef>
              <a:spcAft>
                <a:spcPts val="0"/>
              </a:spcAft>
              <a:buSzPct val="95000"/>
              <a:buNone/>
            </a:pPr>
            <a:r>
              <a:rPr lang="en-GB"/>
              <a:t>Conflict resolution often aimed at maintaining teamwork is a responsibility of all engineers.</a:t>
            </a:r>
            <a:endParaRPr/>
          </a:p>
          <a:p>
            <a:pPr indent="0" lvl="0" marL="0" rtl="0" algn="just">
              <a:spcBef>
                <a:spcPts val="481"/>
              </a:spcBef>
              <a:spcAft>
                <a:spcPts val="0"/>
              </a:spcAft>
              <a:buSzPct val="95000"/>
              <a:buNone/>
            </a:pPr>
            <a:r>
              <a:rPr lang="en-GB"/>
              <a:t>Common conflicts confronted by engineering project managers are:</a:t>
            </a:r>
            <a:endParaRPr/>
          </a:p>
          <a:p>
            <a:pPr indent="-274320" lvl="0" marL="274320" rtl="0" algn="just">
              <a:spcBef>
                <a:spcPts val="481"/>
              </a:spcBef>
              <a:spcAft>
                <a:spcPts val="0"/>
              </a:spcAft>
              <a:buSzPct val="95000"/>
              <a:buChar char="⚫"/>
            </a:pPr>
            <a:r>
              <a:rPr lang="en-GB"/>
              <a:t>Conflicts over schedules</a:t>
            </a:r>
            <a:endParaRPr/>
          </a:p>
          <a:p>
            <a:pPr indent="-274320" lvl="0" marL="274320" rtl="0" algn="just">
              <a:spcBef>
                <a:spcPts val="481"/>
              </a:spcBef>
              <a:spcAft>
                <a:spcPts val="0"/>
              </a:spcAft>
              <a:buSzPct val="95000"/>
              <a:buChar char="⚫"/>
            </a:pPr>
            <a:r>
              <a:rPr lang="en-GB"/>
              <a:t>Conflicts over importance of projects and departments</a:t>
            </a:r>
            <a:endParaRPr/>
          </a:p>
          <a:p>
            <a:pPr indent="-274320" lvl="0" marL="274320" rtl="0" algn="just">
              <a:spcBef>
                <a:spcPts val="481"/>
              </a:spcBef>
              <a:spcAft>
                <a:spcPts val="0"/>
              </a:spcAft>
              <a:buSzPct val="95000"/>
              <a:buChar char="⚫"/>
            </a:pPr>
            <a:r>
              <a:rPr lang="en-GB"/>
              <a:t>Conflicts over personnel resources</a:t>
            </a:r>
            <a:endParaRPr/>
          </a:p>
          <a:p>
            <a:pPr indent="-274320" lvl="0" marL="274320" rtl="0" algn="just">
              <a:spcBef>
                <a:spcPts val="481"/>
              </a:spcBef>
              <a:spcAft>
                <a:spcPts val="0"/>
              </a:spcAft>
              <a:buSzPct val="95000"/>
              <a:buChar char="⚫"/>
            </a:pPr>
            <a:r>
              <a:rPr lang="en-GB"/>
              <a:t>Conflicts over technical issues</a:t>
            </a:r>
            <a:endParaRPr/>
          </a:p>
          <a:p>
            <a:pPr indent="-274320" lvl="0" marL="274320" rtl="0" algn="just">
              <a:spcBef>
                <a:spcPts val="481"/>
              </a:spcBef>
              <a:spcAft>
                <a:spcPts val="0"/>
              </a:spcAft>
              <a:buSzPct val="95000"/>
              <a:buChar char="⚫"/>
            </a:pPr>
            <a:r>
              <a:rPr lang="en-GB"/>
              <a:t>Conflicts over administrative procedures</a:t>
            </a:r>
            <a:endParaRPr/>
          </a:p>
          <a:p>
            <a:pPr indent="-274320" lvl="0" marL="274320" rtl="0" algn="just">
              <a:spcBef>
                <a:spcPts val="481"/>
              </a:spcBef>
              <a:spcAft>
                <a:spcPts val="0"/>
              </a:spcAft>
              <a:buSzPct val="95000"/>
              <a:buChar char="⚫"/>
            </a:pPr>
            <a:r>
              <a:rPr lang="en-GB"/>
              <a:t>Personality conflicts</a:t>
            </a:r>
            <a:endParaRPr/>
          </a:p>
          <a:p>
            <a:pPr indent="-274320" lvl="0" marL="274320" rtl="0" algn="just">
              <a:spcBef>
                <a:spcPts val="481"/>
              </a:spcBef>
              <a:spcAft>
                <a:spcPts val="0"/>
              </a:spcAft>
              <a:buSzPct val="95000"/>
              <a:buChar char="⚫"/>
            </a:pPr>
            <a:r>
              <a:rPr lang="en-GB"/>
              <a:t>Conflicts over costs</a:t>
            </a:r>
            <a:endParaRPr/>
          </a:p>
        </p:txBody>
      </p:sp>
      <p:sp>
        <p:nvSpPr>
          <p:cNvPr id="559" name="Google Shape;559;p6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6"/>
          <p:cNvSpPr txBox="1"/>
          <p:nvPr>
            <p:ph type="title"/>
          </p:nvPr>
        </p:nvSpPr>
        <p:spPr>
          <a:xfrm>
            <a:off x="457200" y="188640"/>
            <a:ext cx="8229600" cy="56467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000"/>
              <a:buFont typeface="Calibri"/>
              <a:buNone/>
            </a:pPr>
            <a:r>
              <a:rPr lang="en-GB" sz="3000"/>
              <a:t>WORKPLACE RESPONSIBILITIES AND RIGHTS</a:t>
            </a:r>
            <a:endParaRPr/>
          </a:p>
        </p:txBody>
      </p:sp>
      <p:sp>
        <p:nvSpPr>
          <p:cNvPr id="565" name="Google Shape;565;p66"/>
          <p:cNvSpPr txBox="1"/>
          <p:nvPr>
            <p:ph idx="1" type="body"/>
          </p:nvPr>
        </p:nvSpPr>
        <p:spPr>
          <a:xfrm>
            <a:off x="251520" y="893440"/>
            <a:ext cx="8640960" cy="5703912"/>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just">
              <a:lnSpc>
                <a:spcPct val="150000"/>
              </a:lnSpc>
              <a:spcBef>
                <a:spcPts val="0"/>
              </a:spcBef>
              <a:spcAft>
                <a:spcPts val="0"/>
              </a:spcAft>
              <a:buSzPct val="95000"/>
              <a:buFont typeface="Noto Sans Symbols"/>
              <a:buChar char="❑"/>
            </a:pPr>
            <a:r>
              <a:rPr lang="en-GB" sz="3300">
                <a:solidFill>
                  <a:srgbClr val="00B0F0"/>
                </a:solidFill>
              </a:rPr>
              <a:t>Applicable Principles For Conflict Resolution</a:t>
            </a:r>
            <a:endParaRPr/>
          </a:p>
          <a:p>
            <a:pPr indent="-274320" lvl="0" marL="274320" rtl="0" algn="just">
              <a:lnSpc>
                <a:spcPct val="150000"/>
              </a:lnSpc>
              <a:spcBef>
                <a:spcPts val="459"/>
              </a:spcBef>
              <a:spcAft>
                <a:spcPts val="0"/>
              </a:spcAft>
              <a:buSzPct val="95000"/>
              <a:buChar char="⚫"/>
            </a:pPr>
            <a:r>
              <a:rPr lang="en-GB" sz="2700"/>
              <a:t>People: Separate the people from the problem (personal aspect of conflicts is distinguished from the problem).</a:t>
            </a:r>
            <a:endParaRPr/>
          </a:p>
          <a:p>
            <a:pPr indent="-274320" lvl="0" marL="274320" rtl="0" algn="just">
              <a:lnSpc>
                <a:spcPct val="150000"/>
              </a:lnSpc>
              <a:spcBef>
                <a:spcPts val="459"/>
              </a:spcBef>
              <a:spcAft>
                <a:spcPts val="0"/>
              </a:spcAft>
              <a:buSzPct val="95000"/>
              <a:buChar char="⚫"/>
            </a:pPr>
            <a:r>
              <a:rPr lang="en-GB" sz="2700"/>
              <a:t>Interests: Focus on interest not on positions (attention is placed on interest of personnel not position held by personnel).</a:t>
            </a:r>
            <a:endParaRPr/>
          </a:p>
          <a:p>
            <a:pPr indent="-274320" lvl="0" marL="274320" rtl="0" algn="just">
              <a:lnSpc>
                <a:spcPct val="150000"/>
              </a:lnSpc>
              <a:spcBef>
                <a:spcPts val="459"/>
              </a:spcBef>
              <a:spcAft>
                <a:spcPts val="0"/>
              </a:spcAft>
              <a:buSzPct val="95000"/>
              <a:buChar char="⚫"/>
            </a:pPr>
            <a:r>
              <a:rPr lang="en-GB" sz="2700"/>
              <a:t>Options: Generate a variety of possibilities before deciding what to do(solutions are not compromises that split differences between stated positions).</a:t>
            </a:r>
            <a:endParaRPr/>
          </a:p>
          <a:p>
            <a:pPr indent="-274320" lvl="0" marL="274320" rtl="0" algn="just">
              <a:lnSpc>
                <a:spcPct val="150000"/>
              </a:lnSpc>
              <a:spcBef>
                <a:spcPts val="459"/>
              </a:spcBef>
              <a:spcAft>
                <a:spcPts val="0"/>
              </a:spcAft>
              <a:buSzPct val="95000"/>
              <a:buChar char="⚫"/>
            </a:pPr>
            <a:r>
              <a:rPr lang="en-GB" sz="2700"/>
              <a:t>Criteria: Insist that the result be based on some objective standard (clear general standards should be used in evaluating results)</a:t>
            </a:r>
            <a:endParaRPr/>
          </a:p>
          <a:p>
            <a:pPr indent="-135874" lvl="0" marL="274320" rtl="0" algn="just">
              <a:lnSpc>
                <a:spcPct val="150000"/>
              </a:lnSpc>
              <a:spcBef>
                <a:spcPts val="459"/>
              </a:spcBef>
              <a:spcAft>
                <a:spcPts val="0"/>
              </a:spcAft>
              <a:buSzPct val="95000"/>
              <a:buNone/>
            </a:pPr>
            <a:r>
              <a:t/>
            </a:r>
            <a:endParaRPr sz="2700"/>
          </a:p>
        </p:txBody>
      </p:sp>
      <p:sp>
        <p:nvSpPr>
          <p:cNvPr id="566" name="Google Shape;566;p6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67"/>
          <p:cNvSpPr txBox="1"/>
          <p:nvPr>
            <p:ph type="title"/>
          </p:nvPr>
        </p:nvSpPr>
        <p:spPr>
          <a:xfrm>
            <a:off x="323528" y="-27384"/>
            <a:ext cx="8496944" cy="864096"/>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500"/>
              <a:buFont typeface="Calibri"/>
              <a:buNone/>
            </a:pPr>
            <a:r>
              <a:rPr lang="en-GB" sz="3500"/>
              <a:t>WORKPLACE RESPONSIBILITIES AND RIGHTS</a:t>
            </a:r>
            <a:endParaRPr/>
          </a:p>
        </p:txBody>
      </p:sp>
      <p:sp>
        <p:nvSpPr>
          <p:cNvPr id="572" name="Google Shape;572;p67"/>
          <p:cNvSpPr txBox="1"/>
          <p:nvPr>
            <p:ph idx="1" type="body"/>
          </p:nvPr>
        </p:nvSpPr>
        <p:spPr>
          <a:xfrm>
            <a:off x="179512" y="908720"/>
            <a:ext cx="8784976" cy="583264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850"/>
              <a:buFont typeface="Noto Sans Symbols"/>
              <a:buChar char="❑"/>
            </a:pPr>
            <a:r>
              <a:rPr lang="en-GB" sz="3000">
                <a:solidFill>
                  <a:srgbClr val="00B0F0"/>
                </a:solidFill>
              </a:rPr>
              <a:t>Confidentiality</a:t>
            </a:r>
            <a:endParaRPr/>
          </a:p>
          <a:p>
            <a:pPr indent="0" lvl="0" marL="0" rtl="0" algn="just">
              <a:spcBef>
                <a:spcPts val="480"/>
              </a:spcBef>
              <a:spcAft>
                <a:spcPts val="0"/>
              </a:spcAft>
              <a:buSzPts val="2280"/>
              <a:buNone/>
            </a:pPr>
            <a:r>
              <a:rPr lang="en-GB" sz="2400"/>
              <a:t>The duty of confidentiality is the duty to keep secret all information deemed desirable to keep secret.</a:t>
            </a:r>
            <a:endParaRPr/>
          </a:p>
          <a:p>
            <a:pPr indent="0" lvl="0" marL="0" rtl="0" algn="just">
              <a:spcBef>
                <a:spcPts val="480"/>
              </a:spcBef>
              <a:spcAft>
                <a:spcPts val="0"/>
              </a:spcAft>
              <a:buSzPts val="2280"/>
              <a:buNone/>
            </a:pPr>
            <a:r>
              <a:rPr lang="en-GB" sz="2400"/>
              <a:t>Basically, it any information that the employer or client would like to have kept secret in order to compete effectively against business rivals.</a:t>
            </a:r>
            <a:endParaRPr/>
          </a:p>
          <a:p>
            <a:pPr indent="0" lvl="0" marL="0" rtl="0" algn="just">
              <a:spcBef>
                <a:spcPts val="480"/>
              </a:spcBef>
              <a:spcAft>
                <a:spcPts val="0"/>
              </a:spcAft>
              <a:buSzPts val="2280"/>
              <a:buNone/>
            </a:pPr>
            <a:r>
              <a:rPr lang="en-GB" sz="2400"/>
              <a:t>Related terms to confidentiality are:</a:t>
            </a:r>
            <a:endParaRPr/>
          </a:p>
          <a:p>
            <a:pPr indent="-274320" lvl="0" marL="274320" rtl="0" algn="just">
              <a:spcBef>
                <a:spcPts val="480"/>
              </a:spcBef>
              <a:spcAft>
                <a:spcPts val="0"/>
              </a:spcAft>
              <a:buSzPts val="2280"/>
              <a:buChar char="⚫"/>
            </a:pPr>
            <a:r>
              <a:rPr lang="en-GB" sz="2400"/>
              <a:t>Privileged information( available only on basis of special privilege)</a:t>
            </a:r>
            <a:endParaRPr/>
          </a:p>
          <a:p>
            <a:pPr indent="-274320" lvl="0" marL="274320" rtl="0" algn="just">
              <a:spcBef>
                <a:spcPts val="480"/>
              </a:spcBef>
              <a:spcAft>
                <a:spcPts val="0"/>
              </a:spcAft>
              <a:buSzPts val="2280"/>
              <a:buChar char="⚫"/>
            </a:pPr>
            <a:r>
              <a:rPr lang="en-GB" sz="2400"/>
              <a:t>Proprietary information(trade secret, an information a company owns)</a:t>
            </a:r>
            <a:endParaRPr/>
          </a:p>
          <a:p>
            <a:pPr indent="-274320" lvl="0" marL="274320" rtl="0" algn="just">
              <a:spcBef>
                <a:spcPts val="480"/>
              </a:spcBef>
              <a:spcAft>
                <a:spcPts val="0"/>
              </a:spcAft>
              <a:buSzPts val="2280"/>
              <a:buChar char="⚫"/>
            </a:pPr>
            <a:r>
              <a:rPr lang="en-GB" sz="2400"/>
              <a:t>Patents (legally protects specific products from being manufactured)</a:t>
            </a:r>
            <a:endParaRPr/>
          </a:p>
          <a:p>
            <a:pPr indent="0" lvl="0" marL="0" rtl="0" algn="l">
              <a:spcBef>
                <a:spcPts val="520"/>
              </a:spcBef>
              <a:spcAft>
                <a:spcPts val="0"/>
              </a:spcAft>
              <a:buSzPts val="2470"/>
              <a:buNone/>
            </a:pPr>
            <a:r>
              <a:t/>
            </a:r>
            <a:endParaRPr/>
          </a:p>
        </p:txBody>
      </p:sp>
      <p:sp>
        <p:nvSpPr>
          <p:cNvPr id="573" name="Google Shape;573;p6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68"/>
          <p:cNvSpPr txBox="1"/>
          <p:nvPr>
            <p:ph type="title"/>
          </p:nvPr>
        </p:nvSpPr>
        <p:spPr>
          <a:xfrm>
            <a:off x="251520" y="260648"/>
            <a:ext cx="8568952"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sz="4000"/>
          </a:p>
        </p:txBody>
      </p:sp>
      <p:sp>
        <p:nvSpPr>
          <p:cNvPr id="579" name="Google Shape;579;p68"/>
          <p:cNvSpPr txBox="1"/>
          <p:nvPr>
            <p:ph idx="1" type="body"/>
          </p:nvPr>
        </p:nvSpPr>
        <p:spPr>
          <a:xfrm>
            <a:off x="179512" y="1340768"/>
            <a:ext cx="8712968" cy="5328592"/>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just">
              <a:lnSpc>
                <a:spcPct val="150000"/>
              </a:lnSpc>
              <a:spcBef>
                <a:spcPts val="0"/>
              </a:spcBef>
              <a:spcAft>
                <a:spcPts val="0"/>
              </a:spcAft>
              <a:buSzPct val="95000"/>
              <a:buFont typeface="Noto Sans Symbols"/>
              <a:buChar char="❑"/>
            </a:pPr>
            <a:r>
              <a:rPr lang="en-GB" sz="3200">
                <a:solidFill>
                  <a:srgbClr val="00B0F0"/>
                </a:solidFill>
              </a:rPr>
              <a:t>Confidentiality and Changing Jobs</a:t>
            </a:r>
            <a:endParaRPr/>
          </a:p>
          <a:p>
            <a:pPr indent="0" lvl="0" marL="0" rtl="0" algn="just">
              <a:lnSpc>
                <a:spcPct val="150000"/>
              </a:lnSpc>
              <a:spcBef>
                <a:spcPts val="476"/>
              </a:spcBef>
              <a:spcAft>
                <a:spcPts val="0"/>
              </a:spcAft>
              <a:buSzPct val="95000"/>
              <a:buNone/>
            </a:pPr>
            <a:r>
              <a:rPr lang="en-GB" sz="2800"/>
              <a:t>The obligation to protect confidential information does not cease when employees change jobs.</a:t>
            </a:r>
            <a:endParaRPr/>
          </a:p>
          <a:p>
            <a:pPr indent="0" lvl="0" marL="0" rtl="0" algn="just">
              <a:lnSpc>
                <a:spcPct val="150000"/>
              </a:lnSpc>
              <a:spcBef>
                <a:spcPts val="476"/>
              </a:spcBef>
              <a:spcAft>
                <a:spcPts val="0"/>
              </a:spcAft>
              <a:buSzPct val="95000"/>
              <a:buNone/>
            </a:pPr>
            <a:r>
              <a:rPr lang="en-GB" sz="2800"/>
              <a:t>The relationship of trust between employer and employee in regard to confidentiality continues beyond the formal period of employment.</a:t>
            </a:r>
            <a:endParaRPr/>
          </a:p>
          <a:p>
            <a:pPr indent="0" lvl="0" marL="0" rtl="0" algn="just">
              <a:lnSpc>
                <a:spcPct val="150000"/>
              </a:lnSpc>
              <a:spcBef>
                <a:spcPts val="476"/>
              </a:spcBef>
              <a:spcAft>
                <a:spcPts val="0"/>
              </a:spcAft>
              <a:buSzPct val="95000"/>
              <a:buNone/>
            </a:pPr>
            <a:r>
              <a:rPr lang="en-GB" sz="2800"/>
              <a:t>Unless the employer gives consent, former employers are barred indefinitely from revealing trade secrets.</a:t>
            </a:r>
            <a:endParaRPr/>
          </a:p>
          <a:p>
            <a:pPr indent="0" lvl="0" marL="0" rtl="0" algn="just">
              <a:lnSpc>
                <a:spcPct val="150000"/>
              </a:lnSpc>
              <a:spcBef>
                <a:spcPts val="476"/>
              </a:spcBef>
              <a:spcAft>
                <a:spcPts val="0"/>
              </a:spcAft>
              <a:buSzPct val="95000"/>
              <a:buNone/>
            </a:pPr>
            <a:r>
              <a:rPr lang="en-GB" sz="2800"/>
              <a:t>Thus, the professional integrity of engineers involves much more than mere loyalty to one’s present employer.</a:t>
            </a:r>
            <a:endParaRPr sz="2800"/>
          </a:p>
        </p:txBody>
      </p:sp>
      <p:sp>
        <p:nvSpPr>
          <p:cNvPr id="580" name="Google Shape;580;p6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9"/>
          <p:cNvSpPr txBox="1"/>
          <p:nvPr>
            <p:ph type="title"/>
          </p:nvPr>
        </p:nvSpPr>
        <p:spPr>
          <a:xfrm>
            <a:off x="323528" y="332656"/>
            <a:ext cx="8229600" cy="566936"/>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500"/>
              <a:buFont typeface="Calibri"/>
              <a:buNone/>
            </a:pPr>
            <a:r>
              <a:rPr lang="en-GB" sz="3500"/>
              <a:t>WORKPLACE RESPONSIBILITIES AND RIGHTS</a:t>
            </a:r>
            <a:endParaRPr/>
          </a:p>
        </p:txBody>
      </p:sp>
      <p:sp>
        <p:nvSpPr>
          <p:cNvPr id="586" name="Google Shape;586;p69"/>
          <p:cNvSpPr txBox="1"/>
          <p:nvPr>
            <p:ph idx="1" type="body"/>
          </p:nvPr>
        </p:nvSpPr>
        <p:spPr>
          <a:xfrm>
            <a:off x="323528" y="908720"/>
            <a:ext cx="8363272" cy="5832648"/>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lnSpc>
                <a:spcPct val="150000"/>
              </a:lnSpc>
              <a:spcBef>
                <a:spcPts val="0"/>
              </a:spcBef>
              <a:spcAft>
                <a:spcPts val="0"/>
              </a:spcAft>
              <a:buSzPct val="95000"/>
              <a:buFont typeface="Noto Sans Symbols"/>
              <a:buChar char="❑"/>
            </a:pPr>
            <a:r>
              <a:rPr lang="en-GB" sz="3000">
                <a:solidFill>
                  <a:srgbClr val="00B0F0"/>
                </a:solidFill>
              </a:rPr>
              <a:t>Confidentiality: Justification</a:t>
            </a:r>
            <a:endParaRPr/>
          </a:p>
          <a:p>
            <a:pPr indent="0" lvl="0" marL="0" rtl="0" algn="just">
              <a:lnSpc>
                <a:spcPct val="150000"/>
              </a:lnSpc>
              <a:spcBef>
                <a:spcPts val="481"/>
              </a:spcBef>
              <a:spcAft>
                <a:spcPts val="0"/>
              </a:spcAft>
              <a:buSzPct val="95000"/>
              <a:buNone/>
            </a:pPr>
            <a:r>
              <a:rPr lang="en-GB"/>
              <a:t>The primary justification is to respect the autonomy of individuals and corporations and to recognise their legitimate control over some private information concerning themselves. </a:t>
            </a:r>
            <a:endParaRPr/>
          </a:p>
          <a:p>
            <a:pPr indent="0" lvl="0" marL="0" rtl="0" algn="just">
              <a:lnSpc>
                <a:spcPct val="150000"/>
              </a:lnSpc>
              <a:spcBef>
                <a:spcPts val="481"/>
              </a:spcBef>
              <a:spcAft>
                <a:spcPts val="0"/>
              </a:spcAft>
              <a:buSzPct val="95000"/>
              <a:buNone/>
            </a:pPr>
            <a:r>
              <a:rPr lang="en-GB"/>
              <a:t>Without that control, they could not maintain their privacy and protect their self interest insofar as it involves privacy.</a:t>
            </a:r>
            <a:endParaRPr/>
          </a:p>
          <a:p>
            <a:pPr indent="0" lvl="0" marL="0" rtl="0" algn="just">
              <a:lnSpc>
                <a:spcPct val="150000"/>
              </a:lnSpc>
              <a:spcBef>
                <a:spcPts val="481"/>
              </a:spcBef>
              <a:spcAft>
                <a:spcPts val="0"/>
              </a:spcAft>
              <a:buSzPct val="95000"/>
              <a:buNone/>
            </a:pPr>
            <a:r>
              <a:rPr lang="en-GB"/>
              <a:t> Confidentiality has its limits, particularly when it is invoked to hide misdeeds.</a:t>
            </a:r>
            <a:endParaRPr/>
          </a:p>
          <a:p>
            <a:pPr indent="0" lvl="0" marL="0" rtl="0" algn="just">
              <a:lnSpc>
                <a:spcPct val="150000"/>
              </a:lnSpc>
              <a:spcBef>
                <a:spcPts val="481"/>
              </a:spcBef>
              <a:spcAft>
                <a:spcPts val="0"/>
              </a:spcAft>
              <a:buSzPct val="95000"/>
              <a:buNone/>
            </a:pPr>
            <a:r>
              <a:rPr lang="en-GB"/>
              <a:t>Thus confidentiality will loose it bounds, when it is needed to  unveil truth about white-collar crimes.</a:t>
            </a:r>
            <a:endParaRPr/>
          </a:p>
          <a:p>
            <a:pPr indent="-129238" lvl="0" marL="274320" rtl="0" algn="just">
              <a:lnSpc>
                <a:spcPct val="150000"/>
              </a:lnSpc>
              <a:spcBef>
                <a:spcPts val="481"/>
              </a:spcBef>
              <a:spcAft>
                <a:spcPts val="0"/>
              </a:spcAft>
              <a:buSzPct val="95000"/>
              <a:buNone/>
            </a:pPr>
            <a:r>
              <a:t/>
            </a:r>
            <a:endParaRPr/>
          </a:p>
        </p:txBody>
      </p:sp>
      <p:sp>
        <p:nvSpPr>
          <p:cNvPr id="587" name="Google Shape;587;p6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0"/>
          <p:cNvSpPr txBox="1"/>
          <p:nvPr>
            <p:ph type="title"/>
          </p:nvPr>
        </p:nvSpPr>
        <p:spPr>
          <a:xfrm>
            <a:off x="374848" y="12576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593" name="Google Shape;593;p70"/>
          <p:cNvSpPr txBox="1"/>
          <p:nvPr>
            <p:ph idx="1" type="body"/>
          </p:nvPr>
        </p:nvSpPr>
        <p:spPr>
          <a:xfrm>
            <a:off x="457200" y="1196752"/>
            <a:ext cx="8229600" cy="5472608"/>
          </a:xfrm>
          <a:prstGeom prst="rect">
            <a:avLst/>
          </a:prstGeom>
          <a:noFill/>
          <a:ln>
            <a:noFill/>
          </a:ln>
        </p:spPr>
        <p:txBody>
          <a:bodyPr anchorCtr="0" anchor="t" bIns="45700" lIns="91425" spcFirstLastPara="1" rIns="91425" wrap="square" tIns="45700">
            <a:normAutofit fontScale="92500"/>
          </a:bodyPr>
          <a:lstStyle/>
          <a:p>
            <a:pPr indent="-274350" lvl="0" marL="274320" rtl="0" algn="l">
              <a:lnSpc>
                <a:spcPct val="150000"/>
              </a:lnSpc>
              <a:spcBef>
                <a:spcPts val="0"/>
              </a:spcBef>
              <a:spcAft>
                <a:spcPts val="0"/>
              </a:spcAft>
              <a:buSzPct val="95000"/>
              <a:buFont typeface="Noto Sans Symbols"/>
              <a:buChar char="❑"/>
            </a:pPr>
            <a:r>
              <a:rPr lang="en-GB" sz="3500">
                <a:solidFill>
                  <a:srgbClr val="00B0F0"/>
                </a:solidFill>
              </a:rPr>
              <a:t>Conflicts of interest</a:t>
            </a:r>
            <a:endParaRPr/>
          </a:p>
          <a:p>
            <a:pPr indent="0" lvl="0" marL="0" rtl="0" algn="l">
              <a:lnSpc>
                <a:spcPct val="150000"/>
              </a:lnSpc>
              <a:spcBef>
                <a:spcPts val="481"/>
              </a:spcBef>
              <a:spcAft>
                <a:spcPts val="0"/>
              </a:spcAft>
              <a:buSzPct val="95000"/>
              <a:buNone/>
            </a:pPr>
            <a:r>
              <a:rPr lang="en-GB"/>
              <a:t>Professional conflicts of interest are situations where professionals have interest that, if pursued, might keep them from meeting their obligations to employers or clients.</a:t>
            </a:r>
            <a:endParaRPr/>
          </a:p>
          <a:p>
            <a:pPr indent="0" lvl="0" marL="0" rtl="0" algn="l">
              <a:lnSpc>
                <a:spcPct val="150000"/>
              </a:lnSpc>
              <a:spcBef>
                <a:spcPts val="481"/>
              </a:spcBef>
              <a:spcAft>
                <a:spcPts val="0"/>
              </a:spcAft>
              <a:buSzPct val="95000"/>
              <a:buNone/>
            </a:pPr>
            <a:r>
              <a:rPr lang="en-GB"/>
              <a:t>Conflicts of interest can arise in the following ways:</a:t>
            </a:r>
            <a:endParaRPr/>
          </a:p>
          <a:p>
            <a:pPr indent="-274320" lvl="0" marL="274320" rtl="0" algn="l">
              <a:lnSpc>
                <a:spcPct val="150000"/>
              </a:lnSpc>
              <a:spcBef>
                <a:spcPts val="481"/>
              </a:spcBef>
              <a:spcAft>
                <a:spcPts val="0"/>
              </a:spcAft>
              <a:buSzPct val="95000"/>
              <a:buChar char="⚫"/>
            </a:pPr>
            <a:r>
              <a:rPr lang="en-GB"/>
              <a:t>Gifts, bribes, and kickbacks</a:t>
            </a:r>
            <a:endParaRPr/>
          </a:p>
          <a:p>
            <a:pPr indent="-274320" lvl="0" marL="274320" rtl="0" algn="l">
              <a:lnSpc>
                <a:spcPct val="150000"/>
              </a:lnSpc>
              <a:spcBef>
                <a:spcPts val="481"/>
              </a:spcBef>
              <a:spcAft>
                <a:spcPts val="0"/>
              </a:spcAft>
              <a:buSzPct val="95000"/>
              <a:buChar char="⚫"/>
            </a:pPr>
            <a:r>
              <a:rPr lang="en-GB"/>
              <a:t>Interest in other companies</a:t>
            </a:r>
            <a:endParaRPr/>
          </a:p>
          <a:p>
            <a:pPr indent="-274320" lvl="0" marL="274320" rtl="0" algn="l">
              <a:lnSpc>
                <a:spcPct val="150000"/>
              </a:lnSpc>
              <a:spcBef>
                <a:spcPts val="481"/>
              </a:spcBef>
              <a:spcAft>
                <a:spcPts val="0"/>
              </a:spcAft>
              <a:buSzPct val="95000"/>
              <a:buChar char="⚫"/>
            </a:pPr>
            <a:r>
              <a:rPr lang="en-GB"/>
              <a:t>Insider information</a:t>
            </a:r>
            <a:endParaRPr/>
          </a:p>
        </p:txBody>
      </p:sp>
      <p:sp>
        <p:nvSpPr>
          <p:cNvPr id="594" name="Google Shape;594;p7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1"/>
          <p:cNvSpPr txBox="1"/>
          <p:nvPr>
            <p:ph type="title"/>
          </p:nvPr>
        </p:nvSpPr>
        <p:spPr>
          <a:xfrm>
            <a:off x="457200" y="26064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600" name="Google Shape;600;p71"/>
          <p:cNvSpPr txBox="1"/>
          <p:nvPr>
            <p:ph idx="1" type="body"/>
          </p:nvPr>
        </p:nvSpPr>
        <p:spPr>
          <a:xfrm>
            <a:off x="323528" y="1412776"/>
            <a:ext cx="8363272" cy="5184576"/>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95000"/>
              <a:buFont typeface="Noto Sans Symbols"/>
              <a:buChar char="❑"/>
            </a:pPr>
            <a:r>
              <a:rPr lang="en-GB" sz="3200">
                <a:solidFill>
                  <a:srgbClr val="00B0F0"/>
                </a:solidFill>
              </a:rPr>
              <a:t>Gifts, bribes and kickbacks</a:t>
            </a:r>
            <a:endParaRPr/>
          </a:p>
          <a:p>
            <a:pPr indent="0" lvl="0" marL="0" rtl="0" algn="l">
              <a:spcBef>
                <a:spcPts val="518"/>
              </a:spcBef>
              <a:spcAft>
                <a:spcPts val="0"/>
              </a:spcAft>
              <a:buSzPct val="95000"/>
              <a:buNone/>
            </a:pPr>
            <a:r>
              <a:rPr lang="en-GB" sz="2800"/>
              <a:t>Bribes are substantial amount of money or goods offered beyond a stated business contract with the aim of winning an advantage or keeping the contract, and where the advantage is unfair or otherwise unethical.</a:t>
            </a:r>
            <a:endParaRPr/>
          </a:p>
          <a:p>
            <a:pPr indent="0" lvl="0" marL="0" rtl="0" algn="l">
              <a:spcBef>
                <a:spcPts val="518"/>
              </a:spcBef>
              <a:spcAft>
                <a:spcPts val="0"/>
              </a:spcAft>
              <a:buSzPct val="95000"/>
              <a:buNone/>
            </a:pPr>
            <a:r>
              <a:t/>
            </a:r>
            <a:endParaRPr sz="2800"/>
          </a:p>
          <a:p>
            <a:pPr indent="0" lvl="0" marL="0" rtl="0" algn="l">
              <a:spcBef>
                <a:spcPts val="518"/>
              </a:spcBef>
              <a:spcAft>
                <a:spcPts val="0"/>
              </a:spcAft>
              <a:buSzPct val="95000"/>
              <a:buNone/>
            </a:pPr>
            <a:r>
              <a:rPr lang="en-GB" sz="2800"/>
              <a:t>Gifts are not bribes as long as they are small gratuities offered in the normal conduct of business.</a:t>
            </a:r>
            <a:endParaRPr/>
          </a:p>
          <a:p>
            <a:pPr indent="0" lvl="0" marL="0" rtl="0" algn="l">
              <a:spcBef>
                <a:spcPts val="518"/>
              </a:spcBef>
              <a:spcAft>
                <a:spcPts val="0"/>
              </a:spcAft>
              <a:buSzPct val="95000"/>
              <a:buNone/>
            </a:pPr>
            <a:r>
              <a:t/>
            </a:r>
            <a:endParaRPr sz="2800"/>
          </a:p>
          <a:p>
            <a:pPr indent="0" lvl="0" marL="0" rtl="0" algn="l">
              <a:spcBef>
                <a:spcPts val="518"/>
              </a:spcBef>
              <a:spcAft>
                <a:spcPts val="0"/>
              </a:spcAft>
              <a:buSzPct val="95000"/>
              <a:buNone/>
            </a:pPr>
            <a:r>
              <a:rPr lang="en-GB" sz="2800"/>
              <a:t>Kickbacks are prearranged payments made by contractors to companies or their representatives in exchange for contracts actually granted.</a:t>
            </a:r>
            <a:endParaRPr sz="2800"/>
          </a:p>
        </p:txBody>
      </p:sp>
      <p:sp>
        <p:nvSpPr>
          <p:cNvPr id="601" name="Google Shape;601;p7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2"/>
          <p:cNvSpPr txBox="1"/>
          <p:nvPr>
            <p:ph type="title"/>
          </p:nvPr>
        </p:nvSpPr>
        <p:spPr>
          <a:xfrm>
            <a:off x="251520" y="116632"/>
            <a:ext cx="8373616" cy="108012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608" name="Google Shape;608;p72"/>
          <p:cNvSpPr txBox="1"/>
          <p:nvPr>
            <p:ph idx="1" type="body"/>
          </p:nvPr>
        </p:nvSpPr>
        <p:spPr>
          <a:xfrm>
            <a:off x="179512" y="1268760"/>
            <a:ext cx="8507288" cy="5328592"/>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spcBef>
                <a:spcPts val="0"/>
              </a:spcBef>
              <a:spcAft>
                <a:spcPts val="0"/>
              </a:spcAft>
              <a:buSzPct val="95000"/>
              <a:buFont typeface="Noto Sans Symbols"/>
              <a:buChar char="❑"/>
            </a:pPr>
            <a:r>
              <a:rPr lang="en-GB" sz="2800">
                <a:solidFill>
                  <a:srgbClr val="00B0F0"/>
                </a:solidFill>
              </a:rPr>
              <a:t>Interest in other companies</a:t>
            </a:r>
            <a:endParaRPr/>
          </a:p>
          <a:p>
            <a:pPr indent="0" lvl="0" marL="0" rtl="0" algn="just">
              <a:spcBef>
                <a:spcPts val="518"/>
              </a:spcBef>
              <a:spcAft>
                <a:spcPts val="0"/>
              </a:spcAft>
              <a:buSzPct val="95000"/>
              <a:buNone/>
            </a:pPr>
            <a:r>
              <a:rPr lang="en-GB" sz="2800"/>
              <a:t>This consist of having an interest in a competitor’s or subcontractor’s business.</a:t>
            </a:r>
            <a:endParaRPr/>
          </a:p>
          <a:p>
            <a:pPr indent="0" lvl="0" marL="0" rtl="0" algn="just">
              <a:spcBef>
                <a:spcPts val="518"/>
              </a:spcBef>
              <a:spcAft>
                <a:spcPts val="0"/>
              </a:spcAft>
              <a:buSzPct val="95000"/>
              <a:buNone/>
            </a:pPr>
            <a:r>
              <a:rPr lang="en-GB" sz="2800"/>
              <a:t>An example is partial ownership or substantial stockholdings in the competitor’s business.</a:t>
            </a:r>
            <a:endParaRPr/>
          </a:p>
          <a:p>
            <a:pPr indent="0" lvl="0" marL="0" rtl="0" algn="just">
              <a:spcBef>
                <a:spcPts val="518"/>
              </a:spcBef>
              <a:spcAft>
                <a:spcPts val="0"/>
              </a:spcAft>
              <a:buSzPct val="95000"/>
              <a:buNone/>
            </a:pPr>
            <a:r>
              <a:t/>
            </a:r>
            <a:endParaRPr sz="2800"/>
          </a:p>
          <a:p>
            <a:pPr indent="0" lvl="0" marL="0" rtl="0" algn="just">
              <a:spcBef>
                <a:spcPts val="518"/>
              </a:spcBef>
              <a:spcAft>
                <a:spcPts val="0"/>
              </a:spcAft>
              <a:buSzPct val="95000"/>
              <a:buNone/>
            </a:pPr>
            <a:r>
              <a:rPr lang="en-GB" sz="2800"/>
              <a:t>A conflict of interest will arise when one’s job involves granting contracts to that subcontractor.</a:t>
            </a:r>
            <a:endParaRPr/>
          </a:p>
          <a:p>
            <a:pPr indent="0" lvl="0" marL="0" rtl="0" algn="just">
              <a:spcBef>
                <a:spcPts val="518"/>
              </a:spcBef>
              <a:spcAft>
                <a:spcPts val="0"/>
              </a:spcAft>
              <a:buSzPct val="95000"/>
              <a:buNone/>
            </a:pPr>
            <a:r>
              <a:t/>
            </a:r>
            <a:endParaRPr sz="2800"/>
          </a:p>
          <a:p>
            <a:pPr indent="0" lvl="0" marL="0" rtl="0" algn="just">
              <a:spcBef>
                <a:spcPts val="518"/>
              </a:spcBef>
              <a:spcAft>
                <a:spcPts val="0"/>
              </a:spcAft>
              <a:buSzPct val="95000"/>
              <a:buNone/>
            </a:pPr>
            <a:r>
              <a:rPr lang="en-GB" sz="2800"/>
              <a:t>Moonlighting (working in one’s spare time for another company) creates conflict of interest only in special circumstances  such as working for competitors, suppliers, or customers.</a:t>
            </a:r>
            <a:endParaRPr sz="2800"/>
          </a:p>
        </p:txBody>
      </p:sp>
      <p:sp>
        <p:nvSpPr>
          <p:cNvPr id="609" name="Google Shape;609;p7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73"/>
          <p:cNvSpPr txBox="1"/>
          <p:nvPr>
            <p:ph type="title"/>
          </p:nvPr>
        </p:nvSpPr>
        <p:spPr>
          <a:xfrm>
            <a:off x="251520" y="12576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615" name="Google Shape;615;p73"/>
          <p:cNvSpPr txBox="1"/>
          <p:nvPr>
            <p:ph idx="1" type="body"/>
          </p:nvPr>
        </p:nvSpPr>
        <p:spPr>
          <a:xfrm>
            <a:off x="251520" y="1124744"/>
            <a:ext cx="8712968" cy="5544616"/>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lnSpc>
                <a:spcPct val="150000"/>
              </a:lnSpc>
              <a:spcBef>
                <a:spcPts val="0"/>
              </a:spcBef>
              <a:spcAft>
                <a:spcPts val="0"/>
              </a:spcAft>
              <a:buSzPct val="95000"/>
              <a:buChar char="⚫"/>
            </a:pPr>
            <a:r>
              <a:rPr lang="en-GB" sz="3200">
                <a:solidFill>
                  <a:srgbClr val="00B0F0"/>
                </a:solidFill>
              </a:rPr>
              <a:t>Insider Information</a:t>
            </a:r>
            <a:endParaRPr/>
          </a:p>
          <a:p>
            <a:pPr indent="0" lvl="0" marL="0" rtl="0" algn="l">
              <a:lnSpc>
                <a:spcPct val="150000"/>
              </a:lnSpc>
              <a:spcBef>
                <a:spcPts val="481"/>
              </a:spcBef>
              <a:spcAft>
                <a:spcPts val="0"/>
              </a:spcAft>
              <a:buSzPct val="95000"/>
              <a:buNone/>
            </a:pPr>
            <a:r>
              <a:rPr lang="en-GB"/>
              <a:t>A sensitive conflict of interest consisting in using “inside” information to gain an advantage or set up a business opportunity for oneself, one’s family, or one’s friends.</a:t>
            </a:r>
            <a:endParaRPr/>
          </a:p>
          <a:p>
            <a:pPr indent="0" lvl="0" marL="0" rtl="0" algn="l">
              <a:lnSpc>
                <a:spcPct val="150000"/>
              </a:lnSpc>
              <a:spcBef>
                <a:spcPts val="481"/>
              </a:spcBef>
              <a:spcAft>
                <a:spcPts val="0"/>
              </a:spcAft>
              <a:buSzPct val="95000"/>
              <a:buNone/>
            </a:pPr>
            <a:r>
              <a:t/>
            </a:r>
            <a:endParaRPr/>
          </a:p>
          <a:p>
            <a:pPr indent="0" lvl="0" marL="0" rtl="0" algn="l">
              <a:lnSpc>
                <a:spcPct val="150000"/>
              </a:lnSpc>
              <a:spcBef>
                <a:spcPts val="481"/>
              </a:spcBef>
              <a:spcAft>
                <a:spcPts val="0"/>
              </a:spcAft>
              <a:buSzPct val="95000"/>
              <a:buNone/>
            </a:pPr>
            <a:r>
              <a:rPr lang="en-GB"/>
              <a:t>The information might concern one’s own company or another company which one does business.</a:t>
            </a:r>
            <a:endParaRPr/>
          </a:p>
          <a:p>
            <a:pPr indent="0" lvl="0" marL="0" rtl="0" algn="l">
              <a:lnSpc>
                <a:spcPct val="150000"/>
              </a:lnSpc>
              <a:spcBef>
                <a:spcPts val="481"/>
              </a:spcBef>
              <a:spcAft>
                <a:spcPts val="0"/>
              </a:spcAft>
              <a:buSzPct val="95000"/>
              <a:buNone/>
            </a:pPr>
            <a:r>
              <a:t/>
            </a:r>
            <a:endParaRPr/>
          </a:p>
          <a:p>
            <a:pPr indent="0" lvl="0" marL="0" rtl="0" algn="l">
              <a:lnSpc>
                <a:spcPct val="150000"/>
              </a:lnSpc>
              <a:spcBef>
                <a:spcPts val="481"/>
              </a:spcBef>
              <a:spcAft>
                <a:spcPts val="0"/>
              </a:spcAft>
              <a:buSzPct val="95000"/>
              <a:buNone/>
            </a:pPr>
            <a:r>
              <a:rPr lang="en-GB"/>
              <a:t>Owning stock in the company for which ones works is not objectionable, and this is often encouraged by employers.</a:t>
            </a:r>
            <a:endParaRPr/>
          </a:p>
        </p:txBody>
      </p:sp>
      <p:sp>
        <p:nvSpPr>
          <p:cNvPr id="616" name="Google Shape;616;p7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74"/>
          <p:cNvSpPr txBox="1"/>
          <p:nvPr>
            <p:ph type="title"/>
          </p:nvPr>
        </p:nvSpPr>
        <p:spPr>
          <a:xfrm>
            <a:off x="323528" y="332656"/>
            <a:ext cx="8496944" cy="864096"/>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900"/>
              <a:buFont typeface="Calibri"/>
              <a:buNone/>
            </a:pPr>
            <a:r>
              <a:rPr lang="en-GB" sz="3900"/>
              <a:t>WORKPLACE RESPONSIBILITIES AND RIGHTS</a:t>
            </a:r>
            <a:endParaRPr/>
          </a:p>
        </p:txBody>
      </p:sp>
      <p:sp>
        <p:nvSpPr>
          <p:cNvPr id="622" name="Google Shape;622;p74"/>
          <p:cNvSpPr txBox="1"/>
          <p:nvPr>
            <p:ph idx="1" type="body"/>
          </p:nvPr>
        </p:nvSpPr>
        <p:spPr>
          <a:xfrm>
            <a:off x="323528" y="1124744"/>
            <a:ext cx="8640960" cy="5544616"/>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3040"/>
              <a:buFont typeface="Noto Sans Symbols"/>
              <a:buChar char="❑"/>
            </a:pPr>
            <a:r>
              <a:rPr lang="en-GB" sz="3200">
                <a:solidFill>
                  <a:srgbClr val="00B0F0"/>
                </a:solidFill>
              </a:rPr>
              <a:t>Rights of Engineers</a:t>
            </a:r>
            <a:endParaRPr/>
          </a:p>
          <a:p>
            <a:pPr indent="0" lvl="0" marL="0" rtl="0" algn="l">
              <a:spcBef>
                <a:spcPts val="520"/>
              </a:spcBef>
              <a:spcAft>
                <a:spcPts val="0"/>
              </a:spcAft>
              <a:buSzPts val="2470"/>
              <a:buNone/>
            </a:pPr>
            <a:r>
              <a:rPr lang="en-GB"/>
              <a:t>As employees, engineers have rights including:</a:t>
            </a:r>
            <a:endParaRPr/>
          </a:p>
          <a:p>
            <a:pPr indent="-274320" lvl="0" marL="274320" rtl="0" algn="l">
              <a:spcBef>
                <a:spcPts val="520"/>
              </a:spcBef>
              <a:spcAft>
                <a:spcPts val="0"/>
              </a:spcAft>
              <a:buSzPts val="2470"/>
              <a:buChar char="⚫"/>
            </a:pPr>
            <a:r>
              <a:rPr lang="en-GB"/>
              <a:t>Right to receive one’s salary</a:t>
            </a:r>
            <a:endParaRPr/>
          </a:p>
          <a:p>
            <a:pPr indent="-274320" lvl="0" marL="274320" rtl="0" algn="l">
              <a:spcBef>
                <a:spcPts val="520"/>
              </a:spcBef>
              <a:spcAft>
                <a:spcPts val="0"/>
              </a:spcAft>
              <a:buSzPts val="2470"/>
              <a:buChar char="⚫"/>
            </a:pPr>
            <a:r>
              <a:rPr lang="en-GB"/>
              <a:t>Right to engage in the non-work political activities of one’s choosing without coercion from employers</a:t>
            </a:r>
            <a:endParaRPr/>
          </a:p>
          <a:p>
            <a:pPr indent="-117475" lvl="0" marL="274320" rtl="0" algn="l">
              <a:spcBef>
                <a:spcPts val="520"/>
              </a:spcBef>
              <a:spcAft>
                <a:spcPts val="0"/>
              </a:spcAft>
              <a:buSzPts val="2470"/>
              <a:buNone/>
            </a:pPr>
            <a:r>
              <a:t/>
            </a:r>
            <a:endParaRPr/>
          </a:p>
          <a:p>
            <a:pPr indent="0" lvl="0" marL="0" rtl="0" algn="l">
              <a:spcBef>
                <a:spcPts val="520"/>
              </a:spcBef>
              <a:spcAft>
                <a:spcPts val="0"/>
              </a:spcAft>
              <a:buSzPts val="2470"/>
              <a:buNone/>
            </a:pPr>
            <a:r>
              <a:rPr lang="en-GB"/>
              <a:t>As professionals, engineers have special rights that arise from their professional role and the obligation it involves. These include:</a:t>
            </a:r>
            <a:endParaRPr/>
          </a:p>
          <a:p>
            <a:pPr indent="-274320" lvl="0" marL="274320" rtl="0" algn="l">
              <a:spcBef>
                <a:spcPts val="520"/>
              </a:spcBef>
              <a:spcAft>
                <a:spcPts val="0"/>
              </a:spcAft>
              <a:buSzPts val="2470"/>
              <a:buChar char="⚫"/>
            </a:pPr>
            <a:r>
              <a:rPr lang="en-GB"/>
              <a:t>The basic right of professional conscience</a:t>
            </a:r>
            <a:endParaRPr/>
          </a:p>
          <a:p>
            <a:pPr indent="-274320" lvl="0" marL="274320" rtl="0" algn="l">
              <a:spcBef>
                <a:spcPts val="520"/>
              </a:spcBef>
              <a:spcAft>
                <a:spcPts val="0"/>
              </a:spcAft>
              <a:buSzPts val="2470"/>
              <a:buChar char="⚫"/>
            </a:pPr>
            <a:r>
              <a:rPr lang="en-GB"/>
              <a:t>The right of conscientious refusal</a:t>
            </a:r>
            <a:endParaRPr/>
          </a:p>
          <a:p>
            <a:pPr indent="-274320" lvl="0" marL="274320" rtl="0" algn="l">
              <a:spcBef>
                <a:spcPts val="520"/>
              </a:spcBef>
              <a:spcAft>
                <a:spcPts val="0"/>
              </a:spcAft>
              <a:buSzPts val="2470"/>
              <a:buChar char="⚫"/>
            </a:pPr>
            <a:r>
              <a:rPr lang="en-GB"/>
              <a:t>The right of professional recognition</a:t>
            </a:r>
            <a:endParaRPr/>
          </a:p>
          <a:p>
            <a:pPr indent="0" lvl="0" marL="0" rtl="0" algn="l">
              <a:spcBef>
                <a:spcPts val="520"/>
              </a:spcBef>
              <a:spcAft>
                <a:spcPts val="0"/>
              </a:spcAft>
              <a:buSzPts val="2470"/>
              <a:buNone/>
            </a:pPr>
            <a:r>
              <a:t/>
            </a:r>
            <a:endParaRPr/>
          </a:p>
          <a:p>
            <a:pPr indent="0" lvl="0" marL="0" rtl="0" algn="l">
              <a:spcBef>
                <a:spcPts val="520"/>
              </a:spcBef>
              <a:spcAft>
                <a:spcPts val="0"/>
              </a:spcAft>
              <a:buSzPts val="2470"/>
              <a:buNone/>
            </a:pPr>
            <a:r>
              <a:t/>
            </a:r>
            <a:endParaRPr/>
          </a:p>
          <a:p>
            <a:pPr indent="0" lvl="0" marL="0" rtl="0" algn="l">
              <a:spcBef>
                <a:spcPts val="520"/>
              </a:spcBef>
              <a:spcAft>
                <a:spcPts val="0"/>
              </a:spcAft>
              <a:buSzPts val="2470"/>
              <a:buNone/>
            </a:pPr>
            <a:r>
              <a:t/>
            </a:r>
            <a:endParaRPr/>
          </a:p>
        </p:txBody>
      </p:sp>
      <p:sp>
        <p:nvSpPr>
          <p:cNvPr id="623" name="Google Shape;623;p7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75"/>
          <p:cNvSpPr txBox="1"/>
          <p:nvPr>
            <p:ph type="title"/>
          </p:nvPr>
        </p:nvSpPr>
        <p:spPr>
          <a:xfrm>
            <a:off x="457200" y="188640"/>
            <a:ext cx="8229600" cy="100811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629" name="Google Shape;629;p75"/>
          <p:cNvSpPr txBox="1"/>
          <p:nvPr>
            <p:ph idx="1" type="body"/>
          </p:nvPr>
        </p:nvSpPr>
        <p:spPr>
          <a:xfrm>
            <a:off x="323528" y="1124744"/>
            <a:ext cx="8363272" cy="54006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150000"/>
              </a:lnSpc>
              <a:spcBef>
                <a:spcPts val="0"/>
              </a:spcBef>
              <a:spcAft>
                <a:spcPts val="0"/>
              </a:spcAft>
              <a:buSzPct val="95000"/>
              <a:buFont typeface="Noto Sans Symbols"/>
              <a:buChar char="❑"/>
            </a:pPr>
            <a:r>
              <a:rPr lang="en-GB" sz="3200">
                <a:solidFill>
                  <a:srgbClr val="00B0F0"/>
                </a:solidFill>
              </a:rPr>
              <a:t>Right of professional conscience</a:t>
            </a:r>
            <a:endParaRPr/>
          </a:p>
          <a:p>
            <a:pPr indent="-274320" lvl="0" marL="274320" rtl="0" algn="l">
              <a:lnSpc>
                <a:spcPct val="150000"/>
              </a:lnSpc>
              <a:spcBef>
                <a:spcPts val="481"/>
              </a:spcBef>
              <a:spcAft>
                <a:spcPts val="0"/>
              </a:spcAft>
              <a:buSzPct val="95000"/>
              <a:buChar char="⚫"/>
            </a:pPr>
            <a:r>
              <a:rPr lang="en-GB"/>
              <a:t>This is a moral right to exercise professional judgement in pursuing professional responsibilities.</a:t>
            </a:r>
            <a:endParaRPr/>
          </a:p>
          <a:p>
            <a:pPr indent="-274320" lvl="0" marL="274320" rtl="0" algn="l">
              <a:lnSpc>
                <a:spcPct val="150000"/>
              </a:lnSpc>
              <a:spcBef>
                <a:spcPts val="481"/>
              </a:spcBef>
              <a:spcAft>
                <a:spcPts val="0"/>
              </a:spcAft>
              <a:buSzPct val="95000"/>
              <a:buChar char="⚫"/>
            </a:pPr>
            <a:r>
              <a:rPr lang="en-GB"/>
              <a:t>Pursuing those responsibilities involves exercising both technical judgement and reasoned moral convictions.</a:t>
            </a:r>
            <a:endParaRPr/>
          </a:p>
          <a:p>
            <a:pPr indent="-274320" lvl="0" marL="274320" rtl="0" algn="l">
              <a:lnSpc>
                <a:spcPct val="150000"/>
              </a:lnSpc>
              <a:spcBef>
                <a:spcPts val="481"/>
              </a:spcBef>
              <a:spcAft>
                <a:spcPts val="0"/>
              </a:spcAft>
              <a:buSzPct val="95000"/>
              <a:buChar char="⚫"/>
            </a:pPr>
            <a:r>
              <a:rPr lang="en-GB"/>
              <a:t>The right of professional conscience implies more specific rights, corresponding to specific professional obligations.</a:t>
            </a:r>
            <a:endParaRPr/>
          </a:p>
          <a:p>
            <a:pPr indent="-274320" lvl="0" marL="274320" rtl="0" algn="l">
              <a:lnSpc>
                <a:spcPct val="150000"/>
              </a:lnSpc>
              <a:spcBef>
                <a:spcPts val="481"/>
              </a:spcBef>
              <a:spcAft>
                <a:spcPts val="0"/>
              </a:spcAft>
              <a:buSzPct val="95000"/>
              <a:buChar char="⚫"/>
            </a:pPr>
            <a:r>
              <a:rPr lang="en-GB"/>
              <a:t>This right has limits, and must be balanced against responsibilities to employers and colleagues.</a:t>
            </a:r>
            <a:endParaRPr/>
          </a:p>
        </p:txBody>
      </p:sp>
      <p:sp>
        <p:nvSpPr>
          <p:cNvPr id="630" name="Google Shape;630;p7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6"/>
          <p:cNvSpPr txBox="1"/>
          <p:nvPr>
            <p:ph type="title"/>
          </p:nvPr>
        </p:nvSpPr>
        <p:spPr>
          <a:xfrm>
            <a:off x="457200" y="332656"/>
            <a:ext cx="8229600" cy="864096"/>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900"/>
              <a:buFont typeface="Calibri"/>
              <a:buNone/>
            </a:pPr>
            <a:r>
              <a:rPr lang="en-GB" sz="3900"/>
              <a:t>WORKPLACE RESPONSIBILITIES AND RIGHTS</a:t>
            </a:r>
            <a:endParaRPr/>
          </a:p>
        </p:txBody>
      </p:sp>
      <p:sp>
        <p:nvSpPr>
          <p:cNvPr id="636" name="Google Shape;636;p76"/>
          <p:cNvSpPr txBox="1"/>
          <p:nvPr>
            <p:ph idx="1" type="body"/>
          </p:nvPr>
        </p:nvSpPr>
        <p:spPr>
          <a:xfrm>
            <a:off x="457200" y="1196752"/>
            <a:ext cx="8229600" cy="5256584"/>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040"/>
              <a:buFont typeface="Noto Sans Symbols"/>
              <a:buChar char="❑"/>
            </a:pPr>
            <a:r>
              <a:rPr lang="en-GB" sz="3200">
                <a:solidFill>
                  <a:srgbClr val="00B0F0"/>
                </a:solidFill>
              </a:rPr>
              <a:t>Right Of Conscientious Refusal</a:t>
            </a:r>
            <a:endParaRPr/>
          </a:p>
          <a:p>
            <a:pPr indent="-274320" lvl="0" marL="274320" rtl="0" algn="l">
              <a:spcBef>
                <a:spcPts val="520"/>
              </a:spcBef>
              <a:spcAft>
                <a:spcPts val="0"/>
              </a:spcAft>
              <a:buSzPts val="2470"/>
              <a:buChar char="⚫"/>
            </a:pPr>
            <a:r>
              <a:rPr lang="en-GB"/>
              <a:t>The right of conscientious refusal is the right to refuse to engage in unethical behaviour and to refuse do so solely because one views it as unethical.</a:t>
            </a:r>
            <a:endParaRPr/>
          </a:p>
          <a:p>
            <a:pPr indent="-274320" lvl="0" marL="274320" rtl="0" algn="l">
              <a:spcBef>
                <a:spcPts val="520"/>
              </a:spcBef>
              <a:spcAft>
                <a:spcPts val="0"/>
              </a:spcAft>
              <a:buSzPts val="2470"/>
              <a:buChar char="⚫"/>
            </a:pPr>
            <a:r>
              <a:rPr lang="en-GB"/>
              <a:t>This is a kind of second-order right.</a:t>
            </a:r>
            <a:endParaRPr/>
          </a:p>
          <a:p>
            <a:pPr indent="-274320" lvl="0" marL="274320" rtl="0" algn="l">
              <a:spcBef>
                <a:spcPts val="520"/>
              </a:spcBef>
              <a:spcAft>
                <a:spcPts val="0"/>
              </a:spcAft>
              <a:buSzPts val="2470"/>
              <a:buChar char="⚫"/>
            </a:pPr>
            <a:r>
              <a:rPr lang="en-GB"/>
              <a:t>Engineers have a moral right to participate in activities that are illegal and clearly unethical </a:t>
            </a:r>
            <a:endParaRPr/>
          </a:p>
          <a:p>
            <a:pPr indent="-274320" lvl="0" marL="274320" rtl="0" algn="l">
              <a:spcBef>
                <a:spcPts val="520"/>
              </a:spcBef>
              <a:spcAft>
                <a:spcPts val="0"/>
              </a:spcAft>
              <a:buSzPts val="2470"/>
              <a:buChar char="⚫"/>
            </a:pPr>
            <a:r>
              <a:rPr lang="en-GB"/>
              <a:t>Engineers have a limited right to turn down assignments that violate their personal consciences in matters of great important such as threats to human life.</a:t>
            </a:r>
            <a:endParaRPr/>
          </a:p>
        </p:txBody>
      </p:sp>
      <p:sp>
        <p:nvSpPr>
          <p:cNvPr id="637" name="Google Shape;637;p7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77"/>
          <p:cNvSpPr txBox="1"/>
          <p:nvPr>
            <p:ph type="title"/>
          </p:nvPr>
        </p:nvSpPr>
        <p:spPr>
          <a:xfrm>
            <a:off x="457200" y="12576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900"/>
              <a:buFont typeface="Calibri"/>
              <a:buNone/>
            </a:pPr>
            <a:r>
              <a:rPr lang="en-GB" sz="3900"/>
              <a:t>WORKPLACE RESPONSIBILITIES AND RIGHTS</a:t>
            </a:r>
            <a:endParaRPr/>
          </a:p>
        </p:txBody>
      </p:sp>
      <p:sp>
        <p:nvSpPr>
          <p:cNvPr id="643" name="Google Shape;643;p77"/>
          <p:cNvSpPr txBox="1"/>
          <p:nvPr>
            <p:ph idx="1" type="body"/>
          </p:nvPr>
        </p:nvSpPr>
        <p:spPr>
          <a:xfrm>
            <a:off x="323528" y="1196752"/>
            <a:ext cx="8363272" cy="5400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040"/>
              <a:buFont typeface="Noto Sans Symbols"/>
              <a:buChar char="❑"/>
            </a:pPr>
            <a:r>
              <a:rPr lang="en-GB" sz="3200">
                <a:solidFill>
                  <a:srgbClr val="00B0F0"/>
                </a:solidFill>
              </a:rPr>
              <a:t>Right to Recognition</a:t>
            </a:r>
            <a:endParaRPr/>
          </a:p>
          <a:p>
            <a:pPr indent="0" lvl="0" marL="0" rtl="0" algn="l">
              <a:spcBef>
                <a:spcPts val="520"/>
              </a:spcBef>
              <a:spcAft>
                <a:spcPts val="0"/>
              </a:spcAft>
              <a:buSzPts val="2470"/>
              <a:buNone/>
            </a:pPr>
            <a:r>
              <a:rPr lang="en-GB"/>
              <a:t>Engineers have a right to professional recognition for their work and accomplishments.</a:t>
            </a:r>
            <a:endParaRPr/>
          </a:p>
          <a:p>
            <a:pPr indent="0" lvl="0" marL="0" rtl="0" algn="l">
              <a:spcBef>
                <a:spcPts val="520"/>
              </a:spcBef>
              <a:spcAft>
                <a:spcPts val="0"/>
              </a:spcAft>
              <a:buSzPts val="2470"/>
              <a:buNone/>
            </a:pPr>
            <a:r>
              <a:rPr lang="en-GB"/>
              <a:t>Parts of this involves fair monetary remuneration, and part nonmonetary forms of recognition.</a:t>
            </a:r>
            <a:endParaRPr/>
          </a:p>
          <a:p>
            <a:pPr indent="0" lvl="0" marL="0" rtl="0" algn="l">
              <a:spcBef>
                <a:spcPts val="520"/>
              </a:spcBef>
              <a:spcAft>
                <a:spcPts val="0"/>
              </a:spcAft>
              <a:buSzPts val="2470"/>
              <a:buNone/>
            </a:pPr>
            <a:r>
              <a:rPr lang="en-GB"/>
              <a:t>It serves as basis for criticising the unfairness of patent arrangement that fail to give more than nominal rewards to the creative engineers who make the discoveries leading to the patents.</a:t>
            </a:r>
            <a:endParaRPr/>
          </a:p>
          <a:p>
            <a:pPr indent="0" lvl="0" marL="0" rtl="0" algn="l">
              <a:spcBef>
                <a:spcPts val="520"/>
              </a:spcBef>
              <a:spcAft>
                <a:spcPts val="0"/>
              </a:spcAft>
              <a:buSzPts val="2470"/>
              <a:buNone/>
            </a:pPr>
            <a:r>
              <a:rPr lang="en-GB"/>
              <a:t>The right to recognition, and especially fair remuneration is not only a matter of self interest but also a matter of morality too.</a:t>
            </a:r>
            <a:endParaRPr/>
          </a:p>
        </p:txBody>
      </p:sp>
      <p:sp>
        <p:nvSpPr>
          <p:cNvPr id="644" name="Google Shape;644;p7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78"/>
          <p:cNvSpPr txBox="1"/>
          <p:nvPr>
            <p:ph type="title"/>
          </p:nvPr>
        </p:nvSpPr>
        <p:spPr>
          <a:xfrm>
            <a:off x="457200" y="18864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650" name="Google Shape;650;p78"/>
          <p:cNvSpPr txBox="1"/>
          <p:nvPr>
            <p:ph idx="1" type="body"/>
          </p:nvPr>
        </p:nvSpPr>
        <p:spPr>
          <a:xfrm>
            <a:off x="457200" y="1272128"/>
            <a:ext cx="8229600" cy="539723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Font typeface="Noto Sans Symbols"/>
              <a:buChar char="❑"/>
            </a:pPr>
            <a:r>
              <a:rPr lang="en-GB">
                <a:solidFill>
                  <a:srgbClr val="33CCFF"/>
                </a:solidFill>
              </a:rPr>
              <a:t>Employee Rights</a:t>
            </a:r>
            <a:endParaRPr/>
          </a:p>
          <a:p>
            <a:pPr indent="0" lvl="0" marL="0" rtl="0" algn="l">
              <a:spcBef>
                <a:spcPts val="520"/>
              </a:spcBef>
              <a:spcAft>
                <a:spcPts val="0"/>
              </a:spcAft>
              <a:buSzPts val="2470"/>
              <a:buNone/>
            </a:pPr>
            <a:r>
              <a:rPr lang="en-GB"/>
              <a:t>These are any rights, moral or legal, that involve the status of being an employee. They include:</a:t>
            </a:r>
            <a:endParaRPr/>
          </a:p>
          <a:p>
            <a:pPr indent="-274320" lvl="0" marL="274320" rtl="0" algn="l">
              <a:spcBef>
                <a:spcPts val="520"/>
              </a:spcBef>
              <a:spcAft>
                <a:spcPts val="0"/>
              </a:spcAft>
              <a:buSzPts val="2470"/>
              <a:buChar char="⚫"/>
            </a:pPr>
            <a:r>
              <a:rPr lang="en-GB"/>
              <a:t>Institutional rights (created by organisational policies)</a:t>
            </a:r>
            <a:endParaRPr/>
          </a:p>
          <a:p>
            <a:pPr indent="-274320" lvl="0" marL="274320" rtl="0" algn="l">
              <a:spcBef>
                <a:spcPts val="520"/>
              </a:spcBef>
              <a:spcAft>
                <a:spcPts val="0"/>
              </a:spcAft>
              <a:buSzPts val="2470"/>
              <a:buChar char="⚫"/>
            </a:pPr>
            <a:r>
              <a:rPr lang="en-GB"/>
              <a:t>Employments agreements (such as right to be paid the salary specified in one’s contract)</a:t>
            </a:r>
            <a:endParaRPr/>
          </a:p>
        </p:txBody>
      </p:sp>
      <p:sp>
        <p:nvSpPr>
          <p:cNvPr id="651" name="Google Shape;651;p7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79"/>
          <p:cNvSpPr txBox="1"/>
          <p:nvPr>
            <p:ph type="title"/>
          </p:nvPr>
        </p:nvSpPr>
        <p:spPr>
          <a:xfrm>
            <a:off x="457200" y="260648"/>
            <a:ext cx="8229600" cy="64807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GB" sz="3600"/>
              <a:t>WORKPLACE RESPONSIBILITIES AND RIGHTS</a:t>
            </a:r>
            <a:endParaRPr sz="3600"/>
          </a:p>
        </p:txBody>
      </p:sp>
      <p:sp>
        <p:nvSpPr>
          <p:cNvPr id="657" name="Google Shape;657;p79"/>
          <p:cNvSpPr txBox="1"/>
          <p:nvPr>
            <p:ph idx="1" type="body"/>
          </p:nvPr>
        </p:nvSpPr>
        <p:spPr>
          <a:xfrm>
            <a:off x="457200" y="908720"/>
            <a:ext cx="8229600" cy="594928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470"/>
              <a:buNone/>
            </a:pPr>
            <a:r>
              <a:rPr lang="en-GB"/>
              <a:t>Corporations, institutions and workplaces  ought to recognise a basic set of employee rights which may include:</a:t>
            </a:r>
            <a:endParaRPr/>
          </a:p>
          <a:p>
            <a:pPr indent="-274320" lvl="0" marL="274320" rtl="0" algn="l">
              <a:spcBef>
                <a:spcPts val="520"/>
              </a:spcBef>
              <a:spcAft>
                <a:spcPts val="0"/>
              </a:spcAft>
              <a:buSzPts val="2470"/>
              <a:buChar char="⚫"/>
            </a:pPr>
            <a:r>
              <a:rPr lang="en-GB"/>
              <a:t>Privacy (right to pursue outside activities).</a:t>
            </a:r>
            <a:endParaRPr/>
          </a:p>
          <a:p>
            <a:pPr indent="-274320" lvl="0" marL="274320" rtl="0" algn="l">
              <a:spcBef>
                <a:spcPts val="520"/>
              </a:spcBef>
              <a:spcAft>
                <a:spcPts val="0"/>
              </a:spcAft>
              <a:buSzPts val="2470"/>
              <a:buChar char="⚫"/>
            </a:pPr>
            <a:r>
              <a:rPr lang="en-GB"/>
              <a:t>Equal opportunity: non-discrimination (the right not to be discounted because of gender, race, skin colour, age etc.).</a:t>
            </a:r>
            <a:endParaRPr/>
          </a:p>
          <a:p>
            <a:pPr indent="-274320" lvl="0" marL="274320" rtl="0" algn="l">
              <a:spcBef>
                <a:spcPts val="520"/>
              </a:spcBef>
              <a:spcAft>
                <a:spcPts val="0"/>
              </a:spcAft>
              <a:buSzPts val="2470"/>
              <a:buChar char="⚫"/>
            </a:pPr>
            <a:r>
              <a:rPr lang="en-GB"/>
              <a:t>Equal opportunity: sexual harassment (the unwanted imposition of sexual requirements in the context of relationship of unequal power).</a:t>
            </a:r>
            <a:endParaRPr/>
          </a:p>
          <a:p>
            <a:pPr indent="-274320" lvl="0" marL="274320" rtl="0" algn="l">
              <a:spcBef>
                <a:spcPts val="520"/>
              </a:spcBef>
              <a:spcAft>
                <a:spcPts val="0"/>
              </a:spcAft>
              <a:buSzPts val="2470"/>
              <a:buChar char="⚫"/>
            </a:pPr>
            <a:r>
              <a:rPr lang="en-GB"/>
              <a:t>Equal opportunity: affirmative action (giving preference or advantage to a member of a group, in particular, women and minorities).</a:t>
            </a:r>
            <a:endParaRPr/>
          </a:p>
          <a:p>
            <a:pPr indent="-117475" lvl="0" marL="274320" rtl="0" algn="l">
              <a:spcBef>
                <a:spcPts val="520"/>
              </a:spcBef>
              <a:spcAft>
                <a:spcPts val="0"/>
              </a:spcAft>
              <a:buSzPts val="2470"/>
              <a:buNone/>
            </a:pPr>
            <a:r>
              <a:t/>
            </a:r>
            <a:endParaRPr/>
          </a:p>
        </p:txBody>
      </p:sp>
      <p:sp>
        <p:nvSpPr>
          <p:cNvPr id="658" name="Google Shape;658;p7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80"/>
          <p:cNvSpPr txBox="1"/>
          <p:nvPr>
            <p:ph type="title"/>
          </p:nvPr>
        </p:nvSpPr>
        <p:spPr>
          <a:xfrm>
            <a:off x="457200" y="44624"/>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664" name="Google Shape;664;p80"/>
          <p:cNvSpPr txBox="1"/>
          <p:nvPr>
            <p:ph idx="1" type="body"/>
          </p:nvPr>
        </p:nvSpPr>
        <p:spPr>
          <a:xfrm>
            <a:off x="251520" y="1124744"/>
            <a:ext cx="8640960" cy="5544616"/>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lnSpc>
                <a:spcPct val="150000"/>
              </a:lnSpc>
              <a:spcBef>
                <a:spcPts val="0"/>
              </a:spcBef>
              <a:spcAft>
                <a:spcPts val="0"/>
              </a:spcAft>
              <a:buSzPct val="95000"/>
              <a:buFont typeface="Noto Sans Symbols"/>
              <a:buChar char="❑"/>
            </a:pPr>
            <a:r>
              <a:rPr lang="en-GB">
                <a:solidFill>
                  <a:srgbClr val="33CCFF"/>
                </a:solidFill>
              </a:rPr>
              <a:t>Whistleblowing</a:t>
            </a:r>
            <a:endParaRPr/>
          </a:p>
          <a:p>
            <a:pPr indent="0" lvl="0" marL="0" rtl="0" algn="l">
              <a:lnSpc>
                <a:spcPct val="150000"/>
              </a:lnSpc>
              <a:spcBef>
                <a:spcPts val="481"/>
              </a:spcBef>
              <a:spcAft>
                <a:spcPts val="0"/>
              </a:spcAft>
              <a:buSzPct val="95000"/>
              <a:buNone/>
            </a:pPr>
            <a:r>
              <a:rPr lang="en-GB"/>
              <a:t>Whistleblowing occurs when an employee or former employee conveys information about a significant moral problem to someone in a position to take action on the problem, and does so outside approved organisational channels. The definition has four main parts.</a:t>
            </a:r>
            <a:endParaRPr/>
          </a:p>
          <a:p>
            <a:pPr indent="-514350" lvl="0" marL="514350" rtl="0" algn="l">
              <a:lnSpc>
                <a:spcPct val="150000"/>
              </a:lnSpc>
              <a:spcBef>
                <a:spcPts val="481"/>
              </a:spcBef>
              <a:spcAft>
                <a:spcPts val="0"/>
              </a:spcAft>
              <a:buSzPct val="95000"/>
              <a:buFont typeface="Calibri"/>
              <a:buAutoNum type="arabicPeriod"/>
            </a:pPr>
            <a:r>
              <a:rPr lang="en-GB"/>
              <a:t>Disclosure</a:t>
            </a:r>
            <a:endParaRPr/>
          </a:p>
          <a:p>
            <a:pPr indent="-514350" lvl="0" marL="514350" rtl="0" algn="l">
              <a:lnSpc>
                <a:spcPct val="150000"/>
              </a:lnSpc>
              <a:spcBef>
                <a:spcPts val="481"/>
              </a:spcBef>
              <a:spcAft>
                <a:spcPts val="0"/>
              </a:spcAft>
              <a:buSzPct val="95000"/>
              <a:buFont typeface="Calibri"/>
              <a:buAutoNum type="arabicPeriod"/>
            </a:pPr>
            <a:r>
              <a:rPr lang="en-GB"/>
              <a:t>Topic</a:t>
            </a:r>
            <a:endParaRPr/>
          </a:p>
          <a:p>
            <a:pPr indent="-514350" lvl="0" marL="514350" rtl="0" algn="l">
              <a:lnSpc>
                <a:spcPct val="150000"/>
              </a:lnSpc>
              <a:spcBef>
                <a:spcPts val="481"/>
              </a:spcBef>
              <a:spcAft>
                <a:spcPts val="0"/>
              </a:spcAft>
              <a:buSzPct val="95000"/>
              <a:buFont typeface="Calibri"/>
              <a:buAutoNum type="arabicPeriod"/>
            </a:pPr>
            <a:r>
              <a:rPr lang="en-GB"/>
              <a:t>Agent</a:t>
            </a:r>
            <a:endParaRPr/>
          </a:p>
          <a:p>
            <a:pPr indent="-514350" lvl="0" marL="514350" rtl="0" algn="l">
              <a:lnSpc>
                <a:spcPct val="150000"/>
              </a:lnSpc>
              <a:spcBef>
                <a:spcPts val="481"/>
              </a:spcBef>
              <a:spcAft>
                <a:spcPts val="0"/>
              </a:spcAft>
              <a:buSzPct val="95000"/>
              <a:buFont typeface="Calibri"/>
              <a:buAutoNum type="arabicPeriod"/>
            </a:pPr>
            <a:r>
              <a:rPr lang="en-GB"/>
              <a:t>Recipient</a:t>
            </a:r>
            <a:endParaRPr/>
          </a:p>
        </p:txBody>
      </p:sp>
      <p:sp>
        <p:nvSpPr>
          <p:cNvPr id="665" name="Google Shape;665;p8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1"/>
          <p:cNvSpPr txBox="1"/>
          <p:nvPr>
            <p:ph type="title"/>
          </p:nvPr>
        </p:nvSpPr>
        <p:spPr>
          <a:xfrm>
            <a:off x="251520" y="125760"/>
            <a:ext cx="8568952"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671" name="Google Shape;671;p81"/>
          <p:cNvSpPr txBox="1"/>
          <p:nvPr>
            <p:ph idx="1" type="body"/>
          </p:nvPr>
        </p:nvSpPr>
        <p:spPr>
          <a:xfrm>
            <a:off x="251520" y="1196752"/>
            <a:ext cx="8568952" cy="54006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2470"/>
              <a:buFont typeface="Calibri"/>
              <a:buAutoNum type="arabicPeriod"/>
            </a:pPr>
            <a:r>
              <a:rPr lang="en-GB"/>
              <a:t>Disclosure: Information is intentionally conveyed outside approved organisational (workplace) channels or in situations where the person conveying it is under pressure from supervisors or others not to do so.</a:t>
            </a:r>
            <a:endParaRPr/>
          </a:p>
          <a:p>
            <a:pPr indent="-514350" lvl="0" marL="514350" rtl="0" algn="l">
              <a:spcBef>
                <a:spcPts val="520"/>
              </a:spcBef>
              <a:spcAft>
                <a:spcPts val="0"/>
              </a:spcAft>
              <a:buSzPts val="2470"/>
              <a:buFont typeface="Calibri"/>
              <a:buAutoNum type="arabicPeriod"/>
            </a:pPr>
            <a:r>
              <a:rPr lang="en-GB"/>
              <a:t>Topic: The information concerns what the person believes is a significant moral problem for the organisation.</a:t>
            </a:r>
            <a:endParaRPr/>
          </a:p>
          <a:p>
            <a:pPr indent="-514350" lvl="0" marL="514350" rtl="0" algn="l">
              <a:spcBef>
                <a:spcPts val="520"/>
              </a:spcBef>
              <a:spcAft>
                <a:spcPts val="0"/>
              </a:spcAft>
              <a:buSzPts val="2470"/>
              <a:buFont typeface="Calibri"/>
              <a:buAutoNum type="arabicPeriod"/>
            </a:pPr>
            <a:r>
              <a:rPr lang="en-GB"/>
              <a:t>Agent: The person disclosing the information is an employee or former employee.</a:t>
            </a:r>
            <a:endParaRPr/>
          </a:p>
          <a:p>
            <a:pPr indent="-514350" lvl="0" marL="514350" rtl="0" algn="l">
              <a:spcBef>
                <a:spcPts val="520"/>
              </a:spcBef>
              <a:spcAft>
                <a:spcPts val="0"/>
              </a:spcAft>
              <a:buSzPts val="2470"/>
              <a:buFont typeface="Calibri"/>
              <a:buAutoNum type="arabicPeriod"/>
            </a:pPr>
            <a:r>
              <a:rPr lang="en-GB"/>
              <a:t>Recipient: The information is conveyed to a person or organisation that is in a position to act on the problem. </a:t>
            </a:r>
            <a:endParaRPr/>
          </a:p>
        </p:txBody>
      </p:sp>
      <p:sp>
        <p:nvSpPr>
          <p:cNvPr id="672" name="Google Shape;672;p8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82"/>
          <p:cNvSpPr txBox="1"/>
          <p:nvPr>
            <p:ph type="title"/>
          </p:nvPr>
        </p:nvSpPr>
        <p:spPr>
          <a:xfrm>
            <a:off x="323528" y="0"/>
            <a:ext cx="8496944" cy="692696"/>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GB" sz="3600"/>
              <a:t>WORKPLACE RESPONSIBILITIES AND RIGHTS</a:t>
            </a:r>
            <a:endParaRPr sz="3600"/>
          </a:p>
        </p:txBody>
      </p:sp>
      <p:sp>
        <p:nvSpPr>
          <p:cNvPr id="678" name="Google Shape;678;p82"/>
          <p:cNvSpPr txBox="1"/>
          <p:nvPr>
            <p:ph idx="1" type="body"/>
          </p:nvPr>
        </p:nvSpPr>
        <p:spPr>
          <a:xfrm>
            <a:off x="107504" y="620688"/>
            <a:ext cx="8928992" cy="6120680"/>
          </a:xfrm>
          <a:prstGeom prst="rect">
            <a:avLst/>
          </a:prstGeom>
          <a:noFill/>
          <a:ln>
            <a:noFill/>
          </a:ln>
        </p:spPr>
        <p:txBody>
          <a:bodyPr anchorCtr="0" anchor="t" bIns="45700" lIns="91425" spcFirstLastPara="1" rIns="91425" wrap="square" tIns="45700">
            <a:normAutofit fontScale="62500" lnSpcReduction="20000"/>
          </a:bodyPr>
          <a:lstStyle/>
          <a:p>
            <a:pPr indent="-274320" lvl="0" marL="274320" rtl="0" algn="l">
              <a:lnSpc>
                <a:spcPct val="150000"/>
              </a:lnSpc>
              <a:spcBef>
                <a:spcPts val="0"/>
              </a:spcBef>
              <a:spcAft>
                <a:spcPts val="0"/>
              </a:spcAft>
              <a:buSzPct val="95000"/>
              <a:buFont typeface="Noto Sans Symbols"/>
              <a:buChar char="❑"/>
            </a:pPr>
            <a:r>
              <a:rPr lang="en-GB" sz="3800">
                <a:solidFill>
                  <a:srgbClr val="33CCFF"/>
                </a:solidFill>
              </a:rPr>
              <a:t>Moral Guidelines</a:t>
            </a:r>
            <a:endParaRPr/>
          </a:p>
          <a:p>
            <a:pPr indent="0" lvl="0" marL="0" rtl="0" algn="l">
              <a:lnSpc>
                <a:spcPct val="150000"/>
              </a:lnSpc>
              <a:spcBef>
                <a:spcPts val="425"/>
              </a:spcBef>
              <a:spcAft>
                <a:spcPts val="0"/>
              </a:spcAft>
              <a:buSzPct val="95000"/>
              <a:buNone/>
            </a:pPr>
            <a:r>
              <a:rPr lang="en-GB" sz="3400"/>
              <a:t>It is permissible to whistleblow when the following conditions have been met. Under these conditions there is also an obligation to whistleblow, although the obligation is prima facie and in some situations can be overridden by other moral considerations</a:t>
            </a:r>
            <a:endParaRPr/>
          </a:p>
          <a:p>
            <a:pPr indent="-514350" lvl="0" marL="514350" rtl="0" algn="l">
              <a:lnSpc>
                <a:spcPct val="150000"/>
              </a:lnSpc>
              <a:spcBef>
                <a:spcPts val="425"/>
              </a:spcBef>
              <a:spcAft>
                <a:spcPts val="0"/>
              </a:spcAft>
              <a:buSzPct val="95000"/>
              <a:buFont typeface="Calibri"/>
              <a:buAutoNum type="arabicPeriod"/>
            </a:pPr>
            <a:r>
              <a:rPr lang="en-GB" sz="3400"/>
              <a:t>The actual or potential harm reported is serious.</a:t>
            </a:r>
            <a:endParaRPr/>
          </a:p>
          <a:p>
            <a:pPr indent="-514350" lvl="0" marL="514350" rtl="0" algn="l">
              <a:lnSpc>
                <a:spcPct val="150000"/>
              </a:lnSpc>
              <a:spcBef>
                <a:spcPts val="425"/>
              </a:spcBef>
              <a:spcAft>
                <a:spcPts val="0"/>
              </a:spcAft>
              <a:buSzPct val="95000"/>
              <a:buFont typeface="Calibri"/>
              <a:buAutoNum type="arabicPeriod"/>
            </a:pPr>
            <a:r>
              <a:rPr lang="en-GB" sz="3400"/>
              <a:t>The harm has been adequately documented.</a:t>
            </a:r>
            <a:endParaRPr/>
          </a:p>
          <a:p>
            <a:pPr indent="-514350" lvl="0" marL="514350" rtl="0" algn="l">
              <a:lnSpc>
                <a:spcPct val="150000"/>
              </a:lnSpc>
              <a:spcBef>
                <a:spcPts val="425"/>
              </a:spcBef>
              <a:spcAft>
                <a:spcPts val="0"/>
              </a:spcAft>
              <a:buSzPct val="95000"/>
              <a:buFont typeface="Calibri"/>
              <a:buAutoNum type="arabicPeriod"/>
            </a:pPr>
            <a:r>
              <a:rPr lang="en-GB" sz="3400"/>
              <a:t>The concerns have been reported to the immediate superiors.</a:t>
            </a:r>
            <a:endParaRPr/>
          </a:p>
          <a:p>
            <a:pPr indent="-514350" lvl="0" marL="514350" rtl="0" algn="l">
              <a:lnSpc>
                <a:spcPct val="150000"/>
              </a:lnSpc>
              <a:spcBef>
                <a:spcPts val="425"/>
              </a:spcBef>
              <a:spcAft>
                <a:spcPts val="0"/>
              </a:spcAft>
              <a:buSzPct val="95000"/>
              <a:buFont typeface="Calibri"/>
              <a:buAutoNum type="arabicPeriod"/>
            </a:pPr>
            <a:r>
              <a:rPr lang="en-GB" sz="3400"/>
              <a:t>After not getting satisfaction from immediate superiors, regular channels within the organisation have been used to reach up to the highest levels of management.</a:t>
            </a:r>
            <a:endParaRPr/>
          </a:p>
          <a:p>
            <a:pPr indent="-514350" lvl="0" marL="514350" rtl="0" algn="l">
              <a:lnSpc>
                <a:spcPct val="150000"/>
              </a:lnSpc>
              <a:spcBef>
                <a:spcPts val="425"/>
              </a:spcBef>
              <a:spcAft>
                <a:spcPts val="0"/>
              </a:spcAft>
              <a:buSzPct val="95000"/>
              <a:buFont typeface="Calibri"/>
              <a:buAutoNum type="arabicPeriod"/>
            </a:pPr>
            <a:r>
              <a:rPr lang="en-GB" sz="3400"/>
              <a:t>There is reasonable hope that whistleblowing can help or remedy the harm.</a:t>
            </a:r>
            <a:endParaRPr sz="3400"/>
          </a:p>
        </p:txBody>
      </p:sp>
      <p:sp>
        <p:nvSpPr>
          <p:cNvPr id="679" name="Google Shape;679;p8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83"/>
          <p:cNvSpPr txBox="1"/>
          <p:nvPr>
            <p:ph type="title"/>
          </p:nvPr>
        </p:nvSpPr>
        <p:spPr>
          <a:xfrm>
            <a:off x="179512" y="125760"/>
            <a:ext cx="8640960" cy="638944"/>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3600"/>
              <a:buFont typeface="Calibri"/>
              <a:buNone/>
            </a:pPr>
            <a:r>
              <a:rPr lang="en-GB" sz="3600"/>
              <a:t>WORKPLACE RESPONSIBILITIES AND RIGHTS</a:t>
            </a:r>
            <a:endParaRPr/>
          </a:p>
        </p:txBody>
      </p:sp>
      <p:sp>
        <p:nvSpPr>
          <p:cNvPr id="686" name="Google Shape;686;p83"/>
          <p:cNvSpPr txBox="1"/>
          <p:nvPr>
            <p:ph idx="1" type="body"/>
          </p:nvPr>
        </p:nvSpPr>
        <p:spPr>
          <a:xfrm>
            <a:off x="107504" y="764704"/>
            <a:ext cx="8784976" cy="5976664"/>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3040"/>
              <a:buFont typeface="Noto Sans Symbols"/>
              <a:buChar char="❑"/>
            </a:pPr>
            <a:r>
              <a:rPr lang="en-GB" sz="3200">
                <a:solidFill>
                  <a:srgbClr val="33CCFF"/>
                </a:solidFill>
              </a:rPr>
              <a:t>Common-sense Procedures</a:t>
            </a:r>
            <a:endParaRPr/>
          </a:p>
          <a:p>
            <a:pPr indent="0" lvl="0" marL="0" rtl="0" algn="l">
              <a:spcBef>
                <a:spcPts val="520"/>
              </a:spcBef>
              <a:spcAft>
                <a:spcPts val="0"/>
              </a:spcAft>
              <a:buSzPts val="2470"/>
              <a:buNone/>
            </a:pPr>
            <a:r>
              <a:rPr lang="en-GB"/>
              <a:t>It is clear that a decision to whistleblow, whether within or outside an organisation, is a serious matter that deserves careful reflection.</a:t>
            </a:r>
            <a:endParaRPr/>
          </a:p>
          <a:p>
            <a:pPr indent="-514350" lvl="0" marL="514350" rtl="0" algn="l">
              <a:spcBef>
                <a:spcPts val="520"/>
              </a:spcBef>
              <a:spcAft>
                <a:spcPts val="0"/>
              </a:spcAft>
              <a:buSzPts val="2470"/>
              <a:buFont typeface="Calibri"/>
              <a:buAutoNum type="arabicPeriod"/>
            </a:pPr>
            <a:r>
              <a:rPr lang="en-GB"/>
              <a:t>Except for extremely rare emergencies, always try working first through normal organisational channels.</a:t>
            </a:r>
            <a:endParaRPr/>
          </a:p>
          <a:p>
            <a:pPr indent="-514350" lvl="0" marL="514350" rtl="0" algn="l">
              <a:spcBef>
                <a:spcPts val="520"/>
              </a:spcBef>
              <a:spcAft>
                <a:spcPts val="0"/>
              </a:spcAft>
              <a:buSzPts val="2470"/>
              <a:buFont typeface="Calibri"/>
              <a:buAutoNum type="arabicPeriod"/>
            </a:pPr>
            <a:r>
              <a:rPr lang="en-GB"/>
              <a:t>Be prompt in expressing objections. Waiting too long may create the appearance of plotting for your advantage and seeking to embarrass a supervisor.</a:t>
            </a:r>
            <a:endParaRPr/>
          </a:p>
          <a:p>
            <a:pPr indent="-514350" lvl="0" marL="514350" rtl="0" algn="l">
              <a:spcBef>
                <a:spcPts val="520"/>
              </a:spcBef>
              <a:spcAft>
                <a:spcPts val="0"/>
              </a:spcAft>
              <a:buSzPts val="2470"/>
              <a:buFont typeface="Calibri"/>
              <a:buAutoNum type="arabicPeriod"/>
            </a:pPr>
            <a:r>
              <a:rPr lang="en-GB"/>
              <a:t>Proceed in a tactful, low-key manner. Be considerate of the feelings of others involved.</a:t>
            </a:r>
            <a:endParaRPr/>
          </a:p>
          <a:p>
            <a:pPr indent="-514350" lvl="0" marL="514350" rtl="0" algn="l">
              <a:spcBef>
                <a:spcPts val="520"/>
              </a:spcBef>
              <a:spcAft>
                <a:spcPts val="0"/>
              </a:spcAft>
              <a:buSzPts val="2470"/>
              <a:buFont typeface="Calibri"/>
              <a:buAutoNum type="arabicPeriod"/>
            </a:pPr>
            <a:r>
              <a:rPr lang="en-GB"/>
              <a:t>As much as possible, keep supervisors informed of your actions, both through informal discussion and formal memorandums</a:t>
            </a:r>
            <a:endParaRPr/>
          </a:p>
        </p:txBody>
      </p:sp>
      <p:sp>
        <p:nvSpPr>
          <p:cNvPr id="687" name="Google Shape;687;p8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84"/>
          <p:cNvSpPr txBox="1"/>
          <p:nvPr>
            <p:ph type="title"/>
          </p:nvPr>
        </p:nvSpPr>
        <p:spPr>
          <a:xfrm>
            <a:off x="457200" y="44624"/>
            <a:ext cx="8229600" cy="1152128"/>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GB" sz="4000"/>
              <a:t>WORKPLACE RESPONSIBILITIES AND RIGHTS</a:t>
            </a:r>
            <a:endParaRPr/>
          </a:p>
        </p:txBody>
      </p:sp>
      <p:sp>
        <p:nvSpPr>
          <p:cNvPr id="693" name="Google Shape;693;p84"/>
          <p:cNvSpPr txBox="1"/>
          <p:nvPr>
            <p:ph idx="1" type="body"/>
          </p:nvPr>
        </p:nvSpPr>
        <p:spPr>
          <a:xfrm>
            <a:off x="251520" y="1124744"/>
            <a:ext cx="8640960" cy="5472608"/>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2660"/>
              <a:buFont typeface="Noto Sans Symbols"/>
              <a:buChar char="❑"/>
            </a:pPr>
            <a:r>
              <a:rPr lang="en-GB" sz="2800">
                <a:solidFill>
                  <a:srgbClr val="33CCFF"/>
                </a:solidFill>
              </a:rPr>
              <a:t>Common-sense Procedures….</a:t>
            </a:r>
            <a:endParaRPr/>
          </a:p>
          <a:p>
            <a:pPr indent="-514350" lvl="0" marL="514350" rtl="0" algn="l">
              <a:lnSpc>
                <a:spcPct val="150000"/>
              </a:lnSpc>
              <a:spcBef>
                <a:spcPts val="520"/>
              </a:spcBef>
              <a:spcAft>
                <a:spcPts val="0"/>
              </a:spcAft>
              <a:buSzPts val="2470"/>
              <a:buFont typeface="Calibri"/>
              <a:buAutoNum type="arabicPeriod" startAt="5"/>
            </a:pPr>
            <a:r>
              <a:rPr lang="en-GB"/>
              <a:t> Be accurate in your observations and claims, and keep formal records documenting relevant events.</a:t>
            </a:r>
            <a:endParaRPr/>
          </a:p>
          <a:p>
            <a:pPr indent="-514350" lvl="0" marL="514350" rtl="0" algn="l">
              <a:lnSpc>
                <a:spcPct val="150000"/>
              </a:lnSpc>
              <a:spcBef>
                <a:spcPts val="520"/>
              </a:spcBef>
              <a:spcAft>
                <a:spcPts val="0"/>
              </a:spcAft>
              <a:buSzPts val="2470"/>
              <a:buFont typeface="Calibri"/>
              <a:buAutoNum type="arabicPeriod" startAt="5"/>
            </a:pPr>
            <a:r>
              <a:rPr lang="en-GB"/>
              <a:t>Consult trusted colleagues for advice – avoid isolation.</a:t>
            </a:r>
            <a:endParaRPr/>
          </a:p>
          <a:p>
            <a:pPr indent="-514350" lvl="0" marL="514350" rtl="0" algn="l">
              <a:lnSpc>
                <a:spcPct val="150000"/>
              </a:lnSpc>
              <a:spcBef>
                <a:spcPts val="520"/>
              </a:spcBef>
              <a:spcAft>
                <a:spcPts val="0"/>
              </a:spcAft>
              <a:buSzPts val="2470"/>
              <a:buFont typeface="Calibri"/>
              <a:buAutoNum type="arabicPeriod" startAt="5"/>
            </a:pPr>
            <a:r>
              <a:rPr lang="en-GB"/>
              <a:t>Before going outside the organisation, consult the ethics committee of your professional society.</a:t>
            </a:r>
            <a:endParaRPr/>
          </a:p>
          <a:p>
            <a:pPr indent="-514350" lvl="0" marL="514350" rtl="0" algn="l">
              <a:lnSpc>
                <a:spcPct val="150000"/>
              </a:lnSpc>
              <a:spcBef>
                <a:spcPts val="520"/>
              </a:spcBef>
              <a:spcAft>
                <a:spcPts val="0"/>
              </a:spcAft>
              <a:buSzPts val="2470"/>
              <a:buFont typeface="Calibri"/>
              <a:buAutoNum type="arabicPeriod" startAt="5"/>
            </a:pPr>
            <a:r>
              <a:rPr lang="en-GB"/>
              <a:t>Consult a lawyer concerning potential legal liabilities.</a:t>
            </a:r>
            <a:endParaRPr/>
          </a:p>
        </p:txBody>
      </p:sp>
      <p:sp>
        <p:nvSpPr>
          <p:cNvPr id="694" name="Google Shape;694;p8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85"/>
          <p:cNvSpPr txBox="1"/>
          <p:nvPr>
            <p:ph type="title"/>
          </p:nvPr>
        </p:nvSpPr>
        <p:spPr>
          <a:xfrm>
            <a:off x="457200" y="125760"/>
            <a:ext cx="8229600" cy="638944"/>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GB" sz="3600"/>
              <a:t>WORKPLACE RESPONSIBILITIES AND RIGHTS</a:t>
            </a:r>
            <a:endParaRPr/>
          </a:p>
        </p:txBody>
      </p:sp>
      <p:sp>
        <p:nvSpPr>
          <p:cNvPr id="700" name="Google Shape;700;p85"/>
          <p:cNvSpPr txBox="1"/>
          <p:nvPr>
            <p:ph idx="1" type="body"/>
          </p:nvPr>
        </p:nvSpPr>
        <p:spPr>
          <a:xfrm>
            <a:off x="251520" y="692696"/>
            <a:ext cx="8640960" cy="6165304"/>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150000"/>
              </a:lnSpc>
              <a:spcBef>
                <a:spcPts val="0"/>
              </a:spcBef>
              <a:spcAft>
                <a:spcPts val="0"/>
              </a:spcAft>
              <a:buSzPct val="95000"/>
              <a:buFont typeface="Noto Sans Symbols"/>
              <a:buChar char="❑"/>
            </a:pPr>
            <a:r>
              <a:rPr lang="en-GB" sz="2800">
                <a:solidFill>
                  <a:srgbClr val="00B0F0"/>
                </a:solidFill>
              </a:rPr>
              <a:t>Beyond Whistleblowing</a:t>
            </a:r>
            <a:endParaRPr/>
          </a:p>
          <a:p>
            <a:pPr indent="-274320" lvl="0" marL="274320" rtl="0" algn="l">
              <a:lnSpc>
                <a:spcPct val="150000"/>
              </a:lnSpc>
              <a:spcBef>
                <a:spcPts val="481"/>
              </a:spcBef>
              <a:spcAft>
                <a:spcPts val="0"/>
              </a:spcAft>
              <a:buSzPct val="95000"/>
              <a:buChar char="⚫"/>
            </a:pPr>
            <a:r>
              <a:rPr lang="en-GB"/>
              <a:t>Whistleblowing is often a practical  moral necessity. It holds little promise as the best possible method for remedying problems and should be viewed as a last resort.</a:t>
            </a:r>
            <a:endParaRPr/>
          </a:p>
          <a:p>
            <a:pPr indent="-274320" lvl="0" marL="274320" rtl="0" algn="l">
              <a:lnSpc>
                <a:spcPct val="150000"/>
              </a:lnSpc>
              <a:spcBef>
                <a:spcPts val="481"/>
              </a:spcBef>
              <a:spcAft>
                <a:spcPts val="0"/>
              </a:spcAft>
              <a:buSzPct val="95000"/>
              <a:buChar char="⚫"/>
            </a:pPr>
            <a:r>
              <a:rPr lang="en-GB"/>
              <a:t>The obvious way to remove the need for internal whistleblowing is for management to allow greater freedom and openness of communication within the organisation.</a:t>
            </a:r>
            <a:endParaRPr/>
          </a:p>
          <a:p>
            <a:pPr indent="-274320" lvl="0" marL="274320" rtl="0" algn="l">
              <a:lnSpc>
                <a:spcPct val="150000"/>
              </a:lnSpc>
              <a:spcBef>
                <a:spcPts val="481"/>
              </a:spcBef>
              <a:spcAft>
                <a:spcPts val="0"/>
              </a:spcAft>
              <a:buSzPct val="95000"/>
              <a:buChar char="⚫"/>
            </a:pPr>
            <a:r>
              <a:rPr lang="en-GB"/>
              <a:t>External whistleblowing  can  be avoided by the same sorts of intra-organisational modifications.</a:t>
            </a:r>
            <a:endParaRPr/>
          </a:p>
          <a:p>
            <a:pPr indent="-274320" lvl="0" marL="274320" rtl="0" algn="l">
              <a:lnSpc>
                <a:spcPct val="150000"/>
              </a:lnSpc>
              <a:spcBef>
                <a:spcPts val="481"/>
              </a:spcBef>
              <a:spcAft>
                <a:spcPts val="0"/>
              </a:spcAft>
              <a:buSzPct val="95000"/>
              <a:buChar char="⚫"/>
            </a:pPr>
            <a:r>
              <a:rPr lang="en-GB"/>
              <a:t>However, conscientious engineers sometimes find the best solution to be to resign and engage in protest.</a:t>
            </a:r>
            <a:endParaRPr/>
          </a:p>
        </p:txBody>
      </p:sp>
      <p:sp>
        <p:nvSpPr>
          <p:cNvPr id="701" name="Google Shape;701;p8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86"/>
          <p:cNvSpPr txBox="1"/>
          <p:nvPr>
            <p:ph type="title"/>
          </p:nvPr>
        </p:nvSpPr>
        <p:spPr>
          <a:xfrm>
            <a:off x="457200" y="44624"/>
            <a:ext cx="8229600" cy="72008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GB"/>
              <a:t>HONESTY AND INTEGRITY</a:t>
            </a:r>
            <a:endParaRPr/>
          </a:p>
        </p:txBody>
      </p:sp>
      <p:pic>
        <p:nvPicPr>
          <p:cNvPr descr="C:\Users\michael\Downloads\images (1).jpg" id="707" name="Google Shape;707;p86"/>
          <p:cNvPicPr preferRelativeResize="0"/>
          <p:nvPr>
            <p:ph idx="2" type="body"/>
          </p:nvPr>
        </p:nvPicPr>
        <p:blipFill rotWithShape="1">
          <a:blip r:embed="rId3">
            <a:alphaModFix/>
          </a:blip>
          <a:srcRect b="0" l="0" r="0" t="0"/>
          <a:stretch/>
        </p:blipFill>
        <p:spPr>
          <a:xfrm>
            <a:off x="5076056" y="1268760"/>
            <a:ext cx="3600400" cy="5256584"/>
          </a:xfrm>
          <a:prstGeom prst="rect">
            <a:avLst/>
          </a:prstGeom>
          <a:noFill/>
          <a:ln>
            <a:noFill/>
          </a:ln>
        </p:spPr>
      </p:pic>
      <p:pic>
        <p:nvPicPr>
          <p:cNvPr descr="C:\Users\michael\Downloads\images (2).jpg" id="708" name="Google Shape;708;p86"/>
          <p:cNvPicPr preferRelativeResize="0"/>
          <p:nvPr>
            <p:ph idx="1" type="body"/>
          </p:nvPr>
        </p:nvPicPr>
        <p:blipFill rotWithShape="1">
          <a:blip r:embed="rId4">
            <a:alphaModFix/>
          </a:blip>
          <a:srcRect b="0" l="0" r="0" t="0"/>
          <a:stretch/>
        </p:blipFill>
        <p:spPr>
          <a:xfrm>
            <a:off x="467544" y="1268760"/>
            <a:ext cx="4392488" cy="5256584"/>
          </a:xfrm>
          <a:prstGeom prst="rect">
            <a:avLst/>
          </a:prstGeom>
          <a:noFill/>
          <a:ln>
            <a:noFill/>
          </a:ln>
        </p:spPr>
      </p:pic>
      <p:sp>
        <p:nvSpPr>
          <p:cNvPr id="709" name="Google Shape;709;p8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87"/>
          <p:cNvSpPr txBox="1"/>
          <p:nvPr>
            <p:ph type="title"/>
          </p:nvPr>
        </p:nvSpPr>
        <p:spPr>
          <a:xfrm>
            <a:off x="457200" y="188640"/>
            <a:ext cx="8229600" cy="7200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4000"/>
              <a:buFont typeface="Calibri"/>
              <a:buNone/>
            </a:pPr>
            <a:r>
              <a:rPr lang="en-GB" sz="4000"/>
              <a:t>HONESTY AND INTEGRITY</a:t>
            </a:r>
            <a:endParaRPr/>
          </a:p>
        </p:txBody>
      </p:sp>
      <p:sp>
        <p:nvSpPr>
          <p:cNvPr id="715" name="Google Shape;715;p87"/>
          <p:cNvSpPr txBox="1"/>
          <p:nvPr>
            <p:ph idx="1" type="body"/>
          </p:nvPr>
        </p:nvSpPr>
        <p:spPr>
          <a:xfrm>
            <a:off x="395536" y="1052736"/>
            <a:ext cx="8136904" cy="5544616"/>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lnSpc>
                <a:spcPct val="150000"/>
              </a:lnSpc>
              <a:spcBef>
                <a:spcPts val="0"/>
              </a:spcBef>
              <a:spcAft>
                <a:spcPts val="0"/>
              </a:spcAft>
              <a:buSzPct val="95000"/>
              <a:buFont typeface="Noto Sans Symbols"/>
              <a:buChar char="❑"/>
            </a:pPr>
            <a:r>
              <a:rPr lang="en-GB" sz="3200">
                <a:solidFill>
                  <a:srgbClr val="33CCFF"/>
                </a:solidFill>
              </a:rPr>
              <a:t>Truthfulness</a:t>
            </a:r>
            <a:endParaRPr/>
          </a:p>
          <a:p>
            <a:pPr indent="-274320" lvl="0" marL="274320" rtl="0" algn="l">
              <a:lnSpc>
                <a:spcPct val="150000"/>
              </a:lnSpc>
              <a:spcBef>
                <a:spcPts val="481"/>
              </a:spcBef>
              <a:spcAft>
                <a:spcPts val="0"/>
              </a:spcAft>
              <a:buSzPct val="95000"/>
              <a:buChar char="⚫"/>
            </a:pPr>
            <a:r>
              <a:rPr lang="en-GB"/>
              <a:t>The standard of truthfulness in engineering is very high, much higher than in everyday life. </a:t>
            </a:r>
            <a:endParaRPr/>
          </a:p>
          <a:p>
            <a:pPr indent="-274320" lvl="0" marL="274320" rtl="0" algn="l">
              <a:lnSpc>
                <a:spcPct val="150000"/>
              </a:lnSpc>
              <a:spcBef>
                <a:spcPts val="481"/>
              </a:spcBef>
              <a:spcAft>
                <a:spcPts val="0"/>
              </a:spcAft>
              <a:buSzPct val="95000"/>
              <a:buChar char="⚫"/>
            </a:pPr>
            <a:r>
              <a:rPr lang="en-GB"/>
              <a:t>Truthfulness imposes an absolute prohibition on deception, and in addition it establishes a high ideal of seeking and speaking the truth.</a:t>
            </a:r>
            <a:endParaRPr/>
          </a:p>
          <a:p>
            <a:pPr indent="-274320" lvl="0" marL="274320" rtl="0" algn="l">
              <a:lnSpc>
                <a:spcPct val="150000"/>
              </a:lnSpc>
              <a:spcBef>
                <a:spcPts val="481"/>
              </a:spcBef>
              <a:spcAft>
                <a:spcPts val="0"/>
              </a:spcAft>
              <a:buSzPct val="95000"/>
              <a:buChar char="⚫"/>
            </a:pPr>
            <a:r>
              <a:rPr lang="en-GB"/>
              <a:t>Truthfulness also imposes that engineers must be objective and truthful and must not engage in deception.</a:t>
            </a:r>
            <a:endParaRPr/>
          </a:p>
          <a:p>
            <a:pPr indent="-274320" lvl="0" marL="274320" rtl="0" algn="l">
              <a:lnSpc>
                <a:spcPct val="150000"/>
              </a:lnSpc>
              <a:spcBef>
                <a:spcPts val="481"/>
              </a:spcBef>
              <a:spcAft>
                <a:spcPts val="0"/>
              </a:spcAft>
              <a:buSzPct val="95000"/>
              <a:buChar char="⚫"/>
            </a:pPr>
            <a:r>
              <a:rPr lang="en-GB"/>
              <a:t>It is interesting to note that all other engineering codes set forth a statement of the truthfulness rule.</a:t>
            </a:r>
            <a:endParaRPr/>
          </a:p>
          <a:p>
            <a:pPr indent="0" lvl="0" marL="0" rtl="0" algn="l">
              <a:lnSpc>
                <a:spcPct val="150000"/>
              </a:lnSpc>
              <a:spcBef>
                <a:spcPts val="481"/>
              </a:spcBef>
              <a:spcAft>
                <a:spcPts val="0"/>
              </a:spcAft>
              <a:buSzPct val="95000"/>
              <a:buNone/>
            </a:pPr>
            <a:r>
              <a:t/>
            </a:r>
            <a:endParaRPr/>
          </a:p>
        </p:txBody>
      </p:sp>
      <p:sp>
        <p:nvSpPr>
          <p:cNvPr id="716" name="Google Shape;716;p8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88"/>
          <p:cNvSpPr txBox="1"/>
          <p:nvPr>
            <p:ph type="title"/>
          </p:nvPr>
        </p:nvSpPr>
        <p:spPr>
          <a:xfrm>
            <a:off x="457200" y="-27384"/>
            <a:ext cx="8229600" cy="792088"/>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GB" sz="5400"/>
              <a:t>HONESTY AND INTEGRITY</a:t>
            </a:r>
            <a:endParaRPr/>
          </a:p>
        </p:txBody>
      </p:sp>
      <p:sp>
        <p:nvSpPr>
          <p:cNvPr id="722" name="Google Shape;722;p88"/>
          <p:cNvSpPr txBox="1"/>
          <p:nvPr>
            <p:ph idx="1" type="body"/>
          </p:nvPr>
        </p:nvSpPr>
        <p:spPr>
          <a:xfrm>
            <a:off x="251520" y="764704"/>
            <a:ext cx="8424936" cy="6093296"/>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850"/>
              <a:buFont typeface="Noto Sans Symbols"/>
              <a:buChar char="❑"/>
            </a:pPr>
            <a:r>
              <a:rPr lang="en-GB" sz="3000">
                <a:solidFill>
                  <a:srgbClr val="33CCFF"/>
                </a:solidFill>
              </a:rPr>
              <a:t>Trustworthiness</a:t>
            </a:r>
            <a:endParaRPr/>
          </a:p>
          <a:p>
            <a:pPr indent="-274320" lvl="0" marL="274320" rtl="0" algn="l">
              <a:spcBef>
                <a:spcPts val="520"/>
              </a:spcBef>
              <a:spcAft>
                <a:spcPts val="0"/>
              </a:spcAft>
              <a:buSzPts val="2470"/>
              <a:buFont typeface="Arial"/>
              <a:buChar char="•"/>
            </a:pPr>
            <a:r>
              <a:rPr lang="en-GB"/>
              <a:t>Trustworthiness centres on respect for autonomy and on meeting responsibilities about trust.</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Font typeface="Arial"/>
              <a:buChar char="•"/>
            </a:pPr>
            <a:r>
              <a:rPr lang="en-GB"/>
              <a:t>Engineering is based on exercising expertise within trust relationships in order to provide safe and useful products.</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Font typeface="Arial"/>
              <a:buChar char="•"/>
            </a:pPr>
            <a:r>
              <a:rPr lang="en-GB"/>
              <a:t>Untrustworthiness undermine expertise by corrupting professional judgements and communications.</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Font typeface="Arial"/>
              <a:buChar char="•"/>
            </a:pPr>
            <a:r>
              <a:rPr lang="en-GB"/>
              <a:t>Untrustworthiness also undermine  the trust of the public, employers and others who must rely on engineers’ expertise.</a:t>
            </a:r>
            <a:endParaRPr/>
          </a:p>
        </p:txBody>
      </p:sp>
      <p:sp>
        <p:nvSpPr>
          <p:cNvPr id="723" name="Google Shape;723;p8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89"/>
          <p:cNvSpPr txBox="1"/>
          <p:nvPr>
            <p:ph type="title"/>
          </p:nvPr>
        </p:nvSpPr>
        <p:spPr>
          <a:xfrm>
            <a:off x="457200" y="-27384"/>
            <a:ext cx="8229600" cy="792088"/>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4800"/>
              <a:buFont typeface="Calibri"/>
              <a:buNone/>
            </a:pPr>
            <a:r>
              <a:rPr lang="en-GB" sz="4800"/>
              <a:t>HONESTY AND INTEGRITY</a:t>
            </a:r>
            <a:endParaRPr/>
          </a:p>
        </p:txBody>
      </p:sp>
      <p:sp>
        <p:nvSpPr>
          <p:cNvPr id="729" name="Google Shape;729;p89"/>
          <p:cNvSpPr txBox="1"/>
          <p:nvPr>
            <p:ph idx="1" type="body"/>
          </p:nvPr>
        </p:nvSpPr>
        <p:spPr>
          <a:xfrm>
            <a:off x="251520" y="620688"/>
            <a:ext cx="8435280" cy="612068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660"/>
              <a:buFont typeface="Noto Sans Symbols"/>
              <a:buChar char="❑"/>
            </a:pPr>
            <a:r>
              <a:rPr lang="en-GB" sz="2800">
                <a:solidFill>
                  <a:srgbClr val="00B0F0"/>
                </a:solidFill>
              </a:rPr>
              <a:t>Academic Integrity</a:t>
            </a:r>
            <a:endParaRPr/>
          </a:p>
          <a:p>
            <a:pPr indent="-274320" lvl="0" marL="274320" rtl="0" algn="l">
              <a:spcBef>
                <a:spcPts val="520"/>
              </a:spcBef>
              <a:spcAft>
                <a:spcPts val="0"/>
              </a:spcAft>
              <a:buSzPts val="2470"/>
              <a:buFont typeface="Arial"/>
              <a:buChar char="•"/>
            </a:pPr>
            <a:r>
              <a:rPr lang="en-GB"/>
              <a:t>Academic dishonesty includes dishonesty among students, faculty and other members of academic institutions.</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Font typeface="Arial"/>
              <a:buChar char="•"/>
            </a:pPr>
            <a:r>
              <a:rPr lang="en-GB"/>
              <a:t>Study has revealed that among schools lacking a strong honour code, three out of four students admitted to have engaged in academic dishonesty at least once during  their college career.</a:t>
            </a:r>
            <a:endParaRPr/>
          </a:p>
          <a:p>
            <a:pPr indent="-117475" lvl="0" marL="274320" rtl="0" algn="l">
              <a:spcBef>
                <a:spcPts val="520"/>
              </a:spcBef>
              <a:spcAft>
                <a:spcPts val="0"/>
              </a:spcAft>
              <a:buSzPts val="2470"/>
              <a:buFont typeface="Arial"/>
              <a:buNone/>
            </a:pPr>
            <a:r>
              <a:t/>
            </a:r>
            <a:endParaRPr/>
          </a:p>
          <a:p>
            <a:pPr indent="-274320" lvl="0" marL="274320" rtl="0" algn="l">
              <a:spcBef>
                <a:spcPts val="520"/>
              </a:spcBef>
              <a:spcAft>
                <a:spcPts val="0"/>
              </a:spcAft>
              <a:buSzPts val="2470"/>
              <a:buFont typeface="Arial"/>
              <a:buChar char="•"/>
            </a:pPr>
            <a:r>
              <a:rPr lang="en-GB"/>
              <a:t>Among the school with honour code, one in two made the same admission.</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Font typeface="Arial"/>
              <a:buChar char="•"/>
            </a:pPr>
            <a:r>
              <a:rPr lang="en-GB"/>
              <a:t>Academic dishonesty  among students takes several forms.</a:t>
            </a:r>
            <a:endParaRPr/>
          </a:p>
        </p:txBody>
      </p:sp>
      <p:sp>
        <p:nvSpPr>
          <p:cNvPr id="730" name="Google Shape;730;p8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90"/>
          <p:cNvSpPr txBox="1"/>
          <p:nvPr>
            <p:ph type="title"/>
          </p:nvPr>
        </p:nvSpPr>
        <p:spPr>
          <a:xfrm>
            <a:off x="457200" y="44624"/>
            <a:ext cx="8229600" cy="72008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GB" sz="4800"/>
              <a:t>HONESTY AND INTEGRITY</a:t>
            </a:r>
            <a:endParaRPr/>
          </a:p>
        </p:txBody>
      </p:sp>
      <p:sp>
        <p:nvSpPr>
          <p:cNvPr id="736" name="Google Shape;736;p90"/>
          <p:cNvSpPr txBox="1"/>
          <p:nvPr>
            <p:ph idx="1" type="body"/>
          </p:nvPr>
        </p:nvSpPr>
        <p:spPr>
          <a:xfrm>
            <a:off x="323528" y="836712"/>
            <a:ext cx="8496944" cy="5904656"/>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95000"/>
              <a:buFont typeface="Noto Sans Symbols"/>
              <a:buChar char="❑"/>
            </a:pPr>
            <a:r>
              <a:rPr lang="en-GB" sz="3000">
                <a:solidFill>
                  <a:srgbClr val="00B0F0"/>
                </a:solidFill>
              </a:rPr>
              <a:t>Some forms of academic dishonesty includes</a:t>
            </a:r>
            <a:r>
              <a:rPr lang="en-GB"/>
              <a:t>:</a:t>
            </a:r>
            <a:endParaRPr/>
          </a:p>
          <a:p>
            <a:pPr indent="-274320" lvl="0" marL="274320" rtl="0" algn="l">
              <a:spcBef>
                <a:spcPts val="481"/>
              </a:spcBef>
              <a:spcAft>
                <a:spcPts val="0"/>
              </a:spcAft>
              <a:buSzPct val="95000"/>
              <a:buFont typeface="Arial"/>
              <a:buChar char="•"/>
            </a:pPr>
            <a:r>
              <a:rPr lang="en-GB">
                <a:solidFill>
                  <a:srgbClr val="C00000"/>
                </a:solidFill>
              </a:rPr>
              <a:t>Cheating</a:t>
            </a:r>
            <a:r>
              <a:rPr lang="en-GB"/>
              <a:t>: intentionally violating the rules of fair play in any academic exercise for example, by using crib notes or copying from another student during a test.</a:t>
            </a:r>
            <a:endParaRPr/>
          </a:p>
          <a:p>
            <a:pPr indent="0" lvl="0" marL="0" rtl="0" algn="l">
              <a:spcBef>
                <a:spcPts val="481"/>
              </a:spcBef>
              <a:spcAft>
                <a:spcPts val="0"/>
              </a:spcAft>
              <a:buSzPct val="95000"/>
              <a:buNone/>
            </a:pPr>
            <a:r>
              <a:t/>
            </a:r>
            <a:endParaRPr/>
          </a:p>
          <a:p>
            <a:pPr indent="-274320" lvl="0" marL="274320" rtl="0" algn="l">
              <a:spcBef>
                <a:spcPts val="481"/>
              </a:spcBef>
              <a:spcAft>
                <a:spcPts val="0"/>
              </a:spcAft>
              <a:buSzPct val="95000"/>
              <a:buFont typeface="Arial"/>
              <a:buChar char="•"/>
            </a:pPr>
            <a:r>
              <a:rPr lang="en-GB">
                <a:solidFill>
                  <a:srgbClr val="C00000"/>
                </a:solidFill>
              </a:rPr>
              <a:t>Fabrication</a:t>
            </a:r>
            <a:r>
              <a:rPr lang="en-GB"/>
              <a:t>: intentionally falsifying or inventing information, for example, faking results of an experiment.</a:t>
            </a:r>
            <a:endParaRPr/>
          </a:p>
          <a:p>
            <a:pPr indent="0" lvl="0" marL="0" rtl="0" algn="l">
              <a:spcBef>
                <a:spcPts val="481"/>
              </a:spcBef>
              <a:spcAft>
                <a:spcPts val="0"/>
              </a:spcAft>
              <a:buSzPct val="95000"/>
              <a:buNone/>
            </a:pPr>
            <a:r>
              <a:t/>
            </a:r>
            <a:endParaRPr/>
          </a:p>
          <a:p>
            <a:pPr indent="-274320" lvl="0" marL="274320" rtl="0" algn="l">
              <a:spcBef>
                <a:spcPts val="481"/>
              </a:spcBef>
              <a:spcAft>
                <a:spcPts val="0"/>
              </a:spcAft>
              <a:buSzPct val="95000"/>
              <a:buFont typeface="Arial"/>
              <a:buChar char="•"/>
            </a:pPr>
            <a:r>
              <a:rPr lang="en-GB">
                <a:solidFill>
                  <a:srgbClr val="C00000"/>
                </a:solidFill>
              </a:rPr>
              <a:t>Plagiarism</a:t>
            </a:r>
            <a:r>
              <a:rPr lang="en-GB"/>
              <a:t>: intentionally or negligently submitting others’ work as one’s own , for example, by quoting the words of others without using quotation marks and citing source.</a:t>
            </a:r>
            <a:endParaRPr/>
          </a:p>
          <a:p>
            <a:pPr indent="0" lvl="0" marL="0" rtl="0" algn="l">
              <a:spcBef>
                <a:spcPts val="481"/>
              </a:spcBef>
              <a:spcAft>
                <a:spcPts val="0"/>
              </a:spcAft>
              <a:buSzPct val="95000"/>
              <a:buNone/>
            </a:pPr>
            <a:r>
              <a:t/>
            </a:r>
            <a:endParaRPr/>
          </a:p>
          <a:p>
            <a:pPr indent="-274320" lvl="0" marL="274320" rtl="0" algn="l">
              <a:spcBef>
                <a:spcPts val="481"/>
              </a:spcBef>
              <a:spcAft>
                <a:spcPts val="0"/>
              </a:spcAft>
              <a:buSzPct val="95000"/>
              <a:buFont typeface="Arial"/>
              <a:buChar char="•"/>
            </a:pPr>
            <a:r>
              <a:rPr lang="en-GB">
                <a:solidFill>
                  <a:srgbClr val="C00000"/>
                </a:solidFill>
              </a:rPr>
              <a:t>Facilitating academic dishonesty</a:t>
            </a:r>
            <a:r>
              <a:rPr lang="en-GB"/>
              <a:t>: intentionally helping other students to engage in academic dishonesty, for example, by loaning them your work.</a:t>
            </a:r>
            <a:endParaRPr/>
          </a:p>
        </p:txBody>
      </p:sp>
      <p:sp>
        <p:nvSpPr>
          <p:cNvPr id="737" name="Google Shape;737;p9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91"/>
          <p:cNvSpPr txBox="1"/>
          <p:nvPr>
            <p:ph type="title"/>
          </p:nvPr>
        </p:nvSpPr>
        <p:spPr>
          <a:xfrm>
            <a:off x="457200" y="260648"/>
            <a:ext cx="8229600" cy="792088"/>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GB" sz="5400"/>
              <a:t>HONESTY AND INTEGRITY</a:t>
            </a:r>
            <a:endParaRPr/>
          </a:p>
        </p:txBody>
      </p:sp>
      <p:sp>
        <p:nvSpPr>
          <p:cNvPr id="743" name="Google Shape;743;p91"/>
          <p:cNvSpPr txBox="1"/>
          <p:nvPr>
            <p:ph idx="1" type="body"/>
          </p:nvPr>
        </p:nvSpPr>
        <p:spPr>
          <a:xfrm>
            <a:off x="457200" y="980728"/>
            <a:ext cx="8229600" cy="576064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Font typeface="Arial"/>
              <a:buChar char="•"/>
            </a:pPr>
            <a:r>
              <a:rPr lang="en-GB">
                <a:solidFill>
                  <a:srgbClr val="C00000"/>
                </a:solidFill>
              </a:rPr>
              <a:t>Misrepresentation</a:t>
            </a:r>
            <a:r>
              <a:rPr lang="en-GB"/>
              <a:t>: intentionally giving false information to an instructor, for example, lying about why one missed a test.</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Font typeface="Arial"/>
              <a:buChar char="•"/>
            </a:pPr>
            <a:r>
              <a:rPr lang="en-GB">
                <a:solidFill>
                  <a:srgbClr val="C00000"/>
                </a:solidFill>
              </a:rPr>
              <a:t>Failure to contribute to a collaborative project</a:t>
            </a:r>
            <a:r>
              <a:rPr lang="en-GB"/>
              <a:t>: failing to do one’s fair share on a joint project.</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Font typeface="Arial"/>
              <a:buChar char="•"/>
            </a:pPr>
            <a:r>
              <a:rPr lang="en-GB">
                <a:solidFill>
                  <a:srgbClr val="C00000"/>
                </a:solidFill>
              </a:rPr>
              <a:t>Sabotage</a:t>
            </a:r>
            <a:r>
              <a:rPr lang="en-GB"/>
              <a:t>: intentionally preventing others from doing their work, for example, by disrupting lab experiment.</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Font typeface="Arial"/>
              <a:buChar char="•"/>
            </a:pPr>
            <a:r>
              <a:rPr lang="en-GB">
                <a:solidFill>
                  <a:srgbClr val="C00000"/>
                </a:solidFill>
              </a:rPr>
              <a:t>Theft</a:t>
            </a:r>
            <a:r>
              <a:rPr lang="en-GB"/>
              <a:t>: stealing, for example, stealing library books or other students’ property.</a:t>
            </a:r>
            <a:endParaRPr/>
          </a:p>
        </p:txBody>
      </p:sp>
      <p:sp>
        <p:nvSpPr>
          <p:cNvPr id="744" name="Google Shape;744;p9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92"/>
          <p:cNvSpPr txBox="1"/>
          <p:nvPr>
            <p:ph type="title"/>
          </p:nvPr>
        </p:nvSpPr>
        <p:spPr>
          <a:xfrm>
            <a:off x="457200" y="44624"/>
            <a:ext cx="8229600" cy="926976"/>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4800"/>
              <a:buFont typeface="Calibri"/>
              <a:buNone/>
            </a:pPr>
            <a:r>
              <a:rPr lang="en-GB" sz="4800"/>
              <a:t>HONESTY AND INTEGRITY</a:t>
            </a:r>
            <a:endParaRPr/>
          </a:p>
        </p:txBody>
      </p:sp>
      <p:sp>
        <p:nvSpPr>
          <p:cNvPr id="750" name="Google Shape;750;p92"/>
          <p:cNvSpPr txBox="1"/>
          <p:nvPr>
            <p:ph idx="1" type="body"/>
          </p:nvPr>
        </p:nvSpPr>
        <p:spPr>
          <a:xfrm>
            <a:off x="457200" y="1181472"/>
            <a:ext cx="8229600" cy="541588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Font typeface="Noto Sans Symbols"/>
              <a:buChar char="❑"/>
            </a:pPr>
            <a:r>
              <a:rPr lang="en-GB">
                <a:solidFill>
                  <a:srgbClr val="00B0F0"/>
                </a:solidFill>
              </a:rPr>
              <a:t>Research Integrity</a:t>
            </a:r>
            <a:endParaRPr/>
          </a:p>
          <a:p>
            <a:pPr indent="0" lvl="0" marL="0" rtl="0" algn="l">
              <a:spcBef>
                <a:spcPts val="520"/>
              </a:spcBef>
              <a:spcAft>
                <a:spcPts val="0"/>
              </a:spcAft>
              <a:buSzPts val="2470"/>
              <a:buNone/>
            </a:pPr>
            <a:r>
              <a:rPr lang="en-GB"/>
              <a:t>Research in engineering requires moral ethics, however the exact moral requirements vary somewhat according to the application guidelines and regulations, but the truthfulness responsibility applies in all settings.</a:t>
            </a:r>
            <a:endParaRPr/>
          </a:p>
          <a:p>
            <a:pPr indent="0" lvl="0" marL="0" rtl="0" algn="l">
              <a:spcBef>
                <a:spcPts val="520"/>
              </a:spcBef>
              <a:spcAft>
                <a:spcPts val="0"/>
              </a:spcAft>
              <a:buSzPts val="2470"/>
              <a:buNone/>
            </a:pPr>
            <a:r>
              <a:rPr lang="en-GB"/>
              <a:t>Research ethics has many facet which may cover:</a:t>
            </a:r>
            <a:endParaRPr/>
          </a:p>
          <a:p>
            <a:pPr indent="-274320" lvl="0" marL="274320" rtl="0" algn="l">
              <a:spcBef>
                <a:spcPts val="520"/>
              </a:spcBef>
              <a:spcAft>
                <a:spcPts val="0"/>
              </a:spcAft>
              <a:buSzPts val="2470"/>
              <a:buFont typeface="Arial"/>
              <a:buChar char="•"/>
            </a:pPr>
            <a:r>
              <a:rPr lang="en-GB"/>
              <a:t>Research integrity and misconduct </a:t>
            </a:r>
            <a:endParaRPr/>
          </a:p>
          <a:p>
            <a:pPr indent="-274320" lvl="0" marL="274320" rtl="0" algn="l">
              <a:spcBef>
                <a:spcPts val="520"/>
              </a:spcBef>
              <a:spcAft>
                <a:spcPts val="0"/>
              </a:spcAft>
              <a:buSzPts val="2470"/>
              <a:buFont typeface="Arial"/>
              <a:buChar char="•"/>
            </a:pPr>
            <a:r>
              <a:rPr lang="en-GB"/>
              <a:t>Conducting and reporting experiments </a:t>
            </a:r>
            <a:endParaRPr/>
          </a:p>
          <a:p>
            <a:pPr indent="-274320" lvl="0" marL="274320" rtl="0" algn="l">
              <a:spcBef>
                <a:spcPts val="520"/>
              </a:spcBef>
              <a:spcAft>
                <a:spcPts val="0"/>
              </a:spcAft>
              <a:buSzPts val="2470"/>
              <a:buFont typeface="Arial"/>
              <a:buChar char="•"/>
            </a:pPr>
            <a:r>
              <a:rPr lang="en-GB"/>
              <a:t>Protecting research subjects</a:t>
            </a:r>
            <a:endParaRPr/>
          </a:p>
          <a:p>
            <a:pPr indent="-274320" lvl="0" marL="274320" rtl="0" algn="l">
              <a:spcBef>
                <a:spcPts val="520"/>
              </a:spcBef>
              <a:spcAft>
                <a:spcPts val="0"/>
              </a:spcAft>
              <a:buSzPts val="2470"/>
              <a:buFont typeface="Arial"/>
              <a:buChar char="•"/>
            </a:pPr>
            <a:r>
              <a:rPr lang="en-GB"/>
              <a:t>Giving and claiming credit </a:t>
            </a:r>
            <a:endParaRPr/>
          </a:p>
          <a:p>
            <a:pPr indent="-274320" lvl="0" marL="274320" rtl="0" algn="l">
              <a:spcBef>
                <a:spcPts val="520"/>
              </a:spcBef>
              <a:spcAft>
                <a:spcPts val="0"/>
              </a:spcAft>
              <a:buSzPts val="2470"/>
              <a:buFont typeface="Arial"/>
              <a:buChar char="•"/>
            </a:pPr>
            <a:r>
              <a:rPr lang="en-GB"/>
              <a:t>Reporting misconduct.</a:t>
            </a:r>
            <a:endParaRPr/>
          </a:p>
        </p:txBody>
      </p:sp>
      <p:sp>
        <p:nvSpPr>
          <p:cNvPr id="751" name="Google Shape;751;p9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93"/>
          <p:cNvSpPr txBox="1"/>
          <p:nvPr>
            <p:ph type="title"/>
          </p:nvPr>
        </p:nvSpPr>
        <p:spPr>
          <a:xfrm>
            <a:off x="457200" y="-171400"/>
            <a:ext cx="8229600" cy="854968"/>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4400"/>
              <a:buFont typeface="Calibri"/>
              <a:buNone/>
            </a:pPr>
            <a:r>
              <a:rPr lang="en-GB" sz="4400"/>
              <a:t>HONESTY AND INTEGRITY</a:t>
            </a:r>
            <a:endParaRPr/>
          </a:p>
        </p:txBody>
      </p:sp>
      <p:sp>
        <p:nvSpPr>
          <p:cNvPr id="757" name="Google Shape;757;p93"/>
          <p:cNvSpPr txBox="1"/>
          <p:nvPr>
            <p:ph idx="1" type="body"/>
          </p:nvPr>
        </p:nvSpPr>
        <p:spPr>
          <a:xfrm>
            <a:off x="395536" y="620688"/>
            <a:ext cx="8291264" cy="612068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660"/>
              <a:buFont typeface="Noto Sans Symbols"/>
              <a:buChar char="❑"/>
            </a:pPr>
            <a:r>
              <a:rPr lang="en-GB" sz="2800">
                <a:solidFill>
                  <a:srgbClr val="00B0F0"/>
                </a:solidFill>
              </a:rPr>
              <a:t>Giving and Claiming Credit</a:t>
            </a:r>
            <a:endParaRPr sz="2800">
              <a:solidFill>
                <a:srgbClr val="00B0F0"/>
              </a:solidFill>
            </a:endParaRPr>
          </a:p>
          <a:p>
            <a:pPr indent="0" lvl="0" marL="0" rtl="0" algn="l">
              <a:spcBef>
                <a:spcPts val="520"/>
              </a:spcBef>
              <a:spcAft>
                <a:spcPts val="0"/>
              </a:spcAft>
              <a:buSzPts val="2470"/>
              <a:buNone/>
            </a:pPr>
            <a:r>
              <a:rPr lang="en-GB"/>
              <a:t>Researchers often compete for professional recognition because it involve winning jobs, promotions and income, however outright fraud of the following types also occur:</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GB"/>
              <a:t>Plagiarism (claiming credit for someone else’s ideas or work without acknowledging it, in contexts where one is morally required to acknowledge it).</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GB"/>
              <a:t>Misrepresenting credentials (researchers forge credentials, creating widely publicised  scandals).</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GB"/>
              <a:t>Misleading listing of authorship (it is unethical to omit a co-author who makes a significant contribution to a research).</a:t>
            </a:r>
            <a:endParaRPr/>
          </a:p>
        </p:txBody>
      </p:sp>
      <p:sp>
        <p:nvSpPr>
          <p:cNvPr id="758" name="Google Shape;758;p9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94"/>
          <p:cNvSpPr txBox="1"/>
          <p:nvPr>
            <p:ph type="title"/>
          </p:nvPr>
        </p:nvSpPr>
        <p:spPr>
          <a:xfrm>
            <a:off x="457200" y="44624"/>
            <a:ext cx="8229600" cy="72008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GB" sz="5400"/>
              <a:t>HONESTY AND INTEGRITY</a:t>
            </a:r>
            <a:endParaRPr/>
          </a:p>
        </p:txBody>
      </p:sp>
      <p:sp>
        <p:nvSpPr>
          <p:cNvPr id="764" name="Google Shape;764;p94"/>
          <p:cNvSpPr txBox="1"/>
          <p:nvPr>
            <p:ph idx="1" type="body"/>
          </p:nvPr>
        </p:nvSpPr>
        <p:spPr>
          <a:xfrm>
            <a:off x="251520" y="620688"/>
            <a:ext cx="8435280" cy="604867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Font typeface="Noto Sans Symbols"/>
              <a:buChar char="❑"/>
            </a:pPr>
            <a:r>
              <a:rPr lang="en-GB" sz="2800">
                <a:solidFill>
                  <a:srgbClr val="33CCFF"/>
                </a:solidFill>
              </a:rPr>
              <a:t>Reporting Misconduct</a:t>
            </a:r>
            <a:endParaRPr/>
          </a:p>
          <a:p>
            <a:pPr indent="0" lvl="0" marL="0" rtl="0" algn="l">
              <a:spcBef>
                <a:spcPts val="520"/>
              </a:spcBef>
              <a:spcAft>
                <a:spcPts val="0"/>
              </a:spcAft>
              <a:buSzPts val="2470"/>
              <a:buNone/>
            </a:pPr>
            <a:r>
              <a:rPr lang="en-GB"/>
              <a:t>Researchers have a responsibility to report misconduct by other researchers when the misconduct is serious and when they are in a position to document it. </a:t>
            </a:r>
            <a:endParaRPr/>
          </a:p>
          <a:p>
            <a:pPr indent="0" lvl="0" marL="0" rtl="0" algn="l">
              <a:spcBef>
                <a:spcPts val="520"/>
              </a:spcBef>
              <a:spcAft>
                <a:spcPts val="0"/>
              </a:spcAft>
              <a:buSzPts val="2470"/>
              <a:buNone/>
            </a:pPr>
            <a:r>
              <a:rPr lang="en-GB"/>
              <a:t>Yet typically there are strong pressures from supervisors, colleagues, and others not to report misconduct, and hence most instances fall into the category of whistleblowing.</a:t>
            </a:r>
            <a:endParaRPr/>
          </a:p>
          <a:p>
            <a:pPr indent="0" lvl="0" marL="0" rtl="0" algn="l">
              <a:spcBef>
                <a:spcPts val="520"/>
              </a:spcBef>
              <a:spcAft>
                <a:spcPts val="0"/>
              </a:spcAft>
              <a:buSzPts val="2470"/>
              <a:buNone/>
            </a:pPr>
            <a:r>
              <a:rPr lang="en-GB"/>
              <a:t>Measures to protect individuals who responsibly report research misconduct must be implemented and intensified.</a:t>
            </a:r>
            <a:endParaRPr/>
          </a:p>
          <a:p>
            <a:pPr indent="0" lvl="0" marL="0" rtl="0" algn="l">
              <a:spcBef>
                <a:spcPts val="520"/>
              </a:spcBef>
              <a:spcAft>
                <a:spcPts val="0"/>
              </a:spcAft>
              <a:buSzPts val="2470"/>
              <a:buNone/>
            </a:pPr>
            <a:r>
              <a:rPr lang="en-GB"/>
              <a:t>More needs to be done to curb the stigma of “turning in” a colleague.</a:t>
            </a:r>
            <a:endParaRPr/>
          </a:p>
        </p:txBody>
      </p:sp>
      <p:sp>
        <p:nvSpPr>
          <p:cNvPr id="765" name="Google Shape;765;p9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95"/>
          <p:cNvSpPr txBox="1"/>
          <p:nvPr>
            <p:ph type="title"/>
          </p:nvPr>
        </p:nvSpPr>
        <p:spPr>
          <a:xfrm>
            <a:off x="457200" y="-27384"/>
            <a:ext cx="8229600" cy="71095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GB" sz="4800"/>
              <a:t>HONESTY AND INTEGRITY</a:t>
            </a:r>
            <a:endParaRPr/>
          </a:p>
        </p:txBody>
      </p:sp>
      <p:sp>
        <p:nvSpPr>
          <p:cNvPr id="771" name="Google Shape;771;p95"/>
          <p:cNvSpPr txBox="1"/>
          <p:nvPr>
            <p:ph idx="1" type="body"/>
          </p:nvPr>
        </p:nvSpPr>
        <p:spPr>
          <a:xfrm>
            <a:off x="251520" y="620688"/>
            <a:ext cx="8640960" cy="6048672"/>
          </a:xfrm>
          <a:prstGeom prst="rect">
            <a:avLst/>
          </a:prstGeom>
          <a:noFill/>
          <a:ln>
            <a:noFill/>
          </a:ln>
        </p:spPr>
        <p:txBody>
          <a:bodyPr anchorCtr="0" anchor="t" bIns="45700" lIns="91425" spcFirstLastPara="1" rIns="91425" wrap="square" tIns="45700">
            <a:normAutofit fontScale="62500" lnSpcReduction="20000"/>
          </a:bodyPr>
          <a:lstStyle/>
          <a:p>
            <a:pPr indent="-274350" lvl="0" marL="274320" rtl="0" algn="l">
              <a:spcBef>
                <a:spcPts val="0"/>
              </a:spcBef>
              <a:spcAft>
                <a:spcPts val="0"/>
              </a:spcAft>
              <a:buSzPct val="95000"/>
              <a:buFont typeface="Noto Sans Symbols"/>
              <a:buChar char="❑"/>
            </a:pPr>
            <a:r>
              <a:rPr lang="en-GB" sz="5100">
                <a:solidFill>
                  <a:srgbClr val="33CCFF"/>
                </a:solidFill>
              </a:rPr>
              <a:t>Consulting Engineers</a:t>
            </a:r>
            <a:endParaRPr/>
          </a:p>
          <a:p>
            <a:pPr indent="0" lvl="0" marL="0" rtl="0" algn="just">
              <a:lnSpc>
                <a:spcPct val="160000"/>
              </a:lnSpc>
              <a:spcBef>
                <a:spcPts val="425"/>
              </a:spcBef>
              <a:spcAft>
                <a:spcPts val="0"/>
              </a:spcAft>
              <a:buSzPct val="95000"/>
              <a:buNone/>
            </a:pPr>
            <a:r>
              <a:rPr lang="en-GB" sz="3400"/>
              <a:t>Consulting engineers are engineers  who work in private practice. They are compensated by fees for the services they render, not by salaries received from employers. </a:t>
            </a:r>
            <a:endParaRPr/>
          </a:p>
          <a:p>
            <a:pPr indent="0" lvl="0" marL="0" rtl="0" algn="just">
              <a:lnSpc>
                <a:spcPct val="160000"/>
              </a:lnSpc>
              <a:spcBef>
                <a:spcPts val="425"/>
              </a:spcBef>
              <a:spcAft>
                <a:spcPts val="0"/>
              </a:spcAft>
              <a:buSzPct val="95000"/>
              <a:buNone/>
            </a:pPr>
            <a:r>
              <a:rPr lang="en-GB" sz="3400"/>
              <a:t>Because of this they tend to have greater freedom to make decisions about projects they undertake.</a:t>
            </a:r>
            <a:endParaRPr/>
          </a:p>
          <a:p>
            <a:pPr indent="0" lvl="0" marL="0" rtl="0" algn="just">
              <a:lnSpc>
                <a:spcPct val="160000"/>
              </a:lnSpc>
              <a:spcBef>
                <a:spcPts val="425"/>
              </a:spcBef>
              <a:spcAft>
                <a:spcPts val="0"/>
              </a:spcAft>
              <a:buSzPct val="95000"/>
              <a:buNone/>
            </a:pPr>
            <a:r>
              <a:rPr lang="en-GB" sz="3400"/>
              <a:t>Yet their freedom is not absolute; they share in a same light with salaried engineers the need to earn a living.</a:t>
            </a:r>
            <a:endParaRPr/>
          </a:p>
          <a:p>
            <a:pPr indent="0" lvl="0" marL="0" rtl="0" algn="just">
              <a:lnSpc>
                <a:spcPct val="160000"/>
              </a:lnSpc>
              <a:spcBef>
                <a:spcPts val="425"/>
              </a:spcBef>
              <a:spcAft>
                <a:spcPts val="0"/>
              </a:spcAft>
              <a:buSzPct val="95000"/>
              <a:buNone/>
            </a:pPr>
            <a:r>
              <a:rPr lang="en-GB" sz="3400"/>
              <a:t>Consulting engineers have honest roles to play in:</a:t>
            </a:r>
            <a:endParaRPr/>
          </a:p>
          <a:p>
            <a:pPr indent="-274320" lvl="0" marL="274320" rtl="0" algn="just">
              <a:lnSpc>
                <a:spcPct val="160000"/>
              </a:lnSpc>
              <a:spcBef>
                <a:spcPts val="425"/>
              </a:spcBef>
              <a:spcAft>
                <a:spcPts val="0"/>
              </a:spcAft>
              <a:buSzPct val="95000"/>
              <a:buChar char="⚫"/>
            </a:pPr>
            <a:r>
              <a:rPr lang="en-GB" sz="3400"/>
              <a:t>Advertising</a:t>
            </a:r>
            <a:endParaRPr/>
          </a:p>
          <a:p>
            <a:pPr indent="-274320" lvl="0" marL="274320" rtl="0" algn="just">
              <a:lnSpc>
                <a:spcPct val="160000"/>
              </a:lnSpc>
              <a:spcBef>
                <a:spcPts val="425"/>
              </a:spcBef>
              <a:spcAft>
                <a:spcPts val="0"/>
              </a:spcAft>
              <a:buSzPct val="95000"/>
              <a:buChar char="⚫"/>
            </a:pPr>
            <a:r>
              <a:rPr lang="en-GB" sz="3400"/>
              <a:t>Competitive bidding</a:t>
            </a:r>
            <a:endParaRPr/>
          </a:p>
          <a:p>
            <a:pPr indent="-274320" lvl="0" marL="274320" rtl="0" algn="just">
              <a:lnSpc>
                <a:spcPct val="160000"/>
              </a:lnSpc>
              <a:spcBef>
                <a:spcPts val="425"/>
              </a:spcBef>
              <a:spcAft>
                <a:spcPts val="0"/>
              </a:spcAft>
              <a:buSzPct val="95000"/>
              <a:buChar char="⚫"/>
            </a:pPr>
            <a:r>
              <a:rPr lang="en-GB" sz="3400"/>
              <a:t>Contingency fees</a:t>
            </a:r>
            <a:endParaRPr sz="3400"/>
          </a:p>
        </p:txBody>
      </p:sp>
      <p:sp>
        <p:nvSpPr>
          <p:cNvPr id="772" name="Google Shape;772;p9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96"/>
          <p:cNvSpPr txBox="1"/>
          <p:nvPr>
            <p:ph type="title"/>
          </p:nvPr>
        </p:nvSpPr>
        <p:spPr>
          <a:xfrm>
            <a:off x="457200" y="0"/>
            <a:ext cx="8229600" cy="61156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GB" sz="4400"/>
              <a:t>HONESTY AND INTEGRITY</a:t>
            </a:r>
            <a:endParaRPr/>
          </a:p>
        </p:txBody>
      </p:sp>
      <p:sp>
        <p:nvSpPr>
          <p:cNvPr id="778" name="Google Shape;778;p96"/>
          <p:cNvSpPr txBox="1"/>
          <p:nvPr>
            <p:ph idx="1" type="body"/>
          </p:nvPr>
        </p:nvSpPr>
        <p:spPr>
          <a:xfrm>
            <a:off x="251520" y="620688"/>
            <a:ext cx="8568952" cy="6237312"/>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660"/>
              <a:buFont typeface="Noto Sans Symbols"/>
              <a:buChar char="❑"/>
            </a:pPr>
            <a:r>
              <a:rPr lang="en-GB" sz="2800">
                <a:solidFill>
                  <a:srgbClr val="33CCFF"/>
                </a:solidFill>
              </a:rPr>
              <a:t>Advertising</a:t>
            </a:r>
            <a:endParaRPr/>
          </a:p>
          <a:p>
            <a:pPr indent="0" lvl="0" marL="0" rtl="0" algn="l">
              <a:spcBef>
                <a:spcPts val="520"/>
              </a:spcBef>
              <a:spcAft>
                <a:spcPts val="0"/>
              </a:spcAft>
              <a:buSzPts val="2470"/>
              <a:buNone/>
            </a:pPr>
            <a:r>
              <a:rPr lang="en-GB"/>
              <a:t>Corporate engineers are involved in advertising because they work in product sales divisions. </a:t>
            </a:r>
            <a:endParaRPr/>
          </a:p>
          <a:p>
            <a:pPr indent="0" lvl="0" marL="0" rtl="0" algn="l">
              <a:spcBef>
                <a:spcPts val="520"/>
              </a:spcBef>
              <a:spcAft>
                <a:spcPts val="0"/>
              </a:spcAft>
              <a:buSzPts val="2470"/>
              <a:buNone/>
            </a:pPr>
            <a:r>
              <a:rPr lang="en-GB"/>
              <a:t>Consulting engineers are directly responsible for advertising their services, even when they hire consultants to help them.</a:t>
            </a:r>
            <a:endParaRPr/>
          </a:p>
          <a:p>
            <a:pPr indent="0" lvl="0" marL="0" rtl="0" algn="l">
              <a:spcBef>
                <a:spcPts val="520"/>
              </a:spcBef>
              <a:spcAft>
                <a:spcPts val="0"/>
              </a:spcAft>
              <a:buSzPts val="2470"/>
              <a:buNone/>
            </a:pPr>
            <a:r>
              <a:rPr lang="en-GB"/>
              <a:t>It is difficult to determine whether specific ads are deceptive or not, however it is clearly deceptive for a consulting firm to claim in a brochure that it played a major role in a well-known project when it actually played a minor role.</a:t>
            </a:r>
            <a:endParaRPr/>
          </a:p>
          <a:p>
            <a:pPr indent="0" lvl="0" marL="0" rtl="0" algn="l">
              <a:spcBef>
                <a:spcPts val="520"/>
              </a:spcBef>
              <a:spcAft>
                <a:spcPts val="0"/>
              </a:spcAft>
              <a:buSzPts val="2470"/>
              <a:buNone/>
            </a:pPr>
            <a:r>
              <a:rPr lang="en-GB"/>
              <a:t>Consumer products advertisers, are generally allowed to suppress negative aspects of the items they are promoting  and to engage in some degree of exaggeration of the positive aspects.</a:t>
            </a:r>
            <a:endParaRPr/>
          </a:p>
        </p:txBody>
      </p:sp>
      <p:sp>
        <p:nvSpPr>
          <p:cNvPr id="779" name="Google Shape;779;p9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97"/>
          <p:cNvSpPr txBox="1"/>
          <p:nvPr>
            <p:ph type="title"/>
          </p:nvPr>
        </p:nvSpPr>
        <p:spPr>
          <a:xfrm>
            <a:off x="457200" y="116632"/>
            <a:ext cx="8229600" cy="1008112"/>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4400"/>
              <a:buFont typeface="Calibri"/>
              <a:buNone/>
            </a:pPr>
            <a:r>
              <a:rPr lang="en-GB" sz="4400"/>
              <a:t>HONESTY AND INTEGRITY</a:t>
            </a:r>
            <a:endParaRPr/>
          </a:p>
        </p:txBody>
      </p:sp>
      <p:sp>
        <p:nvSpPr>
          <p:cNvPr id="785" name="Google Shape;785;p97"/>
          <p:cNvSpPr txBox="1"/>
          <p:nvPr>
            <p:ph idx="1" type="body"/>
          </p:nvPr>
        </p:nvSpPr>
        <p:spPr>
          <a:xfrm>
            <a:off x="457200" y="1340768"/>
            <a:ext cx="8229600" cy="4896544"/>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50000"/>
              </a:lnSpc>
              <a:spcBef>
                <a:spcPts val="0"/>
              </a:spcBef>
              <a:spcAft>
                <a:spcPts val="0"/>
              </a:spcAft>
              <a:buSzPts val="2660"/>
              <a:buFont typeface="Noto Sans Symbols"/>
              <a:buChar char="❑"/>
            </a:pPr>
            <a:r>
              <a:rPr lang="en-GB" sz="2800">
                <a:solidFill>
                  <a:srgbClr val="33CCFF"/>
                </a:solidFill>
              </a:rPr>
              <a:t>Competitive Bidding</a:t>
            </a:r>
            <a:endParaRPr/>
          </a:p>
          <a:p>
            <a:pPr indent="0" lvl="0" marL="0" rtl="0" algn="l">
              <a:lnSpc>
                <a:spcPct val="150000"/>
              </a:lnSpc>
              <a:spcBef>
                <a:spcPts val="520"/>
              </a:spcBef>
              <a:spcAft>
                <a:spcPts val="0"/>
              </a:spcAft>
              <a:buSzPts val="2470"/>
              <a:buNone/>
            </a:pPr>
            <a:r>
              <a:rPr lang="en-GB"/>
              <a:t>Competitive bidding is competing for jobs on the basis of submitted priced proposals.</a:t>
            </a:r>
            <a:endParaRPr/>
          </a:p>
          <a:p>
            <a:pPr indent="0" lvl="0" marL="0" rtl="0" algn="l">
              <a:lnSpc>
                <a:spcPct val="150000"/>
              </a:lnSpc>
              <a:spcBef>
                <a:spcPts val="520"/>
              </a:spcBef>
              <a:spcAft>
                <a:spcPts val="0"/>
              </a:spcAft>
              <a:buSzPts val="2470"/>
              <a:buNone/>
            </a:pPr>
            <a:r>
              <a:rPr lang="en-GB"/>
              <a:t>Clients do not rely exclusively on reputation and proven qualification in choosing engineering firms for contracts but also on price attached to the proposals.</a:t>
            </a:r>
            <a:endParaRPr/>
          </a:p>
          <a:p>
            <a:pPr indent="0" lvl="0" marL="0" rtl="0" algn="l">
              <a:lnSpc>
                <a:spcPct val="150000"/>
              </a:lnSpc>
              <a:spcBef>
                <a:spcPts val="520"/>
              </a:spcBef>
              <a:spcAft>
                <a:spcPts val="0"/>
              </a:spcAft>
              <a:buSzPts val="2470"/>
              <a:buNone/>
            </a:pPr>
            <a:r>
              <a:rPr lang="en-GB"/>
              <a:t>This raises the problem of how the qualifications are to be determined in an equitable way.</a:t>
            </a:r>
            <a:endParaRPr/>
          </a:p>
          <a:p>
            <a:pPr indent="0" lvl="0" marL="0" rtl="0" algn="l">
              <a:lnSpc>
                <a:spcPct val="150000"/>
              </a:lnSpc>
              <a:spcBef>
                <a:spcPts val="520"/>
              </a:spcBef>
              <a:spcAft>
                <a:spcPts val="0"/>
              </a:spcAft>
              <a:buSzPts val="2470"/>
              <a:buNone/>
            </a:pPr>
            <a:r>
              <a:t/>
            </a:r>
            <a:endParaRPr/>
          </a:p>
        </p:txBody>
      </p:sp>
      <p:sp>
        <p:nvSpPr>
          <p:cNvPr id="786" name="Google Shape;786;p9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98"/>
          <p:cNvSpPr txBox="1"/>
          <p:nvPr>
            <p:ph type="title"/>
          </p:nvPr>
        </p:nvSpPr>
        <p:spPr>
          <a:xfrm>
            <a:off x="467544" y="44624"/>
            <a:ext cx="8229600" cy="78296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4400"/>
              <a:buFont typeface="Calibri"/>
              <a:buNone/>
            </a:pPr>
            <a:r>
              <a:rPr lang="en-GB" sz="4400"/>
              <a:t>HONESTY AND INTEGRITY</a:t>
            </a:r>
            <a:endParaRPr/>
          </a:p>
        </p:txBody>
      </p:sp>
      <p:sp>
        <p:nvSpPr>
          <p:cNvPr id="792" name="Google Shape;792;p98"/>
          <p:cNvSpPr txBox="1"/>
          <p:nvPr>
            <p:ph idx="1" type="body"/>
          </p:nvPr>
        </p:nvSpPr>
        <p:spPr>
          <a:xfrm>
            <a:off x="457200" y="908720"/>
            <a:ext cx="8229600" cy="554461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Font typeface="Noto Sans Symbols"/>
              <a:buChar char="❑"/>
            </a:pPr>
            <a:r>
              <a:rPr lang="en-GB" sz="2800">
                <a:solidFill>
                  <a:srgbClr val="33CCFF"/>
                </a:solidFill>
              </a:rPr>
              <a:t>Contingency Fees</a:t>
            </a:r>
            <a:endParaRPr/>
          </a:p>
          <a:p>
            <a:pPr indent="0" lvl="0" marL="0" rtl="0" algn="l">
              <a:spcBef>
                <a:spcPts val="520"/>
              </a:spcBef>
              <a:spcAft>
                <a:spcPts val="0"/>
              </a:spcAft>
              <a:buSzPts val="2470"/>
              <a:buNone/>
            </a:pPr>
            <a:r>
              <a:rPr lang="en-GB"/>
              <a:t>Contingency fee is a fee that is payable only if the outcome is successful or the outcome saves the client money.</a:t>
            </a:r>
            <a:endParaRPr/>
          </a:p>
          <a:p>
            <a:pPr indent="0" lvl="0" marL="0" rtl="0" algn="l">
              <a:spcBef>
                <a:spcPts val="520"/>
              </a:spcBef>
              <a:spcAft>
                <a:spcPts val="0"/>
              </a:spcAft>
              <a:buSzPts val="2470"/>
              <a:buNone/>
            </a:pPr>
            <a:r>
              <a:rPr lang="en-GB"/>
              <a:t>Consulting engineers essentially make their own arrangements about payment for their work. Naturally this calls for exercising a sense of honesty and fairness.</a:t>
            </a:r>
            <a:endParaRPr/>
          </a:p>
          <a:p>
            <a:pPr indent="0" lvl="0" marL="0" rtl="0" algn="l">
              <a:spcBef>
                <a:spcPts val="520"/>
              </a:spcBef>
              <a:spcAft>
                <a:spcPts val="0"/>
              </a:spcAft>
              <a:buSzPts val="2470"/>
              <a:buNone/>
            </a:pPr>
            <a:r>
              <a:rPr lang="en-GB"/>
              <a:t>In contingency fee situations, the consultant’s judgement may easily become biased. </a:t>
            </a:r>
            <a:endParaRPr/>
          </a:p>
          <a:p>
            <a:pPr indent="0" lvl="0" marL="0" rtl="0" algn="l">
              <a:spcBef>
                <a:spcPts val="520"/>
              </a:spcBef>
              <a:spcAft>
                <a:spcPts val="0"/>
              </a:spcAft>
              <a:buSzPts val="2470"/>
              <a:buNone/>
            </a:pPr>
            <a:r>
              <a:rPr lang="en-GB"/>
              <a:t>For example, the prospects of winning the fee may tempt the consultant to specify inferior materials in order to cut constructing costs.</a:t>
            </a:r>
            <a:endParaRPr/>
          </a:p>
        </p:txBody>
      </p:sp>
      <p:sp>
        <p:nvSpPr>
          <p:cNvPr id="793" name="Google Shape;793;p9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99"/>
          <p:cNvSpPr txBox="1"/>
          <p:nvPr>
            <p:ph type="title"/>
          </p:nvPr>
        </p:nvSpPr>
        <p:spPr>
          <a:xfrm>
            <a:off x="457200" y="188640"/>
            <a:ext cx="8229600" cy="7200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4400"/>
              <a:buFont typeface="Calibri"/>
              <a:buNone/>
            </a:pPr>
            <a:r>
              <a:rPr lang="en-GB" sz="4400"/>
              <a:t>HONESTY AND INTEGRITY</a:t>
            </a:r>
            <a:endParaRPr/>
          </a:p>
        </p:txBody>
      </p:sp>
      <p:sp>
        <p:nvSpPr>
          <p:cNvPr id="799" name="Google Shape;799;p99"/>
          <p:cNvSpPr txBox="1"/>
          <p:nvPr>
            <p:ph idx="1" type="body"/>
          </p:nvPr>
        </p:nvSpPr>
        <p:spPr>
          <a:xfrm>
            <a:off x="323528" y="980728"/>
            <a:ext cx="8363272" cy="547260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Font typeface="Noto Sans Symbols"/>
              <a:buChar char="❑"/>
            </a:pPr>
            <a:r>
              <a:rPr lang="en-GB" sz="2800">
                <a:solidFill>
                  <a:srgbClr val="33CCFF"/>
                </a:solidFill>
              </a:rPr>
              <a:t>Expert Witness and advisers</a:t>
            </a:r>
            <a:endParaRPr/>
          </a:p>
          <a:p>
            <a:pPr indent="0" lvl="0" marL="0" rtl="0" algn="l">
              <a:spcBef>
                <a:spcPts val="520"/>
              </a:spcBef>
              <a:spcAft>
                <a:spcPts val="0"/>
              </a:spcAft>
              <a:buSzPts val="2470"/>
              <a:buNone/>
            </a:pPr>
            <a:r>
              <a:rPr lang="en-GB"/>
              <a:t>Engineers increasingly are asked to serve as consultants who provide expert testimony in adversarial or potentially adversarial contexts.</a:t>
            </a:r>
            <a:endParaRPr/>
          </a:p>
          <a:p>
            <a:pPr indent="0" lvl="0" marL="0" rtl="0" algn="l">
              <a:spcBef>
                <a:spcPts val="520"/>
              </a:spcBef>
              <a:spcAft>
                <a:spcPts val="0"/>
              </a:spcAft>
              <a:buSzPts val="2470"/>
              <a:buNone/>
            </a:pPr>
            <a:r>
              <a:rPr lang="en-GB"/>
              <a:t>Usually engineers are hired by one adversary in the dispute , and that raises special ethical concerns about their proper roles. </a:t>
            </a:r>
            <a:endParaRPr/>
          </a:p>
          <a:p>
            <a:pPr indent="0" lvl="0" marL="0" rtl="0" algn="l">
              <a:spcBef>
                <a:spcPts val="520"/>
              </a:spcBef>
              <a:spcAft>
                <a:spcPts val="0"/>
              </a:spcAft>
              <a:buSzPts val="2470"/>
              <a:buNone/>
            </a:pPr>
            <a:r>
              <a:rPr lang="en-GB"/>
              <a:t>These engineers  should function as impartial seekers and communicators of the truth.</a:t>
            </a:r>
            <a:endParaRPr/>
          </a:p>
          <a:p>
            <a:pPr indent="0" lvl="0" marL="0" rtl="0" algn="l">
              <a:spcBef>
                <a:spcPts val="520"/>
              </a:spcBef>
              <a:spcAft>
                <a:spcPts val="0"/>
              </a:spcAft>
              <a:buSzPts val="2470"/>
              <a:buNone/>
            </a:pPr>
            <a:r>
              <a:rPr lang="en-GB"/>
              <a:t>They become </a:t>
            </a:r>
            <a:r>
              <a:rPr b="1" i="1" lang="en-GB">
                <a:solidFill>
                  <a:srgbClr val="FF0000"/>
                </a:solidFill>
              </a:rPr>
              <a:t>‘hired guns’</a:t>
            </a:r>
            <a:r>
              <a:rPr lang="en-GB"/>
              <a:t> when they are paid to tell one side of the story.</a:t>
            </a:r>
            <a:endParaRPr/>
          </a:p>
        </p:txBody>
      </p:sp>
      <p:sp>
        <p:nvSpPr>
          <p:cNvPr id="800" name="Google Shape;800;p9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00"/>
          <p:cNvSpPr txBox="1"/>
          <p:nvPr>
            <p:ph type="title"/>
          </p:nvPr>
        </p:nvSpPr>
        <p:spPr>
          <a:xfrm>
            <a:off x="457200" y="44624"/>
            <a:ext cx="8229600" cy="1296144"/>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4000"/>
              <a:buFont typeface="Calibri"/>
              <a:buNone/>
            </a:pPr>
            <a:r>
              <a:rPr lang="en-GB" sz="4000"/>
              <a:t>ENGINEERS AND TECHNOLOGICAL PROGRESS</a:t>
            </a:r>
            <a:endParaRPr/>
          </a:p>
        </p:txBody>
      </p:sp>
      <p:sp>
        <p:nvSpPr>
          <p:cNvPr id="806" name="Google Shape;806;p10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pic>
        <p:nvPicPr>
          <p:cNvPr descr="C:\Users\michael\Downloads\Fotolia_83230229_Tech_Progress_930_590_70.jpg" id="807" name="Google Shape;807;p100"/>
          <p:cNvPicPr preferRelativeResize="0"/>
          <p:nvPr>
            <p:ph idx="2" type="body"/>
          </p:nvPr>
        </p:nvPicPr>
        <p:blipFill rotWithShape="1">
          <a:blip r:embed="rId3">
            <a:alphaModFix/>
          </a:blip>
          <a:srcRect b="0" l="0" r="0" t="0"/>
          <a:stretch/>
        </p:blipFill>
        <p:spPr>
          <a:xfrm>
            <a:off x="4716016" y="1700808"/>
            <a:ext cx="4104456" cy="4680520"/>
          </a:xfrm>
          <a:prstGeom prst="rect">
            <a:avLst/>
          </a:prstGeom>
          <a:noFill/>
          <a:ln>
            <a:noFill/>
          </a:ln>
        </p:spPr>
      </p:pic>
      <p:pic>
        <p:nvPicPr>
          <p:cNvPr descr="C:\Users\michael\Downloads\images.jpg" id="808" name="Google Shape;808;p100"/>
          <p:cNvPicPr preferRelativeResize="0"/>
          <p:nvPr>
            <p:ph idx="1" type="body"/>
          </p:nvPr>
        </p:nvPicPr>
        <p:blipFill rotWithShape="1">
          <a:blip r:embed="rId4">
            <a:alphaModFix/>
          </a:blip>
          <a:srcRect b="0" l="0" r="0" t="0"/>
          <a:stretch/>
        </p:blipFill>
        <p:spPr>
          <a:xfrm>
            <a:off x="476250" y="1700808"/>
            <a:ext cx="4095750" cy="468052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01"/>
          <p:cNvSpPr txBox="1"/>
          <p:nvPr>
            <p:ph type="title"/>
          </p:nvPr>
        </p:nvSpPr>
        <p:spPr>
          <a:xfrm>
            <a:off x="457200" y="0"/>
            <a:ext cx="8229600" cy="1196752"/>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GB" sz="4000"/>
              <a:t>ENGINEERS AND TECHNOLOGICAL PROGRESS</a:t>
            </a:r>
            <a:endParaRPr sz="4000"/>
          </a:p>
        </p:txBody>
      </p:sp>
      <p:sp>
        <p:nvSpPr>
          <p:cNvPr id="814" name="Google Shape;814;p101"/>
          <p:cNvSpPr txBox="1"/>
          <p:nvPr>
            <p:ph idx="1" type="body"/>
          </p:nvPr>
        </p:nvSpPr>
        <p:spPr>
          <a:xfrm>
            <a:off x="323528" y="1268760"/>
            <a:ext cx="8568952" cy="518457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Font typeface="Noto Sans Symbols"/>
              <a:buChar char="❑"/>
            </a:pPr>
            <a:r>
              <a:rPr lang="en-GB" sz="2800">
                <a:solidFill>
                  <a:srgbClr val="33CCFF"/>
                </a:solidFill>
              </a:rPr>
              <a:t>Optimism, Pessimism, Realism</a:t>
            </a:r>
            <a:endParaRPr/>
          </a:p>
          <a:p>
            <a:pPr indent="0" lvl="0" marL="0" rtl="0" algn="l">
              <a:spcBef>
                <a:spcPts val="520"/>
              </a:spcBef>
              <a:spcAft>
                <a:spcPts val="0"/>
              </a:spcAft>
              <a:buSzPts val="2470"/>
              <a:buNone/>
            </a:pPr>
            <a:r>
              <a:rPr lang="en-GB"/>
              <a:t>Both values and facts are involved in assessing when technological change constitutes technological progress.</a:t>
            </a:r>
            <a:endParaRPr/>
          </a:p>
          <a:p>
            <a:pPr indent="0" lvl="0" marL="0" rtl="0" algn="l">
              <a:spcBef>
                <a:spcPts val="520"/>
              </a:spcBef>
              <a:spcAft>
                <a:spcPts val="0"/>
              </a:spcAft>
              <a:buSzPts val="2470"/>
              <a:buNone/>
            </a:pPr>
            <a:r>
              <a:rPr lang="en-GB"/>
              <a:t>Progress means advancement toward valuable goals, hopefully using permissible means. </a:t>
            </a:r>
            <a:endParaRPr/>
          </a:p>
          <a:p>
            <a:pPr indent="0" lvl="0" marL="0" rtl="0" algn="l">
              <a:spcBef>
                <a:spcPts val="520"/>
              </a:spcBef>
              <a:spcAft>
                <a:spcPts val="0"/>
              </a:spcAft>
              <a:buSzPts val="2470"/>
              <a:buNone/>
            </a:pPr>
            <a:r>
              <a:rPr lang="en-GB"/>
              <a:t>Typically, debates between optimists and pessimists turn on more than disagreements about the facts and estimates of risk.</a:t>
            </a:r>
            <a:endParaRPr/>
          </a:p>
          <a:p>
            <a:pPr indent="0" lvl="0" marL="0" rtl="0" algn="l">
              <a:spcBef>
                <a:spcPts val="520"/>
              </a:spcBef>
              <a:spcAft>
                <a:spcPts val="0"/>
              </a:spcAft>
              <a:buSzPts val="2470"/>
              <a:buNone/>
            </a:pPr>
            <a:r>
              <a:rPr lang="en-GB"/>
              <a:t>They involve differing judgements about moral values, especially values of social justice, human fulfilments, and respect for the environment. </a:t>
            </a:r>
            <a:endParaRPr/>
          </a:p>
        </p:txBody>
      </p:sp>
      <p:sp>
        <p:nvSpPr>
          <p:cNvPr id="815" name="Google Shape;815;p10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02"/>
          <p:cNvSpPr txBox="1"/>
          <p:nvPr>
            <p:ph type="title"/>
          </p:nvPr>
        </p:nvSpPr>
        <p:spPr>
          <a:xfrm>
            <a:off x="457200" y="188640"/>
            <a:ext cx="8229600" cy="108012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GB" sz="4000"/>
              <a:t>ENGINEERS AND TECHNOLOGICAL PROGRESS</a:t>
            </a:r>
            <a:endParaRPr/>
          </a:p>
        </p:txBody>
      </p:sp>
      <p:sp>
        <p:nvSpPr>
          <p:cNvPr id="821" name="Google Shape;821;p102"/>
          <p:cNvSpPr txBox="1"/>
          <p:nvPr>
            <p:ph idx="1" type="body"/>
          </p:nvPr>
        </p:nvSpPr>
        <p:spPr>
          <a:xfrm>
            <a:off x="323528" y="1268760"/>
            <a:ext cx="8496944" cy="518457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Font typeface="Noto Sans Symbols"/>
              <a:buChar char="❑"/>
            </a:pPr>
            <a:r>
              <a:rPr lang="en-GB" sz="2800">
                <a:solidFill>
                  <a:srgbClr val="33CCFF"/>
                </a:solidFill>
              </a:rPr>
              <a:t>Technology: Value-Neutral or Value-Laden</a:t>
            </a:r>
            <a:endParaRPr/>
          </a:p>
          <a:p>
            <a:pPr indent="0" lvl="0" marL="0" rtl="0" algn="l">
              <a:spcBef>
                <a:spcPts val="520"/>
              </a:spcBef>
              <a:spcAft>
                <a:spcPts val="0"/>
              </a:spcAft>
              <a:buSzPts val="2470"/>
              <a:buNone/>
            </a:pPr>
            <a:r>
              <a:rPr lang="en-GB"/>
              <a:t>According to value-neutral view, technology consists of artifacts or devices - machines, tools, structures, perhaps together with knowledge about how to make and maintain devices. As such, it is neither good nor bad, but merely a means that can be used for good or bad purposes.</a:t>
            </a:r>
            <a:endParaRPr/>
          </a:p>
          <a:p>
            <a:pPr indent="0" lvl="0" marL="0" rtl="0" algn="l">
              <a:spcBef>
                <a:spcPts val="520"/>
              </a:spcBef>
              <a:spcAft>
                <a:spcPts val="0"/>
              </a:spcAft>
              <a:buSzPts val="2470"/>
              <a:buNone/>
            </a:pPr>
            <a:r>
              <a:t/>
            </a:r>
            <a:endParaRPr/>
          </a:p>
          <a:p>
            <a:pPr indent="0" lvl="0" marL="0" rtl="0" algn="l">
              <a:spcBef>
                <a:spcPts val="520"/>
              </a:spcBef>
              <a:spcAft>
                <a:spcPts val="0"/>
              </a:spcAft>
              <a:buSzPts val="2470"/>
              <a:buNone/>
            </a:pPr>
            <a:r>
              <a:rPr lang="en-GB"/>
              <a:t>According to value-laden view, technology consist of more than artifacts and knowledge, but also the organisations and general approaches that make technological development possible, and organisations and approaches are guided by values.</a:t>
            </a:r>
            <a:endParaRPr/>
          </a:p>
        </p:txBody>
      </p:sp>
      <p:sp>
        <p:nvSpPr>
          <p:cNvPr id="822" name="Google Shape;822;p10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03"/>
          <p:cNvSpPr txBox="1"/>
          <p:nvPr>
            <p:ph type="title"/>
          </p:nvPr>
        </p:nvSpPr>
        <p:spPr>
          <a:xfrm>
            <a:off x="457200" y="-27384"/>
            <a:ext cx="8229600" cy="1152128"/>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GB" sz="4000"/>
              <a:t>ENGINEERS AND TECHNOLOGICAL PROGRESS</a:t>
            </a:r>
            <a:endParaRPr/>
          </a:p>
        </p:txBody>
      </p:sp>
      <p:sp>
        <p:nvSpPr>
          <p:cNvPr id="828" name="Google Shape;828;p103"/>
          <p:cNvSpPr txBox="1"/>
          <p:nvPr>
            <p:ph idx="1" type="body"/>
          </p:nvPr>
        </p:nvSpPr>
        <p:spPr>
          <a:xfrm>
            <a:off x="323528" y="1124744"/>
            <a:ext cx="8363272" cy="540060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spcBef>
                <a:spcPts val="0"/>
              </a:spcBef>
              <a:spcAft>
                <a:spcPts val="0"/>
              </a:spcAft>
              <a:buSzPct val="95000"/>
              <a:buFont typeface="Noto Sans Symbols"/>
              <a:buChar char="❑"/>
            </a:pPr>
            <a:r>
              <a:rPr lang="en-GB" sz="2800">
                <a:solidFill>
                  <a:srgbClr val="33CCFF"/>
                </a:solidFill>
              </a:rPr>
              <a:t>Shared Responsibility  and Control of Technology</a:t>
            </a:r>
            <a:endParaRPr/>
          </a:p>
          <a:p>
            <a:pPr indent="0" lvl="0" marL="0" rtl="0" algn="just">
              <a:spcBef>
                <a:spcPts val="481"/>
              </a:spcBef>
              <a:spcAft>
                <a:spcPts val="0"/>
              </a:spcAft>
              <a:buSzPct val="95000"/>
              <a:buNone/>
            </a:pPr>
            <a:r>
              <a:rPr lang="en-GB"/>
              <a:t>Technological determinism is the thesis “that technological somehow causes all other aspects of society and culture, and hence that changes in technology dictate changes in society.” </a:t>
            </a:r>
            <a:endParaRPr/>
          </a:p>
          <a:p>
            <a:pPr indent="0" lvl="0" marL="0" rtl="0" algn="just">
              <a:spcBef>
                <a:spcPts val="481"/>
              </a:spcBef>
              <a:spcAft>
                <a:spcPts val="0"/>
              </a:spcAft>
              <a:buSzPct val="95000"/>
              <a:buNone/>
            </a:pPr>
            <a:r>
              <a:t/>
            </a:r>
            <a:endParaRPr/>
          </a:p>
          <a:p>
            <a:pPr indent="0" lvl="0" marL="0" rtl="0" algn="just">
              <a:spcBef>
                <a:spcPts val="481"/>
              </a:spcBef>
              <a:spcAft>
                <a:spcPts val="0"/>
              </a:spcAft>
              <a:buSzPct val="95000"/>
              <a:buNone/>
            </a:pPr>
            <a:r>
              <a:rPr lang="en-GB"/>
              <a:t>In a strong version, the thesis of technological determinism denies human choice: We are victims of technology rather than in control of it.</a:t>
            </a:r>
            <a:endParaRPr/>
          </a:p>
          <a:p>
            <a:pPr indent="0" lvl="0" marL="0" rtl="0" algn="just">
              <a:spcBef>
                <a:spcPts val="481"/>
              </a:spcBef>
              <a:spcAft>
                <a:spcPts val="0"/>
              </a:spcAft>
              <a:buSzPct val="95000"/>
              <a:buNone/>
            </a:pPr>
            <a:r>
              <a:t/>
            </a:r>
            <a:endParaRPr/>
          </a:p>
          <a:p>
            <a:pPr indent="0" lvl="0" marL="0" rtl="0" algn="just">
              <a:spcBef>
                <a:spcPts val="481"/>
              </a:spcBef>
              <a:spcAft>
                <a:spcPts val="0"/>
              </a:spcAft>
              <a:buSzPct val="95000"/>
              <a:buNone/>
            </a:pPr>
            <a:r>
              <a:rPr lang="en-GB"/>
              <a:t>Technological determinism undermines shared responsibility for technological projects.</a:t>
            </a:r>
            <a:endParaRPr/>
          </a:p>
          <a:p>
            <a:pPr indent="0" lvl="0" marL="0" rtl="0" algn="just">
              <a:spcBef>
                <a:spcPts val="481"/>
              </a:spcBef>
              <a:spcAft>
                <a:spcPts val="0"/>
              </a:spcAft>
              <a:buSzPct val="95000"/>
              <a:buNone/>
            </a:pPr>
            <a:r>
              <a:t/>
            </a:r>
            <a:endParaRPr/>
          </a:p>
          <a:p>
            <a:pPr indent="0" lvl="0" marL="0" rtl="0" algn="just">
              <a:spcBef>
                <a:spcPts val="481"/>
              </a:spcBef>
              <a:spcAft>
                <a:spcPts val="0"/>
              </a:spcAft>
              <a:buSzPct val="95000"/>
              <a:buNone/>
            </a:pPr>
            <a:r>
              <a:rPr lang="en-GB"/>
              <a:t>For responsibility presupposes freedom, engineers are not responsible for changes that are entirely beyond human control.</a:t>
            </a:r>
            <a:endParaRPr/>
          </a:p>
          <a:p>
            <a:pPr indent="0" lvl="0" marL="0" rtl="0" algn="just">
              <a:spcBef>
                <a:spcPts val="481"/>
              </a:spcBef>
              <a:spcAft>
                <a:spcPts val="0"/>
              </a:spcAft>
              <a:buSzPct val="95000"/>
              <a:buNone/>
            </a:pPr>
            <a:r>
              <a:t/>
            </a:r>
            <a:endParaRPr/>
          </a:p>
        </p:txBody>
      </p:sp>
      <p:sp>
        <p:nvSpPr>
          <p:cNvPr id="829" name="Google Shape;829;p10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04"/>
          <p:cNvSpPr txBox="1"/>
          <p:nvPr>
            <p:ph type="title"/>
          </p:nvPr>
        </p:nvSpPr>
        <p:spPr>
          <a:xfrm>
            <a:off x="457200" y="188640"/>
            <a:ext cx="8229600" cy="114300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GB" sz="4000"/>
              <a:t>ENGINEERS AND TECHNOLOGICAL PROGRESS</a:t>
            </a:r>
            <a:endParaRPr/>
          </a:p>
        </p:txBody>
      </p:sp>
      <p:sp>
        <p:nvSpPr>
          <p:cNvPr id="835" name="Google Shape;835;p104"/>
          <p:cNvSpPr txBox="1"/>
          <p:nvPr>
            <p:ph idx="1" type="body"/>
          </p:nvPr>
        </p:nvSpPr>
        <p:spPr>
          <a:xfrm>
            <a:off x="457200" y="1268760"/>
            <a:ext cx="8229600" cy="5184576"/>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95000"/>
              <a:buFont typeface="Noto Sans Symbols"/>
              <a:buChar char="❑"/>
            </a:pPr>
            <a:r>
              <a:rPr lang="en-GB" sz="2800">
                <a:solidFill>
                  <a:srgbClr val="33CCFF"/>
                </a:solidFill>
              </a:rPr>
              <a:t>Uncertainty, Ambiguity, and Social Experimentation</a:t>
            </a:r>
            <a:endParaRPr/>
          </a:p>
          <a:p>
            <a:pPr indent="0" lvl="0" marL="0" rtl="0" algn="l">
              <a:spcBef>
                <a:spcPts val="481"/>
              </a:spcBef>
              <a:spcAft>
                <a:spcPts val="0"/>
              </a:spcAft>
              <a:buSzPct val="95000"/>
              <a:buNone/>
            </a:pPr>
            <a:r>
              <a:rPr lang="en-GB"/>
              <a:t>Uncertainty about general trends in technological change, as well as about specific technologies, lies at the heart of debates about technological optimism. </a:t>
            </a:r>
            <a:endParaRPr/>
          </a:p>
          <a:p>
            <a:pPr indent="0" lvl="0" marL="0" rtl="0" algn="l">
              <a:spcBef>
                <a:spcPts val="481"/>
              </a:spcBef>
              <a:spcAft>
                <a:spcPts val="0"/>
              </a:spcAft>
              <a:buSzPct val="95000"/>
              <a:buNone/>
            </a:pPr>
            <a:r>
              <a:t/>
            </a:r>
            <a:endParaRPr/>
          </a:p>
          <a:p>
            <a:pPr indent="0" lvl="0" marL="0" rtl="0" algn="l">
              <a:spcBef>
                <a:spcPts val="481"/>
              </a:spcBef>
              <a:spcAft>
                <a:spcPts val="0"/>
              </a:spcAft>
              <a:buSzPct val="95000"/>
              <a:buNone/>
            </a:pPr>
            <a:r>
              <a:rPr lang="en-GB"/>
              <a:t>Although the pace of scientific and engineering advancement is breath-taking, there is a lag in moral, social and political understanding.</a:t>
            </a:r>
            <a:endParaRPr/>
          </a:p>
          <a:p>
            <a:pPr indent="0" lvl="0" marL="0" rtl="0" algn="l">
              <a:spcBef>
                <a:spcPts val="481"/>
              </a:spcBef>
              <a:spcAft>
                <a:spcPts val="0"/>
              </a:spcAft>
              <a:buSzPct val="95000"/>
              <a:buNone/>
            </a:pPr>
            <a:r>
              <a:t/>
            </a:r>
            <a:endParaRPr/>
          </a:p>
          <a:p>
            <a:pPr indent="0" lvl="0" marL="0" rtl="0" algn="l">
              <a:spcBef>
                <a:spcPts val="481"/>
              </a:spcBef>
              <a:spcAft>
                <a:spcPts val="0"/>
              </a:spcAft>
              <a:buSzPct val="95000"/>
              <a:buNone/>
            </a:pPr>
            <a:r>
              <a:rPr lang="en-GB"/>
              <a:t>The model of engineering as social experimentation highlights this dimension of engineering, whatever one’s specific beliefs about the relevant facts concerning technological change.</a:t>
            </a:r>
            <a:endParaRPr/>
          </a:p>
        </p:txBody>
      </p:sp>
      <p:sp>
        <p:nvSpPr>
          <p:cNvPr id="836" name="Google Shape;836;p10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05"/>
          <p:cNvSpPr txBox="1"/>
          <p:nvPr>
            <p:ph type="title"/>
          </p:nvPr>
        </p:nvSpPr>
        <p:spPr>
          <a:xfrm>
            <a:off x="457200" y="44624"/>
            <a:ext cx="8229600" cy="108012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GB" sz="4000"/>
              <a:t>ENGINEERS AND TECHNOLOGICAL PROGRESS</a:t>
            </a:r>
            <a:endParaRPr/>
          </a:p>
        </p:txBody>
      </p:sp>
      <p:sp>
        <p:nvSpPr>
          <p:cNvPr id="842" name="Google Shape;842;p105"/>
          <p:cNvSpPr txBox="1"/>
          <p:nvPr>
            <p:ph idx="1" type="body"/>
          </p:nvPr>
        </p:nvSpPr>
        <p:spPr>
          <a:xfrm>
            <a:off x="457200" y="1196752"/>
            <a:ext cx="8229600" cy="5184576"/>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660"/>
              <a:buFont typeface="Noto Sans Symbols"/>
              <a:buChar char="❑"/>
            </a:pPr>
            <a:r>
              <a:rPr lang="en-GB" sz="2800">
                <a:solidFill>
                  <a:srgbClr val="33CCFF"/>
                </a:solidFill>
              </a:rPr>
              <a:t>Moral Leadership</a:t>
            </a:r>
            <a:endParaRPr/>
          </a:p>
          <a:p>
            <a:pPr indent="0" lvl="0" marL="0" rtl="0" algn="just">
              <a:spcBef>
                <a:spcPts val="520"/>
              </a:spcBef>
              <a:spcAft>
                <a:spcPts val="0"/>
              </a:spcAft>
              <a:buSzPts val="2470"/>
              <a:buNone/>
            </a:pPr>
            <a:r>
              <a:rPr lang="en-GB"/>
              <a:t>As managers, business entrepreneurs, corporate consultants, academics, and government officials, engineers provide many forms of leadership in developing and implementing technology.</a:t>
            </a:r>
            <a:endParaRPr/>
          </a:p>
          <a:p>
            <a:pPr indent="0" lvl="0" marL="0" rtl="0" algn="just">
              <a:spcBef>
                <a:spcPts val="520"/>
              </a:spcBef>
              <a:spcAft>
                <a:spcPts val="0"/>
              </a:spcAft>
              <a:buSzPts val="2470"/>
              <a:buNone/>
            </a:pPr>
            <a:r>
              <a:rPr lang="en-GB"/>
              <a:t> </a:t>
            </a:r>
            <a:endParaRPr/>
          </a:p>
          <a:p>
            <a:pPr indent="0" lvl="0" marL="0" rtl="0" algn="just">
              <a:spcBef>
                <a:spcPts val="520"/>
              </a:spcBef>
              <a:spcAft>
                <a:spcPts val="0"/>
              </a:spcAft>
              <a:buSzPts val="2470"/>
              <a:buNone/>
            </a:pPr>
            <a:r>
              <a:rPr lang="en-GB"/>
              <a:t>In this case technology is understood  broadly to include artifacts, knowledge, organisations and approaches.</a:t>
            </a:r>
            <a:endParaRPr/>
          </a:p>
        </p:txBody>
      </p:sp>
      <p:sp>
        <p:nvSpPr>
          <p:cNvPr id="843" name="Google Shape;843;p10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06"/>
          <p:cNvSpPr txBox="1"/>
          <p:nvPr>
            <p:ph type="title"/>
          </p:nvPr>
        </p:nvSpPr>
        <p:spPr>
          <a:xfrm>
            <a:off x="457200" y="44624"/>
            <a:ext cx="8229600" cy="114300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GB" sz="4000"/>
              <a:t>ENGINEERS AND TECHNOLOGICAL PROGRESS</a:t>
            </a:r>
            <a:endParaRPr/>
          </a:p>
        </p:txBody>
      </p:sp>
      <p:sp>
        <p:nvSpPr>
          <p:cNvPr id="849" name="Google Shape;849;p106"/>
          <p:cNvSpPr txBox="1"/>
          <p:nvPr>
            <p:ph idx="1" type="body"/>
          </p:nvPr>
        </p:nvSpPr>
        <p:spPr>
          <a:xfrm>
            <a:off x="323528" y="1200120"/>
            <a:ext cx="8568952" cy="5325224"/>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95000"/>
              <a:buFont typeface="Noto Sans Symbols"/>
              <a:buChar char="❑"/>
            </a:pPr>
            <a:r>
              <a:rPr lang="en-GB" sz="2800">
                <a:solidFill>
                  <a:srgbClr val="33CCFF"/>
                </a:solidFill>
              </a:rPr>
              <a:t>Morally Creative Leaders</a:t>
            </a:r>
            <a:endParaRPr/>
          </a:p>
          <a:p>
            <a:pPr indent="0" lvl="0" marL="0" rtl="0" algn="l">
              <a:spcBef>
                <a:spcPts val="481"/>
              </a:spcBef>
              <a:spcAft>
                <a:spcPts val="0"/>
              </a:spcAft>
              <a:buSzPct val="95000"/>
              <a:buNone/>
            </a:pPr>
            <a:r>
              <a:rPr lang="en-GB"/>
              <a:t>Leadership is an achievement word which indicates success in ,moving a group toward goals.</a:t>
            </a:r>
            <a:endParaRPr/>
          </a:p>
          <a:p>
            <a:pPr indent="0" lvl="0" marL="0" rtl="0" algn="l">
              <a:spcBef>
                <a:spcPts val="481"/>
              </a:spcBef>
              <a:spcAft>
                <a:spcPts val="0"/>
              </a:spcAft>
              <a:buSzPct val="95000"/>
              <a:buNone/>
            </a:pPr>
            <a:r>
              <a:t/>
            </a:r>
            <a:endParaRPr/>
          </a:p>
          <a:p>
            <a:pPr indent="0" lvl="0" marL="0" rtl="0" algn="l">
              <a:spcBef>
                <a:spcPts val="481"/>
              </a:spcBef>
              <a:spcAft>
                <a:spcPts val="0"/>
              </a:spcAft>
              <a:buSzPct val="95000"/>
              <a:buNone/>
            </a:pPr>
            <a:r>
              <a:rPr lang="en-GB"/>
              <a:t>Moral leaders are individuals who direct, motivate, organise, creatively manage, or in others ways move groups toward morally valuable goals.</a:t>
            </a:r>
            <a:endParaRPr/>
          </a:p>
          <a:p>
            <a:pPr indent="0" lvl="0" marL="0" rtl="0" algn="l">
              <a:spcBef>
                <a:spcPts val="481"/>
              </a:spcBef>
              <a:spcAft>
                <a:spcPts val="0"/>
              </a:spcAft>
              <a:buSzPct val="95000"/>
              <a:buNone/>
            </a:pPr>
            <a:r>
              <a:t/>
            </a:r>
            <a:endParaRPr/>
          </a:p>
          <a:p>
            <a:pPr indent="0" lvl="0" marL="0" rtl="0" algn="l">
              <a:spcBef>
                <a:spcPts val="481"/>
              </a:spcBef>
              <a:spcAft>
                <a:spcPts val="0"/>
              </a:spcAft>
              <a:buSzPct val="95000"/>
              <a:buNone/>
            </a:pPr>
            <a:r>
              <a:rPr lang="en-GB"/>
              <a:t>Moral leadership means employing morally permissible means to stimulate groups to move toward morally desirable ends. </a:t>
            </a:r>
            <a:endParaRPr/>
          </a:p>
          <a:p>
            <a:pPr indent="0" lvl="0" marL="0" rtl="0" algn="l">
              <a:spcBef>
                <a:spcPts val="481"/>
              </a:spcBef>
              <a:spcAft>
                <a:spcPts val="0"/>
              </a:spcAft>
              <a:buSzPct val="95000"/>
              <a:buNone/>
            </a:pPr>
            <a:r>
              <a:t/>
            </a:r>
            <a:endParaRPr/>
          </a:p>
          <a:p>
            <a:pPr indent="0" lvl="0" marL="0" rtl="0" algn="l">
              <a:spcBef>
                <a:spcPts val="481"/>
              </a:spcBef>
              <a:spcAft>
                <a:spcPts val="0"/>
              </a:spcAft>
              <a:buSzPct val="95000"/>
              <a:buNone/>
            </a:pPr>
            <a:r>
              <a:rPr lang="en-GB"/>
              <a:t>Moral leaders are morally creative, identifying the most important values that apply in a particular situation, bringing them into focus through effective communication within groups, and forming workable commitments to implement them.</a:t>
            </a:r>
            <a:endParaRPr/>
          </a:p>
        </p:txBody>
      </p:sp>
      <p:sp>
        <p:nvSpPr>
          <p:cNvPr id="850" name="Google Shape;850;p10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07"/>
          <p:cNvSpPr txBox="1"/>
          <p:nvPr>
            <p:ph type="title"/>
          </p:nvPr>
        </p:nvSpPr>
        <p:spPr>
          <a:xfrm>
            <a:off x="457200" y="-27384"/>
            <a:ext cx="8229600" cy="114300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GB" sz="4000"/>
              <a:t>ENGINEERS AND TECHNOLOGICAL PROGRESS</a:t>
            </a:r>
            <a:endParaRPr/>
          </a:p>
        </p:txBody>
      </p:sp>
      <p:sp>
        <p:nvSpPr>
          <p:cNvPr id="856" name="Google Shape;856;p107"/>
          <p:cNvSpPr txBox="1"/>
          <p:nvPr>
            <p:ph idx="1" type="body"/>
          </p:nvPr>
        </p:nvSpPr>
        <p:spPr>
          <a:xfrm>
            <a:off x="323528" y="1124744"/>
            <a:ext cx="8363272" cy="54006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660"/>
              <a:buFont typeface="Noto Sans Symbols"/>
              <a:buChar char="❑"/>
            </a:pPr>
            <a:r>
              <a:rPr lang="en-GB" sz="2800">
                <a:solidFill>
                  <a:srgbClr val="33CCFF"/>
                </a:solidFill>
              </a:rPr>
              <a:t>Participation in Professional Societies</a:t>
            </a:r>
            <a:endParaRPr/>
          </a:p>
          <a:p>
            <a:pPr indent="0" lvl="0" marL="0" rtl="0" algn="l">
              <a:spcBef>
                <a:spcPts val="520"/>
              </a:spcBef>
              <a:spcAft>
                <a:spcPts val="0"/>
              </a:spcAft>
              <a:buSzPts val="2470"/>
              <a:buNone/>
            </a:pPr>
            <a:r>
              <a:rPr lang="en-GB"/>
              <a:t>Moral Leadership within engineering is often manifested in leadership within professional societies.</a:t>
            </a:r>
            <a:endParaRPr/>
          </a:p>
          <a:p>
            <a:pPr indent="0" lvl="0" marL="0" rtl="0" algn="l">
              <a:spcBef>
                <a:spcPts val="520"/>
              </a:spcBef>
              <a:spcAft>
                <a:spcPts val="0"/>
              </a:spcAft>
              <a:buSzPts val="2470"/>
              <a:buNone/>
            </a:pPr>
            <a:r>
              <a:t/>
            </a:r>
            <a:endParaRPr/>
          </a:p>
          <a:p>
            <a:pPr indent="0" lvl="0" marL="0" rtl="0" algn="l">
              <a:spcBef>
                <a:spcPts val="520"/>
              </a:spcBef>
              <a:spcAft>
                <a:spcPts val="0"/>
              </a:spcAft>
              <a:buSzPts val="2470"/>
              <a:buNone/>
            </a:pPr>
            <a:r>
              <a:rPr lang="en-GB"/>
              <a:t>Professional societies do more than promote continuing education for their members.</a:t>
            </a:r>
            <a:endParaRPr/>
          </a:p>
          <a:p>
            <a:pPr indent="0" lvl="0" marL="0" rtl="0" algn="l">
              <a:spcBef>
                <a:spcPts val="520"/>
              </a:spcBef>
              <a:spcAft>
                <a:spcPts val="0"/>
              </a:spcAft>
              <a:buSzPts val="2470"/>
              <a:buNone/>
            </a:pPr>
            <a:r>
              <a:t/>
            </a:r>
            <a:endParaRPr/>
          </a:p>
          <a:p>
            <a:pPr indent="0" lvl="0" marL="0" rtl="0" algn="l">
              <a:spcBef>
                <a:spcPts val="520"/>
              </a:spcBef>
              <a:spcAft>
                <a:spcPts val="0"/>
              </a:spcAft>
              <a:buSzPts val="2470"/>
              <a:buNone/>
            </a:pPr>
            <a:r>
              <a:rPr lang="en-GB"/>
              <a:t>Professional societies provide a forum for communicating, organising and mobilising change within and by large groups.</a:t>
            </a:r>
            <a:endParaRPr/>
          </a:p>
          <a:p>
            <a:pPr indent="0" lvl="0" marL="0" rtl="0" algn="l">
              <a:spcBef>
                <a:spcPts val="520"/>
              </a:spcBef>
              <a:spcAft>
                <a:spcPts val="0"/>
              </a:spcAft>
              <a:buSzPts val="2470"/>
              <a:buNone/>
            </a:pPr>
            <a:r>
              <a:t/>
            </a:r>
            <a:endParaRPr/>
          </a:p>
          <a:p>
            <a:pPr indent="0" lvl="0" marL="0" rtl="0" algn="l">
              <a:spcBef>
                <a:spcPts val="520"/>
              </a:spcBef>
              <a:spcAft>
                <a:spcPts val="0"/>
              </a:spcAft>
              <a:buSzPts val="2470"/>
              <a:buNone/>
            </a:pPr>
            <a:r>
              <a:rPr lang="en-GB"/>
              <a:t>Individuals also have spurred professional societies to foster the study of engineering ethics.</a:t>
            </a:r>
            <a:endParaRPr/>
          </a:p>
          <a:p>
            <a:pPr indent="0" lvl="0" marL="0" rtl="0" algn="l">
              <a:spcBef>
                <a:spcPts val="520"/>
              </a:spcBef>
              <a:spcAft>
                <a:spcPts val="0"/>
              </a:spcAft>
              <a:buSzPts val="2470"/>
              <a:buNone/>
            </a:pPr>
            <a:r>
              <a:t/>
            </a:r>
            <a:endParaRPr/>
          </a:p>
        </p:txBody>
      </p:sp>
      <p:sp>
        <p:nvSpPr>
          <p:cNvPr id="857" name="Google Shape;857;p10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08"/>
          <p:cNvSpPr txBox="1"/>
          <p:nvPr>
            <p:ph type="title"/>
          </p:nvPr>
        </p:nvSpPr>
        <p:spPr>
          <a:xfrm>
            <a:off x="457200" y="44624"/>
            <a:ext cx="8229600" cy="114300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GB" sz="4000"/>
              <a:t>ENGINEERS AND TECHNOLOGICAL PROGRESS</a:t>
            </a:r>
            <a:endParaRPr/>
          </a:p>
        </p:txBody>
      </p:sp>
      <p:sp>
        <p:nvSpPr>
          <p:cNvPr id="863" name="Google Shape;863;p108"/>
          <p:cNvSpPr txBox="1"/>
          <p:nvPr>
            <p:ph idx="1" type="body"/>
          </p:nvPr>
        </p:nvSpPr>
        <p:spPr>
          <a:xfrm>
            <a:off x="457200" y="1268760"/>
            <a:ext cx="8229600" cy="505584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660"/>
              <a:buFont typeface="Noto Sans Symbols"/>
              <a:buChar char="❑"/>
            </a:pPr>
            <a:r>
              <a:rPr lang="en-GB" sz="2800">
                <a:solidFill>
                  <a:srgbClr val="33CCFF"/>
                </a:solidFill>
              </a:rPr>
              <a:t>Ideals of Voluntary Service</a:t>
            </a:r>
            <a:endParaRPr/>
          </a:p>
          <a:p>
            <a:pPr indent="0" lvl="0" marL="0" rtl="0" algn="l">
              <a:spcBef>
                <a:spcPts val="520"/>
              </a:spcBef>
              <a:spcAft>
                <a:spcPts val="0"/>
              </a:spcAft>
              <a:buSzPts val="2470"/>
              <a:buNone/>
            </a:pPr>
            <a:r>
              <a:rPr lang="en-GB"/>
              <a:t>Voluntary Service is certainly a vital avenue for providing moral leadership within communities.</a:t>
            </a:r>
            <a:endParaRPr/>
          </a:p>
          <a:p>
            <a:pPr indent="0" lvl="0" marL="0" rtl="0" algn="l">
              <a:spcBef>
                <a:spcPts val="520"/>
              </a:spcBef>
              <a:spcAft>
                <a:spcPts val="0"/>
              </a:spcAft>
              <a:buSzPts val="2470"/>
              <a:buNone/>
            </a:pPr>
            <a:r>
              <a:t/>
            </a:r>
            <a:endParaRPr/>
          </a:p>
          <a:p>
            <a:pPr indent="0" lvl="0" marL="0" rtl="0" algn="l">
              <a:spcBef>
                <a:spcPts val="520"/>
              </a:spcBef>
              <a:spcAft>
                <a:spcPts val="0"/>
              </a:spcAft>
              <a:buSzPts val="2470"/>
              <a:buNone/>
            </a:pPr>
            <a:r>
              <a:rPr lang="en-GB"/>
              <a:t>By sharp contrast, most engineering codes of ethics have been silent on this issue or taken stands that discourage volunteerism.</a:t>
            </a:r>
            <a:endParaRPr/>
          </a:p>
          <a:p>
            <a:pPr indent="0" lvl="0" marL="0" rtl="0" algn="l">
              <a:spcBef>
                <a:spcPts val="520"/>
              </a:spcBef>
              <a:spcAft>
                <a:spcPts val="0"/>
              </a:spcAft>
              <a:buSzPts val="2470"/>
              <a:buNone/>
            </a:pPr>
            <a:r>
              <a:t/>
            </a:r>
            <a:endParaRPr/>
          </a:p>
          <a:p>
            <a:pPr indent="0" lvl="0" marL="0" rtl="0" algn="l">
              <a:spcBef>
                <a:spcPts val="520"/>
              </a:spcBef>
              <a:spcAft>
                <a:spcPts val="0"/>
              </a:spcAft>
              <a:buSzPts val="2470"/>
              <a:buNone/>
            </a:pPr>
            <a:r>
              <a:rPr lang="en-GB"/>
              <a:t>It is important that, morally concerned engineering profession should recognise the rights of corporations and individual engineers to voluntary engage in philanthropic engineering service.</a:t>
            </a:r>
            <a:endParaRPr/>
          </a:p>
        </p:txBody>
      </p:sp>
      <p:sp>
        <p:nvSpPr>
          <p:cNvPr id="864" name="Google Shape;864;p10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2017-09-04T10:47:11Z</dcterms:created>
  <dc:creator>michael</dc:creator>
</cp:coreProperties>
</file>