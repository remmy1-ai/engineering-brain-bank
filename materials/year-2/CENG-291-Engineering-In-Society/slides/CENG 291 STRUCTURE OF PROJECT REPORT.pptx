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63" r:id="rId2"/>
    <p:sldId id="296" r:id="rId3"/>
    <p:sldId id="295" r:id="rId4"/>
    <p:sldId id="299" r:id="rId5"/>
    <p:sldId id="300" r:id="rId6"/>
    <p:sldId id="301" r:id="rId7"/>
    <p:sldId id="302" r:id="rId8"/>
    <p:sldId id="318" r:id="rId9"/>
    <p:sldId id="303" r:id="rId10"/>
    <p:sldId id="304" r:id="rId11"/>
    <p:sldId id="316" r:id="rId12"/>
    <p:sldId id="322" r:id="rId13"/>
    <p:sldId id="329" r:id="rId14"/>
    <p:sldId id="323" r:id="rId15"/>
    <p:sldId id="305" r:id="rId16"/>
    <p:sldId id="324" r:id="rId17"/>
    <p:sldId id="325" r:id="rId18"/>
    <p:sldId id="307" r:id="rId19"/>
    <p:sldId id="309" r:id="rId20"/>
    <p:sldId id="326" r:id="rId21"/>
    <p:sldId id="319" r:id="rId22"/>
    <p:sldId id="320" r:id="rId23"/>
    <p:sldId id="321" r:id="rId24"/>
    <p:sldId id="310" r:id="rId25"/>
    <p:sldId id="311" r:id="rId26"/>
    <p:sldId id="314" r:id="rId27"/>
    <p:sldId id="315" r:id="rId28"/>
    <p:sldId id="313" r:id="rId29"/>
    <p:sldId id="328" r:id="rId30"/>
    <p:sldId id="312" r:id="rId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5F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41" d="100"/>
          <a:sy n="41" d="100"/>
        </p:scale>
        <p:origin x="-70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D7B85-3E79-4927-B30D-2D9AE25CD553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617F1-015C-4651-AEDF-81FE079D12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2276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B896B-4ED4-4975-B1C9-A1FCAC280AFF}" type="datetimeFigureOut">
              <a:rPr lang="en-US" smtClean="0"/>
              <a:pPr/>
              <a:t>6/23/2017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3F690-CB1D-4776-8BD6-92088C8D75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4876800"/>
            <a:ext cx="9144000" cy="19812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962144"/>
            <a:ext cx="2249424" cy="180441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953000"/>
            <a:ext cx="6784848" cy="1804417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2133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5000821"/>
            <a:ext cx="6705600" cy="1735017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5019483"/>
            <a:ext cx="2057400" cy="1735017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342326C-5C9C-405F-9E7B-4B2C56CC1B31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>
            <a:lvl1pPr algn="ctr">
              <a:defRPr sz="54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8A838-133E-4EB6-A388-32FC0F282290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450850" indent="-450850" algn="just">
              <a:spcBef>
                <a:spcPts val="0"/>
              </a:spcBef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spcBef>
                <a:spcPts val="0"/>
              </a:spcBef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spcBef>
                <a:spcPts val="0"/>
              </a:spcBef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spcBef>
                <a:spcPts val="0"/>
              </a:spcBef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spcBef>
                <a:spcPts val="0"/>
              </a:spcBef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25146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25908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25908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5908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9532-939E-44C8-89FC-CBDB1D06EAFD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2735262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87EEF51-AB79-473F-AD43-39F7E7ED148B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5CE102E-E373-4677-850C-208886B9B891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82FE-C62C-4587-8FB6-553F3734AF99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489F-D63E-4A1D-B14E-1AC7789B4D6D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C86A-9E10-48E7-AD2B-D70A9D3AD8C5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6D288CF6-A910-4FF9-A0DF-B6F005345988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C589-A448-41F7-BB94-FB0DE89378E1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1F07110-65BE-477A-B57A-30304C22A91B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B42B07E-922D-48D6-8C1F-D44F1B4B898F}" type="datetime1">
              <a:rPr lang="en-US" smtClean="0"/>
              <a:t>6/23/2017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49B6E90-2126-4907-AB54-16B9446DD5E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00100" y="1371600"/>
            <a:ext cx="7543800" cy="2590800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b="1" dirty="0" smtClean="0">
                <a:latin typeface="Calibri" panose="020F0502020204030204" pitchFamily="34" charset="0"/>
              </a:rPr>
              <a:t>CENG 291 ENGINEERING IN SOCIETY</a:t>
            </a:r>
            <a:endParaRPr lang="en-US" sz="5400" b="1" dirty="0">
              <a:latin typeface="Calibri" panose="020F0502020204030204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371600" y="4038600"/>
            <a:ext cx="7123113" cy="16732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chemeClr val="tx1"/>
                </a:solidFill>
              </a:rPr>
              <a:t>STRUCTURE OF PROJECT REPORT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4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Elements of Good Technical </a:t>
            </a:r>
            <a:r>
              <a:rPr lang="en-GB" sz="4400" dirty="0" smtClean="0"/>
              <a:t>Communication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b="1" dirty="0" smtClean="0"/>
              <a:t>Clear</a:t>
            </a:r>
            <a:endParaRPr lang="en-GB" sz="4000" dirty="0" smtClean="0"/>
          </a:p>
          <a:p>
            <a:pPr lvl="1" algn="l"/>
            <a:r>
              <a:rPr lang="en-GB" sz="3700" dirty="0" smtClean="0"/>
              <a:t>Unambiguous</a:t>
            </a:r>
          </a:p>
          <a:p>
            <a:pPr lvl="1" algn="l"/>
            <a:r>
              <a:rPr lang="en-GB" sz="3700" dirty="0" smtClean="0"/>
              <a:t>Exact </a:t>
            </a:r>
            <a:r>
              <a:rPr lang="en-GB" sz="3700" dirty="0"/>
              <a:t>meaning </a:t>
            </a:r>
            <a:r>
              <a:rPr lang="en-GB" sz="3700" dirty="0" smtClean="0"/>
              <a:t>conveyed</a:t>
            </a:r>
          </a:p>
          <a:p>
            <a:pPr lvl="1" algn="l"/>
            <a:r>
              <a:rPr lang="en-GB" sz="3700" dirty="0" smtClean="0"/>
              <a:t>Symbols </a:t>
            </a:r>
            <a:r>
              <a:rPr lang="en-GB" sz="3700" dirty="0"/>
              <a:t>fully </a:t>
            </a:r>
            <a:r>
              <a:rPr lang="en-GB" sz="3700" dirty="0" smtClean="0"/>
              <a:t>defined</a:t>
            </a:r>
          </a:p>
          <a:p>
            <a:pPr lvl="1" algn="l"/>
            <a:r>
              <a:rPr lang="en-GB" sz="3700" dirty="0" smtClean="0"/>
              <a:t>Figures </a:t>
            </a:r>
            <a:r>
              <a:rPr lang="en-GB" sz="3700" dirty="0"/>
              <a:t>and tables easily </a:t>
            </a:r>
            <a:r>
              <a:rPr lang="en-GB" sz="3700" dirty="0" smtClean="0"/>
              <a:t>understood</a:t>
            </a:r>
            <a:endParaRPr lang="en-GB" sz="3700" dirty="0"/>
          </a:p>
        </p:txBody>
      </p:sp>
    </p:spTree>
    <p:extLst>
      <p:ext uri="{BB962C8B-B14F-4D97-AF65-F5344CB8AC3E}">
        <p14:creationId xmlns:p14="http://schemas.microsoft.com/office/powerpoint/2010/main" val="417204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Elements of Good Technical </a:t>
            </a:r>
            <a:r>
              <a:rPr lang="en-GB" sz="4400" dirty="0" smtClean="0"/>
              <a:t>Communication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b="1" dirty="0" smtClean="0"/>
              <a:t>Concise</a:t>
            </a:r>
          </a:p>
          <a:p>
            <a:pPr lvl="1" algn="l"/>
            <a:r>
              <a:rPr lang="en-GB" sz="3700" dirty="0" smtClean="0"/>
              <a:t>Omission </a:t>
            </a:r>
            <a:r>
              <a:rPr lang="en-GB" sz="3700" dirty="0"/>
              <a:t>of irrelevant </a:t>
            </a:r>
            <a:r>
              <a:rPr lang="en-GB" sz="3700" dirty="0" smtClean="0"/>
              <a:t>data</a:t>
            </a:r>
          </a:p>
          <a:p>
            <a:pPr lvl="1" algn="l"/>
            <a:r>
              <a:rPr lang="en-GB" sz="3700" dirty="0" smtClean="0"/>
              <a:t>Try </a:t>
            </a:r>
            <a:r>
              <a:rPr lang="en-GB" sz="3700" dirty="0"/>
              <a:t>to answer the Who, </a:t>
            </a:r>
            <a:r>
              <a:rPr lang="en-GB" sz="3700" dirty="0" smtClean="0"/>
              <a:t>What</a:t>
            </a:r>
            <a:r>
              <a:rPr lang="en-GB" sz="3700" dirty="0"/>
              <a:t>, </a:t>
            </a:r>
            <a:r>
              <a:rPr lang="en-GB" sz="3700" dirty="0" smtClean="0"/>
              <a:t>Why, Where </a:t>
            </a:r>
            <a:r>
              <a:rPr lang="en-GB" sz="3700" dirty="0"/>
              <a:t>and the </a:t>
            </a:r>
            <a:r>
              <a:rPr lang="en-GB" sz="3700" dirty="0" smtClean="0"/>
              <a:t>How</a:t>
            </a:r>
          </a:p>
          <a:p>
            <a:pPr lvl="1" algn="l"/>
            <a:r>
              <a:rPr lang="en-GB" sz="3700" dirty="0" smtClean="0"/>
              <a:t>Be </a:t>
            </a:r>
            <a:r>
              <a:rPr lang="en-GB" sz="3700" dirty="0"/>
              <a:t>careful not to </a:t>
            </a:r>
            <a:r>
              <a:rPr lang="en-GB" sz="3700" dirty="0" smtClean="0"/>
              <a:t>oversimplify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65081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Elements of Good Technical </a:t>
            </a:r>
            <a:r>
              <a:rPr lang="en-GB" sz="4400" dirty="0" smtClean="0"/>
              <a:t>Communication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b="1" dirty="0"/>
              <a:t>Appropriate writing </a:t>
            </a:r>
            <a:r>
              <a:rPr lang="en-GB" sz="4000" b="1" dirty="0" smtClean="0"/>
              <a:t>Style</a:t>
            </a:r>
          </a:p>
          <a:p>
            <a:pPr lvl="1" algn="l"/>
            <a:r>
              <a:rPr lang="en-GB" sz="3700" dirty="0" smtClean="0"/>
              <a:t>Active </a:t>
            </a:r>
            <a:r>
              <a:rPr lang="en-GB" sz="3700" dirty="0"/>
              <a:t>vs. Passive </a:t>
            </a:r>
            <a:r>
              <a:rPr lang="en-GB" sz="3700" dirty="0" smtClean="0"/>
              <a:t>Voice</a:t>
            </a:r>
          </a:p>
          <a:p>
            <a:pPr lvl="1" algn="l"/>
            <a:r>
              <a:rPr lang="en-GB" sz="3700" dirty="0" smtClean="0"/>
              <a:t>Use </a:t>
            </a:r>
            <a:r>
              <a:rPr lang="en-GB" sz="3700" dirty="0"/>
              <a:t>words to convey the appropriate </a:t>
            </a:r>
            <a:r>
              <a:rPr lang="en-GB" sz="3700" dirty="0" smtClean="0"/>
              <a:t>meaning</a:t>
            </a:r>
            <a:endParaRPr lang="en-GB" sz="3700" dirty="0"/>
          </a:p>
          <a:p>
            <a:pPr lvl="1" algn="l"/>
            <a:r>
              <a:rPr lang="en-GB" sz="3700" dirty="0" smtClean="0"/>
              <a:t>Avoid </a:t>
            </a:r>
            <a:r>
              <a:rPr lang="en-GB" sz="3700" dirty="0"/>
              <a:t>technical </a:t>
            </a:r>
            <a:r>
              <a:rPr lang="en-GB" sz="3700" dirty="0" smtClean="0"/>
              <a:t>jargon</a:t>
            </a:r>
            <a:endParaRPr lang="en-GB" sz="3700" dirty="0"/>
          </a:p>
          <a:p>
            <a:pPr lvl="1" algn="l"/>
            <a:r>
              <a:rPr lang="en-GB" sz="3700" dirty="0" smtClean="0"/>
              <a:t>Define </a:t>
            </a:r>
            <a:r>
              <a:rPr lang="en-GB" sz="3700" dirty="0"/>
              <a:t>jargon if </a:t>
            </a:r>
            <a:r>
              <a:rPr lang="en-GB" sz="3700" dirty="0" smtClean="0"/>
              <a:t>necessary</a:t>
            </a:r>
            <a:endParaRPr lang="en-GB" sz="3100" dirty="0"/>
          </a:p>
        </p:txBody>
      </p:sp>
    </p:spTree>
    <p:extLst>
      <p:ext uri="{BB962C8B-B14F-4D97-AF65-F5344CB8AC3E}">
        <p14:creationId xmlns:p14="http://schemas.microsoft.com/office/powerpoint/2010/main" val="313386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Elements of Good Technical </a:t>
            </a:r>
            <a:r>
              <a:rPr lang="en-GB" sz="4400" dirty="0" smtClean="0"/>
              <a:t>Communication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b="1" dirty="0"/>
              <a:t>Guide your r</a:t>
            </a:r>
            <a:r>
              <a:rPr lang="en-GB" sz="4000" b="1" dirty="0" smtClean="0"/>
              <a:t>eader</a:t>
            </a:r>
            <a:endParaRPr lang="en-GB" sz="4000" dirty="0"/>
          </a:p>
          <a:p>
            <a:pPr lvl="1" algn="l"/>
            <a:r>
              <a:rPr lang="en-GB" sz="3600" dirty="0" smtClean="0"/>
              <a:t>Tell </a:t>
            </a:r>
            <a:r>
              <a:rPr lang="en-GB" sz="3600" dirty="0"/>
              <a:t>readers what you plan to tell them (Introduction</a:t>
            </a:r>
            <a:r>
              <a:rPr lang="en-GB" sz="3600" dirty="0" smtClean="0"/>
              <a:t>).</a:t>
            </a:r>
          </a:p>
          <a:p>
            <a:pPr lvl="1" algn="l"/>
            <a:r>
              <a:rPr lang="en-GB" sz="3600" dirty="0" smtClean="0"/>
              <a:t>Then </a:t>
            </a:r>
            <a:r>
              <a:rPr lang="en-GB" sz="3600" dirty="0"/>
              <a:t>tell them (main text</a:t>
            </a:r>
            <a:r>
              <a:rPr lang="en-GB" sz="3600" dirty="0" smtClean="0"/>
              <a:t>).</a:t>
            </a:r>
          </a:p>
          <a:p>
            <a:pPr lvl="1" algn="l"/>
            <a:r>
              <a:rPr lang="en-GB" sz="3600" dirty="0" smtClean="0"/>
              <a:t>Finally </a:t>
            </a:r>
            <a:r>
              <a:rPr lang="en-GB" sz="3600" dirty="0"/>
              <a:t>tell them what you told them (Summary of Results or</a:t>
            </a:r>
            <a:br>
              <a:rPr lang="en-GB" sz="3600" dirty="0"/>
            </a:br>
            <a:r>
              <a:rPr lang="en-GB" sz="3600" dirty="0"/>
              <a:t>Conclusions</a:t>
            </a:r>
            <a:r>
              <a:rPr lang="en-GB" sz="3600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581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Elements of Good Technical </a:t>
            </a:r>
            <a:r>
              <a:rPr lang="en-GB" sz="4400" dirty="0" smtClean="0"/>
              <a:t>Communication</a:t>
            </a: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b="1" dirty="0"/>
              <a:t>Guide your </a:t>
            </a:r>
            <a:r>
              <a:rPr lang="en-GB" sz="4000" b="1" dirty="0" smtClean="0"/>
              <a:t>Reader</a:t>
            </a:r>
            <a:endParaRPr lang="en-GB" sz="4000" dirty="0"/>
          </a:p>
          <a:p>
            <a:pPr lvl="1" algn="l"/>
            <a:r>
              <a:rPr lang="en-GB" sz="3700" dirty="0" smtClean="0"/>
              <a:t>State your </a:t>
            </a:r>
            <a:r>
              <a:rPr lang="en-GB" sz="3700" dirty="0"/>
              <a:t>purpose </a:t>
            </a:r>
            <a:r>
              <a:rPr lang="en-GB" sz="3700" dirty="0" smtClean="0"/>
              <a:t>clearly</a:t>
            </a:r>
          </a:p>
          <a:p>
            <a:pPr lvl="1" algn="l"/>
            <a:r>
              <a:rPr lang="en-GB" sz="3700" dirty="0" smtClean="0"/>
              <a:t>Get </a:t>
            </a:r>
            <a:r>
              <a:rPr lang="en-GB" sz="3700" dirty="0"/>
              <a:t>to the </a:t>
            </a:r>
            <a:r>
              <a:rPr lang="en-GB" sz="3700" dirty="0" smtClean="0"/>
              <a:t>point</a:t>
            </a:r>
          </a:p>
          <a:p>
            <a:pPr lvl="1" algn="l"/>
            <a:r>
              <a:rPr lang="en-GB" sz="3700" dirty="0" smtClean="0"/>
              <a:t>Emphasize </a:t>
            </a:r>
            <a:r>
              <a:rPr lang="en-GB" sz="3700" dirty="0"/>
              <a:t>major </a:t>
            </a:r>
            <a:r>
              <a:rPr lang="en-GB" sz="3700" dirty="0" smtClean="0"/>
              <a:t>ideas</a:t>
            </a:r>
          </a:p>
          <a:p>
            <a:pPr lvl="1" algn="l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5896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Elements of Good Technical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Present </a:t>
            </a:r>
            <a:r>
              <a:rPr lang="en-GB" dirty="0"/>
              <a:t>the information from your </a:t>
            </a:r>
            <a:r>
              <a:rPr lang="en-GB" dirty="0" smtClean="0"/>
              <a:t>work, </a:t>
            </a:r>
            <a:r>
              <a:rPr lang="en-GB" dirty="0"/>
              <a:t>both real world and theoretical, or your </a:t>
            </a:r>
            <a:r>
              <a:rPr lang="en-GB" dirty="0" smtClean="0"/>
              <a:t>design/ drawings.</a:t>
            </a:r>
            <a:endParaRPr lang="en-GB" dirty="0"/>
          </a:p>
          <a:p>
            <a:r>
              <a:rPr lang="en-GB" dirty="0" smtClean="0"/>
              <a:t>Organise </a:t>
            </a:r>
            <a:r>
              <a:rPr lang="en-GB" dirty="0"/>
              <a:t>information logically under appropriate </a:t>
            </a:r>
            <a:r>
              <a:rPr lang="en-GB" dirty="0" smtClean="0"/>
              <a:t>headings.</a:t>
            </a:r>
            <a:endParaRPr lang="en-GB" dirty="0"/>
          </a:p>
          <a:p>
            <a:r>
              <a:rPr lang="en-GB" dirty="0" smtClean="0"/>
              <a:t>Convey </a:t>
            </a:r>
            <a:r>
              <a:rPr lang="en-GB" dirty="0"/>
              <a:t>information in the most effective way for communication:</a:t>
            </a:r>
          </a:p>
          <a:p>
            <a:pPr lvl="1"/>
            <a:r>
              <a:rPr lang="en-GB" dirty="0" smtClean="0"/>
              <a:t>use </a:t>
            </a:r>
            <a:r>
              <a:rPr lang="en-GB" dirty="0"/>
              <a:t>figures and tables</a:t>
            </a:r>
          </a:p>
          <a:p>
            <a:pPr lvl="1"/>
            <a:r>
              <a:rPr lang="en-GB" dirty="0" smtClean="0"/>
              <a:t>You can </a:t>
            </a:r>
            <a:r>
              <a:rPr lang="en-GB" dirty="0"/>
              <a:t>use bulleted or numbered </a:t>
            </a:r>
            <a:r>
              <a:rPr lang="en-GB" dirty="0" smtClean="0"/>
              <a:t>lists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76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Outline of </a:t>
            </a:r>
            <a:r>
              <a:rPr lang="en-GB" dirty="0"/>
              <a:t>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600" dirty="0" smtClean="0"/>
              <a:t>Facing/ Cover page</a:t>
            </a:r>
          </a:p>
          <a:p>
            <a:pPr algn="l"/>
            <a:r>
              <a:rPr lang="en-GB" sz="3600" dirty="0"/>
              <a:t>Acknowledgements</a:t>
            </a:r>
          </a:p>
          <a:p>
            <a:pPr algn="l"/>
            <a:r>
              <a:rPr lang="en-GB" sz="3600" dirty="0" smtClean="0"/>
              <a:t>Abstract </a:t>
            </a:r>
            <a:r>
              <a:rPr lang="en-GB" sz="3600" dirty="0"/>
              <a:t>or </a:t>
            </a:r>
            <a:r>
              <a:rPr lang="en-GB" sz="3600" dirty="0" smtClean="0"/>
              <a:t>Summary</a:t>
            </a:r>
          </a:p>
          <a:p>
            <a:pPr algn="l"/>
            <a:r>
              <a:rPr lang="en-GB" sz="3600" dirty="0" smtClean="0"/>
              <a:t>Table </a:t>
            </a:r>
            <a:r>
              <a:rPr lang="en-GB" sz="3600" dirty="0"/>
              <a:t>of </a:t>
            </a:r>
            <a:r>
              <a:rPr lang="en-GB" sz="3600" dirty="0" smtClean="0"/>
              <a:t>Contents</a:t>
            </a:r>
          </a:p>
          <a:p>
            <a:pPr algn="l"/>
            <a:endParaRPr lang="en-GB" sz="3600" dirty="0" smtClean="0"/>
          </a:p>
        </p:txBody>
      </p:sp>
    </p:spTree>
    <p:extLst>
      <p:ext uri="{BB962C8B-B14F-4D97-AF65-F5344CB8AC3E}">
        <p14:creationId xmlns:p14="http://schemas.microsoft.com/office/powerpoint/2010/main" val="33879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Parts of a Technical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l"/>
            <a:r>
              <a:rPr lang="en-GB" sz="3600" dirty="0"/>
              <a:t>Introduction</a:t>
            </a:r>
          </a:p>
          <a:p>
            <a:pPr algn="l"/>
            <a:r>
              <a:rPr lang="en-GB" sz="3600" dirty="0" smtClean="0"/>
              <a:t>Materials and Methods</a:t>
            </a:r>
          </a:p>
          <a:p>
            <a:pPr algn="l"/>
            <a:r>
              <a:rPr lang="en-GB" sz="3600" dirty="0" smtClean="0"/>
              <a:t>Results and Discussion</a:t>
            </a:r>
          </a:p>
          <a:p>
            <a:pPr algn="l"/>
            <a:r>
              <a:rPr lang="en-GB" sz="3600" dirty="0" smtClean="0"/>
              <a:t>Conclusion and Recommendations</a:t>
            </a:r>
          </a:p>
          <a:p>
            <a:pPr algn="l"/>
            <a:r>
              <a:rPr lang="en-GB" sz="3600" dirty="0" smtClean="0"/>
              <a:t>References</a:t>
            </a:r>
          </a:p>
          <a:p>
            <a:pPr algn="l"/>
            <a:r>
              <a:rPr lang="en-GB" sz="3600" dirty="0" smtClean="0"/>
              <a:t>Appendix </a:t>
            </a:r>
            <a:r>
              <a:rPr lang="en-GB" sz="3600" dirty="0"/>
              <a:t>(</a:t>
            </a:r>
            <a:r>
              <a:rPr lang="en-GB" sz="3600" dirty="0" err="1"/>
              <a:t>es</a:t>
            </a:r>
            <a:r>
              <a:rPr lang="en-GB" sz="3600" dirty="0" smtClean="0"/>
              <a:t>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82184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Facing Page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This page </a:t>
            </a:r>
            <a:r>
              <a:rPr lang="en-GB" dirty="0" smtClean="0"/>
              <a:t>shows the student’s:</a:t>
            </a:r>
            <a:endParaRPr lang="en-GB" dirty="0"/>
          </a:p>
          <a:p>
            <a:pPr lvl="1"/>
            <a:r>
              <a:rPr lang="en-US" dirty="0" smtClean="0"/>
              <a:t>University name</a:t>
            </a:r>
          </a:p>
          <a:p>
            <a:pPr lvl="1"/>
            <a:r>
              <a:rPr lang="en-US" dirty="0" smtClean="0"/>
              <a:t>College </a:t>
            </a:r>
            <a:endParaRPr lang="en-US" dirty="0"/>
          </a:p>
          <a:p>
            <a:pPr lvl="1"/>
            <a:r>
              <a:rPr lang="en-US" dirty="0"/>
              <a:t>Department </a:t>
            </a:r>
          </a:p>
          <a:p>
            <a:pPr lvl="1"/>
            <a:r>
              <a:rPr lang="en-US" dirty="0"/>
              <a:t>Title of </a:t>
            </a:r>
            <a:r>
              <a:rPr lang="en-US" dirty="0" smtClean="0"/>
              <a:t>Report </a:t>
            </a:r>
            <a:endParaRPr lang="en-US" dirty="0"/>
          </a:p>
          <a:p>
            <a:pPr lvl="1"/>
            <a:r>
              <a:rPr lang="en-US" dirty="0" smtClean="0"/>
              <a:t>Name </a:t>
            </a:r>
          </a:p>
          <a:p>
            <a:pPr lvl="1"/>
            <a:r>
              <a:rPr lang="en-US" dirty="0" smtClean="0"/>
              <a:t>Index Number</a:t>
            </a:r>
            <a:endParaRPr lang="en-US" dirty="0"/>
          </a:p>
          <a:p>
            <a:pPr lvl="1"/>
            <a:r>
              <a:rPr lang="en-US" dirty="0"/>
              <a:t>Month and </a:t>
            </a:r>
            <a:r>
              <a:rPr lang="en-US" dirty="0" smtClean="0"/>
              <a:t>Year of Submission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19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of Title Page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9144000" cy="5257800"/>
          </a:xfrm>
        </p:spPr>
        <p:txBody>
          <a:bodyPr>
            <a:normAutofit lnSpcReduction="10000"/>
          </a:bodyPr>
          <a:lstStyle/>
          <a:p>
            <a:pPr marL="0" lvl="1" indent="0" algn="ctr">
              <a:buNone/>
            </a:pPr>
            <a:r>
              <a:rPr lang="en-GB" sz="2200" b="1" dirty="0" smtClean="0"/>
              <a:t>KWAME NKRUMAH UNIVERSITY OF SCIENCE AND TECHNOLOGY KUMASI, GHANA</a:t>
            </a:r>
          </a:p>
          <a:p>
            <a:pPr marL="0" lvl="1" indent="0" algn="ctr">
              <a:buNone/>
            </a:pPr>
            <a:r>
              <a:rPr lang="en-GB" sz="2200" b="1" dirty="0" smtClean="0"/>
              <a:t>COLLEGE OF ENGINEERING</a:t>
            </a:r>
          </a:p>
          <a:p>
            <a:pPr marL="0" lvl="1" indent="0" algn="ctr">
              <a:buNone/>
            </a:pPr>
            <a:r>
              <a:rPr lang="en-GB" sz="2200" b="1" dirty="0" smtClean="0"/>
              <a:t>DEPARTMENT OF AGRICULTURAL ENGINEERING</a:t>
            </a:r>
          </a:p>
          <a:p>
            <a:pPr marL="0" lvl="1" indent="0" algn="ctr">
              <a:buNone/>
            </a:pPr>
            <a:r>
              <a:rPr lang="en-GB" sz="2200" b="1" dirty="0" smtClean="0"/>
              <a:t>CENG 291 ENGINEERING IN SOCIETY</a:t>
            </a:r>
          </a:p>
          <a:p>
            <a:pPr marL="0" lvl="1" indent="0" algn="ctr">
              <a:buNone/>
            </a:pPr>
            <a:r>
              <a:rPr lang="en-GB" sz="2200" b="1" dirty="0" smtClean="0"/>
              <a:t>IMPROVEMENT OF IRRIGATION TECHNIQUES FOR FARMERS IN BANKYEKROM</a:t>
            </a:r>
            <a:endParaRPr lang="en-GB" sz="2200" b="1" dirty="0"/>
          </a:p>
          <a:p>
            <a:pPr marL="0" lvl="1" indent="0" algn="ctr">
              <a:buNone/>
            </a:pPr>
            <a:endParaRPr lang="en-GB" sz="2200" b="1" dirty="0" smtClean="0">
              <a:solidFill>
                <a:srgbClr val="00B050"/>
              </a:solidFill>
            </a:endParaRPr>
          </a:p>
          <a:p>
            <a:pPr marL="0" lvl="1" indent="0" algn="ctr">
              <a:buNone/>
            </a:pPr>
            <a:r>
              <a:rPr lang="en-GB" sz="2200" b="1" dirty="0" smtClean="0"/>
              <a:t>NAME: KWEKU ANANSE</a:t>
            </a:r>
          </a:p>
          <a:p>
            <a:pPr marL="0" lvl="1" indent="0" algn="ctr">
              <a:buNone/>
            </a:pPr>
            <a:r>
              <a:rPr lang="en-GB" sz="2200" b="1" dirty="0" smtClean="0"/>
              <a:t>INDEX NO.: 0000000</a:t>
            </a:r>
          </a:p>
          <a:p>
            <a:pPr marL="0" lvl="1" indent="0" algn="ctr">
              <a:buNone/>
            </a:pPr>
            <a:r>
              <a:rPr lang="en-GB" sz="2200" b="1" dirty="0" smtClean="0"/>
              <a:t>JANUARY 1777</a:t>
            </a:r>
          </a:p>
        </p:txBody>
      </p:sp>
    </p:spTree>
    <p:extLst>
      <p:ext uri="{BB962C8B-B14F-4D97-AF65-F5344CB8AC3E}">
        <p14:creationId xmlns:p14="http://schemas.microsoft.com/office/powerpoint/2010/main" val="71922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Acknowledgement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524000"/>
          </a:xfrm>
        </p:spPr>
        <p:txBody>
          <a:bodyPr>
            <a:normAutofit/>
          </a:bodyPr>
          <a:lstStyle/>
          <a:p>
            <a:pPr marL="342900" lvl="1" indent="-273050"/>
            <a:r>
              <a:rPr lang="en-GB" dirty="0" smtClean="0"/>
              <a:t>Acknowledge contributors and supporters of the project.</a:t>
            </a:r>
          </a:p>
          <a:p>
            <a:pPr marL="342900" lvl="1" indent="-273050"/>
            <a:r>
              <a:rPr lang="en-GB" dirty="0" smtClean="0"/>
              <a:t>Keep it not more than a paragraph.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12648" y="3500436"/>
            <a:ext cx="8153400" cy="2976563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rmAutofit/>
          </a:bodyPr>
          <a:lstStyle>
            <a:lvl1pPr marL="450850" indent="-450850" algn="just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just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just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-228600" algn="just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-228600" algn="just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850" lvl="1" indent="0">
              <a:buNone/>
            </a:pPr>
            <a:r>
              <a:rPr lang="en-GB" sz="2000" dirty="0" smtClean="0"/>
              <a:t>I would like to thank my supervisor, Mr. K. </a:t>
            </a:r>
            <a:r>
              <a:rPr lang="en-GB" sz="2000" dirty="0" err="1" smtClean="0"/>
              <a:t>Ntikuma</a:t>
            </a:r>
            <a:r>
              <a:rPr lang="en-GB" sz="2000" dirty="0" smtClean="0"/>
              <a:t> for the invaluable advice and support he gave me in carrying out this project and writing this report. I would also like to thank Mr. Q. R. S. T. </a:t>
            </a:r>
            <a:r>
              <a:rPr lang="en-GB" sz="2000" dirty="0" err="1" smtClean="0"/>
              <a:t>Yuu</a:t>
            </a:r>
            <a:r>
              <a:rPr lang="en-GB" sz="2000" dirty="0" smtClean="0"/>
              <a:t>, the chief engineer at …………………………….. 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25196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0"/>
            <a:ext cx="8372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20472"/>
            <a:ext cx="8372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36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000" dirty="0" smtClean="0"/>
              <a:t>Abstract</a:t>
            </a:r>
            <a:endParaRPr lang="en-GB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l">
              <a:spcAft>
                <a:spcPts val="1200"/>
              </a:spcAft>
            </a:pPr>
            <a:r>
              <a:rPr lang="en-GB" sz="2600" dirty="0" smtClean="0"/>
              <a:t>It is a summary of the report.</a:t>
            </a:r>
          </a:p>
          <a:p>
            <a:pPr algn="l">
              <a:spcAft>
                <a:spcPts val="1200"/>
              </a:spcAft>
            </a:pPr>
            <a:r>
              <a:rPr lang="en-GB" sz="2600" dirty="0" smtClean="0"/>
              <a:t>It includes </a:t>
            </a:r>
            <a:r>
              <a:rPr lang="en-GB" sz="2600" dirty="0"/>
              <a:t>purpose, methods</a:t>
            </a:r>
            <a:r>
              <a:rPr lang="en-GB" sz="2600" dirty="0" smtClean="0"/>
              <a:t>, </a:t>
            </a:r>
            <a:r>
              <a:rPr lang="en-GB" sz="2600" dirty="0"/>
              <a:t>results, conclusions, </a:t>
            </a:r>
            <a:r>
              <a:rPr lang="en-GB" sz="2600" dirty="0" smtClean="0"/>
              <a:t>and recommendations</a:t>
            </a:r>
          </a:p>
          <a:p>
            <a:pPr algn="l">
              <a:spcAft>
                <a:spcPts val="1200"/>
              </a:spcAft>
            </a:pPr>
            <a:r>
              <a:rPr lang="en-GB" sz="2600" dirty="0" smtClean="0"/>
              <a:t>It highlights </a:t>
            </a:r>
            <a:r>
              <a:rPr lang="en-GB" sz="2600" dirty="0"/>
              <a:t>essential </a:t>
            </a:r>
            <a:r>
              <a:rPr lang="en-GB" sz="2600" dirty="0" smtClean="0"/>
              <a:t>points of the report.</a:t>
            </a:r>
          </a:p>
          <a:p>
            <a:pPr algn="l">
              <a:spcAft>
                <a:spcPts val="1200"/>
              </a:spcAft>
            </a:pPr>
            <a:r>
              <a:rPr lang="en-GB" sz="2600" dirty="0" smtClean="0"/>
              <a:t>It follows </a:t>
            </a:r>
            <a:r>
              <a:rPr lang="en-GB" sz="2600" dirty="0"/>
              <a:t>strictly the chronology of the report</a:t>
            </a:r>
          </a:p>
          <a:p>
            <a:pPr algn="l">
              <a:spcAft>
                <a:spcPts val="1200"/>
              </a:spcAft>
            </a:pPr>
            <a:r>
              <a:rPr lang="en-GB" sz="2600" dirty="0" smtClean="0"/>
              <a:t>For this course, keep the abstract not more than half a page. </a:t>
            </a:r>
          </a:p>
          <a:p>
            <a:pPr algn="l">
              <a:spcAft>
                <a:spcPts val="1200"/>
              </a:spcAft>
            </a:pPr>
            <a:r>
              <a:rPr lang="en-GB" sz="2600" dirty="0" smtClean="0"/>
              <a:t>The abstract also adds </a:t>
            </a:r>
            <a:r>
              <a:rPr lang="en-GB" sz="2600" dirty="0"/>
              <a:t>no new information but simply summarizes the </a:t>
            </a:r>
            <a:r>
              <a:rPr lang="en-GB" sz="2600" dirty="0" smtClean="0"/>
              <a:t>report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75488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List of Tables</a:t>
            </a:r>
            <a:r>
              <a:rPr lang="en-GB" dirty="0"/>
              <a:t> </a:t>
            </a:r>
            <a:r>
              <a:rPr lang="en-GB" dirty="0" smtClean="0"/>
              <a:t>and Figures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53000"/>
          </a:xfrm>
        </p:spPr>
        <p:txBody>
          <a:bodyPr>
            <a:noAutofit/>
          </a:bodyPr>
          <a:lstStyle/>
          <a:p>
            <a:pPr marL="271463" indent="-271463">
              <a:lnSpc>
                <a:spcPct val="120000"/>
              </a:lnSpc>
            </a:pPr>
            <a:r>
              <a:rPr lang="en-GB" sz="2800" dirty="0" smtClean="0"/>
              <a:t>Figures include pictures, graphs</a:t>
            </a:r>
            <a:r>
              <a:rPr lang="en-GB" sz="2800" dirty="0"/>
              <a:t> </a:t>
            </a:r>
            <a:r>
              <a:rPr lang="en-GB" sz="2800" dirty="0" smtClean="0"/>
              <a:t>and charts.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/>
              <a:t>The list should </a:t>
            </a:r>
            <a:r>
              <a:rPr lang="en-GB" sz="2800" dirty="0"/>
              <a:t>include the table or figure number, the exact title and the page where it is </a:t>
            </a:r>
            <a:r>
              <a:rPr lang="en-GB" sz="2800" dirty="0" smtClean="0"/>
              <a:t>found.</a:t>
            </a:r>
            <a:endParaRPr lang="en-GB" sz="2800" dirty="0"/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/>
              <a:t>Tables </a:t>
            </a:r>
            <a:r>
              <a:rPr lang="en-GB" sz="2800" dirty="0"/>
              <a:t>and figures should stand on their own without reference to the text but they need to be referred to in the </a:t>
            </a:r>
            <a:r>
              <a:rPr lang="en-GB" sz="2800" dirty="0" smtClean="0"/>
              <a:t>text.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23389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List of Tables</a:t>
            </a:r>
            <a:r>
              <a:rPr lang="en-GB" dirty="0"/>
              <a:t> </a:t>
            </a:r>
            <a:r>
              <a:rPr lang="en-GB" dirty="0" smtClean="0"/>
              <a:t>and Figures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2690813"/>
            <a:ext cx="8937625" cy="104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962400"/>
            <a:ext cx="8932863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156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100" dirty="0"/>
              <a:t>Brief background to the </a:t>
            </a:r>
            <a:r>
              <a:rPr lang="en-US" sz="3100" dirty="0" smtClean="0"/>
              <a:t>Course</a:t>
            </a:r>
            <a:r>
              <a:rPr lang="en-US" sz="3100" dirty="0"/>
              <a:t> </a:t>
            </a:r>
            <a:r>
              <a:rPr lang="en-US" sz="3100" dirty="0" smtClean="0"/>
              <a:t>and your specific project.</a:t>
            </a:r>
            <a:endParaRPr lang="en-US" sz="3100" dirty="0"/>
          </a:p>
          <a:p>
            <a:r>
              <a:rPr lang="en-US" sz="3100" dirty="0"/>
              <a:t>Objectives of the </a:t>
            </a:r>
            <a:r>
              <a:rPr lang="en-US" sz="3100" dirty="0" smtClean="0"/>
              <a:t>assignment under the heading </a:t>
            </a:r>
            <a:r>
              <a:rPr lang="en-GB" sz="2800" b="1" dirty="0" smtClean="0"/>
              <a:t>Aim and Objectives</a:t>
            </a:r>
          </a:p>
          <a:p>
            <a:endParaRPr lang="en-GB" sz="2800" b="1" dirty="0" smtClean="0"/>
          </a:p>
          <a:p>
            <a:r>
              <a:rPr lang="en-GB" sz="2800" b="1" dirty="0" smtClean="0"/>
              <a:t>Do not show figures, tables and bulleted/ numbered points in the introduction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342103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000" dirty="0" smtClean="0"/>
              <a:t>Materials and Methods</a:t>
            </a:r>
            <a:endParaRPr lang="en-GB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100" dirty="0"/>
              <a:t>Describe how you identified the problem,</a:t>
            </a:r>
          </a:p>
          <a:p>
            <a:r>
              <a:rPr lang="en-US" sz="3100" dirty="0"/>
              <a:t>Describe how you prepared the map</a:t>
            </a:r>
          </a:p>
          <a:p>
            <a:r>
              <a:rPr lang="en-US" sz="3100" dirty="0"/>
              <a:t>Describe how you went about collecting the </a:t>
            </a:r>
            <a:r>
              <a:rPr lang="en-US" sz="3100" dirty="0" smtClean="0"/>
              <a:t>data</a:t>
            </a:r>
          </a:p>
          <a:p>
            <a:pPr lvl="1"/>
            <a:r>
              <a:rPr lang="en-US" sz="2800" dirty="0" smtClean="0"/>
              <a:t>State all the materials/ resources used in these processes.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3201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000" dirty="0"/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100" dirty="0" smtClean="0"/>
              <a:t>Description </a:t>
            </a:r>
            <a:r>
              <a:rPr lang="en-US" sz="3100" dirty="0"/>
              <a:t>of the </a:t>
            </a:r>
            <a:r>
              <a:rPr lang="en-US" sz="3100" dirty="0" smtClean="0"/>
              <a:t>community </a:t>
            </a:r>
            <a:r>
              <a:rPr lang="en-US" sz="3100" dirty="0"/>
              <a:t>(your map should be placed here) </a:t>
            </a:r>
          </a:p>
          <a:p>
            <a:r>
              <a:rPr lang="en-US" sz="3100" dirty="0"/>
              <a:t>Description of the nature and characteristics of the problem</a:t>
            </a:r>
          </a:p>
          <a:p>
            <a:r>
              <a:rPr lang="en-US" sz="3100" dirty="0"/>
              <a:t>Description </a:t>
            </a:r>
            <a:r>
              <a:rPr lang="en-US" sz="3100" dirty="0" smtClean="0"/>
              <a:t>of your </a:t>
            </a:r>
            <a:r>
              <a:rPr lang="en-US" sz="3100" dirty="0"/>
              <a:t>area of engineering and the different branches</a:t>
            </a:r>
          </a:p>
          <a:p>
            <a:r>
              <a:rPr lang="en-GB" sz="3200" dirty="0" smtClean="0"/>
              <a:t>Description of how </a:t>
            </a:r>
            <a:r>
              <a:rPr lang="en-GB" sz="3200" dirty="0"/>
              <a:t>the problem may be solved using knowledge from </a:t>
            </a:r>
            <a:r>
              <a:rPr lang="en-GB" sz="3200" dirty="0" smtClean="0"/>
              <a:t>your programme </a:t>
            </a:r>
            <a:r>
              <a:rPr lang="en-GB" sz="3200" dirty="0"/>
              <a:t>of </a:t>
            </a:r>
            <a:r>
              <a:rPr lang="en-GB" sz="3200" dirty="0" smtClean="0"/>
              <a:t>study</a:t>
            </a:r>
            <a:endParaRPr lang="en-US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83538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600" dirty="0" smtClean="0"/>
              <a:t>Tables and Figures</a:t>
            </a:r>
            <a:endParaRPr lang="en-GB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Give </a:t>
            </a:r>
            <a:r>
              <a:rPr lang="en-GB" dirty="0" smtClean="0"/>
              <a:t>each figure </a:t>
            </a:r>
            <a:r>
              <a:rPr lang="en-GB" dirty="0"/>
              <a:t>and </a:t>
            </a:r>
            <a:r>
              <a:rPr lang="en-GB" dirty="0" smtClean="0"/>
              <a:t>table </a:t>
            </a:r>
            <a:r>
              <a:rPr lang="en-GB" dirty="0"/>
              <a:t>a number and title</a:t>
            </a:r>
            <a:r>
              <a:rPr lang="en-GB" dirty="0" smtClean="0"/>
              <a:t>.</a:t>
            </a:r>
          </a:p>
          <a:p>
            <a:r>
              <a:rPr lang="en-GB" dirty="0"/>
              <a:t>Refer to each figure and table in the text of the </a:t>
            </a:r>
            <a:r>
              <a:rPr lang="en-GB" dirty="0" smtClean="0"/>
              <a:t>report.</a:t>
            </a:r>
          </a:p>
          <a:p>
            <a:r>
              <a:rPr lang="en-GB" dirty="0"/>
              <a:t>The title of a table goes above the table, while the title of a figure goes below the </a:t>
            </a:r>
            <a:r>
              <a:rPr lang="en-GB" dirty="0" smtClean="0"/>
              <a:t>figure.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563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04800"/>
            <a:ext cx="8153400" cy="990600"/>
          </a:xfrm>
        </p:spPr>
        <p:txBody>
          <a:bodyPr/>
          <a:lstStyle/>
          <a:p>
            <a:pPr>
              <a:lnSpc>
                <a:spcPts val="4000"/>
              </a:lnSpc>
            </a:pPr>
            <a:r>
              <a:rPr lang="en-GB" sz="6600" dirty="0"/>
              <a:t>Tables and </a:t>
            </a:r>
            <a:r>
              <a:rPr lang="en-GB" sz="6600" dirty="0" smtClean="0"/>
              <a:t>Figures:</a:t>
            </a:r>
            <a:br>
              <a:rPr lang="en-GB" sz="6600" dirty="0" smtClean="0"/>
            </a:br>
            <a:r>
              <a:rPr lang="en-GB" sz="4800" dirty="0" smtClean="0"/>
              <a:t>Example</a:t>
            </a:r>
            <a:endParaRPr lang="en-GB" sz="66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dirty="0" smtClean="0"/>
              <a:t>Table 1: Number of phones stolen from 8:00 to 9:00 am</a:t>
            </a:r>
            <a:endParaRPr lang="en-GB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2193"/>
          <a:stretch/>
        </p:blipFill>
        <p:spPr>
          <a:xfrm>
            <a:off x="892778" y="2467891"/>
            <a:ext cx="7593140" cy="439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600" dirty="0"/>
              <a:t>Tables and Figures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12648" y="5867400"/>
            <a:ext cx="8153400" cy="6858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 smtClean="0"/>
              <a:t>Figure 1: Centre lathe</a:t>
            </a:r>
            <a:endParaRPr lang="en-GB" dirty="0"/>
          </a:p>
        </p:txBody>
      </p:sp>
      <p:pic>
        <p:nvPicPr>
          <p:cNvPr id="1026" name="Picture 2" descr="http://i01.i.aliimg.com/photo/v0/104071501/AMAR_Heavy_Duty_Precision_Lathe_Machi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50310"/>
            <a:ext cx="7810500" cy="398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0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5000"/>
              </a:lnSpc>
            </a:pPr>
            <a:r>
              <a:rPr lang="en-GB" sz="6000" dirty="0" smtClean="0"/>
              <a:t>Conclusion and Recommendations</a:t>
            </a:r>
            <a:endParaRPr lang="en-GB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100" b="1" dirty="0" smtClean="0"/>
              <a:t>Conclusion </a:t>
            </a:r>
            <a:r>
              <a:rPr lang="en-US" sz="3100" dirty="0" smtClean="0"/>
              <a:t>states </a:t>
            </a:r>
            <a:r>
              <a:rPr lang="en-US" sz="3100" dirty="0"/>
              <a:t>the key findings from your </a:t>
            </a:r>
            <a:r>
              <a:rPr lang="en-US" sz="3100" dirty="0" smtClean="0"/>
              <a:t>study in a summary. It should address specifically, the objectives you set out to achieve.</a:t>
            </a:r>
            <a:endParaRPr lang="en-US" sz="3100" dirty="0"/>
          </a:p>
          <a:p>
            <a:r>
              <a:rPr lang="en-US" sz="3100" b="1" dirty="0" smtClean="0"/>
              <a:t>Recommendations</a:t>
            </a:r>
            <a:r>
              <a:rPr lang="en-US" sz="3100" dirty="0" smtClean="0"/>
              <a:t> indicate what </a:t>
            </a:r>
            <a:r>
              <a:rPr lang="en-US" sz="3100" dirty="0"/>
              <a:t>should be the follow up to your work to solve the problem</a:t>
            </a:r>
            <a:r>
              <a:rPr lang="en-US" sz="3100" dirty="0" smtClean="0"/>
              <a:t>?</a:t>
            </a:r>
            <a:endParaRPr lang="en-GB" sz="3900" dirty="0" smtClean="0"/>
          </a:p>
        </p:txBody>
      </p:sp>
    </p:spTree>
    <p:extLst>
      <p:ext uri="{BB962C8B-B14F-4D97-AF65-F5344CB8AC3E}">
        <p14:creationId xmlns:p14="http://schemas.microsoft.com/office/powerpoint/2010/main" val="204072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References serve as a guide to any reader who wants to refer to previous work on the </a:t>
            </a:r>
            <a:r>
              <a:rPr lang="en-GB" dirty="0" smtClean="0"/>
              <a:t>subject.</a:t>
            </a:r>
            <a:endParaRPr lang="en-GB" dirty="0"/>
          </a:p>
          <a:p>
            <a:r>
              <a:rPr lang="en-GB" dirty="0" smtClean="0"/>
              <a:t>It </a:t>
            </a:r>
            <a:r>
              <a:rPr lang="en-GB" dirty="0"/>
              <a:t>is also meant to show appreciation for the invaluable work of other </a:t>
            </a:r>
            <a:r>
              <a:rPr lang="en-GB" dirty="0" smtClean="0"/>
              <a:t>researchers.</a:t>
            </a:r>
            <a:endParaRPr lang="en-GB" dirty="0"/>
          </a:p>
          <a:p>
            <a:r>
              <a:rPr lang="en-GB" dirty="0" smtClean="0"/>
              <a:t>Failure </a:t>
            </a:r>
            <a:r>
              <a:rPr lang="en-GB" dirty="0"/>
              <a:t>to credit the work of others is regarded as: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GB" dirty="0" smtClean="0"/>
              <a:t>Carelessness </a:t>
            </a:r>
            <a:r>
              <a:rPr lang="en-GB" dirty="0"/>
              <a:t>on the part of the author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GB" dirty="0"/>
              <a:t>Lack of courtesy and even more seriously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GB" dirty="0"/>
              <a:t>Plagiarism, in which case the student would be failed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318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reference to some document in the write-up should simply have the surname of the author and the year of publication</a:t>
            </a:r>
          </a:p>
          <a:p>
            <a:r>
              <a:rPr lang="en-GB" dirty="0" smtClean="0"/>
              <a:t>If </a:t>
            </a:r>
            <a:r>
              <a:rPr lang="en-GB" dirty="0"/>
              <a:t>there are two authors, both names are given before the date</a:t>
            </a:r>
          </a:p>
          <a:p>
            <a:r>
              <a:rPr lang="en-GB" dirty="0" smtClean="0"/>
              <a:t>If </a:t>
            </a:r>
            <a:r>
              <a:rPr lang="en-GB" dirty="0"/>
              <a:t>there are more than two authors, the surname of the first author is given, followed by “</a:t>
            </a:r>
            <a:r>
              <a:rPr lang="en-GB" i="1" dirty="0"/>
              <a:t>et al</a:t>
            </a:r>
            <a:r>
              <a:rPr lang="en-GB" dirty="0"/>
              <a:t>” in italics and then the </a:t>
            </a:r>
            <a:r>
              <a:rPr lang="en-GB" dirty="0" smtClean="0"/>
              <a:t>year</a:t>
            </a:r>
            <a:endParaRPr lang="en-GB" dirty="0"/>
          </a:p>
          <a:p>
            <a:r>
              <a:rPr lang="en-GB" dirty="0" smtClean="0"/>
              <a:t>If </a:t>
            </a:r>
            <a:r>
              <a:rPr lang="en-GB" dirty="0"/>
              <a:t>one author has published more than one cited document in the same year, these are distinguished by adding lower case letters after the </a:t>
            </a:r>
            <a:r>
              <a:rPr lang="en-GB" dirty="0" smtClean="0"/>
              <a:t>year.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9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altLang="en-US" sz="3200" b="1" dirty="0" smtClean="0"/>
              <a:t>Referencing/ Citation in the text</a:t>
            </a:r>
          </a:p>
          <a:p>
            <a:r>
              <a:rPr lang="en-GB" altLang="en-US" sz="3200" dirty="0" smtClean="0"/>
              <a:t>“</a:t>
            </a:r>
            <a:r>
              <a:rPr lang="en-GB" altLang="en-US" sz="3200" dirty="0"/>
              <a:t>According to </a:t>
            </a:r>
            <a:r>
              <a:rPr lang="en-GB" altLang="en-US" sz="3200" dirty="0" err="1" smtClean="0"/>
              <a:t>Agodzo</a:t>
            </a:r>
            <a:r>
              <a:rPr lang="en-GB" altLang="en-US" sz="3200" dirty="0" smtClean="0"/>
              <a:t> (2003a</a:t>
            </a:r>
            <a:r>
              <a:rPr lang="en-GB" altLang="en-US" sz="3200" dirty="0"/>
              <a:t>) it is indicated </a:t>
            </a:r>
            <a:r>
              <a:rPr lang="en-GB" altLang="en-US" sz="3200" dirty="0" smtClean="0"/>
              <a:t>…”</a:t>
            </a:r>
          </a:p>
          <a:p>
            <a:r>
              <a:rPr lang="en-GB" altLang="en-US" sz="3200" dirty="0" smtClean="0"/>
              <a:t>……………….. (Aikins, 2015)</a:t>
            </a:r>
            <a:endParaRPr lang="en-GB" altLang="en-US" sz="3200" dirty="0"/>
          </a:p>
          <a:p>
            <a:r>
              <a:rPr lang="en-GB" altLang="en-US" sz="3200" dirty="0" smtClean="0"/>
              <a:t>“</a:t>
            </a:r>
            <a:r>
              <a:rPr lang="en-GB" altLang="en-US" sz="3200" dirty="0"/>
              <a:t>Equations developed by Bart-</a:t>
            </a:r>
            <a:r>
              <a:rPr lang="en-GB" altLang="en-US" sz="3200" dirty="0" err="1"/>
              <a:t>Plange</a:t>
            </a:r>
            <a:r>
              <a:rPr lang="en-GB" altLang="en-US" sz="3200" dirty="0"/>
              <a:t> </a:t>
            </a:r>
            <a:r>
              <a:rPr lang="en-GB" altLang="en-US" sz="3200" i="1" dirty="0"/>
              <a:t>et al</a:t>
            </a:r>
            <a:r>
              <a:rPr lang="en-GB" altLang="en-US" sz="3200" dirty="0"/>
              <a:t> (2002) can be used to …”</a:t>
            </a:r>
          </a:p>
          <a:p>
            <a:r>
              <a:rPr lang="en-GB" altLang="en-US" sz="3200" dirty="0" smtClean="0"/>
              <a:t>“</a:t>
            </a:r>
            <a:r>
              <a:rPr lang="en-GB" altLang="en-US" sz="3200" dirty="0" err="1"/>
              <a:t>Kyei-Baffour</a:t>
            </a:r>
            <a:r>
              <a:rPr lang="en-GB" altLang="en-US" sz="3200" dirty="0"/>
              <a:t> (2004) outlines the principle for the design of simulators…”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3712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List of 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GB" sz="2000" b="1" dirty="0"/>
              <a:t>Journal</a:t>
            </a:r>
            <a:r>
              <a:rPr lang="en-GB" sz="2000" dirty="0"/>
              <a:t>: Bart-</a:t>
            </a:r>
            <a:r>
              <a:rPr lang="en-GB" sz="2000" dirty="0" err="1"/>
              <a:t>Plange</a:t>
            </a:r>
            <a:r>
              <a:rPr lang="en-GB" sz="2000" dirty="0"/>
              <a:t>, A. and </a:t>
            </a:r>
            <a:r>
              <a:rPr lang="en-GB" sz="2000" dirty="0" err="1"/>
              <a:t>Baryeh</a:t>
            </a:r>
            <a:r>
              <a:rPr lang="en-GB" sz="2000" dirty="0"/>
              <a:t>, E. A. (2003). The physical properties of Category B cocoa beans. Journal of Food Engineering. 20(1): 219-227</a:t>
            </a:r>
          </a:p>
          <a:p>
            <a:pPr>
              <a:spcAft>
                <a:spcPts val="600"/>
              </a:spcAft>
            </a:pPr>
            <a:r>
              <a:rPr lang="en-GB" sz="2000" b="1" dirty="0" smtClean="0"/>
              <a:t>Book</a:t>
            </a:r>
            <a:r>
              <a:rPr lang="en-GB" sz="2000" dirty="0"/>
              <a:t>: Morgan, R. P. C. (1986). Soil erosion and conservation. Longman, U.K.</a:t>
            </a:r>
          </a:p>
          <a:p>
            <a:pPr>
              <a:spcAft>
                <a:spcPts val="600"/>
              </a:spcAft>
            </a:pPr>
            <a:r>
              <a:rPr lang="en-GB" sz="2000" b="1" dirty="0" smtClean="0"/>
              <a:t>Contribution </a:t>
            </a:r>
            <a:r>
              <a:rPr lang="en-GB" sz="2000" b="1" dirty="0"/>
              <a:t>to a book</a:t>
            </a:r>
            <a:r>
              <a:rPr lang="en-GB" sz="2000" dirty="0"/>
              <a:t>: </a:t>
            </a:r>
            <a:r>
              <a:rPr lang="en-GB" sz="2000" dirty="0" err="1"/>
              <a:t>Kyei-Baffour</a:t>
            </a:r>
            <a:r>
              <a:rPr lang="en-GB" sz="2000" dirty="0"/>
              <a:t>, N., </a:t>
            </a:r>
            <a:r>
              <a:rPr lang="en-GB" sz="2000" dirty="0" err="1"/>
              <a:t>Bobobee</a:t>
            </a:r>
            <a:r>
              <a:rPr lang="en-GB" sz="2000" dirty="0"/>
              <a:t>, E. Y. H. and </a:t>
            </a:r>
            <a:r>
              <a:rPr lang="en-GB" sz="2000" dirty="0" err="1"/>
              <a:t>Koram</a:t>
            </a:r>
            <a:r>
              <a:rPr lang="en-GB" sz="2000" dirty="0"/>
              <a:t>, S. A. (1994). The effects of tillage and irrigation practices on soils in Ghana: A case study. In: L. O. Fresco, L. </a:t>
            </a:r>
            <a:r>
              <a:rPr lang="en-GB" sz="2000" dirty="0" err="1"/>
              <a:t>Stroosnijder</a:t>
            </a:r>
            <a:r>
              <a:rPr lang="en-GB" sz="2000" dirty="0"/>
              <a:t>, J. </a:t>
            </a:r>
            <a:r>
              <a:rPr lang="en-GB" sz="2000" dirty="0" err="1"/>
              <a:t>Bouma</a:t>
            </a:r>
            <a:r>
              <a:rPr lang="en-GB" sz="2000" dirty="0"/>
              <a:t> and H. van </a:t>
            </a:r>
            <a:r>
              <a:rPr lang="en-GB" sz="2000" dirty="0" err="1"/>
              <a:t>Keulen</a:t>
            </a:r>
            <a:r>
              <a:rPr lang="en-GB" sz="2000" dirty="0"/>
              <a:t>, eds. The future of the land. Willey, Sussex. 363-364</a:t>
            </a:r>
          </a:p>
          <a:p>
            <a:pPr>
              <a:spcAft>
                <a:spcPts val="600"/>
              </a:spcAft>
            </a:pPr>
            <a:r>
              <a:rPr lang="en-GB" sz="2000" b="1" dirty="0" smtClean="0"/>
              <a:t>Technical </a:t>
            </a:r>
            <a:r>
              <a:rPr lang="en-GB" sz="2000" b="1" dirty="0"/>
              <a:t>Report</a:t>
            </a:r>
            <a:r>
              <a:rPr lang="en-GB" sz="2000" dirty="0"/>
              <a:t>: </a:t>
            </a:r>
            <a:r>
              <a:rPr lang="en-GB" sz="2000" dirty="0" err="1"/>
              <a:t>Agodzo</a:t>
            </a:r>
            <a:r>
              <a:rPr lang="en-GB" sz="2000" dirty="0"/>
              <a:t>, S. K., </a:t>
            </a:r>
            <a:r>
              <a:rPr lang="en-GB" sz="2000" dirty="0" err="1"/>
              <a:t>Huibers</a:t>
            </a:r>
            <a:r>
              <a:rPr lang="en-GB" sz="2000" dirty="0"/>
              <a:t>, F. P., </a:t>
            </a:r>
            <a:r>
              <a:rPr lang="en-GB" sz="2000" dirty="0" err="1"/>
              <a:t>Chenini</a:t>
            </a:r>
            <a:r>
              <a:rPr lang="en-GB" sz="2000" dirty="0"/>
              <a:t>, F., van Lier, J. B. and Duran, A. (2003). Use of wastewater in irrigated agriculture. Country studies from Bolivia, Ghana and Tunisia. Volume 2: Ghana. </a:t>
            </a:r>
            <a:r>
              <a:rPr lang="en-GB" sz="2000" dirty="0" err="1"/>
              <a:t>Wageningen</a:t>
            </a:r>
            <a:r>
              <a:rPr lang="en-GB" sz="2000" dirty="0"/>
              <a:t> WUR (WF4-Wastewater)-ISBN </a:t>
            </a:r>
            <a:r>
              <a:rPr lang="en-GB" sz="2000" dirty="0" smtClean="0"/>
              <a:t>90-6754-704-2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404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List of 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GB" sz="2200" b="1" dirty="0"/>
              <a:t>References</a:t>
            </a:r>
            <a:r>
              <a:rPr lang="en-GB" sz="2200" dirty="0"/>
              <a:t/>
            </a:r>
            <a:br>
              <a:rPr lang="en-GB" sz="2200" dirty="0"/>
            </a:br>
            <a:r>
              <a:rPr lang="en-GB" sz="2200" dirty="0" err="1" smtClean="0"/>
              <a:t>Agco</a:t>
            </a:r>
            <a:r>
              <a:rPr lang="en-GB" sz="2200" dirty="0" smtClean="0"/>
              <a:t> </a:t>
            </a:r>
            <a:r>
              <a:rPr lang="en-GB" sz="2200" dirty="0"/>
              <a:t>Allis (2011 ). Tractor, Service and Operator’s Manuals. Electronic document. Retrieved from: http://www.tractormanual.info</a:t>
            </a:r>
            <a:r>
              <a:rPr lang="en-GB" sz="2200" dirty="0" smtClean="0"/>
              <a:t>/. Accessed </a:t>
            </a:r>
            <a:r>
              <a:rPr lang="en-GB" sz="2200" dirty="0"/>
              <a:t>3 May </a:t>
            </a:r>
            <a:r>
              <a:rPr lang="en-GB" sz="2200" dirty="0" smtClean="0"/>
              <a:t>2011.</a:t>
            </a:r>
          </a:p>
          <a:p>
            <a:pPr marL="0" indent="0">
              <a:buNone/>
            </a:pPr>
            <a:r>
              <a:rPr lang="en-GB" sz="2200" dirty="0" err="1" smtClean="0"/>
              <a:t>Bhutta</a:t>
            </a:r>
            <a:r>
              <a:rPr lang="en-GB" sz="2200" dirty="0"/>
              <a:t>, M.S., </a:t>
            </a:r>
            <a:r>
              <a:rPr lang="en-GB" sz="2200" dirty="0" err="1"/>
              <a:t>Tanveer</a:t>
            </a:r>
            <a:r>
              <a:rPr lang="en-GB" sz="2200" dirty="0"/>
              <a:t>, T. &amp; Awan, H.M. (1997). Technical Skill of Tractor Operator: A Case Study in Multan, Pakistan. </a:t>
            </a:r>
            <a:r>
              <a:rPr lang="en-GB" sz="2200" i="1" dirty="0"/>
              <a:t>Agricultural</a:t>
            </a:r>
            <a:r>
              <a:rPr lang="en-GB" sz="2200" dirty="0"/>
              <a:t/>
            </a:r>
            <a:br>
              <a:rPr lang="en-GB" sz="2200" dirty="0"/>
            </a:br>
            <a:r>
              <a:rPr lang="en-GB" sz="2200" i="1" dirty="0"/>
              <a:t>Mechanisation in Asia, Africa and Latin America</a:t>
            </a:r>
            <a:r>
              <a:rPr lang="en-GB" sz="2200" dirty="0"/>
              <a:t>, 28 (1): pp. 18–22.</a:t>
            </a:r>
            <a:br>
              <a:rPr lang="en-GB" sz="2200" dirty="0"/>
            </a:br>
            <a:r>
              <a:rPr lang="en-GB" sz="2200" dirty="0" smtClean="0"/>
              <a:t>Davies</a:t>
            </a:r>
            <a:r>
              <a:rPr lang="en-GB" sz="2200" dirty="0"/>
              <a:t>, D.B., Eagle, D.J. &amp; Finney, J.B. (1993). </a:t>
            </a:r>
            <a:r>
              <a:rPr lang="en-GB" sz="2200" i="1" dirty="0"/>
              <a:t>Soil Management</a:t>
            </a:r>
            <a:r>
              <a:rPr lang="en-GB" sz="2200" dirty="0"/>
              <a:t>, Ipswich, Farming Press</a:t>
            </a:r>
            <a:r>
              <a:rPr lang="en-GB" sz="2200" dirty="0" smtClean="0"/>
              <a:t>.</a:t>
            </a:r>
          </a:p>
          <a:p>
            <a:pPr marL="0" indent="0">
              <a:buNone/>
            </a:pPr>
            <a:r>
              <a:rPr lang="en-GB" sz="2200" dirty="0" smtClean="0"/>
              <a:t>MINITAB </a:t>
            </a:r>
            <a:r>
              <a:rPr lang="en-GB" sz="2200" dirty="0"/>
              <a:t>Inc. (2007). </a:t>
            </a:r>
            <a:r>
              <a:rPr lang="en-GB" sz="2200" i="1" dirty="0"/>
              <a:t>MINITAB Statistical Software Release 15 for Windows</a:t>
            </a:r>
            <a:r>
              <a:rPr lang="en-GB" sz="2200" dirty="0"/>
              <a:t>. Pennsylvania, Minitab Inc., State College</a:t>
            </a:r>
            <a:r>
              <a:rPr lang="en-GB" sz="2200" dirty="0" smtClean="0"/>
              <a:t>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3601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Appendices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100" dirty="0"/>
              <a:t>Copies of your questionnaire</a:t>
            </a:r>
          </a:p>
          <a:p>
            <a:r>
              <a:rPr lang="en-US" sz="3100" dirty="0"/>
              <a:t>Any additional Maps</a:t>
            </a:r>
          </a:p>
          <a:p>
            <a:r>
              <a:rPr lang="en-US" sz="3100" dirty="0"/>
              <a:t>Copies of letters of </a:t>
            </a:r>
            <a:r>
              <a:rPr lang="en-US" sz="3100" dirty="0" smtClean="0"/>
              <a:t>introduction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48429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6884</TotalTime>
  <Words>1154</Words>
  <Application>Microsoft Office PowerPoint</Application>
  <PresentationFormat>On-screen Show (4:3)</PresentationFormat>
  <Paragraphs>139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Median</vt:lpstr>
      <vt:lpstr>CENG 291 ENGINEERING IN SOCIETY</vt:lpstr>
      <vt:lpstr>STRUCTURE OF PROJECT REPORT</vt:lpstr>
      <vt:lpstr>Elements of Good Technical Communication</vt:lpstr>
      <vt:lpstr>Elements of Good Technical Communication</vt:lpstr>
      <vt:lpstr>Elements of Good Technical Communication</vt:lpstr>
      <vt:lpstr>Elements of Good Technical Communication</vt:lpstr>
      <vt:lpstr>Elements of Good Technical Communication</vt:lpstr>
      <vt:lpstr>Elements of Good Technical Communication</vt:lpstr>
      <vt:lpstr>Outline of Report</vt:lpstr>
      <vt:lpstr>Parts of a Technical Report</vt:lpstr>
      <vt:lpstr>Facing Page</vt:lpstr>
      <vt:lpstr>Example of Title Page</vt:lpstr>
      <vt:lpstr>Acknowledgement</vt:lpstr>
      <vt:lpstr>PowerPoint Presentation</vt:lpstr>
      <vt:lpstr>Abstract</vt:lpstr>
      <vt:lpstr>List of Tables and Figures</vt:lpstr>
      <vt:lpstr>List of Tables and Figures</vt:lpstr>
      <vt:lpstr>Introduction</vt:lpstr>
      <vt:lpstr>Materials and Methods</vt:lpstr>
      <vt:lpstr>Results and Discussion</vt:lpstr>
      <vt:lpstr>Tables and Figures</vt:lpstr>
      <vt:lpstr>Tables and Figures: Example</vt:lpstr>
      <vt:lpstr>Tables and Figures</vt:lpstr>
      <vt:lpstr>Conclusion and Recommendations</vt:lpstr>
      <vt:lpstr>Referencing</vt:lpstr>
      <vt:lpstr>Referencing</vt:lpstr>
      <vt:lpstr>Referencing</vt:lpstr>
      <vt:lpstr>List of References</vt:lpstr>
      <vt:lpstr>List of References</vt:lpstr>
      <vt:lpstr>Appendices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 of Extend of Soil Compaction on the Germination, Establishment and Yield of Asontem cowpea.</dc:title>
  <dc:creator>GRA-USER</dc:creator>
  <cp:lastModifiedBy>MY PIC</cp:lastModifiedBy>
  <cp:revision>362</cp:revision>
  <dcterms:created xsi:type="dcterms:W3CDTF">2013-11-22T16:09:14Z</dcterms:created>
  <dcterms:modified xsi:type="dcterms:W3CDTF">2017-06-24T04:37:06Z</dcterms:modified>
</cp:coreProperties>
</file>