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handoutMasterIdLst>
    <p:handoutMasterId r:id="rId20"/>
  </p:handoutMasterIdLst>
  <p:sldIdLst>
    <p:sldId id="503" r:id="rId2"/>
    <p:sldId id="673" r:id="rId3"/>
    <p:sldId id="681" r:id="rId4"/>
    <p:sldId id="682" r:id="rId5"/>
    <p:sldId id="685" r:id="rId6"/>
    <p:sldId id="686" r:id="rId7"/>
    <p:sldId id="687" r:id="rId8"/>
    <p:sldId id="688" r:id="rId9"/>
    <p:sldId id="689" r:id="rId10"/>
    <p:sldId id="690" r:id="rId11"/>
    <p:sldId id="691" r:id="rId12"/>
    <p:sldId id="692" r:id="rId13"/>
    <p:sldId id="683" r:id="rId14"/>
    <p:sldId id="684" r:id="rId15"/>
    <p:sldId id="693" r:id="rId16"/>
    <p:sldId id="695" r:id="rId17"/>
    <p:sldId id="54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21" autoAdjust="0"/>
    <p:restoredTop sz="94660"/>
  </p:normalViewPr>
  <p:slideViewPr>
    <p:cSldViewPr snapToGrid="0" snapToObjects="1">
      <p:cViewPr varScale="1">
        <p:scale>
          <a:sx n="69" d="100"/>
          <a:sy n="69" d="100"/>
        </p:scale>
        <p:origin x="360" y="6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47608-6ABE-4504-86B5-76DC66B615AB}" type="datetimeFigureOut">
              <a:rPr lang="en-US" smtClean="0"/>
              <a:t>12/1/2021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7764DC-64CD-49E5-9D34-444ECD2251CF}" type="slidenum">
              <a:rPr lang="en-US" smtClean="0"/>
              <a:t>‹#›</a:t>
            </a:fld>
            <a:endParaRPr lang="en-US"/>
          </a:p>
        </p:txBody>
      </p:sp>
    </p:spTree>
    <p:extLst>
      <p:ext uri="{BB962C8B-B14F-4D97-AF65-F5344CB8AC3E}">
        <p14:creationId xmlns:p14="http://schemas.microsoft.com/office/powerpoint/2010/main" val="2155437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12/1/2021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3.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076DD-8797-46B9-BAA0-1118061A3B20}" type="datetime1">
              <a:rPr lang="en-US" smtClean="0"/>
              <a:t>12/1/2021</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7CC460-5DEC-4F9C-AE86-3A65EBEA6D5D}"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D7EC4-0FAA-4E2B-9A38-6D09C67DA3A1}"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8C2406-8828-418B-8809-38D0A9920C7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115C99-0020-4D01-8567-E31F48D46E49}" type="datetime1">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BD30C0AC-B421-4F27-B629-B4BF5EA43D28}" type="datetime1">
              <a:rPr lang="en-US" smtClean="0"/>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468E7F-7F5B-4B1A-A083-B461A23AA8FA}" type="datetime1">
              <a:rPr lang="en-US" smtClean="0"/>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2FB52-87DB-4D57-8A37-3B02874B479C}"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2A186-4EFB-4B8E-AB2B-86BDDA713B27}"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EFC1A-4AC2-4AAF-A501-06099FF0D62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873F44-2E53-4BAA-A8EA-A81B2EB64AD8}"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88C0D-608D-44E2-B7D7-7A7555FE1132}" type="datetime1">
              <a:rPr lang="en-US" smtClean="0"/>
              <a:t>12/1/2021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352540" y="949448"/>
            <a:ext cx="11149069" cy="1031752"/>
          </a:xfrm>
        </p:spPr>
        <p:txBody>
          <a:bodyPr vert="horz" lIns="68580" tIns="34290" rIns="68580" bIns="34290" rtlCol="0" anchor="b">
            <a:noAutofit/>
          </a:bodyPr>
          <a:lstStyle/>
          <a:p>
            <a:r>
              <a:rPr lang="en-GB" sz="3200" b="1" dirty="0">
                <a:solidFill>
                  <a:srgbClr val="0070C0"/>
                </a:solidFill>
                <a:latin typeface="Georgia" panose="02040502050405020303" pitchFamily="18" charset="0"/>
              </a:rPr>
              <a:t>THERMODYNAMICS I (ME 265)</a:t>
            </a:r>
            <a:br>
              <a:rPr lang="en-GB" sz="3200" b="1" dirty="0">
                <a:solidFill>
                  <a:srgbClr val="0070C0"/>
                </a:solidFill>
                <a:latin typeface="Eras Demi ITC" panose="020B0805030504020804" pitchFamily="34" charset="0"/>
              </a:rPr>
            </a:br>
            <a:endParaRPr lang="en-GB" sz="3200" dirty="0">
              <a:latin typeface="Eras Demi ITC" panose="020B0805030504020804" pitchFamily="34" charset="0"/>
            </a:endParaRPr>
          </a:p>
        </p:txBody>
      </p:sp>
      <p:sp>
        <p:nvSpPr>
          <p:cNvPr id="11" name="Subtitle 2"/>
          <p:cNvSpPr txBox="1">
            <a:spLocks/>
          </p:cNvSpPr>
          <p:nvPr/>
        </p:nvSpPr>
        <p:spPr>
          <a:xfrm>
            <a:off x="1809245" y="5405717"/>
            <a:ext cx="8432872" cy="121128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solidFill>
                  <a:schemeClr val="tx1"/>
                </a:solidFill>
                <a:latin typeface="Helvetica"/>
                <a:cs typeface="Helvetica"/>
              </a:rPr>
              <a:t>Francis Kofi Forson </a:t>
            </a:r>
            <a:r>
              <a:rPr lang="en-US" sz="2400" b="1">
                <a:solidFill>
                  <a:schemeClr val="tx1"/>
                </a:solidFill>
                <a:latin typeface="Helvetica"/>
                <a:cs typeface="Helvetica"/>
              </a:rPr>
              <a:t>(Professor)</a:t>
            </a:r>
            <a:endParaRPr lang="en-US" sz="2400" b="1" dirty="0">
              <a:solidFill>
                <a:schemeClr val="tx1"/>
              </a:solidFill>
              <a:latin typeface="Helvetica"/>
              <a:cs typeface="Helvetica"/>
            </a:endParaRPr>
          </a:p>
          <a:p>
            <a:r>
              <a:rPr lang="en-US" sz="1800" b="1" dirty="0">
                <a:latin typeface="Helvetica"/>
                <a:cs typeface="Helvetica"/>
              </a:rPr>
              <a:t>Department of Mechanical Engineering</a:t>
            </a:r>
          </a:p>
          <a:p>
            <a:r>
              <a:rPr lang="en-US" sz="1800" b="1" dirty="0">
                <a:latin typeface="Helvetica"/>
                <a:cs typeface="Helvetica"/>
              </a:rPr>
              <a:t>Kwame 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46423" y="3908277"/>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FIRST LAW OF THERMODYNAMICS</a:t>
            </a: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253" y="1577247"/>
            <a:ext cx="1969135" cy="222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871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p:sp>
        <p:nvSpPr>
          <p:cNvPr id="10" name="Content Placeholder 2"/>
          <p:cNvSpPr txBox="1">
            <a:spLocks/>
          </p:cNvSpPr>
          <p:nvPr/>
        </p:nvSpPr>
        <p:spPr>
          <a:xfrm>
            <a:off x="452509" y="1062319"/>
            <a:ext cx="11313667" cy="127746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600" dirty="0"/>
              <a:t>An </a:t>
            </a:r>
            <a:r>
              <a:rPr lang="en-US" sz="2600" b="1" dirty="0">
                <a:solidFill>
                  <a:srgbClr val="C00000"/>
                </a:solidFill>
              </a:rPr>
              <a:t>open system </a:t>
            </a:r>
            <a:r>
              <a:rPr lang="en-US" sz="2600" dirty="0"/>
              <a:t>(control volume) differs from a closed system in that it involves mass flow. Mass carries energy with it, and thus the mass and energy content of a system change when mass enters or leaves.</a:t>
            </a:r>
          </a:p>
          <a:p>
            <a:pPr>
              <a:buFont typeface="Wingdings" panose="05000000000000000000" pitchFamily="2" charset="2"/>
              <a:buChar char="v"/>
            </a:pPr>
            <a:endParaRPr lang="en-US" dirty="0"/>
          </a:p>
        </p:txBody>
      </p:sp>
      <p:pic>
        <p:nvPicPr>
          <p:cNvPr id="6146" name="Picture 2" descr="Chapter 4a: First Law - Control Volumes - Energy Equation (Updated 10/1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861" y="2510169"/>
            <a:ext cx="9009528" cy="3598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31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down)">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6252882" y="1062318"/>
                <a:ext cx="5661614" cy="5216287"/>
              </a:xfrm>
            </p:spPr>
            <p:txBody>
              <a:bodyPr>
                <a:noAutofit/>
              </a:bodyPr>
              <a:lstStyle/>
              <a:p>
                <a:pPr>
                  <a:buFont typeface="Wingdings" panose="05000000000000000000" pitchFamily="2" charset="2"/>
                  <a:buChar char="v"/>
                </a:pPr>
                <a:r>
                  <a:rPr lang="en-US" sz="2400" dirty="0"/>
                  <a:t>Applying the first law of thermodynamics to open systems, the equation becomes;</a:t>
                </a:r>
              </a:p>
              <a:p>
                <a:pPr>
                  <a:lnSpc>
                    <a:spcPct val="50000"/>
                  </a:lnSpc>
                  <a:buFont typeface="Wingdings" panose="05000000000000000000" pitchFamily="2" charset="2"/>
                  <a:buChar char="v"/>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b="1" i="1">
                              <a:solidFill>
                                <a:srgbClr val="C00000"/>
                              </a:solidFill>
                              <a:latin typeface="Cambria Math" panose="02040503050406030204" pitchFamily="18" charset="0"/>
                            </a:rPr>
                          </m:ctrlPr>
                        </m:sSubPr>
                        <m:e>
                          <m:r>
                            <a:rPr lang="en-US" sz="2400" b="1">
                              <a:solidFill>
                                <a:srgbClr val="C00000"/>
                              </a:solidFill>
                              <a:latin typeface="Cambria Math" panose="02040503050406030204" pitchFamily="18" charset="0"/>
                              <a:ea typeface="Cambria Math" panose="02040503050406030204" pitchFamily="18" charset="0"/>
                            </a:rPr>
                            <m:t>𝐐</m:t>
                          </m:r>
                        </m:e>
                        <m:sub>
                          <m:r>
                            <a:rPr lang="en-US" sz="2400" b="1">
                              <a:solidFill>
                                <a:srgbClr val="C00000"/>
                              </a:solidFill>
                              <a:latin typeface="Cambria Math" panose="02040503050406030204" pitchFamily="18" charset="0"/>
                            </a:rPr>
                            <m:t>𝐧𝐞𝐭</m:t>
                          </m:r>
                        </m:sub>
                      </m:sSub>
                      <m:r>
                        <a:rPr lang="en-US" sz="2400" b="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a:solidFill>
                                <a:srgbClr val="C00000"/>
                              </a:solidFill>
                              <a:latin typeface="Cambria Math" panose="02040503050406030204" pitchFamily="18" charset="0"/>
                              <a:ea typeface="Cambria Math" panose="02040503050406030204" pitchFamily="18" charset="0"/>
                            </a:rPr>
                            <m:t>𝐖</m:t>
                          </m:r>
                        </m:e>
                        <m:sub>
                          <m:r>
                            <a:rPr lang="en-US" sz="2400" b="1">
                              <a:solidFill>
                                <a:srgbClr val="C00000"/>
                              </a:solidFill>
                              <a:latin typeface="Cambria Math" panose="02040503050406030204" pitchFamily="18" charset="0"/>
                            </a:rPr>
                            <m:t>𝐧𝐞𝐭</m:t>
                          </m:r>
                        </m:sub>
                      </m:sSub>
                      <m:r>
                        <a:rPr lang="en-US" sz="2400" b="1">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𝐇</m:t>
                      </m:r>
                      <m:r>
                        <a:rPr lang="en-US" sz="2400" b="1">
                          <a:solidFill>
                            <a:srgbClr val="C00000"/>
                          </a:solidFill>
                          <a:latin typeface="Cambria Math" panose="02040503050406030204" pitchFamily="18" charset="0"/>
                          <a:ea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𝐊𝐄</m:t>
                      </m:r>
                      <m:r>
                        <a:rPr lang="en-US" sz="2400" b="1">
                          <a:solidFill>
                            <a:srgbClr val="C00000"/>
                          </a:solidFill>
                          <a:latin typeface="Cambria Math" panose="02040503050406030204" pitchFamily="18" charset="0"/>
                          <a:ea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𝐏𝐄</m:t>
                      </m:r>
                    </m:oMath>
                  </m:oMathPara>
                </a14:m>
                <a:endParaRPr lang="en-US" sz="2400" dirty="0">
                  <a:solidFill>
                    <a:srgbClr val="C00000"/>
                  </a:solidFill>
                </a:endParaRPr>
              </a:p>
              <a:p>
                <a:pPr>
                  <a:buFont typeface="Wingdings" panose="05000000000000000000" pitchFamily="2" charset="2"/>
                  <a:buChar char="v"/>
                </a:pPr>
                <a:r>
                  <a:rPr lang="en-US" sz="2400" dirty="0"/>
                  <a:t>For an open system undergoing a steady flow process from an initial state (</a:t>
                </a:r>
                <a:r>
                  <a:rPr lang="en-US" sz="2400" dirty="0" err="1"/>
                  <a:t>i</a:t>
                </a:r>
                <a:r>
                  <a:rPr lang="en-US" sz="2400" dirty="0"/>
                  <a:t>) to a final state (f), the  first law equation becomes;</a:t>
                </a:r>
              </a:p>
              <a:p>
                <a:pPr marL="0" indent="0">
                  <a:buNone/>
                </a:pPr>
                <a14:m>
                  <m:oMathPara xmlns:m="http://schemas.openxmlformats.org/officeDocument/2006/math">
                    <m:oMathParaPr>
                      <m:jc m:val="centerGroup"/>
                    </m:oMathParaPr>
                    <m:oMath xmlns:m="http://schemas.openxmlformats.org/officeDocument/2006/math">
                      <m:r>
                        <a:rPr lang="en-US" sz="2400" b="1" i="0" smtClean="0">
                          <a:solidFill>
                            <a:srgbClr val="C00000"/>
                          </a:solidFill>
                          <a:latin typeface="Cambria Math" panose="02040503050406030204" pitchFamily="18" charset="0"/>
                          <a:ea typeface="Cambria Math" panose="02040503050406030204" pitchFamily="18" charset="0"/>
                        </a:rPr>
                        <m:t>𝛅</m:t>
                      </m:r>
                      <m:r>
                        <a:rPr lang="en-US" sz="2400" b="1" i="0" smtClean="0">
                          <a:solidFill>
                            <a:srgbClr val="C00000"/>
                          </a:solidFill>
                          <a:latin typeface="Cambria Math" panose="02040503050406030204" pitchFamily="18" charset="0"/>
                          <a:ea typeface="Cambria Math" panose="02040503050406030204" pitchFamily="18" charset="0"/>
                        </a:rPr>
                        <m:t>𝐐</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𝛅</m:t>
                      </m:r>
                      <m:r>
                        <a:rPr lang="en-US" sz="2400" b="1" i="0" smtClean="0">
                          <a:solidFill>
                            <a:srgbClr val="C00000"/>
                          </a:solidFill>
                          <a:latin typeface="Cambria Math" panose="02040503050406030204" pitchFamily="18" charset="0"/>
                        </a:rPr>
                        <m:t>𝐖</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rPr>
                        <m:t>𝐦</m:t>
                      </m:r>
                      <m:r>
                        <a:rPr lang="en-US" sz="2400" b="1" i="0" smtClean="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𝐡</m:t>
                      </m:r>
                      <m:r>
                        <a:rPr lang="en-US" sz="2400" b="1" i="0">
                          <a:solidFill>
                            <a:srgbClr val="C00000"/>
                          </a:solidFill>
                          <a:latin typeface="Cambria Math" panose="02040503050406030204" pitchFamily="18" charset="0"/>
                          <a:ea typeface="Cambria Math" panose="02040503050406030204" pitchFamily="18" charset="0"/>
                        </a:rPr>
                        <m:t>+</m:t>
                      </m:r>
                      <m:f>
                        <m:fPr>
                          <m:ctrlPr>
                            <a:rPr lang="en-US" sz="2400" b="1" i="1" smtClean="0">
                              <a:solidFill>
                                <a:srgbClr val="C00000"/>
                              </a:solidFill>
                              <a:latin typeface="Cambria Math" panose="02040503050406030204" pitchFamily="18" charset="0"/>
                              <a:ea typeface="Cambria Math" panose="02040503050406030204" pitchFamily="18" charset="0"/>
                            </a:rPr>
                          </m:ctrlPr>
                        </m:fPr>
                        <m:num>
                          <m:r>
                            <a:rPr lang="en-US" sz="2400" b="1" i="0" smtClean="0">
                              <a:solidFill>
                                <a:srgbClr val="C00000"/>
                              </a:solidFill>
                              <a:latin typeface="Cambria Math" panose="02040503050406030204" pitchFamily="18" charset="0"/>
                              <a:ea typeface="Cambria Math" panose="02040503050406030204" pitchFamily="18" charset="0"/>
                            </a:rPr>
                            <m:t>𝟏</m:t>
                          </m:r>
                        </m:num>
                        <m:den>
                          <m:r>
                            <a:rPr lang="en-US" sz="2400" b="1" i="0" smtClean="0">
                              <a:solidFill>
                                <a:srgbClr val="C00000"/>
                              </a:solidFill>
                              <a:latin typeface="Cambria Math" panose="02040503050406030204" pitchFamily="18" charset="0"/>
                              <a:ea typeface="Cambria Math" panose="02040503050406030204" pitchFamily="18" charset="0"/>
                            </a:rPr>
                            <m:t>𝟐</m:t>
                          </m:r>
                        </m:den>
                      </m:f>
                      <m:r>
                        <a:rPr lang="en-US" sz="2400" b="1" i="0">
                          <a:solidFill>
                            <a:srgbClr val="C00000"/>
                          </a:solidFill>
                          <a:latin typeface="Cambria Math" panose="02040503050406030204" pitchFamily="18" charset="0"/>
                          <a:ea typeface="Cambria Math" panose="02040503050406030204" pitchFamily="18" charset="0"/>
                        </a:rPr>
                        <m:t>∆</m:t>
                      </m:r>
                      <m:sSup>
                        <m:sSupPr>
                          <m:ctrlPr>
                            <a:rPr lang="en-US" sz="2400" b="1" i="1" smtClean="0">
                              <a:solidFill>
                                <a:srgbClr val="C00000"/>
                              </a:solidFill>
                              <a:latin typeface="Cambria Math" panose="02040503050406030204" pitchFamily="18" charset="0"/>
                              <a:ea typeface="Cambria Math" panose="02040503050406030204" pitchFamily="18" charset="0"/>
                            </a:rPr>
                          </m:ctrlPr>
                        </m:sSupPr>
                        <m:e>
                          <m:r>
                            <a:rPr lang="en-US" sz="2400" b="1" i="0" smtClean="0">
                              <a:solidFill>
                                <a:srgbClr val="C00000"/>
                              </a:solidFill>
                              <a:latin typeface="Cambria Math" panose="02040503050406030204" pitchFamily="18" charset="0"/>
                              <a:ea typeface="Cambria Math" panose="02040503050406030204" pitchFamily="18" charset="0"/>
                            </a:rPr>
                            <m:t>𝐂</m:t>
                          </m:r>
                        </m:e>
                        <m:sup>
                          <m:r>
                            <a:rPr lang="en-US" sz="2400" b="1" i="0" smtClean="0">
                              <a:solidFill>
                                <a:srgbClr val="C00000"/>
                              </a:solidFill>
                              <a:latin typeface="Cambria Math" panose="02040503050406030204" pitchFamily="18" charset="0"/>
                              <a:ea typeface="Cambria Math" panose="02040503050406030204" pitchFamily="18" charset="0"/>
                            </a:rPr>
                            <m:t>𝟐</m:t>
                          </m:r>
                        </m:sup>
                      </m:sSup>
                      <m:r>
                        <a:rPr lang="en-US" sz="2400" b="1" i="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𝐠</m:t>
                      </m:r>
                      <m:r>
                        <a:rPr lang="en-US" sz="2400" b="1" i="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𝐙</m:t>
                      </m:r>
                      <m:r>
                        <a:rPr lang="en-US" sz="2400" b="1" i="0" smtClean="0">
                          <a:solidFill>
                            <a:srgbClr val="C00000"/>
                          </a:solidFill>
                          <a:latin typeface="Cambria Math" panose="02040503050406030204" pitchFamily="18" charset="0"/>
                          <a:ea typeface="Cambria Math" panose="02040503050406030204" pitchFamily="18" charset="0"/>
                        </a:rPr>
                        <m:t>]</m:t>
                      </m:r>
                    </m:oMath>
                  </m:oMathPara>
                </a14:m>
                <a:endParaRPr lang="en-US" sz="2400"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1800" b="1" i="1" smtClean="0">
                              <a:solidFill>
                                <a:srgbClr val="002060"/>
                              </a:solidFill>
                              <a:latin typeface="Cambria Math" panose="02040503050406030204" pitchFamily="18" charset="0"/>
                            </a:rPr>
                          </m:ctrlPr>
                        </m:sSubPr>
                        <m:e>
                          <m:r>
                            <a:rPr lang="en-US" sz="1800" b="1">
                              <a:solidFill>
                                <a:srgbClr val="002060"/>
                              </a:solidFill>
                              <a:latin typeface="Cambria Math" panose="02040503050406030204" pitchFamily="18" charset="0"/>
                              <a:ea typeface="Cambria Math" panose="02040503050406030204" pitchFamily="18" charset="0"/>
                            </a:rPr>
                            <m:t>𝐐</m:t>
                          </m:r>
                        </m:e>
                        <m:sub>
                          <m:r>
                            <a:rPr lang="en-US" sz="1800" b="1" i="0" smtClean="0">
                              <a:solidFill>
                                <a:srgbClr val="002060"/>
                              </a:solidFill>
                              <a:latin typeface="Cambria Math" panose="02040503050406030204" pitchFamily="18" charset="0"/>
                              <a:ea typeface="Cambria Math" panose="02040503050406030204" pitchFamily="18" charset="0"/>
                            </a:rPr>
                            <m:t>𝐢𝐟</m:t>
                          </m:r>
                        </m:sub>
                      </m:sSub>
                      <m:r>
                        <a:rPr lang="en-US" sz="1800" b="1">
                          <a:solidFill>
                            <a:srgbClr val="002060"/>
                          </a:solidFill>
                          <a:latin typeface="Cambria Math" panose="02040503050406030204" pitchFamily="18" charset="0"/>
                        </a:rPr>
                        <m:t>−</m:t>
                      </m:r>
                      <m:sSub>
                        <m:sSubPr>
                          <m:ctrlPr>
                            <a:rPr lang="en-US" sz="1800" b="1" i="1">
                              <a:solidFill>
                                <a:srgbClr val="002060"/>
                              </a:solidFill>
                              <a:latin typeface="Cambria Math" panose="02040503050406030204" pitchFamily="18" charset="0"/>
                            </a:rPr>
                          </m:ctrlPr>
                        </m:sSubPr>
                        <m:e>
                          <m:r>
                            <a:rPr lang="en-US" sz="1800" b="1">
                              <a:solidFill>
                                <a:srgbClr val="002060"/>
                              </a:solidFill>
                              <a:latin typeface="Cambria Math" panose="02040503050406030204" pitchFamily="18" charset="0"/>
                              <a:ea typeface="Cambria Math" panose="02040503050406030204" pitchFamily="18" charset="0"/>
                            </a:rPr>
                            <m:t>𝐖</m:t>
                          </m:r>
                        </m:e>
                        <m:sub>
                          <m:r>
                            <a:rPr lang="en-US" sz="1800" b="1" i="0" smtClean="0">
                              <a:solidFill>
                                <a:srgbClr val="002060"/>
                              </a:solidFill>
                              <a:latin typeface="Cambria Math" panose="02040503050406030204" pitchFamily="18" charset="0"/>
                              <a:ea typeface="Cambria Math" panose="02040503050406030204" pitchFamily="18" charset="0"/>
                            </a:rPr>
                            <m:t>𝐢𝐟</m:t>
                          </m:r>
                        </m:sub>
                      </m:sSub>
                      <m:r>
                        <a:rPr lang="en-US" sz="1800" b="1">
                          <a:solidFill>
                            <a:srgbClr val="002060"/>
                          </a:solidFill>
                          <a:latin typeface="Cambria Math" panose="02040503050406030204" pitchFamily="18" charset="0"/>
                        </a:rPr>
                        <m:t>=</m:t>
                      </m:r>
                      <m:r>
                        <a:rPr lang="en-US" sz="1800" b="1">
                          <a:solidFill>
                            <a:srgbClr val="002060"/>
                          </a:solidFill>
                          <a:latin typeface="Cambria Math" panose="02040503050406030204" pitchFamily="18" charset="0"/>
                        </a:rPr>
                        <m:t>𝐦</m:t>
                      </m:r>
                      <m:r>
                        <a:rPr lang="en-US" sz="1800" b="1">
                          <a:solidFill>
                            <a:srgbClr val="002060"/>
                          </a:solidFill>
                          <a:latin typeface="Cambria Math" panose="02040503050406030204" pitchFamily="18" charset="0"/>
                        </a:rPr>
                        <m:t>[(</m:t>
                      </m:r>
                      <m:sSub>
                        <m:sSubPr>
                          <m:ctrlPr>
                            <a:rPr lang="en-US" sz="1800" b="1" i="1" smtClean="0">
                              <a:solidFill>
                                <a:srgbClr val="002060"/>
                              </a:solidFill>
                              <a:latin typeface="Cambria Math" panose="02040503050406030204" pitchFamily="18" charset="0"/>
                            </a:rPr>
                          </m:ctrlPr>
                        </m:sSubPr>
                        <m:e>
                          <m:r>
                            <a:rPr lang="en-US" sz="1800" b="1" i="1" smtClean="0">
                              <a:solidFill>
                                <a:srgbClr val="002060"/>
                              </a:solidFill>
                              <a:latin typeface="Cambria Math" panose="02040503050406030204" pitchFamily="18" charset="0"/>
                            </a:rPr>
                            <m:t>𝒉</m:t>
                          </m:r>
                        </m:e>
                        <m:sub>
                          <m:r>
                            <a:rPr lang="en-US" sz="1800" b="1" i="1" smtClean="0">
                              <a:solidFill>
                                <a:srgbClr val="002060"/>
                              </a:solidFill>
                              <a:latin typeface="Cambria Math" panose="02040503050406030204" pitchFamily="18" charset="0"/>
                            </a:rPr>
                            <m:t>𝒇</m:t>
                          </m:r>
                        </m:sub>
                      </m:sSub>
                      <m:r>
                        <a:rPr lang="en-US" sz="1800" b="1" i="0" smtClean="0">
                          <a:solidFill>
                            <a:srgbClr val="002060"/>
                          </a:solidFill>
                          <a:latin typeface="Cambria Math" panose="02040503050406030204" pitchFamily="18" charset="0"/>
                        </a:rPr>
                        <m:t>−</m:t>
                      </m:r>
                      <m:sSub>
                        <m:sSubPr>
                          <m:ctrlPr>
                            <a:rPr lang="en-US" sz="1800" b="1" i="1" smtClean="0">
                              <a:solidFill>
                                <a:srgbClr val="002060"/>
                              </a:solidFill>
                              <a:latin typeface="Cambria Math" panose="02040503050406030204" pitchFamily="18" charset="0"/>
                            </a:rPr>
                          </m:ctrlPr>
                        </m:sSubPr>
                        <m:e>
                          <m:r>
                            <a:rPr lang="en-US" sz="1800" b="1" i="1" smtClean="0">
                              <a:solidFill>
                                <a:srgbClr val="002060"/>
                              </a:solidFill>
                              <a:latin typeface="Cambria Math" panose="02040503050406030204" pitchFamily="18" charset="0"/>
                            </a:rPr>
                            <m:t>𝒉</m:t>
                          </m:r>
                        </m:e>
                        <m:sub>
                          <m:r>
                            <a:rPr lang="en-US" sz="1800" b="1" i="1" smtClean="0">
                              <a:solidFill>
                                <a:srgbClr val="002060"/>
                              </a:solidFill>
                              <a:latin typeface="Cambria Math" panose="02040503050406030204" pitchFamily="18" charset="0"/>
                            </a:rPr>
                            <m:t>𝒊</m:t>
                          </m:r>
                        </m:sub>
                      </m:sSub>
                      <m:r>
                        <a:rPr lang="en-US" sz="1800" b="1" i="0" smtClean="0">
                          <a:solidFill>
                            <a:srgbClr val="002060"/>
                          </a:solidFill>
                          <a:latin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f>
                        <m:fPr>
                          <m:ctrlPr>
                            <a:rPr lang="en-US" sz="1800" b="1" i="1">
                              <a:solidFill>
                                <a:srgbClr val="002060"/>
                              </a:solidFill>
                              <a:latin typeface="Cambria Math" panose="02040503050406030204" pitchFamily="18" charset="0"/>
                              <a:ea typeface="Cambria Math" panose="02040503050406030204" pitchFamily="18" charset="0"/>
                            </a:rPr>
                          </m:ctrlPr>
                        </m:fPr>
                        <m:num>
                          <m:r>
                            <a:rPr lang="en-US" sz="1800" b="1" i="1">
                              <a:solidFill>
                                <a:srgbClr val="002060"/>
                              </a:solidFill>
                              <a:latin typeface="Cambria Math" panose="02040503050406030204" pitchFamily="18" charset="0"/>
                              <a:ea typeface="Cambria Math" panose="02040503050406030204" pitchFamily="18" charset="0"/>
                            </a:rPr>
                            <m:t>𝟏</m:t>
                          </m:r>
                        </m:num>
                        <m:den>
                          <m:r>
                            <a:rPr lang="en-US" sz="1800" b="1" i="1">
                              <a:solidFill>
                                <a:srgbClr val="002060"/>
                              </a:solidFill>
                              <a:latin typeface="Cambria Math" panose="02040503050406030204" pitchFamily="18" charset="0"/>
                              <a:ea typeface="Cambria Math" panose="02040503050406030204" pitchFamily="18" charset="0"/>
                            </a:rPr>
                            <m:t>𝟐</m:t>
                          </m:r>
                        </m:den>
                      </m:f>
                      <m:r>
                        <a:rPr lang="en-US" sz="1800" b="1" i="0" smtClean="0">
                          <a:solidFill>
                            <a:srgbClr val="002060"/>
                          </a:solidFill>
                          <a:latin typeface="Cambria Math" panose="02040503050406030204" pitchFamily="18" charset="0"/>
                          <a:ea typeface="Cambria Math" panose="02040503050406030204" pitchFamily="18" charset="0"/>
                        </a:rPr>
                        <m:t>(</m:t>
                      </m:r>
                      <m:sSubSup>
                        <m:sSubSupPr>
                          <m:ctrlPr>
                            <a:rPr lang="en-US" sz="1800" b="1" i="1" smtClean="0">
                              <a:solidFill>
                                <a:srgbClr val="002060"/>
                              </a:solidFill>
                              <a:latin typeface="Cambria Math" panose="02040503050406030204" pitchFamily="18" charset="0"/>
                              <a:ea typeface="Cambria Math" panose="02040503050406030204" pitchFamily="18" charset="0"/>
                            </a:rPr>
                          </m:ctrlPr>
                        </m:sSubSupPr>
                        <m:e>
                          <m:r>
                            <a:rPr lang="en-US" sz="1800" b="1" i="1" smtClean="0">
                              <a:solidFill>
                                <a:srgbClr val="002060"/>
                              </a:solidFill>
                              <a:latin typeface="Cambria Math" panose="02040503050406030204" pitchFamily="18" charset="0"/>
                              <a:ea typeface="Cambria Math" panose="02040503050406030204" pitchFamily="18" charset="0"/>
                            </a:rPr>
                            <m:t>𝑪</m:t>
                          </m:r>
                        </m:e>
                        <m:sub>
                          <m:r>
                            <a:rPr lang="en-US" sz="1800" b="1" i="1" smtClean="0">
                              <a:solidFill>
                                <a:srgbClr val="002060"/>
                              </a:solidFill>
                              <a:latin typeface="Cambria Math" panose="02040503050406030204" pitchFamily="18" charset="0"/>
                              <a:ea typeface="Cambria Math" panose="02040503050406030204" pitchFamily="18" charset="0"/>
                            </a:rPr>
                            <m:t>𝒇</m:t>
                          </m:r>
                        </m:sub>
                        <m:sup>
                          <m:r>
                            <a:rPr lang="en-US" sz="1800" b="1" i="1" smtClean="0">
                              <a:solidFill>
                                <a:srgbClr val="002060"/>
                              </a:solidFill>
                              <a:latin typeface="Cambria Math" panose="02040503050406030204" pitchFamily="18" charset="0"/>
                              <a:ea typeface="Cambria Math" panose="02040503050406030204" pitchFamily="18" charset="0"/>
                            </a:rPr>
                            <m:t>𝟐</m:t>
                          </m:r>
                        </m:sup>
                      </m:sSubSup>
                      <m:r>
                        <a:rPr lang="en-US" sz="1800" b="1" i="1" smtClean="0">
                          <a:solidFill>
                            <a:srgbClr val="002060"/>
                          </a:solidFill>
                          <a:latin typeface="Cambria Math" panose="02040503050406030204" pitchFamily="18" charset="0"/>
                          <a:ea typeface="Cambria Math" panose="02040503050406030204" pitchFamily="18" charset="0"/>
                        </a:rPr>
                        <m:t>−</m:t>
                      </m:r>
                      <m:sSubSup>
                        <m:sSubSupPr>
                          <m:ctrlPr>
                            <a:rPr lang="en-US" sz="1800" b="1" i="1" smtClean="0">
                              <a:solidFill>
                                <a:srgbClr val="002060"/>
                              </a:solidFill>
                              <a:latin typeface="Cambria Math" panose="02040503050406030204" pitchFamily="18" charset="0"/>
                              <a:ea typeface="Cambria Math" panose="02040503050406030204" pitchFamily="18" charset="0"/>
                            </a:rPr>
                          </m:ctrlPr>
                        </m:sSubSupPr>
                        <m:e>
                          <m:r>
                            <a:rPr lang="en-US" sz="1800" b="1" i="1" smtClean="0">
                              <a:solidFill>
                                <a:srgbClr val="002060"/>
                              </a:solidFill>
                              <a:latin typeface="Cambria Math" panose="02040503050406030204" pitchFamily="18" charset="0"/>
                              <a:ea typeface="Cambria Math" panose="02040503050406030204" pitchFamily="18" charset="0"/>
                            </a:rPr>
                            <m:t>𝑪</m:t>
                          </m:r>
                        </m:e>
                        <m:sub>
                          <m:r>
                            <a:rPr lang="en-US" sz="1800" b="1" i="1" smtClean="0">
                              <a:solidFill>
                                <a:srgbClr val="002060"/>
                              </a:solidFill>
                              <a:latin typeface="Cambria Math" panose="02040503050406030204" pitchFamily="18" charset="0"/>
                              <a:ea typeface="Cambria Math" panose="02040503050406030204" pitchFamily="18" charset="0"/>
                            </a:rPr>
                            <m:t>𝒊</m:t>
                          </m:r>
                        </m:sub>
                        <m:sup>
                          <m:r>
                            <a:rPr lang="en-US" sz="1800" b="1" i="1" smtClean="0">
                              <a:solidFill>
                                <a:srgbClr val="002060"/>
                              </a:solidFill>
                              <a:latin typeface="Cambria Math" panose="02040503050406030204" pitchFamily="18" charset="0"/>
                              <a:ea typeface="Cambria Math" panose="02040503050406030204" pitchFamily="18" charset="0"/>
                            </a:rPr>
                            <m:t>𝟐</m:t>
                          </m:r>
                        </m:sup>
                      </m:sSubSup>
                      <m:r>
                        <a:rPr lang="en-US" sz="1800" b="1" i="1" smtClean="0">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𝐠</m:t>
                      </m:r>
                      <m:r>
                        <a:rPr lang="en-US" sz="1800" b="1" i="0" smtClean="0">
                          <a:solidFill>
                            <a:srgbClr val="002060"/>
                          </a:solidFill>
                          <a:latin typeface="Cambria Math" panose="02040503050406030204" pitchFamily="18" charset="0"/>
                          <a:ea typeface="Cambria Math" panose="02040503050406030204" pitchFamily="18" charset="0"/>
                        </a:rPr>
                        <m:t>(</m:t>
                      </m:r>
                      <m:sSub>
                        <m:sSubPr>
                          <m:ctrlPr>
                            <a:rPr lang="en-US" sz="1800" b="1" i="1" smtClean="0">
                              <a:solidFill>
                                <a:srgbClr val="002060"/>
                              </a:solidFill>
                              <a:latin typeface="Cambria Math" panose="02040503050406030204" pitchFamily="18" charset="0"/>
                              <a:ea typeface="Cambria Math" panose="02040503050406030204" pitchFamily="18" charset="0"/>
                            </a:rPr>
                          </m:ctrlPr>
                        </m:sSubPr>
                        <m:e>
                          <m:r>
                            <a:rPr lang="en-US" sz="1800" b="1" i="1" smtClean="0">
                              <a:solidFill>
                                <a:srgbClr val="002060"/>
                              </a:solidFill>
                              <a:latin typeface="Cambria Math" panose="02040503050406030204" pitchFamily="18" charset="0"/>
                              <a:ea typeface="Cambria Math" panose="02040503050406030204" pitchFamily="18" charset="0"/>
                            </a:rPr>
                            <m:t>𝒁</m:t>
                          </m:r>
                        </m:e>
                        <m:sub>
                          <m:r>
                            <a:rPr lang="en-US" sz="1800" b="1" i="1" smtClean="0">
                              <a:solidFill>
                                <a:srgbClr val="002060"/>
                              </a:solidFill>
                              <a:latin typeface="Cambria Math" panose="02040503050406030204" pitchFamily="18" charset="0"/>
                              <a:ea typeface="Cambria Math" panose="02040503050406030204" pitchFamily="18" charset="0"/>
                            </a:rPr>
                            <m:t>𝒇</m:t>
                          </m:r>
                        </m:sub>
                      </m:sSub>
                      <m:r>
                        <a:rPr lang="en-US" sz="1800" b="1" i="0" smtClean="0">
                          <a:solidFill>
                            <a:srgbClr val="002060"/>
                          </a:solidFill>
                          <a:latin typeface="Cambria Math" panose="02040503050406030204" pitchFamily="18" charset="0"/>
                          <a:ea typeface="Cambria Math" panose="02040503050406030204" pitchFamily="18" charset="0"/>
                        </a:rPr>
                        <m:t>−</m:t>
                      </m:r>
                      <m:sSub>
                        <m:sSubPr>
                          <m:ctrlPr>
                            <a:rPr lang="en-US" sz="1800" b="1" i="1" smtClean="0">
                              <a:solidFill>
                                <a:srgbClr val="002060"/>
                              </a:solidFill>
                              <a:latin typeface="Cambria Math" panose="02040503050406030204" pitchFamily="18" charset="0"/>
                              <a:ea typeface="Cambria Math" panose="02040503050406030204" pitchFamily="18" charset="0"/>
                            </a:rPr>
                          </m:ctrlPr>
                        </m:sSubPr>
                        <m:e>
                          <m:r>
                            <a:rPr lang="en-US" sz="1800" b="1" i="1" smtClean="0">
                              <a:solidFill>
                                <a:srgbClr val="002060"/>
                              </a:solidFill>
                              <a:latin typeface="Cambria Math" panose="02040503050406030204" pitchFamily="18" charset="0"/>
                              <a:ea typeface="Cambria Math" panose="02040503050406030204" pitchFamily="18" charset="0"/>
                            </a:rPr>
                            <m:t>𝒁</m:t>
                          </m:r>
                        </m:e>
                        <m:sub>
                          <m:r>
                            <a:rPr lang="en-US" sz="1800" b="1" i="1" smtClean="0">
                              <a:solidFill>
                                <a:srgbClr val="002060"/>
                              </a:solidFill>
                              <a:latin typeface="Cambria Math" panose="02040503050406030204" pitchFamily="18" charset="0"/>
                              <a:ea typeface="Cambria Math" panose="02040503050406030204" pitchFamily="18" charset="0"/>
                            </a:rPr>
                            <m:t>𝒊</m:t>
                          </m:r>
                        </m:sub>
                      </m:sSub>
                      <m:r>
                        <a:rPr lang="en-US" sz="1800" b="1" i="0" smtClean="0">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oMath>
                  </m:oMathPara>
                </a14:m>
                <a:endParaRPr lang="en-US" sz="1800" dirty="0">
                  <a:solidFill>
                    <a:srgbClr val="002060"/>
                  </a:solidFill>
                </a:endParaRPr>
              </a:p>
              <a:p>
                <a:pPr marL="0" indent="0">
                  <a:buNone/>
                </a:pPr>
                <a:endParaRPr lang="en-US" sz="2000" b="1" dirty="0"/>
              </a:p>
              <a:p>
                <a:pPr>
                  <a:buFont typeface="Wingdings" panose="05000000000000000000" pitchFamily="2" charset="2"/>
                  <a:buChar char="v"/>
                </a:pPr>
                <a:r>
                  <a:rPr lang="en-US" sz="2000" b="1" dirty="0"/>
                  <a:t>The above equation is known as the steady flow energy equation (SFEE).</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6252882" y="1062318"/>
                <a:ext cx="5661614" cy="5216287"/>
              </a:xfrm>
              <a:blipFill rotWithShape="0">
                <a:blip r:embed="rId2"/>
                <a:stretch>
                  <a:fillRect l="-1509" t="-935" r="-1940" b="-210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C00000"/>
                    </a:solidFill>
                  </a:rPr>
                  <a:t>For an open system, total energy becomes;</a:t>
                </a:r>
              </a:p>
              <a:p>
                <a:pPr marL="0" indent="0">
                  <a:buNone/>
                </a:pPr>
                <a14:m>
                  <m:oMathPara xmlns:m="http://schemas.openxmlformats.org/officeDocument/2006/math">
                    <m:oMathParaPr>
                      <m:jc m:val="centerGroup"/>
                    </m:oMathParaPr>
                    <m:oMath xmlns:m="http://schemas.openxmlformats.org/officeDocument/2006/math">
                      <m:r>
                        <a:rPr lang="en-US" sz="2400" b="1">
                          <a:solidFill>
                            <a:srgbClr val="002060"/>
                          </a:solidFill>
                          <a:latin typeface="Cambria Math" panose="02040503050406030204" pitchFamily="18" charset="0"/>
                        </a:rPr>
                        <m:t>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𝐔</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𝐊𝐄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𝐏𝐄</m:t>
                      </m:r>
                      <m:r>
                        <a:rPr lang="en-US" sz="2400" b="1" i="0" smtClean="0">
                          <a:solidFill>
                            <a:srgbClr val="002060"/>
                          </a:solidFill>
                          <a:latin typeface="Cambria Math" panose="02040503050406030204" pitchFamily="18" charset="0"/>
                        </a:rPr>
                        <m:t>+</m:t>
                      </m:r>
                      <m:d>
                        <m:dPr>
                          <m:ctrlPr>
                            <a:rPr lang="en-US" sz="2400" b="1" i="1" smtClean="0">
                              <a:solidFill>
                                <a:srgbClr val="002060"/>
                              </a:solidFill>
                              <a:latin typeface="Cambria Math" panose="02040503050406030204" pitchFamily="18" charset="0"/>
                            </a:rPr>
                          </m:ctrlPr>
                        </m:dPr>
                        <m:e>
                          <m:r>
                            <a:rPr lang="en-US" sz="2400" b="1" i="0" smtClean="0">
                              <a:solidFill>
                                <a:srgbClr val="002060"/>
                              </a:solidFill>
                              <a:latin typeface="Cambria Math" panose="02040503050406030204" pitchFamily="18" charset="0"/>
                            </a:rPr>
                            <m:t>𝐏𝐕</m:t>
                          </m:r>
                        </m:e>
                      </m:d>
                      <m:r>
                        <a:rPr lang="en-US" sz="2400" b="1" i="0" baseline="-25000" smtClean="0">
                          <a:solidFill>
                            <a:srgbClr val="002060"/>
                          </a:solidFill>
                          <a:latin typeface="Cambria Math" panose="02040503050406030204" pitchFamily="18" charset="0"/>
                        </a:rPr>
                        <m:t>𝐅𝐄</m:t>
                      </m:r>
                    </m:oMath>
                  </m:oMathPara>
                </a14:m>
                <a:endParaRPr lang="en-US" sz="2400" b="1" baseline="-25000" dirty="0">
                  <a:solidFill>
                    <a:srgbClr val="002060"/>
                  </a:solidFill>
                </a:endParaRPr>
              </a:p>
              <a:p>
                <a:pPr marL="0" indent="0">
                  <a:lnSpc>
                    <a:spcPct val="50000"/>
                  </a:lnSpc>
                  <a:buNone/>
                </a:pPr>
                <a:endParaRPr lang="en-US" sz="2400" b="1" baseline="-25000"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r>
                        <a:rPr lang="en-US" sz="2400" b="1">
                          <a:solidFill>
                            <a:srgbClr val="002060"/>
                          </a:solidFill>
                          <a:latin typeface="Cambria Math" panose="02040503050406030204" pitchFamily="18" charset="0"/>
                        </a:rPr>
                        <m:t>𝐄</m:t>
                      </m:r>
                      <m:r>
                        <a:rPr lang="en-US" sz="2400" b="1">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𝐇</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𝐊𝐄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𝐏𝐄</m:t>
                      </m:r>
                    </m:oMath>
                  </m:oMathPara>
                </a14:m>
                <a:endParaRPr lang="en-US" sz="2400" b="1" baseline="-25000" dirty="0">
                  <a:solidFill>
                    <a:srgbClr val="002060"/>
                  </a:solidFill>
                </a:endParaRPr>
              </a:p>
              <a:p>
                <a:pPr>
                  <a:buFont typeface="Wingdings" panose="05000000000000000000" pitchFamily="2" charset="2"/>
                  <a:buChar char="v"/>
                </a:pPr>
                <a:r>
                  <a:rPr lang="en-US" sz="2400" dirty="0"/>
                  <a:t>Considering a steady flow system, mass transfer does not change with time. </a:t>
                </a:r>
              </a:p>
              <a:p>
                <a:pPr marL="0" indent="0">
                  <a:buNone/>
                </a:pPr>
                <a:r>
                  <a:rPr lang="en-US" sz="2400" dirty="0"/>
                  <a:t>                   Thus, m</a:t>
                </a:r>
                <a:r>
                  <a:rPr lang="en-US" sz="2400" baseline="-25000" dirty="0"/>
                  <a:t>in</a:t>
                </a:r>
                <a:r>
                  <a:rPr lang="en-US" sz="2400" dirty="0"/>
                  <a:t> = </a:t>
                </a:r>
                <a:r>
                  <a:rPr lang="en-US" sz="2400" dirty="0" err="1"/>
                  <a:t>m</a:t>
                </a:r>
                <a:r>
                  <a:rPr lang="en-US" sz="2400" baseline="-25000" dirty="0" err="1"/>
                  <a:t>out</a:t>
                </a:r>
                <a:r>
                  <a:rPr lang="en-US" sz="2400" dirty="0"/>
                  <a:t> = m </a:t>
                </a:r>
              </a:p>
              <a:p>
                <a:pPr>
                  <a:buFont typeface="Wingdings" panose="05000000000000000000" pitchFamily="2" charset="2"/>
                  <a:buChar char="v"/>
                </a:pPr>
                <a:r>
                  <a:rPr lang="en-US" sz="2400" b="1" dirty="0">
                    <a:solidFill>
                      <a:srgbClr val="002060"/>
                    </a:solidFill>
                  </a:rPr>
                  <a:t>The total energy can be expressed as;</a:t>
                </a:r>
              </a:p>
              <a:p>
                <a:pPr marL="0" indent="0">
                  <a:buNone/>
                </a:pPr>
                <a14:m>
                  <m:oMathPara xmlns:m="http://schemas.openxmlformats.org/officeDocument/2006/math">
                    <m:oMathParaPr>
                      <m:jc m:val="centerGroup"/>
                    </m:oMathParaPr>
                    <m:oMath xmlns:m="http://schemas.openxmlformats.org/officeDocument/2006/math">
                      <m:r>
                        <a:rPr lang="en-US" sz="2400" b="1" i="1" smtClean="0">
                          <a:solidFill>
                            <a:srgbClr val="C00000"/>
                          </a:solidFill>
                          <a:latin typeface="Cambria Math" panose="02040503050406030204" pitchFamily="18" charset="0"/>
                        </a:rPr>
                        <m:t>𝑬</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𝒎𝒉</m:t>
                      </m:r>
                      <m:r>
                        <a:rPr lang="en-US" sz="2400" b="1" i="1" smtClean="0">
                          <a:solidFill>
                            <a:srgbClr val="C00000"/>
                          </a:solidFill>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r>
                            <a:rPr lang="en-US" sz="2400" b="1" i="1" smtClean="0">
                              <a:solidFill>
                                <a:srgbClr val="C00000"/>
                              </a:solidFill>
                              <a:latin typeface="Cambria Math" panose="02040503050406030204" pitchFamily="18" charset="0"/>
                            </a:rPr>
                            <m:t>𝟏</m:t>
                          </m:r>
                        </m:num>
                        <m:den>
                          <m:r>
                            <a:rPr lang="en-US" sz="2400" b="1" i="1" smtClean="0">
                              <a:solidFill>
                                <a:srgbClr val="C00000"/>
                              </a:solidFill>
                              <a:latin typeface="Cambria Math" panose="02040503050406030204" pitchFamily="18" charset="0"/>
                            </a:rPr>
                            <m:t>𝟐</m:t>
                          </m:r>
                        </m:den>
                      </m:f>
                      <m:r>
                        <a:rPr lang="en-US" sz="2400" b="1" i="1" smtClean="0">
                          <a:solidFill>
                            <a:srgbClr val="C00000"/>
                          </a:solidFill>
                          <a:latin typeface="Cambria Math" panose="02040503050406030204" pitchFamily="18" charset="0"/>
                        </a:rPr>
                        <m:t>𝒎</m:t>
                      </m:r>
                      <m:sSup>
                        <m:sSupPr>
                          <m:ctrlPr>
                            <a:rPr lang="en-US" sz="2400" b="1" i="1" smtClean="0">
                              <a:solidFill>
                                <a:srgbClr val="C00000"/>
                              </a:solidFill>
                              <a:latin typeface="Cambria Math" panose="02040503050406030204" pitchFamily="18" charset="0"/>
                            </a:rPr>
                          </m:ctrlPr>
                        </m:sSupPr>
                        <m:e>
                          <m:r>
                            <a:rPr lang="en-US" sz="2400" b="1" i="1" smtClean="0">
                              <a:solidFill>
                                <a:srgbClr val="C00000"/>
                              </a:solidFill>
                              <a:latin typeface="Cambria Math" panose="02040503050406030204" pitchFamily="18" charset="0"/>
                            </a:rPr>
                            <m:t>𝑪</m:t>
                          </m:r>
                        </m:e>
                        <m:sup>
                          <m:r>
                            <a:rPr lang="en-US" sz="2400" b="1" i="1" smtClean="0">
                              <a:solidFill>
                                <a:srgbClr val="C00000"/>
                              </a:solidFill>
                              <a:latin typeface="Cambria Math" panose="02040503050406030204" pitchFamily="18" charset="0"/>
                            </a:rPr>
                            <m:t>𝟐</m:t>
                          </m:r>
                        </m:sup>
                      </m:sSup>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𝒎𝒈𝒛</m:t>
                      </m:r>
                    </m:oMath>
                  </m:oMathPara>
                </a14:m>
                <a:endParaRPr lang="en-US" sz="2400" b="1" dirty="0">
                  <a:solidFill>
                    <a:srgbClr val="C00000"/>
                  </a:solidFill>
                </a:endParaRPr>
              </a:p>
              <a:p>
                <a:pPr>
                  <a:buFont typeface="Wingdings" panose="05000000000000000000" pitchFamily="2" charset="2"/>
                  <a:buChar char="v"/>
                </a:pPr>
                <a:r>
                  <a:rPr lang="en-US" sz="2400" dirty="0"/>
                  <a:t>The total change in energy of an open system becomes;</a:t>
                </a:r>
              </a:p>
              <a:p>
                <a:pPr marL="0" indent="0">
                  <a:buNone/>
                </a:pPr>
                <a14:m>
                  <m:oMathPara xmlns:m="http://schemas.openxmlformats.org/officeDocument/2006/math">
                    <m:oMathParaPr>
                      <m:jc m:val="centerGroup"/>
                    </m:oMathParaPr>
                    <m:oMath xmlns:m="http://schemas.openxmlformats.org/officeDocument/2006/math">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𝐄</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𝐇</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𝐊𝐄</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𝐏𝐄</m:t>
                      </m:r>
                    </m:oMath>
                  </m:oMathPara>
                </a14:m>
                <a:endParaRPr lang="en-US" b="1" baseline="-25000" dirty="0">
                  <a:solidFill>
                    <a:srgbClr val="002060"/>
                  </a:solidFill>
                </a:endParaRPr>
              </a:p>
              <a:p>
                <a:pPr>
                  <a:buFont typeface="Wingdings" panose="05000000000000000000" pitchFamily="2" charset="2"/>
                  <a:buChar char="v"/>
                </a:pPr>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62318"/>
                <a:ext cx="5800373" cy="5216287"/>
              </a:xfrm>
              <a:prstGeom prst="rect">
                <a:avLst/>
              </a:prstGeom>
              <a:blipFill rotWithShape="0">
                <a:blip r:embed="rId3"/>
                <a:stretch>
                  <a:fillRect l="-1366" t="-935"/>
                </a:stretch>
              </a:blipFill>
            </p:spPr>
            <p:txBody>
              <a:bodyPr/>
              <a:lstStyle/>
              <a:p>
                <a:r>
                  <a:rPr lang="en-US">
                    <a:noFill/>
                  </a:rPr>
                  <a:t> </a:t>
                </a:r>
              </a:p>
            </p:txBody>
          </p:sp>
        </mc:Fallback>
      </mc:AlternateContent>
    </p:spTree>
    <p:extLst>
      <p:ext uri="{BB962C8B-B14F-4D97-AF65-F5344CB8AC3E}">
        <p14:creationId xmlns:p14="http://schemas.microsoft.com/office/powerpoint/2010/main" val="345837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ipe(down)">
                                      <p:cBhvr>
                                        <p:cTn id="10" dur="500"/>
                                        <p:tgtEl>
                                          <p:spTgt spid="10">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animEffect transition="in" filter="wipe(down)">
                                      <p:cBhvr>
                                        <p:cTn id="13" dur="500"/>
                                        <p:tgtEl>
                                          <p:spTgt spid="1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wipe(down)">
                                      <p:cBhvr>
                                        <p:cTn id="18" dur="500"/>
                                        <p:tgtEl>
                                          <p:spTgt spid="10">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animEffect transition="in" filter="wipe(down)">
                                      <p:cBhvr>
                                        <p:cTn id="21" dur="500"/>
                                        <p:tgtEl>
                                          <p:spTgt spid="10">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0">
                                            <p:txEl>
                                              <p:pRg st="6" end="6"/>
                                            </p:txEl>
                                          </p:spTgt>
                                        </p:tgtEl>
                                        <p:attrNameLst>
                                          <p:attrName>style.visibility</p:attrName>
                                        </p:attrNameLst>
                                      </p:cBhvr>
                                      <p:to>
                                        <p:strVal val="visible"/>
                                      </p:to>
                                    </p:set>
                                    <p:animEffect transition="in" filter="wipe(down)">
                                      <p:cBhvr>
                                        <p:cTn id="26" dur="500"/>
                                        <p:tgtEl>
                                          <p:spTgt spid="10">
                                            <p:txEl>
                                              <p:pRg st="6" end="6"/>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10">
                                            <p:txEl>
                                              <p:pRg st="7" end="7"/>
                                            </p:txEl>
                                          </p:spTgt>
                                        </p:tgtEl>
                                        <p:attrNameLst>
                                          <p:attrName>style.visibility</p:attrName>
                                        </p:attrNameLst>
                                      </p:cBhvr>
                                      <p:to>
                                        <p:strVal val="visible"/>
                                      </p:to>
                                    </p:set>
                                    <p:animEffect transition="in" filter="wipe(down)">
                                      <p:cBhvr>
                                        <p:cTn id="29" dur="500"/>
                                        <p:tgtEl>
                                          <p:spTgt spid="10">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0">
                                            <p:txEl>
                                              <p:pRg st="8" end="8"/>
                                            </p:txEl>
                                          </p:spTgt>
                                        </p:tgtEl>
                                        <p:attrNameLst>
                                          <p:attrName>style.visibility</p:attrName>
                                        </p:attrNameLst>
                                      </p:cBhvr>
                                      <p:to>
                                        <p:strVal val="visible"/>
                                      </p:to>
                                    </p:set>
                                    <p:animEffect transition="in" filter="wipe(down)">
                                      <p:cBhvr>
                                        <p:cTn id="34" dur="500"/>
                                        <p:tgtEl>
                                          <p:spTgt spid="10">
                                            <p:txEl>
                                              <p:pRg st="8" end="8"/>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10">
                                            <p:txEl>
                                              <p:pRg st="9" end="9"/>
                                            </p:txEl>
                                          </p:spTgt>
                                        </p:tgtEl>
                                        <p:attrNameLst>
                                          <p:attrName>style.visibility</p:attrName>
                                        </p:attrNameLst>
                                      </p:cBhvr>
                                      <p:to>
                                        <p:strVal val="visible"/>
                                      </p:to>
                                    </p:set>
                                    <p:animEffect transition="in" filter="wipe(down)">
                                      <p:cBhvr>
                                        <p:cTn id="37" dur="500"/>
                                        <p:tgtEl>
                                          <p:spTgt spid="10">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0" end="0"/>
                                            </p:txEl>
                                          </p:spTgt>
                                        </p:tgtEl>
                                        <p:attrNameLst>
                                          <p:attrName>style.visibility</p:attrName>
                                        </p:attrNameLst>
                                      </p:cBhvr>
                                      <p:to>
                                        <p:strVal val="visible"/>
                                      </p:to>
                                    </p:set>
                                    <p:animEffect transition="in" filter="wipe(down)">
                                      <p:cBhvr>
                                        <p:cTn id="42" dur="500"/>
                                        <p:tgtEl>
                                          <p:spTgt spid="3">
                                            <p:txEl>
                                              <p:pRg st="0" end="0"/>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wipe(down)">
                                      <p:cBhvr>
                                        <p:cTn id="45" dur="500"/>
                                        <p:tgtEl>
                                          <p:spTgt spid="3">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wipe(down)">
                                      <p:cBhvr>
                                        <p:cTn id="50" dur="500"/>
                                        <p:tgtEl>
                                          <p:spTgt spid="3">
                                            <p:txEl>
                                              <p:pRg st="3" end="3"/>
                                            </p:txEl>
                                          </p:spTgt>
                                        </p:tgtEl>
                                      </p:cBhvr>
                                    </p:animEffect>
                                  </p:childTnLst>
                                </p:cTn>
                              </p:par>
                              <p:par>
                                <p:cTn id="51" presetID="22" presetClass="entr" presetSubtype="4" fill="hold" nodeType="with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wipe(down)">
                                      <p:cBhvr>
                                        <p:cTn id="53" dur="500"/>
                                        <p:tgtEl>
                                          <p:spTgt spid="3">
                                            <p:txEl>
                                              <p:pRg st="4" end="4"/>
                                            </p:txEl>
                                          </p:spTgt>
                                        </p:tgtEl>
                                      </p:cBhvr>
                                    </p:animEffect>
                                  </p:childTnLst>
                                </p:cTn>
                              </p:par>
                              <p:par>
                                <p:cTn id="54" presetID="22" presetClass="entr" presetSubtype="4" fill="hold" nodeType="with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wipe(down)">
                                      <p:cBhvr>
                                        <p:cTn id="56" dur="500"/>
                                        <p:tgtEl>
                                          <p:spTgt spid="3">
                                            <p:txEl>
                                              <p:pRg st="5" end="5"/>
                                            </p:txEl>
                                          </p:spTgt>
                                        </p:tgtEl>
                                      </p:cBhvr>
                                    </p:animEffect>
                                  </p:childTnLst>
                                </p:cTn>
                              </p:par>
                              <p:par>
                                <p:cTn id="57" presetID="22" presetClass="entr" presetSubtype="4" fill="hold" nodeType="with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animEffect transition="in" filter="wipe(down)">
                                      <p:cBhvr>
                                        <p:cTn id="5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sp>
        <p:nvSpPr>
          <p:cNvPr id="10" name="Content Placeholder 2"/>
          <p:cNvSpPr txBox="1">
            <a:spLocks/>
          </p:cNvSpPr>
          <p:nvPr/>
        </p:nvSpPr>
        <p:spPr>
          <a:xfrm>
            <a:off x="331485" y="1062318"/>
            <a:ext cx="11515374" cy="83818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Most engineering devices such as turbines, compressors and nozzles operate for long periods of time under the same conditions, and they are classified as steady-flow devices.</a:t>
            </a:r>
          </a:p>
          <a:p>
            <a:pPr>
              <a:buFont typeface="Wingdings" panose="05000000000000000000" pitchFamily="2" charset="2"/>
              <a:buChar char="v"/>
            </a:pPr>
            <a:endParaRPr lang="en-US" sz="2400" dirty="0"/>
          </a:p>
          <a:p>
            <a:pPr>
              <a:buFont typeface="Wingdings" panose="05000000000000000000" pitchFamily="2" charset="2"/>
              <a:buChar char="v"/>
            </a:pPr>
            <a:endParaRPr lang="en-US" dirty="0"/>
          </a:p>
        </p:txBody>
      </p:sp>
      <p:pic>
        <p:nvPicPr>
          <p:cNvPr id="6" name="Picture 6" descr="04025 copy"/>
          <p:cNvPicPr>
            <a:picLocks noChangeAspect="1" noChangeArrowheads="1"/>
          </p:cNvPicPr>
          <p:nvPr/>
        </p:nvPicPr>
        <p:blipFill>
          <a:blip r:embed="rId2" cstate="print"/>
          <a:srcRect/>
          <a:stretch>
            <a:fillRect/>
          </a:stretch>
        </p:blipFill>
        <p:spPr bwMode="auto">
          <a:xfrm>
            <a:off x="2683288" y="1900507"/>
            <a:ext cx="7153836" cy="4256532"/>
          </a:xfrm>
          <a:prstGeom prst="rect">
            <a:avLst/>
          </a:prstGeom>
          <a:noFill/>
        </p:spPr>
      </p:pic>
    </p:spTree>
    <p:extLst>
      <p:ext uri="{BB962C8B-B14F-4D97-AF65-F5344CB8AC3E}">
        <p14:creationId xmlns:p14="http://schemas.microsoft.com/office/powerpoint/2010/main" val="770285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sp>
        <p:nvSpPr>
          <p:cNvPr id="10" name="Content Placeholder 2"/>
          <p:cNvSpPr txBox="1">
            <a:spLocks/>
          </p:cNvSpPr>
          <p:nvPr/>
        </p:nvSpPr>
        <p:spPr>
          <a:xfrm>
            <a:off x="331486" y="1062319"/>
            <a:ext cx="6862690" cy="51098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Boilers and Condensers</a:t>
            </a:r>
          </a:p>
          <a:p>
            <a:pPr>
              <a:buFont typeface="Wingdings" panose="05000000000000000000" pitchFamily="2" charset="2"/>
              <a:buChar char="v"/>
            </a:pPr>
            <a:r>
              <a:rPr lang="en-US" sz="2400" dirty="0"/>
              <a:t>In a </a:t>
            </a:r>
            <a:r>
              <a:rPr lang="en-US" sz="2400" b="1" dirty="0">
                <a:solidFill>
                  <a:srgbClr val="002060"/>
                </a:solidFill>
              </a:rPr>
              <a:t>boiler</a:t>
            </a:r>
            <a:r>
              <a:rPr lang="en-US" sz="2400" dirty="0"/>
              <a:t> operating under steady conditions, water is pumped into the boiler along the feed line at the same rate at which steam leaves the boiler along the steam main, and heat energy is supplied from the furnace at steady rate.  </a:t>
            </a:r>
          </a:p>
          <a:p>
            <a:pPr>
              <a:buFont typeface="Wingdings" panose="05000000000000000000" pitchFamily="2" charset="2"/>
              <a:buChar char="v"/>
            </a:pPr>
            <a:r>
              <a:rPr lang="en-US" sz="2400" dirty="0"/>
              <a:t>In principle, a </a:t>
            </a:r>
            <a:r>
              <a:rPr lang="en-US" sz="2400" b="1" dirty="0">
                <a:solidFill>
                  <a:srgbClr val="002060"/>
                </a:solidFill>
              </a:rPr>
              <a:t>condenser</a:t>
            </a:r>
            <a:r>
              <a:rPr lang="en-US" sz="2400" dirty="0"/>
              <a:t> is a boiler in reverse. Heat energy is removed in order to condense the vapour into a liquid. </a:t>
            </a:r>
          </a:p>
          <a:p>
            <a:pPr>
              <a:buFont typeface="Wingdings" panose="05000000000000000000" pitchFamily="2" charset="2"/>
              <a:buChar char="v"/>
            </a:pPr>
            <a:r>
              <a:rPr lang="en-US" sz="2400" dirty="0"/>
              <a:t>If the condenser is in steady state, then the amount of liquid (condensate) must be equal to the amount of vapour entering the condenser.</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1543" y="1062319"/>
            <a:ext cx="3514522" cy="266251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6224" y="3818964"/>
            <a:ext cx="4249270" cy="2301430"/>
          </a:xfrm>
          <a:prstGeom prst="rect">
            <a:avLst/>
          </a:prstGeom>
        </p:spPr>
      </p:pic>
    </p:spTree>
    <p:extLst>
      <p:ext uri="{BB962C8B-B14F-4D97-AF65-F5344CB8AC3E}">
        <p14:creationId xmlns:p14="http://schemas.microsoft.com/office/powerpoint/2010/main" val="10629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down)">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down)">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7185421"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Boilers and Condensers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Q</m:t>
                          </m:r>
                        </m:e>
                        <m:sub>
                          <m:r>
                            <a:rPr lang="en-US" sz="2200" b="0" i="0" dirty="0" smtClean="0">
                              <a:latin typeface="Cambria Math" panose="02040503050406030204" pitchFamily="18" charset="0"/>
                            </a:rPr>
                            <m:t>12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W</m:t>
                          </m:r>
                        </m:e>
                        <m:sub>
                          <m:r>
                            <a:rPr lang="en-US" sz="2200" b="0" i="0" dirty="0" smtClean="0">
                              <a:latin typeface="Cambria Math" panose="02040503050406030204" pitchFamily="18" charset="0"/>
                            </a:rPr>
                            <m:t>12</m:t>
                          </m:r>
                        </m:sub>
                      </m:sSub>
                      <m:r>
                        <a:rPr lang="en-US" sz="2200" b="0" i="0" dirty="0" smtClean="0">
                          <a:latin typeface="Cambria Math" panose="02040503050406030204" pitchFamily="18" charset="0"/>
                        </a:rPr>
                        <m:t>=</m:t>
                      </m:r>
                      <m:r>
                        <m:rPr>
                          <m:sty m:val="p"/>
                        </m:rPr>
                        <a:rPr lang="en-US" sz="2200" b="0" i="0" dirty="0" smtClean="0">
                          <a:latin typeface="Cambria Math" panose="02040503050406030204" pitchFamily="18" charset="0"/>
                        </a:rPr>
                        <m:t>m</m:t>
                      </m:r>
                      <m:d>
                        <m:dPr>
                          <m:begChr m:val="["/>
                          <m:endChr m:val="]"/>
                          <m:ctrlPr>
                            <a:rPr lang="en-US" sz="2200" b="0" i="1" dirty="0" smtClean="0">
                              <a:latin typeface="Cambria Math" panose="02040503050406030204" pitchFamily="18" charset="0"/>
                            </a:rPr>
                          </m:ctrlPr>
                        </m:dPr>
                        <m:e>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h</m:t>
                                  </m:r>
                                </m:e>
                                <m:sub>
                                  <m:r>
                                    <a:rPr lang="en-US" sz="2200" b="0" i="0" dirty="0" smtClean="0">
                                      <a:latin typeface="Cambria Math" panose="02040503050406030204" pitchFamily="18" charset="0"/>
                                    </a:rPr>
                                    <m:t>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h</m:t>
                                  </m:r>
                                </m:e>
                                <m:sub>
                                  <m:r>
                                    <a:rPr lang="en-US" sz="2200" b="0" i="0" dirty="0" smtClean="0">
                                      <a:latin typeface="Cambria Math" panose="02040503050406030204" pitchFamily="18" charset="0"/>
                                    </a:rPr>
                                    <m:t>1</m:t>
                                  </m:r>
                                </m:sub>
                              </m:sSub>
                            </m:e>
                          </m:d>
                          <m:r>
                            <a:rPr lang="en-US" sz="2200" b="0" i="0" dirty="0" smtClean="0">
                              <a:latin typeface="Cambria Math" panose="02040503050406030204" pitchFamily="18" charset="0"/>
                            </a:rPr>
                            <m:t>+</m:t>
                          </m:r>
                          <m:f>
                            <m:fPr>
                              <m:ctrlPr>
                                <a:rPr lang="en-US" sz="2200" b="0" i="1" dirty="0" smtClean="0">
                                  <a:latin typeface="Cambria Math" panose="02040503050406030204" pitchFamily="18" charset="0"/>
                                </a:rPr>
                              </m:ctrlPr>
                            </m:fPr>
                            <m:num>
                              <m:sSubSup>
                                <m:sSubSupPr>
                                  <m:ctrlPr>
                                    <a:rPr lang="en-US" sz="2200" b="0" i="1" dirty="0" smtClean="0">
                                      <a:latin typeface="Cambria Math" panose="02040503050406030204" pitchFamily="18" charset="0"/>
                                    </a:rPr>
                                  </m:ctrlPr>
                                </m:sSubSupPr>
                                <m:e>
                                  <m:r>
                                    <m:rPr>
                                      <m:sty m:val="p"/>
                                    </m:rPr>
                                    <a:rPr lang="en-US" sz="2200" b="0" i="0" dirty="0" smtClean="0">
                                      <a:latin typeface="Cambria Math" panose="02040503050406030204" pitchFamily="18" charset="0"/>
                                    </a:rPr>
                                    <m:t>C</m:t>
                                  </m:r>
                                </m:e>
                                <m:sub>
                                  <m:r>
                                    <a:rPr lang="en-US" sz="2200" b="0" i="0" dirty="0" smtClean="0">
                                      <a:latin typeface="Cambria Math" panose="02040503050406030204" pitchFamily="18" charset="0"/>
                                    </a:rPr>
                                    <m:t>2</m:t>
                                  </m:r>
                                </m:sub>
                                <m:sup>
                                  <m:r>
                                    <a:rPr lang="en-US" sz="2200" b="0" i="0" dirty="0" smtClean="0">
                                      <a:latin typeface="Cambria Math" panose="02040503050406030204" pitchFamily="18" charset="0"/>
                                    </a:rPr>
                                    <m:t>2</m:t>
                                  </m:r>
                                </m:sup>
                              </m:sSubSup>
                              <m:r>
                                <a:rPr lang="en-US" sz="2200" b="0" i="0" dirty="0" smtClean="0">
                                  <a:latin typeface="Cambria Math" panose="02040503050406030204" pitchFamily="18" charset="0"/>
                                </a:rPr>
                                <m:t>−</m:t>
                              </m:r>
                              <m:sSubSup>
                                <m:sSubSupPr>
                                  <m:ctrlPr>
                                    <a:rPr lang="en-US" sz="2200" b="0" i="1" dirty="0" smtClean="0">
                                      <a:latin typeface="Cambria Math" panose="02040503050406030204" pitchFamily="18" charset="0"/>
                                    </a:rPr>
                                  </m:ctrlPr>
                                </m:sSubSupPr>
                                <m:e>
                                  <m:r>
                                    <m:rPr>
                                      <m:sty m:val="p"/>
                                    </m:rPr>
                                    <a:rPr lang="en-US" sz="2200" b="0" i="0" dirty="0" smtClean="0">
                                      <a:latin typeface="Cambria Math" panose="02040503050406030204" pitchFamily="18" charset="0"/>
                                    </a:rPr>
                                    <m:t>C</m:t>
                                  </m:r>
                                </m:e>
                                <m:sub>
                                  <m:r>
                                    <a:rPr lang="en-US" sz="2200" b="0" i="0" dirty="0" smtClean="0">
                                      <a:latin typeface="Cambria Math" panose="02040503050406030204" pitchFamily="18" charset="0"/>
                                    </a:rPr>
                                    <m:t>1</m:t>
                                  </m:r>
                                </m:sub>
                                <m:sup>
                                  <m:r>
                                    <a:rPr lang="en-US" sz="2200" b="0" i="0" dirty="0" smtClean="0">
                                      <a:latin typeface="Cambria Math" panose="02040503050406030204" pitchFamily="18" charset="0"/>
                                    </a:rPr>
                                    <m:t>2</m:t>
                                  </m:r>
                                </m:sup>
                              </m:sSubSup>
                            </m:num>
                            <m:den>
                              <m:r>
                                <a:rPr lang="en-US" sz="2200" b="0" i="0" dirty="0" smtClean="0">
                                  <a:latin typeface="Cambria Math" panose="02040503050406030204" pitchFamily="18" charset="0"/>
                                </a:rPr>
                                <m:t>2</m:t>
                              </m:r>
                            </m:den>
                          </m:f>
                          <m:r>
                            <a:rPr lang="en-US" sz="2200" b="0" i="0" dirty="0" smtClean="0">
                              <a:latin typeface="Cambria Math" panose="02040503050406030204" pitchFamily="18" charset="0"/>
                            </a:rPr>
                            <m:t>+</m:t>
                          </m:r>
                          <m:r>
                            <m:rPr>
                              <m:sty m:val="p"/>
                            </m:rPr>
                            <a:rPr lang="en-US" sz="2200" b="0" i="0" dirty="0" smtClean="0">
                              <a:latin typeface="Cambria Math" panose="02040503050406030204" pitchFamily="18" charset="0"/>
                            </a:rPr>
                            <m:t>g</m:t>
                          </m:r>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Z</m:t>
                                  </m:r>
                                </m:e>
                                <m:sub>
                                  <m:r>
                                    <a:rPr lang="en-US" sz="2200" b="0" i="0" dirty="0" smtClean="0">
                                      <a:latin typeface="Cambria Math" panose="02040503050406030204" pitchFamily="18" charset="0"/>
                                    </a:rPr>
                                    <m:t>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Z</m:t>
                                  </m:r>
                                </m:e>
                                <m:sub>
                                  <m:r>
                                    <a:rPr lang="en-US" sz="2200" b="0" i="0" dirty="0" smtClean="0">
                                      <a:latin typeface="Cambria Math" panose="02040503050406030204" pitchFamily="18" charset="0"/>
                                    </a:rPr>
                                    <m:t>1</m:t>
                                  </m:r>
                                </m:sub>
                              </m:sSub>
                            </m:e>
                          </m:d>
                        </m:e>
                      </m:d>
                    </m:oMath>
                  </m:oMathPara>
                </a14:m>
                <a:endParaRPr lang="en-US" sz="2200" dirty="0"/>
              </a:p>
              <a:p>
                <a:pPr>
                  <a:buFont typeface="Wingdings" panose="05000000000000000000" pitchFamily="2" charset="2"/>
                  <a:buChar char="v"/>
                </a:pPr>
                <a:r>
                  <a:rPr lang="en-US" sz="2200" dirty="0">
                    <a:solidFill>
                      <a:srgbClr val="002060"/>
                    </a:solidFill>
                  </a:rPr>
                  <a:t>In applying the above equation to the boiler or condenser, the following points should be noted:</a:t>
                </a:r>
              </a:p>
              <a:p>
                <a:pPr>
                  <a:buFont typeface="Wingdings" panose="05000000000000000000" pitchFamily="2" charset="2"/>
                  <a:buChar char="ü"/>
                </a:pPr>
                <a:r>
                  <a:rPr lang="en-US" sz="2200" dirty="0"/>
                  <a:t>Q is the amount of heat energy transferred to the fluid per second.</a:t>
                </a:r>
              </a:p>
              <a:p>
                <a:pPr>
                  <a:buFont typeface="Wingdings" panose="05000000000000000000" pitchFamily="2" charset="2"/>
                  <a:buChar char="ü"/>
                </a:pPr>
                <a:r>
                  <a:rPr lang="en-US" sz="2200" dirty="0"/>
                  <a:t>W will be zero, since a boiler has no moving parts capable of effecting a work transfer.</a:t>
                </a:r>
              </a:p>
              <a:p>
                <a:pPr>
                  <a:buFont typeface="Wingdings" panose="05000000000000000000" pitchFamily="2" charset="2"/>
                  <a:buChar char="ü"/>
                </a:pPr>
                <a:r>
                  <a:rPr lang="en-US" sz="2200" dirty="0"/>
                  <a:t>The changes in kinetic and potential energies are small compared with the other terms and may be neglected.</a:t>
                </a:r>
              </a:p>
              <a:p>
                <a:pPr>
                  <a:buFont typeface="Wingdings" panose="05000000000000000000" pitchFamily="2" charset="2"/>
                  <a:buChar char="ü"/>
                </a:pPr>
                <a:r>
                  <a:rPr lang="en-US" sz="2200" dirty="0"/>
                  <a:t>m is the rate of flow of the fluid.</a:t>
                </a:r>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7185421" cy="5364205"/>
              </a:xfrm>
              <a:prstGeom prst="rect">
                <a:avLst/>
              </a:prstGeom>
              <a:blipFill rotWithShape="0">
                <a:blip r:embed="rId2"/>
                <a:stretch>
                  <a:fillRect l="-1696" t="-1136" r="-1187" b="-2386"/>
                </a:stretch>
              </a:blipFill>
            </p:spPr>
            <p:txBody>
              <a:bodyPr/>
              <a:lstStyle/>
              <a:p>
                <a:r>
                  <a:rPr lang="en-US">
                    <a:noFill/>
                  </a:rPr>
                  <a:t> </a:t>
                </a:r>
              </a:p>
            </p:txBody>
          </p:sp>
        </mc:Fallback>
      </mc:AlternateContent>
      <p:pic>
        <p:nvPicPr>
          <p:cNvPr id="4098" name="Picture 2" descr="THERMOFLUIDS: APPLICATION OF STEADY FLOW EQU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7434" y="1062318"/>
            <a:ext cx="4236413" cy="295835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ontent Placeholder 2"/>
              <p:cNvSpPr txBox="1">
                <a:spLocks/>
              </p:cNvSpPr>
              <p:nvPr/>
            </p:nvSpPr>
            <p:spPr>
              <a:xfrm>
                <a:off x="7516906" y="4350123"/>
                <a:ext cx="4216941" cy="15990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dirty="0">
                    <a:solidFill>
                      <a:srgbClr val="C00000"/>
                    </a:solidFill>
                  </a:rPr>
                  <a:t>Hence the steady flow energy equation reduces to</a:t>
                </a:r>
              </a:p>
              <a:p>
                <a:pPr>
                  <a:lnSpc>
                    <a:spcPct val="50000"/>
                  </a:lnSpc>
                  <a:buFont typeface="Wingdings" panose="05000000000000000000" pitchFamily="2" charset="2"/>
                  <a:buChar char="v"/>
                </a:pPr>
                <a:endParaRPr lang="en-US" sz="2200"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𝑄</m:t>
                          </m:r>
                        </m:e>
                        <m:sub>
                          <m:r>
                            <a:rPr lang="en-US" sz="2200" b="0" i="1" smtClean="0">
                              <a:latin typeface="Cambria Math" panose="02040503050406030204" pitchFamily="18" charset="0"/>
                            </a:rPr>
                            <m:t>12</m:t>
                          </m:r>
                        </m:sub>
                      </m:sSub>
                      <m:r>
                        <a:rPr lang="en-US" sz="2200" b="0" i="1" smtClean="0">
                          <a:latin typeface="Cambria Math" panose="02040503050406030204" pitchFamily="18" charset="0"/>
                        </a:rPr>
                        <m:t>=</m:t>
                      </m:r>
                      <m:r>
                        <a:rPr lang="en-US" sz="2200" b="0" i="1" smtClean="0">
                          <a:latin typeface="Cambria Math" panose="02040503050406030204" pitchFamily="18" charset="0"/>
                        </a:rPr>
                        <m:t>𝑚</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Sub>
                        </m:e>
                      </m:d>
                    </m:oMath>
                  </m:oMathPara>
                </a14:m>
                <a:endParaRPr lang="en-US" sz="2200" dirty="0"/>
              </a:p>
              <a:p>
                <a:pPr>
                  <a:buFont typeface="Wingdings" panose="05000000000000000000" pitchFamily="2" charset="2"/>
                  <a:buChar char="v"/>
                </a:pPr>
                <a:endParaRPr lang="en-US" sz="2000"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7516906" y="4350123"/>
                <a:ext cx="4216941" cy="1599029"/>
              </a:xfrm>
              <a:prstGeom prst="rect">
                <a:avLst/>
              </a:prstGeom>
              <a:blipFill rotWithShape="0">
                <a:blip r:embed="rId4"/>
                <a:stretch>
                  <a:fillRect l="-1590" t="-2672"/>
                </a:stretch>
              </a:blipFill>
            </p:spPr>
            <p:txBody>
              <a:bodyPr/>
              <a:lstStyle/>
              <a:p>
                <a:r>
                  <a:rPr lang="en-US">
                    <a:noFill/>
                  </a:rPr>
                  <a:t> </a:t>
                </a:r>
              </a:p>
            </p:txBody>
          </p:sp>
        </mc:Fallback>
      </mc:AlternateContent>
    </p:spTree>
    <p:extLst>
      <p:ext uri="{BB962C8B-B14F-4D97-AF65-F5344CB8AC3E}">
        <p14:creationId xmlns:p14="http://schemas.microsoft.com/office/powerpoint/2010/main" val="153432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xEl>
                                              <p:pRg st="2" end="2"/>
                                            </p:txEl>
                                          </p:spTgt>
                                        </p:tgtEl>
                                        <p:attrNameLst>
                                          <p:attrName>style.visibility</p:attrName>
                                        </p:attrNameLst>
                                      </p:cBhvr>
                                      <p:to>
                                        <p:strVal val="visible"/>
                                      </p:to>
                                    </p:set>
                                    <p:animEffect transition="in" filter="wipe(down)">
                                      <p:cBhvr>
                                        <p:cTn id="10" dur="500"/>
                                        <p:tgtEl>
                                          <p:spTgt spid="1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wipe(down)">
                                      <p:cBhvr>
                                        <p:cTn id="15" dur="500"/>
                                        <p:tgtEl>
                                          <p:spTgt spid="1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down)">
                                      <p:cBhvr>
                                        <p:cTn id="20" dur="500"/>
                                        <p:tgtEl>
                                          <p:spTgt spid="1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0">
                                            <p:txEl>
                                              <p:pRg st="5" end="5"/>
                                            </p:txEl>
                                          </p:spTgt>
                                        </p:tgtEl>
                                        <p:attrNameLst>
                                          <p:attrName>style.visibility</p:attrName>
                                        </p:attrNameLst>
                                      </p:cBhvr>
                                      <p:to>
                                        <p:strVal val="visible"/>
                                      </p:to>
                                    </p:set>
                                    <p:animEffect transition="in" filter="wipe(down)">
                                      <p:cBhvr>
                                        <p:cTn id="25" dur="500"/>
                                        <p:tgtEl>
                                          <p:spTgt spid="10">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0">
                                            <p:txEl>
                                              <p:pRg st="6" end="6"/>
                                            </p:txEl>
                                          </p:spTgt>
                                        </p:tgtEl>
                                        <p:attrNameLst>
                                          <p:attrName>style.visibility</p:attrName>
                                        </p:attrNameLst>
                                      </p:cBhvr>
                                      <p:to>
                                        <p:strVal val="visible"/>
                                      </p:to>
                                    </p:set>
                                    <p:animEffect transition="in" filter="wipe(down)">
                                      <p:cBhvr>
                                        <p:cTn id="30" dur="500"/>
                                        <p:tgtEl>
                                          <p:spTgt spid="10">
                                            <p:txEl>
                                              <p:pRg st="6" end="6"/>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animEffect transition="in" filter="wipe(down)">
                                      <p:cBhvr>
                                        <p:cTn id="33" dur="500"/>
                                        <p:tgtEl>
                                          <p:spTgt spid="10">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p:sp>
        <p:nvSpPr>
          <p:cNvPr id="10" name="Content Placeholder 2"/>
          <p:cNvSpPr txBox="1">
            <a:spLocks/>
          </p:cNvSpPr>
          <p:nvPr/>
        </p:nvSpPr>
        <p:spPr>
          <a:xfrm>
            <a:off x="331486" y="1089212"/>
            <a:ext cx="4307749" cy="424927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Turbines and Compressors</a:t>
            </a:r>
          </a:p>
          <a:p>
            <a:pPr>
              <a:buFont typeface="Wingdings" panose="05000000000000000000" pitchFamily="2" charset="2"/>
              <a:buChar char="v"/>
            </a:pPr>
            <a:r>
              <a:rPr lang="en-US" sz="2600" dirty="0"/>
              <a:t>A </a:t>
            </a:r>
            <a:r>
              <a:rPr lang="en-US" sz="2600" b="1" dirty="0">
                <a:solidFill>
                  <a:srgbClr val="002060"/>
                </a:solidFill>
              </a:rPr>
              <a:t>turbine</a:t>
            </a:r>
            <a:r>
              <a:rPr lang="en-US" sz="2600" dirty="0"/>
              <a:t> is a device which uses a pressure drop to produce work energy which is used to drive an external load.</a:t>
            </a:r>
          </a:p>
          <a:p>
            <a:pPr>
              <a:buFont typeface="Wingdings" panose="05000000000000000000" pitchFamily="2" charset="2"/>
              <a:buChar char="v"/>
            </a:pPr>
            <a:r>
              <a:rPr lang="en-US" sz="2600" dirty="0"/>
              <a:t>The action of a </a:t>
            </a:r>
            <a:r>
              <a:rPr lang="en-US" sz="2600" b="1" dirty="0">
                <a:solidFill>
                  <a:srgbClr val="002060"/>
                </a:solidFill>
              </a:rPr>
              <a:t>compressor</a:t>
            </a:r>
            <a:r>
              <a:rPr lang="en-US" sz="2600" dirty="0"/>
              <a:t> is the reverse of a turbine. It uses external work energy to produce a pressure rise.</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7" name="Picture 6"/>
          <p:cNvPicPr>
            <a:picLocks noChangeAspect="1"/>
          </p:cNvPicPr>
          <p:nvPr/>
        </p:nvPicPr>
        <p:blipFill>
          <a:blip r:embed="rId2"/>
          <a:stretch>
            <a:fillRect/>
          </a:stretch>
        </p:blipFill>
        <p:spPr>
          <a:xfrm>
            <a:off x="5132018" y="1062318"/>
            <a:ext cx="4522970" cy="2724531"/>
          </a:xfrm>
          <a:prstGeom prst="rect">
            <a:avLst/>
          </a:prstGeom>
        </p:spPr>
      </p:pic>
      <p:pic>
        <p:nvPicPr>
          <p:cNvPr id="9" name="Picture 6" descr="04025 copy"/>
          <p:cNvPicPr>
            <a:picLocks noChangeAspect="1" noChangeArrowheads="1"/>
          </p:cNvPicPr>
          <p:nvPr/>
        </p:nvPicPr>
        <p:blipFill rotWithShape="1">
          <a:blip r:embed="rId3" cstate="print"/>
          <a:srcRect l="30606" t="49586" r="46995"/>
          <a:stretch/>
        </p:blipFill>
        <p:spPr bwMode="auto">
          <a:xfrm>
            <a:off x="9822252" y="3658795"/>
            <a:ext cx="1872208" cy="2507164"/>
          </a:xfrm>
          <a:prstGeom prst="rect">
            <a:avLst/>
          </a:prstGeom>
          <a:noFill/>
        </p:spPr>
      </p:pic>
      <p:pic>
        <p:nvPicPr>
          <p:cNvPr id="11" name="Picture 6" descr="04025 copy"/>
          <p:cNvPicPr>
            <a:picLocks noChangeAspect="1" noChangeArrowheads="1"/>
          </p:cNvPicPr>
          <p:nvPr/>
        </p:nvPicPr>
        <p:blipFill rotWithShape="1">
          <a:blip r:embed="rId3" cstate="print"/>
          <a:srcRect l="30606" r="46995" b="53310"/>
          <a:stretch/>
        </p:blipFill>
        <p:spPr bwMode="auto">
          <a:xfrm>
            <a:off x="9822252" y="1062318"/>
            <a:ext cx="1872208" cy="2321976"/>
          </a:xfrm>
          <a:prstGeom prst="rect">
            <a:avLst/>
          </a:prstGeom>
          <a:noFill/>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2018" y="3797777"/>
            <a:ext cx="4522970" cy="2480828"/>
          </a:xfrm>
          <a:prstGeom prst="rect">
            <a:avLst/>
          </a:prstGeom>
        </p:spPr>
      </p:pic>
    </p:spTree>
    <p:extLst>
      <p:ext uri="{BB962C8B-B14F-4D97-AF65-F5344CB8AC3E}">
        <p14:creationId xmlns:p14="http://schemas.microsoft.com/office/powerpoint/2010/main" val="1210639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down)">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par>
                                <p:cTn id="18" presetID="22" presetClass="entr" presetSubtype="4"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48871"/>
                <a:ext cx="11461586" cy="505609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Turbines and Compressors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the turbine or compressor, the following points should be noted:</a:t>
                </a:r>
              </a:p>
              <a:p>
                <a:pPr>
                  <a:buFont typeface="Wingdings" panose="05000000000000000000" pitchFamily="2" charset="2"/>
                  <a:buChar char="ü"/>
                </a:pPr>
                <a:r>
                  <a:rPr lang="en-US" sz="2200" dirty="0"/>
                  <a:t>The average velocity of fluid flowing through a turbine is normally high, and the fluid passes quickly through the turbine. Because of this, it may be assumed that heat energy does not have time to flow into or out of the fluid during the passage of the turbine and hence, Q = 0.</a:t>
                </a:r>
              </a:p>
              <a:p>
                <a:pPr>
                  <a:buFont typeface="Wingdings" panose="05000000000000000000" pitchFamily="2" charset="2"/>
                  <a:buChar char="ü"/>
                </a:pPr>
                <a:r>
                  <a:rPr lang="en-US" sz="2200" dirty="0"/>
                  <a:t>W is the amount of external work energy produced.</a:t>
                </a:r>
              </a:p>
              <a:p>
                <a:pPr>
                  <a:buFont typeface="Wingdings" panose="05000000000000000000" pitchFamily="2" charset="2"/>
                  <a:buChar char="ü"/>
                </a:pPr>
                <a:r>
                  <a:rPr lang="en-US" sz="2200" dirty="0"/>
                  <a:t>The changes in kinetic and potential energies are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𝑊</m:t>
                          </m:r>
                        </m:e>
                        <m:sub>
                          <m:r>
                            <a:rPr lang="en-US" sz="2200" b="0" i="1" smtClean="0">
                              <a:latin typeface="Cambria Math" panose="02040503050406030204" pitchFamily="18" charset="0"/>
                            </a:rPr>
                            <m:t>12</m:t>
                          </m:r>
                        </m:sub>
                      </m:sSub>
                      <m:r>
                        <a:rPr lang="en-US" sz="2200" b="0" i="1" smtClean="0">
                          <a:latin typeface="Cambria Math" panose="02040503050406030204" pitchFamily="18" charset="0"/>
                        </a:rPr>
                        <m:t>=</m:t>
                      </m:r>
                      <m:r>
                        <a:rPr lang="en-US" sz="2200" b="0" i="1" smtClean="0">
                          <a:latin typeface="Cambria Math" panose="02040503050406030204" pitchFamily="18" charset="0"/>
                        </a:rPr>
                        <m:t>𝑚</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Sub>
                        </m:e>
                      </m:d>
                    </m:oMath>
                  </m:oMathPara>
                </a14:m>
                <a:endParaRPr lang="en-US" sz="2200" dirty="0"/>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48871"/>
                <a:ext cx="11461586" cy="5056094"/>
              </a:xfrm>
              <a:prstGeom prst="rect">
                <a:avLst/>
              </a:prstGeom>
              <a:blipFill rotWithShape="0">
                <a:blip r:embed="rId2"/>
                <a:stretch>
                  <a:fillRect l="-1063" t="-1206" r="-585"/>
                </a:stretch>
              </a:blipFill>
            </p:spPr>
            <p:txBody>
              <a:bodyPr/>
              <a:lstStyle/>
              <a:p>
                <a:r>
                  <a:rPr lang="en-US">
                    <a:noFill/>
                  </a:rPr>
                  <a:t> </a:t>
                </a:r>
              </a:p>
            </p:txBody>
          </p:sp>
        </mc:Fallback>
      </mc:AlternateContent>
    </p:spTree>
    <p:extLst>
      <p:ext uri="{BB962C8B-B14F-4D97-AF65-F5344CB8AC3E}">
        <p14:creationId xmlns:p14="http://schemas.microsoft.com/office/powerpoint/2010/main" val="283439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wipe(down)">
                                      <p:cBhvr>
                                        <p:cTn id="7" dur="500"/>
                                        <p:tgtEl>
                                          <p:spTgt spid="10">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xEl>
                                              <p:pRg st="4" end="4"/>
                                            </p:txEl>
                                          </p:spTgt>
                                        </p:tgtEl>
                                        <p:attrNameLst>
                                          <p:attrName>style.visibility</p:attrName>
                                        </p:attrNameLst>
                                      </p:cBhvr>
                                      <p:to>
                                        <p:strVal val="visible"/>
                                      </p:to>
                                    </p:set>
                                    <p:animEffect transition="in" filter="wipe(down)">
                                      <p:cBhvr>
                                        <p:cTn id="10" dur="500"/>
                                        <p:tgtEl>
                                          <p:spTgt spid="10">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animEffect transition="in" filter="wipe(down)">
                                      <p:cBhvr>
                                        <p:cTn id="13" dur="500"/>
                                        <p:tgtEl>
                                          <p:spTgt spid="10">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0">
                                            <p:txEl>
                                              <p:pRg st="6" end="6"/>
                                            </p:txEl>
                                          </p:spTgt>
                                        </p:tgtEl>
                                        <p:attrNameLst>
                                          <p:attrName>style.visibility</p:attrName>
                                        </p:attrNameLst>
                                      </p:cBhvr>
                                      <p:to>
                                        <p:strVal val="visible"/>
                                      </p:to>
                                    </p:set>
                                    <p:animEffect transition="in" filter="wipe(down)">
                                      <p:cBhvr>
                                        <p:cTn id="16" dur="500"/>
                                        <p:tgtEl>
                                          <p:spTgt spid="10">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animEffect transition="in" filter="wipe(down)">
                                      <p:cBhvr>
                                        <p:cTn id="21" dur="500"/>
                                        <p:tgtEl>
                                          <p:spTgt spid="10">
                                            <p:txEl>
                                              <p:pRg st="7" end="7"/>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xEl>
                                              <p:pRg st="8" end="8"/>
                                            </p:txEl>
                                          </p:spTgt>
                                        </p:tgtEl>
                                        <p:attrNameLst>
                                          <p:attrName>style.visibility</p:attrName>
                                        </p:attrNameLst>
                                      </p:cBhvr>
                                      <p:to>
                                        <p:strVal val="visible"/>
                                      </p:to>
                                    </p:set>
                                    <p:animEffect transition="in" filter="wipe(down)">
                                      <p:cBhvr>
                                        <p:cTn id="24"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p:sp>
        <p:nvSpPr>
          <p:cNvPr id="10" name="Content Placeholder 2"/>
          <p:cNvSpPr txBox="1">
            <a:spLocks/>
          </p:cNvSpPr>
          <p:nvPr/>
        </p:nvSpPr>
        <p:spPr>
          <a:xfrm>
            <a:off x="331486" y="1089212"/>
            <a:ext cx="5076982" cy="2438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Nozzles and Diffusers</a:t>
            </a:r>
          </a:p>
          <a:p>
            <a:pPr>
              <a:buFont typeface="Wingdings" panose="05000000000000000000" pitchFamily="2" charset="2"/>
              <a:buChar char="v"/>
            </a:pPr>
            <a:r>
              <a:rPr lang="en-US" sz="2000" dirty="0"/>
              <a:t>A </a:t>
            </a:r>
            <a:r>
              <a:rPr lang="en-US" sz="2000" b="1" dirty="0">
                <a:solidFill>
                  <a:srgbClr val="002060"/>
                </a:solidFill>
              </a:rPr>
              <a:t>nozzle</a:t>
            </a:r>
            <a:r>
              <a:rPr lang="en-US" sz="2000" dirty="0"/>
              <a:t> is a device which utilizes a pressure drop to produce an increase in the velocity (kinetic energy) of the fluid.</a:t>
            </a:r>
          </a:p>
          <a:p>
            <a:pPr lvl="0"/>
            <a:r>
              <a:rPr lang="en-US" sz="2000" dirty="0"/>
              <a:t>The action of a </a:t>
            </a:r>
            <a:r>
              <a:rPr lang="en-US" sz="2000" b="1" dirty="0">
                <a:solidFill>
                  <a:srgbClr val="002060"/>
                </a:solidFill>
              </a:rPr>
              <a:t>diffuser</a:t>
            </a:r>
            <a:r>
              <a:rPr lang="en-US" sz="2000" dirty="0"/>
              <a:t> is the reverse of a turbine. It </a:t>
            </a:r>
            <a:r>
              <a:rPr lang="en-GB" sz="2000" dirty="0"/>
              <a:t>increases the pressure of the fluid at the expense of its velocity</a:t>
            </a:r>
            <a:endParaRPr lang="en-US" sz="2000" dirty="0"/>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3689" y="1089212"/>
            <a:ext cx="3636829" cy="2545781"/>
          </a:xfrm>
          <a:prstGeom prst="rect">
            <a:avLst/>
          </a:prstGeom>
        </p:spPr>
      </p:pic>
      <p:sp>
        <p:nvSpPr>
          <p:cNvPr id="15" name="Oval 14"/>
          <p:cNvSpPr/>
          <p:nvPr/>
        </p:nvSpPr>
        <p:spPr>
          <a:xfrm>
            <a:off x="6151236" y="2031836"/>
            <a:ext cx="1231776" cy="648072"/>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6" descr="04025 copy"/>
          <p:cNvPicPr>
            <a:picLocks noChangeAspect="1" noChangeArrowheads="1"/>
          </p:cNvPicPr>
          <p:nvPr/>
        </p:nvPicPr>
        <p:blipFill rotWithShape="1">
          <a:blip r:embed="rId3" cstate="print"/>
          <a:srcRect r="76287" b="64191"/>
          <a:stretch/>
        </p:blipFill>
        <p:spPr bwMode="auto">
          <a:xfrm>
            <a:off x="9788065" y="1141426"/>
            <a:ext cx="1982024" cy="1780820"/>
          </a:xfrm>
          <a:prstGeom prst="rect">
            <a:avLst/>
          </a:prstGeom>
          <a:noFill/>
        </p:spPr>
      </p:pic>
      <p:pic>
        <p:nvPicPr>
          <p:cNvPr id="3" name="Picture 2"/>
          <p:cNvPicPr>
            <a:picLocks noChangeAspect="1"/>
          </p:cNvPicPr>
          <p:nvPr/>
        </p:nvPicPr>
        <p:blipFill>
          <a:blip r:embed="rId4"/>
          <a:stretch>
            <a:fillRect/>
          </a:stretch>
        </p:blipFill>
        <p:spPr>
          <a:xfrm>
            <a:off x="86708" y="3634993"/>
            <a:ext cx="4668948" cy="2481555"/>
          </a:xfrm>
          <a:prstGeom prst="rect">
            <a:avLst/>
          </a:prstGeom>
        </p:spPr>
      </p:pic>
      <p:pic>
        <p:nvPicPr>
          <p:cNvPr id="5" name="Picture 4"/>
          <p:cNvPicPr>
            <a:picLocks noChangeAspect="1"/>
          </p:cNvPicPr>
          <p:nvPr/>
        </p:nvPicPr>
        <p:blipFill>
          <a:blip r:embed="rId5"/>
          <a:stretch>
            <a:fillRect/>
          </a:stretch>
        </p:blipFill>
        <p:spPr>
          <a:xfrm>
            <a:off x="9995739" y="3527417"/>
            <a:ext cx="1968772" cy="1554294"/>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5651" y="4021541"/>
            <a:ext cx="5440088" cy="2176035"/>
          </a:xfrm>
          <a:prstGeom prst="rect">
            <a:avLst/>
          </a:prstGeom>
        </p:spPr>
      </p:pic>
    </p:spTree>
    <p:extLst>
      <p:ext uri="{BB962C8B-B14F-4D97-AF65-F5344CB8AC3E}">
        <p14:creationId xmlns:p14="http://schemas.microsoft.com/office/powerpoint/2010/main" val="196132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par>
                                <p:cTn id="8" presetID="2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wipe(down)">
                                      <p:cBhvr>
                                        <p:cTn id="18" dur="50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par>
                                <p:cTn id="24" presetID="2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par>
                                <p:cTn id="27" presetID="22" presetClass="entr" presetSubtype="4"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11461586"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Nozzles and Diffusers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the nozzle or diffuser, the following points should be noted:</a:t>
                </a:r>
              </a:p>
              <a:p>
                <a:pPr>
                  <a:buFont typeface="Wingdings" panose="05000000000000000000" pitchFamily="2" charset="2"/>
                  <a:buChar char="ü"/>
                </a:pPr>
                <a:r>
                  <a:rPr lang="en-US" sz="2200" dirty="0"/>
                  <a:t>The average velocity of fluid flowing through a nozzle is high, hence the fluid passes quickly through the nozzle. For this reason, it may be assumed that heat energy does not have time to flow into or out of the fluid during the passage of the nozzle and hence, Q = 0.</a:t>
                </a:r>
              </a:p>
              <a:p>
                <a:pPr>
                  <a:buFont typeface="Wingdings" panose="05000000000000000000" pitchFamily="2" charset="2"/>
                  <a:buChar char="ü"/>
                </a:pPr>
                <a:r>
                  <a:rPr lang="en-US" sz="2200" dirty="0"/>
                  <a:t>Since a nozzle has no moving parts, no work energy is transferred and hence, W = 0.</a:t>
                </a:r>
              </a:p>
              <a:p>
                <a:pPr>
                  <a:buFont typeface="Wingdings" panose="05000000000000000000" pitchFamily="2" charset="2"/>
                  <a:buChar char="ü"/>
                </a:pPr>
                <a:r>
                  <a:rPr lang="en-US" sz="2200" dirty="0"/>
                  <a:t>The changes potential energy is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0</m:t>
                      </m:r>
                      <m:r>
                        <a:rPr lang="en-US" sz="2000" dirty="0">
                          <a:latin typeface="Cambria Math" panose="02040503050406030204" pitchFamily="18" charset="0"/>
                        </a:rPr>
                        <m:t>=</m:t>
                      </m:r>
                      <m:r>
                        <m:rPr>
                          <m:sty m:val="p"/>
                        </m:rPr>
                        <a:rPr lang="en-US" sz="2000" dirty="0">
                          <a:latin typeface="Cambria Math" panose="02040503050406030204" pitchFamily="18" charset="0"/>
                        </a:rPr>
                        <m:t>m</m:t>
                      </m:r>
                      <m:d>
                        <m:dPr>
                          <m:begChr m:val="["/>
                          <m:endChr m:val="]"/>
                          <m:ctrlPr>
                            <a:rPr lang="en-US" sz="2000" i="1" dirty="0">
                              <a:latin typeface="Cambria Math" panose="02040503050406030204" pitchFamily="18" charset="0"/>
                            </a:rPr>
                          </m:ctrlPr>
                        </m:dPr>
                        <m:e>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h</m:t>
                                  </m:r>
                                </m:e>
                                <m:sub>
                                  <m:r>
                                    <a:rPr lang="en-US" sz="2000" dirty="0">
                                      <a:latin typeface="Cambria Math" panose="02040503050406030204" pitchFamily="18" charset="0"/>
                                    </a:rPr>
                                    <m:t>2</m:t>
                                  </m:r>
                                </m:sub>
                              </m:sSub>
                              <m:r>
                                <a:rPr lang="en-US" sz="2000" dirty="0">
                                  <a:latin typeface="Cambria Math" panose="02040503050406030204" pitchFamily="18" charset="0"/>
                                </a:rPr>
                                <m:t>−</m:t>
                              </m:r>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h</m:t>
                                  </m:r>
                                </m:e>
                                <m:sub>
                                  <m:r>
                                    <a:rPr lang="en-US" sz="2000" dirty="0">
                                      <a:latin typeface="Cambria Math" panose="02040503050406030204" pitchFamily="18" charset="0"/>
                                    </a:rPr>
                                    <m:t>1</m:t>
                                  </m:r>
                                </m:sub>
                              </m:sSub>
                            </m:e>
                          </m:d>
                          <m:r>
                            <a:rPr lang="en-US" sz="2000" dirty="0">
                              <a:latin typeface="Cambria Math" panose="02040503050406030204" pitchFamily="18" charset="0"/>
                            </a:rPr>
                            <m:t>+</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m:rPr>
                                      <m:sty m:val="p"/>
                                    </m:rPr>
                                    <a:rPr lang="en-US" sz="2000" dirty="0">
                                      <a:latin typeface="Cambria Math" panose="02040503050406030204" pitchFamily="18" charset="0"/>
                                    </a:rPr>
                                    <m:t>C</m:t>
                                  </m:r>
                                </m:e>
                                <m:sub>
                                  <m:r>
                                    <a:rPr lang="en-US" sz="2000" dirty="0">
                                      <a:latin typeface="Cambria Math" panose="02040503050406030204" pitchFamily="18" charset="0"/>
                                    </a:rPr>
                                    <m:t>2</m:t>
                                  </m:r>
                                </m:sub>
                                <m:sup>
                                  <m:r>
                                    <a:rPr lang="en-US" sz="2000" dirty="0">
                                      <a:latin typeface="Cambria Math" panose="02040503050406030204" pitchFamily="18" charset="0"/>
                                    </a:rPr>
                                    <m:t>2</m:t>
                                  </m:r>
                                </m:sup>
                              </m:sSubSup>
                              <m:r>
                                <a:rPr lang="en-US" sz="2000" dirty="0">
                                  <a:latin typeface="Cambria Math" panose="02040503050406030204" pitchFamily="18" charset="0"/>
                                </a:rPr>
                                <m:t>−</m:t>
                              </m:r>
                              <m:sSubSup>
                                <m:sSubSupPr>
                                  <m:ctrlPr>
                                    <a:rPr lang="en-US" sz="2000" i="1" dirty="0">
                                      <a:latin typeface="Cambria Math" panose="02040503050406030204" pitchFamily="18" charset="0"/>
                                    </a:rPr>
                                  </m:ctrlPr>
                                </m:sSubSupPr>
                                <m:e>
                                  <m:r>
                                    <m:rPr>
                                      <m:sty m:val="p"/>
                                    </m:rPr>
                                    <a:rPr lang="en-US" sz="2000" dirty="0">
                                      <a:latin typeface="Cambria Math" panose="02040503050406030204" pitchFamily="18" charset="0"/>
                                    </a:rPr>
                                    <m:t>C</m:t>
                                  </m:r>
                                </m:e>
                                <m:sub>
                                  <m:r>
                                    <a:rPr lang="en-US" sz="2000" dirty="0">
                                      <a:latin typeface="Cambria Math" panose="02040503050406030204" pitchFamily="18" charset="0"/>
                                    </a:rPr>
                                    <m:t>1</m:t>
                                  </m:r>
                                </m:sub>
                                <m:sup>
                                  <m:r>
                                    <a:rPr lang="en-US" sz="2000" dirty="0">
                                      <a:latin typeface="Cambria Math" panose="02040503050406030204" pitchFamily="18" charset="0"/>
                                    </a:rPr>
                                    <m:t>2</m:t>
                                  </m:r>
                                </m:sup>
                              </m:sSubSup>
                            </m:num>
                            <m:den>
                              <m:r>
                                <a:rPr lang="en-US" sz="2000" dirty="0">
                                  <a:latin typeface="Cambria Math" panose="02040503050406030204" pitchFamily="18" charset="0"/>
                                </a:rPr>
                                <m:t>2</m:t>
                              </m:r>
                            </m:den>
                          </m:f>
                        </m:e>
                      </m:d>
                    </m:oMath>
                  </m:oMathPara>
                </a14:m>
                <a:endParaRPr lang="en-US" sz="2000" dirty="0"/>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11461586" cy="5364205"/>
              </a:xfrm>
              <a:prstGeom prst="rect">
                <a:avLst/>
              </a:prstGeom>
              <a:blipFill rotWithShape="0">
                <a:blip r:embed="rId2"/>
                <a:stretch>
                  <a:fillRect l="-1063" t="-1136" r="-1170"/>
                </a:stretch>
              </a:blipFill>
            </p:spPr>
            <p:txBody>
              <a:bodyPr/>
              <a:lstStyle/>
              <a:p>
                <a:r>
                  <a:rPr lang="en-US">
                    <a:noFill/>
                  </a:rPr>
                  <a:t> </a:t>
                </a:r>
              </a:p>
            </p:txBody>
          </p:sp>
        </mc:Fallback>
      </mc:AlternateContent>
    </p:spTree>
    <p:extLst>
      <p:ext uri="{BB962C8B-B14F-4D97-AF65-F5344CB8AC3E}">
        <p14:creationId xmlns:p14="http://schemas.microsoft.com/office/powerpoint/2010/main" val="42320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wipe(down)">
                                      <p:cBhvr>
                                        <p:cTn id="7" dur="500"/>
                                        <p:tgtEl>
                                          <p:spTgt spid="1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wipe(down)">
                                      <p:cBhvr>
                                        <p:cTn id="12" dur="500"/>
                                        <p:tgtEl>
                                          <p:spTgt spid="10">
                                            <p:txEl>
                                              <p:pRg st="4" end="4"/>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animEffect transition="in" filter="wipe(down)">
                                      <p:cBhvr>
                                        <p:cTn id="15" dur="500"/>
                                        <p:tgtEl>
                                          <p:spTgt spid="10">
                                            <p:txEl>
                                              <p:pRg st="5" end="5"/>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xEl>
                                              <p:pRg st="6" end="6"/>
                                            </p:txEl>
                                          </p:spTgt>
                                        </p:tgtEl>
                                        <p:attrNameLst>
                                          <p:attrName>style.visibility</p:attrName>
                                        </p:attrNameLst>
                                      </p:cBhvr>
                                      <p:to>
                                        <p:strVal val="visible"/>
                                      </p:to>
                                    </p:set>
                                    <p:animEffect transition="in" filter="wipe(down)">
                                      <p:cBhvr>
                                        <p:cTn id="18" dur="500"/>
                                        <p:tgtEl>
                                          <p:spTgt spid="10">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animEffect transition="in" filter="wipe(down)">
                                      <p:cBhvr>
                                        <p:cTn id="23" dur="500"/>
                                        <p:tgtEl>
                                          <p:spTgt spid="10">
                                            <p:txEl>
                                              <p:pRg st="7" end="7"/>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xEl>
                                              <p:pRg st="8" end="8"/>
                                            </p:txEl>
                                          </p:spTgt>
                                        </p:tgtEl>
                                        <p:attrNameLst>
                                          <p:attrName>style.visibility</p:attrName>
                                        </p:attrNameLst>
                                      </p:cBhvr>
                                      <p:to>
                                        <p:strVal val="visible"/>
                                      </p:to>
                                    </p:set>
                                    <p:animEffect transition="in" filter="wipe(down)">
                                      <p:cBhvr>
                                        <p:cTn id="26"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sp>
        <p:nvSpPr>
          <p:cNvPr id="10" name="Content Placeholder 2"/>
          <p:cNvSpPr txBox="1">
            <a:spLocks/>
          </p:cNvSpPr>
          <p:nvPr/>
        </p:nvSpPr>
        <p:spPr>
          <a:xfrm>
            <a:off x="331484" y="1089212"/>
            <a:ext cx="7152739" cy="248770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Throttling Devices</a:t>
            </a:r>
          </a:p>
          <a:p>
            <a:pPr>
              <a:buFont typeface="Wingdings" panose="05000000000000000000" pitchFamily="2" charset="2"/>
              <a:buChar char="v"/>
            </a:pPr>
            <a:r>
              <a:rPr lang="en-US" sz="2200" dirty="0"/>
              <a:t>A </a:t>
            </a:r>
            <a:r>
              <a:rPr lang="en-US" sz="2200" b="1" dirty="0">
                <a:solidFill>
                  <a:srgbClr val="002060"/>
                </a:solidFill>
              </a:rPr>
              <a:t>throttling device</a:t>
            </a:r>
            <a:r>
              <a:rPr lang="en-US" sz="2200" dirty="0"/>
              <a:t> is a device that achieves a significant reduction in pressure by introducing a restriction into a line through which a gas or liquid flows.</a:t>
            </a:r>
          </a:p>
          <a:p>
            <a:pPr lvl="0">
              <a:buFont typeface="Wingdings" panose="05000000000000000000" pitchFamily="2" charset="2"/>
              <a:buChar char="v"/>
            </a:pPr>
            <a:r>
              <a:rPr lang="en-US" sz="2200" dirty="0"/>
              <a:t>The means to introduce the restriction  include a partially opened valve or a porous plug.</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5122" name="Picture 2" descr="What is throttling valves and why is it used in air-conditioning and  refrigeration?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4224" y="1089211"/>
            <a:ext cx="4281954" cy="49316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331484" y="3576918"/>
            <a:ext cx="6531659" cy="2483643"/>
          </a:xfrm>
          <a:prstGeom prst="rect">
            <a:avLst/>
          </a:prstGeom>
        </p:spPr>
      </p:pic>
    </p:spTree>
    <p:extLst>
      <p:ext uri="{BB962C8B-B14F-4D97-AF65-F5344CB8AC3E}">
        <p14:creationId xmlns:p14="http://schemas.microsoft.com/office/powerpoint/2010/main" val="379390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wipe(down)">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11461586"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Throttling Devices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throttling devices, the following points should be noted:</a:t>
                </a:r>
              </a:p>
              <a:p>
                <a:pPr>
                  <a:buFont typeface="Wingdings" panose="05000000000000000000" pitchFamily="2" charset="2"/>
                  <a:buChar char="ü"/>
                </a:pPr>
                <a:r>
                  <a:rPr lang="en-US" sz="2200" dirty="0"/>
                  <a:t>Since the throttling takes place over a very small distance, the available area through which heat energy can flow is very small, and it is normally assumed that no energy is lost by heat transfer and hence, Q = 0.</a:t>
                </a:r>
              </a:p>
              <a:p>
                <a:pPr>
                  <a:buFont typeface="Wingdings" panose="05000000000000000000" pitchFamily="2" charset="2"/>
                  <a:buChar char="ü"/>
                </a:pPr>
                <a:r>
                  <a:rPr lang="en-US" sz="2200" dirty="0"/>
                  <a:t>Since there are no moving parts, no work energy is transferred and hence, W = 0.</a:t>
                </a:r>
              </a:p>
              <a:p>
                <a:pPr>
                  <a:buFont typeface="Wingdings" panose="05000000000000000000" pitchFamily="2" charset="2"/>
                  <a:buChar char="ü"/>
                </a:pPr>
                <a:r>
                  <a:rPr lang="en-US" sz="2200" dirty="0"/>
                  <a:t>The changes in kinetic and potential energies are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0</m:t>
                      </m:r>
                      <m:r>
                        <a:rPr lang="en-US" sz="2200" dirty="0">
                          <a:latin typeface="Cambria Math" panose="02040503050406030204" pitchFamily="18" charset="0"/>
                        </a:rPr>
                        <m:t>=</m:t>
                      </m:r>
                      <m:r>
                        <m:rPr>
                          <m:sty m:val="p"/>
                        </m:rPr>
                        <a:rPr lang="en-US" sz="2200" dirty="0">
                          <a:latin typeface="Cambria Math" panose="02040503050406030204" pitchFamily="18" charset="0"/>
                        </a:rPr>
                        <m:t>m</m:t>
                      </m:r>
                      <m:d>
                        <m:dPr>
                          <m:ctrlPr>
                            <a:rPr lang="en-US" sz="2200" i="1" dirty="0" smtClean="0">
                              <a:latin typeface="Cambria Math" panose="02040503050406030204" pitchFamily="18" charset="0"/>
                            </a:rPr>
                          </m:ctrlPr>
                        </m:dPr>
                        <m:e>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1</m:t>
                              </m:r>
                            </m:sub>
                          </m:sSub>
                        </m:e>
                      </m:d>
                      <m:r>
                        <a:rPr lang="en-US" sz="2200" b="0" i="1" dirty="0" smtClean="0">
                          <a:latin typeface="Cambria Math" panose="02040503050406030204" pitchFamily="18" charset="0"/>
                        </a:rPr>
                        <m:t> </m:t>
                      </m:r>
                      <m:r>
                        <a:rPr lang="en-US" sz="2200" b="0" i="1" dirty="0" smtClean="0">
                          <a:latin typeface="Cambria Math" panose="02040503050406030204" pitchFamily="18" charset="0"/>
                        </a:rPr>
                        <m:t>𝑜𝑟</m:t>
                      </m:r>
                      <m:r>
                        <a:rPr lang="en-US" sz="2200" b="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2</m:t>
                          </m:r>
                        </m:sub>
                      </m:sSub>
                    </m:oMath>
                  </m:oMathPara>
                </a14:m>
                <a:endParaRPr lang="en-US" sz="2200" dirty="0"/>
              </a:p>
              <a:p>
                <a:pPr>
                  <a:buFont typeface="Wingdings" panose="05000000000000000000" pitchFamily="2" charset="2"/>
                  <a:buChar char="v"/>
                </a:pPr>
                <a:r>
                  <a:rPr lang="en-US" sz="2000" b="1" dirty="0">
                    <a:solidFill>
                      <a:srgbClr val="002060"/>
                    </a:solidFill>
                  </a:rPr>
                  <a:t>During a throttling process, the enthalpy of the fluid remains constant.</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11461586" cy="5364205"/>
              </a:xfrm>
              <a:prstGeom prst="rect">
                <a:avLst/>
              </a:prstGeom>
              <a:blipFill rotWithShape="0">
                <a:blip r:embed="rId2"/>
                <a:stretch>
                  <a:fillRect l="-1063" t="-1136" r="-159" b="-1477"/>
                </a:stretch>
              </a:blipFill>
            </p:spPr>
            <p:txBody>
              <a:bodyPr/>
              <a:lstStyle/>
              <a:p>
                <a:r>
                  <a:rPr lang="en-US">
                    <a:noFill/>
                  </a:rPr>
                  <a:t> </a:t>
                </a:r>
              </a:p>
            </p:txBody>
          </p:sp>
        </mc:Fallback>
      </mc:AlternateContent>
    </p:spTree>
    <p:extLst>
      <p:ext uri="{BB962C8B-B14F-4D97-AF65-F5344CB8AC3E}">
        <p14:creationId xmlns:p14="http://schemas.microsoft.com/office/powerpoint/2010/main" val="90675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animEffect transition="in" filter="wipe(down)">
                                      <p:cBhvr>
                                        <p:cTn id="7" dur="500"/>
                                        <p:tgtEl>
                                          <p:spTgt spid="1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wipe(down)">
                                      <p:cBhvr>
                                        <p:cTn id="12" dur="500"/>
                                        <p:tgtEl>
                                          <p:spTgt spid="10">
                                            <p:txEl>
                                              <p:pRg st="4" end="4"/>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animEffect transition="in" filter="wipe(down)">
                                      <p:cBhvr>
                                        <p:cTn id="15" dur="500"/>
                                        <p:tgtEl>
                                          <p:spTgt spid="10">
                                            <p:txEl>
                                              <p:pRg st="5" end="5"/>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10">
                                            <p:txEl>
                                              <p:pRg st="6" end="6"/>
                                            </p:txEl>
                                          </p:spTgt>
                                        </p:tgtEl>
                                        <p:attrNameLst>
                                          <p:attrName>style.visibility</p:attrName>
                                        </p:attrNameLst>
                                      </p:cBhvr>
                                      <p:to>
                                        <p:strVal val="visible"/>
                                      </p:to>
                                    </p:set>
                                    <p:animEffect transition="in" filter="wipe(down)">
                                      <p:cBhvr>
                                        <p:cTn id="18" dur="500"/>
                                        <p:tgtEl>
                                          <p:spTgt spid="10">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animEffect transition="in" filter="wipe(down)">
                                      <p:cBhvr>
                                        <p:cTn id="23" dur="500"/>
                                        <p:tgtEl>
                                          <p:spTgt spid="10">
                                            <p:txEl>
                                              <p:pRg st="7" end="7"/>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0">
                                            <p:txEl>
                                              <p:pRg st="8" end="8"/>
                                            </p:txEl>
                                          </p:spTgt>
                                        </p:tgtEl>
                                        <p:attrNameLst>
                                          <p:attrName>style.visibility</p:attrName>
                                        </p:attrNameLst>
                                      </p:cBhvr>
                                      <p:to>
                                        <p:strVal val="visible"/>
                                      </p:to>
                                    </p:set>
                                    <p:animEffect transition="in" filter="wipe(down)">
                                      <p:cBhvr>
                                        <p:cTn id="26" dur="500"/>
                                        <p:tgtEl>
                                          <p:spTgt spid="10">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animEffect transition="in" filter="wipe(down)">
                                      <p:cBhvr>
                                        <p:cTn id="31" dur="500"/>
                                        <p:tgtEl>
                                          <p:spTgt spid="1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Equation of continuity</a:t>
                </a:r>
              </a:p>
              <a:p>
                <a:pPr>
                  <a:buFont typeface="Wingdings" panose="05000000000000000000" pitchFamily="2" charset="2"/>
                  <a:buChar char="v"/>
                </a:pPr>
                <a:r>
                  <a:rPr lang="en-US" sz="2400" dirty="0"/>
                  <a:t>This is an equation which is often used in conjunction with the steady flow energy equation.</a:t>
                </a:r>
              </a:p>
              <a:p>
                <a:pPr>
                  <a:buFont typeface="Wingdings" panose="05000000000000000000" pitchFamily="2" charset="2"/>
                  <a:buChar char="v"/>
                </a:pPr>
                <a:r>
                  <a:rPr lang="en-US" sz="2400" dirty="0"/>
                  <a:t>Consider a fluid of mass, m flowing through a system in which all conditions are steady as shown.</a:t>
                </a:r>
              </a:p>
              <a:p>
                <a:pPr>
                  <a:buFont typeface="Wingdings" panose="05000000000000000000" pitchFamily="2" charset="2"/>
                  <a:buChar char="v"/>
                </a:pPr>
                <a:r>
                  <a:rPr lang="en-US" sz="2400" dirty="0"/>
                  <a:t>The mass flow per second is given by</a:t>
                </a:r>
              </a:p>
              <a:p>
                <a:pPr marL="0" indent="0">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𝑚</m:t>
                          </m:r>
                        </m:e>
                      </m:acc>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𝜌</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𝑉</m:t>
                          </m:r>
                        </m:e>
                      </m:ac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𝜌</m:t>
                      </m:r>
                      <m:r>
                        <a:rPr lang="en-US" sz="2400" b="0" i="1" smtClean="0">
                          <a:latin typeface="Cambria Math" panose="02040503050406030204" pitchFamily="18" charset="0"/>
                          <a:ea typeface="Cambria Math" panose="02040503050406030204" pitchFamily="18" charset="0"/>
                        </a:rPr>
                        <m:t>𝐴𝐶</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𝐴𝐶</m:t>
                          </m:r>
                        </m:num>
                        <m:den>
                          <m:r>
                            <a:rPr lang="en-US" sz="2400" b="0" i="1" smtClean="0">
                              <a:latin typeface="Cambria Math" panose="02040503050406030204" pitchFamily="18" charset="0"/>
                              <a:ea typeface="Cambria Math" panose="02040503050406030204" pitchFamily="18" charset="0"/>
                            </a:rPr>
                            <m:t>𝑣</m:t>
                          </m:r>
                        </m:den>
                      </m:f>
                    </m:oMath>
                  </m:oMathPara>
                </a14:m>
                <a:endParaRPr lang="en-US" sz="2400" dirty="0"/>
              </a:p>
              <a:p>
                <a:pPr marL="0" indent="0">
                  <a:buNone/>
                </a:pPr>
                <a:r>
                  <a:rPr lang="en-US" sz="2400"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r>
                      <a:rPr lang="en-US" i="1">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1</m:t>
                            </m:r>
                          </m:sub>
                        </m:sSub>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2</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2</m:t>
                            </m:r>
                          </m:sub>
                        </m:sSub>
                      </m:den>
                    </m:f>
                  </m:oMath>
                </a14:m>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62318"/>
                <a:ext cx="5800373" cy="5216287"/>
              </a:xfrm>
              <a:prstGeom prst="rect">
                <a:avLst/>
              </a:prstGeom>
              <a:blipFill rotWithShape="0">
                <a:blip r:embed="rId2"/>
                <a:stretch>
                  <a:fillRect l="-2101" t="-1168" r="-2731"/>
                </a:stretch>
              </a:blipFill>
            </p:spPr>
            <p:txBody>
              <a:bodyPr/>
              <a:lstStyle/>
              <a:p>
                <a:r>
                  <a:rPr lang="en-US">
                    <a:noFill/>
                  </a:rPr>
                  <a:t> </a:t>
                </a:r>
              </a:p>
            </p:txBody>
          </p:sp>
        </mc:Fallback>
      </mc:AlternateContent>
      <p:pic>
        <p:nvPicPr>
          <p:cNvPr id="9218" name="Picture 2" descr="Continuity Equ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4963" y="1687791"/>
            <a:ext cx="5918061" cy="3381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69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wipe(down)">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down)">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down)">
                                      <p:cBhvr>
                                        <p:cTn id="17" dur="500"/>
                                        <p:tgtEl>
                                          <p:spTgt spid="10">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10">
                                            <p:txEl>
                                              <p:pRg st="4" end="4"/>
                                            </p:txEl>
                                          </p:spTgt>
                                        </p:tgtEl>
                                        <p:attrNameLst>
                                          <p:attrName>style.visibility</p:attrName>
                                        </p:attrNameLst>
                                      </p:cBhvr>
                                      <p:to>
                                        <p:strVal val="visible"/>
                                      </p:to>
                                    </p:set>
                                    <p:animEffect transition="in" filter="wipe(down)">
                                      <p:cBhvr>
                                        <p:cTn id="20" dur="500"/>
                                        <p:tgtEl>
                                          <p:spTgt spid="10">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animEffect transition="in" filter="wipe(down)">
                                      <p:cBhvr>
                                        <p:cTn id="23"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1</a:t>
            </a:r>
          </a:p>
          <a:p>
            <a:pPr>
              <a:buFont typeface="Wingdings" panose="05000000000000000000" pitchFamily="2" charset="2"/>
              <a:buChar char="v"/>
            </a:pPr>
            <a:r>
              <a:rPr lang="en-US" sz="2400" dirty="0"/>
              <a:t>A boiler operates at a constant pressure of 15 bar, and evaporates fluid at the rate of 1000 kg/h. At entry to the boiler, the fluid has an enthalpy of 165 kJ/kg, and on leaving the boiler, the enthalpy of the fluid is 2200 kJ/kg. the outlet pipe from the boiler is at a height of 16 m above the inlet pipe, and the inlet and outlet velocities of the fluid are 13 m/s and 33 m/s respectively. Determine the rate of heat energy transferred to the boiler.</a:t>
            </a:r>
          </a:p>
          <a:p>
            <a:pPr>
              <a:buFont typeface="Wingdings" panose="05000000000000000000" pitchFamily="2" charset="2"/>
              <a:buChar char="v"/>
            </a:pPr>
            <a:r>
              <a:rPr lang="en-US" sz="2400" b="1" dirty="0">
                <a:solidFill>
                  <a:srgbClr val="002060"/>
                </a:solidFill>
              </a:rPr>
              <a:t>Suggested answer: [565.3 kW]</a:t>
            </a:r>
            <a:endParaRPr lang="en-US" b="1" dirty="0">
              <a:solidFill>
                <a:srgbClr val="002060"/>
              </a:solidFill>
            </a:endParaRPr>
          </a:p>
        </p:txBody>
      </p:sp>
      <p:sp>
        <p:nvSpPr>
          <p:cNvPr id="5" name="Content Placeholder 2"/>
          <p:cNvSpPr txBox="1">
            <a:spLocks/>
          </p:cNvSpPr>
          <p:nvPr/>
        </p:nvSpPr>
        <p:spPr>
          <a:xfrm>
            <a:off x="6260206" y="1066801"/>
            <a:ext cx="5800373" cy="505161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2</a:t>
            </a:r>
          </a:p>
          <a:p>
            <a:pPr>
              <a:buFont typeface="Wingdings" panose="05000000000000000000" pitchFamily="2" charset="2"/>
              <a:buChar char="v"/>
            </a:pPr>
            <a:r>
              <a:rPr lang="en-US" sz="2400" dirty="0"/>
              <a:t>A fluid flows through a turbine at the rate of 45 kg/min. Across the turbine, the specific enthalpy drop of the fluid is 580 kJ/kg and the turbine loses 2100 kJ/min in the form of heat energy. Determine the power produced by the turbine, assuming that changes in kinetic energy and potential energy may be neglected.</a:t>
            </a:r>
          </a:p>
          <a:p>
            <a:pPr>
              <a:buFont typeface="Wingdings" panose="05000000000000000000" pitchFamily="2" charset="2"/>
              <a:buChar char="v"/>
            </a:pPr>
            <a:r>
              <a:rPr lang="en-US" sz="2400" b="1" dirty="0">
                <a:solidFill>
                  <a:srgbClr val="002060"/>
                </a:solidFill>
              </a:rPr>
              <a:t>Suggested answer: [400 kW]</a:t>
            </a:r>
            <a:endParaRPr lang="en-US" b="1" dirty="0">
              <a:solidFill>
                <a:srgbClr val="002060"/>
              </a:solidFill>
            </a:endParaRPr>
          </a:p>
        </p:txBody>
      </p:sp>
    </p:spTree>
    <p:extLst>
      <p:ext uri="{BB962C8B-B14F-4D97-AF65-F5344CB8AC3E}">
        <p14:creationId xmlns:p14="http://schemas.microsoft.com/office/powerpoint/2010/main" val="102039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sp>
        <p:nvSpPr>
          <p:cNvPr id="10" name="Content Placeholder 2"/>
          <p:cNvSpPr txBox="1">
            <a:spLocks/>
          </p:cNvSpPr>
          <p:nvPr/>
        </p:nvSpPr>
        <p:spPr>
          <a:xfrm>
            <a:off x="331485" y="1062318"/>
            <a:ext cx="5800373" cy="481404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3</a:t>
            </a:r>
          </a:p>
          <a:p>
            <a:pPr>
              <a:buFont typeface="Wingdings" panose="05000000000000000000" pitchFamily="2" charset="2"/>
              <a:buChar char="v"/>
            </a:pPr>
            <a:r>
              <a:rPr lang="en-US" sz="2400" dirty="0"/>
              <a:t>A compressor delivers fluid at a rate of 45 kg/min. At the inlet to the compressor, the specific enthalpy of the fluid is 46 kJ/kg, and at outlet from the compressor, the specific enthalpy of the fluid is 175 kJ/kg. If 105 kJ/min of heat energy are lost to the surroundings by the compressor, determine the power required to drive the compressor.</a:t>
            </a:r>
          </a:p>
          <a:p>
            <a:pPr>
              <a:buFont typeface="Wingdings" panose="05000000000000000000" pitchFamily="2" charset="2"/>
              <a:buChar char="v"/>
            </a:pPr>
            <a:r>
              <a:rPr lang="en-US" sz="2400" b="1" dirty="0">
                <a:solidFill>
                  <a:srgbClr val="002060"/>
                </a:solidFill>
              </a:rPr>
              <a:t>Suggested answer: [98.5 kW]</a:t>
            </a:r>
            <a:endParaRPr lang="en-US" b="1" dirty="0">
              <a:solidFill>
                <a:srgbClr val="002060"/>
              </a:solidFill>
            </a:endParaRPr>
          </a:p>
        </p:txBody>
      </p:sp>
      <p:sp>
        <p:nvSpPr>
          <p:cNvPr id="5" name="Content Placeholder 2"/>
          <p:cNvSpPr txBox="1">
            <a:spLocks/>
          </p:cNvSpPr>
          <p:nvPr/>
        </p:nvSpPr>
        <p:spPr>
          <a:xfrm>
            <a:off x="6260207" y="1066801"/>
            <a:ext cx="5626994" cy="505161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4</a:t>
            </a:r>
          </a:p>
          <a:p>
            <a:pPr>
              <a:buFont typeface="Wingdings" panose="05000000000000000000" pitchFamily="2" charset="2"/>
              <a:buChar char="v"/>
            </a:pPr>
            <a:r>
              <a:rPr lang="en-US" sz="2400" dirty="0"/>
              <a:t>Fluid with a specific enthalpy of 2800 kJ/kg enters a horizontal nozzle with negligible velocity at a rate of 14 kg/s. At the outlet from the nozzle, the specific enthalpy and specific volume of the fluid are 2250 kJ/kg and 1.25 m</a:t>
            </a:r>
            <a:r>
              <a:rPr lang="en-US" sz="2400" baseline="30000" dirty="0"/>
              <a:t>3</a:t>
            </a:r>
            <a:r>
              <a:rPr lang="en-US" sz="2400" dirty="0"/>
              <a:t>/kg respectively. Assuming adiabatic flow, determine the required outlet area of the nozzle.</a:t>
            </a:r>
          </a:p>
          <a:p>
            <a:pPr>
              <a:buFont typeface="Wingdings" panose="05000000000000000000" pitchFamily="2" charset="2"/>
              <a:buChar char="v"/>
            </a:pPr>
            <a:r>
              <a:rPr lang="en-US" sz="2400" b="1" dirty="0">
                <a:solidFill>
                  <a:srgbClr val="002060"/>
                </a:solidFill>
              </a:rPr>
              <a:t>Suggested answer: [0.01668 m</a:t>
            </a:r>
            <a:r>
              <a:rPr lang="en-US" sz="2400" b="1" baseline="30000" dirty="0">
                <a:solidFill>
                  <a:srgbClr val="002060"/>
                </a:solidFill>
              </a:rPr>
              <a:t>2</a:t>
            </a:r>
            <a:r>
              <a:rPr lang="en-US" sz="2400" b="1" dirty="0">
                <a:solidFill>
                  <a:srgbClr val="002060"/>
                </a:solidFill>
              </a:rPr>
              <a:t>]</a:t>
            </a:r>
            <a:endParaRPr lang="en-US" b="1" dirty="0">
              <a:solidFill>
                <a:srgbClr val="002060"/>
              </a:solidFill>
            </a:endParaRPr>
          </a:p>
        </p:txBody>
      </p:sp>
    </p:spTree>
    <p:extLst>
      <p:ext uri="{BB962C8B-B14F-4D97-AF65-F5344CB8AC3E}">
        <p14:creationId xmlns:p14="http://schemas.microsoft.com/office/powerpoint/2010/main" val="368198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sp>
        <p:nvSpPr>
          <p:cNvPr id="10" name="Content Placeholder 2"/>
          <p:cNvSpPr txBox="1">
            <a:spLocks/>
          </p:cNvSpPr>
          <p:nvPr/>
        </p:nvSpPr>
        <p:spPr>
          <a:xfrm>
            <a:off x="1124861" y="1112740"/>
            <a:ext cx="9471421" cy="481404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5</a:t>
            </a:r>
          </a:p>
          <a:p>
            <a:pPr>
              <a:buFont typeface="Wingdings" panose="05000000000000000000" pitchFamily="2" charset="2"/>
              <a:buChar char="v"/>
            </a:pPr>
            <a:r>
              <a:rPr lang="en-US" sz="2400" dirty="0"/>
              <a:t>A fluid flowing along a pipe line undergoes a throttling process from 10 bar to 1 bar in passing through a partially open valve. Before throttling, the specific enthalpy of the fluid is 0.3 m</a:t>
            </a:r>
            <a:r>
              <a:rPr lang="en-US" sz="2400" baseline="30000" dirty="0"/>
              <a:t>3</a:t>
            </a:r>
            <a:r>
              <a:rPr lang="en-US" sz="2400" dirty="0"/>
              <a:t>/kg and after throttling is 1.8 m</a:t>
            </a:r>
            <a:r>
              <a:rPr lang="en-US" sz="2400" baseline="30000" dirty="0"/>
              <a:t>3</a:t>
            </a:r>
            <a:r>
              <a:rPr lang="en-US" sz="2400" dirty="0"/>
              <a:t>/kg. determine the change in specific internal energy of the fluid during the throttling process.</a:t>
            </a:r>
          </a:p>
          <a:p>
            <a:pPr>
              <a:buFont typeface="Wingdings" panose="05000000000000000000" pitchFamily="2" charset="2"/>
              <a:buChar char="v"/>
            </a:pPr>
            <a:r>
              <a:rPr lang="en-US" sz="2400" b="1" dirty="0">
                <a:solidFill>
                  <a:srgbClr val="002060"/>
                </a:solidFill>
              </a:rPr>
              <a:t>Suggested answer: [120 kJ/kg]</a:t>
            </a:r>
            <a:endParaRPr lang="en-US" b="1" dirty="0">
              <a:solidFill>
                <a:srgbClr val="002060"/>
              </a:solidFill>
            </a:endParaRPr>
          </a:p>
        </p:txBody>
      </p:sp>
    </p:spTree>
    <p:extLst>
      <p:ext uri="{BB962C8B-B14F-4D97-AF65-F5344CB8AC3E}">
        <p14:creationId xmlns:p14="http://schemas.microsoft.com/office/powerpoint/2010/main" val="1485985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sp>
        <p:nvSpPr>
          <p:cNvPr id="6" name="Title 1"/>
          <p:cNvSpPr txBox="1">
            <a:spLocks/>
          </p:cNvSpPr>
          <p:nvPr/>
        </p:nvSpPr>
        <p:spPr>
          <a:xfrm>
            <a:off x="301337" y="283087"/>
            <a:ext cx="11198086" cy="592690"/>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endParaRPr lang="en-GB" sz="2000" dirty="0">
              <a:solidFill>
                <a:srgbClr val="FF0000"/>
              </a:solidFill>
            </a:endParaRPr>
          </a:p>
        </p:txBody>
      </p:sp>
      <p:sp>
        <p:nvSpPr>
          <p:cNvPr id="10" name="Footer Placeholder 5"/>
          <p:cNvSpPr txBox="1">
            <a:spLocks/>
          </p:cNvSpPr>
          <p:nvPr/>
        </p:nvSpPr>
        <p:spPr>
          <a:xfrm>
            <a:off x="770964" y="6281915"/>
            <a:ext cx="1210236"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KNUST-SESC</a:t>
            </a:r>
          </a:p>
        </p:txBody>
      </p:sp>
      <p:pic>
        <p:nvPicPr>
          <p:cNvPr id="8" name="Picture 2" descr="7,473 Thank You Business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198" y="1988579"/>
            <a:ext cx="7532942" cy="350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64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42192</TotalTime>
  <Words>1727</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Cambria Math</vt:lpstr>
      <vt:lpstr>Eras Demi ITC</vt:lpstr>
      <vt:lpstr>Garamond</vt:lpstr>
      <vt:lpstr>Georgia</vt:lpstr>
      <vt:lpstr>Helvetica</vt:lpstr>
      <vt:lpstr>Wingdings</vt:lpstr>
      <vt:lpstr>Office Theme</vt:lpstr>
      <vt:lpstr>THERMODYNAMICS I (ME 265) </vt:lpstr>
      <vt:lpstr>First Law of Thermodynamics: Open system</vt:lpstr>
      <vt:lpstr>First Law of Thermodynamics: Open system</vt:lpstr>
      <vt:lpstr>First Law of Thermodynamics: Open system</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First Law of Thermodynamics: Open system</vt:lpstr>
      <vt:lpstr>First Law for Open Systems: Problems</vt:lpstr>
      <vt:lpstr>First Law for Open Systems: Problems</vt:lpstr>
      <vt:lpstr>First Law for Open Systems: Problems</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cp:lastModifiedBy>
  <cp:revision>799</cp:revision>
  <dcterms:created xsi:type="dcterms:W3CDTF">2016-11-07T15:28:41Z</dcterms:created>
  <dcterms:modified xsi:type="dcterms:W3CDTF">2021-12-01T10:02:05Z</dcterms:modified>
</cp:coreProperties>
</file>