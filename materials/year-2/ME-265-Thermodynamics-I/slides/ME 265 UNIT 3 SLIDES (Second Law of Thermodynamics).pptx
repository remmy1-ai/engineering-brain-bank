
<file path=[Content_Types].xml><?xml version="1.0" encoding="utf-8"?>
<Types xmlns="http://schemas.openxmlformats.org/package/2006/content-types">
  <Default Extension="bin" ContentType="application/vnd.ms-office.activeX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503" r:id="rId2"/>
    <p:sldId id="548" r:id="rId3"/>
    <p:sldId id="696" r:id="rId4"/>
    <p:sldId id="669" r:id="rId5"/>
    <p:sldId id="697" r:id="rId6"/>
    <p:sldId id="698" r:id="rId7"/>
    <p:sldId id="671" r:id="rId8"/>
    <p:sldId id="699" r:id="rId9"/>
    <p:sldId id="700" r:id="rId10"/>
    <p:sldId id="701" r:id="rId11"/>
    <p:sldId id="719" r:id="rId12"/>
    <p:sldId id="702" r:id="rId13"/>
    <p:sldId id="718" r:id="rId14"/>
    <p:sldId id="705" r:id="rId15"/>
    <p:sldId id="706" r:id="rId16"/>
    <p:sldId id="707" r:id="rId17"/>
    <p:sldId id="708" r:id="rId18"/>
    <p:sldId id="709" r:id="rId19"/>
    <p:sldId id="720" r:id="rId20"/>
    <p:sldId id="710" r:id="rId21"/>
    <p:sldId id="711" r:id="rId22"/>
    <p:sldId id="712" r:id="rId23"/>
    <p:sldId id="734" r:id="rId24"/>
    <p:sldId id="735" r:id="rId25"/>
    <p:sldId id="736" r:id="rId26"/>
    <p:sldId id="737" r:id="rId27"/>
    <p:sldId id="738" r:id="rId28"/>
    <p:sldId id="739" r:id="rId29"/>
    <p:sldId id="740" r:id="rId30"/>
    <p:sldId id="741" r:id="rId31"/>
    <p:sldId id="742" r:id="rId32"/>
    <p:sldId id="743" r:id="rId33"/>
    <p:sldId id="744" r:id="rId34"/>
    <p:sldId id="745" r:id="rId35"/>
    <p:sldId id="746" r:id="rId36"/>
    <p:sldId id="747" r:id="rId37"/>
    <p:sldId id="748" r:id="rId38"/>
    <p:sldId id="753" r:id="rId39"/>
    <p:sldId id="749" r:id="rId40"/>
    <p:sldId id="750" r:id="rId41"/>
    <p:sldId id="751" r:id="rId42"/>
    <p:sldId id="752" r:id="rId43"/>
    <p:sldId id="754" r:id="rId44"/>
    <p:sldId id="755" r:id="rId45"/>
    <p:sldId id="756" r:id="rId46"/>
    <p:sldId id="73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8DF"/>
    <a:srgbClr val="F6C702"/>
    <a:srgbClr val="00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94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40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47608-6ABE-4504-86B5-76DC66B615AB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764DC-64CD-49E5-9D34-444ECD225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7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070D9-CE4C-4523-84E5-2BCC360EF90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DD320-4E3A-4CB5-A0BC-F8EFFE6E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76DD-8797-46B9-BAA0-1118061A3B20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12192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13360" y="241270"/>
              <a:ext cx="251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0123" y="68970"/>
              <a:ext cx="563237" cy="71680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0" y="1096019"/>
            <a:ext cx="10363200" cy="25417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14400" y="4666761"/>
            <a:ext cx="10363200" cy="159933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pPr algn="l"/>
            <a:endParaRPr lang="en-US" b="1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60-5DEC-4F9C-AE86-3A65EBEA6D5D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12191997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6489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8027214" y="6314438"/>
              <a:ext cx="109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5053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7070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95127"/>
            <a:ext cx="11198086" cy="59269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8A6806-0C47-8F41-8CB1-123A74FCD28F}"/>
              </a:ext>
            </a:extLst>
          </p:cNvPr>
          <p:cNvCxnSpPr/>
          <p:nvPr userDrawn="1"/>
        </p:nvCxnSpPr>
        <p:spPr>
          <a:xfrm>
            <a:off x="1" y="924340"/>
            <a:ext cx="1220716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2088"/>
            <a:ext cx="11198085" cy="51758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708" y="6278605"/>
            <a:ext cx="855784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7EC4-0FAA-4E2B-9A38-6D09C67DA3A1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2406-8828-418B-8809-38D0A9920C77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5C99-0020-4D01-8567-E31F48D46E49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0C0AC-B421-4F27-B629-B4BF5EA43D28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8E7F-7F5B-4B1A-A083-B461A23AA8FA}" type="datetime1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B52-87DB-4D57-8A37-3B02874B479C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A186-4EFB-4B8E-AB2B-86BDDA713B27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FC1A-4AC2-4AAF-A501-06099FF0D626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3F44-2E53-4BAA-A8EA-A81B2EB64AD8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88C0D-608D-44E2-B7D7-7A7555FE1132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2.xml"/><Relationship Id="rId1" Type="http://schemas.openxmlformats.org/officeDocument/2006/relationships/control" Target="../activeX/activeX1.xml"/><Relationship Id="rId5" Type="http://schemas.openxmlformats.org/officeDocument/2006/relationships/image" Target="../media/image13.wmf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9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6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gi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B02BC7-9B65-A649-A6AA-B9A015F59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540" y="949448"/>
            <a:ext cx="11149069" cy="1031752"/>
          </a:xfrm>
        </p:spPr>
        <p:txBody>
          <a:bodyPr vert="horz" lIns="68580" tIns="34290" rIns="68580" bIns="34290" rtlCol="0" anchor="b">
            <a:noAutofit/>
          </a:bodyPr>
          <a:lstStyle/>
          <a:p>
            <a:r>
              <a:rPr lang="en-GB" sz="3200" b="1" dirty="0">
                <a:solidFill>
                  <a:srgbClr val="0070C0"/>
                </a:solidFill>
                <a:latin typeface="Georgia" panose="02040502050405020303" pitchFamily="18" charset="0"/>
              </a:rPr>
              <a:t>THERMODYNAMICS I (ME 265)</a:t>
            </a:r>
            <a:br>
              <a:rPr lang="en-GB" sz="3200" b="1" dirty="0">
                <a:solidFill>
                  <a:srgbClr val="0070C0"/>
                </a:solidFill>
                <a:latin typeface="Eras Demi ITC" panose="020B0805030504020804" pitchFamily="34" charset="0"/>
              </a:rPr>
            </a:br>
            <a:endParaRPr lang="en-GB" sz="3200" dirty="0">
              <a:latin typeface="Eras Demi ITC" panose="020B0805030504020804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1809245" y="5405717"/>
            <a:ext cx="8432872" cy="1211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Helvetica"/>
                <a:cs typeface="Helvetica"/>
              </a:rPr>
              <a:t>Francis </a:t>
            </a:r>
            <a:r>
              <a:rPr lang="en-US" sz="2400" b="1">
                <a:solidFill>
                  <a:schemeClr val="tx1"/>
                </a:solidFill>
                <a:latin typeface="Helvetica"/>
                <a:cs typeface="Helvetica"/>
              </a:rPr>
              <a:t>Kofi Forson (</a:t>
            </a:r>
            <a:r>
              <a:rPr lang="en-US" sz="2400" b="1" dirty="0">
                <a:solidFill>
                  <a:schemeClr val="tx1"/>
                </a:solidFill>
                <a:latin typeface="Helvetica"/>
                <a:cs typeface="Helvetica"/>
              </a:rPr>
              <a:t>PhD)</a:t>
            </a:r>
          </a:p>
          <a:p>
            <a:r>
              <a:rPr lang="en-US" sz="1800" b="1" dirty="0">
                <a:latin typeface="Helvetica"/>
                <a:cs typeface="Helvetica"/>
              </a:rPr>
              <a:t>Department of Mechanical Engineering</a:t>
            </a:r>
          </a:p>
          <a:p>
            <a:r>
              <a:rPr lang="en-US" sz="1800" b="1" dirty="0">
                <a:latin typeface="Helvetica"/>
                <a:cs typeface="Helvetica"/>
              </a:rPr>
              <a:t>Kwame Nkrumah University of Science and Technology, Kumasi, Ghana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81EFB1F-8D7C-2F44-8B60-6C24E97F6990}"/>
              </a:ext>
            </a:extLst>
          </p:cNvPr>
          <p:cNvSpPr txBox="1">
            <a:spLocks/>
          </p:cNvSpPr>
          <p:nvPr/>
        </p:nvSpPr>
        <p:spPr>
          <a:xfrm>
            <a:off x="1346423" y="3908277"/>
            <a:ext cx="9814635" cy="11150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SECOND LAW OF THERMODYNAMICS</a:t>
            </a:r>
          </a:p>
        </p:txBody>
      </p:sp>
      <p:pic>
        <p:nvPicPr>
          <p:cNvPr id="1026" name="Picture 2" descr="The Emblem | Kwame Nkrumah University of Science and 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253" y="1577247"/>
            <a:ext cx="1969135" cy="222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87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0108" y="1132617"/>
            <a:ext cx="10506843" cy="6030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dirty="0"/>
              <a:t>A process will occur in a specified direction, not just in any direction: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1" y="5632274"/>
            <a:ext cx="4204446" cy="594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Water flows down a water fall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759" y="2012071"/>
            <a:ext cx="2143481" cy="3590330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16200000">
            <a:off x="2448802" y="3543359"/>
            <a:ext cx="3548437" cy="468944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Impossible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2919" y="5271385"/>
            <a:ext cx="58801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Garamond" panose="02020404030301010803" pitchFamily="18" charset="0"/>
              </a:rPr>
              <a:t>Heat flow from a high temperature to a low temperature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9691" y="2180967"/>
            <a:ext cx="1066800" cy="2362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HIGH Temperature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40152" y="2180967"/>
            <a:ext cx="1066800" cy="23622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LOW Temperature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13046" y="2178427"/>
            <a:ext cx="2713661" cy="236220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flipH="1">
            <a:off x="7059707" y="4693027"/>
            <a:ext cx="2438400" cy="43934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Impossible</a:t>
            </a:r>
          </a:p>
        </p:txBody>
      </p:sp>
    </p:spTree>
    <p:extLst>
      <p:ext uri="{BB962C8B-B14F-4D97-AF65-F5344CB8AC3E}">
        <p14:creationId xmlns:p14="http://schemas.microsoft.com/office/powerpoint/2010/main" val="53208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0108" y="1132617"/>
            <a:ext cx="9875857" cy="6030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/>
              <a:t>A Process will occur in a specific direction, not just in any direction: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4448" y="5379005"/>
            <a:ext cx="49133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Garamond" panose="02020404030301010803" pitchFamily="18" charset="0"/>
              </a:rPr>
              <a:t>Gas expands from a high pressure to a low pressure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8037" y="5392634"/>
            <a:ext cx="53691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Garamond" panose="02020404030301010803" pitchFamily="18" charset="0"/>
              </a:rPr>
              <a:t>Heat is generated when current flows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38" y="1865838"/>
            <a:ext cx="3368333" cy="25717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04073" y="1865838"/>
            <a:ext cx="934065" cy="257175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HIGH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8609" y="1871441"/>
            <a:ext cx="934065" cy="257175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LOW Pressure</a:t>
            </a:r>
          </a:p>
        </p:txBody>
      </p:sp>
      <p:sp>
        <p:nvSpPr>
          <p:cNvPr id="17" name="Right Arrow 16"/>
          <p:cNvSpPr/>
          <p:nvPr/>
        </p:nvSpPr>
        <p:spPr>
          <a:xfrm flipH="1">
            <a:off x="964366" y="4468956"/>
            <a:ext cx="4343400" cy="43934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Impossible</a:t>
            </a:r>
          </a:p>
        </p:txBody>
      </p:sp>
      <p:sp>
        <p:nvSpPr>
          <p:cNvPr id="58" name="Plus 57"/>
          <p:cNvSpPr/>
          <p:nvPr/>
        </p:nvSpPr>
        <p:spPr>
          <a:xfrm>
            <a:off x="6241831" y="2891139"/>
            <a:ext cx="457200" cy="314081"/>
          </a:xfrm>
          <a:prstGeom prst="mathPlus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Minus 58"/>
          <p:cNvSpPr/>
          <p:nvPr/>
        </p:nvSpPr>
        <p:spPr>
          <a:xfrm>
            <a:off x="11347231" y="2898236"/>
            <a:ext cx="422345" cy="304800"/>
          </a:xfrm>
          <a:prstGeom prst="mathMinus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/>
          <p:cNvCxnSpPr/>
          <p:nvPr/>
        </p:nvCxnSpPr>
        <p:spPr>
          <a:xfrm>
            <a:off x="6382871" y="3373284"/>
            <a:ext cx="1905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8287871" y="3213510"/>
            <a:ext cx="2286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516471" y="3213510"/>
            <a:ext cx="1524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8636916" y="3212281"/>
            <a:ext cx="2286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8865516" y="3212281"/>
            <a:ext cx="1524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9017916" y="3212281"/>
            <a:ext cx="2286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9246516" y="3212281"/>
            <a:ext cx="1524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9398916" y="3220884"/>
            <a:ext cx="2286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9627516" y="3220884"/>
            <a:ext cx="15240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9779916" y="3358535"/>
            <a:ext cx="1905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own Arrow 70"/>
          <p:cNvSpPr/>
          <p:nvPr/>
        </p:nvSpPr>
        <p:spPr>
          <a:xfrm>
            <a:off x="7876548" y="3451147"/>
            <a:ext cx="2511336" cy="1150016"/>
          </a:xfrm>
          <a:prstGeom prst="downArrow">
            <a:avLst>
              <a:gd name="adj1" fmla="val 100000"/>
              <a:gd name="adj2" fmla="val 11420"/>
            </a:avLst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>
                <a:solidFill>
                  <a:schemeClr val="tx1"/>
                </a:solidFill>
                <a:latin typeface="Garamond" panose="02020404030301010803" pitchFamily="18" charset="0"/>
              </a:rPr>
              <a:t>Heat</a:t>
            </a:r>
            <a:r>
              <a:rPr lang="fr-FR" sz="2400" b="1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Garamond" panose="02020404030301010803" pitchFamily="18" charset="0"/>
              </a:rPr>
              <a:t>generation</a:t>
            </a:r>
            <a:endParaRPr lang="fr-FR" sz="24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80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35424"/>
            <a:ext cx="10592010" cy="52431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Thermal Energy Reservoir (Heat Reservoir)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is a </a:t>
            </a:r>
            <a:r>
              <a:rPr lang="en-US" b="1" dirty="0"/>
              <a:t>hypothetical body </a:t>
            </a:r>
            <a:r>
              <a:rPr lang="en-US" dirty="0"/>
              <a:t>with a </a:t>
            </a:r>
            <a:r>
              <a:rPr lang="en-US" b="1" dirty="0">
                <a:solidFill>
                  <a:srgbClr val="002060"/>
                </a:solidFill>
              </a:rPr>
              <a:t>relatively large thermal energy (heat) capacity </a:t>
            </a:r>
            <a:r>
              <a:rPr lang="en-US" dirty="0"/>
              <a:t>that can </a:t>
            </a:r>
            <a:r>
              <a:rPr lang="en-US" dirty="0">
                <a:solidFill>
                  <a:srgbClr val="C00000"/>
                </a:solidFill>
              </a:rPr>
              <a:t>supply or absorb finite amounts of heat without undergoing any change in temperature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only significant property of a heat reservoir is that its temperature must remain constant so that any processes that take place in the reservoir must be reversible.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</a:t>
            </a:r>
            <a:r>
              <a:rPr lang="en-US" b="1" dirty="0">
                <a:solidFill>
                  <a:srgbClr val="002060"/>
                </a:solidFill>
              </a:rPr>
              <a:t>reservoir that supplies energy in the form of heat is called a source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one that absorbs energy in the form of heat is called a sink.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2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35425"/>
            <a:ext cx="9126070" cy="591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Thermal Energy Reservoir (Heat Reservoir)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868158"/>
            <a:ext cx="3397623" cy="2716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7353" y="3155476"/>
            <a:ext cx="142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Atmosphere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976" y="1874702"/>
            <a:ext cx="3383830" cy="27097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06598" y="4031779"/>
            <a:ext cx="9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Ocean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805" y="1874702"/>
            <a:ext cx="3631639" cy="27097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7421" y="3985331"/>
            <a:ext cx="158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Rivers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007224" y="5135699"/>
            <a:ext cx="4895872" cy="591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b="1" dirty="0">
                <a:solidFill>
                  <a:srgbClr val="002060"/>
                </a:solidFill>
              </a:rPr>
              <a:t>Examples of Sink</a:t>
            </a:r>
          </a:p>
        </p:txBody>
      </p:sp>
    </p:spTree>
    <p:extLst>
      <p:ext uri="{BB962C8B-B14F-4D97-AF65-F5344CB8AC3E}">
        <p14:creationId xmlns:p14="http://schemas.microsoft.com/office/powerpoint/2010/main" val="58650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35425"/>
            <a:ext cx="9126070" cy="591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Thermal Energy Reservoir (Heat Reservoir)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604451" y="5431534"/>
            <a:ext cx="4895872" cy="591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b="1" dirty="0">
                <a:solidFill>
                  <a:srgbClr val="002060"/>
                </a:solidFill>
              </a:rPr>
              <a:t>Examples of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859" y="4814415"/>
            <a:ext cx="2415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Boiler furnace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98009"/>
            <a:ext cx="3276579" cy="28990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23616" y="4860581"/>
            <a:ext cx="300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Nuclear reactor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068" y="1933745"/>
            <a:ext cx="4113255" cy="27421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735671" y="4952914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Sun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r:id="rId1" imgW="1257480" imgH="1425600"/>
        </mc:Choice>
        <mc:Fallback>
          <p:control r:id="rId1" imgW="1257480" imgH="1425600">
            <p:pic>
              <p:nvPicPr>
                <p:cNvPr id="17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9229812" y="1933745"/>
                  <a:ext cx="2487704" cy="2630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04224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933" y="1063556"/>
            <a:ext cx="3915334" cy="28690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Heat Engine</a:t>
            </a:r>
          </a:p>
          <a:p>
            <a:pPr marL="0" indent="0">
              <a:buNone/>
            </a:pPr>
            <a:r>
              <a:rPr lang="en-US" sz="2600" dirty="0"/>
              <a:t>It is a closed system which operates in a cycle and produces a net quantity of work from a supply of heat.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419960" y="1686000"/>
            <a:ext cx="1117177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00"/>
                </a:solidFill>
                <a:latin typeface="Calibri"/>
              </a:rPr>
              <a:t>WORK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508380" y="1916832"/>
            <a:ext cx="3910063" cy="4155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449820" y="1685999"/>
            <a:ext cx="881572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00"/>
                </a:solidFill>
                <a:latin typeface="Calibri"/>
              </a:rPr>
              <a:t>HEAT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3099" y="1366229"/>
            <a:ext cx="1584276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00"/>
                </a:solidFill>
                <a:latin typeface="Calibri"/>
              </a:rPr>
              <a:t>NATURE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32010" y="2009925"/>
            <a:ext cx="3557385" cy="369332"/>
          </a:xfrm>
          <a:prstGeom prst="rect">
            <a:avLst/>
          </a:prstGeom>
          <a:solidFill>
            <a:srgbClr val="7030A0"/>
          </a:solidFill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directly and completely (100%)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560376" y="2913073"/>
            <a:ext cx="7247311" cy="1019502"/>
            <a:chOff x="1254261" y="2561898"/>
            <a:chExt cx="7247311" cy="1019502"/>
          </a:xfrm>
        </p:grpSpPr>
        <p:sp>
          <p:nvSpPr>
            <p:cNvPr id="19" name="TextBox 18"/>
            <p:cNvSpPr txBox="1"/>
            <p:nvPr/>
          </p:nvSpPr>
          <p:spPr>
            <a:xfrm>
              <a:off x="1254261" y="2870963"/>
              <a:ext cx="1117177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>
                  <a:solidFill>
                    <a:srgbClr val="FFFF00"/>
                  </a:solidFill>
                  <a:latin typeface="Calibri"/>
                </a:rPr>
                <a:t>HEAT </a:t>
              </a:r>
            </a:p>
          </p:txBody>
        </p:sp>
        <p:cxnSp>
          <p:nvCxnSpPr>
            <p:cNvPr id="20" name="Straight Arrow Connector 19"/>
            <p:cNvCxnSpPr>
              <a:endCxn id="21" idx="1"/>
            </p:cNvCxnSpPr>
            <p:nvPr/>
          </p:nvCxnSpPr>
          <p:spPr>
            <a:xfrm>
              <a:off x="2392444" y="3101796"/>
              <a:ext cx="4991951" cy="15220"/>
            </a:xfrm>
            <a:prstGeom prst="straightConnector1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384395" y="2886183"/>
              <a:ext cx="1117177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>
                  <a:solidFill>
                    <a:srgbClr val="FFFF00"/>
                  </a:solidFill>
                  <a:latin typeface="Calibri"/>
                </a:rPr>
                <a:t>WORK 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77442" y="2561898"/>
              <a:ext cx="3155993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dirty="0">
                  <a:solidFill>
                    <a:srgbClr val="FFFF00"/>
                  </a:solidFill>
                  <a:latin typeface="Calibri"/>
                </a:rPr>
                <a:t>NEED A HEAT ENGINE </a:t>
              </a:r>
              <a:endParaRPr lang="en-US" sz="2400" b="1" dirty="0">
                <a:solidFill>
                  <a:srgbClr val="FFFF00"/>
                </a:solidFill>
                <a:latin typeface="Calibri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29118" y="3212068"/>
              <a:ext cx="2595583" cy="369332"/>
            </a:xfrm>
            <a:prstGeom prst="rect">
              <a:avLst/>
            </a:prstGeom>
            <a:solidFill>
              <a:srgbClr val="7030A0"/>
            </a:solidFill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(No 100% conversion)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426396" y="4573610"/>
            <a:ext cx="8762999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00"/>
                </a:solidFill>
                <a:latin typeface="Calibri"/>
              </a:rPr>
              <a:t>NO 100 %  CONVERSION OF HEAT TO WORK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FF00"/>
                </a:solidFill>
                <a:latin typeface="Calibri"/>
              </a:rPr>
              <a:t>(NO 100 % THERMAL EFFICIENCY)</a:t>
            </a:r>
          </a:p>
        </p:txBody>
      </p:sp>
    </p:spTree>
    <p:extLst>
      <p:ext uri="{BB962C8B-B14F-4D97-AF65-F5344CB8AC3E}">
        <p14:creationId xmlns:p14="http://schemas.microsoft.com/office/powerpoint/2010/main" val="294551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933" y="1063556"/>
            <a:ext cx="6828058" cy="506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Heat Engine: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4 Conditions for the working fluid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receives heat from a high-temperature source (solar energy, oil furnace, nuclear reactor, etc.)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converts part of this heat into work (usually in the form of a rotating shaft)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rejects the remaining heat into a low-temperature sink (the atmosphere, rivers, etc.)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goes through a thermodynamic cycle.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7627164" y="1245752"/>
            <a:ext cx="2766060" cy="533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Temperature 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7164" y="5208152"/>
            <a:ext cx="2766060" cy="533400"/>
          </a:xfrm>
          <a:prstGeom prst="rect">
            <a:avLst/>
          </a:prstGeom>
          <a:gradFill flip="none" rotWithShape="1">
            <a:gsLst>
              <a:gs pos="0">
                <a:srgbClr val="6BD41C">
                  <a:tint val="66000"/>
                  <a:satMod val="160000"/>
                </a:srgbClr>
              </a:gs>
              <a:gs pos="50000">
                <a:srgbClr val="6BD41C">
                  <a:tint val="44500"/>
                  <a:satMod val="160000"/>
                </a:srgbClr>
              </a:gs>
              <a:gs pos="100000">
                <a:srgbClr val="6BD41C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Low Temperature sink</a:t>
            </a:r>
          </a:p>
        </p:txBody>
      </p:sp>
      <p:sp>
        <p:nvSpPr>
          <p:cNvPr id="27" name="Oval 26"/>
          <p:cNvSpPr/>
          <p:nvPr/>
        </p:nvSpPr>
        <p:spPr>
          <a:xfrm>
            <a:off x="8418764" y="2875377"/>
            <a:ext cx="1217721" cy="11879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Heat Engine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238045" y="1819060"/>
            <a:ext cx="1544298" cy="1016408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Q</a:t>
            </a:r>
            <a:r>
              <a:rPr lang="en-US" b="1" baseline="-25000" dirty="0"/>
              <a:t>in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447496" y="4135317"/>
            <a:ext cx="1160254" cy="1016408"/>
          </a:xfrm>
          <a:prstGeom prst="downArrow">
            <a:avLst/>
          </a:prstGeom>
          <a:gradFill flip="none" rotWithShape="1">
            <a:gsLst>
              <a:gs pos="0">
                <a:srgbClr val="6BD41C">
                  <a:tint val="66000"/>
                  <a:satMod val="160000"/>
                </a:srgbClr>
              </a:gs>
              <a:gs pos="50000">
                <a:srgbClr val="6BD41C">
                  <a:tint val="44500"/>
                  <a:satMod val="160000"/>
                </a:srgbClr>
              </a:gs>
              <a:gs pos="100000">
                <a:srgbClr val="6BD41C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0070C0"/>
                </a:solidFill>
              </a:rPr>
              <a:t>Q</a:t>
            </a:r>
            <a:r>
              <a:rPr lang="en-US" b="1" baseline="-25000" dirty="0" err="1">
                <a:solidFill>
                  <a:srgbClr val="0070C0"/>
                </a:solidFill>
              </a:rPr>
              <a:t>out</a:t>
            </a:r>
            <a:endParaRPr lang="en-US" b="1" baseline="-25000" dirty="0">
              <a:solidFill>
                <a:srgbClr val="0070C0"/>
              </a:solidFill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9672085" y="3134475"/>
            <a:ext cx="1371600" cy="62996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out</a:t>
            </a:r>
          </a:p>
        </p:txBody>
      </p:sp>
      <p:sp>
        <p:nvSpPr>
          <p:cNvPr id="31" name="Oval 30"/>
          <p:cNvSpPr/>
          <p:nvPr/>
        </p:nvSpPr>
        <p:spPr>
          <a:xfrm>
            <a:off x="9228802" y="1767604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400 MW</a:t>
            </a:r>
          </a:p>
        </p:txBody>
      </p:sp>
      <p:sp>
        <p:nvSpPr>
          <p:cNvPr id="32" name="Oval 31"/>
          <p:cNvSpPr/>
          <p:nvPr/>
        </p:nvSpPr>
        <p:spPr>
          <a:xfrm>
            <a:off x="9434102" y="2765027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160 MW</a:t>
            </a:r>
          </a:p>
        </p:txBody>
      </p:sp>
      <p:sp>
        <p:nvSpPr>
          <p:cNvPr id="33" name="Oval 32"/>
          <p:cNvSpPr/>
          <p:nvPr/>
        </p:nvSpPr>
        <p:spPr>
          <a:xfrm>
            <a:off x="9211596" y="3976815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240 MW</a:t>
            </a:r>
          </a:p>
        </p:txBody>
      </p:sp>
    </p:spTree>
    <p:extLst>
      <p:ext uri="{BB962C8B-B14F-4D97-AF65-F5344CB8AC3E}">
        <p14:creationId xmlns:p14="http://schemas.microsoft.com/office/powerpoint/2010/main" val="2576098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5" y="1063557"/>
            <a:ext cx="3191072" cy="47590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Heat Engine: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Some examples of heat engines are;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Steam power plants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Gas power plants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Automobile engines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412773" y="3647209"/>
            <a:ext cx="492934" cy="6017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96273" y="3073701"/>
            <a:ext cx="448122" cy="4973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8003381" y="2293847"/>
            <a:ext cx="166025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9663636" y="2253772"/>
            <a:ext cx="0" cy="88165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44086" y="2066153"/>
            <a:ext cx="1653420" cy="455388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Boiler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4086" y="4734965"/>
            <a:ext cx="1653420" cy="4553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76200">
            <a:solidFill>
              <a:schemeClr val="tx2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 dirty="0"/>
              <a:t>Condenser</a:t>
            </a:r>
          </a:p>
        </p:txBody>
      </p:sp>
      <p:sp>
        <p:nvSpPr>
          <p:cNvPr id="20" name="Trapezoid 19"/>
          <p:cNvSpPr/>
          <p:nvPr/>
        </p:nvSpPr>
        <p:spPr>
          <a:xfrm rot="16200000">
            <a:off x="9351462" y="2954755"/>
            <a:ext cx="1248992" cy="1234244"/>
          </a:xfrm>
          <a:prstGeom prst="trapezoid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Turbine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8048088" y="4945432"/>
            <a:ext cx="2392896" cy="0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0425636" y="4160250"/>
            <a:ext cx="0" cy="801503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2"/>
          <p:cNvSpPr/>
          <p:nvPr/>
        </p:nvSpPr>
        <p:spPr>
          <a:xfrm>
            <a:off x="4329636" y="3301739"/>
            <a:ext cx="1119331" cy="763244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Pump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4838385" y="2293847"/>
            <a:ext cx="1509323" cy="0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683831" y="5010953"/>
            <a:ext cx="1660255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880244" y="2303679"/>
            <a:ext cx="0" cy="72863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678915" y="4228218"/>
            <a:ext cx="0" cy="801503"/>
          </a:xfrm>
          <a:prstGeom prst="straightConnector1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rapezoid 36"/>
          <p:cNvSpPr/>
          <p:nvPr/>
        </p:nvSpPr>
        <p:spPr>
          <a:xfrm rot="16200000">
            <a:off x="9351462" y="2968007"/>
            <a:ext cx="1248992" cy="1234244"/>
          </a:xfrm>
          <a:prstGeom prst="trapezoid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Turbine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6535519" y="1000152"/>
            <a:ext cx="1270555" cy="1002704"/>
          </a:xfrm>
          <a:prstGeom prst="downArrow">
            <a:avLst>
              <a:gd name="adj1" fmla="val 100000"/>
              <a:gd name="adj2" fmla="val 1142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Qin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889608" y="5322833"/>
            <a:ext cx="691526" cy="622600"/>
          </a:xfrm>
          <a:prstGeom prst="downArrow">
            <a:avLst>
              <a:gd name="adj1" fmla="val 100000"/>
              <a:gd name="adj2" fmla="val 11420"/>
            </a:avLst>
          </a:prstGeom>
          <a:solidFill>
            <a:schemeClr val="tx2">
              <a:lumMod val="20000"/>
              <a:lumOff val="80000"/>
            </a:schemeClr>
          </a:solidFill>
          <a:ln w="76200">
            <a:solidFill>
              <a:schemeClr val="tx2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fr-FR" b="1" dirty="0" err="1">
                <a:solidFill>
                  <a:schemeClr val="tx1"/>
                </a:solidFill>
              </a:rPr>
              <a:t>Qout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10645388" y="3142823"/>
            <a:ext cx="1341120" cy="76826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Wout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491436" y="3466529"/>
            <a:ext cx="757028" cy="4336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Win</a:t>
            </a:r>
          </a:p>
        </p:txBody>
      </p:sp>
      <p:graphicFrame>
        <p:nvGraphicFramePr>
          <p:cNvPr id="4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457618"/>
              </p:ext>
            </p:extLst>
          </p:nvPr>
        </p:nvGraphicFramePr>
        <p:xfrm>
          <a:off x="5878020" y="3013870"/>
          <a:ext cx="270014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41200" progId="Equation.DSMT4">
                  <p:embed/>
                </p:oleObj>
              </mc:Choice>
              <mc:Fallback>
                <p:oleObj name="Equation" r:id="rId2" imgW="1180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020" y="3013870"/>
                        <a:ext cx="270014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130941"/>
              </p:ext>
            </p:extLst>
          </p:nvPr>
        </p:nvGraphicFramePr>
        <p:xfrm>
          <a:off x="5878020" y="3819552"/>
          <a:ext cx="279501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241300" progId="Equation.DSMT4">
                  <p:embed/>
                </p:oleObj>
              </mc:Choice>
              <mc:Fallback>
                <p:oleObj name="Equation" r:id="rId4" imgW="124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020" y="3819552"/>
                        <a:ext cx="2795016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Oval 43"/>
          <p:cNvSpPr/>
          <p:nvPr/>
        </p:nvSpPr>
        <p:spPr>
          <a:xfrm>
            <a:off x="7611152" y="1089388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400 MW</a:t>
            </a:r>
          </a:p>
        </p:txBody>
      </p:sp>
      <p:sp>
        <p:nvSpPr>
          <p:cNvPr id="45" name="Oval 44"/>
          <p:cNvSpPr/>
          <p:nvPr/>
        </p:nvSpPr>
        <p:spPr>
          <a:xfrm>
            <a:off x="10340053" y="2748027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165 MW</a:t>
            </a:r>
          </a:p>
        </p:txBody>
      </p:sp>
      <p:sp>
        <p:nvSpPr>
          <p:cNvPr id="46" name="Oval 45"/>
          <p:cNvSpPr/>
          <p:nvPr/>
        </p:nvSpPr>
        <p:spPr>
          <a:xfrm>
            <a:off x="7301436" y="5277836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240 MW</a:t>
            </a:r>
          </a:p>
        </p:txBody>
      </p:sp>
      <p:sp>
        <p:nvSpPr>
          <p:cNvPr id="29" name="Oval 28"/>
          <p:cNvSpPr/>
          <p:nvPr/>
        </p:nvSpPr>
        <p:spPr>
          <a:xfrm>
            <a:off x="3061767" y="2944901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5 MW</a:t>
            </a:r>
          </a:p>
        </p:txBody>
      </p:sp>
    </p:spTree>
    <p:extLst>
      <p:ext uri="{BB962C8B-B14F-4D97-AF65-F5344CB8AC3E}">
        <p14:creationId xmlns:p14="http://schemas.microsoft.com/office/powerpoint/2010/main" val="407217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5" y="1063557"/>
            <a:ext cx="3191072" cy="9803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Thermal Efficiency of a Heat Engine: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276412"/>
              </p:ext>
            </p:extLst>
          </p:nvPr>
        </p:nvGraphicFramePr>
        <p:xfrm>
          <a:off x="268285" y="2224930"/>
          <a:ext cx="2885092" cy="67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6100" imgH="431800" progId="Equation.DSMT4">
                  <p:embed/>
                </p:oleObj>
              </mc:Choice>
              <mc:Fallback>
                <p:oleObj name="Equation" r:id="rId2" imgW="1816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5" y="2224930"/>
                        <a:ext cx="2885092" cy="6797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022505"/>
              </p:ext>
            </p:extLst>
          </p:nvPr>
        </p:nvGraphicFramePr>
        <p:xfrm>
          <a:off x="268285" y="3085641"/>
          <a:ext cx="3503657" cy="604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200" imgH="431800" progId="Equation.DSMT4">
                  <p:embed/>
                </p:oleObj>
              </mc:Choice>
              <mc:Fallback>
                <p:oleObj name="Equation" r:id="rId4" imgW="2489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5" y="3085641"/>
                        <a:ext cx="3503657" cy="6040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779404"/>
              </p:ext>
            </p:extLst>
          </p:nvPr>
        </p:nvGraphicFramePr>
        <p:xfrm>
          <a:off x="268285" y="3877314"/>
          <a:ext cx="2975775" cy="873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44240" progId="Equation.DSMT4">
                  <p:embed/>
                </p:oleObj>
              </mc:Choice>
              <mc:Fallback>
                <p:oleObj name="Equation" r:id="rId6" imgW="1511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5" y="3877314"/>
                        <a:ext cx="2975775" cy="873461"/>
                      </a:xfrm>
                      <a:prstGeom prst="rect">
                        <a:avLst/>
                      </a:prstGeom>
                      <a:solidFill>
                        <a:srgbClr val="7030A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326430"/>
              </p:ext>
            </p:extLst>
          </p:nvPr>
        </p:nvGraphicFramePr>
        <p:xfrm>
          <a:off x="531498" y="5001555"/>
          <a:ext cx="27955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600" imgH="241300" progId="Equation.DSMT4">
                  <p:embed/>
                </p:oleObj>
              </mc:Choice>
              <mc:Fallback>
                <p:oleObj name="Equation" r:id="rId8" imgW="124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8" y="5001555"/>
                        <a:ext cx="27955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" name="Group 70"/>
          <p:cNvGrpSpPr/>
          <p:nvPr/>
        </p:nvGrpSpPr>
        <p:grpSpPr>
          <a:xfrm>
            <a:off x="3680653" y="1056275"/>
            <a:ext cx="8761703" cy="4953000"/>
            <a:chOff x="34057" y="762000"/>
            <a:chExt cx="8761703" cy="4953000"/>
          </a:xfrm>
        </p:grpSpPr>
        <p:sp>
          <p:nvSpPr>
            <p:cNvPr id="72" name="Rectangle 71"/>
            <p:cNvSpPr/>
            <p:nvPr/>
          </p:nvSpPr>
          <p:spPr>
            <a:xfrm>
              <a:off x="1378537" y="3409057"/>
              <a:ext cx="492934" cy="6017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662037" y="2835549"/>
              <a:ext cx="448122" cy="4973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4969145" y="2055695"/>
              <a:ext cx="1660255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6629400" y="2015620"/>
              <a:ext cx="0" cy="881653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3309850" y="1828001"/>
              <a:ext cx="1653420" cy="455388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Boiler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309850" y="4496813"/>
              <a:ext cx="1653420" cy="45538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Condenser</a:t>
              </a:r>
            </a:p>
          </p:txBody>
        </p:sp>
        <p:sp>
          <p:nvSpPr>
            <p:cNvPr id="78" name="Trapezoid 77"/>
            <p:cNvSpPr/>
            <p:nvPr/>
          </p:nvSpPr>
          <p:spPr>
            <a:xfrm rot="16200000">
              <a:off x="6317226" y="2716603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5013852" y="4707280"/>
              <a:ext cx="2392896" cy="0"/>
            </a:xfrm>
            <a:prstGeom prst="line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7391400" y="3922098"/>
              <a:ext cx="0" cy="801503"/>
            </a:xfrm>
            <a:prstGeom prst="straightConnector1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Flowchart: Connector 80"/>
            <p:cNvSpPr/>
            <p:nvPr/>
          </p:nvSpPr>
          <p:spPr>
            <a:xfrm>
              <a:off x="1295400" y="3063587"/>
              <a:ext cx="1119331" cy="763244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Pump</a:t>
              </a:r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1804149" y="2055695"/>
              <a:ext cx="1509323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1649595" y="4772801"/>
              <a:ext cx="1660255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1846008" y="2065527"/>
              <a:ext cx="0" cy="728639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644679" y="3990066"/>
              <a:ext cx="0" cy="801503"/>
            </a:xfrm>
            <a:prstGeom prst="straightConnector1">
              <a:avLst/>
            </a:prstGeom>
            <a:ln w="76200"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rapezoid 85"/>
            <p:cNvSpPr/>
            <p:nvPr/>
          </p:nvSpPr>
          <p:spPr>
            <a:xfrm rot="16200000">
              <a:off x="6317226" y="2729855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sp>
          <p:nvSpPr>
            <p:cNvPr id="87" name="Down Arrow 86"/>
            <p:cNvSpPr/>
            <p:nvPr/>
          </p:nvSpPr>
          <p:spPr>
            <a:xfrm>
              <a:off x="3501283" y="762000"/>
              <a:ext cx="1270555" cy="1002704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Qin</a:t>
              </a:r>
            </a:p>
          </p:txBody>
        </p:sp>
        <p:sp>
          <p:nvSpPr>
            <p:cNvPr id="88" name="Down Arrow 87"/>
            <p:cNvSpPr/>
            <p:nvPr/>
          </p:nvSpPr>
          <p:spPr>
            <a:xfrm>
              <a:off x="3855372" y="5084681"/>
              <a:ext cx="691526" cy="622600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Qout</a:t>
              </a:r>
            </a:p>
          </p:txBody>
        </p:sp>
        <p:sp>
          <p:nvSpPr>
            <p:cNvPr id="89" name="Right Arrow 88"/>
            <p:cNvSpPr/>
            <p:nvPr/>
          </p:nvSpPr>
          <p:spPr>
            <a:xfrm>
              <a:off x="7611152" y="2904671"/>
              <a:ext cx="928909" cy="76826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Wout</a:t>
              </a:r>
            </a:p>
          </p:txBody>
        </p:sp>
        <p:sp>
          <p:nvSpPr>
            <p:cNvPr id="90" name="Right Arrow 89"/>
            <p:cNvSpPr/>
            <p:nvPr/>
          </p:nvSpPr>
          <p:spPr>
            <a:xfrm>
              <a:off x="457200" y="3228377"/>
              <a:ext cx="757028" cy="43366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Win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4720357" y="865577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400 MW</a:t>
              </a:r>
            </a:p>
          </p:txBody>
        </p:sp>
        <p:sp>
          <p:nvSpPr>
            <p:cNvPr id="92" name="Oval 91"/>
            <p:cNvSpPr/>
            <p:nvPr/>
          </p:nvSpPr>
          <p:spPr>
            <a:xfrm>
              <a:off x="7305817" y="2509875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165 MW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4267200" y="5039684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240 MW</a:t>
              </a:r>
            </a:p>
          </p:txBody>
        </p:sp>
        <p:sp>
          <p:nvSpPr>
            <p:cNvPr id="94" name="Oval 93"/>
            <p:cNvSpPr/>
            <p:nvPr/>
          </p:nvSpPr>
          <p:spPr>
            <a:xfrm>
              <a:off x="34057" y="2743200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5 MW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/>
                <p:cNvSpPr txBox="1"/>
                <p:nvPr/>
              </p:nvSpPr>
              <p:spPr>
                <a:xfrm>
                  <a:off x="2950723" y="3148300"/>
                  <a:ext cx="2771593" cy="561629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l-GR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r>
                        <m:rPr>
                          <m:nor/>
                        </m:rPr>
                        <a:rPr lang="en-US" b="0" i="0" baseline="-250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th</m:t>
                      </m:r>
                      <m:r>
                        <m:rPr>
                          <m:nor/>
                        </m:rPr>
                        <a:rPr lang="en-US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lang="en-US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net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b="0" i="0" baseline="-250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</m:den>
                      </m:f>
                    </m:oMath>
                  </a14:m>
                  <a:r>
                    <a:rPr lang="en-US" dirty="0">
                      <a:solidFill>
                        <a:srgbClr val="FFFF00"/>
                      </a:solidFill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160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</m:den>
                      </m:f>
                    </m:oMath>
                  </a14:m>
                  <a:r>
                    <a:rPr lang="en-US" dirty="0">
                      <a:solidFill>
                        <a:srgbClr val="FFFF00"/>
                      </a:solidFill>
                    </a:rPr>
                    <a:t>  = 40%  </a:t>
                  </a: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0723" y="3148300"/>
                  <a:ext cx="2771593" cy="56162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0696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4" y="1063556"/>
            <a:ext cx="7050957" cy="4732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Kelvin-Planck statement of the Second Law: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It is </a:t>
            </a:r>
            <a:r>
              <a:rPr lang="en-US" sz="3200" b="1" dirty="0">
                <a:solidFill>
                  <a:srgbClr val="002060"/>
                </a:solidFill>
              </a:rPr>
              <a:t>impossible</a:t>
            </a:r>
            <a:r>
              <a:rPr lang="en-US" sz="3200" dirty="0"/>
              <a:t> for any device that operates on a cycle to receive heat from a reservoir and do an equivalent amount of work on the surroundings.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C00000"/>
                </a:solidFill>
              </a:rPr>
              <a:t>There is no heat engine with 100 % thermal efficiency.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7644762" y="1510553"/>
            <a:ext cx="2766060" cy="533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Temperature source</a:t>
            </a:r>
          </a:p>
        </p:txBody>
      </p:sp>
      <p:sp>
        <p:nvSpPr>
          <p:cNvPr id="35" name="Oval 34"/>
          <p:cNvSpPr/>
          <p:nvPr/>
        </p:nvSpPr>
        <p:spPr>
          <a:xfrm>
            <a:off x="8436362" y="3140178"/>
            <a:ext cx="1217721" cy="11879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Heat Engine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255643" y="2083861"/>
            <a:ext cx="1544298" cy="1016408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Q</a:t>
            </a:r>
            <a:r>
              <a:rPr lang="en-US" b="1" baseline="-25000" dirty="0"/>
              <a:t>in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65883" y="3293882"/>
            <a:ext cx="1371600" cy="10145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W</a:t>
            </a:r>
            <a:r>
              <a:rPr lang="en-US" b="1" baseline="-25000" dirty="0" err="1"/>
              <a:t>net</a:t>
            </a:r>
            <a:r>
              <a:rPr lang="en-US" b="1" baseline="-25000" dirty="0"/>
              <a:t> out</a:t>
            </a:r>
          </a:p>
        </p:txBody>
      </p:sp>
      <p:sp>
        <p:nvSpPr>
          <p:cNvPr id="38" name="Oval 37"/>
          <p:cNvSpPr/>
          <p:nvPr/>
        </p:nvSpPr>
        <p:spPr>
          <a:xfrm>
            <a:off x="9246400" y="2032405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400 MW</a:t>
            </a:r>
          </a:p>
        </p:txBody>
      </p:sp>
      <p:sp>
        <p:nvSpPr>
          <p:cNvPr id="39" name="Oval 38"/>
          <p:cNvSpPr/>
          <p:nvPr/>
        </p:nvSpPr>
        <p:spPr>
          <a:xfrm>
            <a:off x="9451700" y="3029828"/>
            <a:ext cx="148994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400 MW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94300" y="4958388"/>
            <a:ext cx="4114800" cy="461665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FFFF00"/>
                </a:solidFill>
                <a:latin typeface="Arial" charset="0"/>
              </a:rPr>
              <a:t>Impossible (PMM 2</a:t>
            </a:r>
            <a:r>
              <a:rPr lang="en-GB" sz="2400" b="1" baseline="30000" dirty="0">
                <a:solidFill>
                  <a:srgbClr val="FFFF00"/>
                </a:solidFill>
                <a:latin typeface="Arial" charset="0"/>
              </a:rPr>
              <a:t>nd</a:t>
            </a:r>
            <a:r>
              <a:rPr lang="en-GB" sz="2400" b="1" dirty="0">
                <a:solidFill>
                  <a:srgbClr val="FFFF00"/>
                </a:solidFill>
                <a:latin typeface="Arial" charset="0"/>
              </a:rPr>
              <a:t> kind)</a:t>
            </a:r>
            <a:endParaRPr lang="en-US" sz="2400" b="1" dirty="0">
              <a:solidFill>
                <a:srgbClr val="FFFF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232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5" y="1063557"/>
            <a:ext cx="11349974" cy="26881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Heat Engine: Example 1</a:t>
            </a:r>
          </a:p>
          <a:p>
            <a:pPr marL="0" indent="0">
              <a:buNone/>
            </a:pPr>
            <a:r>
              <a:rPr lang="en-US" sz="3200" dirty="0"/>
              <a:t>Heat is transferred to a heat engine from a furnace at a rate of 80 MW. If the rate of waste heat rejection to a nearby river is 50 MW, determine the net power output and the thermal efficiency for this heat engine.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42492" y="4041126"/>
                <a:ext cx="6120586" cy="461665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>
                        <a:solidFill>
                          <a:srgbClr val="FFFF00"/>
                        </a:solidFill>
                      </a:rPr>
                      <m:t>W</m:t>
                    </m:r>
                    <m:r>
                      <m:rPr>
                        <m:nor/>
                      </m:rPr>
                      <a:rPr lang="en-US" sz="2400" b="1" baseline="-25000">
                        <a:solidFill>
                          <a:srgbClr val="FFFF00"/>
                        </a:solidFill>
                      </a:rPr>
                      <m:t>net</m:t>
                    </m:r>
                  </m:oMath>
                </a14:m>
                <a:r>
                  <a:rPr lang="en-US" sz="2400" b="1" dirty="0">
                    <a:solidFill>
                      <a:srgbClr val="FFFF00"/>
                    </a:solidFill>
                  </a:rPr>
                  <a:t>  = </a:t>
                </a:r>
                <a:r>
                  <a:rPr lang="en-US" sz="2400" b="1" dirty="0" err="1">
                    <a:solidFill>
                      <a:srgbClr val="FFFF00"/>
                    </a:solidFill>
                  </a:rPr>
                  <a:t>Q</a:t>
                </a:r>
                <a:r>
                  <a:rPr lang="en-US" sz="2400" b="1" baseline="-25000" dirty="0" err="1">
                    <a:solidFill>
                      <a:srgbClr val="FFFF00"/>
                    </a:solidFill>
                  </a:rPr>
                  <a:t>net</a:t>
                </a:r>
                <a:r>
                  <a:rPr lang="en-US" sz="2400" b="1" dirty="0">
                    <a:solidFill>
                      <a:srgbClr val="FFFF00"/>
                    </a:solidFill>
                  </a:rPr>
                  <a:t> = 80 MW – 50 MW = 30 MW </a:t>
                </a: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92" y="4041126"/>
                <a:ext cx="6120586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9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955618" y="4942517"/>
                <a:ext cx="3621184" cy="726353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defRPr sz="2400" b="1">
                    <a:solidFill>
                      <a:srgbClr val="FFFF00"/>
                    </a:solidFill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η</m:t>
                    </m:r>
                    <m:r>
                      <m:rPr>
                        <m:nor/>
                      </m:rPr>
                      <a:rPr lang="en-US" baseline="-25000"/>
                      <m:t>th</m:t>
                    </m:r>
                    <m:r>
                      <m:rPr>
                        <m:nor/>
                      </m:rPr>
                      <a:rPr lang="en-US"/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W</m:t>
                        </m:r>
                        <m:r>
                          <m:rPr>
                            <m:nor/>
                          </m:rPr>
                          <a:rPr lang="en-US" baseline="-25000"/>
                          <m:t>net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Q</m:t>
                        </m:r>
                        <m:r>
                          <m:rPr>
                            <m:nor/>
                          </m:rPr>
                          <a:rPr lang="en-US" baseline="-25000"/>
                          <m:t>in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30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80</m:t>
                        </m:r>
                      </m:den>
                    </m:f>
                  </m:oMath>
                </a14:m>
                <a:r>
                  <a:rPr lang="en-US" dirty="0"/>
                  <a:t>  = 37.5%  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618" y="4942517"/>
                <a:ext cx="3621184" cy="7263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0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5" y="1063557"/>
            <a:ext cx="5594633" cy="49472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Heat Engine: Example 2</a:t>
            </a:r>
          </a:p>
          <a:p>
            <a:pPr marL="0" indent="0">
              <a:buNone/>
            </a:pPr>
            <a:r>
              <a:rPr lang="en-US" dirty="0"/>
              <a:t>A steam power plant is constructed such that it produces 75 kW of power while rejecting 190 kW of heat to a low-temperature reservoir. </a:t>
            </a:r>
          </a:p>
          <a:p>
            <a:pPr marL="457200" indent="-457200">
              <a:buAutoNum type="alphaLcParenBoth"/>
            </a:pPr>
            <a:r>
              <a:rPr lang="en-US" dirty="0"/>
              <a:t>Determine the rate of heat supplied    </a:t>
            </a:r>
          </a:p>
          <a:p>
            <a:pPr marL="457200" indent="-457200">
              <a:buAutoNum type="alphaLcParenBoth"/>
            </a:pPr>
            <a:r>
              <a:rPr lang="en-US" dirty="0"/>
              <a:t>Determine the thermal efficiency.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Suggested Answers: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[ 265 kW; 28.3%]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015318" y="1063557"/>
            <a:ext cx="5594633" cy="49472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200" b="1" dirty="0">
                <a:solidFill>
                  <a:srgbClr val="C00000"/>
                </a:solidFill>
              </a:rPr>
              <a:t>Heat Engine: Example 3</a:t>
            </a:r>
          </a:p>
          <a:p>
            <a:pPr marL="0" indent="0">
              <a:buFont typeface="Arial"/>
              <a:buNone/>
            </a:pPr>
            <a:r>
              <a:rPr lang="en-US" dirty="0"/>
              <a:t>An engine receives heat at the rate of 2000 kJ/min and produces 10 kW of power at the output shaft. Determine the efficiency and the heat rejected per minute.</a:t>
            </a:r>
          </a:p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002060"/>
                </a:solidFill>
              </a:rPr>
              <a:t>Suggested Answers: </a:t>
            </a:r>
          </a:p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002060"/>
                </a:solidFill>
              </a:rPr>
              <a:t>[ 30%; 1400 kJ/min]</a:t>
            </a:r>
          </a:p>
        </p:txBody>
      </p:sp>
    </p:spTree>
    <p:extLst>
      <p:ext uri="{BB962C8B-B14F-4D97-AF65-F5344CB8AC3E}">
        <p14:creationId xmlns:p14="http://schemas.microsoft.com/office/powerpoint/2010/main" val="681571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933" y="1063556"/>
            <a:ext cx="6828058" cy="506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Reversed Heat Engine: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It is a closed system which operates in a cycle such that it extracts heat from a low-temperature reservoir and rejects heat to a high temperature reservoir while a net quantity of work is done on the system by the surroundings.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Refrigerators and Heat pumps are examples of reversed heat engines.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023125" y="1154826"/>
            <a:ext cx="2869170" cy="533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Temperature source T</a:t>
            </a:r>
            <a:r>
              <a:rPr lang="en-US" b="1" baseline="-25000" dirty="0"/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6235" y="5212496"/>
            <a:ext cx="2766060" cy="533400"/>
          </a:xfrm>
          <a:prstGeom prst="rect">
            <a:avLst/>
          </a:prstGeom>
          <a:gradFill flip="none" rotWithShape="1">
            <a:gsLst>
              <a:gs pos="0">
                <a:srgbClr val="6BD41C">
                  <a:tint val="66000"/>
                  <a:satMod val="160000"/>
                </a:srgbClr>
              </a:gs>
              <a:gs pos="50000">
                <a:srgbClr val="6BD41C">
                  <a:tint val="44500"/>
                  <a:satMod val="160000"/>
                </a:srgbClr>
              </a:gs>
              <a:gs pos="100000">
                <a:srgbClr val="6BD41C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Low Temperature sink T</a:t>
            </a:r>
            <a:r>
              <a:rPr lang="en-US" b="1" baseline="-25000" dirty="0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16" name="Right Arrow 15"/>
          <p:cNvSpPr/>
          <p:nvPr/>
        </p:nvSpPr>
        <p:spPr>
          <a:xfrm rot="5400000" flipV="1">
            <a:off x="7027313" y="2981016"/>
            <a:ext cx="3391815" cy="94155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b="1" baseline="-25000" dirty="0"/>
          </a:p>
        </p:txBody>
      </p:sp>
      <p:sp>
        <p:nvSpPr>
          <p:cNvPr id="17" name="Right Arrow 16"/>
          <p:cNvSpPr/>
          <p:nvPr/>
        </p:nvSpPr>
        <p:spPr>
          <a:xfrm rot="16200000">
            <a:off x="8524276" y="2953341"/>
            <a:ext cx="3391815" cy="941558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          Impossible</a:t>
            </a:r>
          </a:p>
        </p:txBody>
      </p:sp>
      <p:sp>
        <p:nvSpPr>
          <p:cNvPr id="18" name="Multiply 17"/>
          <p:cNvSpPr/>
          <p:nvPr/>
        </p:nvSpPr>
        <p:spPr>
          <a:xfrm>
            <a:off x="9337909" y="3345074"/>
            <a:ext cx="1899857" cy="1346019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16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933" y="1063556"/>
            <a:ext cx="5377506" cy="506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Reversed Heat Engine: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If the desired effect is the heat extracted from the low temperature sink (Q</a:t>
            </a:r>
            <a:r>
              <a:rPr lang="en-US" b="1" baseline="-25000" dirty="0"/>
              <a:t>L</a:t>
            </a:r>
            <a:r>
              <a:rPr lang="en-US" dirty="0"/>
              <a:t>), the system is referred to as a </a:t>
            </a:r>
            <a:r>
              <a:rPr lang="en-US" b="1" dirty="0">
                <a:solidFill>
                  <a:srgbClr val="C00000"/>
                </a:solidFill>
              </a:rPr>
              <a:t>refrigerator.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If the desired effect is the heat rejected to the high temperature source (Q</a:t>
            </a:r>
            <a:r>
              <a:rPr lang="en-US" baseline="-25000" dirty="0"/>
              <a:t>H</a:t>
            </a:r>
            <a:r>
              <a:rPr lang="en-US" dirty="0"/>
              <a:t>), the system is referred to as a </a:t>
            </a:r>
            <a:r>
              <a:rPr lang="en-US" b="1" dirty="0">
                <a:solidFill>
                  <a:srgbClr val="C00000"/>
                </a:solidFill>
              </a:rPr>
              <a:t>heat pump</a:t>
            </a:r>
            <a:r>
              <a:rPr lang="en-US" b="1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8946808" y="3016624"/>
            <a:ext cx="1620365" cy="8382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34495" y="1266031"/>
            <a:ext cx="2869170" cy="533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Temperature source T</a:t>
            </a:r>
            <a:r>
              <a:rPr lang="en-US" b="1" baseline="-25000" dirty="0"/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1197" y="5212215"/>
            <a:ext cx="2766060" cy="533400"/>
          </a:xfrm>
          <a:prstGeom prst="rect">
            <a:avLst/>
          </a:prstGeom>
          <a:gradFill flip="none" rotWithShape="1">
            <a:gsLst>
              <a:gs pos="0">
                <a:srgbClr val="6BD41C">
                  <a:tint val="66000"/>
                  <a:satMod val="160000"/>
                </a:srgbClr>
              </a:gs>
              <a:gs pos="50000">
                <a:srgbClr val="6BD41C">
                  <a:tint val="44500"/>
                  <a:satMod val="160000"/>
                </a:srgbClr>
              </a:gs>
              <a:gs pos="100000">
                <a:srgbClr val="6BD41C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Low Temperature sink T</a:t>
            </a:r>
            <a:r>
              <a:rPr lang="en-US" b="1" baseline="-25000" dirty="0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13" name="Oval 12"/>
          <p:cNvSpPr/>
          <p:nvPr/>
        </p:nvSpPr>
        <p:spPr>
          <a:xfrm>
            <a:off x="7660220" y="2891764"/>
            <a:ext cx="1217721" cy="11879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RHE</a:t>
            </a:r>
          </a:p>
        </p:txBody>
      </p:sp>
      <p:sp>
        <p:nvSpPr>
          <p:cNvPr id="19" name="Right Arrow 18"/>
          <p:cNvSpPr/>
          <p:nvPr/>
        </p:nvSpPr>
        <p:spPr>
          <a:xfrm flipH="1">
            <a:off x="8946808" y="3152531"/>
            <a:ext cx="1371600" cy="5726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lang="en-US" baseline="-25000" dirty="0"/>
              <a:t>in</a:t>
            </a:r>
          </a:p>
        </p:txBody>
      </p:sp>
      <p:sp>
        <p:nvSpPr>
          <p:cNvPr id="20" name="Right Arrow 19"/>
          <p:cNvSpPr/>
          <p:nvPr/>
        </p:nvSpPr>
        <p:spPr>
          <a:xfrm rot="16200000">
            <a:off x="7773781" y="1844921"/>
            <a:ext cx="990600" cy="94155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Q</a:t>
            </a:r>
            <a:r>
              <a:rPr lang="en-US" b="1" baseline="-25000" dirty="0"/>
              <a:t>H</a:t>
            </a:r>
          </a:p>
        </p:txBody>
      </p:sp>
      <p:sp>
        <p:nvSpPr>
          <p:cNvPr id="21" name="Right Arrow 20"/>
          <p:cNvSpPr/>
          <p:nvPr/>
        </p:nvSpPr>
        <p:spPr>
          <a:xfrm rot="16200000">
            <a:off x="7773780" y="4256885"/>
            <a:ext cx="990600" cy="77814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Q</a:t>
            </a:r>
            <a:r>
              <a:rPr lang="en-US" b="1" baseline="-25000" dirty="0"/>
              <a:t>L</a:t>
            </a:r>
            <a:r>
              <a:rPr lang="en-US" b="1" dirty="0"/>
              <a:t> </a:t>
            </a:r>
            <a:endParaRPr lang="en-US" b="1" baseline="-25000" dirty="0"/>
          </a:p>
        </p:txBody>
      </p:sp>
      <p:sp>
        <p:nvSpPr>
          <p:cNvPr id="22" name="Right Arrow 21"/>
          <p:cNvSpPr/>
          <p:nvPr/>
        </p:nvSpPr>
        <p:spPr>
          <a:xfrm rot="16200000">
            <a:off x="7773782" y="1844921"/>
            <a:ext cx="990600" cy="94155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Q</a:t>
            </a:r>
            <a:r>
              <a:rPr lang="en-US" b="1" baseline="-25000" dirty="0"/>
              <a:t>H</a:t>
            </a:r>
          </a:p>
        </p:txBody>
      </p:sp>
      <p:sp>
        <p:nvSpPr>
          <p:cNvPr id="23" name="Right Arrow 22"/>
          <p:cNvSpPr/>
          <p:nvPr/>
        </p:nvSpPr>
        <p:spPr>
          <a:xfrm rot="16200000">
            <a:off x="7773781" y="4256885"/>
            <a:ext cx="990600" cy="77814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Q</a:t>
            </a:r>
            <a:r>
              <a:rPr lang="en-US" b="1" baseline="-25000" dirty="0"/>
              <a:t>L</a:t>
            </a:r>
            <a:r>
              <a:rPr lang="en-US" b="1" dirty="0"/>
              <a:t> </a:t>
            </a:r>
            <a:endParaRPr lang="en-US" b="1" baseline="-25000" dirty="0"/>
          </a:p>
        </p:txBody>
      </p:sp>
      <p:sp>
        <p:nvSpPr>
          <p:cNvPr id="24" name="Right Arrow 23"/>
          <p:cNvSpPr/>
          <p:nvPr/>
        </p:nvSpPr>
        <p:spPr>
          <a:xfrm rot="16200000">
            <a:off x="7773783" y="1844921"/>
            <a:ext cx="990600" cy="94155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Q</a:t>
            </a:r>
            <a:r>
              <a:rPr lang="en-US" b="1" baseline="-25000" dirty="0"/>
              <a:t>H</a:t>
            </a:r>
          </a:p>
        </p:txBody>
      </p:sp>
      <p:sp>
        <p:nvSpPr>
          <p:cNvPr id="25" name="Right Arrow 24"/>
          <p:cNvSpPr/>
          <p:nvPr/>
        </p:nvSpPr>
        <p:spPr>
          <a:xfrm rot="16200000">
            <a:off x="7773782" y="4256885"/>
            <a:ext cx="990600" cy="77814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Q</a:t>
            </a:r>
            <a:r>
              <a:rPr lang="en-US" b="1" baseline="-25000" dirty="0"/>
              <a:t>L</a:t>
            </a:r>
            <a:r>
              <a:rPr lang="en-US" b="1" dirty="0"/>
              <a:t> </a:t>
            </a:r>
            <a:endParaRPr lang="en-US" b="1" baseline="-25000" dirty="0"/>
          </a:p>
        </p:txBody>
      </p:sp>
      <p:sp>
        <p:nvSpPr>
          <p:cNvPr id="27" name="TextBox 26"/>
          <p:cNvSpPr txBox="1"/>
          <p:nvPr/>
        </p:nvSpPr>
        <p:spPr>
          <a:xfrm>
            <a:off x="9123357" y="355029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4260669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933" y="1063556"/>
            <a:ext cx="5377506" cy="1545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Performance of Refrigerators and Heat pumps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Coefficient of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8" name="Picture 2" descr="F:\DL solar thermal notes\Vapour compression refrigeration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2439" y="1542326"/>
            <a:ext cx="5472545" cy="4171557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7450290" y="5777753"/>
            <a:ext cx="175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Compressor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8684" y="286024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Condenser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4690" y="306949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Evaporator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3090" y="1190200"/>
            <a:ext cx="272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Expansion device</a:t>
            </a:r>
          </a:p>
        </p:txBody>
      </p:sp>
      <p:graphicFrame>
        <p:nvGraphicFramePr>
          <p:cNvPr id="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549300"/>
              </p:ext>
            </p:extLst>
          </p:nvPr>
        </p:nvGraphicFramePr>
        <p:xfrm>
          <a:off x="514600" y="2754770"/>
          <a:ext cx="4237137" cy="862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120" imgH="444240" progId="Equation.DSMT4">
                  <p:embed/>
                </p:oleObj>
              </mc:Choice>
              <mc:Fallback>
                <p:oleObj name="Equation" r:id="rId3" imgW="2184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00" y="2754770"/>
                        <a:ext cx="4237137" cy="862489"/>
                      </a:xfrm>
                      <a:prstGeom prst="rect">
                        <a:avLst/>
                      </a:prstGeom>
                      <a:solidFill>
                        <a:srgbClr val="7030A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452989"/>
              </p:ext>
            </p:extLst>
          </p:nvPr>
        </p:nvGraphicFramePr>
        <p:xfrm>
          <a:off x="514600" y="3990182"/>
          <a:ext cx="4706937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520" imgH="444240" progId="Equation.DSMT4">
                  <p:embed/>
                </p:oleObj>
              </mc:Choice>
              <mc:Fallback>
                <p:oleObj name="Equation" r:id="rId5" imgW="2171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00" y="3990182"/>
                        <a:ext cx="4706937" cy="963613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176592"/>
              </p:ext>
            </p:extLst>
          </p:nvPr>
        </p:nvGraphicFramePr>
        <p:xfrm>
          <a:off x="287490" y="5326718"/>
          <a:ext cx="716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7" imgW="3797280" imgH="444240" progId="Equation.3">
                  <p:embed/>
                </p:oleObj>
              </mc:Choice>
              <mc:Fallback>
                <p:oleObj name="Уравнение" r:id="rId7" imgW="3797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0" y="5326718"/>
                        <a:ext cx="7162800" cy="838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879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4" y="1063557"/>
            <a:ext cx="7050957" cy="321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Clausius statement of the Second Law: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 dirty="0"/>
              <a:t>It is </a:t>
            </a:r>
            <a:r>
              <a:rPr lang="en-US" sz="3000" b="1" dirty="0">
                <a:solidFill>
                  <a:srgbClr val="002060"/>
                </a:solidFill>
              </a:rPr>
              <a:t>impossible</a:t>
            </a:r>
            <a:r>
              <a:rPr lang="en-US" sz="3000" dirty="0"/>
              <a:t> to construct a system that operates in a cycle and transfer heat from a cooler to a hotter body without work being done on the system by the surroundings.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305563" y="4383640"/>
            <a:ext cx="1905000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</a:t>
            </a:r>
            <a:r>
              <a:rPr kumimoji="0" lang="en-GB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</a:t>
            </a:r>
            <a:r>
              <a:rPr kumimoji="0" lang="en-GB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0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kW </a:t>
            </a:r>
            <a:r>
              <a:rPr kumimoji="0" lang="en-GB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65396" y="5285087"/>
                <a:ext cx="2925082" cy="461665"/>
              </a:xfrm>
              <a:prstGeom prst="rect">
                <a:avLst/>
              </a:prstGeom>
              <a:solidFill>
                <a:srgbClr val="7030A0"/>
              </a:solidFill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US" sz="2400" b="1" baseline="-250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en-US" sz="2400" b="1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⇒ COP </a:t>
                </a:r>
                <a14:m>
                  <m:oMath xmlns:m="http://schemas.openxmlformats.org/officeDocument/2006/math">
                    <m:r>
                      <a:rPr lang="en-US" sz="2400" b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b="1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96" y="5285087"/>
                <a:ext cx="2925082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7772593" y="1244395"/>
            <a:ext cx="2869170" cy="533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 at T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7848" y="5264810"/>
            <a:ext cx="2863915" cy="533400"/>
          </a:xfrm>
          <a:prstGeom prst="rect">
            <a:avLst/>
          </a:prstGeom>
          <a:gradFill flip="none" rotWithShape="1">
            <a:gsLst>
              <a:gs pos="0">
                <a:srgbClr val="6BD41C">
                  <a:tint val="66000"/>
                  <a:satMod val="160000"/>
                </a:srgbClr>
              </a:gs>
              <a:gs pos="50000">
                <a:srgbClr val="6BD41C">
                  <a:tint val="44500"/>
                  <a:satMod val="160000"/>
                </a:srgbClr>
              </a:gs>
              <a:gs pos="100000">
                <a:srgbClr val="6BD41C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Area to cool at T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</a:t>
            </a:r>
          </a:p>
        </p:txBody>
      </p:sp>
      <p:sp>
        <p:nvSpPr>
          <p:cNvPr id="16" name="Oval 15"/>
          <p:cNvSpPr/>
          <p:nvPr/>
        </p:nvSpPr>
        <p:spPr>
          <a:xfrm>
            <a:off x="8537431" y="2865681"/>
            <a:ext cx="1339493" cy="130673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Refrig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ight Arrow 16"/>
          <p:cNvSpPr/>
          <p:nvPr/>
        </p:nvSpPr>
        <p:spPr>
          <a:xfrm rot="16200000">
            <a:off x="8711879" y="1844305"/>
            <a:ext cx="990600" cy="941558"/>
          </a:xfrm>
          <a:prstGeom prst="right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</a:p>
        </p:txBody>
      </p:sp>
      <p:sp>
        <p:nvSpPr>
          <p:cNvPr id="18" name="Right Arrow 17"/>
          <p:cNvSpPr/>
          <p:nvPr/>
        </p:nvSpPr>
        <p:spPr>
          <a:xfrm rot="16200000">
            <a:off x="8711878" y="4312573"/>
            <a:ext cx="990600" cy="77814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14603" y="2181018"/>
            <a:ext cx="1219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25 kW</a:t>
            </a:r>
            <a:r>
              <a:rPr kumimoji="0" lang="en-GB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14603" y="4584547"/>
            <a:ext cx="13768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25 kW</a:t>
            </a:r>
            <a:r>
              <a:rPr kumimoji="0" lang="en-GB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8136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3" y="1101152"/>
            <a:ext cx="5535704" cy="48128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Reversed Heat Engine: Example 1</a:t>
            </a:r>
          </a:p>
          <a:p>
            <a:pPr marL="0" indent="0">
              <a:buNone/>
            </a:pPr>
            <a:r>
              <a:rPr lang="en-US" sz="2600" dirty="0"/>
              <a:t>The food compartment of a refrigerator is removing heat at a rate of 360 kJ/min. if the required power input to the refrigerator is 2 kW, determine the COP of the refrigerator and the rate of heat rejection to the room that houses the refrigerator. What would be the COP of a corresponding heat pump?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Suggested Answers: [ 3; 8 kW; 4]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45307" y="1098406"/>
            <a:ext cx="5750857" cy="4812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Reversed Heat Engine: Example 2</a:t>
            </a:r>
          </a:p>
          <a:p>
            <a:pPr marL="0" indent="0">
              <a:buNone/>
            </a:pPr>
            <a:r>
              <a:rPr lang="en-US" sz="2600" dirty="0"/>
              <a:t>A household refrigerator with a COP of 1.8 removes heat from the refrigerated space at a rate of 90 kJ/min.  Determine</a:t>
            </a:r>
          </a:p>
          <a:p>
            <a:pPr marL="0" indent="0">
              <a:buNone/>
            </a:pPr>
            <a:r>
              <a:rPr lang="en-US" sz="2600" dirty="0"/>
              <a:t>a)	the electric power consumed by the refrigerator in kW and</a:t>
            </a:r>
          </a:p>
          <a:p>
            <a:pPr marL="0" indent="0">
              <a:buNone/>
            </a:pPr>
            <a:r>
              <a:rPr lang="en-US" sz="2600" dirty="0"/>
              <a:t>b)	the rate of heat transfer to the kitchen air in kJ/min	</a:t>
            </a:r>
          </a:p>
          <a:p>
            <a:pPr marL="0" indent="0">
              <a:buFont typeface="Arial"/>
              <a:buNone/>
            </a:pPr>
            <a:r>
              <a:rPr lang="en-US" sz="2600" b="1" dirty="0">
                <a:solidFill>
                  <a:srgbClr val="002060"/>
                </a:solidFill>
              </a:rPr>
              <a:t>Suggested Answers: [ 0.83 kW; 140 kJ/min]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0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3" y="1101152"/>
            <a:ext cx="5535704" cy="48128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Reversed Heat Engine: Example 3</a:t>
            </a:r>
          </a:p>
          <a:p>
            <a:pPr marL="0" indent="0">
              <a:buNone/>
            </a:pPr>
            <a:r>
              <a:rPr lang="en-US" sz="2600" dirty="0"/>
              <a:t>An air conditioner removes heat steadily from a house at a rate of 750 kJ/min while drawing electric power at a rate of 5 kW. Determine</a:t>
            </a:r>
          </a:p>
          <a:p>
            <a:pPr marL="0" indent="0">
              <a:buNone/>
            </a:pPr>
            <a:r>
              <a:rPr lang="en-US" sz="2600" dirty="0"/>
              <a:t>a) the COP of this air conditioner and</a:t>
            </a:r>
          </a:p>
          <a:p>
            <a:pPr marL="0" indent="0">
              <a:buNone/>
            </a:pPr>
            <a:r>
              <a:rPr lang="en-US" sz="2600" dirty="0"/>
              <a:t>b) the rate of heat transfer to the outside air in kJ/min.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Suggested Answers: [ 2.5; 1050 kJ/min]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67500" y="1098406"/>
            <a:ext cx="5540187" cy="4812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Reversed Heat Engine: Example 4</a:t>
            </a:r>
          </a:p>
          <a:p>
            <a:pPr marL="0" indent="0">
              <a:buNone/>
            </a:pPr>
            <a:r>
              <a:rPr lang="en-US" sz="2600" dirty="0"/>
              <a:t>Determine the COP of a heat pump that supplies energy to a house at a rate of 8000 kJ/h for each kW of electric power it draws.  Also determine the rate of energy absorption from the outside air in kJ/h.	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Suggested Answers: [ 2.22; 4400 kJ/h]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968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0946" y="1284933"/>
            <a:ext cx="3548866" cy="2289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Note: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Every system operating in a cycle must satisfy both the first law and second law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889472" y="1195592"/>
            <a:ext cx="8918215" cy="4953000"/>
            <a:chOff x="34057" y="762000"/>
            <a:chExt cx="8918215" cy="4953000"/>
          </a:xfrm>
        </p:grpSpPr>
        <p:sp>
          <p:nvSpPr>
            <p:cNvPr id="6" name="Rectangle 5"/>
            <p:cNvSpPr/>
            <p:nvPr/>
          </p:nvSpPr>
          <p:spPr>
            <a:xfrm>
              <a:off x="1378537" y="3409057"/>
              <a:ext cx="492934" cy="6017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2037" y="2835549"/>
              <a:ext cx="448122" cy="4973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969145" y="2055695"/>
              <a:ext cx="1660255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6629400" y="2015620"/>
              <a:ext cx="0" cy="881653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3309850" y="1828001"/>
              <a:ext cx="1653420" cy="455388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Boiler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09850" y="4496813"/>
              <a:ext cx="1653420" cy="45538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Condenser</a:t>
              </a:r>
            </a:p>
          </p:txBody>
        </p:sp>
        <p:sp>
          <p:nvSpPr>
            <p:cNvPr id="12" name="Trapezoid 11"/>
            <p:cNvSpPr/>
            <p:nvPr/>
          </p:nvSpPr>
          <p:spPr>
            <a:xfrm rot="16200000">
              <a:off x="6317226" y="2716603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5013852" y="4707280"/>
              <a:ext cx="2392896" cy="0"/>
            </a:xfrm>
            <a:prstGeom prst="line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391400" y="3922098"/>
              <a:ext cx="0" cy="801503"/>
            </a:xfrm>
            <a:prstGeom prst="straightConnector1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Connector 14"/>
            <p:cNvSpPr/>
            <p:nvPr/>
          </p:nvSpPr>
          <p:spPr>
            <a:xfrm>
              <a:off x="1295400" y="3063587"/>
              <a:ext cx="1119331" cy="763244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Pump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1804149" y="2055695"/>
              <a:ext cx="1509323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649595" y="4772801"/>
              <a:ext cx="1660255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1846008" y="2065527"/>
              <a:ext cx="0" cy="728639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1644679" y="3990066"/>
              <a:ext cx="0" cy="801503"/>
            </a:xfrm>
            <a:prstGeom prst="straightConnector1">
              <a:avLst/>
            </a:prstGeom>
            <a:ln w="76200"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apezoid 19"/>
            <p:cNvSpPr/>
            <p:nvPr/>
          </p:nvSpPr>
          <p:spPr>
            <a:xfrm rot="16200000">
              <a:off x="6317226" y="2729855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3501283" y="762000"/>
              <a:ext cx="1270555" cy="1002704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Qin</a:t>
              </a: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3855372" y="5084681"/>
              <a:ext cx="691526" cy="622600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Qout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7611152" y="2904671"/>
              <a:ext cx="1341120" cy="76826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Wout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457200" y="3228377"/>
              <a:ext cx="757028" cy="43366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Win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576916" y="851236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400 MW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7305817" y="2509875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405 MW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4267200" y="5039684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0 MW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34057" y="2743200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5 MW</a:t>
              </a:r>
            </a:p>
          </p:txBody>
        </p:sp>
      </p:grpSp>
      <p:sp>
        <p:nvSpPr>
          <p:cNvPr id="29" name="Oval 28"/>
          <p:cNvSpPr/>
          <p:nvPr/>
        </p:nvSpPr>
        <p:spPr>
          <a:xfrm>
            <a:off x="5214186" y="3364699"/>
            <a:ext cx="1928301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Satisfies First Law</a:t>
            </a:r>
          </a:p>
        </p:txBody>
      </p:sp>
      <p:sp>
        <p:nvSpPr>
          <p:cNvPr id="30" name="Oval 29"/>
          <p:cNvSpPr/>
          <p:nvPr/>
        </p:nvSpPr>
        <p:spPr>
          <a:xfrm>
            <a:off x="6687973" y="3379052"/>
            <a:ext cx="227317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Violates Second Law</a:t>
            </a:r>
          </a:p>
        </p:txBody>
      </p:sp>
    </p:spTree>
    <p:extLst>
      <p:ext uri="{BB962C8B-B14F-4D97-AF65-F5344CB8AC3E}">
        <p14:creationId xmlns:p14="http://schemas.microsoft.com/office/powerpoint/2010/main" val="1527954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0946" y="1284933"/>
            <a:ext cx="3548866" cy="2289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Note: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Every system operating in a cycle must satisfy both the first law and second law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2812652" y="1084957"/>
            <a:ext cx="8918215" cy="4953000"/>
            <a:chOff x="34057" y="762000"/>
            <a:chExt cx="8918215" cy="4953000"/>
          </a:xfrm>
        </p:grpSpPr>
        <p:sp>
          <p:nvSpPr>
            <p:cNvPr id="32" name="Rectangle 31"/>
            <p:cNvSpPr/>
            <p:nvPr/>
          </p:nvSpPr>
          <p:spPr>
            <a:xfrm>
              <a:off x="1378537" y="3409057"/>
              <a:ext cx="492934" cy="6017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662037" y="2835549"/>
              <a:ext cx="448122" cy="4973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4969145" y="2055695"/>
              <a:ext cx="1660255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6629400" y="2015620"/>
              <a:ext cx="0" cy="881653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3309850" y="1828001"/>
              <a:ext cx="1653420" cy="455388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Boiler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09850" y="4496813"/>
              <a:ext cx="1653420" cy="45538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Condenser</a:t>
              </a:r>
            </a:p>
          </p:txBody>
        </p:sp>
        <p:sp>
          <p:nvSpPr>
            <p:cNvPr id="38" name="Trapezoid 37"/>
            <p:cNvSpPr/>
            <p:nvPr/>
          </p:nvSpPr>
          <p:spPr>
            <a:xfrm rot="16200000">
              <a:off x="6317226" y="2716603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5013852" y="4707280"/>
              <a:ext cx="2392896" cy="0"/>
            </a:xfrm>
            <a:prstGeom prst="line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7391400" y="3922098"/>
              <a:ext cx="0" cy="801503"/>
            </a:xfrm>
            <a:prstGeom prst="straightConnector1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lowchart: Connector 40"/>
            <p:cNvSpPr/>
            <p:nvPr/>
          </p:nvSpPr>
          <p:spPr>
            <a:xfrm>
              <a:off x="1295400" y="3063587"/>
              <a:ext cx="1119331" cy="763244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Pump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1804149" y="2055695"/>
              <a:ext cx="1509323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649595" y="4772801"/>
              <a:ext cx="1660255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846008" y="2065527"/>
              <a:ext cx="0" cy="728639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1644679" y="3990066"/>
              <a:ext cx="0" cy="801503"/>
            </a:xfrm>
            <a:prstGeom prst="straightConnector1">
              <a:avLst/>
            </a:prstGeom>
            <a:ln w="76200"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rapezoid 45"/>
            <p:cNvSpPr/>
            <p:nvPr/>
          </p:nvSpPr>
          <p:spPr>
            <a:xfrm rot="16200000">
              <a:off x="6317226" y="2729855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sp>
          <p:nvSpPr>
            <p:cNvPr id="47" name="Down Arrow 46"/>
            <p:cNvSpPr/>
            <p:nvPr/>
          </p:nvSpPr>
          <p:spPr>
            <a:xfrm>
              <a:off x="3501283" y="762000"/>
              <a:ext cx="1270555" cy="1002704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Qin</a:t>
              </a:r>
            </a:p>
          </p:txBody>
        </p:sp>
        <p:sp>
          <p:nvSpPr>
            <p:cNvPr id="48" name="Down Arrow 47"/>
            <p:cNvSpPr/>
            <p:nvPr/>
          </p:nvSpPr>
          <p:spPr>
            <a:xfrm>
              <a:off x="3855372" y="5084681"/>
              <a:ext cx="691526" cy="622600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fr-FR" b="1" dirty="0" err="1">
                  <a:solidFill>
                    <a:schemeClr val="tx1"/>
                  </a:solidFill>
                </a:rPr>
                <a:t>Qout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ight Arrow 48"/>
            <p:cNvSpPr/>
            <p:nvPr/>
          </p:nvSpPr>
          <p:spPr>
            <a:xfrm>
              <a:off x="7611152" y="2904671"/>
              <a:ext cx="1341120" cy="76826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Wout</a:t>
              </a: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457200" y="3228377"/>
              <a:ext cx="757028" cy="43366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Win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4576916" y="851236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400 MW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7305817" y="2509875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165 MW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4267200" y="5039684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200 MW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34057" y="2743200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5 MW</a:t>
              </a:r>
            </a:p>
          </p:txBody>
        </p:sp>
      </p:grpSp>
      <p:sp>
        <p:nvSpPr>
          <p:cNvPr id="55" name="Oval 54"/>
          <p:cNvSpPr/>
          <p:nvPr/>
        </p:nvSpPr>
        <p:spPr>
          <a:xfrm>
            <a:off x="5079236" y="3474472"/>
            <a:ext cx="2401284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Satisfies Second Law</a:t>
            </a:r>
          </a:p>
        </p:txBody>
      </p:sp>
      <p:sp>
        <p:nvSpPr>
          <p:cNvPr id="30" name="Oval 29"/>
          <p:cNvSpPr/>
          <p:nvPr/>
        </p:nvSpPr>
        <p:spPr>
          <a:xfrm>
            <a:off x="6915155" y="3379052"/>
            <a:ext cx="2273173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Violates First Law</a:t>
            </a:r>
          </a:p>
        </p:txBody>
      </p:sp>
    </p:spTree>
    <p:extLst>
      <p:ext uri="{BB962C8B-B14F-4D97-AF65-F5344CB8AC3E}">
        <p14:creationId xmlns:p14="http://schemas.microsoft.com/office/powerpoint/2010/main" val="3581402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0946" y="1284933"/>
            <a:ext cx="3548866" cy="2289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Note: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Every system operating in a cycle must satisfy both the first law and second law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2962991" y="1265926"/>
            <a:ext cx="8918215" cy="4953000"/>
            <a:chOff x="34057" y="762000"/>
            <a:chExt cx="8918215" cy="4953000"/>
          </a:xfrm>
        </p:grpSpPr>
        <p:sp>
          <p:nvSpPr>
            <p:cNvPr id="59" name="Rectangle 58"/>
            <p:cNvSpPr/>
            <p:nvPr/>
          </p:nvSpPr>
          <p:spPr>
            <a:xfrm>
              <a:off x="1378537" y="3409057"/>
              <a:ext cx="492934" cy="6017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662037" y="2835549"/>
              <a:ext cx="448122" cy="49730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4969145" y="2055695"/>
              <a:ext cx="1660255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6629400" y="2015620"/>
              <a:ext cx="0" cy="881653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3309850" y="1828001"/>
              <a:ext cx="1653420" cy="455388"/>
            </a:xfrm>
            <a:prstGeom prst="rect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Boiler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309850" y="4496813"/>
              <a:ext cx="1653420" cy="45538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Condenser</a:t>
              </a:r>
            </a:p>
          </p:txBody>
        </p:sp>
        <p:sp>
          <p:nvSpPr>
            <p:cNvPr id="65" name="Trapezoid 64"/>
            <p:cNvSpPr/>
            <p:nvPr/>
          </p:nvSpPr>
          <p:spPr>
            <a:xfrm rot="16200000">
              <a:off x="6317226" y="2716603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cxnSp>
          <p:nvCxnSpPr>
            <p:cNvPr id="66" name="Straight Connector 65"/>
            <p:cNvCxnSpPr/>
            <p:nvPr/>
          </p:nvCxnSpPr>
          <p:spPr>
            <a:xfrm>
              <a:off x="5013852" y="4707280"/>
              <a:ext cx="2392896" cy="0"/>
            </a:xfrm>
            <a:prstGeom prst="line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7391400" y="3922098"/>
              <a:ext cx="0" cy="801503"/>
            </a:xfrm>
            <a:prstGeom prst="straightConnector1">
              <a:avLst/>
            </a:prstGeom>
            <a:ln w="76200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Flowchart: Connector 67"/>
            <p:cNvSpPr/>
            <p:nvPr/>
          </p:nvSpPr>
          <p:spPr>
            <a:xfrm>
              <a:off x="1295400" y="3063587"/>
              <a:ext cx="1119331" cy="763244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Pump</a:t>
              </a:r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1804149" y="2055695"/>
              <a:ext cx="1509323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49595" y="4772801"/>
              <a:ext cx="1660255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1846008" y="2065527"/>
              <a:ext cx="0" cy="728639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1644679" y="3990066"/>
              <a:ext cx="0" cy="801503"/>
            </a:xfrm>
            <a:prstGeom prst="straightConnector1">
              <a:avLst/>
            </a:prstGeom>
            <a:ln w="76200"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rapezoid 72"/>
            <p:cNvSpPr/>
            <p:nvPr/>
          </p:nvSpPr>
          <p:spPr>
            <a:xfrm rot="16200000">
              <a:off x="6317226" y="2729855"/>
              <a:ext cx="1248992" cy="1234244"/>
            </a:xfrm>
            <a:prstGeom prst="trapezoid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b="1" dirty="0"/>
                <a:t>Turbine</a:t>
              </a:r>
            </a:p>
          </p:txBody>
        </p:sp>
        <p:sp>
          <p:nvSpPr>
            <p:cNvPr id="74" name="Down Arrow 73"/>
            <p:cNvSpPr/>
            <p:nvPr/>
          </p:nvSpPr>
          <p:spPr>
            <a:xfrm>
              <a:off x="3501283" y="762000"/>
              <a:ext cx="1270555" cy="1002704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Qin</a:t>
              </a:r>
            </a:p>
          </p:txBody>
        </p:sp>
        <p:sp>
          <p:nvSpPr>
            <p:cNvPr id="75" name="Down Arrow 74"/>
            <p:cNvSpPr/>
            <p:nvPr/>
          </p:nvSpPr>
          <p:spPr>
            <a:xfrm>
              <a:off x="3855372" y="5084681"/>
              <a:ext cx="691526" cy="622600"/>
            </a:xfrm>
            <a:prstGeom prst="downArrow">
              <a:avLst>
                <a:gd name="adj1" fmla="val 100000"/>
                <a:gd name="adj2" fmla="val 11420"/>
              </a:avLst>
            </a:prstGeom>
            <a:solidFill>
              <a:schemeClr val="tx2">
                <a:lumMod val="20000"/>
                <a:lumOff val="80000"/>
              </a:schemeClr>
            </a:solidFill>
            <a:ln w="76200">
              <a:solidFill>
                <a:schemeClr val="tx2">
                  <a:lumMod val="20000"/>
                  <a:lumOff val="8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Qout</a:t>
              </a:r>
            </a:p>
          </p:txBody>
        </p:sp>
        <p:sp>
          <p:nvSpPr>
            <p:cNvPr id="76" name="Right Arrow 75"/>
            <p:cNvSpPr/>
            <p:nvPr/>
          </p:nvSpPr>
          <p:spPr>
            <a:xfrm>
              <a:off x="7611152" y="2904671"/>
              <a:ext cx="1341120" cy="768261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Wout</a:t>
              </a:r>
            </a:p>
          </p:txBody>
        </p:sp>
        <p:sp>
          <p:nvSpPr>
            <p:cNvPr id="77" name="Right Arrow 76"/>
            <p:cNvSpPr/>
            <p:nvPr/>
          </p:nvSpPr>
          <p:spPr>
            <a:xfrm>
              <a:off x="457200" y="3228377"/>
              <a:ext cx="757028" cy="43366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Win</a:t>
              </a:r>
            </a:p>
          </p:txBody>
        </p:sp>
        <p:sp>
          <p:nvSpPr>
            <p:cNvPr id="78" name="Oval 77"/>
            <p:cNvSpPr/>
            <p:nvPr/>
          </p:nvSpPr>
          <p:spPr>
            <a:xfrm>
              <a:off x="4576916" y="851236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400 MW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7305817" y="2509875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165 MW</a:t>
              </a:r>
            </a:p>
          </p:txBody>
        </p:sp>
        <p:sp>
          <p:nvSpPr>
            <p:cNvPr id="80" name="Oval 79"/>
            <p:cNvSpPr/>
            <p:nvPr/>
          </p:nvSpPr>
          <p:spPr>
            <a:xfrm>
              <a:off x="4267200" y="5039684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240 MW</a:t>
              </a:r>
            </a:p>
          </p:txBody>
        </p:sp>
        <p:sp>
          <p:nvSpPr>
            <p:cNvPr id="81" name="Oval 80"/>
            <p:cNvSpPr/>
            <p:nvPr/>
          </p:nvSpPr>
          <p:spPr>
            <a:xfrm>
              <a:off x="34057" y="2743200"/>
              <a:ext cx="1489943" cy="675316"/>
            </a:xfrm>
            <a:prstGeom prst="ellips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5 MW</a:t>
              </a:r>
            </a:p>
          </p:txBody>
        </p:sp>
      </p:grpSp>
      <p:sp>
        <p:nvSpPr>
          <p:cNvPr id="82" name="Oval 81"/>
          <p:cNvSpPr/>
          <p:nvPr/>
        </p:nvSpPr>
        <p:spPr>
          <a:xfrm>
            <a:off x="5269823" y="4192943"/>
            <a:ext cx="2384431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Satisfies Second Law</a:t>
            </a:r>
          </a:p>
        </p:txBody>
      </p:sp>
      <p:sp>
        <p:nvSpPr>
          <p:cNvPr id="83" name="Oval 82"/>
          <p:cNvSpPr/>
          <p:nvPr/>
        </p:nvSpPr>
        <p:spPr>
          <a:xfrm>
            <a:off x="5395973" y="3152550"/>
            <a:ext cx="1928301" cy="67531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Satisfies First Law</a:t>
            </a:r>
          </a:p>
        </p:txBody>
      </p:sp>
    </p:spTree>
    <p:extLst>
      <p:ext uri="{BB962C8B-B14F-4D97-AF65-F5344CB8AC3E}">
        <p14:creationId xmlns:p14="http://schemas.microsoft.com/office/powerpoint/2010/main" val="3965166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62318"/>
            <a:ext cx="5145739" cy="51098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Reversibility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A process undergoes a change in a particular direction.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If the process can be reversed in such a manner that the path can be exactly traced to restore the system and its surroundings to their original state, then the process is said to be </a:t>
            </a:r>
            <a:r>
              <a:rPr lang="en-US" sz="2300" b="1" dirty="0">
                <a:solidFill>
                  <a:srgbClr val="C00000"/>
                </a:solidFill>
              </a:rPr>
              <a:t>reversible</a:t>
            </a:r>
            <a:r>
              <a:rPr lang="en-US" sz="23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2060"/>
                </a:solidFill>
              </a:rPr>
              <a:t>A reversible process is an idealization of actual processes.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They are easy to analyze and serve as a yardstick which actual processes can be compared to.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824331" y="1062318"/>
            <a:ext cx="5983356" cy="51098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Conditions for reversibility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process may proceed in either direction.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That the system is always in a state of equilibrium.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Heat energy transfer process is isothermal.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That friction is absent.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energy transformations in both directions must be equal.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That the system and its surroundings can be restored to its original condition by retracing in the reverse direction every point it took in the original direction.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586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895" y="1062318"/>
            <a:ext cx="5145739" cy="51098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Irreversibility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If the process cannot be reversed in such a manner that the path can be exactly traced to restore the system and its surroundings to their original state, then the process is said to be </a:t>
            </a:r>
            <a:r>
              <a:rPr lang="en-US" sz="2600" b="1" dirty="0">
                <a:solidFill>
                  <a:srgbClr val="C00000"/>
                </a:solidFill>
              </a:rPr>
              <a:t>irreversible</a:t>
            </a:r>
            <a:r>
              <a:rPr lang="en-US" sz="26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rgbClr val="002060"/>
                </a:solidFill>
              </a:rPr>
              <a:t>Actual processes encounter some irreversibilities.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953150" y="1048871"/>
            <a:ext cx="5983356" cy="51098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Conditions for irreversibility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The presence of friction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Heat energy transfer from a higher to a lower temperature.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Unrestricted expansion (or free expansion) from a higher to a lower pressure.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Paddle or stirring wheel 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Lack of pressure equilibrium throughout the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Presence of electrical resistance.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12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509434"/>
            <a:ext cx="3020387" cy="43998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676" y="1052235"/>
            <a:ext cx="4756897" cy="473225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942492" y="1052235"/>
            <a:ext cx="3302324" cy="4571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Heat Engine Cycle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300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786583" y="5680677"/>
            <a:ext cx="3302324" cy="457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Steam power plant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300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54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617" y="1062319"/>
            <a:ext cx="11412070" cy="33240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Carnot Principle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/>
              <a:t>Sadi</a:t>
            </a:r>
            <a:r>
              <a:rPr lang="en-US" sz="2400" dirty="0"/>
              <a:t> Carnot proposed a heat engine cycle composed of reversible processes which gave maximum possible net work output when operating between two fixed temperature limits, T</a:t>
            </a:r>
            <a:r>
              <a:rPr lang="en-US" sz="2400" baseline="-25000" dirty="0"/>
              <a:t>C</a:t>
            </a:r>
            <a:r>
              <a:rPr lang="en-US" sz="2400" dirty="0"/>
              <a:t> and T</a:t>
            </a:r>
            <a:r>
              <a:rPr lang="en-US" sz="2400" baseline="-25000" dirty="0"/>
              <a:t>H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By definition, the only significant property of a heat reservoir is its temperature, not its substance.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Between the same two reservoirs, the efficiency of a reversible heat engine is always greater than the efficiency of an irreversible one.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300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86708" y="4532077"/>
          <a:ext cx="9207227" cy="127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500" imgH="469900" progId="Equation.DSMT4">
                  <p:embed/>
                </p:oleObj>
              </mc:Choice>
              <mc:Fallback>
                <p:oleObj name="Equation" r:id="rId2" imgW="3365500" imgH="46990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08" y="4532077"/>
                        <a:ext cx="9207227" cy="12780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9445487" y="4641064"/>
          <a:ext cx="2362200" cy="133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500" imgH="469900" progId="Equation.DSMT4">
                  <p:embed/>
                </p:oleObj>
              </mc:Choice>
              <mc:Fallback>
                <p:oleObj name="Equation" r:id="rId4" imgW="825500" imgH="46990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487" y="4641064"/>
                        <a:ext cx="2362200" cy="13304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8030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616" y="1062319"/>
            <a:ext cx="11599159" cy="13892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Carnot Efficiency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Carnot efficiency is the theoretical maximum efficiency that only a reversible heat engine (HE) operating between the temperature limits, T</a:t>
            </a:r>
            <a:r>
              <a:rPr lang="en-US" sz="2400" baseline="-25000" dirty="0"/>
              <a:t>H</a:t>
            </a:r>
            <a:r>
              <a:rPr lang="en-US" sz="2400" dirty="0"/>
              <a:t> and T</a:t>
            </a:r>
            <a:r>
              <a:rPr lang="en-US" sz="2400" baseline="-25000" dirty="0"/>
              <a:t>C</a:t>
            </a:r>
            <a:r>
              <a:rPr lang="en-US" sz="2400" dirty="0"/>
              <a:t> can achieve.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609601" y="2459630"/>
          <a:ext cx="2456000" cy="1383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469900" progId="Equation.DSMT4">
                  <p:embed/>
                </p:oleObj>
              </mc:Choice>
              <mc:Fallback>
                <p:oleObj name="Equation" r:id="rId2" imgW="825500" imgH="4699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1" y="2459630"/>
                        <a:ext cx="2456000" cy="1383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3338840" y="2546889"/>
          <a:ext cx="8087699" cy="116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200" imgH="469900" progId="Equation.DSMT4">
                  <p:embed/>
                </p:oleObj>
              </mc:Choice>
              <mc:Fallback>
                <p:oleObj name="Equation" r:id="rId4" imgW="3251200" imgH="46990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840" y="2546889"/>
                        <a:ext cx="8087699" cy="1162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245659" y="3811508"/>
          <a:ext cx="5407451" cy="118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6" imgW="1968480" imgH="431640" progId="Equation.3">
                  <p:embed/>
                </p:oleObj>
              </mc:Choice>
              <mc:Fallback>
                <p:oleObj name="Уравнение" r:id="rId6" imgW="1968480" imgH="4316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659" y="3811508"/>
                        <a:ext cx="5407451" cy="1186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601" y="5100304"/>
            <a:ext cx="8946931" cy="830997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</a:rPr>
              <a:t>Example: What is the Carnot efficiency of  a Heat engine operating between a heat source of 1000 K and a heat sink of 300 K? </a:t>
            </a:r>
          </a:p>
        </p:txBody>
      </p:sp>
    </p:spTree>
    <p:extLst>
      <p:ext uri="{BB962C8B-B14F-4D97-AF65-F5344CB8AC3E}">
        <p14:creationId xmlns:p14="http://schemas.microsoft.com/office/powerpoint/2010/main" val="1829259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079857" y="1119516"/>
            <a:ext cx="7191756" cy="630841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SOURCE @ T</a:t>
            </a:r>
            <a:r>
              <a:rPr lang="en-US" sz="2400" b="1" baseline="-25000" dirty="0"/>
              <a:t>H </a:t>
            </a:r>
            <a:r>
              <a:rPr lang="en-US" sz="2400" b="1" dirty="0"/>
              <a:t>= 1000 K</a:t>
            </a:r>
            <a:r>
              <a:rPr lang="en-US" sz="2400" b="1" baseline="-25000" dirty="0"/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9857" y="5548133"/>
            <a:ext cx="7191756" cy="667719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SINK @ T</a:t>
            </a:r>
            <a:r>
              <a:rPr lang="en-US" sz="2400" b="1" baseline="-25000" dirty="0"/>
              <a:t>C </a:t>
            </a:r>
            <a:r>
              <a:rPr lang="en-US" sz="2400" b="1" dirty="0"/>
              <a:t>= 300 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148322" y="1790030"/>
            <a:ext cx="2399135" cy="3638158"/>
            <a:chOff x="6585245" y="1508714"/>
            <a:chExt cx="2399135" cy="3638158"/>
          </a:xfrm>
        </p:grpSpPr>
        <p:cxnSp>
          <p:nvCxnSpPr>
            <p:cNvPr id="15" name="Straight Connector 14"/>
            <p:cNvCxnSpPr/>
            <p:nvPr/>
          </p:nvCxnSpPr>
          <p:spPr>
            <a:xfrm flipV="1">
              <a:off x="7467600" y="1508714"/>
              <a:ext cx="0" cy="91241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7467600" y="4234462"/>
              <a:ext cx="2193" cy="912410"/>
              <a:chOff x="7467600" y="4275935"/>
              <a:chExt cx="2193" cy="829464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V="1">
                <a:off x="7469793" y="4275935"/>
                <a:ext cx="0" cy="829464"/>
              </a:xfrm>
              <a:prstGeom prst="line">
                <a:avLst/>
              </a:prstGeom>
              <a:ln w="762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7467600" y="4577471"/>
                <a:ext cx="0" cy="223129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Right Arrow 16"/>
            <p:cNvSpPr/>
            <p:nvPr/>
          </p:nvSpPr>
          <p:spPr>
            <a:xfrm>
              <a:off x="8138011" y="2977687"/>
              <a:ext cx="846369" cy="531119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7475917" y="1840403"/>
              <a:ext cx="0" cy="245442"/>
            </a:xfrm>
            <a:prstGeom prst="straightConnector1">
              <a:avLst/>
            </a:prstGeom>
            <a:ln w="762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/>
                <p:cNvSpPr/>
                <p:nvPr/>
              </p:nvSpPr>
              <p:spPr>
                <a:xfrm>
                  <a:off x="6585245" y="2438400"/>
                  <a:ext cx="1796755" cy="1778791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/>
                    <a:t>ImpossibleHE</a:t>
                  </a:r>
                  <a:endParaRPr lang="en-US" b="1" dirty="0"/>
                </a:p>
                <a:p>
                  <a14:m>
                    <m:oMath xmlns:m="http://schemas.openxmlformats.org/officeDocument/2006/math">
                      <m:r>
                        <a:rPr lang="en-US" b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𝜼</m:t>
                      </m:r>
                    </m:oMath>
                  </a14:m>
                  <a:r>
                    <a:rPr lang="en-US" b="1" baseline="-25000" dirty="0">
                      <a:solidFill>
                        <a:srgbClr val="FFFF00"/>
                      </a:solidFill>
                    </a:rPr>
                    <a:t>th </a:t>
                  </a:r>
                  <a:r>
                    <a:rPr lang="en-US" b="1" dirty="0">
                      <a:solidFill>
                        <a:srgbClr val="FFFF00"/>
                      </a:solidFill>
                    </a:rPr>
                    <a:t>&gt;</a:t>
                  </a:r>
                  <a:r>
                    <a:rPr lang="en-US" b="1" baseline="-25000" dirty="0">
                      <a:solidFill>
                        <a:srgbClr val="FFFF00"/>
                      </a:solidFill>
                    </a:rPr>
                    <a:t> </a:t>
                  </a:r>
                  <a:r>
                    <a:rPr lang="en-US" b="1" dirty="0">
                      <a:solidFill>
                        <a:srgbClr val="FFFF00"/>
                      </a:solidFill>
                    </a:rPr>
                    <a:t>70%</a:t>
                  </a:r>
                  <a:endParaRPr lang="en-US" b="1" dirty="0"/>
                </a:p>
                <a:p>
                  <a:pPr algn="ctr"/>
                  <a:endParaRPr lang="en-US" b="1" dirty="0"/>
                </a:p>
              </p:txBody>
            </p:sp>
          </mc:Choice>
          <mc:Fallback xmlns="">
            <p:sp>
              <p:nvSpPr>
                <p:cNvPr id="44" name="Oval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5245" y="2438400"/>
                  <a:ext cx="1796755" cy="177879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2079857" y="1793228"/>
            <a:ext cx="2399135" cy="3638158"/>
            <a:chOff x="6585245" y="1508714"/>
            <a:chExt cx="2399135" cy="3638158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7467600" y="1508714"/>
              <a:ext cx="0" cy="91241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7467600" y="4234462"/>
              <a:ext cx="2193" cy="912410"/>
              <a:chOff x="7467600" y="4275935"/>
              <a:chExt cx="2193" cy="829464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 flipV="1">
                <a:off x="7469793" y="4275935"/>
                <a:ext cx="0" cy="829464"/>
              </a:xfrm>
              <a:prstGeom prst="line">
                <a:avLst/>
              </a:prstGeom>
              <a:ln w="762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7467600" y="4577471"/>
                <a:ext cx="0" cy="223129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ight Arrow 24"/>
            <p:cNvSpPr/>
            <p:nvPr/>
          </p:nvSpPr>
          <p:spPr>
            <a:xfrm>
              <a:off x="8138011" y="2977687"/>
              <a:ext cx="846369" cy="531119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7475917" y="1840403"/>
              <a:ext cx="0" cy="245442"/>
            </a:xfrm>
            <a:prstGeom prst="straightConnector1">
              <a:avLst/>
            </a:prstGeom>
            <a:ln w="762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/>
                <p:cNvSpPr/>
                <p:nvPr/>
              </p:nvSpPr>
              <p:spPr>
                <a:xfrm>
                  <a:off x="6585245" y="2438400"/>
                  <a:ext cx="1796755" cy="1778791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/>
                    <a:t>ReversibleHE</a:t>
                  </a:r>
                  <a:endParaRPr lang="en-US" b="1" dirty="0"/>
                </a:p>
                <a:p>
                  <a14:m>
                    <m:oMath xmlns:m="http://schemas.openxmlformats.org/officeDocument/2006/math">
                      <m:r>
                        <a:rPr lang="en-US" b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𝜼</m:t>
                      </m:r>
                    </m:oMath>
                  </a14:m>
                  <a:r>
                    <a:rPr lang="en-US" b="1" baseline="-25000" dirty="0" err="1">
                      <a:solidFill>
                        <a:srgbClr val="FFFF00"/>
                      </a:solidFill>
                    </a:rPr>
                    <a:t>th</a:t>
                  </a:r>
                  <a:r>
                    <a:rPr lang="en-US" b="1" baseline="-25000" dirty="0">
                      <a:solidFill>
                        <a:srgbClr val="FFFF00"/>
                      </a:solidFill>
                    </a:rPr>
                    <a:t> </a:t>
                  </a:r>
                  <a:r>
                    <a:rPr lang="en-US" b="1" dirty="0">
                      <a:solidFill>
                        <a:srgbClr val="FFFF00"/>
                      </a:solidFill>
                    </a:rPr>
                    <a:t>= 70%</a:t>
                  </a:r>
                  <a:endParaRPr lang="en-US" b="1" dirty="0"/>
                </a:p>
                <a:p>
                  <a:pPr algn="ctr"/>
                  <a:endParaRPr lang="en-US" b="1" dirty="0"/>
                </a:p>
              </p:txBody>
            </p:sp>
          </mc:Choice>
          <mc:Fallback xmlns="">
            <p:sp>
              <p:nvSpPr>
                <p:cNvPr id="63" name="Oval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5245" y="2438400"/>
                  <a:ext cx="1796755" cy="177879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4594457" y="1805316"/>
            <a:ext cx="2399135" cy="3638158"/>
            <a:chOff x="6585245" y="1508714"/>
            <a:chExt cx="2399135" cy="3638158"/>
          </a:xfrm>
        </p:grpSpPr>
        <p:cxnSp>
          <p:nvCxnSpPr>
            <p:cNvPr id="31" name="Straight Connector 30"/>
            <p:cNvCxnSpPr/>
            <p:nvPr/>
          </p:nvCxnSpPr>
          <p:spPr>
            <a:xfrm flipV="1">
              <a:off x="7467600" y="1508714"/>
              <a:ext cx="0" cy="91241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7467600" y="4234462"/>
              <a:ext cx="2193" cy="912410"/>
              <a:chOff x="7467600" y="4275935"/>
              <a:chExt cx="2193" cy="829464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flipV="1">
                <a:off x="7469793" y="4275935"/>
                <a:ext cx="0" cy="829464"/>
              </a:xfrm>
              <a:prstGeom prst="line">
                <a:avLst/>
              </a:prstGeom>
              <a:ln w="762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7467600" y="4577471"/>
                <a:ext cx="0" cy="223129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ight Arrow 32"/>
            <p:cNvSpPr/>
            <p:nvPr/>
          </p:nvSpPr>
          <p:spPr>
            <a:xfrm>
              <a:off x="8138011" y="2977687"/>
              <a:ext cx="846369" cy="531119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7475917" y="1840403"/>
              <a:ext cx="0" cy="245442"/>
            </a:xfrm>
            <a:prstGeom prst="straightConnector1">
              <a:avLst/>
            </a:prstGeom>
            <a:ln w="762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/>
                <p:cNvSpPr/>
                <p:nvPr/>
              </p:nvSpPr>
              <p:spPr>
                <a:xfrm>
                  <a:off x="6585245" y="2438400"/>
                  <a:ext cx="1796755" cy="1778791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/>
                    <a:t>IrreversibleHE</a:t>
                  </a:r>
                  <a:endParaRPr lang="en-US" b="1" dirty="0"/>
                </a:p>
                <a:p>
                  <a14:m>
                    <m:oMath xmlns:m="http://schemas.openxmlformats.org/officeDocument/2006/math">
                      <m:r>
                        <a:rPr lang="en-US" b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𝜼</m:t>
                      </m:r>
                    </m:oMath>
                  </a14:m>
                  <a:r>
                    <a:rPr lang="en-US" b="1" baseline="-25000" dirty="0" err="1">
                      <a:solidFill>
                        <a:srgbClr val="FFFF00"/>
                      </a:solidFill>
                    </a:rPr>
                    <a:t>th</a:t>
                  </a:r>
                  <a:r>
                    <a:rPr lang="en-US" b="1" dirty="0">
                      <a:solidFill>
                        <a:srgbClr val="FFFF00"/>
                      </a:solidFill>
                    </a:rPr>
                    <a:t>&lt;</a:t>
                  </a:r>
                  <a:r>
                    <a:rPr lang="en-US" b="1" baseline="-25000" dirty="0">
                      <a:solidFill>
                        <a:srgbClr val="FFFF00"/>
                      </a:solidFill>
                    </a:rPr>
                    <a:t> </a:t>
                  </a:r>
                  <a:r>
                    <a:rPr lang="en-US" b="1" dirty="0">
                      <a:solidFill>
                        <a:srgbClr val="FFFF00"/>
                      </a:solidFill>
                    </a:rPr>
                    <a:t>70%</a:t>
                  </a:r>
                  <a:endParaRPr lang="en-US" b="1" dirty="0"/>
                </a:p>
                <a:p>
                  <a:pPr algn="ctr"/>
                  <a:r>
                    <a:rPr lang="en-US" b="1" dirty="0"/>
                    <a:t> </a:t>
                  </a:r>
                </a:p>
              </p:txBody>
            </p:sp>
          </mc:Choice>
          <mc:Fallback xmlns="">
            <p:sp>
              <p:nvSpPr>
                <p:cNvPr id="71" name="Oval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5245" y="2438400"/>
                  <a:ext cx="1796755" cy="1778791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73547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62319"/>
            <a:ext cx="10563738" cy="4639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Heat Engine on Carnot Principle: Example 1</a:t>
            </a:r>
          </a:p>
          <a:p>
            <a:pPr marL="0" indent="0">
              <a:buNone/>
            </a:pPr>
            <a:r>
              <a:rPr lang="en-US" sz="2600" dirty="0"/>
              <a:t>A power cycle operating between two reservoirs receives energy Q</a:t>
            </a:r>
            <a:r>
              <a:rPr lang="en-US" sz="2600" baseline="-25000" dirty="0"/>
              <a:t>H</a:t>
            </a:r>
            <a:r>
              <a:rPr lang="en-US" sz="2600" dirty="0"/>
              <a:t> by heat transfer from a hot reservoir at T</a:t>
            </a:r>
            <a:r>
              <a:rPr lang="en-US" sz="2600" baseline="-25000" dirty="0"/>
              <a:t>H</a:t>
            </a:r>
            <a:r>
              <a:rPr lang="en-US" sz="2600" dirty="0"/>
              <a:t> = 2000K and rejects energy Q</a:t>
            </a:r>
            <a:r>
              <a:rPr lang="en-US" sz="2600" baseline="-25000" dirty="0"/>
              <a:t>C</a:t>
            </a:r>
            <a:r>
              <a:rPr lang="en-US" sz="2600" dirty="0"/>
              <a:t> by heat transfer to a cold reservoir at T</a:t>
            </a:r>
            <a:r>
              <a:rPr lang="en-US" sz="2600" baseline="-25000" dirty="0"/>
              <a:t>C</a:t>
            </a:r>
            <a:r>
              <a:rPr lang="en-US" sz="2600" dirty="0"/>
              <a:t> = 400K.  For each of the following cases, determine whether the cycle operates reversibly, irreversibly, or is impossible.</a:t>
            </a:r>
          </a:p>
          <a:p>
            <a:pPr marL="457200" indent="-457200">
              <a:buAutoNum type="alphaLcParenR"/>
            </a:pPr>
            <a:r>
              <a:rPr lang="en-US" sz="2600" dirty="0"/>
              <a:t>Q</a:t>
            </a:r>
            <a:r>
              <a:rPr lang="en-US" sz="2600" baseline="-25000" dirty="0"/>
              <a:t>H</a:t>
            </a:r>
            <a:r>
              <a:rPr lang="en-US" sz="2600" dirty="0"/>
              <a:t> = 1000 kJ,  </a:t>
            </a:r>
            <a:r>
              <a:rPr lang="en-US" sz="2600" dirty="0" err="1"/>
              <a:t>W</a:t>
            </a:r>
            <a:r>
              <a:rPr lang="en-US" sz="2600" baseline="-25000" dirty="0" err="1"/>
              <a:t>net</a:t>
            </a:r>
            <a:r>
              <a:rPr lang="en-US" sz="2600" dirty="0"/>
              <a:t> = 850 kJ    	 b) Q</a:t>
            </a:r>
            <a:r>
              <a:rPr lang="en-US" sz="2600" baseline="-25000" dirty="0"/>
              <a:t>H</a:t>
            </a:r>
            <a:r>
              <a:rPr lang="en-US" sz="2600" dirty="0"/>
              <a:t> = 2000 kJ,    Q</a:t>
            </a:r>
            <a:r>
              <a:rPr lang="en-US" sz="2600" baseline="-25000" dirty="0"/>
              <a:t>C</a:t>
            </a:r>
            <a:r>
              <a:rPr lang="en-US" sz="2600" dirty="0"/>
              <a:t> = 400 kJ  </a:t>
            </a:r>
          </a:p>
          <a:p>
            <a:pPr marL="0" indent="0">
              <a:buNone/>
            </a:pPr>
            <a:r>
              <a:rPr lang="en-US" sz="2600" dirty="0"/>
              <a:t>c) </a:t>
            </a:r>
            <a:r>
              <a:rPr lang="en-US" sz="2600" dirty="0" err="1"/>
              <a:t>W</a:t>
            </a:r>
            <a:r>
              <a:rPr lang="en-US" sz="2600" baseline="-25000" dirty="0" err="1"/>
              <a:t>net</a:t>
            </a:r>
            <a:r>
              <a:rPr lang="en-US" sz="2600" dirty="0"/>
              <a:t> = 1600 kJ,    Q</a:t>
            </a:r>
            <a:r>
              <a:rPr lang="en-US" sz="2600" baseline="-25000" dirty="0"/>
              <a:t>C </a:t>
            </a:r>
            <a:r>
              <a:rPr lang="en-US" sz="2600" dirty="0"/>
              <a:t>= 500 kJ    	d)	Q</a:t>
            </a:r>
            <a:r>
              <a:rPr lang="en-US" sz="2600" baseline="-25000" dirty="0"/>
              <a:t>H</a:t>
            </a:r>
            <a:r>
              <a:rPr lang="en-US" sz="2600" dirty="0"/>
              <a:t>  = 1000 kJ,  </a:t>
            </a:r>
            <a:r>
              <a:rPr lang="el-GR" sz="2600" dirty="0"/>
              <a:t>η = 30%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Suggested answers [(a) impossible; (b) reversible; (c) irreversible; (d) irreversible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24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617" y="1062319"/>
            <a:ext cx="4848736" cy="5002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Carnot Heat Engine: Example 2</a:t>
            </a:r>
          </a:p>
          <a:p>
            <a:pPr marL="0" indent="0">
              <a:buNone/>
            </a:pPr>
            <a:r>
              <a:rPr lang="en-US" sz="2500" dirty="0"/>
              <a:t>A Carnot heat engine receives 500 kJ of heat from a source of unknown temperature and rejects 200 kJ of it to a sink at 17 °C.  Determine</a:t>
            </a:r>
          </a:p>
          <a:p>
            <a:pPr marL="0" indent="0">
              <a:buNone/>
            </a:pPr>
            <a:r>
              <a:rPr lang="en-US" sz="2500" dirty="0"/>
              <a:t>a) the temperature of the source and</a:t>
            </a:r>
          </a:p>
          <a:p>
            <a:pPr marL="0" indent="0">
              <a:buNone/>
            </a:pPr>
            <a:r>
              <a:rPr lang="en-US" sz="2500" dirty="0"/>
              <a:t>b) the thermal efficiency of the heat engine.</a:t>
            </a:r>
          </a:p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</a:rPr>
              <a:t>Suggested Answers: [452 °C; 60%]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244353" y="968189"/>
            <a:ext cx="6831106" cy="5002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Carnot Heat Engine: Example 3</a:t>
            </a:r>
          </a:p>
          <a:p>
            <a:pPr marL="0" indent="0">
              <a:buNone/>
            </a:pPr>
            <a:r>
              <a:rPr lang="en-US" sz="2400" dirty="0"/>
              <a:t>An engine operates on the Carnot cycle. The engine efficiency is 60 percent when 20 kJ/kg per engine cycle of thermal energy is rejected to a low-temperature reservoir at T</a:t>
            </a:r>
            <a:r>
              <a:rPr lang="en-US" sz="2400" baseline="-25000" dirty="0"/>
              <a:t>C</a:t>
            </a:r>
            <a:r>
              <a:rPr lang="en-US" sz="2400" dirty="0"/>
              <a:t> = 27 °C, and has a specific net work output of magnitude 30 kJ/kg per cycle.</a:t>
            </a:r>
          </a:p>
          <a:p>
            <a:pPr marL="0" indent="0">
              <a:buNone/>
            </a:pPr>
            <a:r>
              <a:rPr lang="en-US" sz="2400" dirty="0"/>
              <a:t>(a)	How much energy is transferred to the engine from the high-temperature reservoir per cycle (kJ/kg)?</a:t>
            </a:r>
          </a:p>
          <a:p>
            <a:pPr marL="0" indent="0">
              <a:buNone/>
            </a:pPr>
            <a:r>
              <a:rPr lang="en-US" sz="2400" dirty="0"/>
              <a:t>(b)	At what temperature T</a:t>
            </a:r>
            <a:r>
              <a:rPr lang="en-US" sz="2400" baseline="-25000" dirty="0"/>
              <a:t>H</a:t>
            </a:r>
            <a:r>
              <a:rPr lang="en-US" sz="2400" dirty="0"/>
              <a:t> is the high-temperature reservoir?</a:t>
            </a:r>
          </a:p>
          <a:p>
            <a:pPr marL="0" indent="0">
              <a:buFont typeface="Arial"/>
              <a:buNone/>
            </a:pPr>
            <a:r>
              <a:rPr lang="en-US" sz="2400" b="1" dirty="0">
                <a:solidFill>
                  <a:srgbClr val="002060"/>
                </a:solidFill>
              </a:rPr>
              <a:t>Suggested Answers: [50 kJ/kg; 477 °C]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68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62319"/>
            <a:ext cx="10563738" cy="4639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Reversed Heat Engine on Carnot Principle: Example 1</a:t>
            </a:r>
          </a:p>
          <a:p>
            <a:pPr marL="0" indent="0">
              <a:buNone/>
            </a:pPr>
            <a:r>
              <a:rPr lang="en-US" sz="2600" dirty="0"/>
              <a:t>A refrigeration cycle operating between two reservoirs receives energy Q</a:t>
            </a:r>
            <a:r>
              <a:rPr lang="en-US" sz="2600" baseline="-25000" dirty="0"/>
              <a:t>C </a:t>
            </a:r>
            <a:r>
              <a:rPr lang="en-US" sz="2600" dirty="0"/>
              <a:t>from a cold reservoir at T</a:t>
            </a:r>
            <a:r>
              <a:rPr lang="en-US" sz="2600" baseline="-25000" dirty="0"/>
              <a:t>C</a:t>
            </a:r>
            <a:r>
              <a:rPr lang="en-US" sz="2600" dirty="0"/>
              <a:t> = 250 K and rejects energy Q</a:t>
            </a:r>
            <a:r>
              <a:rPr lang="en-US" sz="2600" baseline="-25000" dirty="0"/>
              <a:t>H</a:t>
            </a:r>
            <a:r>
              <a:rPr lang="en-US" sz="2600" dirty="0"/>
              <a:t> to a hot reservoir at T</a:t>
            </a:r>
            <a:r>
              <a:rPr lang="en-US" sz="2600" baseline="-25000" dirty="0"/>
              <a:t>H</a:t>
            </a:r>
            <a:r>
              <a:rPr lang="en-US" sz="2600" dirty="0"/>
              <a:t> = 300 K. For each of the following cases, determine whether the cycle operates reversibly, irreversibly, or is impossible.</a:t>
            </a:r>
          </a:p>
          <a:p>
            <a:pPr marL="457200" indent="-457200">
              <a:buAutoNum type="alphaLcParenR"/>
            </a:pPr>
            <a:r>
              <a:rPr lang="en-US" sz="2600" dirty="0"/>
              <a:t>Q</a:t>
            </a:r>
            <a:r>
              <a:rPr lang="en-US" sz="2600" baseline="-25000" dirty="0"/>
              <a:t>C</a:t>
            </a:r>
            <a:r>
              <a:rPr lang="en-US" sz="2600" dirty="0"/>
              <a:t> = 1000 kJ,  W</a:t>
            </a:r>
            <a:r>
              <a:rPr lang="en-US" sz="2600" baseline="-25000" dirty="0"/>
              <a:t>in</a:t>
            </a:r>
            <a:r>
              <a:rPr lang="en-US" sz="2600" dirty="0"/>
              <a:t> = 400 kJ    	 b) Q</a:t>
            </a:r>
            <a:r>
              <a:rPr lang="en-US" sz="2600" baseline="-25000" dirty="0"/>
              <a:t>C</a:t>
            </a:r>
            <a:r>
              <a:rPr lang="en-US" sz="2600" dirty="0"/>
              <a:t> = 2000 kJ,    W</a:t>
            </a:r>
            <a:r>
              <a:rPr lang="en-US" sz="2600" baseline="-25000" dirty="0"/>
              <a:t>in</a:t>
            </a:r>
            <a:r>
              <a:rPr lang="en-US" sz="2600" dirty="0"/>
              <a:t> = 2200 kJ  </a:t>
            </a:r>
          </a:p>
          <a:p>
            <a:pPr marL="0" indent="0">
              <a:buNone/>
            </a:pPr>
            <a:r>
              <a:rPr lang="en-US" sz="2600" dirty="0"/>
              <a:t>c) W</a:t>
            </a:r>
            <a:r>
              <a:rPr lang="en-US" sz="2600" baseline="-25000" dirty="0"/>
              <a:t>in</a:t>
            </a:r>
            <a:r>
              <a:rPr lang="en-US" sz="2600" dirty="0"/>
              <a:t> = 500 kJ,    Q</a:t>
            </a:r>
            <a:r>
              <a:rPr lang="en-US" sz="2600" baseline="-25000" dirty="0"/>
              <a:t>H </a:t>
            </a:r>
            <a:r>
              <a:rPr lang="en-US" sz="2600" dirty="0"/>
              <a:t>= 3000 kJ    	d)	W</a:t>
            </a:r>
            <a:r>
              <a:rPr lang="en-US" sz="2600" baseline="-25000" dirty="0"/>
              <a:t>in</a:t>
            </a:r>
            <a:r>
              <a:rPr lang="en-US" sz="2600" dirty="0"/>
              <a:t>  = 1000 kJ,  COP</a:t>
            </a:r>
            <a:r>
              <a:rPr lang="en-US" sz="2600" baseline="-25000" dirty="0"/>
              <a:t>R</a:t>
            </a:r>
            <a:r>
              <a:rPr lang="el-GR" sz="2600" dirty="0"/>
              <a:t> = </a:t>
            </a:r>
            <a:r>
              <a:rPr lang="en-US" sz="2600" dirty="0"/>
              <a:t>6</a:t>
            </a:r>
            <a:endParaRPr lang="el-GR" sz="2600" dirty="0"/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</a:rPr>
              <a:t>Suggested answers [(a) irreversible; (b) irreversible; (c) reversible; (d) impossible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243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617" y="1062319"/>
            <a:ext cx="5158018" cy="5002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Reversed Carnot Heat Engine: Example 2</a:t>
            </a:r>
          </a:p>
          <a:p>
            <a:pPr marL="0" indent="0">
              <a:buNone/>
            </a:pPr>
            <a:r>
              <a:rPr lang="en-US" sz="2500" dirty="0"/>
              <a:t>A Carnot heat pump delivers a heat transfer of 3 x 10</a:t>
            </a:r>
            <a:r>
              <a:rPr lang="en-US" sz="2500" baseline="30000" dirty="0"/>
              <a:t>4</a:t>
            </a:r>
            <a:r>
              <a:rPr lang="en-US" sz="2500" dirty="0"/>
              <a:t> kJ at 50 °C. The evaporator is at 15 °C. Calculate the power input and the coefficient of performance for this Carnot heat pump.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02060"/>
                </a:solidFill>
              </a:rPr>
              <a:t>Suggested Answers: [3.25 x 10</a:t>
            </a:r>
            <a:r>
              <a:rPr lang="en-US" sz="2500" b="1" baseline="30000" dirty="0">
                <a:solidFill>
                  <a:srgbClr val="002060"/>
                </a:solidFill>
              </a:rPr>
              <a:t>3 </a:t>
            </a:r>
            <a:r>
              <a:rPr lang="en-US" sz="2500" b="1" dirty="0">
                <a:solidFill>
                  <a:srgbClr val="002060"/>
                </a:solidFill>
              </a:rPr>
              <a:t>J; 9.229]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728447" y="1062319"/>
            <a:ext cx="5889812" cy="5002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rgbClr val="C00000"/>
                </a:solidFill>
              </a:rPr>
              <a:t>Reversed Carnot Heat Engine: Example 3</a:t>
            </a:r>
          </a:p>
          <a:p>
            <a:pPr marL="0" indent="0">
              <a:buNone/>
            </a:pPr>
            <a:r>
              <a:rPr lang="en-US" sz="2500" dirty="0"/>
              <a:t>A Carnot refrigerator rejects a heat transfer of 2.5 x 10</a:t>
            </a:r>
            <a:r>
              <a:rPr lang="en-US" sz="2500" baseline="30000" dirty="0"/>
              <a:t>3</a:t>
            </a:r>
            <a:r>
              <a:rPr lang="en-US" sz="2500" dirty="0"/>
              <a:t> kJ at 80 °C. If the power input for this refrigerator is 1.1 x 10</a:t>
            </a:r>
            <a:r>
              <a:rPr lang="en-US" sz="2500" baseline="30000" dirty="0"/>
              <a:t>3</a:t>
            </a:r>
            <a:r>
              <a:rPr lang="en-US" sz="2500" dirty="0"/>
              <a:t> kJ, find the heat transferred, the low temperature in the cycle, and the coefficient of performance.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Suggested Answers: [1.4 x 10</a:t>
            </a:r>
            <a:r>
              <a:rPr lang="en-US" sz="2400" b="1" baseline="30000" dirty="0">
                <a:solidFill>
                  <a:srgbClr val="002060"/>
                </a:solidFill>
              </a:rPr>
              <a:t>3</a:t>
            </a:r>
            <a:r>
              <a:rPr lang="en-US" sz="2400" b="1" dirty="0">
                <a:solidFill>
                  <a:srgbClr val="002060"/>
                </a:solidFill>
              </a:rPr>
              <a:t> kJ; -75.3 °C; 1.27 ]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649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32045"/>
            <a:ext cx="5844987" cy="5056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Entropy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Entropy</a:t>
            </a:r>
            <a:r>
              <a:rPr lang="en-US" sz="2400" dirty="0"/>
              <a:t> is a quantitative measure of the disorderliness or randomness of a system.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It is a measure of energy that is no longer available to perform useful work within the current environment.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Second Law</a:t>
            </a:r>
            <a:r>
              <a:rPr lang="en-US" sz="2400" dirty="0">
                <a:solidFill>
                  <a:srgbClr val="002060"/>
                </a:solidFill>
              </a:rPr>
              <a:t>: There exist a property of a closed system such that a change in its value is greater than or equal to the heat transfer to the system over some constant temperature.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C00000"/>
                </a:solidFill>
              </a:rPr>
              <a:t>This property is called Entropy (S).</a:t>
            </a:r>
            <a:endParaRPr lang="en-US" sz="25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8507027" y="1481944"/>
          <a:ext cx="1178958" cy="805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393529" progId="Equation.3">
                  <p:embed/>
                </p:oleObj>
              </mc:Choice>
              <mc:Fallback>
                <p:oleObj name="Equation" r:id="rId2" imgW="571252" imgH="393529" progId="Equation.3">
                  <p:embed/>
                  <p:pic>
                    <p:nvPicPr>
                      <p:cNvPr id="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7027" y="1481944"/>
                        <a:ext cx="1178958" cy="805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6602507" y="1028666"/>
            <a:ext cx="5451124" cy="476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C00000"/>
                </a:solidFill>
              </a:rPr>
              <a:t>This law is expressed mathematically as;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602507" y="2209348"/>
            <a:ext cx="5451124" cy="3866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For a reversible process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For an irreversible process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 err="1"/>
              <a:t>S</a:t>
            </a:r>
            <a:r>
              <a:rPr lang="en-US" sz="2200" baseline="-25000" dirty="0" err="1"/>
              <a:t>gen</a:t>
            </a:r>
            <a:r>
              <a:rPr lang="en-US" sz="2200" dirty="0"/>
              <a:t> is the entropy generation within the system itself as a result of friction and other irreversibilities present within the system.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8507027" y="2685485"/>
          <a:ext cx="1336220" cy="82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444307" progId="Equation.3">
                  <p:embed/>
                </p:oleObj>
              </mc:Choice>
              <mc:Fallback>
                <p:oleObj name="Equation" r:id="rId4" imgW="723586" imgH="444307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7027" y="2685485"/>
                        <a:ext cx="1336220" cy="8263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7554767" y="4060517"/>
          <a:ext cx="3240740" cy="70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100" imgH="444500" progId="Equation.3">
                  <p:embed/>
                </p:oleObj>
              </mc:Choice>
              <mc:Fallback>
                <p:oleObj name="Equation" r:id="rId6" imgW="2070100" imgH="444500" progId="Equation.3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4767" y="4060517"/>
                        <a:ext cx="3240740" cy="701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4153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32045"/>
            <a:ext cx="11358281" cy="22221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Entropy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For a </a:t>
            </a:r>
            <a:r>
              <a:rPr lang="en-US" sz="2400" b="1" dirty="0">
                <a:solidFill>
                  <a:srgbClr val="002060"/>
                </a:solidFill>
              </a:rPr>
              <a:t>reversible adiabatic process</a:t>
            </a:r>
            <a:r>
              <a:rPr lang="en-US" sz="2400" dirty="0"/>
              <a:t>, the entropy of the system during the process remains constant. Thus, the entropy change of the system during the process is zero (</a:t>
            </a:r>
            <a:r>
              <a:rPr lang="en-US" sz="2400" dirty="0" err="1"/>
              <a:t>dS</a:t>
            </a:r>
            <a:r>
              <a:rPr lang="en-US" sz="2400" dirty="0"/>
              <a:t> = 0).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</a:rPr>
              <a:t>The entropy change of an </a:t>
            </a:r>
            <a:r>
              <a:rPr lang="en-US" sz="2400" b="1" dirty="0">
                <a:solidFill>
                  <a:srgbClr val="C00000"/>
                </a:solidFill>
              </a:rPr>
              <a:t>isolated system</a:t>
            </a:r>
            <a:r>
              <a:rPr lang="en-US" sz="2400" b="1" dirty="0">
                <a:solidFill>
                  <a:srgbClr val="002060"/>
                </a:solidFill>
              </a:rPr>
              <a:t> during a process always increases or in the limiting case of a reversible process remains constant.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942492" y="3327948"/>
          <a:ext cx="1814155" cy="518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2" imgW="799920" imgH="228600" progId="Equation.3">
                  <p:embed/>
                </p:oleObj>
              </mc:Choice>
              <mc:Fallback>
                <p:oleObj name="Уравнение" r:id="rId2" imgW="799920" imgH="2286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492" y="3327948"/>
                        <a:ext cx="1814155" cy="5187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964149" y="4595509"/>
          <a:ext cx="1648617" cy="659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4" imgW="825500" imgH="330200" progId="Equation.3">
                  <p:embed/>
                </p:oleObj>
              </mc:Choice>
              <mc:Fallback>
                <p:oleObj name="Уравнение" r:id="rId4" imgW="825500" imgH="330200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4149" y="4595509"/>
                        <a:ext cx="1648617" cy="6594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ight Arrow 11"/>
          <p:cNvSpPr/>
          <p:nvPr/>
        </p:nvSpPr>
        <p:spPr>
          <a:xfrm rot="5400000">
            <a:off x="1560504" y="4143991"/>
            <a:ext cx="578128" cy="1222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191311" y="3254188"/>
            <a:ext cx="3556756" cy="3020790"/>
            <a:chOff x="-152400" y="2909483"/>
            <a:chExt cx="3556756" cy="3020790"/>
          </a:xfrm>
        </p:grpSpPr>
        <p:sp>
          <p:nvSpPr>
            <p:cNvPr id="14" name="Line 5"/>
            <p:cNvSpPr>
              <a:spLocks noChangeShapeType="1"/>
            </p:cNvSpPr>
            <p:nvPr/>
          </p:nvSpPr>
          <p:spPr bwMode="auto">
            <a:xfrm flipV="1">
              <a:off x="275722" y="2971800"/>
              <a:ext cx="0" cy="18480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275722" y="4793393"/>
              <a:ext cx="275925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rot="5400000">
              <a:off x="1423099" y="3880267"/>
              <a:ext cx="5580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2751083" y="4865728"/>
              <a:ext cx="372709" cy="3811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S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-152400" y="3037123"/>
              <a:ext cx="393963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683436" y="2909483"/>
              <a:ext cx="394722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1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1749096" y="4437589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228600" y="5275926"/>
              <a:ext cx="3175756" cy="65434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 Constant entropy process (isentropic</a:t>
              </a:r>
              <a:r>
                <a:rPr kumimoji="0" lang="en-GB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 process)</a:t>
              </a:r>
              <a:endPara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702099" y="3130537"/>
              <a:ext cx="0" cy="1511263"/>
            </a:xfrm>
            <a:prstGeom prst="line">
              <a:avLst/>
            </a:prstGeom>
            <a:ln w="38100"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702099" y="3655553"/>
              <a:ext cx="1069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Q</a:t>
              </a:r>
              <a:r>
                <a:rPr lang="en-US" b="1" baseline="-25000" dirty="0"/>
                <a:t>12</a:t>
              </a:r>
              <a:r>
                <a:rPr lang="en-US" b="1" dirty="0"/>
                <a:t> = 0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786098" y="3361614"/>
            <a:ext cx="3621074" cy="2887458"/>
            <a:chOff x="4877208" y="2957917"/>
            <a:chExt cx="3621074" cy="2887458"/>
          </a:xfrm>
        </p:grpSpPr>
        <p:sp>
          <p:nvSpPr>
            <p:cNvPr id="25" name="Rectangle 24"/>
            <p:cNvSpPr/>
            <p:nvPr/>
          </p:nvSpPr>
          <p:spPr>
            <a:xfrm>
              <a:off x="5965495" y="3907890"/>
              <a:ext cx="1521844" cy="83011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Q</a:t>
              </a:r>
              <a:r>
                <a:rPr lang="en-US" b="1" baseline="-250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6" name="Line 5"/>
            <p:cNvSpPr>
              <a:spLocks noChangeShapeType="1"/>
            </p:cNvSpPr>
            <p:nvPr/>
          </p:nvSpPr>
          <p:spPr bwMode="auto">
            <a:xfrm flipV="1">
              <a:off x="5305330" y="2957917"/>
              <a:ext cx="0" cy="18480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6"/>
            <p:cNvSpPr>
              <a:spLocks noChangeShapeType="1"/>
            </p:cNvSpPr>
            <p:nvPr/>
          </p:nvSpPr>
          <p:spPr bwMode="auto">
            <a:xfrm>
              <a:off x="5305330" y="4779510"/>
              <a:ext cx="275925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6452707" y="3866384"/>
              <a:ext cx="5580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7780691" y="4851845"/>
              <a:ext cx="372709" cy="3811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S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4877208" y="3023240"/>
              <a:ext cx="393963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5768134" y="3353313"/>
              <a:ext cx="394722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1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 Box 22"/>
            <p:cNvSpPr txBox="1">
              <a:spLocks noChangeArrowheads="1"/>
            </p:cNvSpPr>
            <p:nvPr/>
          </p:nvSpPr>
          <p:spPr bwMode="auto">
            <a:xfrm>
              <a:off x="7312281" y="3418768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 rot="16200000">
              <a:off x="6731707" y="3116654"/>
              <a:ext cx="0" cy="1511263"/>
            </a:xfrm>
            <a:prstGeom prst="line">
              <a:avLst/>
            </a:prstGeom>
            <a:ln w="38100"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5322526" y="5191028"/>
              <a:ext cx="3175756" cy="65434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 Constant temperature process (isothermal</a:t>
              </a:r>
              <a:r>
                <a:rPr kumimoji="0" lang="en-GB" b="1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 process)</a:t>
              </a:r>
              <a:endPara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0057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406" y="1032046"/>
            <a:ext cx="11358281" cy="17760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Entropy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∆S is a </a:t>
            </a:r>
            <a:r>
              <a:rPr lang="en-US" sz="2400" b="1" dirty="0">
                <a:solidFill>
                  <a:srgbClr val="002060"/>
                </a:solidFill>
              </a:rPr>
              <a:t>measure of the level of irreversibilities </a:t>
            </a:r>
            <a:r>
              <a:rPr lang="en-US" sz="2400" b="1" dirty="0"/>
              <a:t>in the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C00000"/>
                </a:solidFill>
              </a:rPr>
              <a:t>Isentropic efficiency</a:t>
            </a:r>
            <a:r>
              <a:rPr lang="en-US" sz="2400" dirty="0"/>
              <a:t>: </a:t>
            </a:r>
            <a:r>
              <a:rPr lang="en-US" sz="2400" b="1" dirty="0"/>
              <a:t>a comparison of performance between ideal and actual work producing devices.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4611256" y="2808103"/>
            <a:ext cx="6096000" cy="1160859"/>
            <a:chOff x="2743200" y="2572941"/>
            <a:chExt cx="6096000" cy="1160859"/>
          </a:xfrm>
        </p:grpSpPr>
        <p:grpSp>
          <p:nvGrpSpPr>
            <p:cNvPr id="36" name="Group 35"/>
            <p:cNvGrpSpPr/>
            <p:nvPr/>
          </p:nvGrpSpPr>
          <p:grpSpPr>
            <a:xfrm>
              <a:off x="2743200" y="2572941"/>
              <a:ext cx="6096000" cy="1160859"/>
              <a:chOff x="533400" y="2496741"/>
              <a:chExt cx="6096000" cy="1160859"/>
            </a:xfrm>
            <a:noFill/>
          </p:grpSpPr>
          <p:sp>
            <p:nvSpPr>
              <p:cNvPr id="38" name="TextBox 37"/>
              <p:cNvSpPr txBox="1"/>
              <p:nvPr/>
            </p:nvSpPr>
            <p:spPr>
              <a:xfrm>
                <a:off x="533400" y="2798858"/>
                <a:ext cx="1066800" cy="5936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algn="just">
                  <a:defRPr sz="2400" b="1" kern="0"/>
                </a:lvl1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240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Fluid</a:t>
                </a:r>
                <a:endParaRPr kumimoji="0" lang="fr-FR" sz="24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733800" y="2798857"/>
                <a:ext cx="1143000" cy="5936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algn="just">
                  <a:defRPr sz="2400" b="1" kern="0"/>
                </a:lvl1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240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Blades</a:t>
                </a:r>
                <a:endParaRPr kumimoji="0" lang="fr-FR" sz="24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40" name="Right Arrow 39"/>
              <p:cNvSpPr/>
              <p:nvPr/>
            </p:nvSpPr>
            <p:spPr>
              <a:xfrm>
                <a:off x="1676401" y="2935322"/>
                <a:ext cx="1981200" cy="296832"/>
              </a:xfrm>
              <a:prstGeom prst="rightArrow">
                <a:avLst/>
              </a:prstGeom>
              <a:solidFill>
                <a:schemeClr val="tx1"/>
              </a:solidFill>
              <a:ln w="2540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" name="Left Brace 40"/>
              <p:cNvSpPr/>
              <p:nvPr/>
            </p:nvSpPr>
            <p:spPr>
              <a:xfrm>
                <a:off x="5029200" y="2496741"/>
                <a:ext cx="298230" cy="1160859"/>
              </a:xfrm>
              <a:prstGeom prst="leftBrace">
                <a:avLst/>
              </a:prstGeom>
              <a:grp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334000" y="2782922"/>
                <a:ext cx="1295400" cy="5936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algn="just">
                  <a:defRPr sz="2400" b="1" kern="0"/>
                </a:lvl1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Turbines</a:t>
                </a: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4293257" y="2644224"/>
              <a:ext cx="1143000" cy="46166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defPPr>
                <a:defRPr lang="en-US"/>
              </a:defPPr>
              <a:lvl1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1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latin typeface="Calibri"/>
                </a:defRPr>
              </a:lvl1pPr>
            </a:lstStyle>
            <a:p>
              <a:r>
                <a:rPr lang="fr-FR" noProof="1"/>
                <a:t>Energy</a:t>
              </a:r>
            </a:p>
          </p:txBody>
        </p:sp>
      </p:grpSp>
      <p:pic>
        <p:nvPicPr>
          <p:cNvPr id="43" name="Picture 253" descr="File:Wind turbine.gif - Wikimedia Commons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92" y="3085407"/>
            <a:ext cx="3082397" cy="317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57" descr="GIF general electric - animated GIF on GIFE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032" y="3885836"/>
            <a:ext cx="3122738" cy="237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368" y="4149202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063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406" y="1032046"/>
            <a:ext cx="11358281" cy="17760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Entropy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∆S is a </a:t>
            </a:r>
            <a:r>
              <a:rPr lang="en-US" sz="2400" b="1" dirty="0">
                <a:solidFill>
                  <a:srgbClr val="002060"/>
                </a:solidFill>
              </a:rPr>
              <a:t>measure of the level of irreversibilities </a:t>
            </a:r>
            <a:r>
              <a:rPr lang="en-US" sz="2400" b="1" dirty="0"/>
              <a:t>in the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C00000"/>
                </a:solidFill>
              </a:rPr>
              <a:t>Isentropic efficiency</a:t>
            </a:r>
            <a:r>
              <a:rPr lang="en-US" sz="2400" dirty="0"/>
              <a:t>: </a:t>
            </a:r>
            <a:r>
              <a:rPr lang="en-US" sz="2400" b="1" dirty="0"/>
              <a:t>a comparison of performance between ideal and actual work consuming devices.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4598894" y="2558975"/>
            <a:ext cx="6248400" cy="1160859"/>
            <a:chOff x="2743200" y="2539392"/>
            <a:chExt cx="6248400" cy="1160859"/>
          </a:xfrm>
        </p:grpSpPr>
        <p:grpSp>
          <p:nvGrpSpPr>
            <p:cNvPr id="17" name="Group 16"/>
            <p:cNvGrpSpPr/>
            <p:nvPr/>
          </p:nvGrpSpPr>
          <p:grpSpPr>
            <a:xfrm>
              <a:off x="2743200" y="2539392"/>
              <a:ext cx="6248400" cy="1160859"/>
              <a:chOff x="533400" y="2463192"/>
              <a:chExt cx="6248400" cy="1160859"/>
            </a:xfrm>
            <a:noFill/>
          </p:grpSpPr>
          <p:sp>
            <p:nvSpPr>
              <p:cNvPr id="19" name="TextBox 18"/>
              <p:cNvSpPr txBox="1"/>
              <p:nvPr/>
            </p:nvSpPr>
            <p:spPr>
              <a:xfrm>
                <a:off x="533400" y="2798858"/>
                <a:ext cx="1066800" cy="5936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algn="just">
                  <a:defRPr sz="2400" b="1" kern="0"/>
                </a:lvl1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240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Fluid</a:t>
                </a:r>
                <a:endParaRPr kumimoji="0" lang="fr-FR" sz="24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733800" y="2798857"/>
                <a:ext cx="1143000" cy="5936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algn="just">
                  <a:defRPr sz="2400" b="1" kern="0"/>
                </a:lvl1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2400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Blades</a:t>
                </a:r>
                <a:endParaRPr kumimoji="0" lang="fr-FR" sz="24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1" name="Right Arrow 20"/>
              <p:cNvSpPr/>
              <p:nvPr/>
            </p:nvSpPr>
            <p:spPr>
              <a:xfrm flipH="1">
                <a:off x="1676401" y="2935322"/>
                <a:ext cx="1981200" cy="296832"/>
              </a:xfrm>
              <a:prstGeom prst="rightArrow">
                <a:avLst/>
              </a:prstGeom>
              <a:solidFill>
                <a:schemeClr val="tx1"/>
              </a:solidFill>
              <a:ln w="2540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Left Brace 21"/>
              <p:cNvSpPr/>
              <p:nvPr/>
            </p:nvSpPr>
            <p:spPr>
              <a:xfrm>
                <a:off x="4803884" y="2463192"/>
                <a:ext cx="298230" cy="1160859"/>
              </a:xfrm>
              <a:prstGeom prst="leftBrace">
                <a:avLst/>
              </a:prstGeom>
              <a:grp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952999" y="2531998"/>
                <a:ext cx="1828801" cy="5936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algn="just">
                  <a:defRPr sz="2400" b="1" kern="0"/>
                </a:lvl1pPr>
              </a:lstStyle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Pumps</a:t>
                </a:r>
              </a:p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latin typeface="Calibri"/>
                  </a:rPr>
                  <a:t>Compressors</a:t>
                </a:r>
              </a:p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</a:rPr>
                  <a:t>Fans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4293257" y="2644224"/>
              <a:ext cx="1143000" cy="46166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defPPr>
                <a:defRPr lang="en-US"/>
              </a:defPPr>
              <a:lvl1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1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latin typeface="Calibri"/>
                </a:defRPr>
              </a:lvl1pPr>
            </a:lstStyle>
            <a:p>
              <a:r>
                <a:rPr lang="fr-FR" noProof="1"/>
                <a:t>Energy</a:t>
              </a:r>
            </a:p>
          </p:txBody>
        </p:sp>
      </p:grpSp>
      <p:pic>
        <p:nvPicPr>
          <p:cNvPr id="24" name="Picture 4" descr="Aviator Ceiling Fans - Traditional Ceiling Fans | Aviator Classic ...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095" y="4181315"/>
            <a:ext cx="3029647" cy="173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Axial compressor - Wikipedia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311" y="3748396"/>
            <a:ext cx="2755165" cy="226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Pumps &amp; Systems: Centrifugal pumps(1)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005" y="3412380"/>
            <a:ext cx="2745238" cy="274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341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406" y="1032046"/>
            <a:ext cx="11358281" cy="17760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Entropy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∆S is a </a:t>
            </a:r>
            <a:r>
              <a:rPr lang="en-US" sz="2400" b="1" dirty="0">
                <a:solidFill>
                  <a:srgbClr val="002060"/>
                </a:solidFill>
              </a:rPr>
              <a:t>measure of the level of irreversibilities </a:t>
            </a:r>
            <a:r>
              <a:rPr lang="en-US" sz="2400" b="1" dirty="0"/>
              <a:t>in the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C00000"/>
                </a:solidFill>
              </a:rPr>
              <a:t>Isentropic efficiency</a:t>
            </a:r>
            <a:r>
              <a:rPr lang="en-US" sz="2400" dirty="0"/>
              <a:t>: </a:t>
            </a:r>
            <a:r>
              <a:rPr lang="en-US" sz="2400" b="1" dirty="0"/>
              <a:t>a comparison of performance between ideal and actual work producing or consuming devices.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942492" y="3031615"/>
          <a:ext cx="4153943" cy="83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360" imgH="431640" progId="Equation.DSMT4">
                  <p:embed/>
                </p:oleObj>
              </mc:Choice>
              <mc:Fallback>
                <p:oleObj name="Equation" r:id="rId2" imgW="2133360" imgH="431640" progId="Equation.DSMT4">
                  <p:embed/>
                  <p:pic>
                    <p:nvPicPr>
                      <p:cNvPr id="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492" y="3031615"/>
                        <a:ext cx="4153943" cy="832863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49406" y="4088885"/>
                <a:ext cx="5466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b="1" dirty="0">
                    <a:solidFill>
                      <a:schemeClr val="tx1"/>
                    </a:solidFill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sz="2400" b="1" i="0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𝐢𝐬𝐞𝐧</m:t>
                    </m:r>
                  </m:oMath>
                </a14:m>
                <a:r>
                  <a:rPr lang="en-US" sz="2400" b="1" baseline="-250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= </a:t>
                </a:r>
                <a:r>
                  <a:rPr lang="en-GB" sz="2400" b="1" dirty="0">
                    <a:solidFill>
                      <a:schemeClr val="tx1"/>
                    </a:solidFill>
                  </a:rPr>
                  <a:t>90% and </a:t>
                </a:r>
                <a:r>
                  <a:rPr lang="en-GB" sz="2400" b="1" dirty="0" err="1">
                    <a:solidFill>
                      <a:schemeClr val="tx1"/>
                    </a:solidFill>
                  </a:rPr>
                  <a:t>W</a:t>
                </a:r>
                <a:r>
                  <a:rPr lang="en-GB" sz="2400" b="1" baseline="-25000" dirty="0" err="1">
                    <a:solidFill>
                      <a:schemeClr val="tx1"/>
                    </a:solidFill>
                  </a:rPr>
                  <a:t>isen</a:t>
                </a:r>
                <a:r>
                  <a:rPr lang="en-GB" sz="2400" b="1" dirty="0">
                    <a:solidFill>
                      <a:schemeClr val="tx1"/>
                    </a:solidFill>
                  </a:rPr>
                  <a:t> = 250 MW 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06" y="4088885"/>
                <a:ext cx="546622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786" t="-10667" r="-223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514600" y="4739964"/>
            <a:ext cx="4270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err="1"/>
              <a:t>W</a:t>
            </a:r>
            <a:r>
              <a:rPr lang="en-GB" sz="2400" b="1" baseline="-25000" dirty="0" err="1"/>
              <a:t>actual</a:t>
            </a:r>
            <a:r>
              <a:rPr lang="en-GB" sz="2400" b="1" dirty="0"/>
              <a:t> = 250 x 0.9 = 225 MW </a:t>
            </a:r>
            <a:endParaRPr lang="en-US" sz="2400" dirty="0"/>
          </a:p>
        </p:txBody>
      </p:sp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6011679" y="2977384"/>
          <a:ext cx="5257952" cy="887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76440" imgH="419040" progId="Equation.DSMT4">
                  <p:embed/>
                </p:oleObj>
              </mc:Choice>
              <mc:Fallback>
                <p:oleObj name="Equation" r:id="rId6" imgW="2476440" imgH="419040" progId="Equation.DSMT4">
                  <p:embed/>
                  <p:pic>
                    <p:nvPicPr>
                      <p:cNvPr id="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679" y="2977384"/>
                        <a:ext cx="5257952" cy="887094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011679" y="4093367"/>
                <a:ext cx="61475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b="1" dirty="0">
                    <a:solidFill>
                      <a:schemeClr val="tx1"/>
                    </a:solidFill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sz="2400" b="1" i="0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𝐢𝐬𝐞𝐧</m:t>
                    </m:r>
                  </m:oMath>
                </a14:m>
                <a:r>
                  <a:rPr lang="en-US" sz="2400" b="1" baseline="-250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= </a:t>
                </a:r>
                <a:r>
                  <a:rPr lang="en-GB" sz="2400" b="1" dirty="0">
                    <a:solidFill>
                      <a:schemeClr val="tx1"/>
                    </a:solidFill>
                  </a:rPr>
                  <a:t>95% and </a:t>
                </a:r>
                <a:r>
                  <a:rPr lang="en-GB" sz="2400" b="1" dirty="0" err="1">
                    <a:solidFill>
                      <a:schemeClr val="tx1"/>
                    </a:solidFill>
                  </a:rPr>
                  <a:t>W</a:t>
                </a:r>
                <a:r>
                  <a:rPr lang="en-GB" sz="2400" b="1" baseline="-25000" dirty="0" err="1">
                    <a:solidFill>
                      <a:schemeClr val="tx1"/>
                    </a:solidFill>
                  </a:rPr>
                  <a:t>isen</a:t>
                </a:r>
                <a:r>
                  <a:rPr lang="en-GB" sz="2400" b="1" dirty="0">
                    <a:solidFill>
                      <a:schemeClr val="tx1"/>
                    </a:solidFill>
                  </a:rPr>
                  <a:t> = 100 MW 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679" y="4093367"/>
                <a:ext cx="6147545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48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6011679" y="4739963"/>
            <a:ext cx="43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err="1"/>
              <a:t>W</a:t>
            </a:r>
            <a:r>
              <a:rPr lang="en-GB" sz="2400" b="1" baseline="-25000" dirty="0" err="1"/>
              <a:t>actual</a:t>
            </a:r>
            <a:r>
              <a:rPr lang="en-GB" sz="2400" b="1" dirty="0"/>
              <a:t> = 100 / 0.95 = 105 MW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6241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95126"/>
            <a:ext cx="11198086" cy="706271"/>
          </a:xfrm>
        </p:spPr>
        <p:txBody>
          <a:bodyPr/>
          <a:lstStyle/>
          <a:p>
            <a:r>
              <a:rPr lang="en-US" sz="5400" b="1" dirty="0">
                <a:solidFill>
                  <a:srgbClr val="FF0000"/>
                </a:solidFill>
              </a:rPr>
              <a:t>CLAUSSIUS INEQUALITY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6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6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6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sz="6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6000" b="1" i="1" smtClean="0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sz="6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num>
                          <m:den>
                            <m:r>
                              <a:rPr lang="en-US" sz="6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6000" b="1" dirty="0"/>
                  <a:t> ≤  0 </a:t>
                </a:r>
              </a:p>
              <a:p>
                <a:endParaRPr lang="en-US" dirty="0"/>
              </a:p>
              <a:p>
                <a:pPr algn="ctr"/>
                <a:r>
                  <a:rPr lang="en-US" sz="4000" b="1" dirty="0">
                    <a:solidFill>
                      <a:srgbClr val="FF0000"/>
                    </a:solidFill>
                  </a:rPr>
                  <a:t>Entropy change of the universe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𝒕𝒐𝒕𝒂𝒍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𝒖𝒏𝒊𝒗𝒆𝒓𝒔𝒆</m:t>
                        </m:r>
                      </m:sub>
                    </m:sSub>
                  </m:oMath>
                </a14:m>
                <a:r>
                  <a:rPr lang="en-US" sz="4000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4000" b="1" i="1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𝒔𝒚𝒔𝒕𝒆𝒎</m:t>
                        </m:r>
                      </m:sub>
                    </m:sSub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l-GR" sz="4000" b="1" i="1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  ≥</m:t>
                    </m:r>
                  </m:oMath>
                </a14:m>
                <a:r>
                  <a:rPr lang="en-US" sz="4000" b="1" dirty="0"/>
                  <a:t> 0</a:t>
                </a:r>
              </a:p>
              <a:p>
                <a:endParaRPr lang="en-US" sz="4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452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2135" y="1032046"/>
            <a:ext cx="10698205" cy="17637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Carnot Cycle: Four processes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Two isothermal (constant temperature) heat transfer processes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Two reversible adiabatic (constant entropy) work transfer processes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503305" y="3729247"/>
            <a:ext cx="2606361" cy="18506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V="1">
            <a:off x="2090775" y="2874213"/>
            <a:ext cx="0" cy="270573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2069319" y="5569434"/>
            <a:ext cx="367257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3283901" y="3695541"/>
            <a:ext cx="558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299466" y="5544670"/>
            <a:ext cx="372709" cy="3811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S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1708402" y="2902462"/>
            <a:ext cx="393963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2126776" y="3470862"/>
            <a:ext cx="394722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2174548" y="4755708"/>
            <a:ext cx="263401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4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16200000">
            <a:off x="3800127" y="2356202"/>
            <a:ext cx="0" cy="2677294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148214" y="3694848"/>
            <a:ext cx="0" cy="1340868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461265" y="3644828"/>
            <a:ext cx="0" cy="1340868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>
            <a:off x="3808782" y="3652436"/>
            <a:ext cx="0" cy="2677294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>
            <a:off x="3857667" y="4734942"/>
            <a:ext cx="0" cy="5015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461265" y="4108538"/>
            <a:ext cx="0" cy="501509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147429" y="4108538"/>
            <a:ext cx="0" cy="5015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5167620" y="3517049"/>
            <a:ext cx="263401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5156297" y="4837941"/>
            <a:ext cx="263401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76918" y="5047104"/>
            <a:ext cx="2606361" cy="497532"/>
          </a:xfrm>
          <a:prstGeom prst="rect">
            <a:avLst/>
          </a:prstGeom>
          <a:solidFill>
            <a:srgbClr val="00B0F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98078" y="4178368"/>
            <a:ext cx="2154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Q</a:t>
            </a:r>
            <a:r>
              <a:rPr lang="en-US" sz="2400" b="1" baseline="-25000" dirty="0" err="1"/>
              <a:t>net</a:t>
            </a:r>
            <a:r>
              <a:rPr lang="en-US" sz="2400" b="1" dirty="0"/>
              <a:t> = </a:t>
            </a:r>
            <a:r>
              <a:rPr lang="en-US" sz="2400" b="1" dirty="0" err="1"/>
              <a:t>W</a:t>
            </a:r>
            <a:r>
              <a:rPr lang="en-US" sz="2400" b="1" baseline="-25000" dirty="0" err="1"/>
              <a:t>net</a:t>
            </a:r>
            <a:endParaRPr lang="en-US" sz="2400" b="1" baseline="-25000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1828240" y="3689592"/>
            <a:ext cx="25538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846981" y="4935070"/>
            <a:ext cx="25538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 Box 22"/>
          <p:cNvSpPr txBox="1">
            <a:spLocks noChangeArrowheads="1"/>
          </p:cNvSpPr>
          <p:nvPr/>
        </p:nvSpPr>
        <p:spPr bwMode="auto">
          <a:xfrm>
            <a:off x="1218932" y="3498711"/>
            <a:ext cx="570172" cy="292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  <a:r>
              <a:rPr kumimoji="0" lang="en-US" sz="2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</a:t>
            </a:r>
          </a:p>
        </p:txBody>
      </p:sp>
      <p:sp>
        <p:nvSpPr>
          <p:cNvPr id="39" name="Text Box 22"/>
          <p:cNvSpPr txBox="1">
            <a:spLocks noChangeArrowheads="1"/>
          </p:cNvSpPr>
          <p:nvPr/>
        </p:nvSpPr>
        <p:spPr bwMode="auto">
          <a:xfrm>
            <a:off x="1245760" y="4743483"/>
            <a:ext cx="570172" cy="292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  <a:r>
              <a:rPr kumimoji="0" lang="en-US" sz="2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</a:t>
            </a:r>
          </a:p>
        </p:txBody>
      </p:sp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6961090" y="3895515"/>
          <a:ext cx="253523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2" imgW="1054080" imgH="431640" progId="Equation.3">
                  <p:embed/>
                </p:oleObj>
              </mc:Choice>
              <mc:Fallback>
                <p:oleObj name="Уравнение" r:id="rId2" imgW="1054080" imgH="431640" progId="Equation.3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090" y="3895515"/>
                        <a:ext cx="2535238" cy="1038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6226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2135" y="1032046"/>
            <a:ext cx="10698205" cy="15541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Reversed Carnot Cycle: </a:t>
            </a:r>
            <a:r>
              <a:rPr lang="en-US" dirty="0"/>
              <a:t>Being a reversible cycle, all the processes that comprise the Carnot cycle can be reversed, in which case it becomes the Carnot refrigeration cycle or Carnot heat pump cycle.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40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 rot="16200000">
            <a:off x="3583982" y="2137003"/>
            <a:ext cx="0" cy="2677294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287160" y="3510048"/>
            <a:ext cx="2606361" cy="18506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43" name="Line 5"/>
          <p:cNvSpPr>
            <a:spLocks noChangeShapeType="1"/>
          </p:cNvSpPr>
          <p:nvPr/>
        </p:nvSpPr>
        <p:spPr bwMode="auto">
          <a:xfrm flipV="1">
            <a:off x="1874630" y="2655014"/>
            <a:ext cx="0" cy="270573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1853174" y="5350235"/>
            <a:ext cx="367257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 flipH="1">
            <a:off x="3067756" y="3476342"/>
            <a:ext cx="558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5083321" y="5325471"/>
            <a:ext cx="372709" cy="3811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S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ext Box 14"/>
          <p:cNvSpPr txBox="1">
            <a:spLocks noChangeArrowheads="1"/>
          </p:cNvSpPr>
          <p:nvPr/>
        </p:nvSpPr>
        <p:spPr bwMode="auto">
          <a:xfrm>
            <a:off x="1492257" y="2683263"/>
            <a:ext cx="393963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T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1910631" y="3251663"/>
            <a:ext cx="394722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GB" sz="2000" b="1" dirty="0">
                <a:latin typeface="Calibri" pitchFamily="34" charset="0"/>
                <a:cs typeface="Arial" pitchFamily="34" charset="0"/>
              </a:rPr>
              <a:t>4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1958403" y="4536509"/>
            <a:ext cx="263401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1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4932069" y="3475649"/>
            <a:ext cx="0" cy="1340868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245120" y="3425629"/>
            <a:ext cx="0" cy="1340868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16200000">
            <a:off x="3592637" y="3433237"/>
            <a:ext cx="0" cy="2677294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rot="16200000" flipH="1">
            <a:off x="3641522" y="4515743"/>
            <a:ext cx="0" cy="5015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2245120" y="3889339"/>
            <a:ext cx="0" cy="501509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4931284" y="3889339"/>
            <a:ext cx="0" cy="5015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 Box 22"/>
          <p:cNvSpPr txBox="1">
            <a:spLocks noChangeArrowheads="1"/>
          </p:cNvSpPr>
          <p:nvPr/>
        </p:nvSpPr>
        <p:spPr bwMode="auto">
          <a:xfrm>
            <a:off x="4951475" y="3297850"/>
            <a:ext cx="263401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57" name="Text Box 22"/>
          <p:cNvSpPr txBox="1">
            <a:spLocks noChangeArrowheads="1"/>
          </p:cNvSpPr>
          <p:nvPr/>
        </p:nvSpPr>
        <p:spPr bwMode="auto">
          <a:xfrm>
            <a:off x="4940152" y="4618742"/>
            <a:ext cx="263401" cy="2800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21285" y="4827905"/>
            <a:ext cx="2685336" cy="497532"/>
          </a:xfrm>
          <a:prstGeom prst="rect">
            <a:avLst/>
          </a:prstGeom>
          <a:solidFill>
            <a:srgbClr val="00B0F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baseline="-25000" dirty="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535375" y="3848843"/>
            <a:ext cx="2154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Q</a:t>
            </a:r>
            <a:r>
              <a:rPr lang="en-US" sz="2400" b="1" baseline="-25000" dirty="0" err="1"/>
              <a:t>net</a:t>
            </a:r>
            <a:r>
              <a:rPr lang="en-US" sz="2400" b="1" dirty="0"/>
              <a:t> = </a:t>
            </a:r>
            <a:r>
              <a:rPr lang="en-US" sz="2400" b="1" dirty="0" err="1"/>
              <a:t>W</a:t>
            </a:r>
            <a:r>
              <a:rPr lang="en-US" sz="2400" b="1" baseline="-25000" dirty="0" err="1"/>
              <a:t>net</a:t>
            </a:r>
            <a:endParaRPr lang="en-US" sz="2400" b="1" baseline="-25000" dirty="0"/>
          </a:p>
        </p:txBody>
      </p:sp>
      <p:cxnSp>
        <p:nvCxnSpPr>
          <p:cNvPr id="60" name="Straight Connector 59"/>
          <p:cNvCxnSpPr/>
          <p:nvPr/>
        </p:nvCxnSpPr>
        <p:spPr>
          <a:xfrm>
            <a:off x="1612095" y="3470393"/>
            <a:ext cx="25538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1630836" y="4715871"/>
            <a:ext cx="25538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 Box 22"/>
          <p:cNvSpPr txBox="1">
            <a:spLocks noChangeArrowheads="1"/>
          </p:cNvSpPr>
          <p:nvPr/>
        </p:nvSpPr>
        <p:spPr bwMode="auto">
          <a:xfrm>
            <a:off x="1002787" y="3279512"/>
            <a:ext cx="570172" cy="292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  <a:r>
              <a:rPr kumimoji="0" lang="en-US" sz="2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</a:t>
            </a:r>
          </a:p>
        </p:txBody>
      </p:sp>
      <p:sp>
        <p:nvSpPr>
          <p:cNvPr id="63" name="Text Box 22"/>
          <p:cNvSpPr txBox="1">
            <a:spLocks noChangeArrowheads="1"/>
          </p:cNvSpPr>
          <p:nvPr/>
        </p:nvSpPr>
        <p:spPr bwMode="auto">
          <a:xfrm>
            <a:off x="1029615" y="4524284"/>
            <a:ext cx="570172" cy="292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  <a:r>
              <a:rPr kumimoji="0" lang="en-US" sz="2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</a:t>
            </a:r>
          </a:p>
        </p:txBody>
      </p:sp>
      <p:graphicFrame>
        <p:nvGraphicFramePr>
          <p:cNvPr id="64" name="Object 63"/>
          <p:cNvGraphicFramePr>
            <a:graphicFrameLocks noChangeAspect="1"/>
          </p:cNvGraphicFramePr>
          <p:nvPr/>
        </p:nvGraphicFramePr>
        <p:xfrm>
          <a:off x="5996281" y="2928600"/>
          <a:ext cx="4736514" cy="926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2" imgW="2273300" imgH="444500" progId="Equation.3">
                  <p:embed/>
                </p:oleObj>
              </mc:Choice>
              <mc:Fallback>
                <p:oleObj name="Уравнение" r:id="rId2" imgW="2273300" imgH="444500" progId="Equation.3">
                  <p:embed/>
                  <p:pic>
                    <p:nvPicPr>
                      <p:cNvPr id="64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281" y="2928600"/>
                        <a:ext cx="4736514" cy="9261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/>
          <p:cNvGraphicFramePr>
            <a:graphicFrameLocks noChangeAspect="1"/>
          </p:cNvGraphicFramePr>
          <p:nvPr/>
        </p:nvGraphicFramePr>
        <p:xfrm>
          <a:off x="6034891" y="4199808"/>
          <a:ext cx="4153963" cy="811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4" imgW="2209800" imgH="431800" progId="Equation.3">
                  <p:embed/>
                </p:oleObj>
              </mc:Choice>
              <mc:Fallback>
                <p:oleObj name="Уравнение" r:id="rId4" imgW="2209800" imgH="431800" progId="Equation.3">
                  <p:embed/>
                  <p:pic>
                    <p:nvPicPr>
                      <p:cNvPr id="6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891" y="4199808"/>
                        <a:ext cx="4153963" cy="8116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2271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723" y="1032045"/>
            <a:ext cx="5978289" cy="5246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C00000"/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sz="2500" dirty="0"/>
              <a:t>A fridge working on the reversed Carnot cycle has a power requirement of 5 kW. If the maximum and minimum temperatures in the cycle are 40 °C  and -10 °C respectively, determine:</a:t>
            </a:r>
          </a:p>
          <a:p>
            <a:pPr marL="0" indent="0">
              <a:buNone/>
            </a:pPr>
            <a:r>
              <a:rPr lang="en-US" sz="2500" dirty="0"/>
              <a:t>(a) The COP</a:t>
            </a:r>
          </a:p>
          <a:p>
            <a:pPr marL="457200" indent="-457200">
              <a:buNone/>
            </a:pPr>
            <a:r>
              <a:rPr lang="en-US" sz="2500" dirty="0"/>
              <a:t>(b) The rate of heat extraction from the cold space</a:t>
            </a:r>
          </a:p>
          <a:p>
            <a:pPr marL="457200" indent="-457200">
              <a:buNone/>
            </a:pPr>
            <a:r>
              <a:rPr lang="en-US" sz="2500" dirty="0"/>
              <a:t>(c) The change in specific entropy for each of the processes in the cycle, given a refrigerant mass flow rate of 0.32 kg/s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6800850" y="1552696"/>
            <a:ext cx="4522958" cy="3051578"/>
            <a:chOff x="-27158" y="3200400"/>
            <a:chExt cx="4522958" cy="3051578"/>
          </a:xfrm>
        </p:grpSpPr>
        <p:cxnSp>
          <p:nvCxnSpPr>
            <p:cNvPr id="31" name="Straight Connector 30"/>
            <p:cNvCxnSpPr/>
            <p:nvPr/>
          </p:nvCxnSpPr>
          <p:spPr>
            <a:xfrm rot="16200000">
              <a:off x="2554037" y="2682389"/>
              <a:ext cx="0" cy="2677294"/>
            </a:xfrm>
            <a:prstGeom prst="line">
              <a:avLst/>
            </a:prstGeom>
            <a:ln w="3810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1257215" y="4055434"/>
              <a:ext cx="2606361" cy="185069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3" name="Line 5"/>
            <p:cNvSpPr>
              <a:spLocks noChangeShapeType="1"/>
            </p:cNvSpPr>
            <p:nvPr/>
          </p:nvSpPr>
          <p:spPr bwMode="auto">
            <a:xfrm flipV="1">
              <a:off x="844685" y="3200400"/>
              <a:ext cx="0" cy="27057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6"/>
            <p:cNvSpPr>
              <a:spLocks noChangeShapeType="1"/>
            </p:cNvSpPr>
            <p:nvPr/>
          </p:nvSpPr>
          <p:spPr bwMode="auto">
            <a:xfrm>
              <a:off x="823229" y="5895621"/>
              <a:ext cx="367257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 flipH="1">
              <a:off x="2037811" y="4021728"/>
              <a:ext cx="55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4053376" y="5870857"/>
              <a:ext cx="372709" cy="3811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S</a:t>
              </a: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>
              <a:off x="462312" y="3228649"/>
              <a:ext cx="393963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19"/>
            <p:cNvSpPr txBox="1">
              <a:spLocks noChangeArrowheads="1"/>
            </p:cNvSpPr>
            <p:nvPr/>
          </p:nvSpPr>
          <p:spPr bwMode="auto">
            <a:xfrm>
              <a:off x="880686" y="3797049"/>
              <a:ext cx="394722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GB" sz="2000" b="1" dirty="0">
                  <a:latin typeface="Calibri" pitchFamily="34" charset="0"/>
                  <a:cs typeface="Arial" pitchFamily="34" charset="0"/>
                </a:rPr>
                <a:t>4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22"/>
            <p:cNvSpPr txBox="1">
              <a:spLocks noChangeArrowheads="1"/>
            </p:cNvSpPr>
            <p:nvPr/>
          </p:nvSpPr>
          <p:spPr bwMode="auto">
            <a:xfrm>
              <a:off x="928458" y="5081895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3902124" y="4021035"/>
              <a:ext cx="0" cy="134086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1215175" y="3971015"/>
              <a:ext cx="0" cy="134086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16200000">
              <a:off x="2562692" y="3978623"/>
              <a:ext cx="0" cy="2677294"/>
            </a:xfrm>
            <a:prstGeom prst="line">
              <a:avLst/>
            </a:prstGeom>
            <a:ln w="3810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rot="16200000" flipH="1">
              <a:off x="2611577" y="5061129"/>
              <a:ext cx="0" cy="50150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1215175" y="4434725"/>
              <a:ext cx="0" cy="50150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3901339" y="4434725"/>
              <a:ext cx="0" cy="50150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 Box 22"/>
            <p:cNvSpPr txBox="1">
              <a:spLocks noChangeArrowheads="1"/>
            </p:cNvSpPr>
            <p:nvPr/>
          </p:nvSpPr>
          <p:spPr bwMode="auto">
            <a:xfrm>
              <a:off x="3921530" y="3843236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72" name="Text Box 22"/>
            <p:cNvSpPr txBox="1">
              <a:spLocks noChangeArrowheads="1"/>
            </p:cNvSpPr>
            <p:nvPr/>
          </p:nvSpPr>
          <p:spPr bwMode="auto">
            <a:xfrm>
              <a:off x="3910207" y="5164128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191340" y="5373291"/>
              <a:ext cx="2685336" cy="49753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505430" y="4394229"/>
              <a:ext cx="21545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/>
                <a:t>Q</a:t>
              </a:r>
              <a:r>
                <a:rPr lang="en-US" sz="2400" b="1" baseline="-25000" dirty="0" err="1"/>
                <a:t>net</a:t>
              </a:r>
              <a:r>
                <a:rPr lang="en-US" sz="2400" b="1" dirty="0"/>
                <a:t> = </a:t>
              </a:r>
              <a:r>
                <a:rPr lang="en-US" sz="2400" b="1" dirty="0" err="1"/>
                <a:t>W</a:t>
              </a:r>
              <a:r>
                <a:rPr lang="en-US" sz="2400" b="1" baseline="-25000" dirty="0" err="1"/>
                <a:t>net</a:t>
              </a:r>
              <a:endParaRPr lang="en-US" sz="2400" b="1" baseline="-25000" dirty="0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582150" y="4015779"/>
              <a:ext cx="25538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600891" y="5261257"/>
              <a:ext cx="25538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 Box 22"/>
            <p:cNvSpPr txBox="1">
              <a:spLocks noChangeArrowheads="1"/>
            </p:cNvSpPr>
            <p:nvPr/>
          </p:nvSpPr>
          <p:spPr bwMode="auto">
            <a:xfrm>
              <a:off x="-27158" y="3824898"/>
              <a:ext cx="570172" cy="292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T</a:t>
              </a:r>
              <a:r>
                <a:rPr kumimoji="0" lang="en-US" sz="20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H</a:t>
              </a:r>
            </a:p>
          </p:txBody>
        </p:sp>
        <p:sp>
          <p:nvSpPr>
            <p:cNvPr id="78" name="Text Box 22"/>
            <p:cNvSpPr txBox="1">
              <a:spLocks noChangeArrowheads="1"/>
            </p:cNvSpPr>
            <p:nvPr/>
          </p:nvSpPr>
          <p:spPr bwMode="auto">
            <a:xfrm>
              <a:off x="-330" y="5069670"/>
              <a:ext cx="570172" cy="292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T</a:t>
              </a:r>
              <a:r>
                <a:rPr kumimoji="0" lang="en-US" sz="20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</p:grpSp>
      <p:sp>
        <p:nvSpPr>
          <p:cNvPr id="79" name="Content Placeholder 2"/>
          <p:cNvSpPr txBox="1">
            <a:spLocks/>
          </p:cNvSpPr>
          <p:nvPr/>
        </p:nvSpPr>
        <p:spPr>
          <a:xfrm>
            <a:off x="7307148" y="1038622"/>
            <a:ext cx="3510362" cy="5525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500" b="1" dirty="0">
                <a:solidFill>
                  <a:srgbClr val="C00000"/>
                </a:solidFill>
              </a:rPr>
              <a:t>Solution: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graphicFrame>
        <p:nvGraphicFramePr>
          <p:cNvPr id="80" name="Object 79"/>
          <p:cNvGraphicFramePr>
            <a:graphicFrameLocks noChangeAspect="1"/>
          </p:cNvGraphicFramePr>
          <p:nvPr/>
        </p:nvGraphicFramePr>
        <p:xfrm>
          <a:off x="6574716" y="4911904"/>
          <a:ext cx="49752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2" imgW="2387520" imgH="431640" progId="Equation.3">
                  <p:embed/>
                </p:oleObj>
              </mc:Choice>
              <mc:Fallback>
                <p:oleObj name="Уравнение" r:id="rId2" imgW="2387520" imgH="431640" progId="Equation.3">
                  <p:embed/>
                  <p:pic>
                    <p:nvPicPr>
                      <p:cNvPr id="8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4716" y="4911904"/>
                        <a:ext cx="4975225" cy="898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100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600" y="1032046"/>
            <a:ext cx="3934336" cy="4740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C00000"/>
                </a:solidFill>
              </a:rPr>
              <a:t>Solution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/>
        </p:nvGraphicFramePr>
        <p:xfrm>
          <a:off x="1082278" y="4835657"/>
          <a:ext cx="3343834" cy="1345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Уравнение" r:id="rId2" imgW="1638000" imgH="660240" progId="Equation.3">
                  <p:embed/>
                </p:oleObj>
              </mc:Choice>
              <mc:Fallback>
                <p:oleObj name="Уравнение" r:id="rId2" imgW="1638000" imgH="660240" progId="Equation.3">
                  <p:embed/>
                  <p:pic>
                    <p:nvPicPr>
                      <p:cNvPr id="41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278" y="4835657"/>
                        <a:ext cx="3343834" cy="13453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Group 42"/>
          <p:cNvGrpSpPr/>
          <p:nvPr/>
        </p:nvGrpSpPr>
        <p:grpSpPr>
          <a:xfrm>
            <a:off x="345724" y="1506072"/>
            <a:ext cx="4522958" cy="3051578"/>
            <a:chOff x="-27158" y="3200400"/>
            <a:chExt cx="4522958" cy="3051578"/>
          </a:xfrm>
        </p:grpSpPr>
        <p:cxnSp>
          <p:nvCxnSpPr>
            <p:cNvPr id="44" name="Straight Connector 43"/>
            <p:cNvCxnSpPr/>
            <p:nvPr/>
          </p:nvCxnSpPr>
          <p:spPr>
            <a:xfrm rot="16200000">
              <a:off x="2554037" y="2682389"/>
              <a:ext cx="0" cy="2677294"/>
            </a:xfrm>
            <a:prstGeom prst="line">
              <a:avLst/>
            </a:prstGeom>
            <a:ln w="3810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1257215" y="4055434"/>
              <a:ext cx="2606361" cy="185069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46" name="Line 5"/>
            <p:cNvSpPr>
              <a:spLocks noChangeShapeType="1"/>
            </p:cNvSpPr>
            <p:nvPr/>
          </p:nvSpPr>
          <p:spPr bwMode="auto">
            <a:xfrm flipV="1">
              <a:off x="844685" y="3200400"/>
              <a:ext cx="0" cy="27057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6"/>
            <p:cNvSpPr>
              <a:spLocks noChangeShapeType="1"/>
            </p:cNvSpPr>
            <p:nvPr/>
          </p:nvSpPr>
          <p:spPr bwMode="auto">
            <a:xfrm>
              <a:off x="823229" y="5895621"/>
              <a:ext cx="367257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1"/>
            <p:cNvSpPr>
              <a:spLocks noChangeShapeType="1"/>
            </p:cNvSpPr>
            <p:nvPr/>
          </p:nvSpPr>
          <p:spPr bwMode="auto">
            <a:xfrm flipH="1">
              <a:off x="2037811" y="4021728"/>
              <a:ext cx="55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Text Box 13"/>
            <p:cNvSpPr txBox="1">
              <a:spLocks noChangeArrowheads="1"/>
            </p:cNvSpPr>
            <p:nvPr/>
          </p:nvSpPr>
          <p:spPr bwMode="auto">
            <a:xfrm>
              <a:off x="4053376" y="5870857"/>
              <a:ext cx="372709" cy="3811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S</a:t>
              </a: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462312" y="3228649"/>
              <a:ext cx="393963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GB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</a:t>
              </a: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880686" y="3797049"/>
              <a:ext cx="394722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GB" sz="2000" b="1" dirty="0">
                  <a:latin typeface="Calibri" pitchFamily="34" charset="0"/>
                  <a:cs typeface="Arial" pitchFamily="34" charset="0"/>
                </a:rPr>
                <a:t>4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928458" y="5081895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902124" y="4021035"/>
              <a:ext cx="0" cy="134086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1215175" y="3971015"/>
              <a:ext cx="0" cy="134086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>
              <a:off x="2562692" y="3978623"/>
              <a:ext cx="0" cy="2677294"/>
            </a:xfrm>
            <a:prstGeom prst="line">
              <a:avLst/>
            </a:prstGeom>
            <a:ln w="3810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rot="16200000" flipH="1">
              <a:off x="2611577" y="5061129"/>
              <a:ext cx="0" cy="50150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1215175" y="4434725"/>
              <a:ext cx="0" cy="50150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V="1">
              <a:off x="3901339" y="4434725"/>
              <a:ext cx="0" cy="50150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 Box 22"/>
            <p:cNvSpPr txBox="1">
              <a:spLocks noChangeArrowheads="1"/>
            </p:cNvSpPr>
            <p:nvPr/>
          </p:nvSpPr>
          <p:spPr bwMode="auto">
            <a:xfrm>
              <a:off x="3921530" y="3843236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3910207" y="5164128"/>
              <a:ext cx="263401" cy="280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191340" y="5373291"/>
              <a:ext cx="2685336" cy="49753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505430" y="4394229"/>
              <a:ext cx="21545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/>
                <a:t>Q</a:t>
              </a:r>
              <a:r>
                <a:rPr lang="en-US" sz="2400" b="1" baseline="-25000" dirty="0" err="1"/>
                <a:t>net</a:t>
              </a:r>
              <a:r>
                <a:rPr lang="en-US" sz="2400" b="1" dirty="0"/>
                <a:t> = </a:t>
              </a:r>
              <a:r>
                <a:rPr lang="en-US" sz="2400" b="1" dirty="0" err="1"/>
                <a:t>W</a:t>
              </a:r>
              <a:r>
                <a:rPr lang="en-US" sz="2400" b="1" baseline="-25000" dirty="0" err="1"/>
                <a:t>net</a:t>
              </a:r>
              <a:endParaRPr lang="en-US" sz="2400" b="1" baseline="-25000" dirty="0"/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582150" y="4015779"/>
              <a:ext cx="25538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600891" y="5261257"/>
              <a:ext cx="25538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 Box 22"/>
            <p:cNvSpPr txBox="1">
              <a:spLocks noChangeArrowheads="1"/>
            </p:cNvSpPr>
            <p:nvPr/>
          </p:nvSpPr>
          <p:spPr bwMode="auto">
            <a:xfrm>
              <a:off x="-27158" y="3824898"/>
              <a:ext cx="570172" cy="292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T</a:t>
              </a:r>
              <a:r>
                <a:rPr kumimoji="0" lang="en-US" sz="20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H</a:t>
              </a:r>
            </a:p>
          </p:txBody>
        </p:sp>
        <p:sp>
          <p:nvSpPr>
            <p:cNvPr id="81" name="Text Box 22"/>
            <p:cNvSpPr txBox="1">
              <a:spLocks noChangeArrowheads="1"/>
            </p:cNvSpPr>
            <p:nvPr/>
          </p:nvSpPr>
          <p:spPr bwMode="auto">
            <a:xfrm>
              <a:off x="-330" y="5069670"/>
              <a:ext cx="570172" cy="292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T</a:t>
              </a:r>
              <a:r>
                <a:rPr kumimoji="0" lang="en-US" sz="20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165" y="1240030"/>
            <a:ext cx="5957316" cy="45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309980" y="1016889"/>
            <a:ext cx="6449424" cy="493977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sz="half" idx="4294967295"/>
              </p:nvPr>
            </p:nvSpPr>
            <p:spPr>
              <a:xfrm>
                <a:off x="5997302" y="1308703"/>
                <a:ext cx="53848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Note</a:t>
                </a:r>
              </a:p>
              <a:p>
                <a:r>
                  <a:rPr lang="en-US" dirty="0"/>
                  <a:t>S</a:t>
                </a:r>
                <a:r>
                  <a:rPr lang="en-US" baseline="-25000" dirty="0"/>
                  <a:t>3 </a:t>
                </a:r>
                <a:r>
                  <a:rPr lang="en-US" dirty="0"/>
                  <a:t>– S</a:t>
                </a:r>
                <a:r>
                  <a:rPr lang="en-US" baseline="-25000" dirty="0"/>
                  <a:t>2</a:t>
                </a:r>
                <a:r>
                  <a:rPr lang="en-US" dirty="0"/>
                  <a:t> =0 and S</a:t>
                </a:r>
                <a:r>
                  <a:rPr lang="en-US" baseline="-25000" dirty="0"/>
                  <a:t>1 </a:t>
                </a:r>
                <a:r>
                  <a:rPr lang="en-US" dirty="0"/>
                  <a:t>– S</a:t>
                </a:r>
                <a:r>
                  <a:rPr lang="en-US" baseline="-25000" dirty="0"/>
                  <a:t>4</a:t>
                </a:r>
                <a:r>
                  <a:rPr lang="en-US" dirty="0"/>
                  <a:t> =0 </a:t>
                </a:r>
                <a:endParaRPr lang="en-US" baseline="-250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3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36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num>
                          <m:den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3600" b="1" dirty="0"/>
                  <a:t> ≤  0 </a:t>
                </a:r>
              </a:p>
              <a:p>
                <a:r>
                  <a:rPr lang="en-US" sz="3600" b="1" dirty="0"/>
                  <a:t>= 0 when all processes are reversible in the cycle</a:t>
                </a:r>
              </a:p>
              <a:p>
                <a:r>
                  <a:rPr lang="en-US" sz="3600" b="1" dirty="0"/>
                  <a:t>&lt; 0 when there are irreversibilities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4294967295"/>
              </p:nvPr>
            </p:nvSpPr>
            <p:spPr>
              <a:xfrm>
                <a:off x="5997302" y="1308703"/>
                <a:ext cx="5384800" cy="4525963"/>
              </a:xfrm>
              <a:blipFill>
                <a:blip r:embed="rId3"/>
                <a:stretch>
                  <a:fillRect l="-2718" t="-1752" r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059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 2</a:t>
            </a:r>
          </a:p>
          <a:p>
            <a:pPr marL="0" indent="0">
              <a:buNone/>
            </a:pPr>
            <a:r>
              <a:rPr lang="en-US" sz="3200" dirty="0"/>
              <a:t>A system of 100 kg mass undergoes a process in which the specific entropy increases from 0.3 kJ/(kg.K) to 0.4 kJ/(kg. K). At the same time, the entropy of the surroundings of the system decreases from 80 kJ/K to 75 kJ/K. This process is:</a:t>
            </a:r>
          </a:p>
          <a:p>
            <a:pPr marL="0" indent="0">
              <a:buNone/>
            </a:pPr>
            <a:r>
              <a:rPr lang="en-US" sz="3200" dirty="0"/>
              <a:t>(a) reversible (b) irreversible (c)reversible and adiabatic (d) impossible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72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Second Law of Thermodynamics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6708" y="1002088"/>
                <a:ext cx="12105292" cy="517582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Solution</a:t>
                </a:r>
              </a:p>
              <a:p>
                <a:pPr marL="0" indent="0">
                  <a:buNone/>
                </a:pPr>
                <a:r>
                  <a:rPr lang="en-US" b="1" dirty="0"/>
                  <a:t>The total entropy change of the universe never decreases during a process undergone by a system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That is   </a:t>
                </a:r>
                <a:r>
                  <a:rPr lang="en-US" sz="3600" dirty="0"/>
                  <a:t>∆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total</a:t>
                </a:r>
                <a:r>
                  <a:rPr lang="en-US" sz="3600" dirty="0"/>
                  <a:t> = ∆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system</a:t>
                </a:r>
                <a:r>
                  <a:rPr lang="en-US" sz="3600" dirty="0"/>
                  <a:t> + ∆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surroundings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600" baseline="-25000" dirty="0"/>
              </a:p>
              <a:p>
                <a:pPr marL="0" indent="0">
                  <a:buNone/>
                </a:pPr>
                <a:r>
                  <a:rPr lang="en-US" sz="3600" dirty="0"/>
                  <a:t>∆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system</a:t>
                </a:r>
                <a:r>
                  <a:rPr lang="en-US" sz="3600" dirty="0"/>
                  <a:t>= </a:t>
                </a:r>
                <a:r>
                  <a:rPr lang="en-US" sz="3600" dirty="0" err="1"/>
                  <a:t>m∆s</a:t>
                </a:r>
                <a:r>
                  <a:rPr lang="en-US" sz="3600" baseline="-25000" dirty="0" err="1"/>
                  <a:t>system</a:t>
                </a:r>
                <a:r>
                  <a:rPr lang="en-US" sz="3600" dirty="0"/>
                  <a:t>= m(s</a:t>
                </a:r>
                <a:r>
                  <a:rPr lang="en-US" sz="3600" baseline="-25000" dirty="0"/>
                  <a:t>f</a:t>
                </a:r>
                <a:r>
                  <a:rPr lang="en-US" sz="3600" dirty="0"/>
                  <a:t>-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i</a:t>
                </a:r>
                <a:r>
                  <a:rPr lang="en-US" sz="3600" dirty="0"/>
                  <a:t>) = 100 kg (0.4 – 0.3)kJ/K = </a:t>
                </a:r>
                <a:r>
                  <a:rPr lang="en-US" sz="3600" b="1" dirty="0"/>
                  <a:t>+10 kJ/K</a:t>
                </a:r>
              </a:p>
              <a:p>
                <a:pPr marL="0" indent="0">
                  <a:buNone/>
                </a:pPr>
                <a:r>
                  <a:rPr lang="en-US" sz="3600" dirty="0"/>
                  <a:t>∆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surroundings</a:t>
                </a:r>
                <a:r>
                  <a:rPr lang="en-US" sz="3600" dirty="0"/>
                  <a:t>= (75 -80) kJ/K = </a:t>
                </a:r>
                <a:r>
                  <a:rPr lang="en-US" sz="3600" b="1" dirty="0"/>
                  <a:t>-5 kJ/K</a:t>
                </a:r>
              </a:p>
              <a:p>
                <a:pPr marL="0" indent="0">
                  <a:buNone/>
                </a:pPr>
                <a:r>
                  <a:rPr lang="en-US" sz="3600" dirty="0"/>
                  <a:t>∆</a:t>
                </a:r>
                <a:r>
                  <a:rPr lang="en-US" sz="3600" dirty="0" err="1"/>
                  <a:t>S</a:t>
                </a:r>
                <a:r>
                  <a:rPr lang="en-US" sz="3600" baseline="-25000" dirty="0" err="1"/>
                  <a:t>total</a:t>
                </a:r>
                <a:r>
                  <a:rPr lang="en-US" sz="3600" dirty="0"/>
                  <a:t> = +10 kJ/K -5 kJ/K = +5 kJ/K &gt; 0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sz="3200" b="1" dirty="0"/>
                  <a:t>It implies that the process undergone by the system is irreversible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6708" y="1002088"/>
                <a:ext cx="12105292" cy="5175827"/>
              </a:xfrm>
              <a:blipFill>
                <a:blip r:embed="rId2"/>
                <a:stretch>
                  <a:fillRect l="-1511" t="-1178" r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578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1337" y="283087"/>
            <a:ext cx="11198086" cy="59269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10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8" name="Picture 2" descr="7,473 Thank You Business Stock Photos, Pictures &amp; Royalty-Free Images - 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198" y="1988579"/>
            <a:ext cx="7532942" cy="350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38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43308</TotalTime>
  <Words>3275</Words>
  <Application>Microsoft Office PowerPoint</Application>
  <PresentationFormat>Widescreen</PresentationFormat>
  <Paragraphs>500</Paragraphs>
  <Slides>46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Arial</vt:lpstr>
      <vt:lpstr>Calibri</vt:lpstr>
      <vt:lpstr>Cambria Math</vt:lpstr>
      <vt:lpstr>Eras Demi ITC</vt:lpstr>
      <vt:lpstr>Garamond</vt:lpstr>
      <vt:lpstr>Georgia</vt:lpstr>
      <vt:lpstr>Helvetica</vt:lpstr>
      <vt:lpstr>Wingdings</vt:lpstr>
      <vt:lpstr>Office Theme</vt:lpstr>
      <vt:lpstr>Equation</vt:lpstr>
      <vt:lpstr>Уравнение</vt:lpstr>
      <vt:lpstr>THERMODYNAMICS I (ME 265) 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CLAUSSIUS INEQUALITY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Second Law of Thermodynamics</vt:lpstr>
      <vt:lpstr>PowerPoint Presentation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Desmond</cp:lastModifiedBy>
  <cp:revision>895</cp:revision>
  <dcterms:created xsi:type="dcterms:W3CDTF">2016-11-07T15:28:41Z</dcterms:created>
  <dcterms:modified xsi:type="dcterms:W3CDTF">2022-04-01T14:58:16Z</dcterms:modified>
</cp:coreProperties>
</file>