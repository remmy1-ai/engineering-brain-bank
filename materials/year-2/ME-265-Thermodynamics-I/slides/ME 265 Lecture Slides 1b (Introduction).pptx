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29"/>
  </p:notesMasterIdLst>
  <p:handoutMasterIdLst>
    <p:handoutMasterId r:id="rId30"/>
  </p:handoutMasterIdLst>
  <p:sldIdLst>
    <p:sldId id="669" r:id="rId2"/>
    <p:sldId id="548" r:id="rId3"/>
    <p:sldId id="644" r:id="rId4"/>
    <p:sldId id="645" r:id="rId5"/>
    <p:sldId id="646" r:id="rId6"/>
    <p:sldId id="647" r:id="rId7"/>
    <p:sldId id="648" r:id="rId8"/>
    <p:sldId id="649" r:id="rId9"/>
    <p:sldId id="650" r:id="rId10"/>
    <p:sldId id="651" r:id="rId11"/>
    <p:sldId id="655" r:id="rId12"/>
    <p:sldId id="652" r:id="rId13"/>
    <p:sldId id="653" r:id="rId14"/>
    <p:sldId id="654" r:id="rId15"/>
    <p:sldId id="656" r:id="rId16"/>
    <p:sldId id="657" r:id="rId17"/>
    <p:sldId id="658" r:id="rId18"/>
    <p:sldId id="659" r:id="rId19"/>
    <p:sldId id="660" r:id="rId20"/>
    <p:sldId id="661" r:id="rId21"/>
    <p:sldId id="663" r:id="rId22"/>
    <p:sldId id="664" r:id="rId23"/>
    <p:sldId id="665" r:id="rId24"/>
    <p:sldId id="666" r:id="rId25"/>
    <p:sldId id="667" r:id="rId26"/>
    <p:sldId id="668" r:id="rId27"/>
    <p:sldId id="543"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98DF"/>
    <a:srgbClr val="F6C702"/>
    <a:srgbClr val="008001"/>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5221" autoAdjust="0"/>
    <p:restoredTop sz="94660"/>
  </p:normalViewPr>
  <p:slideViewPr>
    <p:cSldViewPr snapToGrid="0" snapToObjects="1">
      <p:cViewPr varScale="1">
        <p:scale>
          <a:sx n="69" d="100"/>
          <a:sy n="69" d="100"/>
        </p:scale>
        <p:origin x="360" y="60"/>
      </p:cViewPr>
      <p:guideLst>
        <p:guide orient="horz" pos="2160"/>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9.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A847608-6ABE-4504-86B5-76DC66B615AB}" type="datetimeFigureOut">
              <a:rPr lang="en-US" smtClean="0"/>
              <a:t>12/1/2021</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D7764DC-64CD-49E5-9D34-444ECD2251CF}" type="slidenum">
              <a:rPr lang="en-US" smtClean="0"/>
              <a:t>‹#›</a:t>
            </a:fld>
            <a:endParaRPr lang="en-US"/>
          </a:p>
        </p:txBody>
      </p:sp>
    </p:spTree>
    <p:extLst>
      <p:ext uri="{BB962C8B-B14F-4D97-AF65-F5344CB8AC3E}">
        <p14:creationId xmlns:p14="http://schemas.microsoft.com/office/powerpoint/2010/main" val="21554370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C070D9-CE4C-4523-84E5-2BCC360EF90C}" type="datetimeFigureOut">
              <a:rPr lang="en-US" smtClean="0"/>
              <a:t>12/1/2021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7DD320-4E3A-4CB5-A0BC-F8EFFE6E1B53}" type="slidenum">
              <a:rPr lang="en-US" smtClean="0"/>
              <a:t>‹#›</a:t>
            </a:fld>
            <a:endParaRPr lang="en-US"/>
          </a:p>
        </p:txBody>
      </p:sp>
    </p:spTree>
    <p:extLst>
      <p:ext uri="{BB962C8B-B14F-4D97-AF65-F5344CB8AC3E}">
        <p14:creationId xmlns:p14="http://schemas.microsoft.com/office/powerpoint/2010/main" val="5620647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www.knust.edu.gh/" TargetMode="External"/><Relationship Id="rId7"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hyperlink" Target="https://www.facebook.com/knust.Ghana/" TargetMode="External"/><Relationship Id="rId5" Type="http://schemas.openxmlformats.org/officeDocument/2006/relationships/image" Target="../media/image3.jpeg"/><Relationship Id="rId4" Type="http://schemas.openxmlformats.org/officeDocument/2006/relationships/hyperlink" Target="https://twitter.com/_knust_" TargetMode="Externa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A2076DD-8797-46B9-BAA0-1118061A3B20}" type="datetime1">
              <a:rPr lang="en-US" smtClean="0"/>
              <a:t>12/1/2021</a:t>
            </a:fld>
            <a:endParaRPr lang="en-US"/>
          </a:p>
        </p:txBody>
      </p:sp>
      <p:sp>
        <p:nvSpPr>
          <p:cNvPr id="6" name="Slide Number Placeholder 5"/>
          <p:cNvSpPr>
            <a:spLocks noGrp="1"/>
          </p:cNvSpPr>
          <p:nvPr>
            <p:ph type="sldNum" sz="quarter" idx="12"/>
          </p:nvPr>
        </p:nvSpPr>
        <p:spPr/>
        <p:txBody>
          <a:bodyPr/>
          <a:lstStyle/>
          <a:p>
            <a:fld id="{F4801FD5-11B4-DE43-ACA2-E85EEB9A6F9C}" type="slidenum">
              <a:rPr lang="en-US" smtClean="0"/>
              <a:t>‹#›</a:t>
            </a:fld>
            <a:endParaRPr lang="en-US"/>
          </a:p>
        </p:txBody>
      </p:sp>
      <p:grpSp>
        <p:nvGrpSpPr>
          <p:cNvPr id="7" name="Group 6"/>
          <p:cNvGrpSpPr/>
          <p:nvPr userDrawn="1"/>
        </p:nvGrpSpPr>
        <p:grpSpPr>
          <a:xfrm>
            <a:off x="0" y="1"/>
            <a:ext cx="12192000" cy="854748"/>
            <a:chOff x="0" y="1"/>
            <a:chExt cx="9144000" cy="854748"/>
          </a:xfrm>
        </p:grpSpPr>
        <p:sp>
          <p:nvSpPr>
            <p:cNvPr id="8" name="Rectangle 7"/>
            <p:cNvSpPr/>
            <p:nvPr/>
          </p:nvSpPr>
          <p:spPr>
            <a:xfrm>
              <a:off x="0" y="1"/>
              <a:ext cx="9144000" cy="854748"/>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9" name="TextBox 8"/>
            <p:cNvSpPr txBox="1"/>
            <p:nvPr/>
          </p:nvSpPr>
          <p:spPr>
            <a:xfrm>
              <a:off x="6413360" y="241270"/>
              <a:ext cx="2519624" cy="523220"/>
            </a:xfrm>
            <a:prstGeom prst="rect">
              <a:avLst/>
            </a:prstGeom>
            <a:noFill/>
          </p:spPr>
          <p:txBody>
            <a:bodyPr wrap="square" rtlCol="0">
              <a:spAutoFit/>
            </a:bodyPr>
            <a:lstStyle/>
            <a:p>
              <a:r>
                <a:rPr lang="en-US" sz="1400" dirty="0">
                  <a:solidFill>
                    <a:schemeClr val="bg1"/>
                  </a:solidFill>
                  <a:latin typeface="Helvetica"/>
                  <a:cs typeface="Helvetica"/>
                </a:rPr>
                <a:t>Kwame Nkrumah University of </a:t>
              </a:r>
            </a:p>
            <a:p>
              <a:r>
                <a:rPr lang="en-US" sz="1400" dirty="0">
                  <a:solidFill>
                    <a:schemeClr val="bg1"/>
                  </a:solidFill>
                  <a:latin typeface="Helvetica"/>
                  <a:cs typeface="Helvetica"/>
                </a:rPr>
                <a:t>Science &amp; Technology, Kumasi, Ghana</a:t>
              </a:r>
            </a:p>
          </p:txBody>
        </p:sp>
        <p:pic>
          <p:nvPicPr>
            <p:cNvPr id="10" name="Picture 9" descr="KNUST_logo Vector.png"/>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850123" y="68970"/>
              <a:ext cx="563237" cy="716809"/>
            </a:xfrm>
            <a:prstGeom prst="rect">
              <a:avLst/>
            </a:prstGeom>
          </p:spPr>
        </p:pic>
      </p:grpSp>
      <p:sp>
        <p:nvSpPr>
          <p:cNvPr id="11" name="Title 1"/>
          <p:cNvSpPr>
            <a:spLocks noGrp="1"/>
          </p:cNvSpPr>
          <p:nvPr>
            <p:ph type="ctrTitle"/>
          </p:nvPr>
        </p:nvSpPr>
        <p:spPr>
          <a:xfrm>
            <a:off x="914400" y="1096019"/>
            <a:ext cx="10363200" cy="2541745"/>
          </a:xfrm>
          <a:prstGeom prst="rect">
            <a:avLst/>
          </a:prstGeom>
        </p:spPr>
        <p:txBody>
          <a:bodyPr>
            <a:normAutofit/>
          </a:bodyPr>
          <a:lstStyle>
            <a:lvl1pPr>
              <a:defRPr>
                <a:latin typeface="Garamond" panose="02020404030301010803" pitchFamily="18" charset="0"/>
              </a:defRPr>
            </a:lvl1pPr>
          </a:lstStyle>
          <a:p>
            <a:pPr algn="l"/>
            <a:r>
              <a:rPr lang="en-US" dirty="0">
                <a:latin typeface="Helvetica"/>
                <a:cs typeface="Helvetica"/>
              </a:rPr>
              <a:t>Title</a:t>
            </a:r>
          </a:p>
        </p:txBody>
      </p:sp>
      <p:sp>
        <p:nvSpPr>
          <p:cNvPr id="12" name="Subtitle 2"/>
          <p:cNvSpPr>
            <a:spLocks noGrp="1"/>
          </p:cNvSpPr>
          <p:nvPr>
            <p:ph type="subTitle" idx="1"/>
          </p:nvPr>
        </p:nvSpPr>
        <p:spPr>
          <a:xfrm>
            <a:off x="914400" y="4666761"/>
            <a:ext cx="10363200" cy="1599330"/>
          </a:xfrm>
        </p:spPr>
        <p:txBody>
          <a:bodyPr>
            <a:normAutofit/>
          </a:bodyPr>
          <a:lstStyle>
            <a:lvl1pPr marL="0" indent="0" algn="ctr">
              <a:buNone/>
              <a:defRPr>
                <a:solidFill>
                  <a:schemeClr val="bg1">
                    <a:lumMod val="50000"/>
                  </a:schemeClr>
                </a:solidFill>
                <a:latin typeface="Garamond" panose="02020404030301010803" pitchFamily="18" charset="0"/>
              </a:defRPr>
            </a:lvl1pPr>
          </a:lstStyle>
          <a:p>
            <a:pPr algn="l"/>
            <a:endParaRPr lang="en-US" b="1" dirty="0">
              <a:solidFill>
                <a:schemeClr val="tx1"/>
              </a:solidFill>
              <a:latin typeface="Helvetica"/>
              <a:cs typeface="Helvetica"/>
            </a:endParaRPr>
          </a:p>
        </p:txBody>
      </p:sp>
    </p:spTree>
    <p:extLst>
      <p:ext uri="{BB962C8B-B14F-4D97-AF65-F5344CB8AC3E}">
        <p14:creationId xmlns:p14="http://schemas.microsoft.com/office/powerpoint/2010/main" val="10266817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27CC460-5DEC-4F9C-AE86-3A65EBEA6D5D}" type="datetime1">
              <a:rPr lang="en-US" smtClean="0"/>
              <a:t>12/1/2021</a:t>
            </a:fld>
            <a:endParaRPr lang="en-US"/>
          </a:p>
        </p:txBody>
      </p:sp>
      <p:sp>
        <p:nvSpPr>
          <p:cNvPr id="5" name="Footer Placeholder 4"/>
          <p:cNvSpPr>
            <a:spLocks noGrp="1"/>
          </p:cNvSpPr>
          <p:nvPr>
            <p:ph type="ftr" sz="quarter" idx="11"/>
          </p:nvPr>
        </p:nvSpPr>
        <p:spPr/>
        <p:txBody>
          <a:bodyPr/>
          <a:lstStyle/>
          <a:p>
            <a:endParaRPr lang="en-US"/>
          </a:p>
        </p:txBody>
      </p:sp>
      <p:grpSp>
        <p:nvGrpSpPr>
          <p:cNvPr id="7" name="Group 6"/>
          <p:cNvGrpSpPr/>
          <p:nvPr userDrawn="1"/>
        </p:nvGrpSpPr>
        <p:grpSpPr>
          <a:xfrm>
            <a:off x="0" y="6271235"/>
            <a:ext cx="12191997" cy="586764"/>
            <a:chOff x="0" y="6271235"/>
            <a:chExt cx="9144000" cy="586764"/>
          </a:xfrm>
        </p:grpSpPr>
        <p:sp>
          <p:nvSpPr>
            <p:cNvPr id="8" name="Rectangle 7"/>
            <p:cNvSpPr/>
            <p:nvPr/>
          </p:nvSpPr>
          <p:spPr>
            <a:xfrm>
              <a:off x="0" y="6668022"/>
              <a:ext cx="9144000" cy="189977"/>
            </a:xfrm>
            <a:prstGeom prst="rect">
              <a:avLst/>
            </a:prstGeom>
            <a:solidFill>
              <a:schemeClr val="accent3">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sp>
          <p:nvSpPr>
            <p:cNvPr id="9" name="Rectangle 8"/>
            <p:cNvSpPr/>
            <p:nvPr/>
          </p:nvSpPr>
          <p:spPr>
            <a:xfrm>
              <a:off x="0" y="6271235"/>
              <a:ext cx="9144000" cy="363407"/>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pic>
          <p:nvPicPr>
            <p:cNvPr id="10" name="Picture 9" descr="KNUST_logo Vector.png"/>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836489" y="6299719"/>
              <a:ext cx="205238" cy="283189"/>
            </a:xfrm>
            <a:prstGeom prst="rect">
              <a:avLst/>
            </a:prstGeom>
          </p:spPr>
        </p:pic>
        <p:sp>
          <p:nvSpPr>
            <p:cNvPr id="11" name="TextBox 10">
              <a:hlinkClick r:id="rId3"/>
            </p:cNvPr>
            <p:cNvSpPr txBox="1"/>
            <p:nvPr/>
          </p:nvSpPr>
          <p:spPr>
            <a:xfrm>
              <a:off x="8027214" y="6314438"/>
              <a:ext cx="1091658" cy="276999"/>
            </a:xfrm>
            <a:prstGeom prst="rect">
              <a:avLst/>
            </a:prstGeom>
            <a:noFill/>
          </p:spPr>
          <p:txBody>
            <a:bodyPr wrap="square" rtlCol="0">
              <a:spAutoFit/>
            </a:bodyPr>
            <a:lstStyle/>
            <a:p>
              <a:r>
                <a:rPr lang="en-US" sz="1200" dirty="0">
                  <a:solidFill>
                    <a:schemeClr val="bg1"/>
                  </a:solidFill>
                  <a:latin typeface="Helvetica"/>
                  <a:cs typeface="Helvetica"/>
                </a:rPr>
                <a:t>www.knust.edu.gh</a:t>
              </a:r>
            </a:p>
          </p:txBody>
        </p:sp>
        <p:pic>
          <p:nvPicPr>
            <p:cNvPr id="12" name="Picture 11">
              <a:hlinkClick r:id="rId4"/>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7450538" y="6320348"/>
              <a:ext cx="268162" cy="268162"/>
            </a:xfrm>
            <a:prstGeom prst="rect">
              <a:avLst/>
            </a:prstGeom>
          </p:spPr>
        </p:pic>
        <p:pic>
          <p:nvPicPr>
            <p:cNvPr id="13" name="Picture 12">
              <a:hlinkClick r:id="rId6"/>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7087070" y="6308011"/>
              <a:ext cx="292217" cy="292217"/>
            </a:xfrm>
            <a:prstGeom prst="rect">
              <a:avLst/>
            </a:prstGeom>
          </p:spPr>
        </p:pic>
      </p:grpSp>
      <p:sp>
        <p:nvSpPr>
          <p:cNvPr id="16" name="Title 1">
            <a:extLst>
              <a:ext uri="{FF2B5EF4-FFF2-40B4-BE49-F238E27FC236}">
                <a16:creationId xmlns:a16="http://schemas.microsoft.com/office/drawing/2014/main" id="{33D96D2C-39D2-D146-949D-A56FF129CBA3}"/>
              </a:ext>
            </a:extLst>
          </p:cNvPr>
          <p:cNvSpPr>
            <a:spLocks noGrp="1"/>
          </p:cNvSpPr>
          <p:nvPr>
            <p:ph type="title"/>
          </p:nvPr>
        </p:nvSpPr>
        <p:spPr>
          <a:xfrm>
            <a:off x="609601" y="195127"/>
            <a:ext cx="11198086" cy="592690"/>
          </a:xfrm>
          <a:prstGeom prst="rect">
            <a:avLst/>
          </a:prstGeom>
        </p:spPr>
        <p:txBody>
          <a:bodyPr/>
          <a:lstStyle>
            <a:lvl1pPr>
              <a:defRPr sz="4000">
                <a:latin typeface="Garamond" panose="02020404030301010803" pitchFamily="18" charset="0"/>
              </a:defRPr>
            </a:lvl1pPr>
          </a:lstStyle>
          <a:p>
            <a:r>
              <a:rPr lang="en-US"/>
              <a:t>Click to edit Master title style</a:t>
            </a:r>
          </a:p>
        </p:txBody>
      </p:sp>
      <p:cxnSp>
        <p:nvCxnSpPr>
          <p:cNvPr id="3" name="Straight Connector 2">
            <a:extLst>
              <a:ext uri="{FF2B5EF4-FFF2-40B4-BE49-F238E27FC236}">
                <a16:creationId xmlns:a16="http://schemas.microsoft.com/office/drawing/2014/main" id="{0F8A6806-0C47-8F41-8CB1-123A74FCD28F}"/>
              </a:ext>
            </a:extLst>
          </p:cNvPr>
          <p:cNvCxnSpPr/>
          <p:nvPr userDrawn="1"/>
        </p:nvCxnSpPr>
        <p:spPr>
          <a:xfrm>
            <a:off x="1" y="924340"/>
            <a:ext cx="12207161" cy="0"/>
          </a:xfrm>
          <a:prstGeom prst="line">
            <a:avLst/>
          </a:prstGeom>
          <a:ln w="12700">
            <a:solidFill>
              <a:srgbClr val="008001"/>
            </a:solidFill>
          </a:ln>
        </p:spPr>
        <p:style>
          <a:lnRef idx="1">
            <a:schemeClr val="accent3"/>
          </a:lnRef>
          <a:fillRef idx="0">
            <a:schemeClr val="accent3"/>
          </a:fillRef>
          <a:effectRef idx="0">
            <a:schemeClr val="accent3"/>
          </a:effectRef>
          <a:fontRef idx="minor">
            <a:schemeClr val="tx1"/>
          </a:fontRef>
        </p:style>
      </p:cxnSp>
      <p:sp>
        <p:nvSpPr>
          <p:cNvPr id="17" name="Content Placeholder 2">
            <a:extLst>
              <a:ext uri="{FF2B5EF4-FFF2-40B4-BE49-F238E27FC236}">
                <a16:creationId xmlns:a16="http://schemas.microsoft.com/office/drawing/2014/main" id="{B14474AE-41FC-854B-B962-6E0C929C52C0}"/>
              </a:ext>
            </a:extLst>
          </p:cNvPr>
          <p:cNvSpPr>
            <a:spLocks noGrp="1"/>
          </p:cNvSpPr>
          <p:nvPr>
            <p:ph sz="half" idx="1"/>
          </p:nvPr>
        </p:nvSpPr>
        <p:spPr>
          <a:xfrm>
            <a:off x="609600" y="1002088"/>
            <a:ext cx="11198085" cy="517582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a:xfrm>
            <a:off x="86708" y="6278605"/>
            <a:ext cx="855784" cy="365125"/>
          </a:xfrm>
        </p:spPr>
        <p:txBody>
          <a:bodyPr/>
          <a:lstStyle>
            <a:lvl1pPr>
              <a:defRPr sz="2400" b="1">
                <a:solidFill>
                  <a:schemeClr val="bg1"/>
                </a:solidFill>
                <a:latin typeface="Garamond" panose="02020404030301010803" pitchFamily="18" charset="0"/>
              </a:defRPr>
            </a:lvl1pPr>
          </a:lstStyle>
          <a:p>
            <a:fld id="{F4801FD5-11B4-DE43-ACA2-E85EEB9A6F9C}" type="slidenum">
              <a:rPr lang="en-US" smtClean="0"/>
              <a:pPr/>
              <a:t>‹#›</a:t>
            </a:fld>
            <a:endParaRPr lang="en-US" dirty="0"/>
          </a:p>
        </p:txBody>
      </p:sp>
    </p:spTree>
    <p:extLst>
      <p:ext uri="{BB962C8B-B14F-4D97-AF65-F5344CB8AC3E}">
        <p14:creationId xmlns:p14="http://schemas.microsoft.com/office/powerpoint/2010/main" val="37939046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a:prstGeom prst="rect">
            <a:avLst/>
          </a:prstGeom>
        </p:spPr>
        <p:txBody>
          <a:bodyPr anchor="t"/>
          <a:lstStyle>
            <a:lvl1pPr algn="l">
              <a:defRPr sz="4000" b="1" cap="all">
                <a:latin typeface="Garamond" panose="02020404030301010803" pitchFamily="18" charset="0"/>
              </a:defRPr>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0D7EC4-0FAA-4E2B-9A38-6D09C67DA3A1}" type="datetime1">
              <a:rPr lang="en-US" smtClean="0"/>
              <a:t>12/1/2021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3130215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B8C2406-8828-418B-8809-38D0A9920C77}" type="datetime1">
              <a:rPr lang="en-US" smtClean="0"/>
              <a:t>12/1/2021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21215673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8115C99-0020-4D01-8567-E31F48D46E49}" type="datetime1">
              <a:rPr lang="en-US" smtClean="0"/>
              <a:t>12/1/2021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15018759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p:txBody>
          <a:bodyPr/>
          <a:lstStyle/>
          <a:p>
            <a:fld id="{BD30C0AC-B421-4F27-B629-B4BF5EA43D28}" type="datetime1">
              <a:rPr lang="en-US" smtClean="0"/>
              <a:t>12/1/2021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38211903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4468E7F-7F5B-4B1A-A083-B461A23AA8FA}" type="datetime1">
              <a:rPr lang="en-US" smtClean="0"/>
              <a:t>12/1/2021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21126693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F82FB52-87DB-4D57-8A37-3B02874B479C}" type="datetime1">
              <a:rPr lang="en-US" smtClean="0"/>
              <a:t>12/1/2021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9142711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332A186-4EFB-4B8E-AB2B-86BDDA713B27}" type="datetime1">
              <a:rPr lang="en-US" smtClean="0"/>
              <a:t>12/1/2021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22782987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F9EFC1A-4AC2-4AAF-A501-06099FF0D626}" type="datetime1">
              <a:rPr lang="en-US" smtClean="0"/>
              <a:t>12/1/2021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412812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F873F44-2E53-4BAA-A8EA-A81B2EB64AD8}" type="datetime1">
              <a:rPr lang="en-US" smtClean="0"/>
              <a:t>12/1/2021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26707956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9488C0D-608D-44E2-B7D7-7A7555FE1132}" type="datetime1">
              <a:rPr lang="en-US" smtClean="0"/>
              <a:t>12/1/2021</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801FD5-11B4-DE43-ACA2-E85EEB9A6F9C}" type="slidenum">
              <a:rPr lang="en-US" smtClean="0"/>
              <a:t>‹#›</a:t>
            </a:fld>
            <a:endParaRPr lang="en-US"/>
          </a:p>
        </p:txBody>
      </p:sp>
    </p:spTree>
    <p:extLst>
      <p:ext uri="{BB962C8B-B14F-4D97-AF65-F5344CB8AC3E}">
        <p14:creationId xmlns:p14="http://schemas.microsoft.com/office/powerpoint/2010/main" val="2954336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jpeg"/></Relationships>
</file>

<file path=ppt/slides/_rels/slide1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29.wm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8.gif"/><Relationship Id="rId2" Type="http://schemas.openxmlformats.org/officeDocument/2006/relationships/image" Target="../media/image37.png"/><Relationship Id="rId1" Type="http://schemas.openxmlformats.org/officeDocument/2006/relationships/slideLayout" Target="../slideLayouts/slideLayout2.xml"/><Relationship Id="rId5" Type="http://schemas.openxmlformats.org/officeDocument/2006/relationships/image" Target="../media/image40.jpeg"/><Relationship Id="rId4" Type="http://schemas.openxmlformats.org/officeDocument/2006/relationships/image" Target="../media/image39.png"/></Relationships>
</file>

<file path=ppt/slides/_rels/slide27.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A8B02BC7-9B65-A649-A6AA-B9A015F5977F}"/>
              </a:ext>
            </a:extLst>
          </p:cNvPr>
          <p:cNvSpPr>
            <a:spLocks noGrp="1"/>
          </p:cNvSpPr>
          <p:nvPr>
            <p:ph type="ctrTitle"/>
          </p:nvPr>
        </p:nvSpPr>
        <p:spPr>
          <a:xfrm>
            <a:off x="352540" y="949448"/>
            <a:ext cx="11149069" cy="1031752"/>
          </a:xfrm>
        </p:spPr>
        <p:txBody>
          <a:bodyPr vert="horz" lIns="68580" tIns="34290" rIns="68580" bIns="34290" rtlCol="0" anchor="b">
            <a:noAutofit/>
          </a:bodyPr>
          <a:lstStyle/>
          <a:p>
            <a:r>
              <a:rPr lang="en-GB" sz="3200" b="1" dirty="0">
                <a:solidFill>
                  <a:srgbClr val="0070C0"/>
                </a:solidFill>
                <a:latin typeface="Georgia" panose="02040502050405020303" pitchFamily="18" charset="0"/>
              </a:rPr>
              <a:t>THERMODYNAMICS I (ME 265)</a:t>
            </a:r>
            <a:br>
              <a:rPr lang="en-GB" sz="3200" b="1" dirty="0">
                <a:solidFill>
                  <a:srgbClr val="0070C0"/>
                </a:solidFill>
                <a:latin typeface="Eras Demi ITC" panose="020B0805030504020804" pitchFamily="34" charset="0"/>
              </a:rPr>
            </a:br>
            <a:endParaRPr lang="en-GB" sz="3200" dirty="0">
              <a:latin typeface="Eras Demi ITC" panose="020B0805030504020804" pitchFamily="34" charset="0"/>
            </a:endParaRPr>
          </a:p>
        </p:txBody>
      </p:sp>
      <p:sp>
        <p:nvSpPr>
          <p:cNvPr id="11" name="Subtitle 2"/>
          <p:cNvSpPr txBox="1">
            <a:spLocks/>
          </p:cNvSpPr>
          <p:nvPr/>
        </p:nvSpPr>
        <p:spPr>
          <a:xfrm>
            <a:off x="1809245" y="5405717"/>
            <a:ext cx="8432872" cy="1211287"/>
          </a:xfrm>
          <a:prstGeom prst="rect">
            <a:avLst/>
          </a:prstGeom>
        </p:spPr>
        <p:txBody>
          <a:bodyPr vert="horz" lIns="91440" tIns="45720" rIns="91440" bIns="45720" rtlCol="0">
            <a:normAutofit/>
          </a:bodyPr>
          <a:lstStyle>
            <a:lvl1pPr marL="0" indent="0" algn="ctr" defTabSz="457200" rtl="0" eaLnBrk="1" latinLnBrk="0" hangingPunct="1">
              <a:spcBef>
                <a:spcPct val="20000"/>
              </a:spcBef>
              <a:buFont typeface="Arial"/>
              <a:buNone/>
              <a:defRPr sz="3200" kern="1200">
                <a:solidFill>
                  <a:schemeClr val="bg1">
                    <a:lumMod val="50000"/>
                  </a:schemeClr>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b="1" dirty="0">
                <a:solidFill>
                  <a:schemeClr val="tx1"/>
                </a:solidFill>
                <a:latin typeface="Helvetica"/>
                <a:cs typeface="Helvetica"/>
              </a:rPr>
              <a:t>Francis Kofi Forson (Professor)</a:t>
            </a:r>
          </a:p>
          <a:p>
            <a:r>
              <a:rPr lang="en-US" sz="1800" b="1" dirty="0">
                <a:latin typeface="Helvetica"/>
                <a:cs typeface="Helvetica"/>
              </a:rPr>
              <a:t>Department of Mechanical Engineering</a:t>
            </a:r>
          </a:p>
          <a:p>
            <a:r>
              <a:rPr lang="en-US" sz="1800" b="1" dirty="0">
                <a:latin typeface="Helvetica"/>
                <a:cs typeface="Helvetica"/>
              </a:rPr>
              <a:t>Kwame Nkrumah University of Science and Technology, Kumasi, Ghana</a:t>
            </a:r>
          </a:p>
        </p:txBody>
      </p:sp>
      <p:sp>
        <p:nvSpPr>
          <p:cNvPr id="6" name="Text Placeholder 3">
            <a:extLst>
              <a:ext uri="{FF2B5EF4-FFF2-40B4-BE49-F238E27FC236}">
                <a16:creationId xmlns:a16="http://schemas.microsoft.com/office/drawing/2014/main" id="{E81EFB1F-8D7C-2F44-8B60-6C24E97F6990}"/>
              </a:ext>
            </a:extLst>
          </p:cNvPr>
          <p:cNvSpPr txBox="1">
            <a:spLocks/>
          </p:cNvSpPr>
          <p:nvPr/>
        </p:nvSpPr>
        <p:spPr>
          <a:xfrm>
            <a:off x="1346423" y="3908277"/>
            <a:ext cx="9814635" cy="1115054"/>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GB" sz="3600" b="1" dirty="0">
                <a:solidFill>
                  <a:srgbClr val="C00000"/>
                </a:solidFill>
                <a:latin typeface="Georgia" panose="02040502050405020303" pitchFamily="18" charset="0"/>
              </a:rPr>
              <a:t>INTRODUCTION</a:t>
            </a:r>
          </a:p>
          <a:p>
            <a:pPr algn="ctr"/>
            <a:r>
              <a:rPr lang="en-GB" sz="3600" b="1" dirty="0">
                <a:solidFill>
                  <a:srgbClr val="002060"/>
                </a:solidFill>
                <a:latin typeface="Garamond" panose="02020404030301010803" pitchFamily="18" charset="0"/>
              </a:rPr>
              <a:t>(Basic Concepts and Definitions)</a:t>
            </a:r>
          </a:p>
        </p:txBody>
      </p:sp>
      <p:pic>
        <p:nvPicPr>
          <p:cNvPr id="1026" name="Picture 2" descr="The Emblem | Kwame Nkrumah University of Science and Technolog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1253" y="1577247"/>
            <a:ext cx="1969135" cy="22292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25735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Introduction</a:t>
            </a:r>
            <a:endParaRPr lang="en-US" dirty="0">
              <a:solidFill>
                <a:srgbClr val="002060"/>
              </a:solidFill>
              <a:latin typeface="Georgia" panose="02040502050405020303" pitchFamily="18" charset="0"/>
            </a:endParaRPr>
          </a:p>
        </p:txBody>
      </p:sp>
      <p:sp>
        <p:nvSpPr>
          <p:cNvPr id="3" name="Content Placeholder 2"/>
          <p:cNvSpPr>
            <a:spLocks noGrp="1"/>
          </p:cNvSpPr>
          <p:nvPr>
            <p:ph sz="half" idx="1"/>
          </p:nvPr>
        </p:nvSpPr>
        <p:spPr>
          <a:xfrm>
            <a:off x="609598" y="1714997"/>
            <a:ext cx="8090648" cy="4563608"/>
          </a:xfrm>
        </p:spPr>
        <p:txBody>
          <a:bodyPr>
            <a:noAutofit/>
          </a:bodyPr>
          <a:lstStyle/>
          <a:p>
            <a:pPr>
              <a:buFont typeface="Wingdings" panose="05000000000000000000" pitchFamily="2" charset="2"/>
              <a:buChar char="v"/>
            </a:pPr>
            <a:r>
              <a:rPr lang="en-US" b="1" dirty="0">
                <a:solidFill>
                  <a:srgbClr val="002060"/>
                </a:solidFill>
              </a:rPr>
              <a:t>Thermodynamics is concerned with the </a:t>
            </a:r>
            <a:r>
              <a:rPr lang="en-US" b="1" dirty="0">
                <a:solidFill>
                  <a:srgbClr val="C00000"/>
                </a:solidFill>
              </a:rPr>
              <a:t>study of energy</a:t>
            </a:r>
            <a:r>
              <a:rPr lang="en-US" b="1" dirty="0">
                <a:solidFill>
                  <a:srgbClr val="002060"/>
                </a:solidFill>
              </a:rPr>
              <a:t>, its forms and transformations, and </a:t>
            </a:r>
            <a:r>
              <a:rPr lang="en-US" b="1" dirty="0">
                <a:solidFill>
                  <a:srgbClr val="C00000"/>
                </a:solidFill>
              </a:rPr>
              <a:t>the interactions of energy with matter</a:t>
            </a:r>
            <a:r>
              <a:rPr lang="en-US" b="1" dirty="0">
                <a:solidFill>
                  <a:srgbClr val="002060"/>
                </a:solidFill>
              </a:rPr>
              <a:t>. </a:t>
            </a:r>
          </a:p>
          <a:p>
            <a:pPr>
              <a:buFont typeface="Wingdings" panose="05000000000000000000" pitchFamily="2" charset="2"/>
              <a:buChar char="v"/>
            </a:pPr>
            <a:r>
              <a:rPr lang="en-US" dirty="0"/>
              <a:t>Thermodynamics is both a branch of physics and an engineering science.  </a:t>
            </a:r>
          </a:p>
          <a:p>
            <a:pPr>
              <a:buFont typeface="Wingdings" panose="05000000000000000000" pitchFamily="2" charset="2"/>
              <a:buChar char="v"/>
            </a:pPr>
            <a:r>
              <a:rPr lang="en-US" dirty="0"/>
              <a:t>Engineers are generally interested in studying systems and how they interact with their surroundings. To facilitate this, engineers extend the subject of thermodynamics to the study of systems through which matter flows.</a:t>
            </a:r>
          </a:p>
          <a:p>
            <a:pPr>
              <a:buFont typeface="Wingdings" panose="05000000000000000000" pitchFamily="2" charset="2"/>
              <a:buChar char="v"/>
            </a:pPr>
            <a:endParaRPr lang="en-US" dirty="0"/>
          </a:p>
        </p:txBody>
      </p:sp>
      <p:sp>
        <p:nvSpPr>
          <p:cNvPr id="4" name="Slide Number Placeholder 3"/>
          <p:cNvSpPr>
            <a:spLocks noGrp="1"/>
          </p:cNvSpPr>
          <p:nvPr>
            <p:ph type="sldNum" sz="quarter" idx="12"/>
          </p:nvPr>
        </p:nvSpPr>
        <p:spPr/>
        <p:txBody>
          <a:bodyPr/>
          <a:lstStyle/>
          <a:p>
            <a:fld id="{F4801FD5-11B4-DE43-ACA2-E85EEB9A6F9C}" type="slidenum">
              <a:rPr lang="en-US" smtClean="0"/>
              <a:pPr/>
              <a:t>2</a:t>
            </a:fld>
            <a:endParaRPr lang="en-US" dirty="0"/>
          </a:p>
        </p:txBody>
      </p:sp>
      <p:sp>
        <p:nvSpPr>
          <p:cNvPr id="5" name="Rectangle 4"/>
          <p:cNvSpPr/>
          <p:nvPr/>
        </p:nvSpPr>
        <p:spPr>
          <a:xfrm>
            <a:off x="609598" y="1130221"/>
            <a:ext cx="4863355" cy="584775"/>
          </a:xfrm>
          <a:prstGeom prst="rect">
            <a:avLst/>
          </a:prstGeom>
        </p:spPr>
        <p:txBody>
          <a:bodyPr wrap="square">
            <a:spAutoFit/>
          </a:bodyPr>
          <a:lstStyle/>
          <a:p>
            <a:pPr algn="ctr" fontAlgn="base">
              <a:spcBef>
                <a:spcPct val="0"/>
              </a:spcBef>
              <a:spcAft>
                <a:spcPct val="0"/>
              </a:spcAft>
            </a:pPr>
            <a:r>
              <a:rPr lang="en-GB" sz="3200" b="1" dirty="0">
                <a:latin typeface="Garamond" panose="02020404030301010803" pitchFamily="18" charset="0"/>
                <a:ea typeface="Times New Roman" pitchFamily="18" charset="0"/>
                <a:cs typeface="Arial" pitchFamily="34" charset="0"/>
              </a:rPr>
              <a:t>What is thermodynamics?</a:t>
            </a:r>
          </a:p>
        </p:txBody>
      </p:sp>
      <p:pic>
        <p:nvPicPr>
          <p:cNvPr id="1026" name="Picture 2" descr="Laws of Thermodynamics – StudiousGu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00246" y="2256915"/>
            <a:ext cx="3333189" cy="24998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2084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Introduction</a:t>
            </a:r>
            <a:endParaRPr lang="en-US" dirty="0">
              <a:solidFill>
                <a:srgbClr val="002060"/>
              </a:solidFill>
              <a:latin typeface="Georgia" panose="02040502050405020303" pitchFamily="18" charset="0"/>
            </a:endParaRPr>
          </a:p>
        </p:txBody>
      </p:sp>
      <p:sp>
        <p:nvSpPr>
          <p:cNvPr id="3" name="Content Placeholder 2"/>
          <p:cNvSpPr>
            <a:spLocks noGrp="1"/>
          </p:cNvSpPr>
          <p:nvPr>
            <p:ph sz="half" idx="1"/>
          </p:nvPr>
        </p:nvSpPr>
        <p:spPr>
          <a:xfrm>
            <a:off x="609597" y="1616495"/>
            <a:ext cx="8249213" cy="4563608"/>
          </a:xfrm>
        </p:spPr>
        <p:txBody>
          <a:bodyPr>
            <a:noAutofit/>
          </a:bodyPr>
          <a:lstStyle/>
          <a:p>
            <a:pPr>
              <a:buFont typeface="Wingdings" panose="05000000000000000000" pitchFamily="2" charset="2"/>
              <a:buChar char="v"/>
            </a:pPr>
            <a:r>
              <a:rPr lang="en-US" sz="2400" dirty="0"/>
              <a:t>Systems may be studied from the macroscopic or microscopic approach. </a:t>
            </a:r>
          </a:p>
          <a:p>
            <a:pPr>
              <a:buFont typeface="Wingdings" panose="05000000000000000000" pitchFamily="2" charset="2"/>
              <a:buChar char="v"/>
            </a:pPr>
            <a:r>
              <a:rPr lang="en-US" sz="2400" dirty="0"/>
              <a:t>The </a:t>
            </a:r>
            <a:r>
              <a:rPr lang="en-US" sz="2400" b="1" dirty="0">
                <a:solidFill>
                  <a:srgbClr val="002060"/>
                </a:solidFill>
              </a:rPr>
              <a:t>macroscopic approach </a:t>
            </a:r>
            <a:r>
              <a:rPr lang="en-US" sz="2400" dirty="0"/>
              <a:t>to thermodynamics is </a:t>
            </a:r>
            <a:r>
              <a:rPr lang="en-US" sz="2400" b="1" dirty="0">
                <a:solidFill>
                  <a:srgbClr val="C00000"/>
                </a:solidFill>
              </a:rPr>
              <a:t>concerned with the gross or overall behaviour</a:t>
            </a:r>
            <a:r>
              <a:rPr lang="en-US" sz="2400" dirty="0"/>
              <a:t>.  This is sometimes called classical thermodynamics.   </a:t>
            </a:r>
          </a:p>
          <a:p>
            <a:pPr>
              <a:buFont typeface="Wingdings" panose="05000000000000000000" pitchFamily="2" charset="2"/>
              <a:buChar char="v"/>
            </a:pPr>
            <a:r>
              <a:rPr lang="en-US" sz="2400" dirty="0"/>
              <a:t>The </a:t>
            </a:r>
            <a:r>
              <a:rPr lang="en-US" sz="2400" b="1" dirty="0">
                <a:solidFill>
                  <a:srgbClr val="002060"/>
                </a:solidFill>
              </a:rPr>
              <a:t>microscopic approach</a:t>
            </a:r>
            <a:r>
              <a:rPr lang="en-US" sz="2400" dirty="0"/>
              <a:t>, is concerned directly with the structure of matter. It is known as statistical thermodynamics. </a:t>
            </a:r>
          </a:p>
          <a:p>
            <a:pPr>
              <a:buFont typeface="Wingdings" panose="05000000000000000000" pitchFamily="2" charset="2"/>
              <a:buChar char="v"/>
            </a:pPr>
            <a:r>
              <a:rPr lang="en-US" sz="2400" dirty="0"/>
              <a:t>The macroscopic viewpoint is what is generally adopted in engineering thermodynamics but for understanding concepts are interpreted from the microscopic viewpoint.</a:t>
            </a:r>
          </a:p>
        </p:txBody>
      </p:sp>
      <p:sp>
        <p:nvSpPr>
          <p:cNvPr id="4" name="Slide Number Placeholder 3"/>
          <p:cNvSpPr>
            <a:spLocks noGrp="1"/>
          </p:cNvSpPr>
          <p:nvPr>
            <p:ph type="sldNum" sz="quarter" idx="12"/>
          </p:nvPr>
        </p:nvSpPr>
        <p:spPr/>
        <p:txBody>
          <a:bodyPr/>
          <a:lstStyle/>
          <a:p>
            <a:fld id="{F4801FD5-11B4-DE43-ACA2-E85EEB9A6F9C}" type="slidenum">
              <a:rPr lang="en-US" smtClean="0"/>
              <a:pPr/>
              <a:t>3</a:t>
            </a:fld>
            <a:endParaRPr lang="en-US" dirty="0"/>
          </a:p>
        </p:txBody>
      </p:sp>
      <p:sp>
        <p:nvSpPr>
          <p:cNvPr id="5" name="Rectangle 4"/>
          <p:cNvSpPr/>
          <p:nvPr/>
        </p:nvSpPr>
        <p:spPr>
          <a:xfrm>
            <a:off x="609601" y="1031720"/>
            <a:ext cx="8249210" cy="584775"/>
          </a:xfrm>
          <a:prstGeom prst="rect">
            <a:avLst/>
          </a:prstGeom>
        </p:spPr>
        <p:txBody>
          <a:bodyPr wrap="square">
            <a:spAutoFit/>
          </a:bodyPr>
          <a:lstStyle/>
          <a:p>
            <a:pPr algn="ctr" fontAlgn="base">
              <a:spcBef>
                <a:spcPct val="0"/>
              </a:spcBef>
              <a:spcAft>
                <a:spcPct val="0"/>
              </a:spcAft>
            </a:pPr>
            <a:r>
              <a:rPr lang="en-GB" sz="3200" b="1" dirty="0">
                <a:latin typeface="Garamond" panose="02020404030301010803" pitchFamily="18" charset="0"/>
                <a:ea typeface="Times New Roman" pitchFamily="18" charset="0"/>
                <a:cs typeface="Arial" pitchFamily="34" charset="0"/>
              </a:rPr>
              <a:t>Two Approaches to Thermodynamics</a:t>
            </a:r>
          </a:p>
        </p:txBody>
      </p:sp>
      <p:pic>
        <p:nvPicPr>
          <p:cNvPr id="1026" name="Picture 2" descr="Laws of Thermodynamics – StudiousGu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58811" y="2445174"/>
            <a:ext cx="3333189" cy="24998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16601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Introduction</a:t>
            </a:r>
            <a:endParaRPr lang="en-US" dirty="0">
              <a:solidFill>
                <a:srgbClr val="002060"/>
              </a:solidFill>
              <a:latin typeface="Georgia" panose="02040502050405020303" pitchFamily="18" charset="0"/>
            </a:endParaRPr>
          </a:p>
        </p:txBody>
      </p:sp>
      <p:sp>
        <p:nvSpPr>
          <p:cNvPr id="3" name="Content Placeholder 2"/>
          <p:cNvSpPr>
            <a:spLocks noGrp="1"/>
          </p:cNvSpPr>
          <p:nvPr>
            <p:ph sz="half" idx="1"/>
          </p:nvPr>
        </p:nvSpPr>
        <p:spPr>
          <a:xfrm>
            <a:off x="609597" y="1616495"/>
            <a:ext cx="4903697" cy="4563608"/>
          </a:xfrm>
        </p:spPr>
        <p:txBody>
          <a:bodyPr>
            <a:noAutofit/>
          </a:bodyPr>
          <a:lstStyle/>
          <a:p>
            <a:pPr>
              <a:buFont typeface="Wingdings" panose="05000000000000000000" pitchFamily="2" charset="2"/>
              <a:buChar char="v"/>
            </a:pPr>
            <a:r>
              <a:rPr lang="en-US" dirty="0"/>
              <a:t>Four laws of thermodynamics are:</a:t>
            </a:r>
          </a:p>
          <a:p>
            <a:pPr>
              <a:buFont typeface="Wingdings" panose="05000000000000000000" pitchFamily="2" charset="2"/>
              <a:buChar char="ü"/>
            </a:pPr>
            <a:r>
              <a:rPr lang="en-US" sz="3200" dirty="0"/>
              <a:t>Zeroth law</a:t>
            </a:r>
          </a:p>
          <a:p>
            <a:pPr>
              <a:buFont typeface="Wingdings" panose="05000000000000000000" pitchFamily="2" charset="2"/>
              <a:buChar char="ü"/>
            </a:pPr>
            <a:r>
              <a:rPr lang="en-US" sz="3200" dirty="0"/>
              <a:t>First law</a:t>
            </a:r>
          </a:p>
          <a:p>
            <a:pPr>
              <a:buFont typeface="Wingdings" panose="05000000000000000000" pitchFamily="2" charset="2"/>
              <a:buChar char="ü"/>
            </a:pPr>
            <a:r>
              <a:rPr lang="en-US" sz="3200" dirty="0"/>
              <a:t>Second law</a:t>
            </a:r>
          </a:p>
          <a:p>
            <a:pPr>
              <a:buFont typeface="Wingdings" panose="05000000000000000000" pitchFamily="2" charset="2"/>
              <a:buChar char="ü"/>
            </a:pPr>
            <a:r>
              <a:rPr lang="en-US" sz="3200" dirty="0"/>
              <a:t>Third law</a:t>
            </a:r>
          </a:p>
          <a:p>
            <a:pPr>
              <a:buFont typeface="Wingdings" panose="05000000000000000000" pitchFamily="2" charset="2"/>
              <a:buChar char="v"/>
            </a:pPr>
            <a:r>
              <a:rPr lang="en-US" sz="3200" dirty="0"/>
              <a:t>The state postulate</a:t>
            </a:r>
          </a:p>
        </p:txBody>
      </p:sp>
      <p:sp>
        <p:nvSpPr>
          <p:cNvPr id="4" name="Slide Number Placeholder 3"/>
          <p:cNvSpPr>
            <a:spLocks noGrp="1"/>
          </p:cNvSpPr>
          <p:nvPr>
            <p:ph type="sldNum" sz="quarter" idx="12"/>
          </p:nvPr>
        </p:nvSpPr>
        <p:spPr/>
        <p:txBody>
          <a:bodyPr/>
          <a:lstStyle/>
          <a:p>
            <a:fld id="{F4801FD5-11B4-DE43-ACA2-E85EEB9A6F9C}" type="slidenum">
              <a:rPr lang="en-US" smtClean="0"/>
              <a:pPr/>
              <a:t>4</a:t>
            </a:fld>
            <a:endParaRPr lang="en-US" dirty="0"/>
          </a:p>
        </p:txBody>
      </p:sp>
      <p:sp>
        <p:nvSpPr>
          <p:cNvPr id="5" name="Rectangle 4"/>
          <p:cNvSpPr/>
          <p:nvPr/>
        </p:nvSpPr>
        <p:spPr>
          <a:xfrm>
            <a:off x="345726" y="982469"/>
            <a:ext cx="5862918" cy="584775"/>
          </a:xfrm>
          <a:prstGeom prst="rect">
            <a:avLst/>
          </a:prstGeom>
        </p:spPr>
        <p:txBody>
          <a:bodyPr wrap="square">
            <a:spAutoFit/>
          </a:bodyPr>
          <a:lstStyle/>
          <a:p>
            <a:pPr marL="0" lvl="1" fontAlgn="base">
              <a:spcBef>
                <a:spcPct val="0"/>
              </a:spcBef>
              <a:spcAft>
                <a:spcPct val="0"/>
              </a:spcAft>
            </a:pPr>
            <a:r>
              <a:rPr lang="en-GB" sz="3200" b="1" dirty="0">
                <a:latin typeface="Garamond" panose="02020404030301010803" pitchFamily="18" charset="0"/>
                <a:ea typeface="Times New Roman" pitchFamily="18" charset="0"/>
                <a:cs typeface="Arial" pitchFamily="34" charset="0"/>
              </a:rPr>
              <a:t>	</a:t>
            </a:r>
            <a:r>
              <a:rPr lang="en-GB" sz="3200" b="1" dirty="0">
                <a:solidFill>
                  <a:srgbClr val="C00000"/>
                </a:solidFill>
                <a:latin typeface="Garamond" panose="02020404030301010803" pitchFamily="18" charset="0"/>
                <a:ea typeface="Times New Roman" pitchFamily="18" charset="0"/>
                <a:cs typeface="Arial" pitchFamily="34" charset="0"/>
              </a:rPr>
              <a:t>Laws of Thermodynamics</a:t>
            </a:r>
          </a:p>
        </p:txBody>
      </p:sp>
      <p:pic>
        <p:nvPicPr>
          <p:cNvPr id="2050" name="Picture 2" descr="4 Laws Of Thermodynamics With Examples (Very Simpl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53151" y="1274856"/>
            <a:ext cx="5954536" cy="43989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1720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Zeroth Law of Thermodynamics</a:t>
            </a:r>
            <a:endParaRPr lang="en-US" dirty="0">
              <a:solidFill>
                <a:srgbClr val="002060"/>
              </a:solidFill>
              <a:latin typeface="Georgia" panose="02040502050405020303" pitchFamily="18" charset="0"/>
            </a:endParaRPr>
          </a:p>
        </p:txBody>
      </p:sp>
      <p:sp>
        <p:nvSpPr>
          <p:cNvPr id="3" name="Content Placeholder 2"/>
          <p:cNvSpPr>
            <a:spLocks noGrp="1"/>
          </p:cNvSpPr>
          <p:nvPr>
            <p:ph sz="half" idx="1"/>
          </p:nvPr>
        </p:nvSpPr>
        <p:spPr>
          <a:xfrm>
            <a:off x="609598" y="1116106"/>
            <a:ext cx="7434800" cy="4558553"/>
          </a:xfrm>
        </p:spPr>
        <p:txBody>
          <a:bodyPr>
            <a:noAutofit/>
          </a:bodyPr>
          <a:lstStyle/>
          <a:p>
            <a:pPr>
              <a:buFont typeface="Wingdings" panose="05000000000000000000" pitchFamily="2" charset="2"/>
              <a:buChar char="v"/>
            </a:pPr>
            <a:r>
              <a:rPr lang="en-US" dirty="0"/>
              <a:t>If Body A has same temperature  as body C and body B has same temperature as C, then A and B have the same temperature. This forms the basis for comparison of temperatures.</a:t>
            </a:r>
          </a:p>
          <a:p>
            <a:pPr>
              <a:buFont typeface="Wingdings" panose="05000000000000000000" pitchFamily="2" charset="2"/>
              <a:buChar char="v"/>
            </a:pPr>
            <a:r>
              <a:rPr lang="en-US" b="1" dirty="0">
                <a:solidFill>
                  <a:srgbClr val="002060"/>
                </a:solidFill>
              </a:rPr>
              <a:t>The Zeroth Law states that, </a:t>
            </a:r>
            <a:r>
              <a:rPr lang="en-US" b="1" i="1" dirty="0">
                <a:solidFill>
                  <a:srgbClr val="C00000"/>
                </a:solidFill>
              </a:rPr>
              <a:t>if two systems are in thermal equilibrium with a third system, then the two systems are equally in thermal equilibrium with each other</a:t>
            </a:r>
            <a:r>
              <a:rPr lang="en-US" b="1" dirty="0">
                <a:solidFill>
                  <a:srgbClr val="002060"/>
                </a:solidFill>
              </a:rPr>
              <a:t>.  </a:t>
            </a:r>
          </a:p>
          <a:p>
            <a:pPr>
              <a:buFont typeface="Wingdings" panose="05000000000000000000" pitchFamily="2" charset="2"/>
              <a:buChar char="v"/>
            </a:pPr>
            <a:r>
              <a:rPr lang="en-US" dirty="0"/>
              <a:t>The third body or system is usually a thermometer.</a:t>
            </a:r>
          </a:p>
          <a:p>
            <a:pPr>
              <a:buFont typeface="Wingdings" panose="05000000000000000000" pitchFamily="2" charset="2"/>
              <a:buChar char="v"/>
            </a:pPr>
            <a:endParaRPr lang="en-US" dirty="0"/>
          </a:p>
        </p:txBody>
      </p:sp>
      <p:sp>
        <p:nvSpPr>
          <p:cNvPr id="4" name="Slide Number Placeholder 3"/>
          <p:cNvSpPr>
            <a:spLocks noGrp="1"/>
          </p:cNvSpPr>
          <p:nvPr>
            <p:ph type="sldNum" sz="quarter" idx="12"/>
          </p:nvPr>
        </p:nvSpPr>
        <p:spPr/>
        <p:txBody>
          <a:bodyPr/>
          <a:lstStyle/>
          <a:p>
            <a:fld id="{F4801FD5-11B4-DE43-ACA2-E85EEB9A6F9C}" type="slidenum">
              <a:rPr lang="en-US" smtClean="0"/>
              <a:pPr/>
              <a:t>5</a:t>
            </a:fld>
            <a:endParaRPr lang="en-US" dirty="0"/>
          </a:p>
        </p:txBody>
      </p:sp>
      <p:grpSp>
        <p:nvGrpSpPr>
          <p:cNvPr id="7" name="Group 6"/>
          <p:cNvGrpSpPr/>
          <p:nvPr/>
        </p:nvGrpSpPr>
        <p:grpSpPr>
          <a:xfrm>
            <a:off x="8044398" y="1394684"/>
            <a:ext cx="3358508" cy="2000698"/>
            <a:chOff x="2699792" y="2467976"/>
            <a:chExt cx="3358508" cy="2000698"/>
          </a:xfrm>
        </p:grpSpPr>
        <p:sp>
          <p:nvSpPr>
            <p:cNvPr id="8" name="TextBox 7"/>
            <p:cNvSpPr txBox="1"/>
            <p:nvPr/>
          </p:nvSpPr>
          <p:spPr>
            <a:xfrm>
              <a:off x="2699792" y="4007009"/>
              <a:ext cx="360040" cy="461665"/>
            </a:xfrm>
            <a:prstGeom prst="rect">
              <a:avLst/>
            </a:prstGeom>
            <a:noFill/>
          </p:spPr>
          <p:txBody>
            <a:bodyPr wrap="square" rtlCol="0">
              <a:spAutoFit/>
            </a:bodyPr>
            <a:lstStyle/>
            <a:p>
              <a:r>
                <a:rPr lang="en-US" sz="2400" b="1" dirty="0"/>
                <a:t>A</a:t>
              </a:r>
            </a:p>
          </p:txBody>
        </p:sp>
        <p:sp>
          <p:nvSpPr>
            <p:cNvPr id="9" name="TextBox 8"/>
            <p:cNvSpPr txBox="1"/>
            <p:nvPr/>
          </p:nvSpPr>
          <p:spPr>
            <a:xfrm>
              <a:off x="5698260" y="3998174"/>
              <a:ext cx="360040" cy="461665"/>
            </a:xfrm>
            <a:prstGeom prst="rect">
              <a:avLst/>
            </a:prstGeom>
            <a:noFill/>
          </p:spPr>
          <p:txBody>
            <a:bodyPr wrap="square" rtlCol="0">
              <a:spAutoFit/>
            </a:bodyPr>
            <a:lstStyle/>
            <a:p>
              <a:r>
                <a:rPr lang="en-US" sz="2400" b="1" dirty="0"/>
                <a:t>B</a:t>
              </a:r>
            </a:p>
          </p:txBody>
        </p:sp>
        <p:sp>
          <p:nvSpPr>
            <p:cNvPr id="10" name="TextBox 9"/>
            <p:cNvSpPr txBox="1"/>
            <p:nvPr/>
          </p:nvSpPr>
          <p:spPr>
            <a:xfrm>
              <a:off x="4181800" y="2467976"/>
              <a:ext cx="545441" cy="461665"/>
            </a:xfrm>
            <a:prstGeom prst="rect">
              <a:avLst/>
            </a:prstGeom>
            <a:noFill/>
          </p:spPr>
          <p:txBody>
            <a:bodyPr wrap="square" rtlCol="0">
              <a:spAutoFit/>
            </a:bodyPr>
            <a:lstStyle/>
            <a:p>
              <a:r>
                <a:rPr lang="en-US" sz="2400" b="1" dirty="0"/>
                <a:t>C </a:t>
              </a:r>
            </a:p>
          </p:txBody>
        </p:sp>
        <p:cxnSp>
          <p:nvCxnSpPr>
            <p:cNvPr id="11" name="Straight Arrow Connector 10"/>
            <p:cNvCxnSpPr/>
            <p:nvPr/>
          </p:nvCxnSpPr>
          <p:spPr>
            <a:xfrm flipV="1">
              <a:off x="3059832" y="3026569"/>
              <a:ext cx="1368152" cy="1008112"/>
            </a:xfrm>
            <a:prstGeom prst="straightConnector1">
              <a:avLst/>
            </a:prstGeom>
            <a:ln w="5715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H="1" flipV="1">
              <a:off x="4427984" y="3026569"/>
              <a:ext cx="1270276" cy="1008112"/>
            </a:xfrm>
            <a:prstGeom prst="straightConnector1">
              <a:avLst/>
            </a:prstGeom>
            <a:ln w="57150">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pic>
        <p:nvPicPr>
          <p:cNvPr id="16" name="Picture 1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668559">
            <a:off x="8658114" y="3580912"/>
            <a:ext cx="2228952" cy="2228952"/>
          </a:xfrm>
          <a:prstGeom prst="rect">
            <a:avLst/>
          </a:prstGeom>
        </p:spPr>
      </p:pic>
    </p:spTree>
    <p:extLst>
      <p:ext uri="{BB962C8B-B14F-4D97-AF65-F5344CB8AC3E}">
        <p14:creationId xmlns:p14="http://schemas.microsoft.com/office/powerpoint/2010/main" val="1705312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wipe(down)">
                                      <p:cBhvr>
                                        <p:cTn id="1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First Law of Thermodynamics</a:t>
            </a:r>
            <a:endParaRPr lang="en-US" dirty="0">
              <a:solidFill>
                <a:srgbClr val="002060"/>
              </a:solidFill>
              <a:latin typeface="Georgia" panose="02040502050405020303" pitchFamily="18" charset="0"/>
            </a:endParaRPr>
          </a:p>
        </p:txBody>
      </p:sp>
      <p:sp>
        <p:nvSpPr>
          <p:cNvPr id="3" name="Content Placeholder 2"/>
          <p:cNvSpPr>
            <a:spLocks noGrp="1"/>
          </p:cNvSpPr>
          <p:nvPr>
            <p:ph sz="half" idx="1"/>
          </p:nvPr>
        </p:nvSpPr>
        <p:spPr>
          <a:xfrm>
            <a:off x="609598" y="1116106"/>
            <a:ext cx="6100484" cy="4558553"/>
          </a:xfrm>
        </p:spPr>
        <p:txBody>
          <a:bodyPr>
            <a:noAutofit/>
          </a:bodyPr>
          <a:lstStyle/>
          <a:p>
            <a:pPr>
              <a:buFont typeface="Wingdings" panose="05000000000000000000" pitchFamily="2" charset="2"/>
              <a:buChar char="v"/>
            </a:pPr>
            <a:r>
              <a:rPr lang="en-US" dirty="0"/>
              <a:t>It obeys the </a:t>
            </a:r>
            <a:r>
              <a:rPr lang="en-US" b="1" dirty="0">
                <a:solidFill>
                  <a:srgbClr val="C00000"/>
                </a:solidFill>
              </a:rPr>
              <a:t>conservation of energy</a:t>
            </a:r>
            <a:r>
              <a:rPr lang="en-US" dirty="0"/>
              <a:t> which states that </a:t>
            </a:r>
            <a:r>
              <a:rPr lang="en-US" u="sng" dirty="0"/>
              <a:t>energy can neither be created nor destroyed but can be transformed from one form to other</a:t>
            </a:r>
            <a:r>
              <a:rPr lang="en-US" dirty="0"/>
              <a:t>. </a:t>
            </a:r>
          </a:p>
          <a:p>
            <a:pPr>
              <a:buFont typeface="Wingdings" panose="05000000000000000000" pitchFamily="2" charset="2"/>
              <a:buChar char="v"/>
            </a:pPr>
            <a:r>
              <a:rPr lang="en-US" dirty="0"/>
              <a:t>If a system does not interact with its environment in any way then no energy comes in and no energy goes out. Energy is “conserved”.</a:t>
            </a:r>
          </a:p>
          <a:p>
            <a:pPr>
              <a:buFont typeface="Wingdings" panose="05000000000000000000" pitchFamily="2" charset="2"/>
              <a:buChar char="v"/>
            </a:pPr>
            <a:r>
              <a:rPr lang="en-US" dirty="0"/>
              <a:t>There is always an energy balance.</a:t>
            </a:r>
          </a:p>
          <a:p>
            <a:pPr>
              <a:buFont typeface="Wingdings" panose="05000000000000000000" pitchFamily="2" charset="2"/>
              <a:buChar char="v"/>
            </a:pPr>
            <a:endParaRPr lang="en-US" dirty="0"/>
          </a:p>
        </p:txBody>
      </p:sp>
      <p:sp>
        <p:nvSpPr>
          <p:cNvPr id="4" name="Slide Number Placeholder 3"/>
          <p:cNvSpPr>
            <a:spLocks noGrp="1"/>
          </p:cNvSpPr>
          <p:nvPr>
            <p:ph type="sldNum" sz="quarter" idx="12"/>
          </p:nvPr>
        </p:nvSpPr>
        <p:spPr/>
        <p:txBody>
          <a:bodyPr/>
          <a:lstStyle/>
          <a:p>
            <a:fld id="{F4801FD5-11B4-DE43-ACA2-E85EEB9A6F9C}" type="slidenum">
              <a:rPr lang="en-US" smtClean="0"/>
              <a:pPr/>
              <a:t>6</a:t>
            </a:fld>
            <a:endParaRPr lang="en-US" dirty="0"/>
          </a:p>
        </p:txBody>
      </p:sp>
      <p:pic>
        <p:nvPicPr>
          <p:cNvPr id="6" name="Picture 5"/>
          <p:cNvPicPr>
            <a:picLocks noChangeAspect="1"/>
          </p:cNvPicPr>
          <p:nvPr/>
        </p:nvPicPr>
        <p:blipFill>
          <a:blip r:embed="rId2"/>
          <a:stretch>
            <a:fillRect/>
          </a:stretch>
        </p:blipFill>
        <p:spPr>
          <a:xfrm>
            <a:off x="7087769" y="1254204"/>
            <a:ext cx="4719918" cy="4174077"/>
          </a:xfrm>
          <a:prstGeom prst="rect">
            <a:avLst/>
          </a:prstGeom>
        </p:spPr>
      </p:pic>
    </p:spTree>
    <p:extLst>
      <p:ext uri="{BB962C8B-B14F-4D97-AF65-F5344CB8AC3E}">
        <p14:creationId xmlns:p14="http://schemas.microsoft.com/office/powerpoint/2010/main" val="1580863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Second Law of Thermodynamics</a:t>
            </a:r>
            <a:endParaRPr lang="en-US" dirty="0">
              <a:solidFill>
                <a:srgbClr val="002060"/>
              </a:solidFill>
              <a:latin typeface="Georgia" panose="02040502050405020303" pitchFamily="18" charset="0"/>
            </a:endParaRPr>
          </a:p>
        </p:txBody>
      </p:sp>
      <p:sp>
        <p:nvSpPr>
          <p:cNvPr id="3" name="Content Placeholder 2"/>
          <p:cNvSpPr>
            <a:spLocks noGrp="1"/>
          </p:cNvSpPr>
          <p:nvPr>
            <p:ph sz="half" idx="1"/>
          </p:nvPr>
        </p:nvSpPr>
        <p:spPr>
          <a:xfrm>
            <a:off x="609598" y="1116106"/>
            <a:ext cx="6033250" cy="4558553"/>
          </a:xfrm>
        </p:spPr>
        <p:txBody>
          <a:bodyPr>
            <a:noAutofit/>
          </a:bodyPr>
          <a:lstStyle/>
          <a:p>
            <a:pPr>
              <a:buFont typeface="Wingdings" panose="05000000000000000000" pitchFamily="2" charset="2"/>
              <a:buChar char="v"/>
            </a:pPr>
            <a:r>
              <a:rPr lang="en-US" b="1" dirty="0"/>
              <a:t>Aspects of Second Law include;</a:t>
            </a:r>
          </a:p>
          <a:p>
            <a:pPr>
              <a:buFont typeface="Wingdings" panose="05000000000000000000" pitchFamily="2" charset="2"/>
              <a:buChar char="ü"/>
            </a:pPr>
            <a:r>
              <a:rPr lang="en-US" dirty="0"/>
              <a:t>Predicting the direction of processes. </a:t>
            </a:r>
          </a:p>
          <a:p>
            <a:pPr>
              <a:buFont typeface="Wingdings" panose="05000000000000000000" pitchFamily="2" charset="2"/>
              <a:buChar char="ü"/>
            </a:pPr>
            <a:r>
              <a:rPr lang="en-US" dirty="0"/>
              <a:t>Establishing conditions for equilibrium. determining the best theoretical performance of cycles, engines, and other devices. </a:t>
            </a:r>
          </a:p>
          <a:p>
            <a:pPr>
              <a:buFont typeface="Wingdings" panose="05000000000000000000" pitchFamily="2" charset="2"/>
              <a:buChar char="ü"/>
            </a:pPr>
            <a:r>
              <a:rPr lang="en-US" dirty="0"/>
              <a:t>Evaluating quantitatively the factors that preclude attainment of the best theoretical performance level. </a:t>
            </a:r>
          </a:p>
        </p:txBody>
      </p:sp>
      <p:sp>
        <p:nvSpPr>
          <p:cNvPr id="4" name="Slide Number Placeholder 3"/>
          <p:cNvSpPr>
            <a:spLocks noGrp="1"/>
          </p:cNvSpPr>
          <p:nvPr>
            <p:ph type="sldNum" sz="quarter" idx="12"/>
          </p:nvPr>
        </p:nvSpPr>
        <p:spPr/>
        <p:txBody>
          <a:bodyPr/>
          <a:lstStyle/>
          <a:p>
            <a:fld id="{F4801FD5-11B4-DE43-ACA2-E85EEB9A6F9C}" type="slidenum">
              <a:rPr lang="en-US" smtClean="0"/>
              <a:pPr/>
              <a:t>7</a:t>
            </a:fld>
            <a:endParaRPr lang="en-US" dirty="0"/>
          </a:p>
        </p:txBody>
      </p:sp>
      <p:pic>
        <p:nvPicPr>
          <p:cNvPr id="7" name="Picture 6"/>
          <p:cNvPicPr>
            <a:picLocks noChangeAspect="1"/>
          </p:cNvPicPr>
          <p:nvPr/>
        </p:nvPicPr>
        <p:blipFill>
          <a:blip r:embed="rId2"/>
          <a:stretch>
            <a:fillRect/>
          </a:stretch>
        </p:blipFill>
        <p:spPr>
          <a:xfrm>
            <a:off x="6753579" y="1638859"/>
            <a:ext cx="5054108" cy="3052481"/>
          </a:xfrm>
          <a:prstGeom prst="rect">
            <a:avLst/>
          </a:prstGeom>
        </p:spPr>
      </p:pic>
    </p:spTree>
    <p:extLst>
      <p:ext uri="{BB962C8B-B14F-4D97-AF65-F5344CB8AC3E}">
        <p14:creationId xmlns:p14="http://schemas.microsoft.com/office/powerpoint/2010/main" val="684008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Third Law of Thermodynamics</a:t>
            </a:r>
            <a:endParaRPr lang="en-US" dirty="0">
              <a:solidFill>
                <a:srgbClr val="002060"/>
              </a:solidFill>
              <a:latin typeface="Georgia" panose="02040502050405020303" pitchFamily="18" charset="0"/>
            </a:endParaRPr>
          </a:p>
        </p:txBody>
      </p:sp>
      <p:sp>
        <p:nvSpPr>
          <p:cNvPr id="3" name="Content Placeholder 2"/>
          <p:cNvSpPr>
            <a:spLocks noGrp="1"/>
          </p:cNvSpPr>
          <p:nvPr>
            <p:ph sz="half" idx="1"/>
          </p:nvPr>
        </p:nvSpPr>
        <p:spPr>
          <a:xfrm>
            <a:off x="609597" y="1116106"/>
            <a:ext cx="6342531" cy="4558553"/>
          </a:xfrm>
        </p:spPr>
        <p:txBody>
          <a:bodyPr>
            <a:noAutofit/>
          </a:bodyPr>
          <a:lstStyle/>
          <a:p>
            <a:pPr>
              <a:buFont typeface="Wingdings" panose="05000000000000000000" pitchFamily="2" charset="2"/>
              <a:buChar char="v"/>
            </a:pPr>
            <a:r>
              <a:rPr lang="en-US" b="1" dirty="0">
                <a:solidFill>
                  <a:srgbClr val="C00000"/>
                </a:solidFill>
              </a:rPr>
              <a:t>It states that, it is impossible to attain a temperature of absolute zero.</a:t>
            </a:r>
          </a:p>
          <a:p>
            <a:pPr>
              <a:buFont typeface="Wingdings" panose="05000000000000000000" pitchFamily="2" charset="2"/>
              <a:buChar char="v"/>
            </a:pPr>
            <a:r>
              <a:rPr lang="en-US" dirty="0"/>
              <a:t>On the Kelvin temperature scale, T = 0K is often referred to as absolute zero.</a:t>
            </a:r>
          </a:p>
          <a:p>
            <a:pPr>
              <a:buFont typeface="Wingdings" panose="05000000000000000000" pitchFamily="2" charset="2"/>
              <a:buChar char="v"/>
            </a:pPr>
            <a:r>
              <a:rPr lang="en-US" dirty="0"/>
              <a:t>If absolute zero temperature (0K) can be obtained, 100% efficiency can be achieved.</a:t>
            </a:r>
          </a:p>
        </p:txBody>
      </p:sp>
      <p:sp>
        <p:nvSpPr>
          <p:cNvPr id="4" name="Slide Number Placeholder 3"/>
          <p:cNvSpPr>
            <a:spLocks noGrp="1"/>
          </p:cNvSpPr>
          <p:nvPr>
            <p:ph type="sldNum" sz="quarter" idx="12"/>
          </p:nvPr>
        </p:nvSpPr>
        <p:spPr/>
        <p:txBody>
          <a:bodyPr/>
          <a:lstStyle/>
          <a:p>
            <a:fld id="{F4801FD5-11B4-DE43-ACA2-E85EEB9A6F9C}" type="slidenum">
              <a:rPr lang="en-US" smtClean="0"/>
              <a:pPr/>
              <a:t>8</a:t>
            </a:fld>
            <a:endParaRPr lang="en-US" dirty="0"/>
          </a:p>
        </p:txBody>
      </p:sp>
      <p:pic>
        <p:nvPicPr>
          <p:cNvPr id="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54825" y="1210236"/>
            <a:ext cx="3478772" cy="44644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58373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Applications of Thermodynamics</a:t>
            </a:r>
            <a:endParaRPr lang="en-US" dirty="0">
              <a:solidFill>
                <a:srgbClr val="002060"/>
              </a:solidFill>
              <a:latin typeface="Georgia" panose="02040502050405020303" pitchFamily="18" charset="0"/>
            </a:endParaRPr>
          </a:p>
        </p:txBody>
      </p:sp>
      <p:sp>
        <p:nvSpPr>
          <p:cNvPr id="4" name="Slide Number Placeholder 3"/>
          <p:cNvSpPr>
            <a:spLocks noGrp="1"/>
          </p:cNvSpPr>
          <p:nvPr>
            <p:ph type="sldNum" sz="quarter" idx="12"/>
          </p:nvPr>
        </p:nvSpPr>
        <p:spPr/>
        <p:txBody>
          <a:bodyPr/>
          <a:lstStyle/>
          <a:p>
            <a:fld id="{F4801FD5-11B4-DE43-ACA2-E85EEB9A6F9C}" type="slidenum">
              <a:rPr lang="en-US" smtClean="0"/>
              <a:pPr/>
              <a:t>9</a:t>
            </a:fld>
            <a:endParaRPr lang="en-US" dirty="0"/>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4174" y="1074371"/>
            <a:ext cx="2228850" cy="204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86036" y="1074370"/>
            <a:ext cx="3093939" cy="19282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8" descr="01004 copy"/>
          <p:cNvPicPr>
            <a:picLocks noChangeAspect="1" noChangeArrowheads="1"/>
          </p:cNvPicPr>
          <p:nvPr/>
        </p:nvPicPr>
        <p:blipFill rotWithShape="1">
          <a:blip r:embed="rId4" cstate="print"/>
          <a:srcRect t="7426" r="92933" b="32835"/>
          <a:stretch/>
        </p:blipFill>
        <p:spPr bwMode="auto">
          <a:xfrm>
            <a:off x="3580461" y="1074370"/>
            <a:ext cx="914994" cy="3518231"/>
          </a:xfrm>
          <a:prstGeom prst="rect">
            <a:avLst/>
          </a:prstGeom>
          <a:noFill/>
        </p:spPr>
      </p:pic>
      <p:pic>
        <p:nvPicPr>
          <p:cNvPr id="10"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4788" y="3533210"/>
            <a:ext cx="3110279" cy="23297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909260" y="4367681"/>
            <a:ext cx="2819400" cy="161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Picture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909260" y="1074371"/>
            <a:ext cx="2090434" cy="3293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 name="Picture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86037" y="3127948"/>
            <a:ext cx="3901026" cy="2963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793745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Basic Concepts and Definitions</a:t>
            </a:r>
            <a:endParaRPr lang="en-US" dirty="0">
              <a:solidFill>
                <a:srgbClr val="002060"/>
              </a:solidFill>
              <a:latin typeface="Georgia" panose="02040502050405020303" pitchFamily="18" charset="0"/>
            </a:endParaRPr>
          </a:p>
        </p:txBody>
      </p:sp>
      <p:sp>
        <p:nvSpPr>
          <p:cNvPr id="3" name="Content Placeholder 2"/>
          <p:cNvSpPr>
            <a:spLocks noGrp="1"/>
          </p:cNvSpPr>
          <p:nvPr>
            <p:ph sz="half" idx="1"/>
          </p:nvPr>
        </p:nvSpPr>
        <p:spPr>
          <a:xfrm>
            <a:off x="609601" y="1083815"/>
            <a:ext cx="7754470" cy="5048043"/>
          </a:xfrm>
        </p:spPr>
        <p:txBody>
          <a:bodyPr>
            <a:noAutofit/>
          </a:bodyPr>
          <a:lstStyle/>
          <a:p>
            <a:pPr>
              <a:buFont typeface="Wingdings" panose="05000000000000000000" pitchFamily="2" charset="2"/>
              <a:buChar char="v"/>
            </a:pPr>
            <a:r>
              <a:rPr lang="en-US" sz="2200" b="1" dirty="0">
                <a:solidFill>
                  <a:srgbClr val="C00000"/>
                </a:solidFill>
              </a:rPr>
              <a:t>Thermodynamic system </a:t>
            </a:r>
            <a:r>
              <a:rPr lang="en-US" sz="2200" dirty="0"/>
              <a:t>is a region of space or an amount of matter, bounded by an arbitrary surface.</a:t>
            </a:r>
          </a:p>
          <a:p>
            <a:pPr>
              <a:buFont typeface="Wingdings" panose="05000000000000000000" pitchFamily="2" charset="2"/>
              <a:buChar char="v"/>
            </a:pPr>
            <a:r>
              <a:rPr lang="en-US" sz="2200" b="1" dirty="0">
                <a:solidFill>
                  <a:srgbClr val="002060"/>
                </a:solidFill>
              </a:rPr>
              <a:t>Everything external to the system is considered to be part of the system’s surroundings.  </a:t>
            </a:r>
          </a:p>
          <a:p>
            <a:pPr>
              <a:buFont typeface="Wingdings" panose="05000000000000000000" pitchFamily="2" charset="2"/>
              <a:buChar char="v"/>
            </a:pPr>
            <a:r>
              <a:rPr lang="en-US" sz="2200" dirty="0"/>
              <a:t>The system is distinguished from its surroundings by a specified boundary, which may be at rest or in motion.</a:t>
            </a:r>
          </a:p>
          <a:p>
            <a:pPr>
              <a:buFont typeface="Wingdings" panose="05000000000000000000" pitchFamily="2" charset="2"/>
              <a:buChar char="v"/>
            </a:pPr>
            <a:r>
              <a:rPr lang="en-US" sz="2200" dirty="0"/>
              <a:t>A </a:t>
            </a:r>
            <a:r>
              <a:rPr lang="en-US" sz="2200" b="1" dirty="0">
                <a:solidFill>
                  <a:srgbClr val="C00000"/>
                </a:solidFill>
              </a:rPr>
              <a:t>boundary</a:t>
            </a:r>
            <a:r>
              <a:rPr lang="en-US" sz="2200" dirty="0"/>
              <a:t> is a closed surface, either real or imaginary, surrounding a system through which energy and mass may enter or leave the system and which separates the system from its surroundings. </a:t>
            </a:r>
          </a:p>
          <a:p>
            <a:pPr>
              <a:buFont typeface="Wingdings" panose="05000000000000000000" pitchFamily="2" charset="2"/>
              <a:buChar char="ü"/>
            </a:pPr>
            <a:r>
              <a:rPr lang="en-US" sz="2200" dirty="0"/>
              <a:t>Permeable and process boundaries allow mass transfer to occur.</a:t>
            </a:r>
          </a:p>
          <a:p>
            <a:pPr>
              <a:buFont typeface="Wingdings" panose="05000000000000000000" pitchFamily="2" charset="2"/>
              <a:buChar char="ü"/>
            </a:pPr>
            <a:r>
              <a:rPr lang="en-US" sz="2200" dirty="0"/>
              <a:t>A </a:t>
            </a:r>
            <a:r>
              <a:rPr lang="en-US" sz="2200" dirty="0" err="1"/>
              <a:t>diathermal</a:t>
            </a:r>
            <a:r>
              <a:rPr lang="en-US" sz="2200" dirty="0"/>
              <a:t> boundary allows heat transfer to occur across it as in the case of thin metal walls.</a:t>
            </a:r>
          </a:p>
          <a:p>
            <a:pPr>
              <a:buFont typeface="Wingdings" panose="05000000000000000000" pitchFamily="2" charset="2"/>
              <a:buChar char="v"/>
            </a:pPr>
            <a:endParaRPr lang="en-US" dirty="0"/>
          </a:p>
        </p:txBody>
      </p:sp>
      <p:sp>
        <p:nvSpPr>
          <p:cNvPr id="4" name="Slide Number Placeholder 3"/>
          <p:cNvSpPr>
            <a:spLocks noGrp="1"/>
          </p:cNvSpPr>
          <p:nvPr>
            <p:ph type="sldNum" sz="quarter" idx="12"/>
          </p:nvPr>
        </p:nvSpPr>
        <p:spPr/>
        <p:txBody>
          <a:bodyPr/>
          <a:lstStyle/>
          <a:p>
            <a:fld id="{F4801FD5-11B4-DE43-ACA2-E85EEB9A6F9C}" type="slidenum">
              <a:rPr lang="en-US" smtClean="0"/>
              <a:pPr/>
              <a:t>10</a:t>
            </a:fld>
            <a:endParaRPr lang="en-US" dirty="0"/>
          </a:p>
        </p:txBody>
      </p:sp>
      <p:pic>
        <p:nvPicPr>
          <p:cNvPr id="7170" name="Picture 2" descr="Module 1 : Classical Thermodynamics Lecture 1 : Review of Thermodynamics 1  2 3 4 5 6 Concepts of classical thermodynamics Thermodynamic system A thermodynamic  system is defined as the quantity of matter or a region in space upon which  attention is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19646" y="2178845"/>
            <a:ext cx="3438525" cy="25050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4186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Basic Concepts and Definitions</a:t>
            </a:r>
            <a:endParaRPr lang="en-US" dirty="0">
              <a:solidFill>
                <a:srgbClr val="002060"/>
              </a:solidFill>
              <a:latin typeface="Georgia" panose="02040502050405020303" pitchFamily="18" charset="0"/>
            </a:endParaRPr>
          </a:p>
        </p:txBody>
      </p:sp>
      <p:sp>
        <p:nvSpPr>
          <p:cNvPr id="3" name="Content Placeholder 2"/>
          <p:cNvSpPr>
            <a:spLocks noGrp="1"/>
          </p:cNvSpPr>
          <p:nvPr>
            <p:ph sz="half" idx="1"/>
          </p:nvPr>
        </p:nvSpPr>
        <p:spPr>
          <a:xfrm>
            <a:off x="609601" y="1083815"/>
            <a:ext cx="8943100" cy="5048043"/>
          </a:xfrm>
        </p:spPr>
        <p:txBody>
          <a:bodyPr>
            <a:noAutofit/>
          </a:bodyPr>
          <a:lstStyle/>
          <a:p>
            <a:pPr>
              <a:buFont typeface="Wingdings" panose="05000000000000000000" pitchFamily="2" charset="2"/>
              <a:buChar char="v"/>
            </a:pPr>
            <a:r>
              <a:rPr lang="en-US" sz="2400" dirty="0"/>
              <a:t>Once the system is defined and the relevant interactions with other systems are identified, one or more physical laws or relations are applied.</a:t>
            </a:r>
          </a:p>
          <a:p>
            <a:pPr>
              <a:buFont typeface="Wingdings" panose="05000000000000000000" pitchFamily="2" charset="2"/>
              <a:buChar char="v"/>
            </a:pPr>
            <a:r>
              <a:rPr lang="en-US" sz="2400" dirty="0"/>
              <a:t>The system is whatever we want to study.  We may want to study a quantity of matter contained within a closed, rigid-tank, or we may want to consider something such as a gas pipeline through which matter flows.</a:t>
            </a:r>
          </a:p>
          <a:p>
            <a:pPr lvl="0" defTabSz="914400">
              <a:buNone/>
            </a:pPr>
            <a:r>
              <a:rPr lang="en-US" sz="2000" b="1" dirty="0"/>
              <a:t>Note:</a:t>
            </a:r>
          </a:p>
          <a:p>
            <a:pPr lvl="0" defTabSz="914400">
              <a:buFont typeface="Wingdings" panose="05000000000000000000" pitchFamily="2" charset="2"/>
              <a:buChar char="v"/>
            </a:pPr>
            <a:r>
              <a:rPr lang="en-US" sz="2200" dirty="0"/>
              <a:t>Even vacuum which is devoid of matter, may be the focus of interest. The composition of matter inside a system</a:t>
            </a:r>
            <a:r>
              <a:rPr lang="en-US" sz="2200" dirty="0">
                <a:solidFill>
                  <a:srgbClr val="1F497D"/>
                </a:solidFill>
              </a:rPr>
              <a:t> </a:t>
            </a:r>
            <a:r>
              <a:rPr lang="en-US" sz="2200" u="sng" dirty="0">
                <a:solidFill>
                  <a:srgbClr val="C00000"/>
                </a:solidFill>
              </a:rPr>
              <a:t>may be fixed</a:t>
            </a:r>
            <a:r>
              <a:rPr lang="en-US" sz="2200" dirty="0">
                <a:solidFill>
                  <a:srgbClr val="C00000"/>
                </a:solidFill>
              </a:rPr>
              <a:t> </a:t>
            </a:r>
            <a:r>
              <a:rPr lang="en-US" sz="2200" dirty="0"/>
              <a:t>or may </a:t>
            </a:r>
            <a:r>
              <a:rPr lang="en-US" sz="2200" u="sng" dirty="0">
                <a:solidFill>
                  <a:srgbClr val="C00000"/>
                </a:solidFill>
              </a:rPr>
              <a:t>be changing</a:t>
            </a:r>
            <a:r>
              <a:rPr lang="en-US" sz="2200" dirty="0">
                <a:solidFill>
                  <a:srgbClr val="C00000"/>
                </a:solidFill>
              </a:rPr>
              <a:t> </a:t>
            </a:r>
            <a:r>
              <a:rPr lang="en-US" sz="2200" dirty="0"/>
              <a:t>through chemical or nuclear reactions.  </a:t>
            </a:r>
            <a:r>
              <a:rPr lang="en-US" sz="2200" b="1" u="sng" dirty="0">
                <a:solidFill>
                  <a:srgbClr val="002060"/>
                </a:solidFill>
              </a:rPr>
              <a:t>The shape or volume of the system being analysed is not necessarily constant</a:t>
            </a:r>
            <a:r>
              <a:rPr lang="en-US" sz="2200" dirty="0"/>
              <a:t>, as when a piston compresses a gas in a cylinder or a balloon is being inflated.  </a:t>
            </a:r>
          </a:p>
          <a:p>
            <a:pPr>
              <a:buFont typeface="Wingdings" panose="05000000000000000000" pitchFamily="2" charset="2"/>
              <a:buChar char="v"/>
            </a:pPr>
            <a:endParaRPr lang="en-US" sz="2400" dirty="0"/>
          </a:p>
        </p:txBody>
      </p:sp>
      <p:sp>
        <p:nvSpPr>
          <p:cNvPr id="4" name="Slide Number Placeholder 3"/>
          <p:cNvSpPr>
            <a:spLocks noGrp="1"/>
          </p:cNvSpPr>
          <p:nvPr>
            <p:ph type="sldNum" sz="quarter" idx="12"/>
          </p:nvPr>
        </p:nvSpPr>
        <p:spPr/>
        <p:txBody>
          <a:bodyPr/>
          <a:lstStyle/>
          <a:p>
            <a:fld id="{F4801FD5-11B4-DE43-ACA2-E85EEB9A6F9C}" type="slidenum">
              <a:rPr lang="en-US" smtClean="0"/>
              <a:pPr/>
              <a:t>11</a:t>
            </a:fld>
            <a:endParaRPr lang="en-US" dirty="0"/>
          </a:p>
        </p:txBody>
      </p:sp>
      <p:pic>
        <p:nvPicPr>
          <p:cNvPr id="7170" name="Picture 2" descr="Module 1 : Classical Thermodynamics Lecture 1 : Review of Thermodynamics 1  2 3 4 5 6 Concepts of classical thermodynamics Thermodynamic system A thermodynamic  system is defined as the quantity of matter or a region in space upon which  attention is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52701" y="2931459"/>
            <a:ext cx="2405470" cy="17524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7856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Basic Concepts and Definitions</a:t>
            </a:r>
            <a:endParaRPr lang="en-US" dirty="0">
              <a:solidFill>
                <a:srgbClr val="002060"/>
              </a:solidFill>
              <a:latin typeface="Georgia" panose="02040502050405020303" pitchFamily="18" charset="0"/>
            </a:endParaRPr>
          </a:p>
        </p:txBody>
      </p:sp>
      <p:sp>
        <p:nvSpPr>
          <p:cNvPr id="3" name="Content Placeholder 2"/>
          <p:cNvSpPr>
            <a:spLocks noGrp="1"/>
          </p:cNvSpPr>
          <p:nvPr>
            <p:ph sz="half" idx="1"/>
          </p:nvPr>
        </p:nvSpPr>
        <p:spPr>
          <a:xfrm>
            <a:off x="514600" y="1008530"/>
            <a:ext cx="8078071" cy="2339788"/>
          </a:xfrm>
        </p:spPr>
        <p:txBody>
          <a:bodyPr>
            <a:noAutofit/>
          </a:bodyPr>
          <a:lstStyle/>
          <a:p>
            <a:pPr marL="0" indent="0">
              <a:buNone/>
            </a:pPr>
            <a:r>
              <a:rPr lang="en-US" sz="3600" b="1" dirty="0">
                <a:solidFill>
                  <a:srgbClr val="C00000"/>
                </a:solidFill>
              </a:rPr>
              <a:t>Classification of Systems</a:t>
            </a:r>
          </a:p>
          <a:p>
            <a:pPr>
              <a:buFont typeface="Wingdings" panose="05000000000000000000" pitchFamily="2" charset="2"/>
              <a:buChar char="v"/>
            </a:pPr>
            <a:r>
              <a:rPr lang="en-US" sz="3000" dirty="0"/>
              <a:t>A thermodynamic system interacts with its surroundings through its boundary in two ways: by exchanging </a:t>
            </a:r>
            <a:r>
              <a:rPr lang="en-US" sz="3000" dirty="0">
                <a:solidFill>
                  <a:srgbClr val="002060"/>
                </a:solidFill>
              </a:rPr>
              <a:t>energy and matter</a:t>
            </a:r>
            <a:r>
              <a:rPr lang="en-US" sz="3000" dirty="0"/>
              <a:t> (mass).</a:t>
            </a:r>
          </a:p>
          <a:p>
            <a:pPr marL="0" indent="0">
              <a:buNone/>
            </a:pPr>
            <a:endParaRPr lang="en-US" dirty="0"/>
          </a:p>
          <a:p>
            <a:pPr>
              <a:buFont typeface="Wingdings" panose="05000000000000000000" pitchFamily="2" charset="2"/>
              <a:buChar char="v"/>
            </a:pPr>
            <a:endParaRPr lang="en-US" dirty="0"/>
          </a:p>
        </p:txBody>
      </p:sp>
      <p:sp>
        <p:nvSpPr>
          <p:cNvPr id="4" name="Slide Number Placeholder 3"/>
          <p:cNvSpPr>
            <a:spLocks noGrp="1"/>
          </p:cNvSpPr>
          <p:nvPr>
            <p:ph type="sldNum" sz="quarter" idx="12"/>
          </p:nvPr>
        </p:nvSpPr>
        <p:spPr/>
        <p:txBody>
          <a:bodyPr/>
          <a:lstStyle/>
          <a:p>
            <a:fld id="{F4801FD5-11B4-DE43-ACA2-E85EEB9A6F9C}" type="slidenum">
              <a:rPr lang="en-US" smtClean="0"/>
              <a:pPr/>
              <a:t>12</a:t>
            </a:fld>
            <a:endParaRPr lang="en-US" dirty="0"/>
          </a:p>
        </p:txBody>
      </p:sp>
      <p:pic>
        <p:nvPicPr>
          <p:cNvPr id="5" name="Picture 4"/>
          <p:cNvPicPr>
            <a:picLocks noChangeAspect="1"/>
          </p:cNvPicPr>
          <p:nvPr/>
        </p:nvPicPr>
        <p:blipFill>
          <a:blip r:embed="rId2"/>
          <a:stretch>
            <a:fillRect/>
          </a:stretch>
        </p:blipFill>
        <p:spPr>
          <a:xfrm>
            <a:off x="3278871" y="3348318"/>
            <a:ext cx="3308224" cy="2827206"/>
          </a:xfrm>
          <a:prstGeom prst="rect">
            <a:avLst/>
          </a:prstGeom>
        </p:spPr>
      </p:pic>
      <p:pic>
        <p:nvPicPr>
          <p:cNvPr id="7" name="Picture 6"/>
          <p:cNvPicPr>
            <a:picLocks noChangeAspect="1"/>
          </p:cNvPicPr>
          <p:nvPr/>
        </p:nvPicPr>
        <p:blipFill>
          <a:blip r:embed="rId3"/>
          <a:stretch>
            <a:fillRect/>
          </a:stretch>
        </p:blipFill>
        <p:spPr>
          <a:xfrm>
            <a:off x="6663232" y="3201397"/>
            <a:ext cx="3208961" cy="3024714"/>
          </a:xfrm>
          <a:prstGeom prst="rect">
            <a:avLst/>
          </a:prstGeom>
        </p:spPr>
      </p:pic>
      <p:pic>
        <p:nvPicPr>
          <p:cNvPr id="8" name="Picture 7"/>
          <p:cNvPicPr>
            <a:picLocks noChangeAspect="1"/>
          </p:cNvPicPr>
          <p:nvPr/>
        </p:nvPicPr>
        <p:blipFill>
          <a:blip r:embed="rId4"/>
          <a:stretch>
            <a:fillRect/>
          </a:stretch>
        </p:blipFill>
        <p:spPr>
          <a:xfrm>
            <a:off x="9578659" y="1008530"/>
            <a:ext cx="2375773" cy="3173121"/>
          </a:xfrm>
          <a:prstGeom prst="rect">
            <a:avLst/>
          </a:prstGeom>
        </p:spPr>
      </p:pic>
      <p:sp>
        <p:nvSpPr>
          <p:cNvPr id="10" name="Content Placeholder 2"/>
          <p:cNvSpPr txBox="1">
            <a:spLocks/>
          </p:cNvSpPr>
          <p:nvPr/>
        </p:nvSpPr>
        <p:spPr>
          <a:xfrm>
            <a:off x="401418" y="3887395"/>
            <a:ext cx="2704853" cy="1802217"/>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marL="0" indent="0">
              <a:buFont typeface="Arial"/>
              <a:buNone/>
            </a:pPr>
            <a:r>
              <a:rPr lang="en-US" sz="2400" b="1" dirty="0">
                <a:solidFill>
                  <a:srgbClr val="C00000"/>
                </a:solidFill>
              </a:rPr>
              <a:t>Types of systems</a:t>
            </a:r>
          </a:p>
          <a:p>
            <a:pPr>
              <a:buFont typeface="Wingdings" panose="05000000000000000000" pitchFamily="2" charset="2"/>
              <a:buChar char="ü"/>
            </a:pPr>
            <a:r>
              <a:rPr lang="en-US" sz="2400" dirty="0"/>
              <a:t>Closed system.</a:t>
            </a:r>
          </a:p>
          <a:p>
            <a:pPr>
              <a:buFont typeface="Wingdings" panose="05000000000000000000" pitchFamily="2" charset="2"/>
              <a:buChar char="ü"/>
            </a:pPr>
            <a:r>
              <a:rPr lang="en-US" sz="2400" dirty="0"/>
              <a:t>Open system</a:t>
            </a:r>
          </a:p>
          <a:p>
            <a:pPr>
              <a:buFont typeface="Wingdings" panose="05000000000000000000" pitchFamily="2" charset="2"/>
              <a:buChar char="ü"/>
            </a:pPr>
            <a:r>
              <a:rPr lang="en-US" sz="2400" dirty="0"/>
              <a:t>Isolated system</a:t>
            </a:r>
          </a:p>
          <a:p>
            <a:pPr marL="0" indent="0">
              <a:buFont typeface="Arial"/>
              <a:buNone/>
            </a:pPr>
            <a:endParaRPr lang="en-US" dirty="0"/>
          </a:p>
          <a:p>
            <a:pPr>
              <a:buFont typeface="Wingdings" panose="05000000000000000000" pitchFamily="2" charset="2"/>
              <a:buChar char="v"/>
            </a:pPr>
            <a:endParaRPr lang="en-US" dirty="0"/>
          </a:p>
        </p:txBody>
      </p:sp>
    </p:spTree>
    <p:extLst>
      <p:ext uri="{BB962C8B-B14F-4D97-AF65-F5344CB8AC3E}">
        <p14:creationId xmlns:p14="http://schemas.microsoft.com/office/powerpoint/2010/main" val="1016289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Basic Concepts and Definitions</a:t>
            </a:r>
            <a:endParaRPr lang="en-US" dirty="0">
              <a:solidFill>
                <a:srgbClr val="002060"/>
              </a:solidFill>
              <a:latin typeface="Georgia" panose="02040502050405020303" pitchFamily="18" charset="0"/>
            </a:endParaRPr>
          </a:p>
        </p:txBody>
      </p:sp>
      <p:sp>
        <p:nvSpPr>
          <p:cNvPr id="3" name="Content Placeholder 2"/>
          <p:cNvSpPr>
            <a:spLocks noGrp="1"/>
          </p:cNvSpPr>
          <p:nvPr>
            <p:ph sz="half" idx="1"/>
          </p:nvPr>
        </p:nvSpPr>
        <p:spPr>
          <a:xfrm>
            <a:off x="514600" y="1008530"/>
            <a:ext cx="8642847" cy="1358152"/>
          </a:xfrm>
        </p:spPr>
        <p:txBody>
          <a:bodyPr>
            <a:noAutofit/>
          </a:bodyPr>
          <a:lstStyle/>
          <a:p>
            <a:pPr marL="0" indent="0">
              <a:buNone/>
            </a:pPr>
            <a:r>
              <a:rPr lang="en-US" sz="3600" b="1" dirty="0">
                <a:solidFill>
                  <a:srgbClr val="C00000"/>
                </a:solidFill>
              </a:rPr>
              <a:t>Sign Convention</a:t>
            </a:r>
          </a:p>
          <a:p>
            <a:pPr>
              <a:buFont typeface="Wingdings" panose="05000000000000000000" pitchFamily="2" charset="2"/>
              <a:buChar char="v"/>
            </a:pPr>
            <a:r>
              <a:rPr lang="en-US" sz="3000" dirty="0"/>
              <a:t>Energy interaction occurs in two ways; heat and work.</a:t>
            </a:r>
          </a:p>
          <a:p>
            <a:pPr marL="0" indent="0">
              <a:buNone/>
            </a:pPr>
            <a:endParaRPr lang="en-US" dirty="0"/>
          </a:p>
          <a:p>
            <a:pPr>
              <a:buFont typeface="Wingdings" panose="05000000000000000000" pitchFamily="2" charset="2"/>
              <a:buChar char="v"/>
            </a:pPr>
            <a:endParaRPr lang="en-US" dirty="0"/>
          </a:p>
        </p:txBody>
      </p:sp>
      <p:sp>
        <p:nvSpPr>
          <p:cNvPr id="4" name="Slide Number Placeholder 3"/>
          <p:cNvSpPr>
            <a:spLocks noGrp="1"/>
          </p:cNvSpPr>
          <p:nvPr>
            <p:ph type="sldNum" sz="quarter" idx="12"/>
          </p:nvPr>
        </p:nvSpPr>
        <p:spPr/>
        <p:txBody>
          <a:bodyPr/>
          <a:lstStyle/>
          <a:p>
            <a:fld id="{F4801FD5-11B4-DE43-ACA2-E85EEB9A6F9C}" type="slidenum">
              <a:rPr lang="en-US" smtClean="0"/>
              <a:pPr/>
              <a:t>13</a:t>
            </a:fld>
            <a:endParaRPr lang="en-US" dirty="0"/>
          </a:p>
        </p:txBody>
      </p:sp>
      <p:pic>
        <p:nvPicPr>
          <p:cNvPr id="6" name="Picture 5"/>
          <p:cNvPicPr>
            <a:picLocks noChangeAspect="1"/>
          </p:cNvPicPr>
          <p:nvPr/>
        </p:nvPicPr>
        <p:blipFill>
          <a:blip r:embed="rId2"/>
          <a:stretch>
            <a:fillRect/>
          </a:stretch>
        </p:blipFill>
        <p:spPr>
          <a:xfrm>
            <a:off x="848005" y="2177837"/>
            <a:ext cx="7569854" cy="4082173"/>
          </a:xfrm>
          <a:prstGeom prst="rect">
            <a:avLst/>
          </a:prstGeom>
        </p:spPr>
      </p:pic>
      <p:pic>
        <p:nvPicPr>
          <p:cNvPr id="9" name="Picture 8"/>
          <p:cNvPicPr>
            <a:picLocks noChangeAspect="1"/>
          </p:cNvPicPr>
          <p:nvPr/>
        </p:nvPicPr>
        <p:blipFill>
          <a:blip r:embed="rId3"/>
          <a:stretch>
            <a:fillRect/>
          </a:stretch>
        </p:blipFill>
        <p:spPr>
          <a:xfrm>
            <a:off x="8751264" y="2177837"/>
            <a:ext cx="3270407" cy="3066516"/>
          </a:xfrm>
          <a:prstGeom prst="rect">
            <a:avLst/>
          </a:prstGeom>
        </p:spPr>
      </p:pic>
    </p:spTree>
    <p:extLst>
      <p:ext uri="{BB962C8B-B14F-4D97-AF65-F5344CB8AC3E}">
        <p14:creationId xmlns:p14="http://schemas.microsoft.com/office/powerpoint/2010/main" val="2262170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Basic Concepts and Definitions</a:t>
            </a:r>
            <a:endParaRPr lang="en-US" dirty="0">
              <a:solidFill>
                <a:srgbClr val="002060"/>
              </a:solidFill>
              <a:latin typeface="Georgia" panose="02040502050405020303" pitchFamily="18" charset="0"/>
            </a:endParaRPr>
          </a:p>
        </p:txBody>
      </p:sp>
      <p:sp>
        <p:nvSpPr>
          <p:cNvPr id="3" name="Content Placeholder 2"/>
          <p:cNvSpPr>
            <a:spLocks noGrp="1"/>
          </p:cNvSpPr>
          <p:nvPr>
            <p:ph sz="half" idx="1"/>
          </p:nvPr>
        </p:nvSpPr>
        <p:spPr>
          <a:xfrm>
            <a:off x="514601" y="1008529"/>
            <a:ext cx="5836894" cy="5270076"/>
          </a:xfrm>
        </p:spPr>
        <p:txBody>
          <a:bodyPr>
            <a:noAutofit/>
          </a:bodyPr>
          <a:lstStyle/>
          <a:p>
            <a:pPr marL="0" indent="0">
              <a:buNone/>
            </a:pPr>
            <a:r>
              <a:rPr lang="en-US" sz="3600" b="1" dirty="0">
                <a:solidFill>
                  <a:srgbClr val="C00000"/>
                </a:solidFill>
              </a:rPr>
              <a:t>Thermodynamic Properties</a:t>
            </a:r>
          </a:p>
          <a:p>
            <a:pPr>
              <a:buFont typeface="Wingdings" panose="05000000000000000000" pitchFamily="2" charset="2"/>
              <a:buChar char="v"/>
            </a:pPr>
            <a:r>
              <a:rPr lang="en-US" sz="2400" dirty="0"/>
              <a:t>A property is a characteristic of a system. It is used to specify the condition of that system.</a:t>
            </a:r>
          </a:p>
          <a:p>
            <a:pPr>
              <a:buFont typeface="Wingdings" panose="05000000000000000000" pitchFamily="2" charset="2"/>
              <a:buChar char="v"/>
            </a:pPr>
            <a:r>
              <a:rPr lang="en-US" sz="2400" dirty="0"/>
              <a:t>The most common properties are pressure, temperature, mass, volume and energy.</a:t>
            </a:r>
          </a:p>
          <a:p>
            <a:pPr>
              <a:buFont typeface="Wingdings" panose="05000000000000000000" pitchFamily="2" charset="2"/>
              <a:buChar char="v"/>
            </a:pPr>
            <a:r>
              <a:rPr lang="en-US" sz="2400" dirty="0"/>
              <a:t>A property must be macroscopic, measurable and have a single numerical value that does not depend on how the condition of the system was attained.</a:t>
            </a:r>
          </a:p>
          <a:p>
            <a:pPr>
              <a:buFont typeface="Wingdings" panose="05000000000000000000" pitchFamily="2" charset="2"/>
              <a:buChar char="v"/>
            </a:pPr>
            <a:r>
              <a:rPr lang="en-US" sz="2400" b="1" dirty="0">
                <a:solidFill>
                  <a:srgbClr val="002060"/>
                </a:solidFill>
              </a:rPr>
              <a:t>Thermodynamic properties are classified as </a:t>
            </a:r>
            <a:r>
              <a:rPr lang="en-US" sz="2400" b="1" dirty="0">
                <a:solidFill>
                  <a:srgbClr val="C00000"/>
                </a:solidFill>
              </a:rPr>
              <a:t>Intensive</a:t>
            </a:r>
            <a:r>
              <a:rPr lang="en-US" sz="2400" b="1" dirty="0">
                <a:solidFill>
                  <a:srgbClr val="002060"/>
                </a:solidFill>
              </a:rPr>
              <a:t> and </a:t>
            </a:r>
            <a:r>
              <a:rPr lang="en-US" sz="2400" b="1" dirty="0">
                <a:solidFill>
                  <a:srgbClr val="C00000"/>
                </a:solidFill>
              </a:rPr>
              <a:t>Extensive</a:t>
            </a:r>
            <a:r>
              <a:rPr lang="en-US" sz="2400" b="1" dirty="0">
                <a:solidFill>
                  <a:srgbClr val="002060"/>
                </a:solidFill>
              </a:rPr>
              <a:t> properties.</a:t>
            </a:r>
          </a:p>
          <a:p>
            <a:pPr>
              <a:buFont typeface="Wingdings" panose="05000000000000000000" pitchFamily="2" charset="2"/>
              <a:buChar char="v"/>
            </a:pPr>
            <a:endParaRPr lang="en-US" dirty="0"/>
          </a:p>
          <a:p>
            <a:pPr>
              <a:buFont typeface="Wingdings" panose="05000000000000000000" pitchFamily="2" charset="2"/>
              <a:buChar char="v"/>
            </a:pPr>
            <a:endParaRPr lang="en-US" dirty="0"/>
          </a:p>
        </p:txBody>
      </p:sp>
      <p:sp>
        <p:nvSpPr>
          <p:cNvPr id="4" name="Slide Number Placeholder 3"/>
          <p:cNvSpPr>
            <a:spLocks noGrp="1"/>
          </p:cNvSpPr>
          <p:nvPr>
            <p:ph type="sldNum" sz="quarter" idx="12"/>
          </p:nvPr>
        </p:nvSpPr>
        <p:spPr/>
        <p:txBody>
          <a:bodyPr/>
          <a:lstStyle/>
          <a:p>
            <a:fld id="{F4801FD5-11B4-DE43-ACA2-E85EEB9A6F9C}" type="slidenum">
              <a:rPr lang="en-US" smtClean="0"/>
              <a:pPr/>
              <a:t>14</a:t>
            </a:fld>
            <a:endParaRPr lang="en-US" dirty="0"/>
          </a:p>
        </p:txBody>
      </p:sp>
      <p:sp>
        <p:nvSpPr>
          <p:cNvPr id="5" name="Content Placeholder 2"/>
          <p:cNvSpPr txBox="1">
            <a:spLocks/>
          </p:cNvSpPr>
          <p:nvPr/>
        </p:nvSpPr>
        <p:spPr>
          <a:xfrm>
            <a:off x="6351495" y="1013011"/>
            <a:ext cx="5684494" cy="5270076"/>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a:buFont typeface="Wingdings" panose="05000000000000000000" pitchFamily="2" charset="2"/>
              <a:buChar char="v"/>
            </a:pPr>
            <a:r>
              <a:rPr lang="en-US" sz="2400" dirty="0"/>
              <a:t>Extensive properties depend on the extent or size of the system and hence vary directly with the mass. Examples are mass, volume, energy.</a:t>
            </a:r>
          </a:p>
          <a:p>
            <a:pPr>
              <a:buFont typeface="Wingdings" panose="05000000000000000000" pitchFamily="2" charset="2"/>
              <a:buChar char="v"/>
            </a:pPr>
            <a:r>
              <a:rPr lang="en-US" sz="2400" dirty="0"/>
              <a:t>Intensive properties are independent of the size of the system. Examples are Pressure, and temperature.</a:t>
            </a:r>
          </a:p>
          <a:p>
            <a:pPr>
              <a:buFont typeface="Wingdings" panose="05000000000000000000" pitchFamily="2" charset="2"/>
              <a:buChar char="v"/>
            </a:pPr>
            <a:r>
              <a:rPr lang="en-US" sz="2400" b="1" dirty="0">
                <a:solidFill>
                  <a:srgbClr val="002060"/>
                </a:solidFill>
              </a:rPr>
              <a:t>Specific properties (</a:t>
            </a:r>
            <a:r>
              <a:rPr lang="en-US" sz="2400" b="1" dirty="0">
                <a:solidFill>
                  <a:srgbClr val="FF0000"/>
                </a:solidFill>
              </a:rPr>
              <a:t>denoted by lower case letters</a:t>
            </a:r>
            <a:r>
              <a:rPr lang="en-US" sz="2400" b="1" dirty="0">
                <a:solidFill>
                  <a:srgbClr val="002060"/>
                </a:solidFill>
              </a:rPr>
              <a:t>) are defined as the value of an extensive property per unit mass. They are therefore, independent of mass and are regarded as intensive properties.</a:t>
            </a:r>
          </a:p>
          <a:p>
            <a:pPr>
              <a:buFont typeface="Wingdings" panose="05000000000000000000" pitchFamily="2" charset="2"/>
              <a:buChar char="v"/>
            </a:pPr>
            <a:endParaRPr lang="en-US" sz="2400" dirty="0"/>
          </a:p>
          <a:p>
            <a:pPr>
              <a:buFont typeface="Wingdings" panose="05000000000000000000" pitchFamily="2" charset="2"/>
              <a:buChar char="v"/>
            </a:pPr>
            <a:endParaRPr lang="en-US" sz="2400" dirty="0"/>
          </a:p>
          <a:p>
            <a:pPr>
              <a:buFont typeface="Wingdings" panose="05000000000000000000" pitchFamily="2" charset="2"/>
              <a:buChar char="v"/>
            </a:pPr>
            <a:endParaRPr lang="en-US" sz="2400" dirty="0"/>
          </a:p>
          <a:p>
            <a:pPr>
              <a:buFont typeface="Wingdings" panose="05000000000000000000" pitchFamily="2" charset="2"/>
              <a:buChar char="v"/>
            </a:pPr>
            <a:endParaRPr lang="en-US" sz="2400" dirty="0"/>
          </a:p>
        </p:txBody>
      </p:sp>
    </p:spTree>
    <p:extLst>
      <p:ext uri="{BB962C8B-B14F-4D97-AF65-F5344CB8AC3E}">
        <p14:creationId xmlns:p14="http://schemas.microsoft.com/office/powerpoint/2010/main" val="150234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Basic Concepts and Definitions</a:t>
            </a:r>
            <a:endParaRPr lang="en-US" dirty="0">
              <a:solidFill>
                <a:srgbClr val="002060"/>
              </a:solidFill>
              <a:latin typeface="Georgia" panose="02040502050405020303" pitchFamily="18" charset="0"/>
            </a:endParaRPr>
          </a:p>
        </p:txBody>
      </p:sp>
      <p:sp>
        <p:nvSpPr>
          <p:cNvPr id="3" name="Content Placeholder 2"/>
          <p:cNvSpPr>
            <a:spLocks noGrp="1"/>
          </p:cNvSpPr>
          <p:nvPr>
            <p:ph sz="half" idx="1"/>
          </p:nvPr>
        </p:nvSpPr>
        <p:spPr>
          <a:xfrm>
            <a:off x="514601" y="1008529"/>
            <a:ext cx="5836894" cy="4935071"/>
          </a:xfrm>
        </p:spPr>
        <p:txBody>
          <a:bodyPr>
            <a:noAutofit/>
          </a:bodyPr>
          <a:lstStyle/>
          <a:p>
            <a:pPr marL="0" indent="0">
              <a:buNone/>
            </a:pPr>
            <a:r>
              <a:rPr lang="en-US" sz="3600" b="1" dirty="0">
                <a:solidFill>
                  <a:srgbClr val="C00000"/>
                </a:solidFill>
              </a:rPr>
              <a:t>Thermodynamic State</a:t>
            </a:r>
          </a:p>
          <a:p>
            <a:pPr>
              <a:buFont typeface="Wingdings" panose="05000000000000000000" pitchFamily="2" charset="2"/>
              <a:buChar char="v"/>
            </a:pPr>
            <a:r>
              <a:rPr lang="en-US" sz="2400" dirty="0"/>
              <a:t>The word </a:t>
            </a:r>
            <a:r>
              <a:rPr lang="en-US" sz="2400" b="1" dirty="0">
                <a:solidFill>
                  <a:srgbClr val="002060"/>
                </a:solidFill>
              </a:rPr>
              <a:t>state</a:t>
            </a:r>
            <a:r>
              <a:rPr lang="en-US" sz="2400" dirty="0"/>
              <a:t> refers to the condition of a system as described by its properties. </a:t>
            </a:r>
          </a:p>
          <a:p>
            <a:pPr>
              <a:buFont typeface="Wingdings" panose="05000000000000000000" pitchFamily="2" charset="2"/>
              <a:buChar char="v"/>
            </a:pPr>
            <a:r>
              <a:rPr lang="en-US" sz="2400" dirty="0"/>
              <a:t>The state can be specified by at least two thermodynamic properties. </a:t>
            </a:r>
            <a:endParaRPr lang="en-US" b="1" dirty="0">
              <a:solidFill>
                <a:srgbClr val="C00000"/>
              </a:solidFill>
            </a:endParaRPr>
          </a:p>
          <a:p>
            <a:pPr marL="0" indent="0">
              <a:buNone/>
            </a:pPr>
            <a:r>
              <a:rPr lang="en-US" sz="3600" b="1" dirty="0">
                <a:solidFill>
                  <a:srgbClr val="C00000"/>
                </a:solidFill>
              </a:rPr>
              <a:t>Thermodynamic Process</a:t>
            </a:r>
          </a:p>
          <a:p>
            <a:pPr>
              <a:buFont typeface="Wingdings" panose="05000000000000000000" pitchFamily="2" charset="2"/>
              <a:buChar char="v"/>
            </a:pPr>
            <a:r>
              <a:rPr lang="en-US" sz="2400" dirty="0"/>
              <a:t>When any of the properties of a system change the state changes and the system is said to have undergone a process.  </a:t>
            </a:r>
          </a:p>
          <a:p>
            <a:pPr>
              <a:buFont typeface="Wingdings" panose="05000000000000000000" pitchFamily="2" charset="2"/>
              <a:buChar char="v"/>
            </a:pPr>
            <a:r>
              <a:rPr lang="en-US" sz="2400" dirty="0"/>
              <a:t>A process is a transformation from one thermodynamic state to another. </a:t>
            </a:r>
          </a:p>
        </p:txBody>
      </p:sp>
      <p:sp>
        <p:nvSpPr>
          <p:cNvPr id="4" name="Slide Number Placeholder 3"/>
          <p:cNvSpPr>
            <a:spLocks noGrp="1"/>
          </p:cNvSpPr>
          <p:nvPr>
            <p:ph type="sldNum" sz="quarter" idx="12"/>
          </p:nvPr>
        </p:nvSpPr>
        <p:spPr/>
        <p:txBody>
          <a:bodyPr/>
          <a:lstStyle/>
          <a:p>
            <a:fld id="{F4801FD5-11B4-DE43-ACA2-E85EEB9A6F9C}" type="slidenum">
              <a:rPr lang="en-US" smtClean="0"/>
              <a:pPr/>
              <a:t>15</a:t>
            </a:fld>
            <a:endParaRPr lang="en-US" dirty="0"/>
          </a:p>
        </p:txBody>
      </p:sp>
      <p:sp>
        <p:nvSpPr>
          <p:cNvPr id="5" name="Content Placeholder 2"/>
          <p:cNvSpPr txBox="1">
            <a:spLocks/>
          </p:cNvSpPr>
          <p:nvPr/>
        </p:nvSpPr>
        <p:spPr>
          <a:xfrm>
            <a:off x="6351495" y="1013011"/>
            <a:ext cx="5684494" cy="2106707"/>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a:buFont typeface="Wingdings" panose="05000000000000000000" pitchFamily="2" charset="2"/>
              <a:buChar char="v"/>
            </a:pPr>
            <a:r>
              <a:rPr lang="en-US" sz="2400" dirty="0"/>
              <a:t>If a system exhibits the same values of its properties at two different times, it is in the same state at those times.  </a:t>
            </a:r>
          </a:p>
          <a:p>
            <a:pPr>
              <a:buFont typeface="Wingdings" panose="05000000000000000000" pitchFamily="2" charset="2"/>
              <a:buChar char="v"/>
            </a:pPr>
            <a:r>
              <a:rPr lang="en-US" sz="2400" dirty="0">
                <a:solidFill>
                  <a:srgbClr val="002060"/>
                </a:solidFill>
              </a:rPr>
              <a:t>A system is said to be at steady state if none of its properties change with time.</a:t>
            </a:r>
          </a:p>
          <a:p>
            <a:pPr>
              <a:buFont typeface="Wingdings" panose="05000000000000000000" pitchFamily="2" charset="2"/>
              <a:buChar char="v"/>
            </a:pPr>
            <a:endParaRPr lang="en-US" sz="2400" dirty="0"/>
          </a:p>
          <a:p>
            <a:pPr>
              <a:buFont typeface="Wingdings" panose="05000000000000000000" pitchFamily="2" charset="2"/>
              <a:buChar char="v"/>
            </a:pPr>
            <a:endParaRPr lang="en-US" sz="2400" dirty="0"/>
          </a:p>
          <a:p>
            <a:pPr>
              <a:buFont typeface="Wingdings" panose="05000000000000000000" pitchFamily="2" charset="2"/>
              <a:buChar char="v"/>
            </a:pPr>
            <a:endParaRPr lang="en-US" sz="2400" dirty="0"/>
          </a:p>
          <a:p>
            <a:pPr>
              <a:buFont typeface="Wingdings" panose="05000000000000000000" pitchFamily="2" charset="2"/>
              <a:buChar char="v"/>
            </a:pPr>
            <a:endParaRPr lang="en-US" sz="2400" dirty="0"/>
          </a:p>
        </p:txBody>
      </p:sp>
      <p:pic>
        <p:nvPicPr>
          <p:cNvPr id="6" name="Picture 5"/>
          <p:cNvPicPr>
            <a:picLocks noChangeAspect="1"/>
          </p:cNvPicPr>
          <p:nvPr/>
        </p:nvPicPr>
        <p:blipFill>
          <a:blip r:embed="rId2"/>
          <a:stretch>
            <a:fillRect/>
          </a:stretch>
        </p:blipFill>
        <p:spPr>
          <a:xfrm>
            <a:off x="6106448" y="3628378"/>
            <a:ext cx="5929541" cy="2315222"/>
          </a:xfrm>
          <a:prstGeom prst="rect">
            <a:avLst/>
          </a:prstGeom>
        </p:spPr>
      </p:pic>
    </p:spTree>
    <p:extLst>
      <p:ext uri="{BB962C8B-B14F-4D97-AF65-F5344CB8AC3E}">
        <p14:creationId xmlns:p14="http://schemas.microsoft.com/office/powerpoint/2010/main" val="27697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Basic Concepts and Definitions</a:t>
            </a:r>
            <a:endParaRPr lang="en-US" dirty="0">
              <a:solidFill>
                <a:srgbClr val="002060"/>
              </a:solidFill>
              <a:latin typeface="Georgia" panose="02040502050405020303" pitchFamily="18" charset="0"/>
            </a:endParaRPr>
          </a:p>
        </p:txBody>
      </p:sp>
      <p:sp>
        <p:nvSpPr>
          <p:cNvPr id="3" name="Content Placeholder 2"/>
          <p:cNvSpPr>
            <a:spLocks noGrp="1"/>
          </p:cNvSpPr>
          <p:nvPr>
            <p:ph sz="half" idx="1"/>
          </p:nvPr>
        </p:nvSpPr>
        <p:spPr>
          <a:xfrm>
            <a:off x="514601" y="1008529"/>
            <a:ext cx="5836894" cy="5270076"/>
          </a:xfrm>
        </p:spPr>
        <p:txBody>
          <a:bodyPr>
            <a:noAutofit/>
          </a:bodyPr>
          <a:lstStyle/>
          <a:p>
            <a:pPr marL="0" indent="0">
              <a:buNone/>
            </a:pPr>
            <a:r>
              <a:rPr lang="en-US" sz="3600" b="1" dirty="0">
                <a:solidFill>
                  <a:srgbClr val="C00000"/>
                </a:solidFill>
              </a:rPr>
              <a:t>Path of a process</a:t>
            </a:r>
          </a:p>
          <a:p>
            <a:pPr>
              <a:buFont typeface="Wingdings" panose="05000000000000000000" pitchFamily="2" charset="2"/>
              <a:buChar char="v"/>
            </a:pPr>
            <a:r>
              <a:rPr lang="en-US" sz="2400" dirty="0"/>
              <a:t>The series of states through which a system passes during a process is called the path of the process. </a:t>
            </a:r>
          </a:p>
          <a:p>
            <a:pPr>
              <a:buFont typeface="Wingdings" panose="05000000000000000000" pitchFamily="2" charset="2"/>
              <a:buChar char="v"/>
            </a:pPr>
            <a:r>
              <a:rPr lang="en-US" sz="2400" dirty="0"/>
              <a:t>To describe a process completely, one should specify the initial and final states of the process, as well as the path it follows, and the interaction with the surroundings.</a:t>
            </a:r>
          </a:p>
          <a:p>
            <a:pPr>
              <a:buFont typeface="Wingdings" panose="05000000000000000000" pitchFamily="2" charset="2"/>
              <a:buChar char="v"/>
            </a:pPr>
            <a:r>
              <a:rPr lang="en-US" sz="2400" dirty="0"/>
              <a:t>An isothermal process occurs at constant temperature.</a:t>
            </a:r>
          </a:p>
          <a:p>
            <a:pPr>
              <a:buFont typeface="Wingdings" panose="05000000000000000000" pitchFamily="2" charset="2"/>
              <a:buChar char="v"/>
            </a:pPr>
            <a:r>
              <a:rPr lang="en-US" sz="2400" dirty="0"/>
              <a:t>An isobaric process is at constant pressure.</a:t>
            </a:r>
          </a:p>
          <a:p>
            <a:pPr>
              <a:buFont typeface="Wingdings" panose="05000000000000000000" pitchFamily="2" charset="2"/>
              <a:buChar char="v"/>
            </a:pPr>
            <a:r>
              <a:rPr lang="en-US" sz="2400" dirty="0"/>
              <a:t>An isochoric process is at constant volume.</a:t>
            </a:r>
          </a:p>
        </p:txBody>
      </p:sp>
      <p:sp>
        <p:nvSpPr>
          <p:cNvPr id="4" name="Slide Number Placeholder 3"/>
          <p:cNvSpPr>
            <a:spLocks noGrp="1"/>
          </p:cNvSpPr>
          <p:nvPr>
            <p:ph type="sldNum" sz="quarter" idx="12"/>
          </p:nvPr>
        </p:nvSpPr>
        <p:spPr/>
        <p:txBody>
          <a:bodyPr/>
          <a:lstStyle/>
          <a:p>
            <a:fld id="{F4801FD5-11B4-DE43-ACA2-E85EEB9A6F9C}" type="slidenum">
              <a:rPr lang="en-US" smtClean="0"/>
              <a:pPr/>
              <a:t>16</a:t>
            </a:fld>
            <a:endParaRPr lang="en-US" dirty="0"/>
          </a:p>
        </p:txBody>
      </p:sp>
      <p:pic>
        <p:nvPicPr>
          <p:cNvPr id="6" name="Picture 5"/>
          <p:cNvPicPr>
            <a:picLocks noChangeAspect="1"/>
          </p:cNvPicPr>
          <p:nvPr/>
        </p:nvPicPr>
        <p:blipFill>
          <a:blip r:embed="rId2"/>
          <a:stretch>
            <a:fillRect/>
          </a:stretch>
        </p:blipFill>
        <p:spPr>
          <a:xfrm>
            <a:off x="6608670" y="1268226"/>
            <a:ext cx="2454648" cy="2472435"/>
          </a:xfrm>
          <a:prstGeom prst="rect">
            <a:avLst/>
          </a:prstGeom>
        </p:spPr>
      </p:pic>
      <p:pic>
        <p:nvPicPr>
          <p:cNvPr id="7" name="Picture 6"/>
          <p:cNvPicPr>
            <a:picLocks noChangeAspect="1"/>
          </p:cNvPicPr>
          <p:nvPr/>
        </p:nvPicPr>
        <p:blipFill>
          <a:blip r:embed="rId3"/>
          <a:stretch>
            <a:fillRect/>
          </a:stretch>
        </p:blipFill>
        <p:spPr>
          <a:xfrm>
            <a:off x="7775253" y="3863509"/>
            <a:ext cx="2576129" cy="2311911"/>
          </a:xfrm>
          <a:prstGeom prst="rect">
            <a:avLst/>
          </a:prstGeom>
        </p:spPr>
      </p:pic>
      <p:pic>
        <p:nvPicPr>
          <p:cNvPr id="8" name="Picture 7"/>
          <p:cNvPicPr>
            <a:picLocks noChangeAspect="1"/>
          </p:cNvPicPr>
          <p:nvPr/>
        </p:nvPicPr>
        <p:blipFill>
          <a:blip r:embed="rId4"/>
          <a:stretch>
            <a:fillRect/>
          </a:stretch>
        </p:blipFill>
        <p:spPr>
          <a:xfrm>
            <a:off x="9404331" y="1268226"/>
            <a:ext cx="2403356" cy="2438699"/>
          </a:xfrm>
          <a:prstGeom prst="rect">
            <a:avLst/>
          </a:prstGeom>
        </p:spPr>
      </p:pic>
    </p:spTree>
    <p:extLst>
      <p:ext uri="{BB962C8B-B14F-4D97-AF65-F5344CB8AC3E}">
        <p14:creationId xmlns:p14="http://schemas.microsoft.com/office/powerpoint/2010/main" val="168962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Basic Concepts and Definitions</a:t>
            </a:r>
            <a:endParaRPr lang="en-US" dirty="0">
              <a:solidFill>
                <a:srgbClr val="002060"/>
              </a:solidFill>
              <a:latin typeface="Georgia" panose="02040502050405020303" pitchFamily="18" charset="0"/>
            </a:endParaRPr>
          </a:p>
        </p:txBody>
      </p:sp>
      <p:sp>
        <p:nvSpPr>
          <p:cNvPr id="3" name="Content Placeholder 2"/>
          <p:cNvSpPr>
            <a:spLocks noGrp="1"/>
          </p:cNvSpPr>
          <p:nvPr>
            <p:ph sz="half" idx="1"/>
          </p:nvPr>
        </p:nvSpPr>
        <p:spPr>
          <a:xfrm>
            <a:off x="514601" y="1008529"/>
            <a:ext cx="5836894" cy="5270076"/>
          </a:xfrm>
        </p:spPr>
        <p:txBody>
          <a:bodyPr>
            <a:noAutofit/>
          </a:bodyPr>
          <a:lstStyle/>
          <a:p>
            <a:pPr marL="0" indent="0">
              <a:buNone/>
            </a:pPr>
            <a:r>
              <a:rPr lang="en-US" sz="3600" b="1" dirty="0">
                <a:solidFill>
                  <a:srgbClr val="C00000"/>
                </a:solidFill>
              </a:rPr>
              <a:t>Point Functions</a:t>
            </a:r>
          </a:p>
          <a:p>
            <a:pPr>
              <a:buFont typeface="Wingdings" panose="05000000000000000000" pitchFamily="2" charset="2"/>
              <a:buChar char="v"/>
            </a:pPr>
            <a:r>
              <a:rPr lang="en-US" sz="2400" dirty="0"/>
              <a:t>The value of a property of a system is independent of the path of the process undergone by the system. </a:t>
            </a:r>
          </a:p>
          <a:p>
            <a:pPr>
              <a:buFont typeface="Wingdings" panose="05000000000000000000" pitchFamily="2" charset="2"/>
              <a:buChar char="v"/>
            </a:pPr>
            <a:r>
              <a:rPr lang="en-US" sz="2400" dirty="0">
                <a:solidFill>
                  <a:srgbClr val="002060"/>
                </a:solidFill>
              </a:rPr>
              <a:t>It is therefore referred to as a point or state function</a:t>
            </a:r>
            <a:r>
              <a:rPr lang="en-US" sz="2400" dirty="0"/>
              <a:t>.</a:t>
            </a:r>
          </a:p>
          <a:p>
            <a:pPr>
              <a:buFont typeface="Wingdings" panose="05000000000000000000" pitchFamily="2" charset="2"/>
              <a:buChar char="v"/>
            </a:pPr>
            <a:r>
              <a:rPr lang="en-US" sz="2400" dirty="0"/>
              <a:t>The change in  the value of a state function depends solely on its values at the initial and final states and not on the path.</a:t>
            </a:r>
          </a:p>
        </p:txBody>
      </p:sp>
      <p:sp>
        <p:nvSpPr>
          <p:cNvPr id="4" name="Slide Number Placeholder 3"/>
          <p:cNvSpPr>
            <a:spLocks noGrp="1"/>
          </p:cNvSpPr>
          <p:nvPr>
            <p:ph type="sldNum" sz="quarter" idx="12"/>
          </p:nvPr>
        </p:nvSpPr>
        <p:spPr/>
        <p:txBody>
          <a:bodyPr/>
          <a:lstStyle/>
          <a:p>
            <a:fld id="{F4801FD5-11B4-DE43-ACA2-E85EEB9A6F9C}" type="slidenum">
              <a:rPr lang="en-US" smtClean="0"/>
              <a:pPr/>
              <a:t>17</a:t>
            </a:fld>
            <a:endParaRPr lang="en-US" dirty="0"/>
          </a:p>
        </p:txBody>
      </p:sp>
      <p:sp>
        <p:nvSpPr>
          <p:cNvPr id="5" name="Content Placeholder 2"/>
          <p:cNvSpPr txBox="1">
            <a:spLocks/>
          </p:cNvSpPr>
          <p:nvPr/>
        </p:nvSpPr>
        <p:spPr>
          <a:xfrm>
            <a:off x="6531087" y="1008529"/>
            <a:ext cx="5276600" cy="5270076"/>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marL="0" indent="0">
              <a:buFont typeface="Arial"/>
              <a:buNone/>
            </a:pPr>
            <a:r>
              <a:rPr lang="en-US" sz="3600" b="1" dirty="0">
                <a:solidFill>
                  <a:srgbClr val="C00000"/>
                </a:solidFill>
              </a:rPr>
              <a:t>Path Functions</a:t>
            </a:r>
          </a:p>
          <a:p>
            <a:pPr>
              <a:buFont typeface="Wingdings" panose="05000000000000000000" pitchFamily="2" charset="2"/>
              <a:buChar char="v"/>
            </a:pPr>
            <a:r>
              <a:rPr lang="en-US" sz="2400" dirty="0"/>
              <a:t>Quantities such as heat and work are not properties of the system and therefore depends on the path of the process undergone by the system.</a:t>
            </a:r>
          </a:p>
          <a:p>
            <a:pPr>
              <a:buFont typeface="Wingdings" panose="05000000000000000000" pitchFamily="2" charset="2"/>
              <a:buChar char="v"/>
            </a:pPr>
            <a:r>
              <a:rPr lang="en-US" sz="2400" dirty="0">
                <a:solidFill>
                  <a:srgbClr val="002060"/>
                </a:solidFill>
              </a:rPr>
              <a:t>Hence, they are referred to as path functions. </a:t>
            </a:r>
          </a:p>
          <a:p>
            <a:pPr>
              <a:buFont typeface="Wingdings" panose="05000000000000000000" pitchFamily="2" charset="2"/>
              <a:buChar char="v"/>
            </a:pPr>
            <a:r>
              <a:rPr lang="en-US" sz="2400" dirty="0"/>
              <a:t>The change in value of a path function depends on the path of the process. </a:t>
            </a:r>
          </a:p>
          <a:p>
            <a:pPr>
              <a:buFont typeface="Wingdings" panose="05000000000000000000" pitchFamily="2" charset="2"/>
              <a:buChar char="v"/>
            </a:pPr>
            <a:r>
              <a:rPr lang="en-US" sz="2400" dirty="0"/>
              <a:t>They are symbolized using inexact differential such as </a:t>
            </a:r>
            <a:r>
              <a:rPr lang="el-GR" sz="2400" dirty="0"/>
              <a:t>δ</a:t>
            </a:r>
            <a:r>
              <a:rPr lang="en-US" sz="2400" dirty="0"/>
              <a:t>Q (for heat) and </a:t>
            </a:r>
            <a:r>
              <a:rPr lang="el-GR" sz="2400" dirty="0"/>
              <a:t>δ</a:t>
            </a:r>
            <a:r>
              <a:rPr lang="en-US" sz="2400" dirty="0"/>
              <a:t>W (for work) </a:t>
            </a:r>
          </a:p>
        </p:txBody>
      </p:sp>
      <p:graphicFrame>
        <p:nvGraphicFramePr>
          <p:cNvPr id="6" name="Object 2"/>
          <p:cNvGraphicFramePr>
            <a:graphicFrameLocks noChangeAspect="1"/>
          </p:cNvGraphicFramePr>
          <p:nvPr>
            <p:extLst>
              <p:ext uri="{D42A27DB-BD31-4B8C-83A1-F6EECF244321}">
                <p14:modId xmlns:p14="http://schemas.microsoft.com/office/powerpoint/2010/main" val="657224296"/>
              </p:ext>
            </p:extLst>
          </p:nvPr>
        </p:nvGraphicFramePr>
        <p:xfrm>
          <a:off x="1059905" y="4798643"/>
          <a:ext cx="4558028" cy="1288138"/>
        </p:xfrm>
        <a:graphic>
          <a:graphicData uri="http://schemas.openxmlformats.org/presentationml/2006/ole">
            <mc:AlternateContent xmlns:mc="http://schemas.openxmlformats.org/markup-compatibility/2006">
              <mc:Choice xmlns:v="urn:schemas-microsoft-com:vml" Requires="v">
                <p:oleObj spid="_x0000_s1091" name="Equation" r:id="rId3" imgW="1168200" imgH="330120" progId="Equation.DSMT4">
                  <p:embed/>
                </p:oleObj>
              </mc:Choice>
              <mc:Fallback>
                <p:oleObj name="Equation" r:id="rId3" imgW="1168200" imgH="330120" progId="Equation.DSMT4">
                  <p:embed/>
                  <p:pic>
                    <p:nvPicPr>
                      <p:cNvPr id="0" name=""/>
                      <p:cNvPicPr>
                        <a:picLocks noChangeAspect="1" noChangeArrowheads="1"/>
                      </p:cNvPicPr>
                      <p:nvPr/>
                    </p:nvPicPr>
                    <p:blipFill>
                      <a:blip r:embed="rId4"/>
                      <a:srcRect/>
                      <a:stretch>
                        <a:fillRect/>
                      </a:stretch>
                    </p:blipFill>
                    <p:spPr bwMode="auto">
                      <a:xfrm>
                        <a:off x="1059905" y="4798643"/>
                        <a:ext cx="4558028" cy="1288138"/>
                      </a:xfrm>
                      <a:prstGeom prst="rect">
                        <a:avLst/>
                      </a:prstGeom>
                      <a:solidFill>
                        <a:schemeClr val="accent1"/>
                      </a:solidFill>
                      <a:ln>
                        <a:noFill/>
                      </a:ln>
                      <a:effectLst/>
                    </p:spPr>
                  </p:pic>
                </p:oleObj>
              </mc:Fallback>
            </mc:AlternateContent>
          </a:graphicData>
        </a:graphic>
      </p:graphicFrame>
    </p:spTree>
    <p:extLst>
      <p:ext uri="{BB962C8B-B14F-4D97-AF65-F5344CB8AC3E}">
        <p14:creationId xmlns:p14="http://schemas.microsoft.com/office/powerpoint/2010/main" val="2909058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Basic Concepts and Definitions</a:t>
            </a:r>
            <a:endParaRPr lang="en-US" dirty="0">
              <a:solidFill>
                <a:srgbClr val="002060"/>
              </a:solidFill>
              <a:latin typeface="Georgia" panose="02040502050405020303" pitchFamily="18" charset="0"/>
            </a:endParaRPr>
          </a:p>
        </p:txBody>
      </p:sp>
      <p:sp>
        <p:nvSpPr>
          <p:cNvPr id="3" name="Content Placeholder 2"/>
          <p:cNvSpPr>
            <a:spLocks noGrp="1"/>
          </p:cNvSpPr>
          <p:nvPr>
            <p:ph sz="half" idx="1"/>
          </p:nvPr>
        </p:nvSpPr>
        <p:spPr>
          <a:xfrm>
            <a:off x="514601" y="1008529"/>
            <a:ext cx="5836894" cy="4827495"/>
          </a:xfrm>
        </p:spPr>
        <p:txBody>
          <a:bodyPr>
            <a:noAutofit/>
          </a:bodyPr>
          <a:lstStyle/>
          <a:p>
            <a:pPr marL="0" indent="0">
              <a:buNone/>
            </a:pPr>
            <a:r>
              <a:rPr lang="en-US" sz="3000" b="1" dirty="0">
                <a:solidFill>
                  <a:srgbClr val="C00000"/>
                </a:solidFill>
              </a:rPr>
              <a:t>Thermodynamic cycle</a:t>
            </a:r>
          </a:p>
          <a:p>
            <a:pPr>
              <a:buFont typeface="Wingdings" panose="05000000000000000000" pitchFamily="2" charset="2"/>
              <a:buChar char="v"/>
            </a:pPr>
            <a:r>
              <a:rPr lang="en-US" sz="2400" dirty="0"/>
              <a:t>A thermodynamic cycle is a sequence of processes that begins and ends at the same state. </a:t>
            </a:r>
          </a:p>
          <a:p>
            <a:pPr>
              <a:buFont typeface="Wingdings" panose="05000000000000000000" pitchFamily="2" charset="2"/>
              <a:buChar char="v"/>
            </a:pPr>
            <a:r>
              <a:rPr lang="en-US" sz="2400" dirty="0">
                <a:solidFill>
                  <a:srgbClr val="002060"/>
                </a:solidFill>
              </a:rPr>
              <a:t>In a cycle, the net change in value of any property is equal to zero. </a:t>
            </a:r>
          </a:p>
          <a:p>
            <a:pPr>
              <a:buFont typeface="Wingdings" panose="05000000000000000000" pitchFamily="2" charset="2"/>
              <a:buChar char="v"/>
            </a:pPr>
            <a:r>
              <a:rPr lang="en-US" sz="2400" dirty="0"/>
              <a:t>Cycles that are repeated periodically play prominent roles in many areas of application.  For example, steam circulating through an electrical power plant executes a cycle.</a:t>
            </a:r>
          </a:p>
          <a:p>
            <a:pPr>
              <a:buFont typeface="Wingdings" panose="05000000000000000000" pitchFamily="2" charset="2"/>
              <a:buChar char="v"/>
            </a:pPr>
            <a:endParaRPr lang="en-US" sz="2400" dirty="0"/>
          </a:p>
        </p:txBody>
      </p:sp>
      <p:sp>
        <p:nvSpPr>
          <p:cNvPr id="4" name="Slide Number Placeholder 3"/>
          <p:cNvSpPr>
            <a:spLocks noGrp="1"/>
          </p:cNvSpPr>
          <p:nvPr>
            <p:ph type="sldNum" sz="quarter" idx="12"/>
          </p:nvPr>
        </p:nvSpPr>
        <p:spPr/>
        <p:txBody>
          <a:bodyPr/>
          <a:lstStyle/>
          <a:p>
            <a:fld id="{F4801FD5-11B4-DE43-ACA2-E85EEB9A6F9C}" type="slidenum">
              <a:rPr lang="en-US" smtClean="0"/>
              <a:pPr/>
              <a:t>18</a:t>
            </a:fld>
            <a:endParaRPr lang="en-US" dirty="0"/>
          </a:p>
        </p:txBody>
      </p:sp>
      <p:sp>
        <p:nvSpPr>
          <p:cNvPr id="5" name="Content Placeholder 2"/>
          <p:cNvSpPr txBox="1">
            <a:spLocks/>
          </p:cNvSpPr>
          <p:nvPr/>
        </p:nvSpPr>
        <p:spPr>
          <a:xfrm>
            <a:off x="6531087" y="1008529"/>
            <a:ext cx="5276600" cy="482749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marL="0" indent="0">
              <a:buFont typeface="Arial"/>
              <a:buNone/>
            </a:pPr>
            <a:r>
              <a:rPr lang="en-US" sz="3000" b="1" dirty="0">
                <a:solidFill>
                  <a:srgbClr val="C00000"/>
                </a:solidFill>
              </a:rPr>
              <a:t>Thermodynamic Equilibrium</a:t>
            </a:r>
          </a:p>
          <a:p>
            <a:pPr>
              <a:buFont typeface="Wingdings" panose="05000000000000000000" pitchFamily="2" charset="2"/>
              <a:buChar char="v"/>
            </a:pPr>
            <a:r>
              <a:rPr lang="en-US" sz="2400" dirty="0"/>
              <a:t>A system is in thermodynamic equilibrium with its surroundings if no further changes occur in its properties: </a:t>
            </a:r>
          </a:p>
          <a:p>
            <a:pPr>
              <a:buFont typeface="Wingdings" panose="05000000000000000000" pitchFamily="2" charset="2"/>
              <a:buChar char="v"/>
            </a:pPr>
            <a:r>
              <a:rPr lang="en-US" sz="2400" dirty="0"/>
              <a:t>3 conditions are satisfied: </a:t>
            </a:r>
          </a:p>
          <a:p>
            <a:pPr>
              <a:buFont typeface="Wingdings" panose="05000000000000000000" pitchFamily="2" charset="2"/>
              <a:buChar char="ü"/>
            </a:pPr>
            <a:r>
              <a:rPr lang="en-US" sz="2400" dirty="0"/>
              <a:t>mechanical equilibrium: forces are balanced.</a:t>
            </a:r>
          </a:p>
          <a:p>
            <a:pPr>
              <a:buFont typeface="Wingdings" panose="05000000000000000000" pitchFamily="2" charset="2"/>
              <a:buChar char="ü"/>
            </a:pPr>
            <a:r>
              <a:rPr lang="en-US" sz="2400" dirty="0"/>
              <a:t>thermal equilibrium: temperature is uniform.</a:t>
            </a:r>
          </a:p>
          <a:p>
            <a:pPr>
              <a:buFont typeface="Wingdings" panose="05000000000000000000" pitchFamily="2" charset="2"/>
              <a:buChar char="ü"/>
            </a:pPr>
            <a:r>
              <a:rPr lang="en-US" sz="2400" dirty="0"/>
              <a:t>chemical equilibrium: no change in composition and no transfer of matter.</a:t>
            </a:r>
          </a:p>
        </p:txBody>
      </p:sp>
    </p:spTree>
    <p:extLst>
      <p:ext uri="{BB962C8B-B14F-4D97-AF65-F5344CB8AC3E}">
        <p14:creationId xmlns:p14="http://schemas.microsoft.com/office/powerpoint/2010/main" val="2214258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xEl>
                                              <p:pRg st="2" end="2"/>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xEl>
                                              <p:pRg st="4" end="4"/>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Basic Concepts and Definitions</a:t>
            </a:r>
            <a:endParaRPr lang="en-US" dirty="0">
              <a:solidFill>
                <a:srgbClr val="002060"/>
              </a:solidFill>
              <a:latin typeface="Georgia" panose="02040502050405020303" pitchFamily="18" charset="0"/>
            </a:endParaRPr>
          </a:p>
        </p:txBody>
      </p:sp>
      <p:sp>
        <p:nvSpPr>
          <p:cNvPr id="3" name="Content Placeholder 2"/>
          <p:cNvSpPr>
            <a:spLocks noGrp="1"/>
          </p:cNvSpPr>
          <p:nvPr>
            <p:ph sz="half" idx="1"/>
          </p:nvPr>
        </p:nvSpPr>
        <p:spPr>
          <a:xfrm>
            <a:off x="514601" y="1008530"/>
            <a:ext cx="11560858" cy="2232212"/>
          </a:xfrm>
        </p:spPr>
        <p:txBody>
          <a:bodyPr>
            <a:noAutofit/>
          </a:bodyPr>
          <a:lstStyle/>
          <a:p>
            <a:pPr marL="0" indent="0">
              <a:buNone/>
            </a:pPr>
            <a:r>
              <a:rPr lang="en-US" sz="3000" b="1" dirty="0">
                <a:solidFill>
                  <a:srgbClr val="C00000"/>
                </a:solidFill>
              </a:rPr>
              <a:t>Quasi-Static Process</a:t>
            </a:r>
          </a:p>
          <a:p>
            <a:pPr>
              <a:buFont typeface="Wingdings" panose="05000000000000000000" pitchFamily="2" charset="2"/>
              <a:buChar char="v"/>
            </a:pPr>
            <a:r>
              <a:rPr lang="en-US" sz="2400" dirty="0"/>
              <a:t>A process is said to be </a:t>
            </a:r>
            <a:r>
              <a:rPr lang="en-US" sz="2400" u="sng" dirty="0">
                <a:solidFill>
                  <a:srgbClr val="002060"/>
                </a:solidFill>
              </a:rPr>
              <a:t>quasi-static</a:t>
            </a:r>
            <a:r>
              <a:rPr lang="en-US" sz="2400" dirty="0"/>
              <a:t> if it proceeds in such a manner that, at any instance, the system is only infinitesimally displaced from the equilibrium with the surroundings. </a:t>
            </a:r>
          </a:p>
          <a:p>
            <a:pPr>
              <a:buFont typeface="Wingdings" panose="05000000000000000000" pitchFamily="2" charset="2"/>
              <a:buChar char="v"/>
            </a:pPr>
            <a:r>
              <a:rPr lang="en-US" sz="2400" dirty="0"/>
              <a:t>A quasi-static process implies the system is essentially in internal equilibrium so that the properties are uniform. </a:t>
            </a:r>
          </a:p>
        </p:txBody>
      </p:sp>
      <p:sp>
        <p:nvSpPr>
          <p:cNvPr id="4" name="Slide Number Placeholder 3"/>
          <p:cNvSpPr>
            <a:spLocks noGrp="1"/>
          </p:cNvSpPr>
          <p:nvPr>
            <p:ph type="sldNum" sz="quarter" idx="12"/>
          </p:nvPr>
        </p:nvSpPr>
        <p:spPr/>
        <p:txBody>
          <a:bodyPr/>
          <a:lstStyle/>
          <a:p>
            <a:fld id="{F4801FD5-11B4-DE43-ACA2-E85EEB9A6F9C}" type="slidenum">
              <a:rPr lang="en-US" smtClean="0"/>
              <a:pPr/>
              <a:t>19</a:t>
            </a:fld>
            <a:endParaRPr lang="en-US" dirty="0"/>
          </a:p>
        </p:txBody>
      </p:sp>
      <p:pic>
        <p:nvPicPr>
          <p:cNvPr id="6" name="Picture 5"/>
          <p:cNvPicPr>
            <a:picLocks noChangeAspect="1"/>
          </p:cNvPicPr>
          <p:nvPr/>
        </p:nvPicPr>
        <p:blipFill>
          <a:blip r:embed="rId2"/>
          <a:stretch>
            <a:fillRect/>
          </a:stretch>
        </p:blipFill>
        <p:spPr>
          <a:xfrm>
            <a:off x="609601" y="3119718"/>
            <a:ext cx="6678145" cy="3055683"/>
          </a:xfrm>
          <a:prstGeom prst="rect">
            <a:avLst/>
          </a:prstGeom>
        </p:spPr>
      </p:pic>
      <p:sp>
        <p:nvSpPr>
          <p:cNvPr id="7" name="Content Placeholder 2"/>
          <p:cNvSpPr txBox="1">
            <a:spLocks/>
          </p:cNvSpPr>
          <p:nvPr/>
        </p:nvSpPr>
        <p:spPr>
          <a:xfrm>
            <a:off x="7382746" y="3119717"/>
            <a:ext cx="4692713" cy="3055683"/>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marL="0" indent="0">
              <a:buFont typeface="Arial"/>
              <a:buNone/>
            </a:pPr>
            <a:r>
              <a:rPr lang="en-US" b="1" dirty="0">
                <a:solidFill>
                  <a:srgbClr val="C00000"/>
                </a:solidFill>
              </a:rPr>
              <a:t>Adiabatic Process</a:t>
            </a:r>
          </a:p>
          <a:p>
            <a:pPr>
              <a:buFont typeface="Wingdings" panose="05000000000000000000" pitchFamily="2" charset="2"/>
              <a:buChar char="v"/>
            </a:pPr>
            <a:r>
              <a:rPr lang="en-US" sz="2200" dirty="0"/>
              <a:t>A process during which there is no heat transfer is called an adiabatic process. </a:t>
            </a:r>
          </a:p>
          <a:p>
            <a:pPr>
              <a:buFont typeface="Wingdings" panose="05000000000000000000" pitchFamily="2" charset="2"/>
              <a:buChar char="v"/>
            </a:pPr>
            <a:r>
              <a:rPr lang="en-US" sz="2200" dirty="0"/>
              <a:t>There are two ways a process can be adiabatic.</a:t>
            </a:r>
          </a:p>
          <a:p>
            <a:pPr>
              <a:buFont typeface="Wingdings" panose="05000000000000000000" pitchFamily="2" charset="2"/>
              <a:buChar char="v"/>
            </a:pPr>
            <a:r>
              <a:rPr lang="en-US" sz="2200" dirty="0"/>
              <a:t>Thermal insulation or system having same temperature with surroundings.</a:t>
            </a:r>
          </a:p>
        </p:txBody>
      </p:sp>
    </p:spTree>
    <p:extLst>
      <p:ext uri="{BB962C8B-B14F-4D97-AF65-F5344CB8AC3E}">
        <p14:creationId xmlns:p14="http://schemas.microsoft.com/office/powerpoint/2010/main" val="2581836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Basic Concepts and Definitions</a:t>
            </a:r>
            <a:endParaRPr lang="en-US" dirty="0">
              <a:solidFill>
                <a:srgbClr val="002060"/>
              </a:solidFill>
              <a:latin typeface="Georgia" panose="02040502050405020303" pitchFamily="18" charset="0"/>
            </a:endParaRPr>
          </a:p>
        </p:txBody>
      </p:sp>
      <p:sp>
        <p:nvSpPr>
          <p:cNvPr id="3" name="Content Placeholder 2"/>
          <p:cNvSpPr>
            <a:spLocks noGrp="1"/>
          </p:cNvSpPr>
          <p:nvPr>
            <p:ph sz="half" idx="1"/>
          </p:nvPr>
        </p:nvSpPr>
        <p:spPr>
          <a:xfrm>
            <a:off x="514600" y="1008529"/>
            <a:ext cx="6868145" cy="5270076"/>
          </a:xfrm>
        </p:spPr>
        <p:txBody>
          <a:bodyPr>
            <a:noAutofit/>
          </a:bodyPr>
          <a:lstStyle/>
          <a:p>
            <a:pPr marL="0" indent="0">
              <a:buNone/>
            </a:pPr>
            <a:r>
              <a:rPr lang="en-US" sz="3000" b="1" dirty="0">
                <a:solidFill>
                  <a:srgbClr val="C00000"/>
                </a:solidFill>
              </a:rPr>
              <a:t>Reversible Process</a:t>
            </a:r>
          </a:p>
          <a:p>
            <a:pPr>
              <a:buFont typeface="Wingdings" panose="05000000000000000000" pitchFamily="2" charset="2"/>
              <a:buChar char="v"/>
            </a:pPr>
            <a:r>
              <a:rPr lang="en-US" sz="2200" dirty="0"/>
              <a:t>A process is said to be reversible if after it has been carried out it is possible by any means whatsoever to restore the system and surroundings to exactly the same initial states as before.  </a:t>
            </a:r>
          </a:p>
          <a:p>
            <a:pPr>
              <a:buFont typeface="Wingdings" panose="05000000000000000000" pitchFamily="2" charset="2"/>
              <a:buChar char="v"/>
            </a:pPr>
            <a:r>
              <a:rPr lang="en-US" sz="2200" dirty="0"/>
              <a:t>Since thermodynamics deals only with systems in equilibrium, it follows that it deals necessarily with reversible processes.</a:t>
            </a:r>
          </a:p>
          <a:p>
            <a:pPr>
              <a:buFont typeface="Wingdings" panose="05000000000000000000" pitchFamily="2" charset="2"/>
              <a:buChar char="v"/>
            </a:pPr>
            <a:r>
              <a:rPr lang="en-US" sz="2200" b="1" dirty="0">
                <a:solidFill>
                  <a:srgbClr val="C00000"/>
                </a:solidFill>
              </a:rPr>
              <a:t>In practice, the reversible process represents the optimum path for all energy conversion processes.</a:t>
            </a:r>
          </a:p>
          <a:p>
            <a:pPr>
              <a:buFont typeface="Wingdings" panose="05000000000000000000" pitchFamily="2" charset="2"/>
              <a:buChar char="v"/>
            </a:pPr>
            <a:r>
              <a:rPr lang="en-US" sz="2200" dirty="0"/>
              <a:t>A good example of reversible processes is the evaporation of liquid in which temperature and pressure remains essentially the same throughout the processes.  </a:t>
            </a:r>
          </a:p>
          <a:p>
            <a:pPr>
              <a:buFont typeface="Wingdings" panose="05000000000000000000" pitchFamily="2" charset="2"/>
              <a:buChar char="v"/>
            </a:pPr>
            <a:r>
              <a:rPr lang="en-US" sz="2200" dirty="0"/>
              <a:t>The process path is indicated by a solid line.</a:t>
            </a:r>
          </a:p>
        </p:txBody>
      </p:sp>
      <p:sp>
        <p:nvSpPr>
          <p:cNvPr id="4" name="Slide Number Placeholder 3"/>
          <p:cNvSpPr>
            <a:spLocks noGrp="1"/>
          </p:cNvSpPr>
          <p:nvPr>
            <p:ph type="sldNum" sz="quarter" idx="12"/>
          </p:nvPr>
        </p:nvSpPr>
        <p:spPr/>
        <p:txBody>
          <a:bodyPr/>
          <a:lstStyle/>
          <a:p>
            <a:fld id="{F4801FD5-11B4-DE43-ACA2-E85EEB9A6F9C}" type="slidenum">
              <a:rPr lang="en-US" smtClean="0"/>
              <a:pPr/>
              <a:t>20</a:t>
            </a:fld>
            <a:endParaRPr lang="en-US" dirty="0"/>
          </a:p>
        </p:txBody>
      </p:sp>
      <p:pic>
        <p:nvPicPr>
          <p:cNvPr id="8" name="Picture 7"/>
          <p:cNvPicPr>
            <a:picLocks noChangeAspect="1"/>
          </p:cNvPicPr>
          <p:nvPr/>
        </p:nvPicPr>
        <p:blipFill>
          <a:blip r:embed="rId2"/>
          <a:stretch>
            <a:fillRect/>
          </a:stretch>
        </p:blipFill>
        <p:spPr>
          <a:xfrm>
            <a:off x="7402774" y="1735625"/>
            <a:ext cx="4404913" cy="3815884"/>
          </a:xfrm>
          <a:prstGeom prst="rect">
            <a:avLst/>
          </a:prstGeom>
        </p:spPr>
      </p:pic>
    </p:spTree>
    <p:extLst>
      <p:ext uri="{BB962C8B-B14F-4D97-AF65-F5344CB8AC3E}">
        <p14:creationId xmlns:p14="http://schemas.microsoft.com/office/powerpoint/2010/main" val="1395020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Basic Concepts and Definitions</a:t>
            </a:r>
            <a:endParaRPr lang="en-US" dirty="0">
              <a:solidFill>
                <a:srgbClr val="002060"/>
              </a:solidFill>
              <a:latin typeface="Georgia" panose="02040502050405020303" pitchFamily="18" charset="0"/>
            </a:endParaRPr>
          </a:p>
        </p:txBody>
      </p:sp>
      <p:sp>
        <p:nvSpPr>
          <p:cNvPr id="3" name="Content Placeholder 2"/>
          <p:cNvSpPr>
            <a:spLocks noGrp="1"/>
          </p:cNvSpPr>
          <p:nvPr>
            <p:ph sz="half" idx="1"/>
          </p:nvPr>
        </p:nvSpPr>
        <p:spPr>
          <a:xfrm>
            <a:off x="514601" y="1008529"/>
            <a:ext cx="6625788" cy="5270076"/>
          </a:xfrm>
        </p:spPr>
        <p:txBody>
          <a:bodyPr>
            <a:noAutofit/>
          </a:bodyPr>
          <a:lstStyle/>
          <a:p>
            <a:pPr marL="0" indent="0">
              <a:buNone/>
            </a:pPr>
            <a:r>
              <a:rPr lang="en-US" sz="3000" b="1" dirty="0">
                <a:solidFill>
                  <a:srgbClr val="C00000"/>
                </a:solidFill>
              </a:rPr>
              <a:t>Irreversible Process</a:t>
            </a:r>
          </a:p>
          <a:p>
            <a:pPr>
              <a:buFont typeface="Wingdings" panose="05000000000000000000" pitchFamily="2" charset="2"/>
              <a:buChar char="v"/>
            </a:pPr>
            <a:r>
              <a:rPr lang="en-US" sz="2200" dirty="0"/>
              <a:t>If the system departs significantly from equilibrium during the process, both internally and externally, the process is irreversible.  </a:t>
            </a:r>
          </a:p>
          <a:p>
            <a:pPr>
              <a:buFont typeface="Wingdings" panose="05000000000000000000" pitchFamily="2" charset="2"/>
              <a:buChar char="v"/>
            </a:pPr>
            <a:r>
              <a:rPr lang="en-US" sz="2200" dirty="0"/>
              <a:t>The direction of such a process cannot be interchanged because of the differences in the values of properties within the system and also between the system and surroundings.</a:t>
            </a:r>
          </a:p>
          <a:p>
            <a:pPr>
              <a:buFont typeface="Wingdings" panose="05000000000000000000" pitchFamily="2" charset="2"/>
              <a:buChar char="v"/>
            </a:pPr>
            <a:r>
              <a:rPr lang="en-US" sz="2200" dirty="0"/>
              <a:t>Irreversible processes include doing </a:t>
            </a:r>
            <a:r>
              <a:rPr lang="en-US" sz="2200" u="sng" dirty="0">
                <a:solidFill>
                  <a:srgbClr val="C00000"/>
                </a:solidFill>
              </a:rPr>
              <a:t>work against friction</a:t>
            </a:r>
            <a:r>
              <a:rPr lang="en-US" sz="2200" dirty="0"/>
              <a:t>, </a:t>
            </a:r>
            <a:r>
              <a:rPr lang="en-US" sz="2200" dirty="0">
                <a:solidFill>
                  <a:srgbClr val="C00000"/>
                </a:solidFill>
              </a:rPr>
              <a:t>unrestrained expansion</a:t>
            </a:r>
            <a:r>
              <a:rPr lang="en-US" sz="2200" dirty="0"/>
              <a:t>, mixing of two fluids, </a:t>
            </a:r>
            <a:r>
              <a:rPr lang="en-US" sz="2200" dirty="0">
                <a:solidFill>
                  <a:srgbClr val="002060"/>
                </a:solidFill>
              </a:rPr>
              <a:t>heat transfer across a finite temperature difference</a:t>
            </a:r>
            <a:r>
              <a:rPr lang="en-US" sz="2200" dirty="0"/>
              <a:t>, inelastic deformation of solids, chemical reactions and </a:t>
            </a:r>
            <a:r>
              <a:rPr lang="en-US" sz="2200" dirty="0">
                <a:solidFill>
                  <a:srgbClr val="C00000"/>
                </a:solidFill>
              </a:rPr>
              <a:t>the transfer of current against electrical resistance</a:t>
            </a:r>
            <a:r>
              <a:rPr lang="en-US" sz="2200" dirty="0"/>
              <a:t>.</a:t>
            </a:r>
          </a:p>
          <a:p>
            <a:pPr>
              <a:buFont typeface="Wingdings" panose="05000000000000000000" pitchFamily="2" charset="2"/>
              <a:buChar char="v"/>
            </a:pPr>
            <a:r>
              <a:rPr lang="en-US" sz="2200" dirty="0"/>
              <a:t>Process path is represented by broken lines.</a:t>
            </a:r>
          </a:p>
          <a:p>
            <a:pPr>
              <a:buFont typeface="Wingdings" panose="05000000000000000000" pitchFamily="2" charset="2"/>
              <a:buChar char="v"/>
            </a:pPr>
            <a:endParaRPr lang="en-US" sz="2200" dirty="0"/>
          </a:p>
        </p:txBody>
      </p:sp>
      <p:sp>
        <p:nvSpPr>
          <p:cNvPr id="4" name="Slide Number Placeholder 3"/>
          <p:cNvSpPr>
            <a:spLocks noGrp="1"/>
          </p:cNvSpPr>
          <p:nvPr>
            <p:ph type="sldNum" sz="quarter" idx="12"/>
          </p:nvPr>
        </p:nvSpPr>
        <p:spPr/>
        <p:txBody>
          <a:bodyPr/>
          <a:lstStyle/>
          <a:p>
            <a:fld id="{F4801FD5-11B4-DE43-ACA2-E85EEB9A6F9C}" type="slidenum">
              <a:rPr lang="en-US" smtClean="0"/>
              <a:pPr/>
              <a:t>21</a:t>
            </a:fld>
            <a:endParaRPr lang="en-US" dirty="0"/>
          </a:p>
        </p:txBody>
      </p:sp>
      <p:pic>
        <p:nvPicPr>
          <p:cNvPr id="6" name="Picture 3"/>
          <p:cNvPicPr>
            <a:picLocks noChangeAspect="1" noChangeArrowheads="1"/>
          </p:cNvPicPr>
          <p:nvPr/>
        </p:nvPicPr>
        <p:blipFill>
          <a:blip r:embed="rId2"/>
          <a:srcRect/>
          <a:stretch>
            <a:fillRect/>
          </a:stretch>
        </p:blipFill>
        <p:spPr bwMode="auto">
          <a:xfrm>
            <a:off x="7568282" y="3411070"/>
            <a:ext cx="3910602" cy="2707341"/>
          </a:xfrm>
          <a:prstGeom prst="rect">
            <a:avLst/>
          </a:prstGeom>
          <a:noFill/>
          <a:ln w="9525">
            <a:noFill/>
            <a:miter lim="800000"/>
            <a:headEnd/>
            <a:tailEnd/>
          </a:ln>
          <a:effectLst/>
        </p:spPr>
      </p:pic>
      <p:pic>
        <p:nvPicPr>
          <p:cNvPr id="5" name="Picture 4"/>
          <p:cNvPicPr>
            <a:picLocks noChangeAspect="1"/>
          </p:cNvPicPr>
          <p:nvPr/>
        </p:nvPicPr>
        <p:blipFill>
          <a:blip r:embed="rId3"/>
          <a:stretch>
            <a:fillRect/>
          </a:stretch>
        </p:blipFill>
        <p:spPr>
          <a:xfrm>
            <a:off x="7406356" y="1160650"/>
            <a:ext cx="4447659" cy="1743915"/>
          </a:xfrm>
          <a:prstGeom prst="rect">
            <a:avLst/>
          </a:prstGeom>
        </p:spPr>
      </p:pic>
      <p:sp>
        <p:nvSpPr>
          <p:cNvPr id="9" name="Content Placeholder 2"/>
          <p:cNvSpPr txBox="1">
            <a:spLocks/>
          </p:cNvSpPr>
          <p:nvPr/>
        </p:nvSpPr>
        <p:spPr>
          <a:xfrm>
            <a:off x="7406356" y="2904565"/>
            <a:ext cx="4561526" cy="372834"/>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a:buFont typeface="Wingdings" panose="05000000000000000000" pitchFamily="2" charset="2"/>
              <a:buChar char="v"/>
            </a:pPr>
            <a:r>
              <a:rPr lang="en-US" sz="2000" b="1" dirty="0">
                <a:solidFill>
                  <a:srgbClr val="C00000"/>
                </a:solidFill>
              </a:rPr>
              <a:t>Unrestrained expansion of a gas </a:t>
            </a:r>
          </a:p>
          <a:p>
            <a:pPr>
              <a:buFont typeface="Wingdings" panose="05000000000000000000" pitchFamily="2" charset="2"/>
              <a:buChar char="v"/>
            </a:pPr>
            <a:endParaRPr lang="en-US" sz="2200" dirty="0"/>
          </a:p>
        </p:txBody>
      </p:sp>
    </p:spTree>
    <p:extLst>
      <p:ext uri="{BB962C8B-B14F-4D97-AF65-F5344CB8AC3E}">
        <p14:creationId xmlns:p14="http://schemas.microsoft.com/office/powerpoint/2010/main" val="3244882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22" presetClass="entr" presetSubtype="4"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down)">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Basic Concepts and Definitions</a:t>
            </a:r>
            <a:endParaRPr lang="en-US" dirty="0">
              <a:solidFill>
                <a:srgbClr val="002060"/>
              </a:solidFill>
              <a:latin typeface="Georgia" panose="02040502050405020303" pitchFamily="18" charset="0"/>
            </a:endParaRPr>
          </a:p>
        </p:txBody>
      </p:sp>
      <p:sp>
        <p:nvSpPr>
          <p:cNvPr id="3" name="Content Placeholder 2"/>
          <p:cNvSpPr>
            <a:spLocks noGrp="1"/>
          </p:cNvSpPr>
          <p:nvPr>
            <p:ph sz="half" idx="1"/>
          </p:nvPr>
        </p:nvSpPr>
        <p:spPr>
          <a:xfrm>
            <a:off x="218765" y="1008529"/>
            <a:ext cx="6625787" cy="653210"/>
          </a:xfrm>
        </p:spPr>
        <p:txBody>
          <a:bodyPr>
            <a:noAutofit/>
          </a:bodyPr>
          <a:lstStyle/>
          <a:p>
            <a:pPr marL="0" indent="0">
              <a:buNone/>
            </a:pPr>
            <a:r>
              <a:rPr lang="en-US" sz="3000" b="1" dirty="0">
                <a:solidFill>
                  <a:srgbClr val="C00000"/>
                </a:solidFill>
              </a:rPr>
              <a:t>Energy, Heat and Work</a:t>
            </a:r>
          </a:p>
        </p:txBody>
      </p:sp>
      <p:sp>
        <p:nvSpPr>
          <p:cNvPr id="4" name="Slide Number Placeholder 3"/>
          <p:cNvSpPr>
            <a:spLocks noGrp="1"/>
          </p:cNvSpPr>
          <p:nvPr>
            <p:ph type="sldNum" sz="quarter" idx="12"/>
          </p:nvPr>
        </p:nvSpPr>
        <p:spPr/>
        <p:txBody>
          <a:bodyPr/>
          <a:lstStyle/>
          <a:p>
            <a:fld id="{F4801FD5-11B4-DE43-ACA2-E85EEB9A6F9C}" type="slidenum">
              <a:rPr lang="en-US" smtClean="0"/>
              <a:pPr/>
              <a:t>22</a:t>
            </a:fld>
            <a:endParaRPr lang="en-US" dirty="0"/>
          </a:p>
        </p:txBody>
      </p:sp>
      <p:sp>
        <p:nvSpPr>
          <p:cNvPr id="8" name="Content Placeholder 2"/>
          <p:cNvSpPr txBox="1">
            <a:spLocks/>
          </p:cNvSpPr>
          <p:nvPr/>
        </p:nvSpPr>
        <p:spPr>
          <a:xfrm>
            <a:off x="218764" y="1682937"/>
            <a:ext cx="6356848" cy="4429780"/>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a:buFont typeface="Wingdings" panose="05000000000000000000" pitchFamily="2" charset="2"/>
              <a:buChar char="v"/>
            </a:pPr>
            <a:r>
              <a:rPr lang="en-US" sz="2400" b="1" dirty="0">
                <a:solidFill>
                  <a:srgbClr val="002060"/>
                </a:solidFill>
              </a:rPr>
              <a:t>Energy</a:t>
            </a:r>
            <a:r>
              <a:rPr lang="en-US" sz="2400" dirty="0"/>
              <a:t> is simply defined as the capacity to do work or supply heat.</a:t>
            </a:r>
          </a:p>
          <a:p>
            <a:pPr>
              <a:buFont typeface="Wingdings" panose="05000000000000000000" pitchFamily="2" charset="2"/>
              <a:buChar char="v"/>
            </a:pPr>
            <a:r>
              <a:rPr lang="en-US" sz="2400" b="1" dirty="0">
                <a:solidFill>
                  <a:srgbClr val="002060"/>
                </a:solidFill>
              </a:rPr>
              <a:t>Heat </a:t>
            </a:r>
            <a:r>
              <a:rPr lang="en-US" sz="2400" dirty="0"/>
              <a:t>and </a:t>
            </a:r>
            <a:r>
              <a:rPr lang="en-US" sz="2400" b="1" dirty="0">
                <a:solidFill>
                  <a:srgbClr val="002060"/>
                </a:solidFill>
              </a:rPr>
              <a:t>work</a:t>
            </a:r>
            <a:r>
              <a:rPr lang="en-US" sz="2400" dirty="0"/>
              <a:t> are </a:t>
            </a:r>
            <a:r>
              <a:rPr lang="en-US" sz="2400" u="sng" dirty="0">
                <a:solidFill>
                  <a:srgbClr val="C00000"/>
                </a:solidFill>
              </a:rPr>
              <a:t>transient forms </a:t>
            </a:r>
            <a:r>
              <a:rPr lang="en-US" sz="2400" dirty="0"/>
              <a:t>of energy which appear only at the boundary of systems.</a:t>
            </a:r>
          </a:p>
          <a:p>
            <a:pPr>
              <a:buFont typeface="Wingdings" panose="05000000000000000000" pitchFamily="2" charset="2"/>
              <a:buChar char="v"/>
            </a:pPr>
            <a:r>
              <a:rPr lang="en-US" sz="2400" b="1" dirty="0">
                <a:solidFill>
                  <a:srgbClr val="002060"/>
                </a:solidFill>
              </a:rPr>
              <a:t>Heat</a:t>
            </a:r>
            <a:r>
              <a:rPr lang="en-US" sz="2400" dirty="0"/>
              <a:t> is </a:t>
            </a:r>
            <a:r>
              <a:rPr lang="en-US" sz="2400" b="1" dirty="0">
                <a:solidFill>
                  <a:srgbClr val="C00000"/>
                </a:solidFill>
              </a:rPr>
              <a:t>energy flow </a:t>
            </a:r>
            <a:r>
              <a:rPr lang="en-US" sz="2400" dirty="0"/>
              <a:t>by virtue of a </a:t>
            </a:r>
            <a:r>
              <a:rPr lang="en-US" sz="2400" u="sng" dirty="0"/>
              <a:t>temperature difference</a:t>
            </a:r>
            <a:r>
              <a:rPr lang="en-US" sz="2400" dirty="0"/>
              <a:t>. Heat is not contained in a system. Heat only exists as energy crossing the boundary.</a:t>
            </a:r>
          </a:p>
          <a:p>
            <a:pPr>
              <a:buFont typeface="Wingdings" panose="05000000000000000000" pitchFamily="2" charset="2"/>
              <a:buChar char="v"/>
            </a:pPr>
            <a:r>
              <a:rPr lang="en-US" sz="2400" dirty="0"/>
              <a:t>A distinction is made between thermal energy and heat. Thermal energy is part of the internal energy, hence contained in the system. Heat is thermal energy crossing the boundary.</a:t>
            </a:r>
          </a:p>
          <a:p>
            <a:pPr>
              <a:buFont typeface="Wingdings" panose="05000000000000000000" pitchFamily="2" charset="2"/>
              <a:buChar char="v"/>
            </a:pPr>
            <a:endParaRPr lang="en-US" sz="2200" dirty="0"/>
          </a:p>
          <a:p>
            <a:pPr>
              <a:buFont typeface="Wingdings" panose="05000000000000000000" pitchFamily="2" charset="2"/>
              <a:buChar char="v"/>
            </a:pPr>
            <a:endParaRPr lang="en-US" sz="2200" dirty="0"/>
          </a:p>
        </p:txBody>
      </p:sp>
      <p:sp>
        <p:nvSpPr>
          <p:cNvPr id="10" name="Content Placeholder 2"/>
          <p:cNvSpPr txBox="1">
            <a:spLocks/>
          </p:cNvSpPr>
          <p:nvPr/>
        </p:nvSpPr>
        <p:spPr>
          <a:xfrm>
            <a:off x="6575612" y="1021976"/>
            <a:ext cx="5459507" cy="5090741"/>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a:buFont typeface="Wingdings" panose="05000000000000000000" pitchFamily="2" charset="2"/>
              <a:buChar char="v"/>
            </a:pPr>
            <a:r>
              <a:rPr lang="en-US" sz="2400" b="1" dirty="0">
                <a:solidFill>
                  <a:srgbClr val="002060"/>
                </a:solidFill>
              </a:rPr>
              <a:t>Work</a:t>
            </a:r>
            <a:r>
              <a:rPr lang="en-US" sz="2400" dirty="0"/>
              <a:t> is defined in mechanics as </a:t>
            </a:r>
            <a:r>
              <a:rPr lang="en-US" sz="2400" dirty="0">
                <a:solidFill>
                  <a:srgbClr val="C00000"/>
                </a:solidFill>
              </a:rPr>
              <a:t>the product of force and distance</a:t>
            </a:r>
            <a:r>
              <a:rPr lang="en-US" sz="2400" dirty="0"/>
              <a:t>, </a:t>
            </a:r>
            <a:r>
              <a:rPr lang="en-US" sz="2400" u="sng" dirty="0"/>
              <a:t>measured in the direction of application of the force. </a:t>
            </a:r>
          </a:p>
          <a:p>
            <a:pPr>
              <a:buFont typeface="Wingdings" panose="05000000000000000000" pitchFamily="2" charset="2"/>
              <a:buChar char="v"/>
            </a:pPr>
            <a:r>
              <a:rPr lang="en-US" sz="2400" b="1" dirty="0">
                <a:solidFill>
                  <a:srgbClr val="002060"/>
                </a:solidFill>
              </a:rPr>
              <a:t>Note: Work, like heat, is energy in transit and not a property of a system.</a:t>
            </a:r>
          </a:p>
          <a:p>
            <a:pPr>
              <a:buFont typeface="Wingdings" panose="05000000000000000000" pitchFamily="2" charset="2"/>
              <a:buChar char="v"/>
            </a:pPr>
            <a:r>
              <a:rPr lang="en-US" sz="2400" dirty="0"/>
              <a:t>There are many forms: electrical, magnetic, chemical and mechanical work (including work due to expansion and compression).</a:t>
            </a:r>
          </a:p>
          <a:p>
            <a:pPr>
              <a:buFont typeface="Wingdings" panose="05000000000000000000" pitchFamily="2" charset="2"/>
              <a:buChar char="v"/>
            </a:pPr>
            <a:endParaRPr lang="en-US" sz="2400" dirty="0"/>
          </a:p>
          <a:p>
            <a:pPr>
              <a:buFont typeface="Wingdings" panose="05000000000000000000" pitchFamily="2" charset="2"/>
              <a:buChar char="v"/>
            </a:pPr>
            <a:endParaRPr lang="en-US" sz="2200" dirty="0"/>
          </a:p>
          <a:p>
            <a:pPr>
              <a:buFont typeface="Wingdings" panose="05000000000000000000" pitchFamily="2" charset="2"/>
              <a:buChar char="v"/>
            </a:pPr>
            <a:endParaRPr lang="en-US" sz="2200" dirty="0"/>
          </a:p>
        </p:txBody>
      </p:sp>
    </p:spTree>
    <p:extLst>
      <p:ext uri="{BB962C8B-B14F-4D97-AF65-F5344CB8AC3E}">
        <p14:creationId xmlns:p14="http://schemas.microsoft.com/office/powerpoint/2010/main" val="373394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Basic Concepts and Definitions</a:t>
            </a:r>
            <a:endParaRPr lang="en-US" dirty="0">
              <a:solidFill>
                <a:srgbClr val="002060"/>
              </a:solidFill>
              <a:latin typeface="Georgia" panose="02040502050405020303" pitchFamily="18" charset="0"/>
            </a:endParaRPr>
          </a:p>
        </p:txBody>
      </p:sp>
      <p:sp>
        <p:nvSpPr>
          <p:cNvPr id="3" name="Content Placeholder 2"/>
          <p:cNvSpPr>
            <a:spLocks noGrp="1"/>
          </p:cNvSpPr>
          <p:nvPr>
            <p:ph sz="half" idx="1"/>
          </p:nvPr>
        </p:nvSpPr>
        <p:spPr>
          <a:xfrm>
            <a:off x="218765" y="1008529"/>
            <a:ext cx="6356847" cy="508520"/>
          </a:xfrm>
        </p:spPr>
        <p:txBody>
          <a:bodyPr>
            <a:noAutofit/>
          </a:bodyPr>
          <a:lstStyle/>
          <a:p>
            <a:pPr marL="0" indent="0">
              <a:buNone/>
            </a:pPr>
            <a:r>
              <a:rPr lang="en-US" sz="3000" b="1" dirty="0">
                <a:solidFill>
                  <a:srgbClr val="C00000"/>
                </a:solidFill>
              </a:rPr>
              <a:t>Internal Energy, U</a:t>
            </a:r>
          </a:p>
        </p:txBody>
      </p:sp>
      <p:sp>
        <p:nvSpPr>
          <p:cNvPr id="4" name="Slide Number Placeholder 3"/>
          <p:cNvSpPr>
            <a:spLocks noGrp="1"/>
          </p:cNvSpPr>
          <p:nvPr>
            <p:ph type="sldNum" sz="quarter" idx="12"/>
          </p:nvPr>
        </p:nvSpPr>
        <p:spPr/>
        <p:txBody>
          <a:bodyPr/>
          <a:lstStyle/>
          <a:p>
            <a:fld id="{F4801FD5-11B4-DE43-ACA2-E85EEB9A6F9C}" type="slidenum">
              <a:rPr lang="en-US" smtClean="0"/>
              <a:pPr/>
              <a:t>23</a:t>
            </a:fld>
            <a:endParaRPr lang="en-US" dirty="0"/>
          </a:p>
        </p:txBody>
      </p:sp>
      <p:sp>
        <p:nvSpPr>
          <p:cNvPr id="8" name="Content Placeholder 2"/>
          <p:cNvSpPr txBox="1">
            <a:spLocks/>
          </p:cNvSpPr>
          <p:nvPr/>
        </p:nvSpPr>
        <p:spPr>
          <a:xfrm>
            <a:off x="218764" y="1517049"/>
            <a:ext cx="5469342" cy="4761556"/>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a:buFont typeface="Wingdings" panose="05000000000000000000" pitchFamily="2" charset="2"/>
              <a:buChar char="v"/>
            </a:pPr>
            <a:r>
              <a:rPr lang="en-US" sz="2200" b="1" dirty="0">
                <a:solidFill>
                  <a:srgbClr val="002060"/>
                </a:solidFill>
              </a:rPr>
              <a:t>Internal Energy</a:t>
            </a:r>
            <a:r>
              <a:rPr lang="en-US" sz="2200" dirty="0"/>
              <a:t> is the  energy associated with the microscopic components of the system.</a:t>
            </a:r>
          </a:p>
          <a:p>
            <a:pPr>
              <a:buFont typeface="Wingdings" panose="05000000000000000000" pitchFamily="2" charset="2"/>
              <a:buChar char="v"/>
            </a:pPr>
            <a:r>
              <a:rPr lang="en-US" sz="2200" dirty="0"/>
              <a:t>It includes the kinetic and potential energy associated with the random motion (rotational, vibration and translation) of the atoms and molecules.</a:t>
            </a:r>
          </a:p>
          <a:p>
            <a:pPr>
              <a:buFont typeface="Wingdings" panose="05000000000000000000" pitchFamily="2" charset="2"/>
              <a:buChar char="v"/>
            </a:pPr>
            <a:r>
              <a:rPr lang="en-US" sz="2200" dirty="0"/>
              <a:t>Also includes potential energy bonding the particles together. </a:t>
            </a:r>
          </a:p>
          <a:p>
            <a:pPr marL="0" indent="0">
              <a:buNone/>
            </a:pPr>
            <a:r>
              <a:rPr lang="en-US" sz="2200" b="1" dirty="0">
                <a:solidFill>
                  <a:srgbClr val="002060"/>
                </a:solidFill>
              </a:rPr>
              <a:t>Note</a:t>
            </a:r>
          </a:p>
          <a:p>
            <a:pPr>
              <a:buFont typeface="Wingdings" panose="05000000000000000000" pitchFamily="2" charset="2"/>
              <a:buChar char="v"/>
            </a:pPr>
            <a:r>
              <a:rPr lang="en-US" sz="2200" b="1" dirty="0">
                <a:solidFill>
                  <a:srgbClr val="C00000"/>
                </a:solidFill>
              </a:rPr>
              <a:t>It does not include the macroscopic kinetic energy or external potential energy.</a:t>
            </a:r>
          </a:p>
          <a:p>
            <a:pPr>
              <a:buFont typeface="Wingdings" panose="05000000000000000000" pitchFamily="2" charset="2"/>
              <a:buChar char="v"/>
            </a:pPr>
            <a:endParaRPr lang="en-US" sz="2200" dirty="0"/>
          </a:p>
          <a:p>
            <a:pPr>
              <a:buFont typeface="Wingdings" panose="05000000000000000000" pitchFamily="2" charset="2"/>
              <a:buChar char="v"/>
            </a:pPr>
            <a:endParaRPr lang="en-US" sz="2200" dirty="0"/>
          </a:p>
        </p:txBody>
      </p:sp>
      <p:pic>
        <p:nvPicPr>
          <p:cNvPr id="5" name="Picture 4"/>
          <p:cNvPicPr>
            <a:picLocks noChangeAspect="1"/>
          </p:cNvPicPr>
          <p:nvPr/>
        </p:nvPicPr>
        <p:blipFill>
          <a:blip r:embed="rId2"/>
          <a:stretch>
            <a:fillRect/>
          </a:stretch>
        </p:blipFill>
        <p:spPr>
          <a:xfrm>
            <a:off x="5820162" y="1640541"/>
            <a:ext cx="6124575" cy="3684494"/>
          </a:xfrm>
          <a:prstGeom prst="rect">
            <a:avLst/>
          </a:prstGeom>
        </p:spPr>
      </p:pic>
    </p:spTree>
    <p:extLst>
      <p:ext uri="{BB962C8B-B14F-4D97-AF65-F5344CB8AC3E}">
        <p14:creationId xmlns:p14="http://schemas.microsoft.com/office/powerpoint/2010/main" val="2143823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Basic Concepts and Definitions</a:t>
            </a:r>
            <a:endParaRPr lang="en-US" dirty="0">
              <a:solidFill>
                <a:srgbClr val="002060"/>
              </a:solidFill>
              <a:latin typeface="Georgia" panose="02040502050405020303" pitchFamily="18" charset="0"/>
            </a:endParaRPr>
          </a:p>
        </p:txBody>
      </p:sp>
      <p:sp>
        <p:nvSpPr>
          <p:cNvPr id="3" name="Content Placeholder 2"/>
          <p:cNvSpPr>
            <a:spLocks noGrp="1"/>
          </p:cNvSpPr>
          <p:nvPr>
            <p:ph sz="half" idx="1"/>
          </p:nvPr>
        </p:nvSpPr>
        <p:spPr>
          <a:xfrm>
            <a:off x="218766" y="1008529"/>
            <a:ext cx="4568388" cy="508520"/>
          </a:xfrm>
        </p:spPr>
        <p:txBody>
          <a:bodyPr>
            <a:noAutofit/>
          </a:bodyPr>
          <a:lstStyle/>
          <a:p>
            <a:pPr marL="0" indent="0">
              <a:buNone/>
            </a:pPr>
            <a:r>
              <a:rPr lang="en-US" sz="3000" b="1" dirty="0">
                <a:solidFill>
                  <a:srgbClr val="C00000"/>
                </a:solidFill>
              </a:rPr>
              <a:t>Flow Energy</a:t>
            </a:r>
          </a:p>
        </p:txBody>
      </p:sp>
      <p:sp>
        <p:nvSpPr>
          <p:cNvPr id="4" name="Slide Number Placeholder 3"/>
          <p:cNvSpPr>
            <a:spLocks noGrp="1"/>
          </p:cNvSpPr>
          <p:nvPr>
            <p:ph type="sldNum" sz="quarter" idx="12"/>
          </p:nvPr>
        </p:nvSpPr>
        <p:spPr/>
        <p:txBody>
          <a:bodyPr/>
          <a:lstStyle/>
          <a:p>
            <a:fld id="{F4801FD5-11B4-DE43-ACA2-E85EEB9A6F9C}" type="slidenum">
              <a:rPr lang="en-US" smtClean="0"/>
              <a:pPr/>
              <a:t>24</a:t>
            </a:fld>
            <a:endParaRPr lang="en-US" dirty="0"/>
          </a:p>
        </p:txBody>
      </p:sp>
      <p:sp>
        <p:nvSpPr>
          <p:cNvPr id="8" name="Content Placeholder 2"/>
          <p:cNvSpPr txBox="1">
            <a:spLocks/>
          </p:cNvSpPr>
          <p:nvPr/>
        </p:nvSpPr>
        <p:spPr>
          <a:xfrm>
            <a:off x="218764" y="1517049"/>
            <a:ext cx="5469342" cy="4761556"/>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a:buFont typeface="Wingdings" panose="05000000000000000000" pitchFamily="2" charset="2"/>
              <a:buChar char="v"/>
            </a:pPr>
            <a:r>
              <a:rPr lang="en-US" sz="2400" b="1" dirty="0">
                <a:solidFill>
                  <a:srgbClr val="002060"/>
                </a:solidFill>
              </a:rPr>
              <a:t>Flow energy </a:t>
            </a:r>
            <a:r>
              <a:rPr lang="en-US" sz="2400" dirty="0"/>
              <a:t>is considered the energy contained in the flowing fluid. </a:t>
            </a:r>
          </a:p>
          <a:p>
            <a:pPr>
              <a:buFont typeface="Wingdings" panose="05000000000000000000" pitchFamily="2" charset="2"/>
              <a:buChar char="v"/>
            </a:pPr>
            <a:r>
              <a:rPr lang="en-US" sz="2400" dirty="0"/>
              <a:t>This is considered to be different from internal energy in thermodynamics.</a:t>
            </a:r>
          </a:p>
          <a:p>
            <a:pPr>
              <a:buFont typeface="Wingdings" panose="05000000000000000000" pitchFamily="2" charset="2"/>
              <a:buChar char="v"/>
            </a:pPr>
            <a:r>
              <a:rPr lang="en-US" sz="2400" dirty="0"/>
              <a:t>It is expressed as product of pressure and volume of the fluid.</a:t>
            </a:r>
          </a:p>
          <a:p>
            <a:pPr>
              <a:buFont typeface="Wingdings" panose="05000000000000000000" pitchFamily="2" charset="2"/>
              <a:buChar char="v"/>
            </a:pPr>
            <a:r>
              <a:rPr lang="en-US" sz="2400" dirty="0"/>
              <a:t>The </a:t>
            </a:r>
            <a:r>
              <a:rPr lang="en-US" sz="2400" b="1" dirty="0">
                <a:solidFill>
                  <a:srgbClr val="002060"/>
                </a:solidFill>
              </a:rPr>
              <a:t>total energy </a:t>
            </a:r>
            <a:r>
              <a:rPr lang="en-US" sz="2400" dirty="0"/>
              <a:t>associated with any thermodynamic system is equal to its internal energy plus macroscopic kinetic energy, external potential energy and the flow energy of the fluid. </a:t>
            </a:r>
          </a:p>
          <a:p>
            <a:pPr>
              <a:buFont typeface="Wingdings" panose="05000000000000000000" pitchFamily="2" charset="2"/>
              <a:buChar char="v"/>
            </a:pPr>
            <a:r>
              <a:rPr lang="en-US" sz="2400" b="1" dirty="0">
                <a:solidFill>
                  <a:srgbClr val="C00000"/>
                </a:solidFill>
              </a:rPr>
              <a:t>E = U + KE + PE + (PV)</a:t>
            </a:r>
            <a:r>
              <a:rPr lang="en-US" sz="2400" b="1" baseline="-25000" dirty="0">
                <a:solidFill>
                  <a:srgbClr val="C00000"/>
                </a:solidFill>
              </a:rPr>
              <a:t>FE</a:t>
            </a:r>
          </a:p>
        </p:txBody>
      </p:sp>
      <p:pic>
        <p:nvPicPr>
          <p:cNvPr id="9" name="Picture 8"/>
          <p:cNvPicPr>
            <a:picLocks noChangeAspect="1"/>
          </p:cNvPicPr>
          <p:nvPr/>
        </p:nvPicPr>
        <p:blipFill>
          <a:blip r:embed="rId2"/>
          <a:stretch>
            <a:fillRect/>
          </a:stretch>
        </p:blipFill>
        <p:spPr>
          <a:xfrm>
            <a:off x="5820162" y="1652754"/>
            <a:ext cx="6208355" cy="3645387"/>
          </a:xfrm>
          <a:prstGeom prst="rect">
            <a:avLst/>
          </a:prstGeom>
        </p:spPr>
      </p:pic>
    </p:spTree>
    <p:extLst>
      <p:ext uri="{BB962C8B-B14F-4D97-AF65-F5344CB8AC3E}">
        <p14:creationId xmlns:p14="http://schemas.microsoft.com/office/powerpoint/2010/main" val="3840855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Basic Concepts and Definitions</a:t>
            </a:r>
            <a:endParaRPr lang="en-US" dirty="0">
              <a:solidFill>
                <a:srgbClr val="002060"/>
              </a:solidFill>
              <a:latin typeface="Georgia" panose="02040502050405020303" pitchFamily="18" charset="0"/>
            </a:endParaRPr>
          </a:p>
        </p:txBody>
      </p:sp>
      <p:sp>
        <p:nvSpPr>
          <p:cNvPr id="3" name="Content Placeholder 2"/>
          <p:cNvSpPr>
            <a:spLocks noGrp="1"/>
          </p:cNvSpPr>
          <p:nvPr>
            <p:ph sz="half" idx="1"/>
          </p:nvPr>
        </p:nvSpPr>
        <p:spPr>
          <a:xfrm>
            <a:off x="218766" y="1008529"/>
            <a:ext cx="5697940" cy="508520"/>
          </a:xfrm>
        </p:spPr>
        <p:txBody>
          <a:bodyPr>
            <a:noAutofit/>
          </a:bodyPr>
          <a:lstStyle/>
          <a:p>
            <a:pPr marL="0" indent="0">
              <a:buNone/>
            </a:pPr>
            <a:r>
              <a:rPr lang="en-US" sz="3000" b="1" dirty="0">
                <a:solidFill>
                  <a:srgbClr val="C00000"/>
                </a:solidFill>
              </a:rPr>
              <a:t>Simple Compressible System</a:t>
            </a:r>
          </a:p>
        </p:txBody>
      </p:sp>
      <p:sp>
        <p:nvSpPr>
          <p:cNvPr id="4" name="Slide Number Placeholder 3"/>
          <p:cNvSpPr>
            <a:spLocks noGrp="1"/>
          </p:cNvSpPr>
          <p:nvPr>
            <p:ph type="sldNum" sz="quarter" idx="12"/>
          </p:nvPr>
        </p:nvSpPr>
        <p:spPr/>
        <p:txBody>
          <a:bodyPr/>
          <a:lstStyle/>
          <a:p>
            <a:fld id="{F4801FD5-11B4-DE43-ACA2-E85EEB9A6F9C}" type="slidenum">
              <a:rPr lang="en-US" smtClean="0"/>
              <a:pPr/>
              <a:t>25</a:t>
            </a:fld>
            <a:endParaRPr lang="en-US" dirty="0"/>
          </a:p>
        </p:txBody>
      </p:sp>
      <p:sp>
        <p:nvSpPr>
          <p:cNvPr id="8" name="Content Placeholder 2"/>
          <p:cNvSpPr txBox="1">
            <a:spLocks/>
          </p:cNvSpPr>
          <p:nvPr/>
        </p:nvSpPr>
        <p:spPr>
          <a:xfrm>
            <a:off x="218764" y="1517049"/>
            <a:ext cx="5469342" cy="4761556"/>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a:buFont typeface="Wingdings" panose="05000000000000000000" pitchFamily="2" charset="2"/>
              <a:buChar char="v"/>
            </a:pPr>
            <a:r>
              <a:rPr lang="en-US" sz="2400" dirty="0"/>
              <a:t>The term </a:t>
            </a:r>
            <a:r>
              <a:rPr lang="en-US" sz="2400" b="1" dirty="0">
                <a:solidFill>
                  <a:srgbClr val="002060"/>
                </a:solidFill>
              </a:rPr>
              <a:t>simple system </a:t>
            </a:r>
            <a:r>
              <a:rPr lang="en-US" sz="2400" dirty="0"/>
              <a:t>is applied when there is only one form of work (either mechanical, or electrical, or magnetic, or chemical) as the system undergoes a quasi-static process. </a:t>
            </a:r>
          </a:p>
          <a:p>
            <a:pPr>
              <a:buFont typeface="Wingdings" panose="05000000000000000000" pitchFamily="2" charset="2"/>
              <a:buChar char="v"/>
            </a:pPr>
            <a:r>
              <a:rPr lang="en-US" sz="2400" dirty="0"/>
              <a:t>When </a:t>
            </a:r>
            <a:r>
              <a:rPr lang="en-US" sz="2400" b="1" dirty="0"/>
              <a:t>expansion</a:t>
            </a:r>
            <a:r>
              <a:rPr lang="en-US" sz="2400" dirty="0"/>
              <a:t> or </a:t>
            </a:r>
            <a:r>
              <a:rPr lang="en-US" sz="2400" b="1" dirty="0"/>
              <a:t>compression</a:t>
            </a:r>
            <a:r>
              <a:rPr lang="en-US" sz="2400" dirty="0"/>
              <a:t> is the only mode of work transfer, the system is said to be a </a:t>
            </a:r>
            <a:r>
              <a:rPr lang="en-US" sz="2400" u="sng" dirty="0">
                <a:solidFill>
                  <a:srgbClr val="002060"/>
                </a:solidFill>
              </a:rPr>
              <a:t>simple compressible system</a:t>
            </a:r>
            <a:r>
              <a:rPr lang="en-US" sz="2400" dirty="0"/>
              <a:t>.</a:t>
            </a:r>
          </a:p>
          <a:p>
            <a:pPr>
              <a:buFont typeface="Wingdings" panose="05000000000000000000" pitchFamily="2" charset="2"/>
              <a:buChar char="v"/>
            </a:pPr>
            <a:r>
              <a:rPr lang="en-US" sz="2400" dirty="0"/>
              <a:t>The boundary work due to expansion or compression is expressed as;</a:t>
            </a:r>
          </a:p>
          <a:p>
            <a:pPr marL="0" indent="0">
              <a:buNone/>
            </a:pPr>
            <a:r>
              <a:rPr lang="en-US" sz="2400" b="1" dirty="0"/>
              <a:t>			</a:t>
            </a:r>
            <a:r>
              <a:rPr lang="en-US" sz="2400" b="1" dirty="0" err="1">
                <a:solidFill>
                  <a:srgbClr val="C00000"/>
                </a:solidFill>
              </a:rPr>
              <a:t>δW</a:t>
            </a:r>
            <a:r>
              <a:rPr lang="en-US" sz="2400" b="1" dirty="0">
                <a:solidFill>
                  <a:srgbClr val="C00000"/>
                </a:solidFill>
              </a:rPr>
              <a:t> = </a:t>
            </a:r>
            <a:r>
              <a:rPr lang="en-US" sz="2400" b="1" dirty="0" err="1">
                <a:solidFill>
                  <a:srgbClr val="C00000"/>
                </a:solidFill>
              </a:rPr>
              <a:t>PdV</a:t>
            </a:r>
            <a:endParaRPr lang="en-US" sz="2400" b="1" dirty="0">
              <a:solidFill>
                <a:srgbClr val="C00000"/>
              </a:solidFill>
            </a:endParaRPr>
          </a:p>
          <a:p>
            <a:pPr>
              <a:buFont typeface="Wingdings" panose="05000000000000000000" pitchFamily="2" charset="2"/>
              <a:buChar char="v"/>
            </a:pPr>
            <a:endParaRPr lang="en-US" sz="2400" dirty="0"/>
          </a:p>
        </p:txBody>
      </p:sp>
      <p:pic>
        <p:nvPicPr>
          <p:cNvPr id="5" name="Picture 4"/>
          <p:cNvPicPr>
            <a:picLocks noChangeAspect="1"/>
          </p:cNvPicPr>
          <p:nvPr/>
        </p:nvPicPr>
        <p:blipFill>
          <a:blip r:embed="rId2"/>
          <a:stretch>
            <a:fillRect/>
          </a:stretch>
        </p:blipFill>
        <p:spPr>
          <a:xfrm>
            <a:off x="5916706" y="1517049"/>
            <a:ext cx="5968834" cy="3848327"/>
          </a:xfrm>
          <a:prstGeom prst="rect">
            <a:avLst/>
          </a:prstGeom>
        </p:spPr>
      </p:pic>
    </p:spTree>
    <p:extLst>
      <p:ext uri="{BB962C8B-B14F-4D97-AF65-F5344CB8AC3E}">
        <p14:creationId xmlns:p14="http://schemas.microsoft.com/office/powerpoint/2010/main" val="1815821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Basic Concepts and Definitions</a:t>
            </a:r>
            <a:endParaRPr lang="en-US" dirty="0">
              <a:solidFill>
                <a:srgbClr val="002060"/>
              </a:solidFill>
              <a:latin typeface="Georgia" panose="02040502050405020303" pitchFamily="18" charset="0"/>
            </a:endParaRPr>
          </a:p>
        </p:txBody>
      </p:sp>
      <p:sp>
        <p:nvSpPr>
          <p:cNvPr id="3" name="Content Placeholder 2"/>
          <p:cNvSpPr>
            <a:spLocks noGrp="1"/>
          </p:cNvSpPr>
          <p:nvPr>
            <p:ph sz="half" idx="1"/>
          </p:nvPr>
        </p:nvSpPr>
        <p:spPr>
          <a:xfrm>
            <a:off x="218766" y="1008529"/>
            <a:ext cx="5697940" cy="508520"/>
          </a:xfrm>
        </p:spPr>
        <p:txBody>
          <a:bodyPr>
            <a:noAutofit/>
          </a:bodyPr>
          <a:lstStyle/>
          <a:p>
            <a:pPr marL="0" indent="0">
              <a:buNone/>
            </a:pPr>
            <a:r>
              <a:rPr lang="en-US" sz="3000" b="1" dirty="0">
                <a:solidFill>
                  <a:srgbClr val="C00000"/>
                </a:solidFill>
              </a:rPr>
              <a:t>Simple Compressible System</a:t>
            </a:r>
          </a:p>
        </p:txBody>
      </p:sp>
      <p:sp>
        <p:nvSpPr>
          <p:cNvPr id="4" name="Slide Number Placeholder 3"/>
          <p:cNvSpPr>
            <a:spLocks noGrp="1"/>
          </p:cNvSpPr>
          <p:nvPr>
            <p:ph type="sldNum" sz="quarter" idx="12"/>
          </p:nvPr>
        </p:nvSpPr>
        <p:spPr/>
        <p:txBody>
          <a:bodyPr/>
          <a:lstStyle/>
          <a:p>
            <a:fld id="{F4801FD5-11B4-DE43-ACA2-E85EEB9A6F9C}" type="slidenum">
              <a:rPr lang="en-US" smtClean="0"/>
              <a:pPr/>
              <a:t>26</a:t>
            </a:fld>
            <a:endParaRPr lang="en-US" dirty="0"/>
          </a:p>
        </p:txBody>
      </p:sp>
      <p:sp>
        <p:nvSpPr>
          <p:cNvPr id="8" name="Content Placeholder 2"/>
          <p:cNvSpPr txBox="1">
            <a:spLocks/>
          </p:cNvSpPr>
          <p:nvPr/>
        </p:nvSpPr>
        <p:spPr>
          <a:xfrm>
            <a:off x="218763" y="1517049"/>
            <a:ext cx="6343401" cy="1881376"/>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a:buFont typeface="Wingdings" panose="05000000000000000000" pitchFamily="2" charset="2"/>
              <a:buChar char="v"/>
            </a:pPr>
            <a:r>
              <a:rPr lang="en-US" sz="2200" dirty="0"/>
              <a:t>The boundary work due to expansion or compression is expressed as;</a:t>
            </a:r>
          </a:p>
          <a:p>
            <a:pPr marL="0" indent="0">
              <a:buNone/>
            </a:pPr>
            <a:r>
              <a:rPr lang="en-US" sz="2200" b="1" dirty="0"/>
              <a:t>			</a:t>
            </a:r>
            <a:r>
              <a:rPr lang="en-US" sz="2200" b="1" dirty="0" err="1">
                <a:solidFill>
                  <a:srgbClr val="C00000"/>
                </a:solidFill>
              </a:rPr>
              <a:t>δW</a:t>
            </a:r>
            <a:r>
              <a:rPr lang="en-US" sz="2200" b="1" dirty="0">
                <a:solidFill>
                  <a:srgbClr val="C00000"/>
                </a:solidFill>
              </a:rPr>
              <a:t> = </a:t>
            </a:r>
            <a:r>
              <a:rPr lang="en-US" sz="2200" b="1" dirty="0" err="1">
                <a:solidFill>
                  <a:srgbClr val="C00000"/>
                </a:solidFill>
              </a:rPr>
              <a:t>PdV</a:t>
            </a:r>
            <a:endParaRPr lang="en-US" sz="2200" b="1" dirty="0">
              <a:solidFill>
                <a:srgbClr val="C00000"/>
              </a:solidFill>
            </a:endParaRPr>
          </a:p>
          <a:p>
            <a:pPr>
              <a:buFont typeface="Wingdings" panose="05000000000000000000" pitchFamily="2" charset="2"/>
              <a:buChar char="v"/>
            </a:pPr>
            <a:r>
              <a:rPr lang="en-US" sz="2200" dirty="0"/>
              <a:t>PdV work is commonly encountered in reciprocating devices such as automotive engines and compressors.</a:t>
            </a:r>
          </a:p>
          <a:p>
            <a:pPr>
              <a:buFont typeface="Wingdings" panose="05000000000000000000" pitchFamily="2" charset="2"/>
              <a:buChar char="v"/>
            </a:pPr>
            <a:endParaRPr lang="en-US" sz="2400" dirty="0"/>
          </a:p>
        </p:txBody>
      </p:sp>
      <p:pic>
        <p:nvPicPr>
          <p:cNvPr id="7" name="Content Placeholder 5"/>
          <p:cNvPicPr>
            <a:picLocks noChangeArrowheads="1"/>
          </p:cNvPicPr>
          <p:nvPr/>
        </p:nvPicPr>
        <p:blipFill>
          <a:blip r:embed="rId2" cstate="print"/>
          <a:srcRect/>
          <a:stretch>
            <a:fillRect/>
          </a:stretch>
        </p:blipFill>
        <p:spPr bwMode="auto">
          <a:xfrm>
            <a:off x="757518" y="3550023"/>
            <a:ext cx="3142128" cy="2608729"/>
          </a:xfrm>
          <a:prstGeom prst="rect">
            <a:avLst/>
          </a:prstGeom>
          <a:noFill/>
          <a:ln w="12700">
            <a:noFill/>
            <a:miter lim="800000"/>
            <a:headEnd/>
            <a:tailEnd/>
          </a:ln>
          <a:effectLst/>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36976" y="1008529"/>
            <a:ext cx="3470065" cy="2610608"/>
          </a:xfrm>
          <a:prstGeom prst="rect">
            <a:avLst/>
          </a:prstGeom>
        </p:spPr>
      </p:pic>
      <p:pic>
        <p:nvPicPr>
          <p:cNvPr id="10" name="Picture 9"/>
          <p:cNvPicPr>
            <a:picLocks noChangeAspect="1"/>
          </p:cNvPicPr>
          <p:nvPr/>
        </p:nvPicPr>
        <p:blipFill>
          <a:blip r:embed="rId4"/>
          <a:stretch>
            <a:fillRect/>
          </a:stretch>
        </p:blipFill>
        <p:spPr>
          <a:xfrm>
            <a:off x="8716308" y="3757107"/>
            <a:ext cx="3291840" cy="2194560"/>
          </a:xfrm>
          <a:prstGeom prst="rect">
            <a:avLst/>
          </a:prstGeom>
        </p:spPr>
      </p:pic>
      <p:pic>
        <p:nvPicPr>
          <p:cNvPr id="11" name="Picture 2" descr="https://s1.cdn.autoevolution.com/images/news/gallery/3-more-harley-davidson-bikes-to-be-made-in-india_1.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368991" y="3574227"/>
            <a:ext cx="4347317" cy="23774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2732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F4801FD5-11B4-DE43-ACA2-E85EEB9A6F9C}" type="slidenum">
              <a:rPr lang="en-US" smtClean="0"/>
              <a:pPr/>
              <a:t>27</a:t>
            </a:fld>
            <a:endParaRPr lang="en-US" dirty="0"/>
          </a:p>
        </p:txBody>
      </p:sp>
      <p:sp>
        <p:nvSpPr>
          <p:cNvPr id="6" name="Title 1"/>
          <p:cNvSpPr txBox="1">
            <a:spLocks/>
          </p:cNvSpPr>
          <p:nvPr/>
        </p:nvSpPr>
        <p:spPr>
          <a:xfrm>
            <a:off x="301337" y="283087"/>
            <a:ext cx="11198086" cy="592690"/>
          </a:xfrm>
          <a:prstGeom prst="rect">
            <a:avLst/>
          </a:prstGeom>
        </p:spPr>
        <p:txBody>
          <a:bodyPr/>
          <a:lstStyle>
            <a:lvl1pPr algn="ctr" defTabSz="457200" rtl="0" eaLnBrk="1" latinLnBrk="0" hangingPunct="1">
              <a:spcBef>
                <a:spcPct val="0"/>
              </a:spcBef>
              <a:buNone/>
              <a:defRPr sz="4000" kern="1200">
                <a:solidFill>
                  <a:schemeClr val="tx1"/>
                </a:solidFill>
                <a:latin typeface="Garamond" panose="02020404030301010803" pitchFamily="18" charset="0"/>
                <a:ea typeface="+mj-ea"/>
                <a:cs typeface="+mj-cs"/>
              </a:defRPr>
            </a:lvl1pPr>
          </a:lstStyle>
          <a:p>
            <a:endParaRPr lang="en-GB" sz="2000" dirty="0">
              <a:solidFill>
                <a:srgbClr val="FF0000"/>
              </a:solidFill>
            </a:endParaRPr>
          </a:p>
        </p:txBody>
      </p:sp>
      <p:sp>
        <p:nvSpPr>
          <p:cNvPr id="10" name="Footer Placeholder 5"/>
          <p:cNvSpPr txBox="1">
            <a:spLocks/>
          </p:cNvSpPr>
          <p:nvPr/>
        </p:nvSpPr>
        <p:spPr>
          <a:xfrm>
            <a:off x="770964" y="6281915"/>
            <a:ext cx="1210236" cy="365125"/>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solidFill>
                  <a:schemeClr val="tx1"/>
                </a:solidFill>
              </a:rPr>
              <a:t>KNUST-SESC</a:t>
            </a:r>
          </a:p>
        </p:txBody>
      </p:sp>
      <p:pic>
        <p:nvPicPr>
          <p:cNvPr id="8" name="Picture 2" descr="7,473 Thank You Business Stock Photos, Pictures &amp; Royalty-Free Images -  iStoc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198" y="1988579"/>
            <a:ext cx="7532942" cy="3503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38646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41149</TotalTime>
  <Words>2185</Words>
  <Application>Microsoft Office PowerPoint</Application>
  <PresentationFormat>Widescreen</PresentationFormat>
  <Paragraphs>202</Paragraphs>
  <Slides>27</Slides>
  <Notes>0</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27</vt:i4>
      </vt:variant>
    </vt:vector>
  </HeadingPairs>
  <TitlesOfParts>
    <vt:vector size="36" baseType="lpstr">
      <vt:lpstr>Arial</vt:lpstr>
      <vt:lpstr>Calibri</vt:lpstr>
      <vt:lpstr>Eras Demi ITC</vt:lpstr>
      <vt:lpstr>Garamond</vt:lpstr>
      <vt:lpstr>Georgia</vt:lpstr>
      <vt:lpstr>Helvetica</vt:lpstr>
      <vt:lpstr>Wingdings</vt:lpstr>
      <vt:lpstr>Office Theme</vt:lpstr>
      <vt:lpstr>Equation</vt:lpstr>
      <vt:lpstr>THERMODYNAMICS I (ME 265) </vt:lpstr>
      <vt:lpstr>Introduction</vt:lpstr>
      <vt:lpstr>Introduction</vt:lpstr>
      <vt:lpstr>Introduction</vt:lpstr>
      <vt:lpstr>Zeroth Law of Thermodynamics</vt:lpstr>
      <vt:lpstr>First Law of Thermodynamics</vt:lpstr>
      <vt:lpstr>Second Law of Thermodynamics</vt:lpstr>
      <vt:lpstr>Third Law of Thermodynamics</vt:lpstr>
      <vt:lpstr>Applications of Thermodynamics</vt:lpstr>
      <vt:lpstr>Basic Concepts and Definitions</vt:lpstr>
      <vt:lpstr>Basic Concepts and Definitions</vt:lpstr>
      <vt:lpstr>Basic Concepts and Definitions</vt:lpstr>
      <vt:lpstr>Basic Concepts and Definitions</vt:lpstr>
      <vt:lpstr>Basic Concepts and Definitions</vt:lpstr>
      <vt:lpstr>Basic Concepts and Definitions</vt:lpstr>
      <vt:lpstr>Basic Concepts and Definitions</vt:lpstr>
      <vt:lpstr>Basic Concepts and Definitions</vt:lpstr>
      <vt:lpstr>Basic Concepts and Definitions</vt:lpstr>
      <vt:lpstr>Basic Concepts and Definitions</vt:lpstr>
      <vt:lpstr>Basic Concepts and Definitions</vt:lpstr>
      <vt:lpstr>Basic Concepts and Definitions</vt:lpstr>
      <vt:lpstr>Basic Concepts and Definitions</vt:lpstr>
      <vt:lpstr>Basic Concepts and Definitions</vt:lpstr>
      <vt:lpstr>Basic Concepts and Definitions</vt:lpstr>
      <vt:lpstr>Basic Concepts and Definitions</vt:lpstr>
      <vt:lpstr>Basic Concepts and Definitions</vt:lpstr>
      <vt:lpstr>PowerPoint Presentation</vt:lpstr>
    </vt:vector>
  </TitlesOfParts>
  <Company>UPK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KNUST Press</dc:creator>
  <cp:lastModifiedBy>HP</cp:lastModifiedBy>
  <cp:revision>678</cp:revision>
  <dcterms:created xsi:type="dcterms:W3CDTF">2016-11-07T15:28:41Z</dcterms:created>
  <dcterms:modified xsi:type="dcterms:W3CDTF">2021-12-01T09:57:37Z</dcterms:modified>
</cp:coreProperties>
</file>