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03" r:id="rId2"/>
    <p:sldId id="548" r:id="rId3"/>
    <p:sldId id="669" r:id="rId4"/>
    <p:sldId id="670" r:id="rId5"/>
    <p:sldId id="671" r:id="rId6"/>
    <p:sldId id="680" r:id="rId7"/>
    <p:sldId id="672" r:id="rId8"/>
    <p:sldId id="674" r:id="rId9"/>
    <p:sldId id="675" r:id="rId10"/>
    <p:sldId id="676" r:id="rId11"/>
    <p:sldId id="677" r:id="rId12"/>
    <p:sldId id="695" r:id="rId13"/>
    <p:sldId id="696" r:id="rId14"/>
    <p:sldId id="678" r:id="rId15"/>
    <p:sldId id="697" r:id="rId16"/>
    <p:sldId id="694" r:id="rId17"/>
    <p:sldId id="54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8DF"/>
    <a:srgbClr val="F6C702"/>
    <a:srgbClr val="008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21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36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jpe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7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47608-6ABE-4504-86B5-76DC66B615A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764DC-64CD-49E5-9D34-444ECD225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7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070D9-CE4C-4523-84E5-2BCC360EF90C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DD320-4E3A-4CB5-A0BC-F8EFFE6E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6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76DD-8797-46B9-BAA0-1118061A3B20}" type="datetime1">
              <a:rPr lang="en-US" smtClean="0"/>
              <a:t>12/1/2021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12192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13360" y="241270"/>
              <a:ext cx="251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0123" y="68970"/>
              <a:ext cx="563237" cy="71680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0" y="1096019"/>
            <a:ext cx="10363200" cy="25417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914400" y="4666761"/>
            <a:ext cx="10363200" cy="159933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pPr algn="l"/>
            <a:endParaRPr lang="en-US" b="1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60-5DEC-4F9C-AE86-3A65EBEA6D5D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271235"/>
            <a:ext cx="12191997" cy="586764"/>
            <a:chOff x="0" y="6271235"/>
            <a:chExt cx="9144000" cy="586764"/>
          </a:xfrm>
        </p:grpSpPr>
        <p:sp>
          <p:nvSpPr>
            <p:cNvPr id="8" name="Rectangle 7"/>
            <p:cNvSpPr/>
            <p:nvPr/>
          </p:nvSpPr>
          <p:spPr>
            <a:xfrm>
              <a:off x="0" y="6668022"/>
              <a:ext cx="9144000" cy="18997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271235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36489" y="6299719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8027214" y="6314438"/>
              <a:ext cx="1091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50538" y="6320348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7070" y="6308011"/>
              <a:ext cx="292217" cy="292217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3D96D2C-39D2-D146-949D-A56FF12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95127"/>
            <a:ext cx="11198086" cy="59269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8A6806-0C47-8F41-8CB1-123A74FCD28F}"/>
              </a:ext>
            </a:extLst>
          </p:cNvPr>
          <p:cNvCxnSpPr/>
          <p:nvPr userDrawn="1"/>
        </p:nvCxnSpPr>
        <p:spPr>
          <a:xfrm>
            <a:off x="1" y="924340"/>
            <a:ext cx="12207161" cy="0"/>
          </a:xfrm>
          <a:prstGeom prst="line">
            <a:avLst/>
          </a:prstGeom>
          <a:ln w="12700">
            <a:solidFill>
              <a:srgbClr val="00800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14474AE-41FC-854B-B962-6E0C929C5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2088"/>
            <a:ext cx="11198085" cy="51758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708" y="6278605"/>
            <a:ext cx="855784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fld id="{F4801FD5-11B4-DE43-ACA2-E85EEB9A6F9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7EC4-0FAA-4E2B-9A38-6D09C67DA3A1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2406-8828-418B-8809-38D0A9920C77}" type="datetime1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5C99-0020-4D01-8567-E31F48D46E49}" type="datetime1">
              <a:rPr lang="en-US" smtClean="0"/>
              <a:t>12/1/2021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0C0AC-B421-4F27-B629-B4BF5EA43D28}" type="datetime1">
              <a:rPr lang="en-US" smtClean="0"/>
              <a:t>12/1/2021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8E7F-7F5B-4B1A-A083-B461A23AA8FA}" type="datetime1">
              <a:rPr lang="en-US" smtClean="0"/>
              <a:t>12/1/2021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B52-87DB-4D57-8A37-3B02874B479C}" type="datetime1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A186-4EFB-4B8E-AB2B-86BDDA713B27}" type="datetime1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FC1A-4AC2-4AAF-A501-06099FF0D626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3F44-2E53-4BAA-A8EA-A81B2EB64AD8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88C0D-608D-44E2-B7D7-7A7555FE1132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jpeg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20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jpeg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B02BC7-9B65-A649-A6AA-B9A015F59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540" y="949448"/>
            <a:ext cx="11149069" cy="1031752"/>
          </a:xfrm>
        </p:spPr>
        <p:txBody>
          <a:bodyPr vert="horz" lIns="68580" tIns="34290" rIns="68580" bIns="34290" rtlCol="0" anchor="b">
            <a:noAutofit/>
          </a:bodyPr>
          <a:lstStyle/>
          <a:p>
            <a:r>
              <a:rPr lang="en-GB" sz="3200" b="1" dirty="0">
                <a:solidFill>
                  <a:srgbClr val="0070C0"/>
                </a:solidFill>
                <a:latin typeface="Georgia" panose="02040502050405020303" pitchFamily="18" charset="0"/>
              </a:rPr>
              <a:t>THERMODYNAMICS I (ME 265)</a:t>
            </a:r>
            <a:br>
              <a:rPr lang="en-GB" sz="3200" b="1" dirty="0">
                <a:solidFill>
                  <a:srgbClr val="0070C0"/>
                </a:solidFill>
                <a:latin typeface="Eras Demi ITC" panose="020B0805030504020804" pitchFamily="34" charset="0"/>
              </a:rPr>
            </a:br>
            <a:endParaRPr lang="en-GB" sz="3200" dirty="0">
              <a:latin typeface="Eras Demi ITC" panose="020B0805030504020804" pitchFamily="34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809245" y="5405717"/>
            <a:ext cx="8432872" cy="1211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  <a:latin typeface="Helvetica"/>
                <a:cs typeface="Helvetica"/>
              </a:rPr>
              <a:t>Francis Kofi Forson </a:t>
            </a:r>
            <a:r>
              <a:rPr lang="en-US" sz="2400" b="1">
                <a:solidFill>
                  <a:schemeClr val="tx1"/>
                </a:solidFill>
                <a:latin typeface="Helvetica"/>
                <a:cs typeface="Helvetica"/>
              </a:rPr>
              <a:t>(Professor)</a:t>
            </a:r>
            <a:endParaRPr lang="en-US" sz="2400" b="1" dirty="0">
              <a:solidFill>
                <a:schemeClr val="tx1"/>
              </a:solidFill>
              <a:latin typeface="Helvetica"/>
              <a:cs typeface="Helvetica"/>
            </a:endParaRPr>
          </a:p>
          <a:p>
            <a:r>
              <a:rPr lang="en-US" sz="1800" b="1" dirty="0">
                <a:latin typeface="Helvetica"/>
                <a:cs typeface="Helvetica"/>
              </a:rPr>
              <a:t>Department of Mechanical Engineering</a:t>
            </a:r>
          </a:p>
          <a:p>
            <a:r>
              <a:rPr lang="en-US" sz="1800" b="1" dirty="0">
                <a:latin typeface="Helvetica"/>
                <a:cs typeface="Helvetica"/>
              </a:rPr>
              <a:t>Kwame Nkrumah University of Science and Technology, Kumasi, Ghana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81EFB1F-8D7C-2F44-8B60-6C24E97F6990}"/>
              </a:ext>
            </a:extLst>
          </p:cNvPr>
          <p:cNvSpPr txBox="1">
            <a:spLocks/>
          </p:cNvSpPr>
          <p:nvPr/>
        </p:nvSpPr>
        <p:spPr>
          <a:xfrm>
            <a:off x="1346423" y="3908277"/>
            <a:ext cx="9814635" cy="11150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FIRST LAW OF THERMODYNAMICS</a:t>
            </a:r>
          </a:p>
          <a:p>
            <a:pPr algn="ctr"/>
            <a:r>
              <a:rPr lang="en-GB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APPLIED TO CLOSED SYSTEMS</a:t>
            </a:r>
          </a:p>
        </p:txBody>
      </p:sp>
      <p:pic>
        <p:nvPicPr>
          <p:cNvPr id="1026" name="Picture 2" descr="The Emblem | Kwame Nkrumah University of Science and Techn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253" y="1577247"/>
            <a:ext cx="1969135" cy="222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87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00109" y="1035424"/>
                <a:ext cx="6302190" cy="5243181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600" dirty="0"/>
                  <a:t>There exists a </a:t>
                </a:r>
                <a:r>
                  <a:rPr lang="en-US" sz="2600" b="1" dirty="0">
                    <a:solidFill>
                      <a:srgbClr val="C00000"/>
                    </a:solidFill>
                  </a:rPr>
                  <a:t>property of a (closed) system </a:t>
                </a:r>
                <a:r>
                  <a:rPr lang="en-US" sz="2600" dirty="0"/>
                  <a:t>such that a </a:t>
                </a:r>
                <a:r>
                  <a:rPr lang="en-US" sz="2600" b="1" dirty="0">
                    <a:solidFill>
                      <a:srgbClr val="002060"/>
                    </a:solidFill>
                  </a:rPr>
                  <a:t>change in its value is equal to the difference between the net heat supplied and the net work done during any change of state</a:t>
                </a:r>
                <a:r>
                  <a:rPr lang="en-US" sz="2600" dirty="0"/>
                  <a:t>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600" b="1" dirty="0">
                    <a:solidFill>
                      <a:srgbClr val="C00000"/>
                    </a:solidFill>
                  </a:rPr>
                  <a:t>This property is the energy, E, of the system.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600" dirty="0"/>
                  <a:t>The law is expressed mathematically as,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4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4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4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</m:t>
                      </m:r>
                    </m:oMath>
                  </m:oMathPara>
                </a14:m>
                <a:endParaRPr lang="en-US" sz="44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4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4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4400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4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4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4400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4400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sz="44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4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0109" y="1035424"/>
                <a:ext cx="6302190" cy="5243181"/>
              </a:xfrm>
              <a:blipFill>
                <a:blip r:embed="rId2"/>
                <a:stretch>
                  <a:fillRect l="-1451" t="-1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6911788" y="1035423"/>
                <a:ext cx="5158292" cy="52431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600" b="1" dirty="0">
                    <a:solidFill>
                      <a:srgbClr val="C00000"/>
                    </a:solidFill>
                  </a:rPr>
                  <a:t>For a closed system,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𝐊𝐄</m:t>
                      </m:r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𝐏𝐄</m:t>
                      </m:r>
                    </m:oMath>
                  </m:oMathPara>
                </a14:m>
                <a:endParaRPr lang="en-US" sz="32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600" dirty="0"/>
                  <a:t>The first law equation for a closed system becomes;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𝐔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+∆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𝐊𝐄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+∆</m:t>
                      </m:r>
                      <m:r>
                        <a:rPr lang="en-US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𝐏𝐄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600" dirty="0"/>
                  <a:t>If the closed system is stationary,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𝐊𝐄</m:t>
                      </m:r>
                      <m:r>
                        <a:rPr lang="en-US" sz="2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r>
                        <a:rPr lang="en-US" sz="2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𝐏𝐄</m:t>
                      </m:r>
                      <m:r>
                        <a:rPr lang="en-US" sz="2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6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600" dirty="0"/>
                  <a:t>The first law equation for a closed system reduces to;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600" b="1" dirty="0">
                    <a:solidFill>
                      <a:srgbClr val="002060"/>
                    </a:solidFill>
                  </a:rPr>
                  <a:t>This is referred to as the non-flow energy equation (NFEE).</a:t>
                </a:r>
              </a:p>
            </p:txBody>
          </p:sp>
        </mc:Choice>
        <mc:Fallback xmlns=""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788" y="1035423"/>
                <a:ext cx="5158292" cy="5243181"/>
              </a:xfrm>
              <a:prstGeom prst="rect">
                <a:avLst/>
              </a:prstGeom>
              <a:blipFill rotWithShape="0">
                <a:blip r:embed="rId3"/>
                <a:stretch>
                  <a:fillRect l="-1891" t="-1047" b="-1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08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00109" y="1035424"/>
                <a:ext cx="4820531" cy="5243181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002060"/>
                    </a:solidFill>
                  </a:rPr>
                  <a:t>An</a:t>
                </a:r>
                <a:r>
                  <a:rPr lang="en-US" b="1" dirty="0">
                    <a:solidFill>
                      <a:srgbClr val="C00000"/>
                    </a:solidFill>
                  </a:rPr>
                  <a:t> isolated system </a:t>
                </a:r>
                <a:r>
                  <a:rPr lang="en-US" dirty="0"/>
                  <a:t>is a special case of a closed system.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/>
                  <a:t>For an isolated system,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/>
                  <a:t>The non flow energy equation becomes;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002060"/>
                    </a:solidFill>
                  </a:rPr>
                  <a:t>This means that the internal energy of an isolated system remains unchanged.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0109" y="1035424"/>
                <a:ext cx="4820531" cy="5243181"/>
              </a:xfrm>
              <a:blipFill rotWithShape="0">
                <a:blip r:embed="rId2"/>
                <a:stretch>
                  <a:fillRect l="-2149" t="-1279" r="-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5786612" y="1035424"/>
                <a:ext cx="6199061" cy="52431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/>
                  <a:t>For a closed system undergoing a cycle,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2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𝐔</m:t>
                      </m:r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32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/>
                  <a:t>The first law equation for a closed system then becomes;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4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40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4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40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4000" b="1" dirty="0">
                  <a:solidFill>
                    <a:srgbClr val="C00000"/>
                  </a:solidFill>
                </a:endParaRPr>
              </a:p>
              <a:p>
                <a:pPr marL="0" lvl="0" indent="0">
                  <a:buNone/>
                </a:pPr>
                <a:endParaRPr lang="en-US" sz="1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40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4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40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</m:oMath>
                  </m:oMathPara>
                </a14:m>
                <a:endParaRPr lang="en-US" sz="4000" b="1" dirty="0">
                  <a:solidFill>
                    <a:srgbClr val="C00000"/>
                  </a:solidFill>
                </a:endParaRPr>
              </a:p>
              <a:p>
                <a:pPr marL="0" lvl="0" indent="0">
                  <a:buNone/>
                </a:pPr>
                <a:endParaRPr lang="en-US" sz="4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612" y="1035424"/>
                <a:ext cx="6199061" cy="5243181"/>
              </a:xfrm>
              <a:prstGeom prst="rect">
                <a:avLst/>
              </a:prstGeom>
              <a:blipFill rotWithShape="0">
                <a:blip r:embed="rId3"/>
                <a:stretch>
                  <a:fillRect l="-1672"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92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60468" y="1234291"/>
            <a:ext cx="3766924" cy="56136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</a:rPr>
              <a:t>Solution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10" y="1844397"/>
            <a:ext cx="4318332" cy="4372994"/>
          </a:xfrm>
          <a:prstGeom prst="rect">
            <a:avLst/>
          </a:prstGeom>
        </p:spPr>
      </p:pic>
      <p:graphicFrame>
        <p:nvGraphicFramePr>
          <p:cNvPr id="9" name="Object 4" descr="Canva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496283"/>
              </p:ext>
            </p:extLst>
          </p:nvPr>
        </p:nvGraphicFramePr>
        <p:xfrm>
          <a:off x="4367285" y="2803494"/>
          <a:ext cx="2031617" cy="81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" name="Equation" r:id="rId4" imgW="507960" imgH="203040" progId="Equation.DSMT4">
                  <p:embed/>
                </p:oleObj>
              </mc:Choice>
              <mc:Fallback>
                <p:oleObj name="Equation" r:id="rId4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85" y="2803494"/>
                        <a:ext cx="2031617" cy="813162"/>
                      </a:xfrm>
                      <a:prstGeom prst="rect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452510" y="1187825"/>
            <a:ext cx="2866172" cy="561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2060"/>
                </a:solidFill>
              </a:rPr>
              <a:t>Example 1</a:t>
            </a:r>
            <a:endParaRPr lang="en-US" dirty="0"/>
          </a:p>
        </p:txBody>
      </p:sp>
      <p:pic>
        <p:nvPicPr>
          <p:cNvPr id="11" name="Picture 5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260468" y="1844397"/>
            <a:ext cx="3987800" cy="41163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188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260468" y="1234291"/>
                <a:ext cx="4654028" cy="4845640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C00000"/>
                    </a:solidFill>
                  </a:rPr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𝐢𝐧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=+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𝐤𝐉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𝐤𝐉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dirty="0"/>
                  <a:t>From the first law equation for a stationary closed system,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(−5)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=+25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kJ</m:t>
                      </m:r>
                    </m:oMath>
                  </m:oMathPara>
                </a14:m>
                <a:endParaRPr lang="en-US" sz="2400" dirty="0"/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260468" y="1234291"/>
                <a:ext cx="4654028" cy="4845640"/>
              </a:xfrm>
              <a:blipFill rotWithShape="0">
                <a:blip r:embed="rId2"/>
                <a:stretch>
                  <a:fillRect l="-2228" t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2509" y="1187825"/>
            <a:ext cx="6807959" cy="2442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Example 2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 gas trapped inside a piston-cylinder device receives 20 kJ of heat while it expands performing a boundary work of 5 kJ. At the same time, 10 kJ of electrical work is transferred into the system. Evaluate  Q, W and ΔU with appropriate signs.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17093" y="3828979"/>
            <a:ext cx="2358998" cy="22509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3776091" y="3924571"/>
                <a:ext cx="3484377" cy="215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C00000"/>
                    </a:solidFill>
                  </a:rPr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=+20 </m:t>
                      </m:r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kJ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=+5 </m:t>
                      </m:r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kJ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=−10 </m:t>
                      </m:r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kJ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091" y="3924571"/>
                <a:ext cx="3484377" cy="2155360"/>
              </a:xfrm>
              <a:prstGeom prst="rect">
                <a:avLst/>
              </a:prstGeom>
              <a:blipFill rotWithShape="0">
                <a:blip r:embed="rId4"/>
                <a:stretch>
                  <a:fillRect l="-2972" t="-3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51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2510" y="1187825"/>
            <a:ext cx="5033890" cy="48921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Example 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During a complete cycle of operations, a system is subjected to the following heat transfers; 800 kJ supplied and 550 kJ rejected. At two points, work is done by the system to the extent of 96 </a:t>
            </a:r>
            <a:r>
              <a:rPr lang="en-US" sz="2400" dirty="0" err="1"/>
              <a:t>kNm</a:t>
            </a:r>
            <a:r>
              <a:rPr lang="en-US" sz="2400" dirty="0"/>
              <a:t> and 20 </a:t>
            </a:r>
            <a:r>
              <a:rPr lang="en-US" sz="2400" dirty="0" err="1"/>
              <a:t>kNm</a:t>
            </a:r>
            <a:r>
              <a:rPr lang="en-US" sz="2400" dirty="0"/>
              <a:t>. At a third point, there is a further work transfer.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Determine its amount and state whether it is work done by or on the system.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997388" y="1048871"/>
                <a:ext cx="5634720" cy="501761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C00000"/>
                    </a:solidFill>
                  </a:rPr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𝐢𝐧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𝐨𝐮𝐭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=+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𝟐𝟓𝟎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𝐤𝐉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𝐧𝐞𝐭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𝟗𝟔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𝟏𝟏𝟔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𝐤𝐉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dirty="0"/>
                  <a:t>From the first law equation for a stationary closed system undergoing a cycle,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+250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(116+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=+134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kJ</m:t>
                      </m:r>
                    </m:oMath>
                  </m:oMathPara>
                </a14:m>
                <a:endParaRPr lang="en-US" sz="24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dirty="0"/>
                  <a:t>Hence work is done by the system.</a:t>
                </a:r>
              </a:p>
            </p:txBody>
          </p:sp>
        </mc:Choice>
        <mc:Fallback xmlns="">
          <p:sp>
            <p:nvSpPr>
              <p:cNvPr id="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997388" y="1048871"/>
                <a:ext cx="5634720" cy="5017613"/>
              </a:xfrm>
              <a:blipFill rotWithShape="0">
                <a:blip r:embed="rId2"/>
                <a:stretch>
                  <a:fillRect l="-1948" t="-1215" r="-2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42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150224" y="1021976"/>
                <a:ext cx="6764272" cy="510988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dirty="0">
                    <a:solidFill>
                      <a:srgbClr val="C00000"/>
                    </a:solidFill>
                  </a:rPr>
                  <a:t>The boundary work due to expansion of a fluid in a thermodynamic system is given by,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𝛅</m:t>
                      </m:r>
                      <m:r>
                        <a:rPr lang="en-US" sz="24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𝐖</m:t>
                      </m:r>
                      <m:r>
                        <a:rPr lang="en-US" sz="24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𝐏𝐝𝐕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If the volume of the fluid is to remain constant, 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0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2060"/>
                    </a:solidFill>
                  </a:rPr>
                  <a:t>Hence no energy transfer in the form of work can take place during a constant volume process.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C00000"/>
                    </a:solidFill>
                  </a:rPr>
                  <a:t>Therefore, for a constant volume process of a fluid, the NFEE 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 above equation shows that during a constant volume process of a fluid, the net amount of heat energy transfer is equal to the change in internal energy of the fluid.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50224" y="1021976"/>
                <a:ext cx="6764272" cy="5109883"/>
              </a:xfrm>
              <a:blipFill rotWithShape="0">
                <a:blip r:embed="rId2"/>
                <a:stretch>
                  <a:fillRect l="-1262" t="-955" r="-1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452509" y="1021976"/>
                <a:ext cx="4469115" cy="49888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dirty="0"/>
                  <a:t>For a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stationary closed system </a:t>
                </a:r>
                <a:r>
                  <a:rPr lang="en-US" sz="2400" dirty="0"/>
                  <a:t>undergoing a process from initial state 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 to a final state (f); the first law equation becomes;</a:t>
                </a:r>
              </a:p>
              <a:p>
                <a:pPr marL="0" indent="0">
                  <a:lnSpc>
                    <a:spcPct val="50000"/>
                  </a:lnSpc>
                  <a:buNone/>
                </a:pP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  <m:sup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𝐟</m:t>
                          </m:r>
                        </m:sup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𝛅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𝐐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undOvr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</m:sub>
                            <m:sup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</m:t>
                              </m:r>
                            </m:sup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𝛅</m:t>
                              </m:r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𝐖</m:t>
                              </m:r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20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  <m:sup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𝐟</m:t>
                                  </m:r>
                                </m:sup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𝐝𝐔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2000" b="1" dirty="0"/>
              </a:p>
              <a:p>
                <a:pPr marL="0" indent="0">
                  <a:lnSpc>
                    <a:spcPct val="50000"/>
                  </a:lnSpc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𝐢𝐟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𝐢𝐟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002060"/>
                    </a:solidFill>
                  </a:rPr>
                  <a:t>     </a:t>
                </a:r>
                <a:r>
                  <a:rPr lang="en-US" sz="2000" b="1" dirty="0"/>
                  <a:t>(J)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2000" b="1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dirty="0"/>
                  <a:t>On a unit mass basis, </a:t>
                </a: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sz="20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𝐢𝐟</m:t>
                        </m:r>
                      </m:sub>
                    </m:sSub>
                    <m:r>
                      <a:rPr lang="en-US" sz="20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sz="20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𝐢𝐟</m:t>
                        </m:r>
                      </m:sub>
                    </m:sSub>
                    <m:r>
                      <a:rPr lang="en-US" sz="20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0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sub>
                    </m:sSub>
                    <m:r>
                      <a:rPr lang="en-US" sz="20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0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sz="2000" b="1" dirty="0"/>
                  <a:t>    (J/kg)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09" y="1021976"/>
                <a:ext cx="4469115" cy="4988859"/>
              </a:xfrm>
              <a:prstGeom prst="rect">
                <a:avLst/>
              </a:prstGeom>
              <a:blipFill rotWithShape="0">
                <a:blip r:embed="rId3"/>
                <a:stretch>
                  <a:fillRect l="-1774" t="-978" r="-3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20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150224" y="1021976"/>
                <a:ext cx="6764272" cy="5256629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dirty="0">
                    <a:solidFill>
                      <a:srgbClr val="C00000"/>
                    </a:solidFill>
                  </a:rPr>
                  <a:t>The boundary work due to expansion of a fluid in a thermodynamic system is given by,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𝑷𝒅𝑽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If the pressure of the fluid is to remain constant during a process from an initial state 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to a final state (f), the work transfer becomes;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Therefore, for a constant pressure process of a fluid, the NFEE 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50000"/>
                  </a:lnSpc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 above equation shows that during a constant pressure process of a fluid, the net amount of heat energy transfer is equal to the change in the enthalpy of the fluid.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50224" y="1021976"/>
                <a:ext cx="6764272" cy="5256629"/>
              </a:xfrm>
              <a:blipFill rotWithShape="0">
                <a:blip r:embed="rId3"/>
                <a:stretch>
                  <a:fillRect l="-1262" t="-928" r="-1082" b="-3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2509" y="1021976"/>
            <a:ext cx="4697715" cy="4988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In thermodynamics, it is common to group properties when they appear consistently. A name is then given to the group.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One of such group is a property called enthalpy (H)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C00000"/>
                </a:solidFill>
              </a:rPr>
              <a:t>For specific enthalpy (enthalpy per unit mass),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C00000"/>
              </a:solidFill>
            </a:endParaRPr>
          </a:p>
        </p:txBody>
      </p:sp>
      <p:graphicFrame>
        <p:nvGraphicFramePr>
          <p:cNvPr id="6" name="Object 1" descr="Canva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607424"/>
              </p:ext>
            </p:extLst>
          </p:nvPr>
        </p:nvGraphicFramePr>
        <p:xfrm>
          <a:off x="942492" y="3516404"/>
          <a:ext cx="3023452" cy="65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" name="Equation" r:id="rId4" imgW="876240" imgH="203040" progId="">
                  <p:embed/>
                </p:oleObj>
              </mc:Choice>
              <mc:Fallback>
                <p:oleObj name="Equation" r:id="rId4" imgW="876240" imgH="2030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492" y="3516404"/>
                        <a:ext cx="3023452" cy="652225"/>
                      </a:xfrm>
                      <a:prstGeom prst="rect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 descr="Canva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144398"/>
              </p:ext>
            </p:extLst>
          </p:nvPr>
        </p:nvGraphicFramePr>
        <p:xfrm>
          <a:off x="869368" y="5104090"/>
          <a:ext cx="1981200" cy="52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Equation" r:id="rId7" imgW="774360" imgH="203040" progId="">
                  <p:embed/>
                </p:oleObj>
              </mc:Choice>
              <mc:Fallback>
                <p:oleObj name="Equation" r:id="rId7" imgW="774360" imgH="2030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368" y="5104090"/>
                        <a:ext cx="1981200" cy="520315"/>
                      </a:xfrm>
                      <a:prstGeom prst="rect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553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150224" y="1021976"/>
                <a:ext cx="6764272" cy="525662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Polytropic process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This is the most general type of process, in which both heat energy and work energy cross the boundary of the system.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b="0" dirty="0"/>
                  <a:t>It is represented by an equation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𝐏𝐕</m:t>
                          </m:r>
                        </m:e>
                        <m:sup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</m:sSup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𝐜𝐨𝐧𝐬𝐭𝐚𝐧𝐭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b="0" dirty="0"/>
                  <a:t>Where n, is a constant known as the index of expansion (or compression).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If a fluid changes from an initial state 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to a final state (f) during a polytropic process, the amount of work energy crossing the boundary is given by</a:t>
                </a: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𝐢𝐟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sub>
                          </m:sSub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b="1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 above equation is valid for all values of n, except n=1.</a:t>
                </a:r>
              </a:p>
              <a:p>
                <a:pPr marL="0" indent="0">
                  <a:buNone/>
                </a:pPr>
                <a:endParaRPr lang="en-US" sz="2000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50224" y="1021976"/>
                <a:ext cx="6764272" cy="5256629"/>
              </a:xfrm>
              <a:blipFill rotWithShape="0">
                <a:blip r:embed="rId2"/>
                <a:stretch>
                  <a:fillRect l="-1443" t="-928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452509" y="1021976"/>
                <a:ext cx="4697715" cy="52566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Adiabatic process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If there is no heat transfer to or from the system during a process from an initial state 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to a final state (f), the heat transfer becomes zero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a:rPr lang="en-US" sz="2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2060"/>
                    </a:solidFill>
                  </a:rPr>
                  <a:t>Therefore, for an adiabatic process of a fluid, the NFEE becomes</a:t>
                </a: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𝐢𝐟</m:t>
                          </m:r>
                        </m:sub>
                      </m:sSub>
                      <m:r>
                        <a:rPr lang="en-US" sz="20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r>
                            <a:rPr lang="en-US" sz="2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sub>
                      </m:sSub>
                      <m:r>
                        <a:rPr lang="en-US" sz="20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r>
                            <a:rPr lang="en-US" sz="20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𝐢𝐟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𝐟</m:t>
                          </m:r>
                        </m:sub>
                      </m:sSub>
                    </m:oMath>
                  </m:oMathPara>
                </a14:m>
                <a:endParaRPr lang="en-US" sz="2200" b="1" dirty="0"/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The above equation indicates that during an adiabatic process of a fluid, the net amount of work energy transfer is equal to the change in the internal energy of the fluid.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09" y="1021976"/>
                <a:ext cx="4697715" cy="5256629"/>
              </a:xfrm>
              <a:prstGeom prst="rect">
                <a:avLst/>
              </a:prstGeom>
              <a:blipFill rotWithShape="0">
                <a:blip r:embed="rId3"/>
                <a:stretch>
                  <a:fillRect l="-1946" t="-928" r="-778" b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43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150224" y="1021976"/>
                <a:ext cx="6764272" cy="5256629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dirty="0"/>
                  <a:t>For the case of n = 1, the polytropic relation 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𝐏𝐕</m:t>
                      </m:r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𝐜𝐨𝐧𝐬𝐭𝐚𝐧𝐭</m:t>
                      </m:r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dirty="0"/>
                  <a:t>If a fluid changes from an initial state 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 to a final state (f) during a polytropic process where n = 1, the amount of work energy crossing the boundary is given by</a:t>
                </a: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𝐢𝐟</m:t>
                          </m:r>
                        </m:sub>
                      </m:sSub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𝐥𝐧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den>
                      </m:f>
                      <m:r>
                        <a:rPr lang="en-US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sub>
                      </m:sSub>
                      <m:r>
                        <a:rPr lang="en-US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𝐥𝐧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50224" y="1021976"/>
                <a:ext cx="6764272" cy="5256629"/>
              </a:xfrm>
              <a:blipFill rotWithShape="0">
                <a:blip r:embed="rId2"/>
                <a:stretch>
                  <a:fillRect l="-1262" t="-928" r="-2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2509" y="1021976"/>
            <a:ext cx="4697715" cy="5256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Polytropic process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A plot of pressure against volume for a polytropic process.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09" y="2257280"/>
            <a:ext cx="4635420" cy="402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1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for Closed Systems: Problems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244353" y="1021976"/>
                <a:ext cx="6670143" cy="498885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Solution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From the non-flow energy equation for a closed system undergoing a process from initial state,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to a final state, f;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Since volume is constant during the process, it implies that the work energy crossing the boundary of the system is zero. Thus;</a:t>
                </a:r>
              </a:p>
              <a:p>
                <a:pPr marL="0" indent="0">
                  <a:buNone/>
                </a:pPr>
                <a:r>
                  <a:rPr lang="en-US" sz="2000" i="1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if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=0</a:t>
                </a: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Hence, the NFEE reduces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50000"/>
                  </a:lnSpc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kg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180</m:t>
                          </m:r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e>
                      </m:d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kg</m:t>
                          </m:r>
                        </m:den>
                      </m:f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𝟏𝟐𝟎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𝐤𝐉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44353" y="1021976"/>
                <a:ext cx="6670143" cy="4988859"/>
              </a:xfrm>
              <a:blipFill rotWithShape="0">
                <a:blip r:embed="rId2"/>
                <a:stretch>
                  <a:fillRect l="-1828" t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2510" y="1021976"/>
            <a:ext cx="4496008" cy="4988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Problem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The specific internal energy of a fluid is increased from 120 kJ/kg to 180 kJ/kg during a constant volume process. Determine the amount of heat energy required to bring about this increase for 2 kg of the fluid.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Suggested Answer: [120 kJ]</a:t>
            </a:r>
          </a:p>
        </p:txBody>
      </p:sp>
    </p:spTree>
    <p:extLst>
      <p:ext uri="{BB962C8B-B14F-4D97-AF65-F5344CB8AC3E}">
        <p14:creationId xmlns:p14="http://schemas.microsoft.com/office/powerpoint/2010/main" val="326373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for Closed Systems: Problems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600" y="1206868"/>
            <a:ext cx="11466729" cy="46257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Problem 2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2.25 kg of a fluid having a volume of 0.1 m</a:t>
            </a:r>
            <a:r>
              <a:rPr lang="en-US" baseline="30000" dirty="0"/>
              <a:t>3</a:t>
            </a:r>
            <a:r>
              <a:rPr lang="en-US" dirty="0"/>
              <a:t> are contained in a cylinder at a constant pressure of 7 bar. Heat energy is supplied to the fluid until the volume becomes 0.2 m</a:t>
            </a:r>
            <a:r>
              <a:rPr lang="en-US" baseline="30000" dirty="0"/>
              <a:t>3</a:t>
            </a:r>
            <a:r>
              <a:rPr lang="en-US" dirty="0"/>
              <a:t>. If the initial and final specific enthalpies of the fluid are 210 kJ/kg and 280 kJ/kg, respectively, determine,</a:t>
            </a:r>
          </a:p>
          <a:p>
            <a:pPr marL="0" indent="0">
              <a:buNone/>
            </a:pPr>
            <a:r>
              <a:rPr lang="en-US" b="0" dirty="0"/>
              <a:t>(a) the quantity of heat energy supplied to the fluid</a:t>
            </a:r>
          </a:p>
          <a:p>
            <a:pPr marL="0" indent="0">
              <a:buNone/>
            </a:pPr>
            <a:r>
              <a:rPr lang="en-US" dirty="0"/>
              <a:t>(b) the change in internal energy of the fluid.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2060"/>
                </a:solidFill>
              </a:rPr>
              <a:t>Suggested Answer: [(a) 157.5 kJ; (b) 87.5 kJ]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151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for Closed Systems: Problems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20271" y="1021976"/>
                <a:ext cx="10448364" cy="498885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Solution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For a closed system undergoing a constant pressure process from initial state,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to a final state, f, the heat energy crossing the boundary of the system is given by;</a:t>
                </a: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2.25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kg</m:t>
                      </m:r>
                      <m:r>
                        <a:rPr lang="en-US" sz="2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280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210</m:t>
                          </m:r>
                        </m:e>
                      </m:d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kg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𝟓𝟕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𝐤𝐉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Since pressure is constant during the process, it implies that the work energy crossing the boundary of the system is given by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if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=700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kPa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0.2−0.1</m:t>
                        </m:r>
                      </m:e>
                    </m:d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𝟕𝟎</m:t>
                    </m:r>
                    <m:r>
                      <a:rPr lang="en-US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𝐤𝐉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Hence, from the non-flow energy equation,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=157.5−70=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𝟖𝟕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𝐤𝐉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20271" y="1021976"/>
                <a:ext cx="10448364" cy="4988859"/>
              </a:xfrm>
              <a:blipFill rotWithShape="0">
                <a:blip r:embed="rId2"/>
                <a:stretch>
                  <a:fillRect l="-1225" t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67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for Closed Systems: Problems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2510" y="1021976"/>
            <a:ext cx="4496008" cy="4988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Problem 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During an adiabatic expansion process, 0.5 kg of fluid transfers 43.5 kJ of work energy. Determine the change in specific internal energy of the fluid during the process.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Suggested Answer: [-87 kJ/kg; The internal energy decreases during the process]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244353" y="1021976"/>
                <a:ext cx="6670143" cy="498885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Solution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From the non-flow energy equation for a closed system undergoing a process from initial state,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to a final state, f;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Since the process is adiabatic , it implies that the heat energy crossing the boundary of the system is zero. Thus;</a:t>
                </a:r>
              </a:p>
              <a:p>
                <a:pPr marL="0" indent="0">
                  <a:buNone/>
                </a:pPr>
                <a:r>
                  <a:rPr lang="en-US" sz="2000" i="1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if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0</a:t>
                </a:r>
              </a:p>
              <a:p>
                <a:pPr>
                  <a:lnSpc>
                    <a:spcPct val="50000"/>
                  </a:lnSpc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Hence, the NFEE reduces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if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50000"/>
                  </a:lnSpc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−43.5</m:t>
                          </m:r>
                        </m:num>
                        <m:den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den>
                      </m:f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𝟖𝟕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𝐤𝐉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𝐤𝐠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44353" y="1021976"/>
                <a:ext cx="6670143" cy="4988859"/>
              </a:xfrm>
              <a:blipFill rotWithShape="0">
                <a:blip r:embed="rId2"/>
                <a:stretch>
                  <a:fillRect l="-1828" t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63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for Closed Systems: Problems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6176" y="1048870"/>
            <a:ext cx="11308977" cy="5256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Problem 4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cylinder contains 0.07 kg of fluid having a pressure of 1 bar, a volume of 0.06 m</a:t>
            </a:r>
            <a:r>
              <a:rPr lang="en-US" baseline="30000" dirty="0"/>
              <a:t>3</a:t>
            </a:r>
            <a:r>
              <a:rPr lang="en-US" dirty="0"/>
              <a:t> and a specific internal energy of 200 kJ/kg. After polytropic compression, the pressure and volume of the fluid  are 9 bar and 0.0111 m</a:t>
            </a:r>
            <a:r>
              <a:rPr lang="en-US" baseline="30000" dirty="0"/>
              <a:t>3</a:t>
            </a:r>
            <a:r>
              <a:rPr lang="en-US" dirty="0"/>
              <a:t>, respectively, and the specific internal energy is 370 kJ/kg. Determine,</a:t>
            </a:r>
          </a:p>
          <a:p>
            <a:pPr marL="0" indent="0">
              <a:buNone/>
            </a:pPr>
            <a:r>
              <a:rPr lang="en-US" b="0" dirty="0"/>
              <a:t>(a) the amount of work energy required for the compression</a:t>
            </a:r>
          </a:p>
          <a:p>
            <a:pPr marL="0" indent="0">
              <a:buNone/>
            </a:pPr>
            <a:r>
              <a:rPr lang="en-US" dirty="0"/>
              <a:t>(b) the quantity and direction of heat energy flow during the compression.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2060"/>
                </a:solidFill>
              </a:rPr>
              <a:t>Suggested Answers: [(a) -13.2 kJ; (b) -1.3 kJ]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45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First Law for Closed Systems: Problems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14246" y="1048869"/>
            <a:ext cx="5580529" cy="5256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Problem 6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 quantity of fluid occupies 0.56 m</a:t>
            </a:r>
            <a:r>
              <a:rPr lang="en-US" sz="2400" baseline="30000" dirty="0"/>
              <a:t>3</a:t>
            </a:r>
            <a:r>
              <a:rPr lang="en-US" sz="2400" dirty="0"/>
              <a:t> at 1 bar. After a compression which follows the law 	</a:t>
            </a:r>
            <a:r>
              <a:rPr lang="en-US" sz="2400" i="1" dirty="0" err="1"/>
              <a:t>PV</a:t>
            </a:r>
            <a:r>
              <a:rPr lang="en-US" sz="2400" i="1" baseline="30000" dirty="0" err="1"/>
              <a:t>n</a:t>
            </a:r>
            <a:r>
              <a:rPr lang="en-US" sz="2400" i="1" dirty="0"/>
              <a:t> = </a:t>
            </a:r>
            <a:r>
              <a:rPr lang="en-US" sz="2400" dirty="0"/>
              <a:t>constant, the pressure and the volume are 6.3 bar and 0.14 m</a:t>
            </a:r>
            <a:r>
              <a:rPr lang="en-US" sz="2400" baseline="30000" dirty="0"/>
              <a:t>3 </a:t>
            </a:r>
            <a:r>
              <a:rPr lang="en-US" sz="2400" dirty="0"/>
              <a:t>respectively. Calculate the value of the index, n and the work energy transfer.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If the internal energy of the fluid increases by 85 kJ during the process, calculate the heat energy transfer.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Suggested Answers: [(a)1.328; -98.2 kJ; (b) -13.2 kJ]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2508" y="1021975"/>
            <a:ext cx="5356621" cy="5256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Problem 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 piston–cylinder device containing 25 g of fluid expands at a constant pressure of 300 </a:t>
            </a:r>
            <a:r>
              <a:rPr lang="en-US" sz="2400" dirty="0" err="1"/>
              <a:t>kPa</a:t>
            </a:r>
            <a:r>
              <a:rPr lang="en-US" sz="2400" dirty="0"/>
              <a:t>. The initial specific enthalpy of the fluid is 2725kJ/kg. A resistance heater within the cylinder is turned on and passes a current of 0.2 A for 5 min from a 120-V source. At the same time, a heat loss of 3.7 kJ occurs. Determine the final specific enthalpy of the fluid.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Suggested Answer: [2865 kJ/kg]</a:t>
            </a:r>
          </a:p>
        </p:txBody>
      </p:sp>
    </p:spTree>
    <p:extLst>
      <p:ext uri="{BB962C8B-B14F-4D97-AF65-F5344CB8AC3E}">
        <p14:creationId xmlns:p14="http://schemas.microsoft.com/office/powerpoint/2010/main" val="347060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1337" y="283087"/>
            <a:ext cx="11198086" cy="59269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10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8" name="Picture 2" descr="7,473 Thank You Business Stock Photos, Pictures &amp; Royalty-Free Images - 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198" y="1988579"/>
            <a:ext cx="7532942" cy="350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64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42238</TotalTime>
  <Words>2036</Words>
  <Application>Microsoft Office PowerPoint</Application>
  <PresentationFormat>Widescreen</PresentationFormat>
  <Paragraphs>211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Cambria Math</vt:lpstr>
      <vt:lpstr>Eras Demi ITC</vt:lpstr>
      <vt:lpstr>Garamond</vt:lpstr>
      <vt:lpstr>Georgia</vt:lpstr>
      <vt:lpstr>Helvetica</vt:lpstr>
      <vt:lpstr>Wingdings</vt:lpstr>
      <vt:lpstr>Office Theme</vt:lpstr>
      <vt:lpstr>Equation</vt:lpstr>
      <vt:lpstr>THERMODYNAMICS I (ME 265) 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for Closed Systems: Problems</vt:lpstr>
      <vt:lpstr>First Law for Closed Systems: Problems</vt:lpstr>
      <vt:lpstr>First Law for Closed Systems: Problems</vt:lpstr>
      <vt:lpstr>First Law for Closed Systems: Problems</vt:lpstr>
      <vt:lpstr>First Law for Closed Systems: Problems</vt:lpstr>
      <vt:lpstr>First Law for Closed Systems: Problems</vt:lpstr>
      <vt:lpstr>PowerPoint Presentation</vt:lpstr>
    </vt:vector>
  </TitlesOfParts>
  <Company>UPK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HP</cp:lastModifiedBy>
  <cp:revision>811</cp:revision>
  <dcterms:created xsi:type="dcterms:W3CDTF">2016-11-07T15:28:41Z</dcterms:created>
  <dcterms:modified xsi:type="dcterms:W3CDTF">2021-12-01T10:07:57Z</dcterms:modified>
</cp:coreProperties>
</file>