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handoutMasterIdLst>
    <p:handoutMasterId r:id="rId41"/>
  </p:handoutMasterIdLst>
  <p:sldIdLst>
    <p:sldId id="503" r:id="rId2"/>
    <p:sldId id="744" r:id="rId3"/>
    <p:sldId id="699" r:id="rId4"/>
    <p:sldId id="748" r:id="rId5"/>
    <p:sldId id="747" r:id="rId6"/>
    <p:sldId id="733" r:id="rId7"/>
    <p:sldId id="734" r:id="rId8"/>
    <p:sldId id="735" r:id="rId9"/>
    <p:sldId id="736" r:id="rId10"/>
    <p:sldId id="738" r:id="rId11"/>
    <p:sldId id="737" r:id="rId12"/>
    <p:sldId id="739" r:id="rId13"/>
    <p:sldId id="740" r:id="rId14"/>
    <p:sldId id="746" r:id="rId15"/>
    <p:sldId id="745" r:id="rId16"/>
    <p:sldId id="742" r:id="rId17"/>
    <p:sldId id="743" r:id="rId18"/>
    <p:sldId id="749" r:id="rId19"/>
    <p:sldId id="750" r:id="rId20"/>
    <p:sldId id="751" r:id="rId21"/>
    <p:sldId id="752" r:id="rId22"/>
    <p:sldId id="753" r:id="rId23"/>
    <p:sldId id="754" r:id="rId24"/>
    <p:sldId id="755" r:id="rId25"/>
    <p:sldId id="756" r:id="rId26"/>
    <p:sldId id="757" r:id="rId27"/>
    <p:sldId id="758" r:id="rId28"/>
    <p:sldId id="759" r:id="rId29"/>
    <p:sldId id="760" r:id="rId30"/>
    <p:sldId id="761" r:id="rId31"/>
    <p:sldId id="762" r:id="rId32"/>
    <p:sldId id="763" r:id="rId33"/>
    <p:sldId id="764" r:id="rId34"/>
    <p:sldId id="765" r:id="rId35"/>
    <p:sldId id="766" r:id="rId36"/>
    <p:sldId id="767" r:id="rId37"/>
    <p:sldId id="768" r:id="rId38"/>
    <p:sldId id="54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221" autoAdjust="0"/>
    <p:restoredTop sz="94660"/>
  </p:normalViewPr>
  <p:slideViewPr>
    <p:cSldViewPr snapToGrid="0" snapToObjects="1">
      <p:cViewPr varScale="1">
        <p:scale>
          <a:sx n="73" d="100"/>
          <a:sy n="73" d="100"/>
        </p:scale>
        <p:origin x="204" y="5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847608-6ABE-4504-86B5-76DC66B615AB}" type="datetimeFigureOut">
              <a:rPr lang="en-US" smtClean="0"/>
              <a:t>5/10/2022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7764DC-64CD-49E5-9D34-444ECD2251CF}" type="slidenum">
              <a:rPr lang="en-US" smtClean="0"/>
              <a:t>‹#›</a:t>
            </a:fld>
            <a:endParaRPr lang="en-US"/>
          </a:p>
        </p:txBody>
      </p:sp>
    </p:spTree>
    <p:extLst>
      <p:ext uri="{BB962C8B-B14F-4D97-AF65-F5344CB8AC3E}">
        <p14:creationId xmlns:p14="http://schemas.microsoft.com/office/powerpoint/2010/main" val="2155437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5/10/2022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3.jpe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2076DD-8797-46B9-BAA0-1118061A3B20}" type="datetime1">
              <a:rPr lang="en-US" smtClean="0"/>
              <a:t>5/10/2022</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7CC460-5DEC-4F9C-AE86-3A65EBEA6D5D}" type="datetime1">
              <a:rPr lang="en-US" smtClean="0"/>
              <a:t>5/10/2022</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D7EC4-0FAA-4E2B-9A38-6D09C67DA3A1}" type="datetime1">
              <a:rPr lang="en-US" smtClean="0"/>
              <a:t>5/10/2022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8C2406-8828-418B-8809-38D0A9920C77}" type="datetime1">
              <a:rPr lang="en-US" smtClean="0"/>
              <a:t>5/10/2022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115C99-0020-4D01-8567-E31F48D46E49}" type="datetime1">
              <a:rPr lang="en-US" smtClean="0"/>
              <a:t>5/10/2022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BD30C0AC-B421-4F27-B629-B4BF5EA43D28}" type="datetime1">
              <a:rPr lang="en-US" smtClean="0"/>
              <a:t>5/10/2022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468E7F-7F5B-4B1A-A083-B461A23AA8FA}" type="datetime1">
              <a:rPr lang="en-US" smtClean="0"/>
              <a:t>5/10/2022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2FB52-87DB-4D57-8A37-3B02874B479C}" type="datetime1">
              <a:rPr lang="en-US" smtClean="0"/>
              <a:t>5/10/2022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32A186-4EFB-4B8E-AB2B-86BDDA713B27}" type="datetime1">
              <a:rPr lang="en-US" smtClean="0"/>
              <a:t>5/10/2022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EFC1A-4AC2-4AAF-A501-06099FF0D626}" type="datetime1">
              <a:rPr lang="en-US" smtClean="0"/>
              <a:t>5/10/2022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873F44-2E53-4BAA-A8EA-A81B2EB64AD8}" type="datetime1">
              <a:rPr lang="en-US" smtClean="0"/>
              <a:t>5/10/2022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88C0D-608D-44E2-B7D7-7A7555FE1132}" type="datetime1">
              <a:rPr lang="en-US" smtClean="0"/>
              <a:t>5/10/2022</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4.bin"/><Relationship Id="rId4" Type="http://schemas.openxmlformats.org/officeDocument/2006/relationships/image" Target="../media/image13.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emf"/><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2.wmf"/><Relationship Id="rId5" Type="http://schemas.openxmlformats.org/officeDocument/2006/relationships/oleObject" Target="../embeddings/oleObject8.bin"/><Relationship Id="rId4" Type="http://schemas.openxmlformats.org/officeDocument/2006/relationships/image" Target="../media/image31.wmf"/></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5.wmf"/><Relationship Id="rId5" Type="http://schemas.openxmlformats.org/officeDocument/2006/relationships/oleObject" Target="../embeddings/oleObject11.bin"/><Relationship Id="rId4" Type="http://schemas.openxmlformats.org/officeDocument/2006/relationships/image" Target="../media/image34.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6.emf"/><Relationship Id="rId4" Type="http://schemas.openxmlformats.org/officeDocument/2006/relationships/image" Target="../media/image34.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7.emf"/><Relationship Id="rId4" Type="http://schemas.openxmlformats.org/officeDocument/2006/relationships/image" Target="../media/image3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8.emf"/><Relationship Id="rId4" Type="http://schemas.openxmlformats.org/officeDocument/2006/relationships/image" Target="../media/image35.wmf"/></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352540" y="949448"/>
            <a:ext cx="11149069" cy="1031752"/>
          </a:xfrm>
        </p:spPr>
        <p:txBody>
          <a:bodyPr vert="horz" lIns="68580" tIns="34290" rIns="68580" bIns="34290" rtlCol="0" anchor="b">
            <a:noAutofit/>
          </a:bodyPr>
          <a:lstStyle/>
          <a:p>
            <a:r>
              <a:rPr lang="en-GB" sz="3200" b="1" dirty="0">
                <a:solidFill>
                  <a:srgbClr val="0070C0"/>
                </a:solidFill>
                <a:latin typeface="Georgia" panose="02040502050405020303" pitchFamily="18" charset="0"/>
              </a:rPr>
              <a:t>THERMODYNAMICS I (ME 265)</a:t>
            </a:r>
            <a:r>
              <a:rPr lang="en-GB" sz="3200" b="1" dirty="0">
                <a:solidFill>
                  <a:srgbClr val="0070C0"/>
                </a:solidFill>
                <a:latin typeface="Eras Demi ITC" panose="020B0805030504020804" pitchFamily="34" charset="0"/>
              </a:rPr>
              <a:t/>
            </a:r>
            <a:br>
              <a:rPr lang="en-GB" sz="3200" b="1" dirty="0">
                <a:solidFill>
                  <a:srgbClr val="0070C0"/>
                </a:solidFill>
                <a:latin typeface="Eras Demi ITC" panose="020B0805030504020804" pitchFamily="34" charset="0"/>
              </a:rPr>
            </a:br>
            <a:endParaRPr lang="en-GB" sz="3200" dirty="0">
              <a:latin typeface="Eras Demi ITC" panose="020B0805030504020804" pitchFamily="34" charset="0"/>
            </a:endParaRPr>
          </a:p>
        </p:txBody>
      </p:sp>
      <p:sp>
        <p:nvSpPr>
          <p:cNvPr id="11" name="Subtitle 2"/>
          <p:cNvSpPr txBox="1">
            <a:spLocks/>
          </p:cNvSpPr>
          <p:nvPr/>
        </p:nvSpPr>
        <p:spPr>
          <a:xfrm>
            <a:off x="1809245" y="5405717"/>
            <a:ext cx="8432872" cy="121128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bg1">
                    <a:lumMod val="50000"/>
                  </a:schemeClr>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smtClean="0">
                <a:solidFill>
                  <a:schemeClr val="tx1"/>
                </a:solidFill>
                <a:latin typeface="Helvetica"/>
                <a:cs typeface="Helvetica"/>
              </a:rPr>
              <a:t>Francis </a:t>
            </a:r>
            <a:r>
              <a:rPr lang="en-US" sz="2400" b="1" dirty="0">
                <a:solidFill>
                  <a:schemeClr val="tx1"/>
                </a:solidFill>
                <a:latin typeface="Helvetica"/>
                <a:cs typeface="Helvetica"/>
              </a:rPr>
              <a:t>Kofi Forson </a:t>
            </a:r>
            <a:r>
              <a:rPr lang="en-US" sz="2400" b="1" dirty="0" smtClean="0">
                <a:solidFill>
                  <a:schemeClr val="tx1"/>
                </a:solidFill>
                <a:latin typeface="Helvetica"/>
                <a:cs typeface="Helvetica"/>
              </a:rPr>
              <a:t>(Professor)</a:t>
            </a:r>
          </a:p>
          <a:p>
            <a:r>
              <a:rPr lang="en-US" sz="1800" b="1" dirty="0" smtClean="0">
                <a:latin typeface="Helvetica"/>
                <a:cs typeface="Helvetica"/>
              </a:rPr>
              <a:t>Department of Mechanical Engineering</a:t>
            </a:r>
          </a:p>
          <a:p>
            <a:r>
              <a:rPr lang="en-US" sz="1800" b="1" dirty="0" smtClean="0">
                <a:latin typeface="Helvetica"/>
                <a:cs typeface="Helvetica"/>
              </a:rPr>
              <a:t>Kwame </a:t>
            </a:r>
            <a:r>
              <a:rPr lang="en-US" sz="1800" b="1" dirty="0">
                <a:latin typeface="Helvetica"/>
                <a:cs typeface="Helvetica"/>
              </a:rPr>
              <a:t>Nkrumah University of Science and Technology, Kumasi, Ghana</a:t>
            </a:r>
          </a:p>
        </p:txBody>
      </p:sp>
      <p:sp>
        <p:nvSpPr>
          <p:cNvPr id="6" name="Text Placeholder 3">
            <a:extLst>
              <a:ext uri="{FF2B5EF4-FFF2-40B4-BE49-F238E27FC236}">
                <a16:creationId xmlns:a16="http://schemas.microsoft.com/office/drawing/2014/main" id="{E81EFB1F-8D7C-2F44-8B60-6C24E97F6990}"/>
              </a:ext>
            </a:extLst>
          </p:cNvPr>
          <p:cNvSpPr txBox="1">
            <a:spLocks/>
          </p:cNvSpPr>
          <p:nvPr/>
        </p:nvSpPr>
        <p:spPr>
          <a:xfrm>
            <a:off x="1346423" y="3992637"/>
            <a:ext cx="9814635" cy="111505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3600" b="1" dirty="0">
                <a:solidFill>
                  <a:srgbClr val="C00000"/>
                </a:solidFill>
                <a:latin typeface="Georgia" panose="02040502050405020303" pitchFamily="18" charset="0"/>
              </a:rPr>
              <a:t>PROPERTIES OF </a:t>
            </a:r>
            <a:r>
              <a:rPr lang="en-GB" sz="3600" b="1" dirty="0" smtClean="0">
                <a:solidFill>
                  <a:srgbClr val="C00000"/>
                </a:solidFill>
                <a:latin typeface="Georgia" panose="02040502050405020303" pitchFamily="18" charset="0"/>
              </a:rPr>
              <a:t>PURE SUBSTANCES AND INTRODUCTION TO VAPOUR POWER CYCLES</a:t>
            </a:r>
            <a:endParaRPr lang="en-GB" sz="3600" b="1" dirty="0">
              <a:solidFill>
                <a:srgbClr val="C00000"/>
              </a:solidFill>
              <a:latin typeface="Georgia" panose="02040502050405020303" pitchFamily="18" charset="0"/>
            </a:endParaRPr>
          </a:p>
        </p:txBody>
      </p:sp>
      <p:pic>
        <p:nvPicPr>
          <p:cNvPr id="1026" name="Picture 2" descr="The Emblem | Kwame Nkrumah University of Science and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113" y="1465324"/>
            <a:ext cx="1969135" cy="222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8710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Pure Substance</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953818"/>
            <a:ext cx="7420166" cy="5324787"/>
          </a:xfrm>
        </p:spPr>
        <p:txBody>
          <a:bodyPr>
            <a:noAutofit/>
          </a:bodyPr>
          <a:lstStyle/>
          <a:p>
            <a:pPr>
              <a:buFont typeface="Wingdings" panose="05000000000000000000" pitchFamily="2" charset="2"/>
              <a:buChar char="v"/>
            </a:pPr>
            <a:r>
              <a:rPr lang="en-US" sz="2400" dirty="0"/>
              <a:t>A substance that has a fixed chemical composition throughout is called a </a:t>
            </a:r>
            <a:r>
              <a:rPr lang="en-US" sz="2400" b="1" dirty="0">
                <a:solidFill>
                  <a:srgbClr val="C00000"/>
                </a:solidFill>
              </a:rPr>
              <a:t>pure substance </a:t>
            </a:r>
            <a:r>
              <a:rPr lang="en-US" sz="2400" dirty="0"/>
              <a:t>such as water, air, and nitrogen.</a:t>
            </a:r>
          </a:p>
          <a:p>
            <a:pPr>
              <a:buFont typeface="Wingdings" panose="05000000000000000000" pitchFamily="2" charset="2"/>
              <a:buChar char="v"/>
            </a:pPr>
            <a:r>
              <a:rPr lang="en-US" sz="2400" dirty="0"/>
              <a:t>A pure substance may exist in different phases. The three principal phases are solid, liquid, and gas. </a:t>
            </a:r>
          </a:p>
          <a:p>
            <a:pPr>
              <a:buFont typeface="Wingdings" panose="05000000000000000000" pitchFamily="2" charset="2"/>
              <a:buChar char="v"/>
            </a:pPr>
            <a:r>
              <a:rPr lang="en-US" sz="2400" dirty="0"/>
              <a:t>A </a:t>
            </a:r>
            <a:r>
              <a:rPr lang="en-US" sz="2400" b="1" dirty="0">
                <a:solidFill>
                  <a:srgbClr val="C00000"/>
                </a:solidFill>
              </a:rPr>
              <a:t>phase</a:t>
            </a:r>
            <a:r>
              <a:rPr lang="en-US" sz="2400" dirty="0"/>
              <a:t> is defined as having a distinct molecular arrangement that is homogenous throughout and separated from others (if any) by easily identifiable boundary surfaces.</a:t>
            </a:r>
          </a:p>
          <a:p>
            <a:pPr>
              <a:buFont typeface="Wingdings" panose="05000000000000000000" pitchFamily="2" charset="2"/>
              <a:buChar char="v"/>
            </a:pPr>
            <a:r>
              <a:rPr lang="en-US" sz="2400" dirty="0">
                <a:solidFill>
                  <a:srgbClr val="002060"/>
                </a:solidFill>
              </a:rPr>
              <a:t>A pure substance does not have to be of a single element or compound. A mixture of two or more phases of a pure substance is still a pure substance as long as the chemical composition of all phases is the same.</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a:t>
            </a:fld>
            <a:endParaRPr lang="en-US" dirty="0"/>
          </a:p>
        </p:txBody>
      </p:sp>
      <p:pic>
        <p:nvPicPr>
          <p:cNvPr id="6" name="Picture 5"/>
          <p:cNvPicPr>
            <a:picLocks noChangeAspect="1"/>
          </p:cNvPicPr>
          <p:nvPr/>
        </p:nvPicPr>
        <p:blipFill>
          <a:blip r:embed="rId2"/>
          <a:stretch>
            <a:fillRect/>
          </a:stretch>
        </p:blipFill>
        <p:spPr>
          <a:xfrm>
            <a:off x="7765099" y="1180539"/>
            <a:ext cx="4042588" cy="4615143"/>
          </a:xfrm>
          <a:prstGeom prst="rect">
            <a:avLst/>
          </a:prstGeom>
        </p:spPr>
      </p:pic>
    </p:spTree>
    <p:extLst>
      <p:ext uri="{BB962C8B-B14F-4D97-AF65-F5344CB8AC3E}">
        <p14:creationId xmlns:p14="http://schemas.microsoft.com/office/powerpoint/2010/main" val="38039603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6828058" cy="5068303"/>
          </a:xfrm>
        </p:spPr>
        <p:txBody>
          <a:bodyPr>
            <a:noAutofit/>
          </a:bodyPr>
          <a:lstStyle/>
          <a:p>
            <a:pPr>
              <a:buFont typeface="Wingdings" panose="05000000000000000000" pitchFamily="2" charset="2"/>
              <a:buChar char="v"/>
            </a:pPr>
            <a:r>
              <a:rPr lang="en-US" b="1" dirty="0">
                <a:solidFill>
                  <a:srgbClr val="002060"/>
                </a:solidFill>
              </a:rPr>
              <a:t>Matter may exist in the form of a solid, liquid or a gas.</a:t>
            </a:r>
          </a:p>
          <a:p>
            <a:pPr>
              <a:buFont typeface="Wingdings" panose="05000000000000000000" pitchFamily="2" charset="2"/>
              <a:buChar char="v"/>
            </a:pPr>
            <a:r>
              <a:rPr lang="en-US" dirty="0">
                <a:solidFill>
                  <a:srgbClr val="C00000"/>
                </a:solidFill>
              </a:rPr>
              <a:t>A</a:t>
            </a:r>
            <a:r>
              <a:rPr lang="en-US" dirty="0"/>
              <a:t> </a:t>
            </a:r>
            <a:r>
              <a:rPr lang="en-US" b="1" dirty="0">
                <a:solidFill>
                  <a:srgbClr val="002060"/>
                </a:solidFill>
              </a:rPr>
              <a:t>vapour</a:t>
            </a:r>
            <a:r>
              <a:rPr lang="en-US" dirty="0"/>
              <a:t> </a:t>
            </a:r>
            <a:r>
              <a:rPr lang="en-US" dirty="0">
                <a:solidFill>
                  <a:srgbClr val="C00000"/>
                </a:solidFill>
              </a:rPr>
              <a:t>is a gas existing at a temperature at which it can be liquefied by an increase of pressure.</a:t>
            </a:r>
          </a:p>
          <a:p>
            <a:pPr>
              <a:buFont typeface="Wingdings" panose="05000000000000000000" pitchFamily="2" charset="2"/>
              <a:buChar char="v"/>
            </a:pPr>
            <a:r>
              <a:rPr lang="en-US" b="1" dirty="0">
                <a:solidFill>
                  <a:srgbClr val="002060"/>
                </a:solidFill>
              </a:rPr>
              <a:t>State Postulate: </a:t>
            </a:r>
            <a:r>
              <a:rPr lang="en-US" dirty="0"/>
              <a:t>Two independent properties are needed to completely specify the state of a thermodynamic system. </a:t>
            </a:r>
          </a:p>
          <a:p>
            <a:pPr>
              <a:buFont typeface="Wingdings" panose="05000000000000000000" pitchFamily="2" charset="2"/>
              <a:buChar char="v"/>
            </a:pPr>
            <a:r>
              <a:rPr lang="en-US" dirty="0"/>
              <a:t>If these two independent properties are known, the other properties can be determined.</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a:t>
            </a:fld>
            <a:endParaRPr lang="en-US" dirty="0"/>
          </a:p>
        </p:txBody>
      </p:sp>
      <p:pic>
        <p:nvPicPr>
          <p:cNvPr id="5" name="Picture 4"/>
          <p:cNvPicPr>
            <a:picLocks noChangeAspect="1"/>
          </p:cNvPicPr>
          <p:nvPr/>
        </p:nvPicPr>
        <p:blipFill>
          <a:blip r:embed="rId2"/>
          <a:stretch>
            <a:fillRect/>
          </a:stretch>
        </p:blipFill>
        <p:spPr>
          <a:xfrm>
            <a:off x="7423711" y="1954906"/>
            <a:ext cx="4529547" cy="3264208"/>
          </a:xfrm>
          <a:prstGeom prst="rect">
            <a:avLst/>
          </a:prstGeom>
        </p:spPr>
      </p:pic>
    </p:spTree>
    <p:extLst>
      <p:ext uri="{BB962C8B-B14F-4D97-AF65-F5344CB8AC3E}">
        <p14:creationId xmlns:p14="http://schemas.microsoft.com/office/powerpoint/2010/main" val="25760987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sp>
        <p:nvSpPr>
          <p:cNvPr id="8" name="ZoneTexte 7"/>
          <p:cNvSpPr txBox="1"/>
          <p:nvPr/>
        </p:nvSpPr>
        <p:spPr bwMode="auto">
          <a:xfrm>
            <a:off x="609601" y="815088"/>
            <a:ext cx="11102787" cy="646331"/>
          </a:xfrm>
          <a:prstGeom prst="rect">
            <a:avLst/>
          </a:prstGeom>
          <a:noFill/>
        </p:spPr>
        <p:txBody>
          <a:bodyPr wrap="square">
            <a:spAutoFit/>
          </a:bodyPr>
          <a:lstStyle/>
          <a:p>
            <a:pPr algn="just">
              <a:lnSpc>
                <a:spcPct val="150000"/>
              </a:lnSpc>
            </a:pPr>
            <a:r>
              <a:rPr lang="en-US" sz="2400" b="1" dirty="0">
                <a:solidFill>
                  <a:srgbClr val="C00000"/>
                </a:solidFill>
                <a:latin typeface="Garamond" panose="02020404030301010803" pitchFamily="18" charset="0"/>
              </a:rPr>
              <a:t>Refrigeration cycle (Vapour-compression)</a:t>
            </a:r>
            <a:endParaRPr lang="fr-FR" sz="2000" b="1" dirty="0">
              <a:solidFill>
                <a:srgbClr val="C00000"/>
              </a:solidFill>
              <a:latin typeface="Garamond" panose="02020404030301010803" pitchFamily="18" charset="0"/>
            </a:endParaRPr>
          </a:p>
        </p:txBody>
      </p:sp>
      <p:sp>
        <p:nvSpPr>
          <p:cNvPr id="9" name="Footer Placeholder 57"/>
          <p:cNvSpPr>
            <a:spLocks noGrp="1"/>
          </p:cNvSpPr>
          <p:nvPr>
            <p:ph type="ftr" sz="quarter" idx="11"/>
          </p:nvPr>
        </p:nvSpPr>
        <p:spPr>
          <a:xfrm>
            <a:off x="4428564" y="6257038"/>
            <a:ext cx="2895600" cy="365125"/>
          </a:xfrm>
        </p:spPr>
        <p:txBody>
          <a:bodyPr/>
          <a:lstStyle/>
          <a:p>
            <a:pPr>
              <a:defRPr/>
            </a:pPr>
            <a:r>
              <a:rPr lang="nn-NO" sz="1100"/>
              <a:t>E. W. RAMDE</a:t>
            </a:r>
            <a:endParaRPr lang="en-US" sz="1100" dirty="0"/>
          </a:p>
        </p:txBody>
      </p:sp>
      <p:sp>
        <p:nvSpPr>
          <p:cNvPr id="10" name="Slide Number Placeholder 9"/>
          <p:cNvSpPr txBox="1">
            <a:spLocks/>
          </p:cNvSpPr>
          <p:nvPr/>
        </p:nvSpPr>
        <p:spPr>
          <a:xfrm>
            <a:off x="7857564" y="6257038"/>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2400" b="1" kern="1200">
                <a:solidFill>
                  <a:schemeClr val="bg1"/>
                </a:solidFill>
                <a:latin typeface="Garamond" panose="02020404030301010803"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03DBCDF7-E311-4DF4-9DB7-2F31CFF07753}" type="slidenum">
              <a:rPr lang="en-US" smtClean="0"/>
              <a:pPr>
                <a:defRPr/>
              </a:pPr>
              <a:t>4</a:t>
            </a:fld>
            <a:endParaRPr lang="en-US" dirty="0"/>
          </a:p>
        </p:txBody>
      </p:sp>
      <p:pic>
        <p:nvPicPr>
          <p:cNvPr id="12" name="Picture 11" descr="Vapour compression refrigeration.gif"/>
          <p:cNvPicPr>
            <a:picLocks noChangeAspect="1"/>
          </p:cNvPicPr>
          <p:nvPr/>
        </p:nvPicPr>
        <p:blipFill>
          <a:blip r:embed="rId2" cstate="print"/>
          <a:stretch>
            <a:fillRect/>
          </a:stretch>
        </p:blipFill>
        <p:spPr>
          <a:xfrm>
            <a:off x="3249705" y="1436561"/>
            <a:ext cx="6210300" cy="4733925"/>
          </a:xfrm>
          <a:prstGeom prst="rect">
            <a:avLst/>
          </a:prstGeom>
        </p:spPr>
      </p:pic>
    </p:spTree>
    <p:extLst>
      <p:ext uri="{BB962C8B-B14F-4D97-AF65-F5344CB8AC3E}">
        <p14:creationId xmlns:p14="http://schemas.microsoft.com/office/powerpoint/2010/main" val="3285125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5</a:t>
            </a:fld>
            <a:endParaRPr lang="en-US" dirty="0"/>
          </a:p>
        </p:txBody>
      </p:sp>
      <p:pic>
        <p:nvPicPr>
          <p:cNvPr id="7" name="Picture 6">
            <a:extLst>
              <a:ext uri="{FF2B5EF4-FFF2-40B4-BE49-F238E27FC236}">
                <a16:creationId xmlns:a16="http://schemas.microsoft.com/office/drawing/2014/main" id="{424D784C-917B-4854-9E36-BE99A304F5B8}"/>
              </a:ext>
            </a:extLst>
          </p:cNvPr>
          <p:cNvPicPr>
            <a:picLocks noChangeAspect="1"/>
          </p:cNvPicPr>
          <p:nvPr/>
        </p:nvPicPr>
        <p:blipFill>
          <a:blip r:embed="rId4"/>
          <a:stretch>
            <a:fillRect/>
          </a:stretch>
        </p:blipFill>
        <p:spPr>
          <a:xfrm>
            <a:off x="4067674" y="1420209"/>
            <a:ext cx="7950634" cy="4616497"/>
          </a:xfrm>
          <a:prstGeom prst="rect">
            <a:avLst/>
          </a:prstGeom>
        </p:spPr>
      </p:pic>
      <p:sp>
        <p:nvSpPr>
          <p:cNvPr id="8" name="ZoneTexte 7"/>
          <p:cNvSpPr txBox="1"/>
          <p:nvPr/>
        </p:nvSpPr>
        <p:spPr bwMode="auto">
          <a:xfrm>
            <a:off x="1422506" y="815088"/>
            <a:ext cx="3136047" cy="594202"/>
          </a:xfrm>
          <a:prstGeom prst="rect">
            <a:avLst/>
          </a:prstGeom>
          <a:noFill/>
        </p:spPr>
        <p:txBody>
          <a:bodyPr wrap="square">
            <a:spAutoFit/>
          </a:bodyPr>
          <a:lstStyle/>
          <a:p>
            <a:pPr algn="just">
              <a:lnSpc>
                <a:spcPct val="150000"/>
              </a:lnSpc>
            </a:pPr>
            <a:r>
              <a:rPr lang="en-US" sz="2400" b="1" dirty="0">
                <a:solidFill>
                  <a:srgbClr val="C00000"/>
                </a:solidFill>
                <a:latin typeface="Garamond" panose="02020404030301010803" pitchFamily="18" charset="0"/>
              </a:rPr>
              <a:t>Steam power cycle</a:t>
            </a:r>
            <a:endParaRPr lang="fr-FR" sz="2000" b="1" dirty="0">
              <a:solidFill>
                <a:srgbClr val="C00000"/>
              </a:solidFill>
              <a:latin typeface="Garamond" panose="02020404030301010803" pitchFamily="18" charset="0"/>
            </a:endParaRPr>
          </a:p>
        </p:txBody>
      </p:sp>
      <p:sp>
        <p:nvSpPr>
          <p:cNvPr id="9" name="Footer Placeholder 57"/>
          <p:cNvSpPr>
            <a:spLocks noGrp="1"/>
          </p:cNvSpPr>
          <p:nvPr>
            <p:ph type="ftr" sz="quarter" idx="11"/>
          </p:nvPr>
        </p:nvSpPr>
        <p:spPr>
          <a:xfrm>
            <a:off x="4428564" y="6257038"/>
            <a:ext cx="2895600" cy="365125"/>
          </a:xfrm>
        </p:spPr>
        <p:txBody>
          <a:bodyPr/>
          <a:lstStyle/>
          <a:p>
            <a:pPr>
              <a:defRPr/>
            </a:pPr>
            <a:r>
              <a:rPr lang="nn-NO" sz="1100"/>
              <a:t>E. W. RAMDE</a:t>
            </a:r>
            <a:endParaRPr lang="en-US" sz="1100" dirty="0"/>
          </a:p>
        </p:txBody>
      </p:sp>
      <p:sp>
        <p:nvSpPr>
          <p:cNvPr id="10" name="Slide Number Placeholder 9"/>
          <p:cNvSpPr txBox="1">
            <a:spLocks/>
          </p:cNvSpPr>
          <p:nvPr/>
        </p:nvSpPr>
        <p:spPr>
          <a:xfrm>
            <a:off x="7857564" y="6257038"/>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2400" b="1" kern="1200">
                <a:solidFill>
                  <a:schemeClr val="bg1"/>
                </a:solidFill>
                <a:latin typeface="Garamond" panose="02020404030301010803"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03DBCDF7-E311-4DF4-9DB7-2F31CFF07753}" type="slidenum">
              <a:rPr lang="en-US" smtClean="0"/>
              <a:pPr>
                <a:defRPr/>
              </a:pPr>
              <a:t>5</a:t>
            </a:fld>
            <a:endParaRPr lang="en-US" dirty="0"/>
          </a:p>
        </p:txBody>
      </p:sp>
    </p:spTree>
    <p:controls>
      <mc:AlternateContent xmlns:mc="http://schemas.openxmlformats.org/markup-compatibility/2006">
        <mc:Choice xmlns:v="urn:schemas-microsoft-com:vml" Requires="v">
          <p:control spid="23621" r:id="rId2" imgW="6856560" imgH="4842000"/>
        </mc:Choice>
        <mc:Fallback>
          <p:control r:id="rId2" imgW="6856560" imgH="4842000">
            <p:pic>
              <p:nvPicPr>
                <p:cNvPr id="11" name="ShockwaveFlash1"/>
                <p:cNvPicPr preferRelativeResize="0">
                  <a:picLocks noChangeAspect="1" noChangeArrowheads="1" noChangeShapeType="1"/>
                </p:cNvPicPr>
                <p:nvPr/>
              </p:nvPicPr>
              <p:blipFill>
                <a:blip r:embed="rId5"/>
                <a:srcRect/>
                <a:stretch>
                  <a:fillRect/>
                </a:stretch>
              </p:blipFill>
              <p:spPr bwMode="auto">
                <a:xfrm>
                  <a:off x="514600" y="1420209"/>
                  <a:ext cx="4665430" cy="3514862"/>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control>
        </mc:Fallback>
      </mc:AlternateContent>
    </p:controls>
    <p:extLst>
      <p:ext uri="{BB962C8B-B14F-4D97-AF65-F5344CB8AC3E}">
        <p14:creationId xmlns:p14="http://schemas.microsoft.com/office/powerpoint/2010/main" val="8094531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723533" y="1535157"/>
            <a:ext cx="11063111" cy="720618"/>
          </a:xfrm>
        </p:spPr>
        <p:txBody>
          <a:bodyPr>
            <a:noAutofit/>
          </a:bodyPr>
          <a:lstStyle/>
          <a:p>
            <a:pPr>
              <a:buFont typeface="Wingdings" panose="05000000000000000000" pitchFamily="2" charset="2"/>
              <a:buChar char="v"/>
            </a:pPr>
            <a:r>
              <a:rPr lang="en-US" sz="2200" dirty="0">
                <a:solidFill>
                  <a:srgbClr val="002060"/>
                </a:solidFill>
              </a:rPr>
              <a:t>Consider a unit mass (1 kg) of water at a temperature of 20 °C, atmospheric pressure of 1.013 bar, contained in a cylinder as shown.</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6</a:t>
            </a:fld>
            <a:endParaRPr lang="en-US" dirty="0"/>
          </a:p>
        </p:txBody>
      </p:sp>
      <p:sp>
        <p:nvSpPr>
          <p:cNvPr id="6" name="Content Placeholder 2"/>
          <p:cNvSpPr txBox="1">
            <a:spLocks/>
          </p:cNvSpPr>
          <p:nvPr/>
        </p:nvSpPr>
        <p:spPr>
          <a:xfrm>
            <a:off x="514600" y="1033249"/>
            <a:ext cx="5182815" cy="56624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b="1" dirty="0">
                <a:solidFill>
                  <a:srgbClr val="C00000"/>
                </a:solidFill>
              </a:rPr>
              <a:t>Phase Change Experiment</a:t>
            </a:r>
          </a:p>
          <a:p>
            <a:pPr>
              <a:buFont typeface="Wingdings" panose="05000000000000000000" pitchFamily="2" charset="2"/>
              <a:buChar char="v"/>
            </a:pPr>
            <a:endParaRPr lang="en-US" dirty="0"/>
          </a:p>
        </p:txBody>
      </p:sp>
      <p:sp>
        <p:nvSpPr>
          <p:cNvPr id="10" name="Rectangle 57"/>
          <p:cNvSpPr>
            <a:spLocks noChangeArrowheads="1"/>
          </p:cNvSpPr>
          <p:nvPr/>
        </p:nvSpPr>
        <p:spPr bwMode="auto">
          <a:xfrm>
            <a:off x="3294027" y="3618797"/>
            <a:ext cx="868139" cy="667118"/>
          </a:xfrm>
          <a:prstGeom prst="rect">
            <a:avLst/>
          </a:prstGeom>
          <a:solidFill>
            <a:srgbClr val="CC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1" name="Line 58"/>
          <p:cNvSpPr>
            <a:spLocks noChangeShapeType="1"/>
          </p:cNvSpPr>
          <p:nvPr/>
        </p:nvSpPr>
        <p:spPr bwMode="auto">
          <a:xfrm flipV="1">
            <a:off x="4162166" y="2844314"/>
            <a:ext cx="0" cy="756762"/>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 name="Line 59"/>
          <p:cNvSpPr>
            <a:spLocks noChangeShapeType="1"/>
          </p:cNvSpPr>
          <p:nvPr/>
        </p:nvSpPr>
        <p:spPr bwMode="auto">
          <a:xfrm flipV="1">
            <a:off x="3294027" y="2844388"/>
            <a:ext cx="0" cy="755921"/>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 name="Text Box 60"/>
          <p:cNvSpPr txBox="1">
            <a:spLocks noChangeArrowheads="1"/>
          </p:cNvSpPr>
          <p:nvPr/>
        </p:nvSpPr>
        <p:spPr bwMode="auto">
          <a:xfrm>
            <a:off x="3318404" y="3662576"/>
            <a:ext cx="823285" cy="596236"/>
          </a:xfrm>
          <a:prstGeom prst="rect">
            <a:avLst/>
          </a:prstGeom>
          <a:solidFill>
            <a:srgbClr val="00B0F0">
              <a:alpha val="40000"/>
            </a:srgbClr>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P = 1 bar</a:t>
            </a:r>
          </a:p>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T = 100 </a:t>
            </a:r>
            <a:r>
              <a:rPr kumimoji="0" lang="en-GB" sz="1200" b="1" i="0" u="none" strike="noStrike" cap="none" normalizeH="0" baseline="30000" dirty="0" err="1">
                <a:ln>
                  <a:noFill/>
                </a:ln>
                <a:solidFill>
                  <a:schemeClr val="tx1"/>
                </a:solidFill>
                <a:effectLst/>
                <a:latin typeface="Calibri" pitchFamily="34" charset="0"/>
                <a:cs typeface="Arial" pitchFamily="34" charset="0"/>
              </a:rPr>
              <a:t>o</a:t>
            </a:r>
            <a:r>
              <a:rPr kumimoji="0" lang="en-GB" sz="1200" b="1" i="0" u="none" strike="noStrike" cap="none" normalizeH="0" baseline="0" dirty="0" err="1">
                <a:ln>
                  <a:noFill/>
                </a:ln>
                <a:solidFill>
                  <a:schemeClr val="tx1"/>
                </a:solidFill>
                <a:effectLst/>
                <a:latin typeface="Calibri" pitchFamily="34" charset="0"/>
                <a:cs typeface="Arial" pitchFamily="34" charset="0"/>
              </a:rPr>
              <a:t>C</a:t>
            </a:r>
            <a:endParaRPr kumimoji="0" lang="en-US" sz="1200" b="1" i="0" u="none" strike="noStrike" cap="none" normalizeH="0" baseline="0" dirty="0">
              <a:ln>
                <a:noFill/>
              </a:ln>
              <a:solidFill>
                <a:schemeClr val="tx1"/>
              </a:solidFill>
              <a:effectLst/>
              <a:latin typeface="Arial" pitchFamily="34" charset="0"/>
              <a:cs typeface="Arial" pitchFamily="34" charset="0"/>
            </a:endParaRPr>
          </a:p>
        </p:txBody>
      </p:sp>
      <p:sp>
        <p:nvSpPr>
          <p:cNvPr id="14" name="Text Box 61"/>
          <p:cNvSpPr txBox="1">
            <a:spLocks noChangeArrowheads="1"/>
          </p:cNvSpPr>
          <p:nvPr/>
        </p:nvSpPr>
        <p:spPr bwMode="auto">
          <a:xfrm>
            <a:off x="3118324" y="5177036"/>
            <a:ext cx="1543369" cy="540054"/>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Saturated liquid</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15" name="Text Box 62"/>
          <p:cNvSpPr txBox="1">
            <a:spLocks noChangeArrowheads="1"/>
          </p:cNvSpPr>
          <p:nvPr/>
        </p:nvSpPr>
        <p:spPr bwMode="auto">
          <a:xfrm>
            <a:off x="8036236" y="5058659"/>
            <a:ext cx="1725426" cy="628202"/>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Superheated vapour</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16" name="Rectangle 63"/>
          <p:cNvSpPr>
            <a:spLocks noChangeArrowheads="1"/>
          </p:cNvSpPr>
          <p:nvPr/>
        </p:nvSpPr>
        <p:spPr bwMode="auto">
          <a:xfrm>
            <a:off x="4943491" y="3935677"/>
            <a:ext cx="911546" cy="375254"/>
          </a:xfrm>
          <a:prstGeom prst="rect">
            <a:avLst/>
          </a:prstGeom>
          <a:solidFill>
            <a:srgbClr val="00B0F0">
              <a:alpha val="40000"/>
            </a:srgbClr>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 name="Line 64"/>
          <p:cNvSpPr>
            <a:spLocks noChangeShapeType="1"/>
          </p:cNvSpPr>
          <p:nvPr/>
        </p:nvSpPr>
        <p:spPr bwMode="auto">
          <a:xfrm flipV="1">
            <a:off x="5855037" y="2809916"/>
            <a:ext cx="0" cy="1125761"/>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8" name="Text Box 65"/>
          <p:cNvSpPr txBox="1">
            <a:spLocks noChangeArrowheads="1"/>
          </p:cNvSpPr>
          <p:nvPr/>
        </p:nvSpPr>
        <p:spPr bwMode="auto">
          <a:xfrm>
            <a:off x="4955066" y="3600309"/>
            <a:ext cx="888395" cy="538979"/>
          </a:xfrm>
          <a:prstGeom prst="rect">
            <a:avLst/>
          </a:prstGeom>
          <a:pattFill prst="pct80">
            <a:fgClr>
              <a:srgbClr val="FF0000"/>
            </a:fgClr>
            <a:bgClr>
              <a:schemeClr val="bg1"/>
            </a:bgClr>
          </a:pattFill>
          <a:ln w="9525">
            <a:noFill/>
            <a:miter lim="800000"/>
            <a:headEnd/>
            <a:tailEnd/>
          </a:ln>
        </p:spPr>
        <p:txBody>
          <a:bodyPr vert="horz" wrap="square" lIns="91440" tIns="45720" rIns="91440" bIns="45720" numCol="1" anchor="ctr" anchorCtr="0" compatLnSpc="1">
            <a:prstTxWarp prst="textNoShape">
              <a:avLst/>
            </a:prstTxWarp>
          </a:bodyPr>
          <a:lstStyle>
            <a:defPPr>
              <a:defRPr lang="en-US"/>
            </a:defPPr>
            <a:lvl1pPr marL="0" marR="0" lvl="0" indent="0" algn="l" defTabSz="914400" eaLnBrk="1" latinLnBrk="0" hangingPunct="1">
              <a:lnSpc>
                <a:spcPct val="100000"/>
              </a:lnSpc>
              <a:spcAft>
                <a:spcPts val="0"/>
              </a:spcAft>
              <a:buClrTx/>
              <a:buSzTx/>
              <a:buFontTx/>
              <a:buNone/>
              <a:tabLst/>
              <a:defRPr kumimoji="0" sz="1200" b="1" i="0" u="none" strike="noStrike" cap="none" normalizeH="0" baseline="0">
                <a:ln>
                  <a:noFill/>
                </a:ln>
                <a:effectLst/>
                <a:latin typeface="Calibri" pitchFamily="34" charset="0"/>
                <a:cs typeface="Arial" pitchFamily="34" charset="0"/>
              </a:defRPr>
            </a:lvl1pPr>
          </a:lstStyle>
          <a:p>
            <a:r>
              <a:rPr lang="en-GB" dirty="0"/>
              <a:t>P = 1 bar</a:t>
            </a:r>
          </a:p>
          <a:p>
            <a:r>
              <a:rPr lang="en-GB" dirty="0"/>
              <a:t>T = 100 </a:t>
            </a:r>
            <a:r>
              <a:rPr lang="en-GB" dirty="0" err="1"/>
              <a:t>oC</a:t>
            </a:r>
            <a:endParaRPr lang="en-US" dirty="0"/>
          </a:p>
        </p:txBody>
      </p:sp>
      <p:sp>
        <p:nvSpPr>
          <p:cNvPr id="19" name="Text Box 66"/>
          <p:cNvSpPr txBox="1">
            <a:spLocks noChangeArrowheads="1"/>
          </p:cNvSpPr>
          <p:nvPr/>
        </p:nvSpPr>
        <p:spPr bwMode="auto">
          <a:xfrm>
            <a:off x="4843319" y="5179152"/>
            <a:ext cx="1812324" cy="775174"/>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Saturated liquid-vapour mixture</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20" name="Line 68"/>
          <p:cNvSpPr>
            <a:spLocks noChangeShapeType="1"/>
          </p:cNvSpPr>
          <p:nvPr/>
        </p:nvSpPr>
        <p:spPr bwMode="auto">
          <a:xfrm flipV="1">
            <a:off x="7547908" y="2809916"/>
            <a:ext cx="0" cy="1501015"/>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Line 69"/>
          <p:cNvSpPr>
            <a:spLocks noChangeShapeType="1"/>
          </p:cNvSpPr>
          <p:nvPr/>
        </p:nvSpPr>
        <p:spPr bwMode="auto">
          <a:xfrm flipV="1">
            <a:off x="6636362" y="2809916"/>
            <a:ext cx="0" cy="1501015"/>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 name="Text Box 70"/>
          <p:cNvSpPr txBox="1">
            <a:spLocks noChangeArrowheads="1"/>
          </p:cNvSpPr>
          <p:nvPr/>
        </p:nvSpPr>
        <p:spPr bwMode="auto">
          <a:xfrm>
            <a:off x="6678608" y="3378618"/>
            <a:ext cx="833041" cy="922370"/>
          </a:xfrm>
          <a:prstGeom prst="rect">
            <a:avLst/>
          </a:prstGeom>
          <a:pattFill prst="pct80">
            <a:fgClr>
              <a:srgbClr val="FF0000"/>
            </a:fgClr>
            <a:bgClr>
              <a:schemeClr val="bg1"/>
            </a:bgClr>
          </a:patt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P = 1 bar</a:t>
            </a:r>
          </a:p>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T = 100 </a:t>
            </a:r>
            <a:r>
              <a:rPr kumimoji="0" lang="en-GB" sz="1200" b="1" i="0" u="none" strike="noStrike" cap="none" normalizeH="0" baseline="30000" dirty="0" err="1">
                <a:ln>
                  <a:noFill/>
                </a:ln>
                <a:solidFill>
                  <a:schemeClr val="tx1"/>
                </a:solidFill>
                <a:effectLst/>
                <a:latin typeface="Calibri" pitchFamily="34" charset="0"/>
                <a:cs typeface="Arial" pitchFamily="34" charset="0"/>
              </a:rPr>
              <a:t>o</a:t>
            </a:r>
            <a:r>
              <a:rPr kumimoji="0" lang="en-GB" sz="1200" b="1" i="0" u="none" strike="noStrike" cap="none" normalizeH="0" baseline="0" dirty="0" err="1">
                <a:ln>
                  <a:noFill/>
                </a:ln>
                <a:solidFill>
                  <a:schemeClr val="tx1"/>
                </a:solidFill>
                <a:effectLst/>
                <a:latin typeface="Calibri" pitchFamily="34" charset="0"/>
                <a:cs typeface="Arial" pitchFamily="34" charset="0"/>
              </a:rPr>
              <a:t>C</a:t>
            </a:r>
            <a:endParaRPr kumimoji="0" lang="en-US" sz="1200" b="1" i="0" u="none" strike="noStrike" cap="none" normalizeH="0" baseline="0" dirty="0">
              <a:ln>
                <a:noFill/>
              </a:ln>
              <a:solidFill>
                <a:schemeClr val="tx1"/>
              </a:solidFill>
              <a:effectLst/>
              <a:latin typeface="Arial" pitchFamily="34" charset="0"/>
              <a:cs typeface="Arial" pitchFamily="34" charset="0"/>
            </a:endParaRPr>
          </a:p>
        </p:txBody>
      </p:sp>
      <p:sp>
        <p:nvSpPr>
          <p:cNvPr id="23" name="Text Box 71"/>
          <p:cNvSpPr txBox="1">
            <a:spLocks noChangeArrowheads="1"/>
          </p:cNvSpPr>
          <p:nvPr/>
        </p:nvSpPr>
        <p:spPr bwMode="auto">
          <a:xfrm>
            <a:off x="6473586" y="5109388"/>
            <a:ext cx="1562650" cy="54272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Saturated vapour</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24" name="Rectangle 73"/>
          <p:cNvSpPr>
            <a:spLocks noChangeArrowheads="1"/>
          </p:cNvSpPr>
          <p:nvPr/>
        </p:nvSpPr>
        <p:spPr bwMode="auto">
          <a:xfrm>
            <a:off x="1601156" y="3685508"/>
            <a:ext cx="868139" cy="600406"/>
          </a:xfrm>
          <a:prstGeom prst="rect">
            <a:avLst/>
          </a:prstGeom>
          <a:solidFill>
            <a:srgbClr val="CC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Line 75"/>
          <p:cNvSpPr>
            <a:spLocks noChangeShapeType="1"/>
          </p:cNvSpPr>
          <p:nvPr/>
        </p:nvSpPr>
        <p:spPr bwMode="auto">
          <a:xfrm flipV="1">
            <a:off x="1601156" y="2851554"/>
            <a:ext cx="0" cy="831513"/>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Text Box 76"/>
          <p:cNvSpPr txBox="1">
            <a:spLocks noChangeArrowheads="1"/>
          </p:cNvSpPr>
          <p:nvPr/>
        </p:nvSpPr>
        <p:spPr bwMode="auto">
          <a:xfrm>
            <a:off x="1630596" y="3676474"/>
            <a:ext cx="816052" cy="579558"/>
          </a:xfrm>
          <a:prstGeom prst="rect">
            <a:avLst/>
          </a:prstGeom>
          <a:solidFill>
            <a:srgbClr val="00B0F0">
              <a:alpha val="40000"/>
            </a:srgbClr>
          </a:solid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P = 1 bar</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T = </a:t>
            </a:r>
            <a:r>
              <a:rPr kumimoji="0" lang="en-GB" sz="1400" b="1" i="0" u="none" strike="noStrike" cap="none" normalizeH="0" baseline="0" dirty="0">
                <a:ln>
                  <a:noFill/>
                </a:ln>
                <a:solidFill>
                  <a:schemeClr val="tx1"/>
                </a:solidFill>
                <a:effectLst/>
                <a:latin typeface="Calibri" pitchFamily="34" charset="0"/>
                <a:cs typeface="Arial" pitchFamily="34" charset="0"/>
              </a:rPr>
              <a:t>20</a:t>
            </a:r>
            <a:r>
              <a:rPr kumimoji="0" lang="en-GB" sz="1200" b="1" i="0" u="none" strike="noStrike" cap="none" normalizeH="0" baseline="0" dirty="0">
                <a:ln>
                  <a:noFill/>
                </a:ln>
                <a:solidFill>
                  <a:schemeClr val="tx1"/>
                </a:solidFill>
                <a:effectLst/>
                <a:latin typeface="Calibri" pitchFamily="34" charset="0"/>
                <a:cs typeface="Arial" pitchFamily="34" charset="0"/>
              </a:rPr>
              <a:t> </a:t>
            </a:r>
            <a:r>
              <a:rPr kumimoji="0" lang="en-GB" sz="1200" b="1" i="0" u="none" strike="noStrike" cap="none" normalizeH="0" baseline="30000" dirty="0" err="1">
                <a:ln>
                  <a:noFill/>
                </a:ln>
                <a:solidFill>
                  <a:schemeClr val="tx1"/>
                </a:solidFill>
                <a:effectLst/>
                <a:latin typeface="Calibri" pitchFamily="34" charset="0"/>
                <a:cs typeface="Arial" pitchFamily="34" charset="0"/>
              </a:rPr>
              <a:t>o</a:t>
            </a:r>
            <a:r>
              <a:rPr kumimoji="0" lang="en-GB" sz="1200" b="1" i="0" u="none" strike="noStrike" cap="none" normalizeH="0" baseline="0" dirty="0" err="1">
                <a:ln>
                  <a:noFill/>
                </a:ln>
                <a:solidFill>
                  <a:schemeClr val="tx1"/>
                </a:solidFill>
                <a:effectLst/>
                <a:latin typeface="Calibri" pitchFamily="34" charset="0"/>
                <a:cs typeface="Arial" pitchFamily="34" charset="0"/>
              </a:rPr>
              <a:t>C</a:t>
            </a:r>
            <a:endParaRPr kumimoji="0" lang="en-US" sz="1200" b="1" i="0" u="none" strike="noStrike" cap="none" normalizeH="0" baseline="0" dirty="0">
              <a:ln>
                <a:noFill/>
              </a:ln>
              <a:solidFill>
                <a:schemeClr val="tx1"/>
              </a:solidFill>
              <a:effectLst/>
              <a:latin typeface="Arial" pitchFamily="34" charset="0"/>
              <a:cs typeface="Arial" pitchFamily="34" charset="0"/>
            </a:endParaRPr>
          </a:p>
        </p:txBody>
      </p:sp>
      <p:sp>
        <p:nvSpPr>
          <p:cNvPr id="27" name="Text Box 77"/>
          <p:cNvSpPr txBox="1">
            <a:spLocks noChangeArrowheads="1"/>
          </p:cNvSpPr>
          <p:nvPr/>
        </p:nvSpPr>
        <p:spPr bwMode="auto">
          <a:xfrm>
            <a:off x="771360" y="5161506"/>
            <a:ext cx="2218818" cy="111116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285750" marR="0" lvl="0" indent="-285750" algn="l" defTabSz="914400" rtl="0" eaLnBrk="1" fontAlgn="base" latinLnBrk="0" hangingPunct="1">
              <a:lnSpc>
                <a:spcPct val="100000"/>
              </a:lnSpc>
              <a:spcBef>
                <a:spcPct val="0"/>
              </a:spcBef>
              <a:spcAft>
                <a:spcPts val="1000"/>
              </a:spcAft>
              <a:buClrTx/>
              <a:buSzTx/>
              <a:buFont typeface="Arial" panose="020B0604020202020204" pitchFamily="34" charset="0"/>
              <a:buChar char="•"/>
              <a:tabLst/>
            </a:pPr>
            <a:r>
              <a:rPr kumimoji="0" lang="en-GB" sz="1400" b="1" i="0" u="none" strike="noStrike" cap="none" normalizeH="0" baseline="0" dirty="0">
                <a:ln>
                  <a:noFill/>
                </a:ln>
                <a:solidFill>
                  <a:schemeClr val="tx1"/>
                </a:solidFill>
                <a:effectLst/>
                <a:latin typeface="Calibri" pitchFamily="34" charset="0"/>
                <a:cs typeface="Arial" pitchFamily="34" charset="0"/>
              </a:rPr>
              <a:t>Under-saturated liquid</a:t>
            </a:r>
          </a:p>
          <a:p>
            <a:pPr marL="285750" marR="0" lvl="0" indent="-285750" algn="l" defTabSz="914400" rtl="0" eaLnBrk="1" fontAlgn="base" latinLnBrk="0" hangingPunct="1">
              <a:lnSpc>
                <a:spcPct val="100000"/>
              </a:lnSpc>
              <a:spcBef>
                <a:spcPct val="0"/>
              </a:spcBef>
              <a:spcAft>
                <a:spcPts val="1000"/>
              </a:spcAft>
              <a:buClrTx/>
              <a:buSzTx/>
              <a:buFont typeface="Arial" panose="020B0604020202020204" pitchFamily="34" charset="0"/>
              <a:buChar char="•"/>
              <a:tabLst/>
            </a:pPr>
            <a:r>
              <a:rPr lang="en-GB" sz="1400" b="1" dirty="0">
                <a:latin typeface="Calibri" pitchFamily="34" charset="0"/>
                <a:cs typeface="Arial" pitchFamily="34" charset="0"/>
              </a:rPr>
              <a:t>Sub-cooled Liquid</a:t>
            </a:r>
            <a:endParaRPr kumimoji="0" lang="en-GB" sz="1400" b="1" i="0" u="none" strike="noStrike" cap="none" normalizeH="0" baseline="0" dirty="0">
              <a:ln>
                <a:noFill/>
              </a:ln>
              <a:solidFill>
                <a:schemeClr val="tx1"/>
              </a:solidFill>
              <a:effectLst/>
              <a:latin typeface="Calibri" pitchFamily="34" charset="0"/>
              <a:cs typeface="Arial" pitchFamily="34" charset="0"/>
            </a:endParaRPr>
          </a:p>
          <a:p>
            <a:pPr marL="285750" marR="0" lvl="0" indent="-285750" algn="l" defTabSz="914400" rtl="0" eaLnBrk="1" fontAlgn="base" latinLnBrk="0" hangingPunct="1">
              <a:lnSpc>
                <a:spcPct val="100000"/>
              </a:lnSpc>
              <a:spcBef>
                <a:spcPct val="0"/>
              </a:spcBef>
              <a:spcAft>
                <a:spcPts val="1000"/>
              </a:spcAft>
              <a:buClrTx/>
              <a:buSzTx/>
              <a:buFont typeface="Arial" panose="020B0604020202020204" pitchFamily="34" charset="0"/>
              <a:buChar char="•"/>
              <a:tabLst/>
            </a:pPr>
            <a:r>
              <a:rPr kumimoji="0" lang="en-GB" sz="1400" b="1" i="0" u="none" strike="noStrike" cap="none" normalizeH="0" baseline="0" dirty="0">
                <a:ln>
                  <a:noFill/>
                </a:ln>
                <a:solidFill>
                  <a:schemeClr val="tx1"/>
                </a:solidFill>
                <a:effectLst/>
                <a:latin typeface="Calibri" pitchFamily="34" charset="0"/>
                <a:cs typeface="Arial" pitchFamily="34" charset="0"/>
              </a:rPr>
              <a:t>Compressed liquid</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grpSp>
        <p:nvGrpSpPr>
          <p:cNvPr id="28" name="Group 27"/>
          <p:cNvGrpSpPr/>
          <p:nvPr/>
        </p:nvGrpSpPr>
        <p:grpSpPr>
          <a:xfrm>
            <a:off x="1936205" y="4479699"/>
            <a:ext cx="130221" cy="500338"/>
            <a:chOff x="1241379" y="4148611"/>
            <a:chExt cx="130221" cy="500338"/>
          </a:xfrm>
        </p:grpSpPr>
        <p:sp>
          <p:nvSpPr>
            <p:cNvPr id="29" name="AutoShape 79"/>
            <p:cNvSpPr>
              <a:spLocks noChangeArrowheads="1"/>
            </p:cNvSpPr>
            <p:nvPr/>
          </p:nvSpPr>
          <p:spPr bwMode="auto">
            <a:xfrm rot="11545995">
              <a:off x="1241379" y="4148611"/>
              <a:ext cx="130221" cy="416948"/>
            </a:xfrm>
            <a:prstGeom prst="lightningBolt">
              <a:avLst/>
            </a:prstGeom>
            <a:solidFill>
              <a:srgbClr val="FF0000"/>
            </a:solid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 name="Rectangle 80"/>
            <p:cNvSpPr>
              <a:spLocks noChangeArrowheads="1"/>
            </p:cNvSpPr>
            <p:nvPr/>
          </p:nvSpPr>
          <p:spPr bwMode="auto">
            <a:xfrm>
              <a:off x="1241379" y="4315390"/>
              <a:ext cx="130221" cy="333559"/>
            </a:xfrm>
            <a:prstGeom prst="rect">
              <a:avLst/>
            </a:prstGeom>
            <a:solidFill>
              <a:schemeClr val="bg1">
                <a:lumMod val="95000"/>
              </a:schemeClr>
            </a:solidFill>
            <a:ln w="38100">
              <a:solidFill>
                <a:schemeClr val="bg1">
                  <a:lumMod val="75000"/>
                </a:schemeClr>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31" name="Line 94"/>
          <p:cNvSpPr>
            <a:spLocks noChangeShapeType="1"/>
          </p:cNvSpPr>
          <p:nvPr/>
        </p:nvSpPr>
        <p:spPr bwMode="auto">
          <a:xfrm flipV="1">
            <a:off x="4943491" y="2809916"/>
            <a:ext cx="0" cy="1125761"/>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 name="Line 95"/>
          <p:cNvSpPr>
            <a:spLocks noChangeShapeType="1"/>
          </p:cNvSpPr>
          <p:nvPr/>
        </p:nvSpPr>
        <p:spPr bwMode="auto">
          <a:xfrm>
            <a:off x="6636362" y="4310931"/>
            <a:ext cx="911546" cy="0"/>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 name="Line 97"/>
          <p:cNvSpPr>
            <a:spLocks noChangeShapeType="1"/>
          </p:cNvSpPr>
          <p:nvPr/>
        </p:nvSpPr>
        <p:spPr bwMode="auto">
          <a:xfrm flipV="1">
            <a:off x="9370999" y="2809916"/>
            <a:ext cx="0" cy="1501015"/>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 name="Line 98"/>
          <p:cNvSpPr>
            <a:spLocks noChangeShapeType="1"/>
          </p:cNvSpPr>
          <p:nvPr/>
        </p:nvSpPr>
        <p:spPr bwMode="auto">
          <a:xfrm flipV="1">
            <a:off x="8459454" y="2809916"/>
            <a:ext cx="0" cy="1501015"/>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 name="Text Box 99"/>
          <p:cNvSpPr txBox="1">
            <a:spLocks noChangeArrowheads="1"/>
          </p:cNvSpPr>
          <p:nvPr/>
        </p:nvSpPr>
        <p:spPr bwMode="auto">
          <a:xfrm>
            <a:off x="8498229" y="3081788"/>
            <a:ext cx="828050" cy="1204126"/>
          </a:xfrm>
          <a:prstGeom prst="rect">
            <a:avLst/>
          </a:prstGeom>
          <a:pattFill prst="pct90">
            <a:fgClr>
              <a:srgbClr val="FF0000"/>
            </a:fgClr>
            <a:bgClr>
              <a:schemeClr val="bg1"/>
            </a:bgClr>
          </a:patt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P = 1 </a:t>
            </a:r>
            <a:r>
              <a:rPr lang="en-GB" sz="1200" b="1" dirty="0">
                <a:latin typeface="Calibri" pitchFamily="34" charset="0"/>
                <a:cs typeface="Arial" pitchFamily="34" charset="0"/>
              </a:rPr>
              <a:t>bar</a:t>
            </a:r>
            <a:endParaRPr kumimoji="0" lang="en-GB" sz="1200" b="1" i="0" u="none" strike="noStrike" cap="none" normalizeH="0" baseline="0" dirty="0">
              <a:ln>
                <a:noFill/>
              </a:ln>
              <a:solidFill>
                <a:schemeClr val="tx1"/>
              </a:solidFill>
              <a:effectLst/>
              <a:latin typeface="Calibri" pitchFamily="34" charset="0"/>
              <a:cs typeface="Arial" pitchFamily="34" charset="0"/>
            </a:endParaRPr>
          </a:p>
          <a:p>
            <a:pPr marL="0" marR="0" lvl="0" indent="0" algn="l" defTabSz="914400" rtl="0" eaLnBrk="1" fontAlgn="base" latinLnBrk="0" hangingPunct="1">
              <a:lnSpc>
                <a:spcPct val="100000"/>
              </a:lnSpc>
              <a:spcBef>
                <a:spcPct val="0"/>
              </a:spcBef>
              <a:spcAft>
                <a:spcPts val="0"/>
              </a:spcAft>
              <a:buClrTx/>
              <a:buSzTx/>
              <a:buFontTx/>
              <a:buNone/>
              <a:tabLst/>
            </a:pPr>
            <a:r>
              <a:rPr kumimoji="0" lang="en-GB" sz="1200" b="1" i="0" u="none" strike="noStrike" cap="none" normalizeH="0" baseline="0" dirty="0">
                <a:ln>
                  <a:noFill/>
                </a:ln>
                <a:solidFill>
                  <a:schemeClr val="tx1"/>
                </a:solidFill>
                <a:effectLst/>
                <a:latin typeface="Calibri" pitchFamily="34" charset="0"/>
                <a:cs typeface="Arial" pitchFamily="34" charset="0"/>
              </a:rPr>
              <a:t>T = 300 </a:t>
            </a:r>
            <a:r>
              <a:rPr kumimoji="0" lang="en-GB" sz="1200" b="1" i="0" u="none" strike="noStrike" cap="none" normalizeH="0" baseline="30000" dirty="0" err="1">
                <a:ln>
                  <a:noFill/>
                </a:ln>
                <a:solidFill>
                  <a:schemeClr val="tx1"/>
                </a:solidFill>
                <a:effectLst/>
                <a:latin typeface="Calibri" pitchFamily="34" charset="0"/>
                <a:cs typeface="Arial" pitchFamily="34" charset="0"/>
              </a:rPr>
              <a:t>o</a:t>
            </a:r>
            <a:r>
              <a:rPr kumimoji="0" lang="en-GB" sz="1200" b="1" i="0" u="none" strike="noStrike" cap="none" normalizeH="0" baseline="0" dirty="0" err="1">
                <a:ln>
                  <a:noFill/>
                </a:ln>
                <a:solidFill>
                  <a:schemeClr val="tx1"/>
                </a:solidFill>
                <a:effectLst/>
                <a:latin typeface="Calibri" pitchFamily="34" charset="0"/>
                <a:cs typeface="Arial" pitchFamily="34" charset="0"/>
              </a:rPr>
              <a:t>C</a:t>
            </a:r>
            <a:endParaRPr kumimoji="0" lang="en-US" sz="1200" b="1" i="0" u="none" strike="noStrike" cap="none" normalizeH="0" baseline="0" dirty="0">
              <a:ln>
                <a:noFill/>
              </a:ln>
              <a:solidFill>
                <a:schemeClr val="tx1"/>
              </a:solidFill>
              <a:effectLst/>
              <a:latin typeface="Arial" pitchFamily="34" charset="0"/>
              <a:cs typeface="Arial" pitchFamily="34" charset="0"/>
            </a:endParaRPr>
          </a:p>
        </p:txBody>
      </p:sp>
      <p:sp>
        <p:nvSpPr>
          <p:cNvPr id="36" name="Line 100"/>
          <p:cNvSpPr>
            <a:spLocks noChangeShapeType="1"/>
          </p:cNvSpPr>
          <p:nvPr/>
        </p:nvSpPr>
        <p:spPr bwMode="auto">
          <a:xfrm>
            <a:off x="8459454" y="4310931"/>
            <a:ext cx="911546" cy="0"/>
          </a:xfrm>
          <a:prstGeom prst="line">
            <a:avLst/>
          </a:prstGeom>
          <a:solidFill>
            <a:srgbClr val="FFFFFF"/>
          </a:solidFill>
          <a:ln w="3810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 name="Text Box 101"/>
          <p:cNvSpPr txBox="1">
            <a:spLocks noChangeArrowheads="1"/>
          </p:cNvSpPr>
          <p:nvPr/>
        </p:nvSpPr>
        <p:spPr bwMode="auto">
          <a:xfrm>
            <a:off x="1601156" y="2472188"/>
            <a:ext cx="954953" cy="25016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1</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8" name="Text Box 102"/>
          <p:cNvSpPr txBox="1">
            <a:spLocks noChangeArrowheads="1"/>
          </p:cNvSpPr>
          <p:nvPr/>
        </p:nvSpPr>
        <p:spPr bwMode="auto">
          <a:xfrm>
            <a:off x="8459454" y="2472188"/>
            <a:ext cx="1041767" cy="25016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5</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9" name="Text Box 103"/>
          <p:cNvSpPr txBox="1">
            <a:spLocks noChangeArrowheads="1"/>
          </p:cNvSpPr>
          <p:nvPr/>
        </p:nvSpPr>
        <p:spPr bwMode="auto">
          <a:xfrm>
            <a:off x="6624787" y="2472188"/>
            <a:ext cx="998360" cy="25016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4</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0" name="Text Box 104"/>
          <p:cNvSpPr txBox="1">
            <a:spLocks noChangeArrowheads="1"/>
          </p:cNvSpPr>
          <p:nvPr/>
        </p:nvSpPr>
        <p:spPr bwMode="auto">
          <a:xfrm>
            <a:off x="4900084" y="2472188"/>
            <a:ext cx="1041767" cy="25016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3</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1" name="Text Box 105"/>
          <p:cNvSpPr txBox="1">
            <a:spLocks noChangeArrowheads="1"/>
          </p:cNvSpPr>
          <p:nvPr/>
        </p:nvSpPr>
        <p:spPr bwMode="auto">
          <a:xfrm>
            <a:off x="3250620" y="2472188"/>
            <a:ext cx="998360" cy="25016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State 2</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2" name="Flowchart: Magnetic Disk 41"/>
          <p:cNvSpPr/>
          <p:nvPr/>
        </p:nvSpPr>
        <p:spPr>
          <a:xfrm>
            <a:off x="1601156" y="3560423"/>
            <a:ext cx="855117" cy="150796"/>
          </a:xfrm>
          <a:prstGeom prst="flowChartMagneticDisk">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3" name="Line 75"/>
          <p:cNvSpPr>
            <a:spLocks noChangeShapeType="1"/>
          </p:cNvSpPr>
          <p:nvPr/>
        </p:nvSpPr>
        <p:spPr bwMode="auto">
          <a:xfrm flipV="1">
            <a:off x="2466165" y="2889331"/>
            <a:ext cx="0" cy="831513"/>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44" name="Group 43"/>
          <p:cNvGrpSpPr/>
          <p:nvPr/>
        </p:nvGrpSpPr>
        <p:grpSpPr>
          <a:xfrm>
            <a:off x="3771431" y="4476785"/>
            <a:ext cx="130221" cy="500338"/>
            <a:chOff x="1241379" y="4148611"/>
            <a:chExt cx="130221" cy="500338"/>
          </a:xfrm>
        </p:grpSpPr>
        <p:sp>
          <p:nvSpPr>
            <p:cNvPr id="45" name="AutoShape 79"/>
            <p:cNvSpPr>
              <a:spLocks noChangeArrowheads="1"/>
            </p:cNvSpPr>
            <p:nvPr/>
          </p:nvSpPr>
          <p:spPr bwMode="auto">
            <a:xfrm rot="11545995">
              <a:off x="1241379" y="4148611"/>
              <a:ext cx="130221" cy="416948"/>
            </a:xfrm>
            <a:prstGeom prst="lightningBolt">
              <a:avLst/>
            </a:prstGeom>
            <a:solidFill>
              <a:srgbClr val="FF0000"/>
            </a:solid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6" name="Rectangle 80"/>
            <p:cNvSpPr>
              <a:spLocks noChangeArrowheads="1"/>
            </p:cNvSpPr>
            <p:nvPr/>
          </p:nvSpPr>
          <p:spPr bwMode="auto">
            <a:xfrm>
              <a:off x="1241379" y="4315390"/>
              <a:ext cx="130221" cy="333559"/>
            </a:xfrm>
            <a:prstGeom prst="rect">
              <a:avLst/>
            </a:prstGeom>
            <a:solidFill>
              <a:schemeClr val="bg1">
                <a:lumMod val="95000"/>
              </a:schemeClr>
            </a:solidFill>
            <a:ln w="38100">
              <a:solidFill>
                <a:schemeClr val="bg1">
                  <a:lumMod val="75000"/>
                </a:schemeClr>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7" name="Group 46"/>
          <p:cNvGrpSpPr/>
          <p:nvPr/>
        </p:nvGrpSpPr>
        <p:grpSpPr>
          <a:xfrm>
            <a:off x="5507733" y="4485915"/>
            <a:ext cx="130221" cy="500338"/>
            <a:chOff x="1241379" y="4148611"/>
            <a:chExt cx="130221" cy="500338"/>
          </a:xfrm>
        </p:grpSpPr>
        <p:sp>
          <p:nvSpPr>
            <p:cNvPr id="48" name="AutoShape 79"/>
            <p:cNvSpPr>
              <a:spLocks noChangeArrowheads="1"/>
            </p:cNvSpPr>
            <p:nvPr/>
          </p:nvSpPr>
          <p:spPr bwMode="auto">
            <a:xfrm rot="11545995">
              <a:off x="1241379" y="4148611"/>
              <a:ext cx="130221" cy="416948"/>
            </a:xfrm>
            <a:prstGeom prst="lightningBolt">
              <a:avLst/>
            </a:prstGeom>
            <a:solidFill>
              <a:srgbClr val="FF0000"/>
            </a:solid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9" name="Rectangle 80"/>
            <p:cNvSpPr>
              <a:spLocks noChangeArrowheads="1"/>
            </p:cNvSpPr>
            <p:nvPr/>
          </p:nvSpPr>
          <p:spPr bwMode="auto">
            <a:xfrm>
              <a:off x="1241379" y="4315390"/>
              <a:ext cx="130221" cy="333559"/>
            </a:xfrm>
            <a:prstGeom prst="rect">
              <a:avLst/>
            </a:prstGeom>
            <a:solidFill>
              <a:schemeClr val="bg1">
                <a:lumMod val="95000"/>
              </a:schemeClr>
            </a:solidFill>
            <a:ln w="38100">
              <a:solidFill>
                <a:schemeClr val="bg1">
                  <a:lumMod val="75000"/>
                </a:schemeClr>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0" name="Group 49"/>
          <p:cNvGrpSpPr/>
          <p:nvPr/>
        </p:nvGrpSpPr>
        <p:grpSpPr>
          <a:xfrm>
            <a:off x="7092135" y="4494388"/>
            <a:ext cx="130221" cy="500338"/>
            <a:chOff x="1241379" y="4148611"/>
            <a:chExt cx="130221" cy="500338"/>
          </a:xfrm>
        </p:grpSpPr>
        <p:sp>
          <p:nvSpPr>
            <p:cNvPr id="51" name="AutoShape 79"/>
            <p:cNvSpPr>
              <a:spLocks noChangeArrowheads="1"/>
            </p:cNvSpPr>
            <p:nvPr/>
          </p:nvSpPr>
          <p:spPr bwMode="auto">
            <a:xfrm rot="11545995">
              <a:off x="1241379" y="4148611"/>
              <a:ext cx="130221" cy="416948"/>
            </a:xfrm>
            <a:prstGeom prst="lightningBolt">
              <a:avLst/>
            </a:prstGeom>
            <a:solidFill>
              <a:srgbClr val="FF0000"/>
            </a:solid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2" name="Rectangle 80"/>
            <p:cNvSpPr>
              <a:spLocks noChangeArrowheads="1"/>
            </p:cNvSpPr>
            <p:nvPr/>
          </p:nvSpPr>
          <p:spPr bwMode="auto">
            <a:xfrm>
              <a:off x="1241379" y="4315390"/>
              <a:ext cx="130221" cy="333559"/>
            </a:xfrm>
            <a:prstGeom prst="rect">
              <a:avLst/>
            </a:prstGeom>
            <a:solidFill>
              <a:schemeClr val="bg1">
                <a:lumMod val="95000"/>
              </a:schemeClr>
            </a:solidFill>
            <a:ln w="38100">
              <a:solidFill>
                <a:schemeClr val="bg1">
                  <a:lumMod val="75000"/>
                </a:schemeClr>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53" name="Group 52"/>
          <p:cNvGrpSpPr/>
          <p:nvPr/>
        </p:nvGrpSpPr>
        <p:grpSpPr>
          <a:xfrm>
            <a:off x="8927361" y="4452693"/>
            <a:ext cx="130221" cy="500338"/>
            <a:chOff x="1241379" y="4148611"/>
            <a:chExt cx="130221" cy="500338"/>
          </a:xfrm>
        </p:grpSpPr>
        <p:sp>
          <p:nvSpPr>
            <p:cNvPr id="54" name="AutoShape 79"/>
            <p:cNvSpPr>
              <a:spLocks noChangeArrowheads="1"/>
            </p:cNvSpPr>
            <p:nvPr/>
          </p:nvSpPr>
          <p:spPr bwMode="auto">
            <a:xfrm rot="11545995">
              <a:off x="1241379" y="4148611"/>
              <a:ext cx="130221" cy="416948"/>
            </a:xfrm>
            <a:prstGeom prst="lightningBolt">
              <a:avLst/>
            </a:prstGeom>
            <a:solidFill>
              <a:srgbClr val="FF0000"/>
            </a:solid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 name="Rectangle 80"/>
            <p:cNvSpPr>
              <a:spLocks noChangeArrowheads="1"/>
            </p:cNvSpPr>
            <p:nvPr/>
          </p:nvSpPr>
          <p:spPr bwMode="auto">
            <a:xfrm>
              <a:off x="1241379" y="4315390"/>
              <a:ext cx="130221" cy="333559"/>
            </a:xfrm>
            <a:prstGeom prst="rect">
              <a:avLst/>
            </a:prstGeom>
            <a:solidFill>
              <a:schemeClr val="bg1">
                <a:lumMod val="95000"/>
              </a:schemeClr>
            </a:solidFill>
            <a:ln w="38100">
              <a:solidFill>
                <a:schemeClr val="bg1">
                  <a:lumMod val="75000"/>
                </a:schemeClr>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56" name="Flowchart: Magnetic Disk 55"/>
          <p:cNvSpPr/>
          <p:nvPr/>
        </p:nvSpPr>
        <p:spPr>
          <a:xfrm>
            <a:off x="3284134" y="3501741"/>
            <a:ext cx="855117" cy="150796"/>
          </a:xfrm>
          <a:prstGeom prst="flowChartMagneticDisk">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7" name="Flowchart: Magnetic Disk 56"/>
          <p:cNvSpPr/>
          <p:nvPr/>
        </p:nvSpPr>
        <p:spPr>
          <a:xfrm>
            <a:off x="8477446" y="2930992"/>
            <a:ext cx="855117" cy="150796"/>
          </a:xfrm>
          <a:prstGeom prst="flowChartMagneticDisk">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8" name="Flowchart: Magnetic Disk 57"/>
          <p:cNvSpPr/>
          <p:nvPr/>
        </p:nvSpPr>
        <p:spPr>
          <a:xfrm>
            <a:off x="6655643" y="3235792"/>
            <a:ext cx="886115" cy="150796"/>
          </a:xfrm>
          <a:prstGeom prst="flowChartMagneticDisk">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9" name="Flowchart: Magnetic Disk 58"/>
          <p:cNvSpPr/>
          <p:nvPr/>
        </p:nvSpPr>
        <p:spPr>
          <a:xfrm>
            <a:off x="4942110" y="3462788"/>
            <a:ext cx="881028" cy="150796"/>
          </a:xfrm>
          <a:prstGeom prst="flowChartMagneticDisk">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90091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p:sp>
        <p:nvSpPr>
          <p:cNvPr id="6" name="Content Placeholder 2"/>
          <p:cNvSpPr txBox="1">
            <a:spLocks/>
          </p:cNvSpPr>
          <p:nvPr/>
        </p:nvSpPr>
        <p:spPr>
          <a:xfrm>
            <a:off x="627741" y="1020199"/>
            <a:ext cx="11179946" cy="56624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b="1" dirty="0">
                <a:solidFill>
                  <a:srgbClr val="C00000"/>
                </a:solidFill>
              </a:rPr>
              <a:t>Temperature-Specific Volume Diagram for Water</a:t>
            </a:r>
          </a:p>
          <a:p>
            <a:pPr>
              <a:buFont typeface="Wingdings" panose="05000000000000000000" pitchFamily="2" charset="2"/>
              <a:buChar char="v"/>
            </a:pPr>
            <a:endParaRPr lang="en-US" dirty="0"/>
          </a:p>
        </p:txBody>
      </p:sp>
      <p:sp>
        <p:nvSpPr>
          <p:cNvPr id="60" name="Line 10"/>
          <p:cNvSpPr>
            <a:spLocks noChangeShapeType="1"/>
          </p:cNvSpPr>
          <p:nvPr/>
        </p:nvSpPr>
        <p:spPr bwMode="auto">
          <a:xfrm>
            <a:off x="5439784" y="3651526"/>
            <a:ext cx="2761655" cy="0"/>
          </a:xfrm>
          <a:prstGeom prst="line">
            <a:avLst/>
          </a:prstGeom>
          <a:ln w="57150">
            <a:headEnd type="oval" w="med" len="med"/>
            <a:tailEnd type="oval"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61" name="Line 2"/>
          <p:cNvSpPr>
            <a:spLocks noChangeShapeType="1"/>
          </p:cNvSpPr>
          <p:nvPr/>
        </p:nvSpPr>
        <p:spPr bwMode="auto">
          <a:xfrm>
            <a:off x="1826546" y="1668570"/>
            <a:ext cx="0" cy="4160940"/>
          </a:xfrm>
          <a:prstGeom prst="line">
            <a:avLst/>
          </a:prstGeom>
          <a:noFill/>
          <a:ln w="38100">
            <a:solidFill>
              <a:srgbClr val="000000"/>
            </a:solidFill>
            <a:round/>
            <a:headEnd type="triangle" w="med" len="med"/>
            <a:tailEnd/>
          </a:ln>
          <a:effectLst/>
        </p:spPr>
        <p:txBody>
          <a:bodyPr vert="horz" wrap="square" lIns="91440" tIns="45720" rIns="91440" bIns="45720" numCol="1" anchor="t" anchorCtr="0" compatLnSpc="1">
            <a:prstTxWarp prst="textNoShape">
              <a:avLst/>
            </a:prstTxWarp>
          </a:bodyPr>
          <a:lstStyle/>
          <a:p>
            <a:endParaRPr lang="en-US"/>
          </a:p>
        </p:txBody>
      </p:sp>
      <p:sp>
        <p:nvSpPr>
          <p:cNvPr id="62" name="Line 3"/>
          <p:cNvSpPr>
            <a:spLocks noChangeShapeType="1"/>
          </p:cNvSpPr>
          <p:nvPr/>
        </p:nvSpPr>
        <p:spPr bwMode="auto">
          <a:xfrm>
            <a:off x="1826546" y="5829510"/>
            <a:ext cx="7731057" cy="0"/>
          </a:xfrm>
          <a:prstGeom prst="line">
            <a:avLst/>
          </a:prstGeom>
          <a:noFill/>
          <a:ln w="381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63" name="Line 4"/>
          <p:cNvSpPr>
            <a:spLocks noChangeShapeType="1"/>
          </p:cNvSpPr>
          <p:nvPr/>
        </p:nvSpPr>
        <p:spPr bwMode="auto">
          <a:xfrm>
            <a:off x="1826546" y="5071251"/>
            <a:ext cx="176867" cy="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64" name="Line 5"/>
          <p:cNvSpPr>
            <a:spLocks noChangeShapeType="1"/>
          </p:cNvSpPr>
          <p:nvPr/>
        </p:nvSpPr>
        <p:spPr bwMode="auto">
          <a:xfrm>
            <a:off x="1826546" y="2444099"/>
            <a:ext cx="176867" cy="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65" name="Line 6"/>
          <p:cNvSpPr>
            <a:spLocks noChangeShapeType="1"/>
          </p:cNvSpPr>
          <p:nvPr/>
        </p:nvSpPr>
        <p:spPr bwMode="auto">
          <a:xfrm>
            <a:off x="1826546" y="3640721"/>
            <a:ext cx="176867" cy="0"/>
          </a:xfrm>
          <a:prstGeom prst="line">
            <a:avLst/>
          </a:prstGeom>
          <a:noFill/>
          <a:ln w="9525">
            <a:solidFill>
              <a:srgbClr val="000000"/>
            </a:solid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66" name="Line 9"/>
          <p:cNvSpPr>
            <a:spLocks noChangeShapeType="1"/>
          </p:cNvSpPr>
          <p:nvPr/>
        </p:nvSpPr>
        <p:spPr bwMode="auto">
          <a:xfrm flipV="1">
            <a:off x="8209762" y="1794651"/>
            <a:ext cx="788056" cy="1831186"/>
          </a:xfrm>
          <a:prstGeom prst="line">
            <a:avLst/>
          </a:prstGeom>
          <a:ln w="57150" cap="rnd">
            <a:headEnd type="oval" w="sm" len="sm"/>
            <a:tailEnd type="oval" w="sm" len="sm"/>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67" name="Text Box 11"/>
          <p:cNvSpPr txBox="1">
            <a:spLocks noChangeArrowheads="1"/>
          </p:cNvSpPr>
          <p:nvPr/>
        </p:nvSpPr>
        <p:spPr bwMode="auto">
          <a:xfrm>
            <a:off x="2688790" y="3649755"/>
            <a:ext cx="354617"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b="1" i="0" u="none" strike="noStrike" cap="none" normalizeH="0" baseline="0" dirty="0">
                <a:ln>
                  <a:noFill/>
                </a:ln>
                <a:solidFill>
                  <a:schemeClr val="tx1"/>
                </a:solidFill>
                <a:effectLst/>
                <a:latin typeface="Calibri" pitchFamily="34" charset="0"/>
                <a:cs typeface="Arial" pitchFamily="34" charset="0"/>
              </a:rPr>
              <a:t>2</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68" name="Text Box 12"/>
          <p:cNvSpPr txBox="1">
            <a:spLocks noChangeArrowheads="1"/>
          </p:cNvSpPr>
          <p:nvPr/>
        </p:nvSpPr>
        <p:spPr bwMode="auto">
          <a:xfrm>
            <a:off x="5426393" y="3623184"/>
            <a:ext cx="354617"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b="1" i="0" u="none" strike="noStrike" cap="none" normalizeH="0" baseline="0" dirty="0">
                <a:ln>
                  <a:noFill/>
                </a:ln>
                <a:solidFill>
                  <a:schemeClr val="tx1"/>
                </a:solidFill>
                <a:effectLst/>
                <a:latin typeface="Calibri" pitchFamily="34" charset="0"/>
                <a:cs typeface="Arial" pitchFamily="34" charset="0"/>
              </a:rPr>
              <a:t>3</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69" name="Text Box 13"/>
          <p:cNvSpPr txBox="1">
            <a:spLocks noChangeArrowheads="1"/>
          </p:cNvSpPr>
          <p:nvPr/>
        </p:nvSpPr>
        <p:spPr bwMode="auto">
          <a:xfrm>
            <a:off x="2536223" y="4867819"/>
            <a:ext cx="354617"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b="1" i="0" u="none" strike="noStrike" cap="none" normalizeH="0" baseline="0" dirty="0">
                <a:ln>
                  <a:noFill/>
                </a:ln>
                <a:solidFill>
                  <a:schemeClr val="tx1"/>
                </a:solidFill>
                <a:effectLst/>
                <a:latin typeface="Calibri" pitchFamily="34" charset="0"/>
                <a:cs typeface="Arial" pitchFamily="34" charset="0"/>
              </a:rPr>
              <a:t>1</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70" name="Text Box 15"/>
          <p:cNvSpPr txBox="1">
            <a:spLocks noChangeArrowheads="1"/>
          </p:cNvSpPr>
          <p:nvPr/>
        </p:nvSpPr>
        <p:spPr bwMode="auto">
          <a:xfrm>
            <a:off x="8594165" y="1558939"/>
            <a:ext cx="354617"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b="1" i="0" u="none" strike="noStrike" cap="none" normalizeH="0" baseline="0" dirty="0">
                <a:ln>
                  <a:noFill/>
                </a:ln>
                <a:solidFill>
                  <a:schemeClr val="tx1"/>
                </a:solidFill>
                <a:effectLst/>
                <a:latin typeface="Calibri" pitchFamily="34" charset="0"/>
                <a:cs typeface="Arial" pitchFamily="34" charset="0"/>
              </a:rPr>
              <a:t>5</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71" name="Text Box 16"/>
          <p:cNvSpPr txBox="1">
            <a:spLocks noChangeArrowheads="1"/>
          </p:cNvSpPr>
          <p:nvPr/>
        </p:nvSpPr>
        <p:spPr bwMode="auto">
          <a:xfrm>
            <a:off x="1207603" y="4934984"/>
            <a:ext cx="532368"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b="1" i="0" u="none" strike="noStrike" cap="none" normalizeH="0" baseline="0" dirty="0">
                <a:ln>
                  <a:noFill/>
                </a:ln>
                <a:solidFill>
                  <a:schemeClr val="tx1"/>
                </a:solidFill>
                <a:effectLst/>
                <a:latin typeface="Calibri" pitchFamily="34" charset="0"/>
                <a:cs typeface="Arial" pitchFamily="34" charset="0"/>
              </a:rPr>
              <a:t>2</a:t>
            </a:r>
            <a:r>
              <a:rPr kumimoji="0" lang="en-GB" b="1" i="0" u="none" strike="noStrike" cap="none" normalizeH="0" baseline="0" dirty="0">
                <a:ln>
                  <a:noFill/>
                </a:ln>
                <a:solidFill>
                  <a:schemeClr val="tx1"/>
                </a:solidFill>
                <a:effectLst/>
                <a:latin typeface="Times New Roman" pitchFamily="18" charset="0"/>
                <a:cs typeface="Arial" pitchFamily="34" charset="0"/>
              </a:rPr>
              <a:t>0</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72" name="Text Box 17"/>
          <p:cNvSpPr txBox="1">
            <a:spLocks noChangeArrowheads="1"/>
          </p:cNvSpPr>
          <p:nvPr/>
        </p:nvSpPr>
        <p:spPr bwMode="auto">
          <a:xfrm>
            <a:off x="1273096" y="3443795"/>
            <a:ext cx="532368"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marR="0" lvl="0" indent="0" algn="r" defTabSz="914400" eaLnBrk="1" latinLnBrk="0" hangingPunct="1">
              <a:lnSpc>
                <a:spcPct val="100000"/>
              </a:lnSpc>
              <a:spcAft>
                <a:spcPts val="1000"/>
              </a:spcAft>
              <a:buClrTx/>
              <a:buSzTx/>
              <a:buFontTx/>
              <a:buNone/>
              <a:tabLst/>
              <a:defRPr kumimoji="0" b="1" i="0" u="none" strike="noStrike" cap="none" normalizeH="0" baseline="0">
                <a:ln>
                  <a:noFill/>
                </a:ln>
                <a:effectLst/>
                <a:latin typeface="Calibri" pitchFamily="34" charset="0"/>
                <a:cs typeface="Arial" pitchFamily="34" charset="0"/>
              </a:defRPr>
            </a:lvl1pPr>
          </a:lstStyle>
          <a:p>
            <a:r>
              <a:rPr lang="en-GB" dirty="0"/>
              <a:t>100</a:t>
            </a:r>
            <a:endParaRPr lang="en-US" dirty="0"/>
          </a:p>
        </p:txBody>
      </p:sp>
      <p:sp>
        <p:nvSpPr>
          <p:cNvPr id="73" name="Text Box 18"/>
          <p:cNvSpPr txBox="1">
            <a:spLocks noChangeArrowheads="1"/>
          </p:cNvSpPr>
          <p:nvPr/>
        </p:nvSpPr>
        <p:spPr bwMode="auto">
          <a:xfrm>
            <a:off x="1252014" y="2273073"/>
            <a:ext cx="532368"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marR="0" lvl="0" indent="0" algn="r" defTabSz="914400" eaLnBrk="1" latinLnBrk="0" hangingPunct="1">
              <a:lnSpc>
                <a:spcPct val="100000"/>
              </a:lnSpc>
              <a:spcAft>
                <a:spcPts val="1000"/>
              </a:spcAft>
              <a:buClrTx/>
              <a:buSzTx/>
              <a:buFontTx/>
              <a:buNone/>
              <a:tabLst/>
              <a:defRPr kumimoji="0" b="1" i="0" u="none" strike="noStrike" cap="none" normalizeH="0" baseline="0">
                <a:ln>
                  <a:noFill/>
                </a:ln>
                <a:effectLst/>
                <a:latin typeface="Calibri" pitchFamily="34" charset="0"/>
                <a:cs typeface="Arial" pitchFamily="34" charset="0"/>
              </a:defRPr>
            </a:lvl1pPr>
          </a:lstStyle>
          <a:p>
            <a:r>
              <a:rPr lang="en-GB" dirty="0"/>
              <a:t>300</a:t>
            </a:r>
            <a:endParaRPr lang="en-US" dirty="0"/>
          </a:p>
        </p:txBody>
      </p:sp>
      <p:graphicFrame>
        <p:nvGraphicFramePr>
          <p:cNvPr id="74" name="Object 26"/>
          <p:cNvGraphicFramePr>
            <a:graphicFrameLocks noChangeAspect="1"/>
          </p:cNvGraphicFramePr>
          <p:nvPr>
            <p:extLst>
              <p:ext uri="{D42A27DB-BD31-4B8C-83A1-F6EECF244321}">
                <p14:modId xmlns:p14="http://schemas.microsoft.com/office/powerpoint/2010/main" val="3555837538"/>
              </p:ext>
            </p:extLst>
          </p:nvPr>
        </p:nvGraphicFramePr>
        <p:xfrm>
          <a:off x="8500402" y="5924226"/>
          <a:ext cx="994833" cy="381000"/>
        </p:xfrm>
        <a:graphic>
          <a:graphicData uri="http://schemas.openxmlformats.org/presentationml/2006/ole">
            <mc:AlternateContent xmlns:mc="http://schemas.openxmlformats.org/markup-compatibility/2006">
              <mc:Choice xmlns:v="urn:schemas-microsoft-com:vml" Requires="v">
                <p:oleObj spid="_x0000_s18610" name="Equation" r:id="rId3" imgW="596880" imgH="228600" progId="Equation.DSMT4">
                  <p:embed/>
                </p:oleObj>
              </mc:Choice>
              <mc:Fallback>
                <p:oleObj name="Equation" r:id="rId3" imgW="59688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0402" y="5924226"/>
                        <a:ext cx="99483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 name="Object 28"/>
          <p:cNvGraphicFramePr>
            <a:graphicFrameLocks noChangeAspect="1"/>
          </p:cNvGraphicFramePr>
          <p:nvPr>
            <p:extLst>
              <p:ext uri="{D42A27DB-BD31-4B8C-83A1-F6EECF244321}">
                <p14:modId xmlns:p14="http://schemas.microsoft.com/office/powerpoint/2010/main" val="1978587554"/>
              </p:ext>
            </p:extLst>
          </p:nvPr>
        </p:nvGraphicFramePr>
        <p:xfrm>
          <a:off x="1134583" y="1687407"/>
          <a:ext cx="588962" cy="381000"/>
        </p:xfrm>
        <a:graphic>
          <a:graphicData uri="http://schemas.openxmlformats.org/presentationml/2006/ole">
            <mc:AlternateContent xmlns:mc="http://schemas.openxmlformats.org/markup-compatibility/2006">
              <mc:Choice xmlns:v="urn:schemas-microsoft-com:vml" Requires="v">
                <p:oleObj spid="_x0000_s18611" name="Equation" r:id="rId5" imgW="355320" imgH="228600" progId="Equation.DSMT4">
                  <p:embed/>
                </p:oleObj>
              </mc:Choice>
              <mc:Fallback>
                <p:oleObj name="Equation" r:id="rId5" imgW="35532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4583" y="1687407"/>
                        <a:ext cx="58896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 name="Line 8"/>
          <p:cNvSpPr>
            <a:spLocks noChangeShapeType="1"/>
          </p:cNvSpPr>
          <p:nvPr/>
        </p:nvSpPr>
        <p:spPr bwMode="auto">
          <a:xfrm>
            <a:off x="2688790" y="3640720"/>
            <a:ext cx="4903049" cy="0"/>
          </a:xfrm>
          <a:prstGeom prst="line">
            <a:avLst/>
          </a:prstGeom>
          <a:ln w="57150">
            <a:gradFill flip="none" rotWithShape="1">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77" name="Line 7"/>
          <p:cNvSpPr>
            <a:spLocks noChangeShapeType="1"/>
          </p:cNvSpPr>
          <p:nvPr/>
        </p:nvSpPr>
        <p:spPr bwMode="auto">
          <a:xfrm flipV="1">
            <a:off x="2511923" y="3680329"/>
            <a:ext cx="201609" cy="1438247"/>
          </a:xfrm>
          <a:prstGeom prst="line">
            <a:avLst/>
          </a:prstGeom>
          <a:ln w="57150">
            <a:solidFill>
              <a:srgbClr val="00B0F0"/>
            </a:solidFill>
            <a:headEnd type="oval" w="sm" len="sm"/>
            <a:tailEnd type="oval" w="sm" len="sm"/>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en-US"/>
          </a:p>
        </p:txBody>
      </p:sp>
      <p:sp>
        <p:nvSpPr>
          <p:cNvPr id="78" name="Text Box 21"/>
          <p:cNvSpPr txBox="1">
            <a:spLocks noChangeArrowheads="1"/>
          </p:cNvSpPr>
          <p:nvPr/>
        </p:nvSpPr>
        <p:spPr bwMode="auto">
          <a:xfrm>
            <a:off x="7876471" y="2306287"/>
            <a:ext cx="1454637" cy="36933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b="1" i="0" u="none" strike="noStrike" cap="none" normalizeH="0" baseline="0" dirty="0">
                <a:ln>
                  <a:noFill/>
                </a:ln>
                <a:solidFill>
                  <a:schemeClr val="tx1"/>
                </a:solidFill>
                <a:effectLst/>
                <a:latin typeface="+mn-lt"/>
                <a:cs typeface="Arial" pitchFamily="34" charset="0"/>
              </a:rPr>
              <a:t>Sensible heat</a:t>
            </a:r>
            <a:endParaRPr kumimoji="0" lang="en-US" b="1" i="0" u="none" strike="noStrike" cap="none" normalizeH="0" baseline="0" dirty="0">
              <a:ln>
                <a:noFill/>
              </a:ln>
              <a:solidFill>
                <a:schemeClr val="tx1"/>
              </a:solidFill>
              <a:effectLst/>
              <a:latin typeface="+mn-lt"/>
              <a:cs typeface="Arial" pitchFamily="34" charset="0"/>
            </a:endParaRPr>
          </a:p>
        </p:txBody>
      </p:sp>
      <p:sp>
        <p:nvSpPr>
          <p:cNvPr id="79" name="Text Box 21"/>
          <p:cNvSpPr txBox="1">
            <a:spLocks noChangeArrowheads="1"/>
          </p:cNvSpPr>
          <p:nvPr/>
        </p:nvSpPr>
        <p:spPr bwMode="auto">
          <a:xfrm>
            <a:off x="4869915" y="3138509"/>
            <a:ext cx="1822189" cy="36933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b="1" i="0" u="none" strike="noStrike" cap="none" normalizeH="0" baseline="0" dirty="0">
                <a:ln>
                  <a:noFill/>
                </a:ln>
                <a:solidFill>
                  <a:schemeClr val="tx1"/>
                </a:solidFill>
                <a:effectLst/>
                <a:latin typeface="+mn-lt"/>
                <a:cs typeface="Arial" pitchFamily="34" charset="0"/>
              </a:rPr>
              <a:t>Latent heat</a:t>
            </a:r>
            <a:endParaRPr kumimoji="0" lang="en-US" b="1" i="0" u="none" strike="noStrike" cap="none" normalizeH="0" baseline="0" dirty="0">
              <a:ln>
                <a:noFill/>
              </a:ln>
              <a:solidFill>
                <a:schemeClr val="tx1"/>
              </a:solidFill>
              <a:effectLst/>
              <a:latin typeface="+mn-lt"/>
              <a:cs typeface="Arial" pitchFamily="34" charset="0"/>
            </a:endParaRPr>
          </a:p>
        </p:txBody>
      </p:sp>
      <p:sp>
        <p:nvSpPr>
          <p:cNvPr id="80" name="Text Box 12"/>
          <p:cNvSpPr txBox="1">
            <a:spLocks noChangeArrowheads="1"/>
          </p:cNvSpPr>
          <p:nvPr/>
        </p:nvSpPr>
        <p:spPr bwMode="auto">
          <a:xfrm>
            <a:off x="8288663" y="3523617"/>
            <a:ext cx="354617" cy="299156"/>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b="1" i="0" u="none" strike="noStrike" cap="none" normalizeH="0" baseline="0" dirty="0">
                <a:ln>
                  <a:noFill/>
                </a:ln>
                <a:solidFill>
                  <a:schemeClr val="tx1"/>
                </a:solidFill>
                <a:effectLst/>
                <a:latin typeface="Calibri" pitchFamily="34" charset="0"/>
                <a:cs typeface="Arial" pitchFamily="34" charset="0"/>
              </a:rPr>
              <a:t>4</a:t>
            </a:r>
            <a:endParaRPr kumimoji="0" lang="en-US" b="1" i="0" u="none" strike="noStrike" cap="none" normalizeH="0" baseline="0" dirty="0">
              <a:ln>
                <a:noFill/>
              </a:ln>
              <a:solidFill>
                <a:schemeClr val="tx1"/>
              </a:solidFill>
              <a:effectLst/>
              <a:latin typeface="Arial" pitchFamily="34" charset="0"/>
              <a:cs typeface="Arial" pitchFamily="34" charset="0"/>
            </a:endParaRPr>
          </a:p>
        </p:txBody>
      </p:sp>
      <p:sp>
        <p:nvSpPr>
          <p:cNvPr id="81" name="Text Box 21"/>
          <p:cNvSpPr txBox="1">
            <a:spLocks noChangeArrowheads="1"/>
          </p:cNvSpPr>
          <p:nvPr/>
        </p:nvSpPr>
        <p:spPr bwMode="auto">
          <a:xfrm>
            <a:off x="1986212" y="4231002"/>
            <a:ext cx="1454637" cy="36933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b="1" i="0" u="none" strike="noStrike" cap="none" normalizeH="0" baseline="0" dirty="0">
                <a:ln>
                  <a:noFill/>
                </a:ln>
                <a:solidFill>
                  <a:schemeClr val="tx1"/>
                </a:solidFill>
                <a:effectLst/>
                <a:latin typeface="+mn-lt"/>
                <a:cs typeface="Arial" pitchFamily="34" charset="0"/>
              </a:rPr>
              <a:t>Sensible heat</a:t>
            </a:r>
            <a:endParaRPr kumimoji="0" lang="en-US" b="1" i="0" u="none" strike="noStrike" cap="none" normalizeH="0" baseline="0" dirty="0">
              <a:ln>
                <a:noFill/>
              </a:ln>
              <a:solidFill>
                <a:schemeClr val="tx1"/>
              </a:solidFill>
              <a:effectLst/>
              <a:latin typeface="+mn-lt"/>
              <a:cs typeface="Arial" pitchFamily="34" charset="0"/>
            </a:endParaRPr>
          </a:p>
        </p:txBody>
      </p:sp>
      <p:sp>
        <p:nvSpPr>
          <p:cNvPr id="82" name="Rounded Rectangle 81"/>
          <p:cNvSpPr/>
          <p:nvPr/>
        </p:nvSpPr>
        <p:spPr>
          <a:xfrm>
            <a:off x="2425349" y="3623184"/>
            <a:ext cx="465492" cy="1610956"/>
          </a:xfrm>
          <a:prstGeom prst="roundRect">
            <a:avLst/>
          </a:prstGeom>
          <a:noFill/>
          <a:ln w="28575">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Rounded Rectangle 82"/>
          <p:cNvSpPr/>
          <p:nvPr/>
        </p:nvSpPr>
        <p:spPr>
          <a:xfrm>
            <a:off x="2536223" y="3443795"/>
            <a:ext cx="5752440" cy="478545"/>
          </a:xfrm>
          <a:prstGeom prst="roundRect">
            <a:avLst/>
          </a:prstGeom>
          <a:noFill/>
          <a:ln w="28575">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4" name="Rounded Rectangle 83"/>
          <p:cNvSpPr/>
          <p:nvPr/>
        </p:nvSpPr>
        <p:spPr>
          <a:xfrm rot="1442449">
            <a:off x="8351253" y="1515259"/>
            <a:ext cx="516779" cy="2389972"/>
          </a:xfrm>
          <a:prstGeom prst="roundRect">
            <a:avLst/>
          </a:prstGeom>
          <a:noFill/>
          <a:ln w="28575">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Tree>
    <p:extLst>
      <p:ext uri="{BB962C8B-B14F-4D97-AF65-F5344CB8AC3E}">
        <p14:creationId xmlns:p14="http://schemas.microsoft.com/office/powerpoint/2010/main" val="16383471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p:sp>
        <p:nvSpPr>
          <p:cNvPr id="6" name="Content Placeholder 2"/>
          <p:cNvSpPr txBox="1">
            <a:spLocks/>
          </p:cNvSpPr>
          <p:nvPr/>
        </p:nvSpPr>
        <p:spPr>
          <a:xfrm>
            <a:off x="627741" y="1020199"/>
            <a:ext cx="11179946" cy="56624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b="1" dirty="0">
                <a:solidFill>
                  <a:srgbClr val="C00000"/>
                </a:solidFill>
              </a:rPr>
              <a:t>Temperature-Volume Diagram for Water</a:t>
            </a:r>
          </a:p>
          <a:p>
            <a:pPr>
              <a:buFont typeface="Wingdings" panose="05000000000000000000" pitchFamily="2" charset="2"/>
              <a:buChar char="v"/>
            </a:pPr>
            <a:endParaRPr lang="en-US" dirty="0"/>
          </a:p>
        </p:txBody>
      </p:sp>
      <p:sp>
        <p:nvSpPr>
          <p:cNvPr id="30" name="Freeform 11"/>
          <p:cNvSpPr>
            <a:spLocks/>
          </p:cNvSpPr>
          <p:nvPr/>
        </p:nvSpPr>
        <p:spPr bwMode="auto">
          <a:xfrm>
            <a:off x="2012635" y="2293005"/>
            <a:ext cx="5188420" cy="3179586"/>
          </a:xfrm>
          <a:custGeom>
            <a:avLst/>
            <a:gdLst/>
            <a:ahLst/>
            <a:cxnLst>
              <a:cxn ang="0">
                <a:pos x="0" y="3420"/>
              </a:cxn>
              <a:cxn ang="0">
                <a:pos x="1080" y="180"/>
              </a:cxn>
              <a:cxn ang="0">
                <a:pos x="3240" y="2340"/>
              </a:cxn>
              <a:cxn ang="0">
                <a:pos x="5400" y="2880"/>
              </a:cxn>
            </a:cxnLst>
            <a:rect l="0" t="0" r="r" b="b"/>
            <a:pathLst>
              <a:path w="5400" h="3420">
                <a:moveTo>
                  <a:pt x="0" y="3420"/>
                </a:moveTo>
                <a:cubicBezTo>
                  <a:pt x="270" y="1890"/>
                  <a:pt x="540" y="360"/>
                  <a:pt x="1080" y="180"/>
                </a:cubicBezTo>
                <a:cubicBezTo>
                  <a:pt x="1620" y="0"/>
                  <a:pt x="2520" y="1890"/>
                  <a:pt x="3240" y="2340"/>
                </a:cubicBezTo>
                <a:cubicBezTo>
                  <a:pt x="3960" y="2790"/>
                  <a:pt x="4680" y="2835"/>
                  <a:pt x="5400" y="2880"/>
                </a:cubicBezTo>
              </a:path>
            </a:pathLst>
          </a:custGeom>
          <a:solidFill>
            <a:srgbClr val="FFFF00"/>
          </a:solidFill>
          <a:ln w="381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1" name="Line 3"/>
          <p:cNvSpPr>
            <a:spLocks noChangeShapeType="1"/>
          </p:cNvSpPr>
          <p:nvPr/>
        </p:nvSpPr>
        <p:spPr bwMode="auto">
          <a:xfrm>
            <a:off x="1000106" y="5778074"/>
            <a:ext cx="5690524" cy="0"/>
          </a:xfrm>
          <a:prstGeom prst="line">
            <a:avLst/>
          </a:prstGeom>
          <a:noFill/>
          <a:ln w="381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2" name="Line 4"/>
          <p:cNvSpPr>
            <a:spLocks noChangeShapeType="1"/>
          </p:cNvSpPr>
          <p:nvPr/>
        </p:nvSpPr>
        <p:spPr bwMode="auto">
          <a:xfrm flipV="1">
            <a:off x="1000106" y="1594408"/>
            <a:ext cx="0" cy="4183666"/>
          </a:xfrm>
          <a:prstGeom prst="line">
            <a:avLst/>
          </a:prstGeom>
          <a:noFill/>
          <a:ln w="381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3" name="Line 5"/>
          <p:cNvSpPr>
            <a:spLocks noChangeShapeType="1"/>
          </p:cNvSpPr>
          <p:nvPr/>
        </p:nvSpPr>
        <p:spPr bwMode="auto">
          <a:xfrm flipV="1">
            <a:off x="1502212" y="4439301"/>
            <a:ext cx="669473" cy="1004080"/>
          </a:xfrm>
          <a:prstGeom prst="line">
            <a:avLst/>
          </a:prstGeom>
          <a:noFill/>
          <a:ln w="38100">
            <a:solidFill>
              <a:srgbClr val="000000"/>
            </a:solidFill>
            <a:prstDash val="dash"/>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4" name="Line 6"/>
          <p:cNvSpPr>
            <a:spLocks noChangeShapeType="1"/>
          </p:cNvSpPr>
          <p:nvPr/>
        </p:nvSpPr>
        <p:spPr bwMode="auto">
          <a:xfrm>
            <a:off x="2171685" y="4439301"/>
            <a:ext cx="3012631" cy="0"/>
          </a:xfrm>
          <a:prstGeom prst="line">
            <a:avLst/>
          </a:prstGeom>
          <a:noFill/>
          <a:ln w="38100">
            <a:solidFill>
              <a:srgbClr val="000000"/>
            </a:solidFill>
            <a:prstDash val="dash"/>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5" name="Line 7"/>
          <p:cNvSpPr>
            <a:spLocks noChangeShapeType="1"/>
          </p:cNvSpPr>
          <p:nvPr/>
        </p:nvSpPr>
        <p:spPr bwMode="auto">
          <a:xfrm flipV="1">
            <a:off x="5184315" y="3267874"/>
            <a:ext cx="2175789" cy="1171427"/>
          </a:xfrm>
          <a:prstGeom prst="line">
            <a:avLst/>
          </a:prstGeom>
          <a:noFill/>
          <a:ln w="38100">
            <a:solidFill>
              <a:srgbClr val="000000"/>
            </a:solidFill>
            <a:prstDash val="dash"/>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6" name="Line 8"/>
          <p:cNvSpPr>
            <a:spLocks noChangeShapeType="1"/>
          </p:cNvSpPr>
          <p:nvPr/>
        </p:nvSpPr>
        <p:spPr bwMode="auto">
          <a:xfrm flipV="1">
            <a:off x="1334843" y="3267874"/>
            <a:ext cx="1171579" cy="1840813"/>
          </a:xfrm>
          <a:prstGeom prst="line">
            <a:avLst/>
          </a:prstGeom>
          <a:noFill/>
          <a:ln w="38100">
            <a:solidFill>
              <a:srgbClr val="000000"/>
            </a:solidFill>
            <a:prstDash val="dash"/>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7" name="Line 9"/>
          <p:cNvSpPr>
            <a:spLocks noChangeShapeType="1"/>
          </p:cNvSpPr>
          <p:nvPr/>
        </p:nvSpPr>
        <p:spPr bwMode="auto">
          <a:xfrm>
            <a:off x="2506422" y="3267874"/>
            <a:ext cx="1506315" cy="0"/>
          </a:xfrm>
          <a:prstGeom prst="line">
            <a:avLst/>
          </a:prstGeom>
          <a:noFill/>
          <a:ln w="38100">
            <a:solidFill>
              <a:srgbClr val="000000"/>
            </a:solidFill>
            <a:prstDash val="dash"/>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8" name="Line 10"/>
          <p:cNvSpPr>
            <a:spLocks noChangeShapeType="1"/>
          </p:cNvSpPr>
          <p:nvPr/>
        </p:nvSpPr>
        <p:spPr bwMode="auto">
          <a:xfrm flipV="1">
            <a:off x="4012736" y="2096448"/>
            <a:ext cx="1841052" cy="1171427"/>
          </a:xfrm>
          <a:prstGeom prst="line">
            <a:avLst/>
          </a:prstGeom>
          <a:noFill/>
          <a:ln w="38100">
            <a:solidFill>
              <a:srgbClr val="000000"/>
            </a:solidFill>
            <a:prstDash val="dash"/>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39" name="Freeform 11"/>
          <p:cNvSpPr>
            <a:spLocks/>
          </p:cNvSpPr>
          <p:nvPr/>
        </p:nvSpPr>
        <p:spPr bwMode="auto">
          <a:xfrm>
            <a:off x="2001527" y="2282996"/>
            <a:ext cx="5188420" cy="3179586"/>
          </a:xfrm>
          <a:custGeom>
            <a:avLst/>
            <a:gdLst/>
            <a:ahLst/>
            <a:cxnLst>
              <a:cxn ang="0">
                <a:pos x="0" y="3420"/>
              </a:cxn>
              <a:cxn ang="0">
                <a:pos x="1080" y="180"/>
              </a:cxn>
              <a:cxn ang="0">
                <a:pos x="3240" y="2340"/>
              </a:cxn>
              <a:cxn ang="0">
                <a:pos x="5400" y="2880"/>
              </a:cxn>
            </a:cxnLst>
            <a:rect l="0" t="0" r="r" b="b"/>
            <a:pathLst>
              <a:path w="5400" h="3420">
                <a:moveTo>
                  <a:pt x="0" y="3420"/>
                </a:moveTo>
                <a:cubicBezTo>
                  <a:pt x="270" y="1890"/>
                  <a:pt x="540" y="360"/>
                  <a:pt x="1080" y="180"/>
                </a:cubicBezTo>
                <a:cubicBezTo>
                  <a:pt x="1620" y="0"/>
                  <a:pt x="2520" y="1890"/>
                  <a:pt x="3240" y="2340"/>
                </a:cubicBezTo>
                <a:cubicBezTo>
                  <a:pt x="3960" y="2790"/>
                  <a:pt x="4680" y="2835"/>
                  <a:pt x="5400" y="2880"/>
                </a:cubicBezTo>
              </a:path>
            </a:pathLst>
          </a:custGeom>
          <a:noFill/>
          <a:ln w="381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40" name="Line 12"/>
          <p:cNvSpPr>
            <a:spLocks noChangeShapeType="1"/>
          </p:cNvSpPr>
          <p:nvPr/>
        </p:nvSpPr>
        <p:spPr bwMode="auto">
          <a:xfrm>
            <a:off x="3008526" y="2431141"/>
            <a:ext cx="167369" cy="0"/>
          </a:xfrm>
          <a:prstGeom prst="line">
            <a:avLst/>
          </a:prstGeom>
          <a:noFill/>
          <a:ln w="9525">
            <a:solidFill>
              <a:srgbClr val="000000"/>
            </a:solidFill>
            <a:round/>
            <a:headEnd/>
            <a:tailEnd type="oval" w="lg" len="lg"/>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41" name="Text Box 13"/>
          <p:cNvSpPr txBox="1">
            <a:spLocks noChangeArrowheads="1"/>
          </p:cNvSpPr>
          <p:nvPr/>
        </p:nvSpPr>
        <p:spPr bwMode="auto">
          <a:xfrm>
            <a:off x="2419948" y="3435221"/>
            <a:ext cx="2144175" cy="8367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Saturated liquid-vapour region or wet region</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2" name="Text Box 14"/>
          <p:cNvSpPr txBox="1">
            <a:spLocks noChangeArrowheads="1"/>
          </p:cNvSpPr>
          <p:nvPr/>
        </p:nvSpPr>
        <p:spPr bwMode="auto">
          <a:xfrm>
            <a:off x="4539017" y="3100528"/>
            <a:ext cx="2231579" cy="11714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Superheated Vapour Region</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3" name="Text Box 15"/>
          <p:cNvSpPr txBox="1">
            <a:spLocks noChangeArrowheads="1"/>
          </p:cNvSpPr>
          <p:nvPr/>
        </p:nvSpPr>
        <p:spPr bwMode="auto">
          <a:xfrm>
            <a:off x="969423" y="2765835"/>
            <a:ext cx="1617894" cy="66938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Compressed Liquid Region</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4" name="Text Box 16"/>
          <p:cNvSpPr txBox="1">
            <a:spLocks noChangeArrowheads="1"/>
          </p:cNvSpPr>
          <p:nvPr/>
        </p:nvSpPr>
        <p:spPr bwMode="auto">
          <a:xfrm>
            <a:off x="2355768" y="1931043"/>
            <a:ext cx="1338947" cy="37058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Critical Point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5" name="Text Box 17"/>
          <p:cNvSpPr txBox="1">
            <a:spLocks noChangeArrowheads="1"/>
          </p:cNvSpPr>
          <p:nvPr/>
        </p:nvSpPr>
        <p:spPr bwMode="auto">
          <a:xfrm>
            <a:off x="6296384" y="5778074"/>
            <a:ext cx="184731" cy="307777"/>
          </a:xfrm>
          <a:prstGeom prst="rect">
            <a:avLst/>
          </a:prstGeom>
          <a:noFill/>
          <a:ln w="9525" algn="ctr">
            <a:noFill/>
            <a:miter lim="800000"/>
            <a:headEnd/>
            <a:tailEnd/>
          </a:ln>
          <a:effectLst/>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cs typeface="Arial" pitchFamily="34" charset="0"/>
            </a:endParaRPr>
          </a:p>
        </p:txBody>
      </p:sp>
      <p:sp>
        <p:nvSpPr>
          <p:cNvPr id="46" name="Text Box 18"/>
          <p:cNvSpPr txBox="1">
            <a:spLocks noChangeArrowheads="1"/>
          </p:cNvSpPr>
          <p:nvPr/>
        </p:nvSpPr>
        <p:spPr bwMode="auto">
          <a:xfrm>
            <a:off x="634685" y="1761755"/>
            <a:ext cx="184731" cy="307777"/>
          </a:xfrm>
          <a:prstGeom prst="rect">
            <a:avLst/>
          </a:prstGeom>
          <a:noFill/>
          <a:ln w="9525" algn="ctr">
            <a:noFill/>
            <a:miter lim="800000"/>
            <a:headEnd/>
            <a:tailEnd/>
          </a:ln>
          <a:effectLst/>
        </p:spPr>
        <p:txBody>
          <a:bodyPr vert="horz" wrap="non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cs typeface="Arial" pitchFamily="34" charset="0"/>
            </a:endParaRPr>
          </a:p>
        </p:txBody>
      </p:sp>
      <p:sp>
        <p:nvSpPr>
          <p:cNvPr id="47" name="Text Box 19"/>
          <p:cNvSpPr txBox="1">
            <a:spLocks noChangeArrowheads="1"/>
          </p:cNvSpPr>
          <p:nvPr/>
        </p:nvSpPr>
        <p:spPr bwMode="auto">
          <a:xfrm>
            <a:off x="2171685" y="5108688"/>
            <a:ext cx="1841052" cy="72516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Saturated liquid line</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8" name="Text Box 20"/>
          <p:cNvSpPr txBox="1">
            <a:spLocks noChangeArrowheads="1"/>
          </p:cNvSpPr>
          <p:nvPr/>
        </p:nvSpPr>
        <p:spPr bwMode="auto">
          <a:xfrm>
            <a:off x="6268489" y="5052906"/>
            <a:ext cx="2144945" cy="55782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Saturated vapour line</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9" name="Line 21"/>
          <p:cNvSpPr>
            <a:spLocks noChangeShapeType="1"/>
          </p:cNvSpPr>
          <p:nvPr/>
        </p:nvSpPr>
        <p:spPr bwMode="auto">
          <a:xfrm flipH="1" flipV="1">
            <a:off x="2171685" y="4773994"/>
            <a:ext cx="334737" cy="334693"/>
          </a:xfrm>
          <a:prstGeom prst="line">
            <a:avLst/>
          </a:prstGeom>
          <a:noFill/>
          <a:ln w="9525">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50" name="Line 22"/>
          <p:cNvSpPr>
            <a:spLocks noChangeShapeType="1"/>
          </p:cNvSpPr>
          <p:nvPr/>
        </p:nvSpPr>
        <p:spPr bwMode="auto">
          <a:xfrm flipH="1">
            <a:off x="6188525" y="4941341"/>
            <a:ext cx="334737" cy="334693"/>
          </a:xfrm>
          <a:prstGeom prst="line">
            <a:avLst/>
          </a:prstGeom>
          <a:noFill/>
          <a:ln w="9525">
            <a:solidFill>
              <a:srgbClr val="000000"/>
            </a:solidFill>
            <a:round/>
            <a:headEnd type="triangle" w="med" len="med"/>
            <a:tailEnd/>
          </a:ln>
          <a:effectLst/>
        </p:spPr>
        <p:txBody>
          <a:bodyPr vert="horz" wrap="square" lIns="91440" tIns="45720" rIns="91440" bIns="45720" numCol="1" anchor="t" anchorCtr="0" compatLnSpc="1">
            <a:prstTxWarp prst="textNoShape">
              <a:avLst/>
            </a:prstTxWarp>
          </a:bodyPr>
          <a:lstStyle/>
          <a:p>
            <a:endParaRPr lang="en-US" sz="1400" b="1">
              <a:latin typeface="Arial" panose="020B0604020202020204" pitchFamily="34" charset="0"/>
              <a:cs typeface="Arial" panose="020B0604020202020204" pitchFamily="34" charset="0"/>
            </a:endParaRPr>
          </a:p>
        </p:txBody>
      </p:sp>
      <p:sp>
        <p:nvSpPr>
          <p:cNvPr id="51" name="Text Box 23"/>
          <p:cNvSpPr txBox="1">
            <a:spLocks noChangeArrowheads="1"/>
          </p:cNvSpPr>
          <p:nvPr/>
        </p:nvSpPr>
        <p:spPr bwMode="auto">
          <a:xfrm>
            <a:off x="6606017" y="2933181"/>
            <a:ext cx="1196684" cy="502040"/>
          </a:xfrm>
          <a:prstGeom prst="rect">
            <a:avLst/>
          </a:prstGeom>
          <a:noFill/>
          <a:ln w="9525" algn="ctr">
            <a:noFill/>
            <a:miter lim="800000"/>
            <a:headEnd/>
            <a:tailEnd/>
          </a:ln>
          <a:effectLst/>
        </p:spPr>
        <p:txBody>
          <a:bodyPr vert="horz" wrap="non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a:ln>
                  <a:noFill/>
                </a:ln>
                <a:solidFill>
                  <a:schemeClr val="tx1"/>
                </a:solidFill>
                <a:effectLst/>
                <a:latin typeface="Arial" panose="020B0604020202020204" pitchFamily="34" charset="0"/>
                <a:cs typeface="Arial" panose="020B0604020202020204" pitchFamily="34" charset="0"/>
              </a:rPr>
              <a:t>P</a:t>
            </a:r>
            <a:r>
              <a:rPr kumimoji="0" lang="en-GB" sz="1400" b="1" i="0" u="none" strike="noStrike" cap="none" normalizeH="0" baseline="-25000">
                <a:ln>
                  <a:noFill/>
                </a:ln>
                <a:solidFill>
                  <a:schemeClr val="tx1"/>
                </a:solidFill>
                <a:effectLst/>
                <a:latin typeface="Arial" panose="020B0604020202020204" pitchFamily="34" charset="0"/>
                <a:cs typeface="Arial" panose="020B0604020202020204" pitchFamily="34" charset="0"/>
              </a:rPr>
              <a:t>1</a:t>
            </a:r>
            <a:r>
              <a:rPr kumimoji="0" lang="en-GB" sz="1400" b="1" i="0" u="none" strike="noStrike" cap="none" normalizeH="0" baseline="0">
                <a:ln>
                  <a:noFill/>
                </a:ln>
                <a:solidFill>
                  <a:schemeClr val="tx1"/>
                </a:solidFill>
                <a:effectLst/>
                <a:latin typeface="Arial" panose="020B0604020202020204" pitchFamily="34" charset="0"/>
                <a:cs typeface="Arial" panose="020B0604020202020204" pitchFamily="34" charset="0"/>
              </a:rPr>
              <a:t> = const.</a:t>
            </a:r>
            <a:endParaRPr kumimoji="0" lang="en-US" sz="1400" b="1" i="0" u="none" strike="noStrike" cap="none" normalizeH="0" baseline="0">
              <a:ln>
                <a:noFill/>
              </a:ln>
              <a:solidFill>
                <a:schemeClr val="tx1"/>
              </a:solidFill>
              <a:effectLst/>
              <a:latin typeface="Arial" pitchFamily="34" charset="0"/>
              <a:cs typeface="Arial" pitchFamily="34" charset="0"/>
            </a:endParaRPr>
          </a:p>
        </p:txBody>
      </p:sp>
      <p:sp>
        <p:nvSpPr>
          <p:cNvPr id="52" name="Text Box 24"/>
          <p:cNvSpPr txBox="1">
            <a:spLocks noChangeArrowheads="1"/>
          </p:cNvSpPr>
          <p:nvPr/>
        </p:nvSpPr>
        <p:spPr bwMode="auto">
          <a:xfrm>
            <a:off x="5686420" y="1761755"/>
            <a:ext cx="1576982" cy="502040"/>
          </a:xfrm>
          <a:prstGeom prst="rect">
            <a:avLst/>
          </a:prstGeom>
          <a:noFill/>
          <a:ln w="9525" algn="ctr">
            <a:noFill/>
            <a:miter lim="800000"/>
            <a:headEnd/>
            <a:tailEnd/>
          </a:ln>
          <a:effectLst/>
        </p:spPr>
        <p:txBody>
          <a:bodyPr vert="horz" wrap="non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a:t>
            </a:r>
            <a:r>
              <a:rPr kumimoji="0" lang="en-GB"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2</a:t>
            </a:r>
            <a:r>
              <a:rPr kumimoji="0" lang="en-GB"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const.&gt; P</a:t>
            </a:r>
            <a:r>
              <a:rPr kumimoji="0" lang="en-GB"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1</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53" name="Object 26"/>
          <p:cNvGraphicFramePr>
            <a:graphicFrameLocks noChangeAspect="1"/>
          </p:cNvGraphicFramePr>
          <p:nvPr>
            <p:extLst>
              <p:ext uri="{D42A27DB-BD31-4B8C-83A1-F6EECF244321}">
                <p14:modId xmlns:p14="http://schemas.microsoft.com/office/powerpoint/2010/main" val="1445679909"/>
              </p:ext>
            </p:extLst>
          </p:nvPr>
        </p:nvGraphicFramePr>
        <p:xfrm>
          <a:off x="6436036" y="5945421"/>
          <a:ext cx="334693" cy="386184"/>
        </p:xfrm>
        <a:graphic>
          <a:graphicData uri="http://schemas.openxmlformats.org/presentationml/2006/ole">
            <mc:AlternateContent xmlns:mc="http://schemas.openxmlformats.org/markup-compatibility/2006">
              <mc:Choice xmlns:v="urn:schemas-microsoft-com:vml" Requires="v">
                <p:oleObj spid="_x0000_s19632" name="Equation" r:id="rId3" imgW="126720" imgH="139680" progId="Equation.DSMT4">
                  <p:embed/>
                </p:oleObj>
              </mc:Choice>
              <mc:Fallback>
                <p:oleObj name="Equation" r:id="rId3" imgW="126720" imgH="1396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6036" y="5945421"/>
                        <a:ext cx="334693" cy="386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4" name="Object 28"/>
          <p:cNvGraphicFramePr>
            <a:graphicFrameLocks noChangeAspect="1"/>
          </p:cNvGraphicFramePr>
          <p:nvPr>
            <p:extLst>
              <p:ext uri="{D42A27DB-BD31-4B8C-83A1-F6EECF244321}">
                <p14:modId xmlns:p14="http://schemas.microsoft.com/office/powerpoint/2010/main" val="3706800429"/>
              </p:ext>
            </p:extLst>
          </p:nvPr>
        </p:nvGraphicFramePr>
        <p:xfrm>
          <a:off x="609601" y="1732934"/>
          <a:ext cx="320748" cy="363514"/>
        </p:xfrm>
        <a:graphic>
          <a:graphicData uri="http://schemas.openxmlformats.org/presentationml/2006/ole">
            <mc:AlternateContent xmlns:mc="http://schemas.openxmlformats.org/markup-compatibility/2006">
              <mc:Choice xmlns:v="urn:schemas-microsoft-com:vml" Requires="v">
                <p:oleObj spid="_x0000_s19633" name="Equation" r:id="rId5" imgW="139579" imgH="164957" progId="Equation.DSMT4">
                  <p:embed/>
                </p:oleObj>
              </mc:Choice>
              <mc:Fallback>
                <p:oleObj name="Equation" r:id="rId5" imgW="139579" imgH="164957"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1" y="1732934"/>
                        <a:ext cx="320748" cy="3635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 name="Content Placeholder 2"/>
          <p:cNvSpPr>
            <a:spLocks noGrp="1"/>
          </p:cNvSpPr>
          <p:nvPr>
            <p:ph sz="half" idx="1"/>
          </p:nvPr>
        </p:nvSpPr>
        <p:spPr>
          <a:xfrm>
            <a:off x="7886383" y="1070210"/>
            <a:ext cx="4107863" cy="4875211"/>
          </a:xfrm>
        </p:spPr>
        <p:txBody>
          <a:bodyPr>
            <a:noAutofit/>
          </a:bodyPr>
          <a:lstStyle/>
          <a:p>
            <a:pPr>
              <a:buFont typeface="Wingdings" panose="05000000000000000000" pitchFamily="2" charset="2"/>
              <a:buChar char="v"/>
            </a:pPr>
            <a:r>
              <a:rPr lang="en-US" sz="2600" dirty="0">
                <a:solidFill>
                  <a:srgbClr val="C00000"/>
                </a:solidFill>
              </a:rPr>
              <a:t>The properties of saturated liquid, saturated vapour and superheated vapour for water are listed in tables.</a:t>
            </a:r>
          </a:p>
          <a:p>
            <a:pPr>
              <a:buFont typeface="Wingdings" panose="05000000000000000000" pitchFamily="2" charset="2"/>
              <a:buChar char="v"/>
            </a:pPr>
            <a:r>
              <a:rPr lang="en-US" sz="2600" dirty="0"/>
              <a:t>The </a:t>
            </a:r>
            <a:r>
              <a:rPr lang="en-US" sz="2600" b="1" dirty="0">
                <a:solidFill>
                  <a:srgbClr val="002060"/>
                </a:solidFill>
              </a:rPr>
              <a:t>subscript ‘f’</a:t>
            </a:r>
            <a:r>
              <a:rPr lang="en-US" sz="2600" dirty="0"/>
              <a:t> is used to denote properties of a </a:t>
            </a:r>
            <a:r>
              <a:rPr lang="en-US" sz="2600" b="1" dirty="0">
                <a:solidFill>
                  <a:srgbClr val="002060"/>
                </a:solidFill>
              </a:rPr>
              <a:t>saturated liquid</a:t>
            </a:r>
            <a:r>
              <a:rPr lang="en-US" sz="2600" dirty="0"/>
              <a:t>, and the </a:t>
            </a:r>
            <a:r>
              <a:rPr lang="en-US" sz="2600" b="1" dirty="0">
                <a:solidFill>
                  <a:srgbClr val="C00000"/>
                </a:solidFill>
              </a:rPr>
              <a:t>subscript ‘g’</a:t>
            </a:r>
            <a:r>
              <a:rPr lang="en-US" sz="2600" dirty="0"/>
              <a:t> to denote the properties of </a:t>
            </a:r>
            <a:r>
              <a:rPr lang="en-US" sz="2600" b="1" dirty="0">
                <a:solidFill>
                  <a:srgbClr val="C00000"/>
                </a:solidFill>
              </a:rPr>
              <a:t>saturated vapour</a:t>
            </a:r>
            <a:r>
              <a:rPr lang="en-US" sz="2600" dirty="0"/>
              <a:t>. </a:t>
            </a:r>
          </a:p>
          <a:p>
            <a:pPr>
              <a:buFont typeface="Wingdings" panose="05000000000000000000" pitchFamily="2" charset="2"/>
              <a:buChar char="v"/>
            </a:pPr>
            <a:endParaRPr lang="en-US" sz="2000"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4046896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Properties of Liquids and Vapours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465957" y="1043238"/>
            <a:ext cx="11111962" cy="644219"/>
          </a:xfrm>
        </p:spPr>
        <p:txBody>
          <a:bodyPr>
            <a:noAutofit/>
          </a:bodyPr>
          <a:lstStyle/>
          <a:p>
            <a:pPr>
              <a:buFont typeface="Wingdings" panose="05000000000000000000" pitchFamily="2" charset="2"/>
              <a:buChar char="v"/>
            </a:pPr>
            <a:r>
              <a:rPr lang="en-US" b="1" dirty="0">
                <a:solidFill>
                  <a:srgbClr val="C00000"/>
                </a:solidFill>
              </a:rPr>
              <a:t>Properties of a Saturated liquid-vapour mixture (wet mixture)</a:t>
            </a:r>
          </a:p>
        </p:txBody>
      </p:sp>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p:graphicFrame>
        <p:nvGraphicFramePr>
          <p:cNvPr id="6" name="Object 1"/>
          <p:cNvGraphicFramePr>
            <a:graphicFrameLocks noChangeAspect="1"/>
          </p:cNvGraphicFramePr>
          <p:nvPr>
            <p:extLst>
              <p:ext uri="{D42A27DB-BD31-4B8C-83A1-F6EECF244321}">
                <p14:modId xmlns:p14="http://schemas.microsoft.com/office/powerpoint/2010/main" val="1279480807"/>
              </p:ext>
            </p:extLst>
          </p:nvPr>
        </p:nvGraphicFramePr>
        <p:xfrm>
          <a:off x="676013" y="1684361"/>
          <a:ext cx="11065261" cy="4265814"/>
        </p:xfrm>
        <a:graphic>
          <a:graphicData uri="http://schemas.openxmlformats.org/presentationml/2006/ole">
            <mc:AlternateContent xmlns:mc="http://schemas.openxmlformats.org/markup-compatibility/2006">
              <mc:Choice xmlns:v="urn:schemas-microsoft-com:vml" Requires="v">
                <p:oleObj spid="_x0000_s20567" name="Equation" r:id="rId3" imgW="4076700" imgH="1574800" progId="Equation.3">
                  <p:embed/>
                </p:oleObj>
              </mc:Choice>
              <mc:Fallback>
                <p:oleObj name="Equation" r:id="rId3" imgW="4076700" imgH="1574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013" y="1684361"/>
                        <a:ext cx="11065261" cy="4265814"/>
                      </a:xfrm>
                      <a:prstGeom prst="rect">
                        <a:avLst/>
                      </a:prstGeom>
                      <a:noFill/>
                    </p:spPr>
                  </p:pic>
                </p:oleObj>
              </mc:Fallback>
            </mc:AlternateContent>
          </a:graphicData>
        </a:graphic>
      </p:graphicFrame>
    </p:spTree>
    <p:extLst>
      <p:ext uri="{BB962C8B-B14F-4D97-AF65-F5344CB8AC3E}">
        <p14:creationId xmlns:p14="http://schemas.microsoft.com/office/powerpoint/2010/main" val="3885346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b="1" dirty="0">
                <a:solidFill>
                  <a:srgbClr val="002060"/>
                </a:solidFill>
                <a:latin typeface="Georgia" panose="02040502050405020303" pitchFamily="18" charset="0"/>
              </a:rPr>
              <a:t>Properties of Liquids and Vapours</a:t>
            </a:r>
            <a:endParaRPr lang="en-US" sz="38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984532"/>
            <a:ext cx="11111962" cy="2412656"/>
          </a:xfrm>
          <a:solidFill>
            <a:schemeClr val="accent3">
              <a:lumMod val="60000"/>
              <a:lumOff val="40000"/>
            </a:schemeClr>
          </a:solidFill>
        </p:spPr>
        <p:txBody>
          <a:bodyPr>
            <a:noAutofit/>
          </a:bodyPr>
          <a:lstStyle/>
          <a:p>
            <a:pPr marL="0" indent="0" algn="ctr">
              <a:buNone/>
            </a:pPr>
            <a:r>
              <a:rPr lang="en-US" sz="6600" b="1" dirty="0">
                <a:solidFill>
                  <a:srgbClr val="C00000"/>
                </a:solidFill>
                <a:latin typeface="Georgia" panose="02040502050405020303" pitchFamily="18" charset="0"/>
              </a:rPr>
              <a:t>Table of Properties for Water</a:t>
            </a:r>
            <a:endParaRPr lang="en-US" sz="6600" b="1" dirty="0">
              <a:solidFill>
                <a:srgbClr val="C00000"/>
              </a:solidFill>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p:spTree>
    <p:extLst>
      <p:ext uri="{BB962C8B-B14F-4D97-AF65-F5344CB8AC3E}">
        <p14:creationId xmlns:p14="http://schemas.microsoft.com/office/powerpoint/2010/main" val="41799967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11</a:t>
            </a:fld>
            <a:endParaRPr lang="en-US" dirty="0"/>
          </a:p>
        </p:txBody>
      </p:sp>
      <p:sp>
        <p:nvSpPr>
          <p:cNvPr id="10" name="Footer Placeholder 6"/>
          <p:cNvSpPr>
            <a:spLocks noGrp="1"/>
          </p:cNvSpPr>
          <p:nvPr>
            <p:ph type="ftr" sz="quarter" idx="11"/>
          </p:nvPr>
        </p:nvSpPr>
        <p:spPr>
          <a:xfrm>
            <a:off x="4572000" y="6275081"/>
            <a:ext cx="2895600" cy="365125"/>
          </a:xfrm>
        </p:spPr>
        <p:txBody>
          <a:bodyPr/>
          <a:lstStyle/>
          <a:p>
            <a:pPr>
              <a:defRPr/>
            </a:pPr>
            <a:r>
              <a:rPr lang="nn-NO" sz="1100"/>
              <a:t>E. W. RAMDE</a:t>
            </a:r>
            <a:endParaRPr lang="en-US" sz="1100" dirty="0"/>
          </a:p>
        </p:txBody>
      </p:sp>
      <p:sp>
        <p:nvSpPr>
          <p:cNvPr id="11" name="Slide Number Placeholder 9"/>
          <p:cNvSpPr txBox="1">
            <a:spLocks/>
          </p:cNvSpPr>
          <p:nvPr/>
        </p:nvSpPr>
        <p:spPr>
          <a:xfrm>
            <a:off x="8001000" y="6275081"/>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2400" b="1" kern="1200">
                <a:solidFill>
                  <a:schemeClr val="bg1"/>
                </a:solidFill>
                <a:latin typeface="Garamond" panose="02020404030301010803"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03DBCDF7-E311-4DF4-9DB7-2F31CFF07753}" type="slidenum">
              <a:rPr lang="en-US" sz="1200" smtClean="0"/>
              <a:pPr>
                <a:defRPr/>
              </a:pPr>
              <a:t>11</a:t>
            </a:fld>
            <a:endParaRPr lang="en-US" sz="1200" dirty="0"/>
          </a:p>
        </p:txBody>
      </p:sp>
      <p:sp>
        <p:nvSpPr>
          <p:cNvPr id="12" name="Rectangle 2"/>
          <p:cNvSpPr>
            <a:spLocks noChangeArrowheads="1"/>
          </p:cNvSpPr>
          <p:nvPr/>
        </p:nvSpPr>
        <p:spPr bwMode="auto">
          <a:xfrm>
            <a:off x="1447800" y="-81269"/>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447800" y="-81269"/>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6"/>
          <p:cNvSpPr>
            <a:spLocks noChangeArrowheads="1"/>
          </p:cNvSpPr>
          <p:nvPr/>
        </p:nvSpPr>
        <p:spPr bwMode="auto">
          <a:xfrm>
            <a:off x="1447800" y="-81269"/>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8"/>
          <p:cNvSpPr>
            <a:spLocks noChangeArrowheads="1"/>
          </p:cNvSpPr>
          <p:nvPr/>
        </p:nvSpPr>
        <p:spPr bwMode="auto">
          <a:xfrm>
            <a:off x="1447800" y="-81269"/>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 name="Picture 15"/>
          <p:cNvPicPr>
            <a:picLocks noChangeAspect="1"/>
          </p:cNvPicPr>
          <p:nvPr/>
        </p:nvPicPr>
        <p:blipFill>
          <a:blip r:embed="rId2"/>
          <a:stretch>
            <a:fillRect/>
          </a:stretch>
        </p:blipFill>
        <p:spPr>
          <a:xfrm>
            <a:off x="1550711" y="-14930"/>
            <a:ext cx="8896139" cy="6655136"/>
          </a:xfrm>
          <a:prstGeom prst="rect">
            <a:avLst/>
          </a:prstGeom>
        </p:spPr>
      </p:pic>
      <p:sp>
        <p:nvSpPr>
          <p:cNvPr id="17" name="Rounded Rectangle 16"/>
          <p:cNvSpPr/>
          <p:nvPr/>
        </p:nvSpPr>
        <p:spPr>
          <a:xfrm>
            <a:off x="1547650" y="1290331"/>
            <a:ext cx="609600" cy="5349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ounded Rectangle 17"/>
          <p:cNvSpPr/>
          <p:nvPr/>
        </p:nvSpPr>
        <p:spPr>
          <a:xfrm>
            <a:off x="2221992" y="909331"/>
            <a:ext cx="737616"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ounded Rectangle 18"/>
          <p:cNvSpPr/>
          <p:nvPr/>
        </p:nvSpPr>
        <p:spPr>
          <a:xfrm>
            <a:off x="2985884" y="938234"/>
            <a:ext cx="737616"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ounded Rectangle 19"/>
          <p:cNvSpPr/>
          <p:nvPr/>
        </p:nvSpPr>
        <p:spPr>
          <a:xfrm>
            <a:off x="3696919" y="951371"/>
            <a:ext cx="811378"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ed Rectangle 20"/>
          <p:cNvSpPr/>
          <p:nvPr/>
        </p:nvSpPr>
        <p:spPr>
          <a:xfrm>
            <a:off x="7189622" y="943490"/>
            <a:ext cx="811378"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2" name="Group 21"/>
          <p:cNvGrpSpPr/>
          <p:nvPr/>
        </p:nvGrpSpPr>
        <p:grpSpPr>
          <a:xfrm>
            <a:off x="1547650" y="-28853"/>
            <a:ext cx="8991282" cy="5205384"/>
            <a:chOff x="99850" y="52416"/>
            <a:chExt cx="8991282" cy="5205384"/>
          </a:xfrm>
        </p:grpSpPr>
        <p:pic>
          <p:nvPicPr>
            <p:cNvPr id="23" name="Picture 22"/>
            <p:cNvPicPr>
              <a:picLocks noChangeAspect="1"/>
            </p:cNvPicPr>
            <p:nvPr/>
          </p:nvPicPr>
          <p:blipFill>
            <a:blip r:embed="rId3"/>
            <a:stretch>
              <a:fillRect/>
            </a:stretch>
          </p:blipFill>
          <p:spPr>
            <a:xfrm>
              <a:off x="99850" y="52416"/>
              <a:ext cx="8986027" cy="1960447"/>
            </a:xfrm>
            <a:prstGeom prst="rect">
              <a:avLst/>
            </a:prstGeom>
          </p:spPr>
        </p:pic>
        <p:pic>
          <p:nvPicPr>
            <p:cNvPr id="24" name="Picture 23"/>
            <p:cNvPicPr>
              <a:picLocks noChangeAspect="1"/>
            </p:cNvPicPr>
            <p:nvPr/>
          </p:nvPicPr>
          <p:blipFill>
            <a:blip r:embed="rId4"/>
            <a:stretch>
              <a:fillRect/>
            </a:stretch>
          </p:blipFill>
          <p:spPr>
            <a:xfrm>
              <a:off x="105105" y="1988243"/>
              <a:ext cx="8986027" cy="3269557"/>
            </a:xfrm>
            <a:prstGeom prst="rect">
              <a:avLst/>
            </a:prstGeom>
          </p:spPr>
        </p:pic>
      </p:grpSp>
      <p:sp>
        <p:nvSpPr>
          <p:cNvPr id="25" name="Rounded Rectangle 24"/>
          <p:cNvSpPr/>
          <p:nvPr/>
        </p:nvSpPr>
        <p:spPr>
          <a:xfrm>
            <a:off x="1547650" y="4795531"/>
            <a:ext cx="8986027" cy="304800"/>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6" name="Flowchart: Connector 25"/>
          <p:cNvSpPr/>
          <p:nvPr/>
        </p:nvSpPr>
        <p:spPr>
          <a:xfrm>
            <a:off x="7364819" y="4719331"/>
            <a:ext cx="609600" cy="572502"/>
          </a:xfrm>
          <a:prstGeom prst="flowChartConnector">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Tree>
    <p:extLst>
      <p:ext uri="{BB962C8B-B14F-4D97-AF65-F5344CB8AC3E}">
        <p14:creationId xmlns:p14="http://schemas.microsoft.com/office/powerpoint/2010/main" val="37429643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p:pic>
        <p:nvPicPr>
          <p:cNvPr id="7" name="Picture 6"/>
          <p:cNvPicPr>
            <a:picLocks noChangeAspect="1"/>
          </p:cNvPicPr>
          <p:nvPr/>
        </p:nvPicPr>
        <p:blipFill>
          <a:blip r:embed="rId2"/>
          <a:stretch>
            <a:fillRect/>
          </a:stretch>
        </p:blipFill>
        <p:spPr>
          <a:xfrm>
            <a:off x="1468950" y="13138"/>
            <a:ext cx="8896139" cy="6629400"/>
          </a:xfrm>
          <a:prstGeom prst="rect">
            <a:avLst/>
          </a:prstGeom>
        </p:spPr>
      </p:pic>
      <p:sp>
        <p:nvSpPr>
          <p:cNvPr id="8" name="Footer Placeholder 6"/>
          <p:cNvSpPr>
            <a:spLocks noGrp="1"/>
          </p:cNvSpPr>
          <p:nvPr>
            <p:ph type="ftr" sz="quarter" idx="11"/>
          </p:nvPr>
        </p:nvSpPr>
        <p:spPr>
          <a:xfrm>
            <a:off x="4469219" y="6369488"/>
            <a:ext cx="2895600" cy="365125"/>
          </a:xfrm>
        </p:spPr>
        <p:txBody>
          <a:bodyPr/>
          <a:lstStyle/>
          <a:p>
            <a:pPr>
              <a:defRPr/>
            </a:pPr>
            <a:r>
              <a:rPr lang="nn-NO" sz="1100"/>
              <a:t>E. W. RAMDE</a:t>
            </a:r>
            <a:endParaRPr lang="en-US" sz="1100" dirty="0"/>
          </a:p>
        </p:txBody>
      </p:sp>
      <p:sp>
        <p:nvSpPr>
          <p:cNvPr id="9" name="Slide Number Placeholder 9"/>
          <p:cNvSpPr txBox="1">
            <a:spLocks/>
          </p:cNvSpPr>
          <p:nvPr/>
        </p:nvSpPr>
        <p:spPr>
          <a:xfrm>
            <a:off x="7898219" y="6369488"/>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2400" b="1" kern="1200">
                <a:solidFill>
                  <a:schemeClr val="bg1"/>
                </a:solidFill>
                <a:latin typeface="Garamond" panose="02020404030301010803"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03DBCDF7-E311-4DF4-9DB7-2F31CFF07753}" type="slidenum">
              <a:rPr lang="en-US" sz="1200" smtClean="0"/>
              <a:pPr>
                <a:defRPr/>
              </a:pPr>
              <a:t>12</a:t>
            </a:fld>
            <a:endParaRPr lang="en-US" sz="1200" dirty="0"/>
          </a:p>
        </p:txBody>
      </p:sp>
      <p:sp>
        <p:nvSpPr>
          <p:cNvPr id="10" name="Rectangle 2"/>
          <p:cNvSpPr>
            <a:spLocks noChangeArrowheads="1"/>
          </p:cNvSpPr>
          <p:nvPr/>
        </p:nvSpPr>
        <p:spPr bwMode="auto">
          <a:xfrm>
            <a:off x="1345019" y="1313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4"/>
          <p:cNvSpPr>
            <a:spLocks noChangeArrowheads="1"/>
          </p:cNvSpPr>
          <p:nvPr/>
        </p:nvSpPr>
        <p:spPr bwMode="auto">
          <a:xfrm>
            <a:off x="1345019" y="1313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6"/>
          <p:cNvSpPr>
            <a:spLocks noChangeArrowheads="1"/>
          </p:cNvSpPr>
          <p:nvPr/>
        </p:nvSpPr>
        <p:spPr bwMode="auto">
          <a:xfrm>
            <a:off x="1345019" y="1313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8"/>
          <p:cNvSpPr>
            <a:spLocks noChangeArrowheads="1"/>
          </p:cNvSpPr>
          <p:nvPr/>
        </p:nvSpPr>
        <p:spPr bwMode="auto">
          <a:xfrm>
            <a:off x="1345019" y="1313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 name="Rounded Rectangle 13"/>
          <p:cNvSpPr/>
          <p:nvPr/>
        </p:nvSpPr>
        <p:spPr>
          <a:xfrm>
            <a:off x="1444869" y="1384738"/>
            <a:ext cx="609600" cy="5349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ounded Rectangle 14"/>
          <p:cNvSpPr/>
          <p:nvPr/>
        </p:nvSpPr>
        <p:spPr>
          <a:xfrm>
            <a:off x="2119211" y="1003738"/>
            <a:ext cx="737616"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2817203" y="1045778"/>
            <a:ext cx="737616"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ounded Rectangle 16"/>
          <p:cNvSpPr/>
          <p:nvPr/>
        </p:nvSpPr>
        <p:spPr>
          <a:xfrm>
            <a:off x="3583947" y="1127125"/>
            <a:ext cx="811378"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ounded Rectangle 17"/>
          <p:cNvSpPr/>
          <p:nvPr/>
        </p:nvSpPr>
        <p:spPr>
          <a:xfrm>
            <a:off x="7086841" y="1037897"/>
            <a:ext cx="811378" cy="5730875"/>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9" name="Group 18"/>
          <p:cNvGrpSpPr/>
          <p:nvPr/>
        </p:nvGrpSpPr>
        <p:grpSpPr>
          <a:xfrm>
            <a:off x="1405338" y="13137"/>
            <a:ext cx="9022855" cy="5181601"/>
            <a:chOff x="60319" y="-1"/>
            <a:chExt cx="9022855" cy="3917307"/>
          </a:xfrm>
        </p:grpSpPr>
        <p:pic>
          <p:nvPicPr>
            <p:cNvPr id="20" name="Picture 19"/>
            <p:cNvPicPr>
              <a:picLocks noChangeAspect="1"/>
            </p:cNvPicPr>
            <p:nvPr/>
          </p:nvPicPr>
          <p:blipFill>
            <a:blip r:embed="rId3"/>
            <a:stretch>
              <a:fillRect/>
            </a:stretch>
          </p:blipFill>
          <p:spPr>
            <a:xfrm>
              <a:off x="60319" y="1778853"/>
              <a:ext cx="9022855" cy="2138453"/>
            </a:xfrm>
            <a:prstGeom prst="rect">
              <a:avLst/>
            </a:prstGeom>
          </p:spPr>
        </p:pic>
        <p:pic>
          <p:nvPicPr>
            <p:cNvPr id="21" name="Picture 20"/>
            <p:cNvPicPr>
              <a:picLocks noChangeAspect="1"/>
            </p:cNvPicPr>
            <p:nvPr/>
          </p:nvPicPr>
          <p:blipFill>
            <a:blip r:embed="rId4"/>
            <a:stretch>
              <a:fillRect/>
            </a:stretch>
          </p:blipFill>
          <p:spPr>
            <a:xfrm>
              <a:off x="60319" y="-1"/>
              <a:ext cx="8986027" cy="1751320"/>
            </a:xfrm>
            <a:prstGeom prst="rect">
              <a:avLst/>
            </a:prstGeom>
          </p:spPr>
        </p:pic>
      </p:grpSp>
      <p:sp>
        <p:nvSpPr>
          <p:cNvPr id="22" name="Rounded Rectangle 21"/>
          <p:cNvSpPr/>
          <p:nvPr/>
        </p:nvSpPr>
        <p:spPr>
          <a:xfrm>
            <a:off x="1444869" y="4810683"/>
            <a:ext cx="8986027" cy="304800"/>
          </a:xfrm>
          <a:prstGeom prst="roundRect">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3" name="Flowchart: Connector 22"/>
          <p:cNvSpPr/>
          <p:nvPr/>
        </p:nvSpPr>
        <p:spPr>
          <a:xfrm>
            <a:off x="7262038" y="4734483"/>
            <a:ext cx="609600" cy="572502"/>
          </a:xfrm>
          <a:prstGeom prst="flowChartConnector">
            <a:avLst/>
          </a:prstGeom>
          <a:noFill/>
          <a:ln w="381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Tree>
    <p:extLst>
      <p:ext uri="{BB962C8B-B14F-4D97-AF65-F5344CB8AC3E}">
        <p14:creationId xmlns:p14="http://schemas.microsoft.com/office/powerpoint/2010/main" val="17178711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p:sp>
        <p:nvSpPr>
          <p:cNvPr id="5" name="Rectangle 2"/>
          <p:cNvSpPr>
            <a:spLocks noChangeArrowheads="1"/>
          </p:cNvSpPr>
          <p:nvPr/>
        </p:nvSpPr>
        <p:spPr bwMode="auto">
          <a:xfrm>
            <a:off x="1083626" y="-1"/>
            <a:ext cx="9205386" cy="457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US"/>
          </a:p>
        </p:txBody>
      </p:sp>
      <p:sp>
        <p:nvSpPr>
          <p:cNvPr id="6" name="Rectangle 4"/>
          <p:cNvSpPr>
            <a:spLocks noChangeArrowheads="1"/>
          </p:cNvSpPr>
          <p:nvPr/>
        </p:nvSpPr>
        <p:spPr bwMode="auto">
          <a:xfrm>
            <a:off x="1083626" y="-1"/>
            <a:ext cx="9205386" cy="457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US"/>
          </a:p>
        </p:txBody>
      </p:sp>
      <p:sp>
        <p:nvSpPr>
          <p:cNvPr id="7" name="Rectangle 6"/>
          <p:cNvSpPr>
            <a:spLocks noChangeArrowheads="1"/>
          </p:cNvSpPr>
          <p:nvPr/>
        </p:nvSpPr>
        <p:spPr bwMode="auto">
          <a:xfrm>
            <a:off x="1083626" y="-1"/>
            <a:ext cx="9205386" cy="457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8"/>
          <p:cNvSpPr>
            <a:spLocks noChangeArrowheads="1"/>
          </p:cNvSpPr>
          <p:nvPr/>
        </p:nvSpPr>
        <p:spPr bwMode="auto">
          <a:xfrm>
            <a:off x="1083626" y="-1"/>
            <a:ext cx="9205386" cy="457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endParaRPr lang="en-US"/>
          </a:p>
        </p:txBody>
      </p:sp>
      <p:pic>
        <p:nvPicPr>
          <p:cNvPr id="9" name="Picture 8"/>
          <p:cNvPicPr>
            <a:picLocks noChangeAspect="1"/>
          </p:cNvPicPr>
          <p:nvPr/>
        </p:nvPicPr>
        <p:blipFill>
          <a:blip r:embed="rId2"/>
          <a:stretch>
            <a:fillRect/>
          </a:stretch>
        </p:blipFill>
        <p:spPr>
          <a:xfrm>
            <a:off x="1144198" y="76200"/>
            <a:ext cx="9430444" cy="5302624"/>
          </a:xfrm>
          <a:prstGeom prst="rect">
            <a:avLst/>
          </a:prstGeom>
        </p:spPr>
      </p:pic>
    </p:spTree>
    <p:extLst>
      <p:ext uri="{BB962C8B-B14F-4D97-AF65-F5344CB8AC3E}">
        <p14:creationId xmlns:p14="http://schemas.microsoft.com/office/powerpoint/2010/main" val="18130473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Use of Interpolation in Tables of Properties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969427"/>
            <a:ext cx="11730526" cy="509750"/>
          </a:xfrm>
        </p:spPr>
        <p:txBody>
          <a:bodyPr>
            <a:noAutofit/>
          </a:bodyPr>
          <a:lstStyle/>
          <a:p>
            <a:pPr marL="0" indent="0">
              <a:buNone/>
            </a:pPr>
            <a:r>
              <a:rPr lang="en-US" sz="2900" dirty="0"/>
              <a:t>Determine the temp. of water at a state of P = 0.5 MPa and h = 2970 kJ/kg</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grpSp>
        <p:nvGrpSpPr>
          <p:cNvPr id="7" name="Group 6"/>
          <p:cNvGrpSpPr/>
          <p:nvPr/>
        </p:nvGrpSpPr>
        <p:grpSpPr>
          <a:xfrm>
            <a:off x="744571" y="1545956"/>
            <a:ext cx="9123881" cy="3067796"/>
            <a:chOff x="31033" y="1058167"/>
            <a:chExt cx="9123881" cy="3067796"/>
          </a:xfrm>
        </p:grpSpPr>
        <p:pic>
          <p:nvPicPr>
            <p:cNvPr id="8" name="Picture 7"/>
            <p:cNvPicPr>
              <a:picLocks noChangeAspect="1"/>
            </p:cNvPicPr>
            <p:nvPr/>
          </p:nvPicPr>
          <p:blipFill rotWithShape="1">
            <a:blip r:embed="rId3"/>
            <a:srcRect b="22664"/>
            <a:stretch/>
          </p:blipFill>
          <p:spPr>
            <a:xfrm>
              <a:off x="41777" y="1058167"/>
              <a:ext cx="9074951" cy="1075433"/>
            </a:xfrm>
            <a:prstGeom prst="rect">
              <a:avLst/>
            </a:prstGeom>
          </p:spPr>
        </p:pic>
        <p:pic>
          <p:nvPicPr>
            <p:cNvPr id="9" name="Picture 8"/>
            <p:cNvPicPr>
              <a:picLocks noChangeAspect="1"/>
            </p:cNvPicPr>
            <p:nvPr/>
          </p:nvPicPr>
          <p:blipFill rotWithShape="1">
            <a:blip r:embed="rId4"/>
            <a:srcRect l="872"/>
            <a:stretch/>
          </p:blipFill>
          <p:spPr>
            <a:xfrm>
              <a:off x="31033" y="2113776"/>
              <a:ext cx="9123881" cy="2012187"/>
            </a:xfrm>
            <a:prstGeom prst="rect">
              <a:avLst/>
            </a:prstGeom>
          </p:spPr>
        </p:pic>
      </p:grpSp>
      <p:sp>
        <p:nvSpPr>
          <p:cNvPr id="10" name="Rounded Rectangle 9"/>
          <p:cNvSpPr/>
          <p:nvPr/>
        </p:nvSpPr>
        <p:spPr>
          <a:xfrm>
            <a:off x="1156968" y="3327110"/>
            <a:ext cx="2727407" cy="445748"/>
          </a:xfrm>
          <a:prstGeom prst="roundRect">
            <a:avLst/>
          </a:prstGeom>
          <a:noFill/>
          <a:ln w="762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ounded Rectangle 10"/>
          <p:cNvSpPr/>
          <p:nvPr/>
        </p:nvSpPr>
        <p:spPr>
          <a:xfrm>
            <a:off x="2148464" y="2629654"/>
            <a:ext cx="2107286" cy="335280"/>
          </a:xfrm>
          <a:prstGeom prst="roundRect">
            <a:avLst/>
          </a:prstGeom>
          <a:noFill/>
          <a:ln w="76200">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nvGraphicFramePr>
        <p:xfrm>
          <a:off x="1207750" y="4783037"/>
          <a:ext cx="3124200" cy="1483360"/>
        </p:xfrm>
        <a:graphic>
          <a:graphicData uri="http://schemas.openxmlformats.org/drawingml/2006/table">
            <a:tbl>
              <a:tblPr firstRow="1" bandRow="1">
                <a:tableStyleId>{5C22544A-7EE6-4342-B048-85BDC9FD1C3A}</a:tableStyleId>
              </a:tblPr>
              <a:tblGrid>
                <a:gridCol w="1562100">
                  <a:extLst>
                    <a:ext uri="{9D8B030D-6E8A-4147-A177-3AD203B41FA5}">
                      <a16:colId xmlns:a16="http://schemas.microsoft.com/office/drawing/2014/main" val="2303719236"/>
                    </a:ext>
                  </a:extLst>
                </a:gridCol>
                <a:gridCol w="1562100">
                  <a:extLst>
                    <a:ext uri="{9D8B030D-6E8A-4147-A177-3AD203B41FA5}">
                      <a16:colId xmlns:a16="http://schemas.microsoft.com/office/drawing/2014/main" val="1756399103"/>
                    </a:ext>
                  </a:extLst>
                </a:gridCol>
              </a:tblGrid>
              <a:tr h="370840">
                <a:tc>
                  <a:txBody>
                    <a:bodyPr/>
                    <a:lstStyle/>
                    <a:p>
                      <a:r>
                        <a:rPr lang="en-US" b="1" dirty="0"/>
                        <a:t>T (</a:t>
                      </a:r>
                      <a:r>
                        <a:rPr lang="en-US" b="1" baseline="30000" dirty="0" err="1"/>
                        <a:t>o</a:t>
                      </a:r>
                      <a:r>
                        <a:rPr lang="en-US" b="1" dirty="0" err="1"/>
                        <a:t>C</a:t>
                      </a:r>
                      <a:r>
                        <a:rPr lang="en-US" b="1" dirty="0"/>
                        <a:t>)</a:t>
                      </a:r>
                    </a:p>
                  </a:txBody>
                  <a:tcPr/>
                </a:tc>
                <a:tc>
                  <a:txBody>
                    <a:bodyPr/>
                    <a:lstStyle/>
                    <a:p>
                      <a:r>
                        <a:rPr lang="en-US" b="1" dirty="0"/>
                        <a:t>h (kJ/kg)</a:t>
                      </a:r>
                    </a:p>
                  </a:txBody>
                  <a:tcPr/>
                </a:tc>
                <a:extLst>
                  <a:ext uri="{0D108BD9-81ED-4DB2-BD59-A6C34878D82A}">
                    <a16:rowId xmlns:a16="http://schemas.microsoft.com/office/drawing/2014/main" val="3379335657"/>
                  </a:ext>
                </a:extLst>
              </a:tr>
              <a:tr h="370840">
                <a:tc>
                  <a:txBody>
                    <a:bodyPr/>
                    <a:lstStyle/>
                    <a:p>
                      <a:r>
                        <a:rPr lang="en-US" b="1" dirty="0"/>
                        <a:t>250</a:t>
                      </a:r>
                    </a:p>
                  </a:txBody>
                  <a:tcPr/>
                </a:tc>
                <a:tc>
                  <a:txBody>
                    <a:bodyPr/>
                    <a:lstStyle/>
                    <a:p>
                      <a:r>
                        <a:rPr lang="en-US" b="1" dirty="0"/>
                        <a:t>2961.0</a:t>
                      </a:r>
                    </a:p>
                  </a:txBody>
                  <a:tcPr/>
                </a:tc>
                <a:extLst>
                  <a:ext uri="{0D108BD9-81ED-4DB2-BD59-A6C34878D82A}">
                    <a16:rowId xmlns:a16="http://schemas.microsoft.com/office/drawing/2014/main" val="3899596534"/>
                  </a:ext>
                </a:extLst>
              </a:tr>
              <a:tr h="370840">
                <a:tc>
                  <a:txBody>
                    <a:bodyPr/>
                    <a:lstStyle/>
                    <a:p>
                      <a:r>
                        <a:rPr lang="en-US" b="1" dirty="0"/>
                        <a:t>?</a:t>
                      </a:r>
                    </a:p>
                  </a:txBody>
                  <a:tcPr/>
                </a:tc>
                <a:tc>
                  <a:txBody>
                    <a:bodyPr/>
                    <a:lstStyle/>
                    <a:p>
                      <a:r>
                        <a:rPr lang="en-US" b="1" dirty="0"/>
                        <a:t>2970.0</a:t>
                      </a:r>
                    </a:p>
                  </a:txBody>
                  <a:tcPr/>
                </a:tc>
                <a:extLst>
                  <a:ext uri="{0D108BD9-81ED-4DB2-BD59-A6C34878D82A}">
                    <a16:rowId xmlns:a16="http://schemas.microsoft.com/office/drawing/2014/main" val="1568498504"/>
                  </a:ext>
                </a:extLst>
              </a:tr>
              <a:tr h="370840">
                <a:tc>
                  <a:txBody>
                    <a:bodyPr/>
                    <a:lstStyle/>
                    <a:p>
                      <a:r>
                        <a:rPr lang="en-US" b="1" dirty="0"/>
                        <a:t>300</a:t>
                      </a:r>
                    </a:p>
                  </a:txBody>
                  <a:tcPr/>
                </a:tc>
                <a:tc>
                  <a:txBody>
                    <a:bodyPr/>
                    <a:lstStyle/>
                    <a:p>
                      <a:r>
                        <a:rPr lang="en-US" b="1" dirty="0"/>
                        <a:t>3064.6</a:t>
                      </a:r>
                    </a:p>
                  </a:txBody>
                  <a:tcPr/>
                </a:tc>
                <a:extLst>
                  <a:ext uri="{0D108BD9-81ED-4DB2-BD59-A6C34878D82A}">
                    <a16:rowId xmlns:a16="http://schemas.microsoft.com/office/drawing/2014/main" val="3584084804"/>
                  </a:ext>
                </a:extLst>
              </a:tr>
            </a:tbl>
          </a:graphicData>
        </a:graphic>
      </p:graphicFrame>
      <p:graphicFrame>
        <p:nvGraphicFramePr>
          <p:cNvPr id="13" name="Object 12"/>
          <p:cNvGraphicFramePr>
            <a:graphicFrameLocks noChangeAspect="1"/>
          </p:cNvGraphicFramePr>
          <p:nvPr/>
        </p:nvGraphicFramePr>
        <p:xfrm>
          <a:off x="4703424" y="4736339"/>
          <a:ext cx="2152650" cy="677862"/>
        </p:xfrm>
        <a:graphic>
          <a:graphicData uri="http://schemas.openxmlformats.org/presentationml/2006/ole">
            <mc:AlternateContent xmlns:mc="http://schemas.openxmlformats.org/markup-compatibility/2006">
              <mc:Choice xmlns:v="urn:schemas-microsoft-com:vml" Requires="v">
                <p:oleObj spid="_x0000_s22656" name="Уравнение" r:id="rId5" imgW="1371600" imgH="431640" progId="Equation.3">
                  <p:embed/>
                </p:oleObj>
              </mc:Choice>
              <mc:Fallback>
                <p:oleObj name="Уравнение" r:id="rId5" imgW="1371600" imgH="431640" progId="Equation.3">
                  <p:embed/>
                  <p:pic>
                    <p:nvPicPr>
                      <p:cNvPr id="0" name=""/>
                      <p:cNvPicPr>
                        <a:picLocks noChangeAspect="1" noChangeArrowheads="1"/>
                      </p:cNvPicPr>
                      <p:nvPr/>
                    </p:nvPicPr>
                    <p:blipFill>
                      <a:blip r:embed="rId6"/>
                      <a:srcRect/>
                      <a:stretch>
                        <a:fillRect/>
                      </a:stretch>
                    </p:blipFill>
                    <p:spPr bwMode="auto">
                      <a:xfrm>
                        <a:off x="4703424" y="4736339"/>
                        <a:ext cx="2152650" cy="677862"/>
                      </a:xfrm>
                      <a:prstGeom prst="rect">
                        <a:avLst/>
                      </a:prstGeom>
                      <a:noFill/>
                    </p:spPr>
                  </p:pic>
                </p:oleObj>
              </mc:Fallback>
            </mc:AlternateContent>
          </a:graphicData>
        </a:graphic>
      </p:graphicFrame>
      <p:sp>
        <p:nvSpPr>
          <p:cNvPr id="15" name="TextBox 14"/>
          <p:cNvSpPr txBox="1"/>
          <p:nvPr/>
        </p:nvSpPr>
        <p:spPr>
          <a:xfrm>
            <a:off x="1232460" y="5541176"/>
            <a:ext cx="916004" cy="369332"/>
          </a:xfrm>
          <a:prstGeom prst="rect">
            <a:avLst/>
          </a:prstGeom>
          <a:solidFill>
            <a:schemeClr val="bg1">
              <a:lumMod val="95000"/>
            </a:schemeClr>
          </a:solidFill>
          <a:ln w="57150">
            <a:solidFill>
              <a:srgbClr val="FFFF00"/>
            </a:solidFill>
          </a:ln>
        </p:spPr>
        <p:txBody>
          <a:bodyPr wrap="square" rtlCol="0">
            <a:spAutoFit/>
          </a:bodyPr>
          <a:lstStyle/>
          <a:p>
            <a:pPr algn="l"/>
            <a:r>
              <a:rPr lang="en-US" b="1" dirty="0">
                <a:solidFill>
                  <a:srgbClr val="FF0000"/>
                </a:solidFill>
              </a:rPr>
              <a:t>254.33</a:t>
            </a:r>
          </a:p>
        </p:txBody>
      </p:sp>
      <mc:AlternateContent xmlns:mc="http://schemas.openxmlformats.org/markup-compatibility/2006" xmlns:a14="http://schemas.microsoft.com/office/drawing/2010/main">
        <mc:Choice Requires="a14">
          <p:sp>
            <p:nvSpPr>
              <p:cNvPr id="5" name="Rectangle 4"/>
              <p:cNvSpPr/>
              <p:nvPr/>
            </p:nvSpPr>
            <p:spPr>
              <a:xfrm>
                <a:off x="4809288" y="5334814"/>
                <a:ext cx="3304943" cy="6690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𝑇</m:t>
                          </m:r>
                          <m:r>
                            <a:rPr lang="en-US" i="0">
                              <a:latin typeface="Cambria Math" panose="02040503050406030204" pitchFamily="18" charset="0"/>
                            </a:rPr>
                            <m:t>−250</m:t>
                          </m:r>
                        </m:num>
                        <m:den>
                          <m:r>
                            <a:rPr lang="en-US" i="0">
                              <a:latin typeface="Cambria Math" panose="02040503050406030204" pitchFamily="18" charset="0"/>
                            </a:rPr>
                            <m:t>300−250</m:t>
                          </m:r>
                        </m:den>
                      </m:f>
                      <m:r>
                        <a:rPr lang="en-US" i="0">
                          <a:latin typeface="Cambria Math" panose="02040503050406030204" pitchFamily="18" charset="0"/>
                        </a:rPr>
                        <m:t>= </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0">
                                  <a:latin typeface="Cambria Math" panose="02040503050406030204" pitchFamily="18" charset="0"/>
                                </a:rPr>
                                <m:t>2970−2961</m:t>
                              </m:r>
                            </m:e>
                          </m:d>
                        </m:num>
                        <m:den>
                          <m:d>
                            <m:dPr>
                              <m:ctrlPr>
                                <a:rPr lang="en-US" i="1">
                                  <a:latin typeface="Cambria Math" panose="02040503050406030204" pitchFamily="18" charset="0"/>
                                </a:rPr>
                              </m:ctrlPr>
                            </m:dPr>
                            <m:e>
                              <m:r>
                                <a:rPr lang="en-US" i="0">
                                  <a:latin typeface="Cambria Math" panose="02040503050406030204" pitchFamily="18" charset="0"/>
                                </a:rPr>
                                <m:t>3064.6−2961</m:t>
                              </m:r>
                            </m:e>
                          </m:d>
                        </m:den>
                      </m:f>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4809288" y="5334814"/>
                <a:ext cx="3304943" cy="66909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629184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Properties of Liquids and Vapours: Problems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5249043" cy="5068303"/>
          </a:xfrm>
        </p:spPr>
        <p:txBody>
          <a:bodyPr>
            <a:noAutofit/>
          </a:bodyPr>
          <a:lstStyle/>
          <a:p>
            <a:pPr marL="0" indent="0">
              <a:buNone/>
            </a:pPr>
            <a:r>
              <a:rPr lang="en-US" b="1" dirty="0">
                <a:solidFill>
                  <a:srgbClr val="C00000"/>
                </a:solidFill>
              </a:rPr>
              <a:t>Problem 1</a:t>
            </a:r>
          </a:p>
          <a:p>
            <a:pPr marL="0" indent="0">
              <a:buNone/>
            </a:pPr>
            <a:r>
              <a:rPr lang="en-US" sz="3200" dirty="0"/>
              <a:t>Steam at 3 bar has a dryness fraction of 0.8. Calculate its specific volume, specific enthalpy, and specific internal energy</a:t>
            </a:r>
          </a:p>
          <a:p>
            <a:pPr marL="0" indent="0">
              <a:buNone/>
            </a:pPr>
            <a:r>
              <a:rPr lang="en-US" sz="3200" b="1" dirty="0">
                <a:solidFill>
                  <a:srgbClr val="002060"/>
                </a:solidFill>
              </a:rPr>
              <a:t>Suggested Answers: </a:t>
            </a:r>
          </a:p>
          <a:p>
            <a:pPr marL="0" indent="0">
              <a:buNone/>
            </a:pPr>
            <a:r>
              <a:rPr lang="en-US" sz="3200" b="1" dirty="0">
                <a:solidFill>
                  <a:srgbClr val="002060"/>
                </a:solidFill>
              </a:rPr>
              <a:t>[</a:t>
            </a:r>
            <a:r>
              <a:rPr lang="nb-NO" sz="3200" b="1" dirty="0">
                <a:solidFill>
                  <a:srgbClr val="002060"/>
                </a:solidFill>
              </a:rPr>
              <a:t>0.4848 m</a:t>
            </a:r>
            <a:r>
              <a:rPr lang="nb-NO" sz="3200" b="1" baseline="30000" dirty="0">
                <a:solidFill>
                  <a:srgbClr val="002060"/>
                </a:solidFill>
              </a:rPr>
              <a:t>3</a:t>
            </a:r>
            <a:r>
              <a:rPr lang="nb-NO" sz="3200" b="1" dirty="0">
                <a:solidFill>
                  <a:srgbClr val="002060"/>
                </a:solidFill>
              </a:rPr>
              <a:t>/kg; 2292.2 kJ/kg; </a:t>
            </a:r>
            <a:r>
              <a:rPr lang="nb-NO" sz="3200" b="1" dirty="0" smtClean="0">
                <a:solidFill>
                  <a:srgbClr val="002060"/>
                </a:solidFill>
              </a:rPr>
              <a:t>2146.8 </a:t>
            </a:r>
            <a:r>
              <a:rPr lang="nb-NO" sz="3200" b="1" dirty="0">
                <a:solidFill>
                  <a:srgbClr val="002060"/>
                </a:solidFill>
              </a:rPr>
              <a:t>kJ/kg</a:t>
            </a:r>
            <a:r>
              <a:rPr lang="en-US" sz="3200" b="1" dirty="0">
                <a:solidFill>
                  <a:srgbClr val="002060"/>
                </a:solidFill>
              </a:rPr>
              <a:t>]</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15</a:t>
            </a:fld>
            <a:endParaRPr lang="en-US" dirty="0"/>
          </a:p>
        </p:txBody>
      </p:sp>
      <p:sp>
        <p:nvSpPr>
          <p:cNvPr id="6" name="Content Placeholder 2"/>
          <p:cNvSpPr txBox="1">
            <a:spLocks/>
          </p:cNvSpPr>
          <p:nvPr/>
        </p:nvSpPr>
        <p:spPr>
          <a:xfrm>
            <a:off x="6208644" y="1063555"/>
            <a:ext cx="5732344" cy="506830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Problem 2</a:t>
            </a:r>
          </a:p>
          <a:p>
            <a:pPr marL="0" lvl="0" indent="0">
              <a:buNone/>
            </a:pPr>
            <a:r>
              <a:rPr lang="en-US" sz="3200" dirty="0"/>
              <a:t>A cylinder contains 0.34 kg of steam at 10 bar. If the volume of the cylinder is 0.05 m</a:t>
            </a:r>
            <a:r>
              <a:rPr lang="en-US" sz="3200" baseline="30000" dirty="0"/>
              <a:t>3</a:t>
            </a:r>
            <a:r>
              <a:rPr lang="en-US" sz="3200" dirty="0"/>
              <a:t>, calculate the dryness fraction of the steam, the internal energy, and the enthalpy.</a:t>
            </a:r>
          </a:p>
          <a:p>
            <a:pPr marL="0" indent="0">
              <a:buNone/>
            </a:pPr>
            <a:r>
              <a:rPr lang="en-US" sz="3200" b="1" dirty="0">
                <a:solidFill>
                  <a:srgbClr val="002060"/>
                </a:solidFill>
              </a:rPr>
              <a:t>Suggested Answers: </a:t>
            </a:r>
          </a:p>
          <a:p>
            <a:pPr marL="0" indent="0">
              <a:buNone/>
            </a:pPr>
            <a:r>
              <a:rPr lang="en-US" sz="3200" b="1" dirty="0">
                <a:solidFill>
                  <a:srgbClr val="002060"/>
                </a:solidFill>
              </a:rPr>
              <a:t>[</a:t>
            </a:r>
            <a:r>
              <a:rPr lang="nb-NO" sz="3200" b="1" dirty="0">
                <a:solidFill>
                  <a:srgbClr val="002060"/>
                </a:solidFill>
              </a:rPr>
              <a:t>0.755; </a:t>
            </a:r>
            <a:r>
              <a:rPr lang="nb-NO" sz="3200" b="1" dirty="0" smtClean="0">
                <a:solidFill>
                  <a:srgbClr val="002060"/>
                </a:solidFill>
              </a:rPr>
              <a:t>726.4 </a:t>
            </a:r>
            <a:r>
              <a:rPr lang="nb-NO" sz="3200" b="1" dirty="0">
                <a:solidFill>
                  <a:srgbClr val="002060"/>
                </a:solidFill>
              </a:rPr>
              <a:t>kJ, </a:t>
            </a:r>
            <a:r>
              <a:rPr lang="nb-NO" sz="3200" b="1" dirty="0" smtClean="0">
                <a:solidFill>
                  <a:srgbClr val="002060"/>
                </a:solidFill>
              </a:rPr>
              <a:t>776.4 </a:t>
            </a:r>
            <a:r>
              <a:rPr lang="nb-NO" sz="3200" b="1" dirty="0">
                <a:solidFill>
                  <a:srgbClr val="002060"/>
                </a:solidFill>
              </a:rPr>
              <a:t>kJ</a:t>
            </a:r>
            <a:r>
              <a:rPr lang="en-US" sz="3200" b="1" dirty="0">
                <a:solidFill>
                  <a:srgbClr val="002060"/>
                </a:solidFill>
              </a:rPr>
              <a:t>]</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3292449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Properties of Liquids and Vapours: Problems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5249043" cy="5068303"/>
          </a:xfrm>
        </p:spPr>
        <p:txBody>
          <a:bodyPr>
            <a:noAutofit/>
          </a:bodyPr>
          <a:lstStyle/>
          <a:p>
            <a:pPr marL="0" indent="0">
              <a:buNone/>
            </a:pPr>
            <a:r>
              <a:rPr lang="en-US" b="1" dirty="0">
                <a:solidFill>
                  <a:srgbClr val="C00000"/>
                </a:solidFill>
              </a:rPr>
              <a:t>Problem 3</a:t>
            </a:r>
          </a:p>
          <a:p>
            <a:pPr marL="0" indent="0">
              <a:buNone/>
            </a:pPr>
            <a:r>
              <a:rPr lang="en-US" sz="3200" dirty="0"/>
              <a:t>A mass of 200 g of saturated liquid water is completely vaporized at a constant pressure of 100 </a:t>
            </a:r>
            <a:r>
              <a:rPr lang="en-US" sz="3200" dirty="0" err="1"/>
              <a:t>kPa</a:t>
            </a:r>
            <a:r>
              <a:rPr lang="en-US" sz="3200" dirty="0"/>
              <a:t>.  Determine the amount of heat energy added to the water.</a:t>
            </a:r>
          </a:p>
          <a:p>
            <a:pPr marL="0" indent="0">
              <a:buNone/>
            </a:pPr>
            <a:r>
              <a:rPr lang="en-US" sz="3200" b="1" dirty="0">
                <a:solidFill>
                  <a:srgbClr val="002060"/>
                </a:solidFill>
              </a:rPr>
              <a:t>Suggested Answer: [451.5 kJ]</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16</a:t>
            </a:fld>
            <a:endParaRPr lang="en-US" dirty="0"/>
          </a:p>
        </p:txBody>
      </p:sp>
      <p:sp>
        <p:nvSpPr>
          <p:cNvPr id="6" name="Content Placeholder 2"/>
          <p:cNvSpPr txBox="1">
            <a:spLocks/>
          </p:cNvSpPr>
          <p:nvPr/>
        </p:nvSpPr>
        <p:spPr>
          <a:xfrm>
            <a:off x="5764891" y="1063555"/>
            <a:ext cx="6042796" cy="506830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Problem 4</a:t>
            </a:r>
          </a:p>
          <a:p>
            <a:pPr marL="0" indent="0">
              <a:buNone/>
            </a:pPr>
            <a:r>
              <a:rPr lang="en-US" sz="3200" dirty="0"/>
              <a:t>10 kg of a mixture of saturated vapour and saturated liquid in a 5 m</a:t>
            </a:r>
            <a:r>
              <a:rPr lang="en-US" sz="3200" baseline="30000" dirty="0"/>
              <a:t>3</a:t>
            </a:r>
            <a:r>
              <a:rPr lang="en-US" sz="3200" dirty="0"/>
              <a:t> tank is at a pressure of 150 </a:t>
            </a:r>
            <a:r>
              <a:rPr lang="en-US" sz="3200" dirty="0" err="1"/>
              <a:t>kPa</a:t>
            </a:r>
            <a:r>
              <a:rPr lang="en-US" sz="3200" dirty="0"/>
              <a:t>.  Find its temperature and the fraction of vapour in the mixture.</a:t>
            </a:r>
          </a:p>
          <a:p>
            <a:pPr marL="0" indent="0">
              <a:buFont typeface="Arial"/>
              <a:buNone/>
            </a:pPr>
            <a:r>
              <a:rPr lang="en-US" sz="3200" b="1" dirty="0">
                <a:solidFill>
                  <a:srgbClr val="002060"/>
                </a:solidFill>
              </a:rPr>
              <a:t>Suggested Answers: </a:t>
            </a:r>
          </a:p>
          <a:p>
            <a:pPr marL="0" indent="0">
              <a:buFont typeface="Arial"/>
              <a:buNone/>
            </a:pPr>
            <a:r>
              <a:rPr lang="en-US" sz="3200" b="1" dirty="0">
                <a:solidFill>
                  <a:srgbClr val="002060"/>
                </a:solidFill>
              </a:rPr>
              <a:t>[111.35 °C; 0.43]</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4192485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Properties of Liquids and Vapours: Problems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5249043" cy="5068303"/>
          </a:xfrm>
        </p:spPr>
        <p:txBody>
          <a:bodyPr>
            <a:noAutofit/>
          </a:bodyPr>
          <a:lstStyle/>
          <a:p>
            <a:pPr marL="0" indent="0">
              <a:buNone/>
            </a:pPr>
            <a:r>
              <a:rPr lang="en-US" b="1" dirty="0">
                <a:solidFill>
                  <a:srgbClr val="C00000"/>
                </a:solidFill>
              </a:rPr>
              <a:t>Problem 5</a:t>
            </a:r>
          </a:p>
          <a:p>
            <a:pPr marL="0" indent="0">
              <a:buNone/>
            </a:pPr>
            <a:r>
              <a:rPr lang="en-US" sz="2900" dirty="0"/>
              <a:t>0.05 kg of Steam at 100 </a:t>
            </a:r>
            <a:r>
              <a:rPr lang="en-US" sz="2900" dirty="0" err="1"/>
              <a:t>kPa</a:t>
            </a:r>
            <a:r>
              <a:rPr lang="en-US" sz="2900" dirty="0"/>
              <a:t>, dryness fraction of 0.85 is heated at constant pressure to a temperature of 200 °C. Determine the changes in volume, internal energy, enthalpy and entropy of the steam.</a:t>
            </a:r>
          </a:p>
          <a:p>
            <a:pPr marL="0" indent="0">
              <a:buNone/>
            </a:pPr>
            <a:r>
              <a:rPr lang="en-US" sz="2900" b="1" dirty="0">
                <a:solidFill>
                  <a:srgbClr val="002060"/>
                </a:solidFill>
              </a:rPr>
              <a:t>Suggested Answer: [0.03662 m</a:t>
            </a:r>
            <a:r>
              <a:rPr lang="en-US" sz="2900" b="1" baseline="30000" dirty="0">
                <a:solidFill>
                  <a:srgbClr val="002060"/>
                </a:solidFill>
              </a:rPr>
              <a:t>3</a:t>
            </a:r>
            <a:r>
              <a:rPr lang="en-US" sz="2900" b="1" dirty="0">
                <a:solidFill>
                  <a:srgbClr val="002060"/>
                </a:solidFill>
              </a:rPr>
              <a:t>; 23.3 kJ; 26.96 kJ; 0.0693 kJ/K]</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17</a:t>
            </a:fld>
            <a:endParaRPr lang="en-US" dirty="0"/>
          </a:p>
        </p:txBody>
      </p:sp>
      <p:sp>
        <p:nvSpPr>
          <p:cNvPr id="6" name="Content Placeholder 2"/>
          <p:cNvSpPr txBox="1">
            <a:spLocks/>
          </p:cNvSpPr>
          <p:nvPr/>
        </p:nvSpPr>
        <p:spPr>
          <a:xfrm>
            <a:off x="5764891" y="1063555"/>
            <a:ext cx="5732344" cy="506830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Problem 6</a:t>
            </a:r>
          </a:p>
          <a:p>
            <a:pPr marL="0" indent="0">
              <a:buNone/>
            </a:pPr>
            <a:r>
              <a:rPr lang="en-US" sz="2900" dirty="0"/>
              <a:t>1 kg of steam 0.8 dry at 9 bar expands during a non-flow polytropic process according to the law PV</a:t>
            </a:r>
            <a:r>
              <a:rPr lang="en-US" sz="2900" baseline="30000" dirty="0"/>
              <a:t>1.1</a:t>
            </a:r>
            <a:r>
              <a:rPr lang="en-US" sz="2900" dirty="0"/>
              <a:t> = constant until the pressure becomes 3 bar. Calculate the final dryness fraction, the work energy transfer, and the heat energy transfer.</a:t>
            </a:r>
          </a:p>
          <a:p>
            <a:pPr marL="0" indent="0">
              <a:buNone/>
            </a:pPr>
            <a:r>
              <a:rPr lang="en-US" sz="2900" b="1" dirty="0">
                <a:solidFill>
                  <a:srgbClr val="002060"/>
                </a:solidFill>
              </a:rPr>
              <a:t>Suggested Answer: [</a:t>
            </a:r>
            <a:r>
              <a:rPr lang="nb-NO" sz="2900" b="1" dirty="0">
                <a:solidFill>
                  <a:srgbClr val="002060"/>
                </a:solidFill>
              </a:rPr>
              <a:t>0.772; 144.9 kJ; 56.7 kJ</a:t>
            </a:r>
            <a:r>
              <a:rPr lang="en-US" sz="2900" b="1" dirty="0">
                <a:solidFill>
                  <a:srgbClr val="002060"/>
                </a:solidFill>
              </a:rPr>
              <a:t>]</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4380866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Properties of Liquids and Vapours: Problems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5730410" cy="5215049"/>
          </a:xfrm>
        </p:spPr>
        <p:txBody>
          <a:bodyPr>
            <a:noAutofit/>
          </a:bodyPr>
          <a:lstStyle/>
          <a:p>
            <a:pPr marL="0" indent="0">
              <a:buNone/>
            </a:pPr>
            <a:r>
              <a:rPr lang="en-US" b="1" dirty="0">
                <a:solidFill>
                  <a:srgbClr val="C00000"/>
                </a:solidFill>
              </a:rPr>
              <a:t>Problem 7</a:t>
            </a:r>
          </a:p>
          <a:p>
            <a:pPr marL="0" indent="0">
              <a:buNone/>
            </a:pPr>
            <a:r>
              <a:rPr lang="en-US" sz="2900" dirty="0"/>
              <a:t>Steam enters a steam turbine at 5 MPa, and 500 °C at a rate of 50 kg/s and leaves it at a pressure of 10 </a:t>
            </a:r>
            <a:r>
              <a:rPr lang="en-US" sz="2900" dirty="0" err="1"/>
              <a:t>kPa</a:t>
            </a:r>
            <a:r>
              <a:rPr lang="en-US" sz="2900" dirty="0"/>
              <a:t>. The quality of steam at the turbine exit is 0.95. What is the magnitude of the power output from this turbine?</a:t>
            </a:r>
          </a:p>
          <a:p>
            <a:pPr marL="0" indent="0">
              <a:buNone/>
            </a:pPr>
            <a:r>
              <a:rPr lang="en-US" sz="2900" b="1" dirty="0">
                <a:solidFill>
                  <a:srgbClr val="002060"/>
                </a:solidFill>
              </a:rPr>
              <a:t>Suggested Answer: [48.5 MW]</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18</a:t>
            </a:fld>
            <a:endParaRPr lang="en-US" dirty="0"/>
          </a:p>
        </p:txBody>
      </p:sp>
      <p:sp>
        <p:nvSpPr>
          <p:cNvPr id="6" name="Content Placeholder 2"/>
          <p:cNvSpPr txBox="1">
            <a:spLocks/>
          </p:cNvSpPr>
          <p:nvPr/>
        </p:nvSpPr>
        <p:spPr>
          <a:xfrm>
            <a:off x="6208644" y="1092925"/>
            <a:ext cx="5230903" cy="506830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Problem 8</a:t>
            </a:r>
          </a:p>
          <a:p>
            <a:pPr marL="0" indent="0">
              <a:buNone/>
            </a:pPr>
            <a:r>
              <a:rPr lang="en-US" sz="2900" dirty="0"/>
              <a:t>Steam is accelerated by a nozzle steadily from a low velocity to 210 m/s at a rate of 3.2 kg/s. If the temperature and pressure of the steam at the nozzle exit are 400 °C and 2 MPa, what is the exit area of the nozzle in cm</a:t>
            </a:r>
            <a:r>
              <a:rPr lang="en-US" sz="2900" baseline="30000" dirty="0"/>
              <a:t>2</a:t>
            </a:r>
            <a:r>
              <a:rPr lang="en-US" sz="2900" dirty="0"/>
              <a:t>?</a:t>
            </a:r>
          </a:p>
          <a:p>
            <a:pPr marL="0" indent="0">
              <a:buNone/>
            </a:pPr>
            <a:r>
              <a:rPr lang="en-US" sz="2900" b="1" dirty="0">
                <a:solidFill>
                  <a:srgbClr val="002060"/>
                </a:solidFill>
              </a:rPr>
              <a:t>Suggested Answer: [</a:t>
            </a:r>
            <a:r>
              <a:rPr lang="nb-NO" sz="2900" b="1" dirty="0">
                <a:solidFill>
                  <a:srgbClr val="002060"/>
                </a:solidFill>
              </a:rPr>
              <a:t>23.04  cm</a:t>
            </a:r>
            <a:r>
              <a:rPr lang="nb-NO" sz="2900" b="1" baseline="30000" dirty="0">
                <a:solidFill>
                  <a:srgbClr val="002060"/>
                </a:solidFill>
              </a:rPr>
              <a:t>2</a:t>
            </a:r>
            <a:r>
              <a:rPr lang="en-US" sz="2900" b="1" dirty="0">
                <a:solidFill>
                  <a:srgbClr val="002060"/>
                </a:solidFill>
              </a:rPr>
              <a:t>]</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0045561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Properties of Liquids and Vapours: Problems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5730410" cy="4355609"/>
          </a:xfrm>
        </p:spPr>
        <p:txBody>
          <a:bodyPr>
            <a:noAutofit/>
          </a:bodyPr>
          <a:lstStyle/>
          <a:p>
            <a:pPr marL="0" indent="0">
              <a:buNone/>
            </a:pPr>
            <a:r>
              <a:rPr lang="en-US" b="1" dirty="0">
                <a:solidFill>
                  <a:srgbClr val="C00000"/>
                </a:solidFill>
              </a:rPr>
              <a:t>Problem 9</a:t>
            </a:r>
          </a:p>
          <a:p>
            <a:pPr marL="0" indent="0">
              <a:buNone/>
            </a:pPr>
            <a:r>
              <a:rPr lang="en-US" sz="2900" dirty="0"/>
              <a:t>Steam at 1MPa and 300 °C is throttled adiabatically to a pressure of 0.4 MPa. If the change in kinetic energy is negligible, what is the specific volume of the steam after throttling?</a:t>
            </a:r>
          </a:p>
          <a:p>
            <a:pPr marL="0" indent="0">
              <a:buNone/>
            </a:pPr>
            <a:r>
              <a:rPr lang="en-US" sz="2900" b="1" dirty="0">
                <a:solidFill>
                  <a:srgbClr val="002060"/>
                </a:solidFill>
              </a:rPr>
              <a:t>Suggested Answer: [0.646 m</a:t>
            </a:r>
            <a:r>
              <a:rPr lang="en-US" sz="2900" b="1" baseline="30000" dirty="0">
                <a:solidFill>
                  <a:srgbClr val="002060"/>
                </a:solidFill>
              </a:rPr>
              <a:t>3</a:t>
            </a:r>
            <a:r>
              <a:rPr lang="en-US" sz="2900" b="1" dirty="0">
                <a:solidFill>
                  <a:srgbClr val="002060"/>
                </a:solidFill>
              </a:rPr>
              <a:t>/kg;]</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19</a:t>
            </a:fld>
            <a:endParaRPr lang="en-US" dirty="0"/>
          </a:p>
        </p:txBody>
      </p:sp>
      <p:sp>
        <p:nvSpPr>
          <p:cNvPr id="6" name="Content Placeholder 2"/>
          <p:cNvSpPr txBox="1">
            <a:spLocks/>
          </p:cNvSpPr>
          <p:nvPr/>
        </p:nvSpPr>
        <p:spPr>
          <a:xfrm>
            <a:off x="6075343" y="1078240"/>
            <a:ext cx="5858432" cy="506830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Problem 10</a:t>
            </a:r>
          </a:p>
          <a:p>
            <a:pPr marL="0" indent="0">
              <a:buNone/>
            </a:pPr>
            <a:r>
              <a:rPr lang="en-US" sz="2900" dirty="0"/>
              <a:t>Steam expands in a turbine from 4 MPa and 500 °C to 0.5 MPa and 250 °C at a rate of 1350 kg/h. Heat is lost from the turbine at a rate of 25 kJ/s during the process. What is the power output of the turbine?</a:t>
            </a:r>
          </a:p>
          <a:p>
            <a:pPr marL="0" indent="0">
              <a:buNone/>
            </a:pPr>
            <a:r>
              <a:rPr lang="en-US" sz="2900" b="1" dirty="0">
                <a:solidFill>
                  <a:srgbClr val="002060"/>
                </a:solidFill>
              </a:rPr>
              <a:t>Suggested Answer: [</a:t>
            </a:r>
            <a:r>
              <a:rPr lang="nb-NO" sz="2900" b="1" dirty="0">
                <a:solidFill>
                  <a:srgbClr val="002060"/>
                </a:solidFill>
              </a:rPr>
              <a:t>156.9 kW</a:t>
            </a:r>
            <a:r>
              <a:rPr lang="en-US" sz="2900" b="1" dirty="0">
                <a:solidFill>
                  <a:srgbClr val="002060"/>
                </a:solidFill>
              </a:rPr>
              <a:t>]</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12549517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Properties of Liquids and Vapours: Problems</a:t>
            </a:r>
            <a:endParaRPr lang="en-US" sz="3600"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44933" y="1063556"/>
            <a:ext cx="11462754" cy="5215049"/>
          </a:xfrm>
        </p:spPr>
        <p:txBody>
          <a:bodyPr>
            <a:noAutofit/>
          </a:bodyPr>
          <a:lstStyle/>
          <a:p>
            <a:pPr marL="0" indent="0">
              <a:buNone/>
            </a:pPr>
            <a:r>
              <a:rPr lang="en-US" b="1" dirty="0">
                <a:solidFill>
                  <a:srgbClr val="C00000"/>
                </a:solidFill>
              </a:rPr>
              <a:t>Problem 11</a:t>
            </a:r>
          </a:p>
          <a:p>
            <a:pPr marL="0" lvl="0" indent="0">
              <a:buNone/>
            </a:pPr>
            <a:r>
              <a:rPr lang="en-GB" dirty="0"/>
              <a:t>The </a:t>
            </a:r>
            <a:r>
              <a:rPr lang="en-US" dirty="0"/>
              <a:t>power</a:t>
            </a:r>
            <a:r>
              <a:rPr lang="en-GB" dirty="0"/>
              <a:t> output of an adiabatic steam turbine is </a:t>
            </a:r>
            <a:r>
              <a:rPr lang="en-GB" b="1" dirty="0"/>
              <a:t>6 MW</a:t>
            </a:r>
            <a:r>
              <a:rPr lang="en-GB" dirty="0"/>
              <a:t>, and the inlet and the exit conditions of the steam are given as</a:t>
            </a:r>
            <a:endParaRPr lang="en-US" dirty="0"/>
          </a:p>
          <a:p>
            <a:pPr marL="0" indent="0">
              <a:buNone/>
            </a:pPr>
            <a:r>
              <a:rPr lang="fr-FR" dirty="0" err="1"/>
              <a:t>Inlet</a:t>
            </a:r>
            <a:r>
              <a:rPr lang="fr-FR" dirty="0"/>
              <a:t>								</a:t>
            </a:r>
            <a:r>
              <a:rPr lang="fr-FR" dirty="0" err="1"/>
              <a:t>Outlet</a:t>
            </a:r>
            <a:endParaRPr lang="en-US" dirty="0"/>
          </a:p>
          <a:p>
            <a:pPr marL="0" indent="0">
              <a:buNone/>
            </a:pPr>
            <a:r>
              <a:rPr lang="fr-FR" dirty="0"/>
              <a:t>P</a:t>
            </a:r>
            <a:r>
              <a:rPr lang="fr-FR" baseline="-25000" dirty="0"/>
              <a:t>1</a:t>
            </a:r>
            <a:r>
              <a:rPr lang="fr-FR" dirty="0"/>
              <a:t> = 3.5 </a:t>
            </a:r>
            <a:r>
              <a:rPr lang="fr-FR" dirty="0" err="1"/>
              <a:t>MPa</a:t>
            </a:r>
            <a:r>
              <a:rPr lang="fr-FR" dirty="0"/>
              <a:t>				P</a:t>
            </a:r>
            <a:r>
              <a:rPr lang="fr-FR" baseline="-25000" dirty="0"/>
              <a:t>2</a:t>
            </a:r>
            <a:r>
              <a:rPr lang="fr-FR" dirty="0"/>
              <a:t> = 20 kPa</a:t>
            </a:r>
            <a:endParaRPr lang="en-US" dirty="0"/>
          </a:p>
          <a:p>
            <a:pPr marL="0" indent="0">
              <a:buNone/>
            </a:pPr>
            <a:r>
              <a:rPr lang="fr-FR" dirty="0"/>
              <a:t>T</a:t>
            </a:r>
            <a:r>
              <a:rPr lang="fr-FR" baseline="-25000" dirty="0"/>
              <a:t>1</a:t>
            </a:r>
            <a:r>
              <a:rPr lang="fr-FR" dirty="0"/>
              <a:t> = 600</a:t>
            </a:r>
            <a:r>
              <a:rPr lang="fr-FR" baseline="30000" dirty="0"/>
              <a:t>o</a:t>
            </a:r>
            <a:r>
              <a:rPr lang="fr-FR" dirty="0"/>
              <a:t>C					x</a:t>
            </a:r>
            <a:r>
              <a:rPr lang="fr-FR" baseline="-25000" dirty="0"/>
              <a:t>2</a:t>
            </a:r>
            <a:r>
              <a:rPr lang="fr-FR" dirty="0"/>
              <a:t> = 92%</a:t>
            </a:r>
            <a:endParaRPr lang="en-US" dirty="0"/>
          </a:p>
          <a:p>
            <a:pPr marL="0" indent="0">
              <a:buNone/>
            </a:pPr>
            <a:r>
              <a:rPr lang="en-US" dirty="0"/>
              <a:t>C</a:t>
            </a:r>
            <a:r>
              <a:rPr lang="en-US" baseline="-25000" dirty="0"/>
              <a:t>1</a:t>
            </a:r>
            <a:r>
              <a:rPr lang="en-US" dirty="0"/>
              <a:t> = 50 m/s					C</a:t>
            </a:r>
            <a:r>
              <a:rPr lang="en-US" baseline="-25000" dirty="0"/>
              <a:t>2</a:t>
            </a:r>
            <a:r>
              <a:rPr lang="en-US" dirty="0"/>
              <a:t> = 150 m/s</a:t>
            </a:r>
          </a:p>
          <a:p>
            <a:pPr marL="0" indent="0">
              <a:buNone/>
            </a:pPr>
            <a:r>
              <a:rPr lang="en-US" dirty="0"/>
              <a:t>Z</a:t>
            </a:r>
            <a:r>
              <a:rPr lang="en-US" baseline="-25000" dirty="0"/>
              <a:t>1</a:t>
            </a:r>
            <a:r>
              <a:rPr lang="en-US" dirty="0"/>
              <a:t> = 10 m					Z</a:t>
            </a:r>
            <a:r>
              <a:rPr lang="en-US" baseline="-25000" dirty="0"/>
              <a:t>2</a:t>
            </a:r>
            <a:r>
              <a:rPr lang="en-US" dirty="0"/>
              <a:t> = 5 m</a:t>
            </a:r>
          </a:p>
          <a:p>
            <a:pPr marL="0" indent="0">
              <a:buNone/>
            </a:pPr>
            <a:r>
              <a:rPr lang="en-US" dirty="0"/>
              <a:t>Calculate the mass flow rate of the steam in kg/s</a:t>
            </a:r>
          </a:p>
          <a:p>
            <a:pPr marL="0" indent="0">
              <a:buNone/>
            </a:pPr>
            <a:r>
              <a:rPr lang="en-US" sz="2900" b="1" dirty="0">
                <a:solidFill>
                  <a:srgbClr val="002060"/>
                </a:solidFill>
              </a:rPr>
              <a:t>Suggested Answer: [4.81 kg/s]</a:t>
            </a:r>
          </a:p>
          <a:p>
            <a:pP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20</a:t>
            </a:fld>
            <a:endParaRPr lang="en-US" dirty="0"/>
          </a:p>
        </p:txBody>
      </p:sp>
    </p:spTree>
    <p:extLst>
      <p:ext uri="{BB962C8B-B14F-4D97-AF65-F5344CB8AC3E}">
        <p14:creationId xmlns:p14="http://schemas.microsoft.com/office/powerpoint/2010/main" val="25441792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Vapour Power Cycles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21</a:t>
            </a:fld>
            <a:endParaRPr lang="en-US" dirty="0"/>
          </a:p>
        </p:txBody>
      </p:sp>
      <p:pic>
        <p:nvPicPr>
          <p:cNvPr id="7" name="Picture 6"/>
          <p:cNvPicPr>
            <a:picLocks noChangeAspect="1"/>
          </p:cNvPicPr>
          <p:nvPr/>
        </p:nvPicPr>
        <p:blipFill>
          <a:blip r:embed="rId2"/>
          <a:stretch>
            <a:fillRect/>
          </a:stretch>
        </p:blipFill>
        <p:spPr>
          <a:xfrm>
            <a:off x="609601" y="1509434"/>
            <a:ext cx="3020387" cy="4399843"/>
          </a:xfrm>
          <a:prstGeom prst="rect">
            <a:avLst/>
          </a:prstGeom>
        </p:spPr>
      </p:pic>
      <p:pic>
        <p:nvPicPr>
          <p:cNvPr id="8" name="Picture 7"/>
          <p:cNvPicPr>
            <a:picLocks noChangeAspect="1"/>
          </p:cNvPicPr>
          <p:nvPr/>
        </p:nvPicPr>
        <p:blipFill>
          <a:blip r:embed="rId3"/>
          <a:stretch>
            <a:fillRect/>
          </a:stretch>
        </p:blipFill>
        <p:spPr>
          <a:xfrm>
            <a:off x="6645676" y="1052235"/>
            <a:ext cx="4756897" cy="4732250"/>
          </a:xfrm>
          <a:prstGeom prst="rect">
            <a:avLst/>
          </a:prstGeom>
        </p:spPr>
      </p:pic>
      <p:sp>
        <p:nvSpPr>
          <p:cNvPr id="9" name="Content Placeholder 2"/>
          <p:cNvSpPr>
            <a:spLocks noGrp="1"/>
          </p:cNvSpPr>
          <p:nvPr>
            <p:ph sz="half" idx="1"/>
          </p:nvPr>
        </p:nvSpPr>
        <p:spPr>
          <a:xfrm>
            <a:off x="942492" y="1052235"/>
            <a:ext cx="3302324" cy="457199"/>
          </a:xfrm>
        </p:spPr>
        <p:txBody>
          <a:bodyPr>
            <a:noAutofit/>
          </a:bodyPr>
          <a:lstStyle/>
          <a:p>
            <a:pPr marL="0" indent="0">
              <a:buNone/>
            </a:pPr>
            <a:r>
              <a:rPr lang="en-US" b="1" dirty="0">
                <a:solidFill>
                  <a:srgbClr val="C00000"/>
                </a:solidFill>
              </a:rPr>
              <a:t>Heat Engine Cycle</a:t>
            </a:r>
          </a:p>
          <a:p>
            <a:pPr>
              <a:buFont typeface="Wingdings" panose="05000000000000000000" pitchFamily="2" charset="2"/>
              <a:buChar char="v"/>
            </a:pPr>
            <a:endParaRPr lang="en-US" sz="2300" dirty="0"/>
          </a:p>
          <a:p>
            <a:pPr>
              <a:buFont typeface="Wingdings" panose="05000000000000000000" pitchFamily="2" charset="2"/>
              <a:buChar char="v"/>
            </a:pPr>
            <a:endParaRPr lang="en-US" dirty="0"/>
          </a:p>
        </p:txBody>
      </p:sp>
      <p:sp>
        <p:nvSpPr>
          <p:cNvPr id="10" name="Content Placeholder 2"/>
          <p:cNvSpPr txBox="1">
            <a:spLocks/>
          </p:cNvSpPr>
          <p:nvPr/>
        </p:nvSpPr>
        <p:spPr>
          <a:xfrm>
            <a:off x="8786583" y="5680677"/>
            <a:ext cx="3302324" cy="45719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Steam power plant</a:t>
            </a:r>
          </a:p>
          <a:p>
            <a:pPr>
              <a:buFont typeface="Wingdings" panose="05000000000000000000" pitchFamily="2" charset="2"/>
              <a:buChar char="v"/>
            </a:pPr>
            <a:endParaRPr lang="en-US" sz="2300"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7640295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Vapour Power Cycles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22</a:t>
            </a:fld>
            <a:endParaRPr lang="en-US" dirty="0"/>
          </a:p>
        </p:txBody>
      </p:sp>
      <p:pic>
        <p:nvPicPr>
          <p:cNvPr id="8" name="Picture 7"/>
          <p:cNvPicPr>
            <a:picLocks noChangeAspect="1"/>
          </p:cNvPicPr>
          <p:nvPr/>
        </p:nvPicPr>
        <p:blipFill>
          <a:blip r:embed="rId2"/>
          <a:stretch>
            <a:fillRect/>
          </a:stretch>
        </p:blipFill>
        <p:spPr>
          <a:xfrm>
            <a:off x="7639521" y="1254345"/>
            <a:ext cx="4449386" cy="4426332"/>
          </a:xfrm>
          <a:prstGeom prst="rect">
            <a:avLst/>
          </a:prstGeom>
        </p:spPr>
      </p:pic>
      <p:sp>
        <p:nvSpPr>
          <p:cNvPr id="9" name="Content Placeholder 2"/>
          <p:cNvSpPr>
            <a:spLocks noGrp="1"/>
          </p:cNvSpPr>
          <p:nvPr>
            <p:ph sz="half" idx="1"/>
          </p:nvPr>
        </p:nvSpPr>
        <p:spPr>
          <a:xfrm>
            <a:off x="228600" y="1052235"/>
            <a:ext cx="7410921" cy="5085641"/>
          </a:xfrm>
        </p:spPr>
        <p:txBody>
          <a:bodyPr>
            <a:noAutofit/>
          </a:bodyPr>
          <a:lstStyle/>
          <a:p>
            <a:pPr marL="0" indent="0">
              <a:buNone/>
            </a:pPr>
            <a:r>
              <a:rPr lang="en-US" b="1" dirty="0">
                <a:solidFill>
                  <a:srgbClr val="C00000"/>
                </a:solidFill>
              </a:rPr>
              <a:t>Characteristics of a vapour power cycle</a:t>
            </a:r>
          </a:p>
          <a:p>
            <a:pPr lvl="0">
              <a:buFont typeface="Wingdings" panose="05000000000000000000" pitchFamily="2" charset="2"/>
              <a:buChar char="v"/>
            </a:pPr>
            <a:r>
              <a:rPr lang="en-US" sz="2400" dirty="0"/>
              <a:t>The </a:t>
            </a:r>
            <a:r>
              <a:rPr lang="en-US" sz="2400" u="sng" dirty="0">
                <a:solidFill>
                  <a:srgbClr val="002060"/>
                </a:solidFill>
              </a:rPr>
              <a:t>working fluid is a condensable vapour</a:t>
            </a:r>
            <a:r>
              <a:rPr lang="en-US" sz="2400" dirty="0"/>
              <a:t>, which can be in the liquid phase during part of the cycle.</a:t>
            </a:r>
          </a:p>
          <a:p>
            <a:pPr lvl="0">
              <a:buFont typeface="Wingdings" panose="05000000000000000000" pitchFamily="2" charset="2"/>
              <a:buChar char="v"/>
            </a:pPr>
            <a:r>
              <a:rPr lang="en-US" sz="2400" dirty="0"/>
              <a:t>The cycle consists of steady flow processes with each process carried out in a separate component specially designed for the purpose.</a:t>
            </a:r>
          </a:p>
          <a:p>
            <a:pPr>
              <a:buFont typeface="Wingdings" panose="05000000000000000000" pitchFamily="2" charset="2"/>
              <a:buChar char="v"/>
            </a:pPr>
            <a:r>
              <a:rPr lang="en-US" sz="2400" dirty="0">
                <a:solidFill>
                  <a:srgbClr val="002060"/>
                </a:solidFill>
              </a:rPr>
              <a:t>Each component constitutes an open system and all the components are connected in series so that each fluid element passes through thermodynamic states. </a:t>
            </a:r>
          </a:p>
          <a:p>
            <a:pPr>
              <a:buFont typeface="Wingdings" panose="05000000000000000000" pitchFamily="2" charset="2"/>
              <a:buChar char="v"/>
            </a:pPr>
            <a:r>
              <a:rPr lang="en-US" sz="2400" dirty="0"/>
              <a:t>In each component, matter flows into and out of region of space. All the processes are considered to be flow processes.</a:t>
            </a:r>
            <a:endParaRPr lang="en-US" sz="2400" b="1" dirty="0"/>
          </a:p>
          <a:p>
            <a:pPr>
              <a:buFont typeface="Wingdings" panose="05000000000000000000" pitchFamily="2" charset="2"/>
              <a:buChar char="v"/>
            </a:pPr>
            <a:endParaRPr lang="en-US" sz="2300" dirty="0"/>
          </a:p>
          <a:p>
            <a:pPr>
              <a:buFont typeface="Wingdings" panose="05000000000000000000" pitchFamily="2" charset="2"/>
              <a:buChar char="v"/>
            </a:pPr>
            <a:endParaRPr lang="en-US" dirty="0"/>
          </a:p>
        </p:txBody>
      </p:sp>
      <p:sp>
        <p:nvSpPr>
          <p:cNvPr id="10" name="Content Placeholder 2"/>
          <p:cNvSpPr txBox="1">
            <a:spLocks/>
          </p:cNvSpPr>
          <p:nvPr/>
        </p:nvSpPr>
        <p:spPr>
          <a:xfrm>
            <a:off x="8786583" y="5680677"/>
            <a:ext cx="3302324" cy="45719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solidFill>
                  <a:srgbClr val="C00000"/>
                </a:solidFill>
              </a:rPr>
              <a:t>Steam power plant</a:t>
            </a:r>
          </a:p>
          <a:p>
            <a:pPr>
              <a:buFont typeface="Wingdings" panose="05000000000000000000" pitchFamily="2" charset="2"/>
              <a:buChar char="v"/>
            </a:pPr>
            <a:endParaRPr lang="en-US" sz="2300"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34519216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Criteria for Comparing Power Cycles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23</a:t>
            </a:fld>
            <a:endParaRPr lang="en-US" dirty="0"/>
          </a:p>
        </p:txBody>
      </p:sp>
      <mc:AlternateContent xmlns:mc="http://schemas.openxmlformats.org/markup-compatibility/2006" xmlns:a14="http://schemas.microsoft.com/office/drawing/2010/main">
        <mc:Choice Requires="a14">
          <p:sp>
            <p:nvSpPr>
              <p:cNvPr id="9" name="Content Placeholder 2"/>
              <p:cNvSpPr>
                <a:spLocks noGrp="1"/>
              </p:cNvSpPr>
              <p:nvPr>
                <p:ph sz="half" idx="1"/>
              </p:nvPr>
            </p:nvSpPr>
            <p:spPr>
              <a:xfrm>
                <a:off x="228601" y="1052235"/>
                <a:ext cx="6077849" cy="5226370"/>
              </a:xfrm>
            </p:spPr>
            <p:txBody>
              <a:bodyPr>
                <a:noAutofit/>
              </a:bodyPr>
              <a:lstStyle/>
              <a:p>
                <a:pPr>
                  <a:buFont typeface="Wingdings" panose="05000000000000000000" pitchFamily="2" charset="2"/>
                  <a:buChar char="v"/>
                </a:pPr>
                <a:r>
                  <a:rPr lang="en-US" sz="2000" dirty="0"/>
                  <a:t>The choice of a power plant is determined largely by:</a:t>
                </a:r>
              </a:p>
              <a:p>
                <a:pPr lvl="0">
                  <a:buFont typeface="Wingdings" panose="05000000000000000000" pitchFamily="2" charset="2"/>
                  <a:buChar char="v"/>
                </a:pPr>
                <a:r>
                  <a:rPr lang="en-US" sz="2000" b="1" u="sng" dirty="0">
                    <a:solidFill>
                      <a:srgbClr val="C00000"/>
                    </a:solidFill>
                  </a:rPr>
                  <a:t>Capital cost</a:t>
                </a:r>
                <a:r>
                  <a:rPr lang="en-US" sz="2000" dirty="0"/>
                  <a:t>: This is determined by size and complexity of the plant.</a:t>
                </a:r>
              </a:p>
              <a:p>
                <a:pPr lvl="0">
                  <a:buFont typeface="Wingdings" panose="05000000000000000000" pitchFamily="2" charset="2"/>
                  <a:buChar char="ü"/>
                </a:pPr>
                <a:r>
                  <a:rPr lang="en-US" sz="2000" dirty="0">
                    <a:solidFill>
                      <a:srgbClr val="002060"/>
                    </a:solidFill>
                  </a:rPr>
                  <a:t>This is determined by the specific steam consumption, SSC. It is the mass flow of steam required per unit  net power output.</a:t>
                </a:r>
              </a:p>
              <a:p>
                <a:pPr marL="0" lvl="0" indent="0">
                  <a:buNone/>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SSC</m:t>
                      </m:r>
                      <m:r>
                        <a:rPr lang="en-US" sz="2000" b="0" i="0"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0" smtClean="0">
                              <a:latin typeface="Cambria Math" panose="02040503050406030204" pitchFamily="18" charset="0"/>
                            </a:rPr>
                            <m:t>3600</m:t>
                          </m:r>
                        </m:num>
                        <m:den>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W</m:t>
                              </m:r>
                            </m:e>
                            <m:sub>
                              <m:r>
                                <m:rPr>
                                  <m:sty m:val="p"/>
                                </m:rPr>
                                <a:rPr lang="en-US" sz="2000" b="0" i="0" smtClean="0">
                                  <a:latin typeface="Cambria Math" panose="02040503050406030204" pitchFamily="18" charset="0"/>
                                </a:rPr>
                                <m:t>net</m:t>
                              </m:r>
                            </m:sub>
                          </m:sSub>
                        </m:den>
                      </m:f>
                      <m:r>
                        <a:rPr lang="en-US" sz="2000" b="0" i="0" smtClean="0">
                          <a:latin typeface="Cambria Math" panose="02040503050406030204" pitchFamily="18" charset="0"/>
                        </a:rPr>
                        <m:t> </m:t>
                      </m:r>
                      <m:d>
                        <m:dPr>
                          <m:ctrlPr>
                            <a:rPr lang="en-US" sz="2000" b="0" i="1" smtClean="0">
                              <a:latin typeface="Cambria Math" panose="02040503050406030204" pitchFamily="18" charset="0"/>
                            </a:rPr>
                          </m:ctrlPr>
                        </m:dPr>
                        <m:e>
                          <m:f>
                            <m:fPr>
                              <m:type m:val="skw"/>
                              <m:ctrlPr>
                                <a:rPr lang="en-US" sz="2000" b="0" i="1" smtClean="0">
                                  <a:latin typeface="Cambria Math" panose="02040503050406030204" pitchFamily="18" charset="0"/>
                                </a:rPr>
                              </m:ctrlPr>
                            </m:fPr>
                            <m:num>
                              <m:r>
                                <m:rPr>
                                  <m:sty m:val="p"/>
                                </m:rPr>
                                <a:rPr lang="en-US" sz="2000" b="0" i="0" smtClean="0">
                                  <a:latin typeface="Cambria Math" panose="02040503050406030204" pitchFamily="18" charset="0"/>
                                </a:rPr>
                                <m:t>kg</m:t>
                              </m:r>
                            </m:num>
                            <m:den>
                              <m:r>
                                <m:rPr>
                                  <m:sty m:val="p"/>
                                </m:rPr>
                                <a:rPr lang="en-US" sz="2000" b="0" i="0" smtClean="0">
                                  <a:latin typeface="Cambria Math" panose="02040503050406030204" pitchFamily="18" charset="0"/>
                                </a:rPr>
                                <m:t>kWh</m:t>
                              </m:r>
                            </m:den>
                          </m:f>
                        </m:e>
                      </m:d>
                    </m:oMath>
                  </m:oMathPara>
                </a14:m>
                <a:endParaRPr lang="en-US" sz="2000" dirty="0"/>
              </a:p>
              <a:p>
                <a:pPr marL="0" indent="0">
                  <a:buNone/>
                </a:pPr>
                <a:r>
                  <a:rPr lang="en-US" sz="2000" dirty="0"/>
                  <a:t>      Where </a:t>
                </a:r>
                <a:r>
                  <a:rPr lang="en-US" sz="2000" dirty="0" err="1"/>
                  <a:t>W</a:t>
                </a:r>
                <a:r>
                  <a:rPr lang="en-US" sz="2000" baseline="-25000" dirty="0" err="1"/>
                  <a:t>net</a:t>
                </a:r>
                <a:r>
                  <a:rPr lang="en-US" sz="2000" dirty="0"/>
                  <a:t> is in kJ/kg.</a:t>
                </a:r>
              </a:p>
              <a:p>
                <a:pPr>
                  <a:buFont typeface="Wingdings" panose="05000000000000000000" pitchFamily="2" charset="2"/>
                  <a:buChar char="v"/>
                </a:pPr>
                <a:r>
                  <a:rPr lang="en-US" sz="2000" b="1" u="sng" dirty="0">
                    <a:solidFill>
                      <a:srgbClr val="C00000"/>
                    </a:solidFill>
                  </a:rPr>
                  <a:t>Operating cost</a:t>
                </a:r>
                <a:r>
                  <a:rPr lang="en-US" sz="2000" b="1" dirty="0">
                    <a:solidFill>
                      <a:srgbClr val="C00000"/>
                    </a:solidFill>
                  </a:rPr>
                  <a:t>: </a:t>
                </a:r>
                <a:r>
                  <a:rPr lang="en-US" sz="2000" dirty="0"/>
                  <a:t>This is determined by the overall efficiency of the plant and work ratio.</a:t>
                </a:r>
              </a:p>
              <a:p>
                <a:pPr>
                  <a:buFont typeface="Wingdings" panose="05000000000000000000" pitchFamily="2" charset="2"/>
                  <a:buChar char="ü"/>
                </a:pPr>
                <a:r>
                  <a:rPr lang="en-US" sz="2000" dirty="0">
                    <a:solidFill>
                      <a:srgbClr val="002060"/>
                    </a:solidFill>
                  </a:rPr>
                  <a:t>The work ratio is the ratio of net work output to the turbine work output.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𝑤</m:t>
                        </m:r>
                      </m:sub>
                    </m:sSub>
                    <m:r>
                      <a:rPr lang="en-US" sz="2400" b="0" i="1" smtClean="0">
                        <a:latin typeface="Cambria Math" panose="02040503050406030204" pitchFamily="18" charset="0"/>
                      </a:rPr>
                      <m:t>=</m:t>
                    </m:r>
                    <m:f>
                      <m:fPr>
                        <m:type m:val="skw"/>
                        <m:ctrlPr>
                          <a:rPr lang="en-US" sz="2400" i="1" smtClean="0">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𝑛𝑒𝑡</m:t>
                            </m:r>
                          </m:sub>
                        </m:sSub>
                      </m:num>
                      <m:den>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𝑡𝑢𝑟𝑏𝑖𝑛𝑒</m:t>
                            </m:r>
                          </m:sub>
                        </m:sSub>
                      </m:den>
                    </m:f>
                  </m:oMath>
                </a14:m>
                <a:r>
                  <a:rPr lang="en-US" sz="2000" dirty="0"/>
                  <a:t> </a:t>
                </a:r>
              </a:p>
              <a:p>
                <a:pPr>
                  <a:buFont typeface="Wingdings" panose="05000000000000000000" pitchFamily="2" charset="2"/>
                  <a:buChar char="ü"/>
                </a:pPr>
                <a:r>
                  <a:rPr lang="en-US" sz="2000" dirty="0"/>
                  <a:t>The overall efficiency is the ratio of net work output of the cycle to the fuel energy input to the boiler. </a:t>
                </a:r>
              </a:p>
            </p:txBody>
          </p:sp>
        </mc:Choice>
        <mc:Fallback xmlns="">
          <p:sp>
            <p:nvSpPr>
              <p:cNvPr id="9" name="Content Placeholder 2"/>
              <p:cNvSpPr>
                <a:spLocks noGrp="1" noRot="1" noChangeAspect="1" noMove="1" noResize="1" noEditPoints="1" noAdjustHandles="1" noChangeArrowheads="1" noChangeShapeType="1" noTextEdit="1"/>
              </p:cNvSpPr>
              <p:nvPr>
                <p:ph sz="half" idx="1"/>
              </p:nvPr>
            </p:nvSpPr>
            <p:spPr>
              <a:xfrm>
                <a:off x="228601" y="1052235"/>
                <a:ext cx="6077849" cy="5226370"/>
              </a:xfrm>
              <a:blipFill rotWithShape="0">
                <a:blip r:embed="rId2"/>
                <a:stretch>
                  <a:fillRect l="-903" t="-700" r="-1705"/>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6208644" y="1678675"/>
            <a:ext cx="4838700" cy="4077598"/>
          </a:xfrm>
          <a:prstGeom prst="rect">
            <a:avLst/>
          </a:prstGeom>
        </p:spPr>
      </p:pic>
      <p:sp>
        <p:nvSpPr>
          <p:cNvPr id="5" name="Right Arrow 4"/>
          <p:cNvSpPr/>
          <p:nvPr/>
        </p:nvSpPr>
        <p:spPr>
          <a:xfrm>
            <a:off x="6509983" y="955336"/>
            <a:ext cx="4479731" cy="10083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Content Placeholder 2"/>
          <p:cNvSpPr txBox="1">
            <a:spLocks/>
          </p:cNvSpPr>
          <p:nvPr/>
        </p:nvSpPr>
        <p:spPr>
          <a:xfrm>
            <a:off x="7369792" y="1188897"/>
            <a:ext cx="2157011" cy="51653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lgn="ctr">
              <a:buFont typeface="Arial"/>
              <a:buNone/>
            </a:pPr>
            <a:r>
              <a:rPr lang="en-US" b="1" dirty="0">
                <a:solidFill>
                  <a:srgbClr val="C00000"/>
                </a:solidFill>
              </a:rPr>
              <a:t>Turbine</a:t>
            </a:r>
          </a:p>
        </p:txBody>
      </p:sp>
      <p:sp>
        <p:nvSpPr>
          <p:cNvPr id="13" name="Right Arrow 12"/>
          <p:cNvSpPr/>
          <p:nvPr/>
        </p:nvSpPr>
        <p:spPr>
          <a:xfrm rot="5400000">
            <a:off x="9635199" y="3016037"/>
            <a:ext cx="3684900" cy="1010176"/>
          </a:xfrm>
          <a:prstGeom prst="rightArrow">
            <a:avLst/>
          </a:prstGeom>
          <a:solidFill>
            <a:schemeClr val="accent3">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ontent Placeholder 2"/>
          <p:cNvSpPr txBox="1">
            <a:spLocks/>
          </p:cNvSpPr>
          <p:nvPr/>
        </p:nvSpPr>
        <p:spPr>
          <a:xfrm rot="5400000">
            <a:off x="10423521" y="3502928"/>
            <a:ext cx="2194834" cy="51653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Font typeface="Arial"/>
              <a:buNone/>
            </a:pPr>
            <a:r>
              <a:rPr lang="en-US" b="1" dirty="0"/>
              <a:t>Condenser</a:t>
            </a:r>
          </a:p>
        </p:txBody>
      </p:sp>
      <p:sp>
        <p:nvSpPr>
          <p:cNvPr id="15" name="Right Arrow 14"/>
          <p:cNvSpPr/>
          <p:nvPr/>
        </p:nvSpPr>
        <p:spPr>
          <a:xfrm rot="10800000">
            <a:off x="9063822" y="5363579"/>
            <a:ext cx="2416458" cy="882471"/>
          </a:xfrm>
          <a:prstGeom prst="rightArrow">
            <a:avLst/>
          </a:prstGeom>
          <a:solidFill>
            <a:schemeClr val="bg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Content Placeholder 2"/>
          <p:cNvSpPr txBox="1">
            <a:spLocks/>
          </p:cNvSpPr>
          <p:nvPr/>
        </p:nvSpPr>
        <p:spPr>
          <a:xfrm>
            <a:off x="9563909" y="5546549"/>
            <a:ext cx="1734664" cy="51653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lgn="ctr">
              <a:buFont typeface="Arial"/>
              <a:buNone/>
            </a:pPr>
            <a:r>
              <a:rPr lang="en-US" b="1" dirty="0">
                <a:solidFill>
                  <a:srgbClr val="002060"/>
                </a:solidFill>
              </a:rPr>
              <a:t>Pump</a:t>
            </a:r>
          </a:p>
        </p:txBody>
      </p:sp>
    </p:spTree>
    <p:extLst>
      <p:ext uri="{BB962C8B-B14F-4D97-AF65-F5344CB8AC3E}">
        <p14:creationId xmlns:p14="http://schemas.microsoft.com/office/powerpoint/2010/main" val="955516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Carnot Vapour Power Cycle</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772135" y="1032047"/>
            <a:ext cx="9084559" cy="1455660"/>
          </a:xfrm>
        </p:spPr>
        <p:txBody>
          <a:bodyPr>
            <a:noAutofit/>
          </a:bodyPr>
          <a:lstStyle/>
          <a:p>
            <a:pPr marL="0" indent="0">
              <a:buNone/>
            </a:pPr>
            <a:r>
              <a:rPr lang="en-US" sz="2400" b="1" dirty="0">
                <a:solidFill>
                  <a:srgbClr val="C00000"/>
                </a:solidFill>
              </a:rPr>
              <a:t>The Carnot Cycle consists of four (4) processes</a:t>
            </a:r>
          </a:p>
          <a:p>
            <a:pPr>
              <a:buFont typeface="Wingdings" panose="05000000000000000000" pitchFamily="2" charset="2"/>
              <a:buChar char="v"/>
            </a:pPr>
            <a:r>
              <a:rPr lang="en-US" sz="2400" dirty="0"/>
              <a:t>Two isothermal (constant temperature) heat transfer processes</a:t>
            </a:r>
          </a:p>
          <a:p>
            <a:pPr>
              <a:buFont typeface="Wingdings" panose="05000000000000000000" pitchFamily="2" charset="2"/>
              <a:buChar char="v"/>
            </a:pPr>
            <a:r>
              <a:rPr lang="en-US" sz="2400" dirty="0"/>
              <a:t>Two reversible adiabatic (constant entropy) work transfer processes </a:t>
            </a:r>
          </a:p>
          <a:p>
            <a:pPr>
              <a:buFont typeface="Wingdings" panose="05000000000000000000" pitchFamily="2" charset="2"/>
              <a:buChar char="v"/>
            </a:pPr>
            <a:endParaRPr lang="en-US" sz="2400" dirty="0"/>
          </a:p>
          <a:p>
            <a:pPr>
              <a:buFont typeface="Wingdings" panose="05000000000000000000" pitchFamily="2" charset="2"/>
              <a:buChar char="v"/>
            </a:pPr>
            <a:endParaRPr lang="en-US" sz="26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24</a:t>
            </a:fld>
            <a:endParaRPr lang="en-US" dirty="0"/>
          </a:p>
        </p:txBody>
      </p:sp>
      <p:grpSp>
        <p:nvGrpSpPr>
          <p:cNvPr id="42" name="Group 41"/>
          <p:cNvGrpSpPr/>
          <p:nvPr/>
        </p:nvGrpSpPr>
        <p:grpSpPr>
          <a:xfrm>
            <a:off x="1447760" y="2487707"/>
            <a:ext cx="5574047" cy="3824956"/>
            <a:chOff x="711" y="1056512"/>
            <a:chExt cx="5574047" cy="3824956"/>
          </a:xfrm>
        </p:grpSpPr>
        <p:grpSp>
          <p:nvGrpSpPr>
            <p:cNvPr id="43" name="Group 42"/>
            <p:cNvGrpSpPr/>
            <p:nvPr/>
          </p:nvGrpSpPr>
          <p:grpSpPr>
            <a:xfrm>
              <a:off x="152400" y="1499951"/>
              <a:ext cx="5120184" cy="2854902"/>
              <a:chOff x="457200" y="1482913"/>
              <a:chExt cx="5120184" cy="2854902"/>
            </a:xfrm>
          </p:grpSpPr>
          <p:grpSp>
            <p:nvGrpSpPr>
              <p:cNvPr id="48" name="Group 47"/>
              <p:cNvGrpSpPr>
                <a:grpSpLocks noChangeAspect="1"/>
              </p:cNvGrpSpPr>
              <p:nvPr/>
            </p:nvGrpSpPr>
            <p:grpSpPr>
              <a:xfrm>
                <a:off x="457200" y="1482913"/>
                <a:ext cx="5120184" cy="2854902"/>
                <a:chOff x="-105" y="838200"/>
                <a:chExt cx="9070720" cy="5057634"/>
              </a:xfrm>
            </p:grpSpPr>
            <p:cxnSp>
              <p:nvCxnSpPr>
                <p:cNvPr id="50" name="Straight Connector 49"/>
                <p:cNvCxnSpPr/>
                <p:nvPr/>
              </p:nvCxnSpPr>
              <p:spPr>
                <a:xfrm>
                  <a:off x="1767938" y="4849001"/>
                  <a:ext cx="1660255"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496880" y="3485257"/>
                  <a:ext cx="492934" cy="6017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52" name="Rectangle 51"/>
                <p:cNvSpPr/>
                <p:nvPr/>
              </p:nvSpPr>
              <p:spPr>
                <a:xfrm>
                  <a:off x="1780380" y="2911749"/>
                  <a:ext cx="448122" cy="4973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cxnSp>
              <p:nvCxnSpPr>
                <p:cNvPr id="53" name="Straight Connector 52"/>
                <p:cNvCxnSpPr/>
                <p:nvPr/>
              </p:nvCxnSpPr>
              <p:spPr>
                <a:xfrm>
                  <a:off x="5087488" y="2131895"/>
                  <a:ext cx="166025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6747743" y="2091820"/>
                  <a:ext cx="0" cy="881653"/>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3428193" y="1904201"/>
                  <a:ext cx="1653420" cy="455388"/>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t>Boiler</a:t>
                  </a:r>
                </a:p>
              </p:txBody>
            </p:sp>
            <p:sp>
              <p:nvSpPr>
                <p:cNvPr id="56" name="Rectangle 55"/>
                <p:cNvSpPr/>
                <p:nvPr/>
              </p:nvSpPr>
              <p:spPr>
                <a:xfrm>
                  <a:off x="3345522" y="4573013"/>
                  <a:ext cx="1818761" cy="455389"/>
                </a:xfrm>
                <a:prstGeom prst="rect">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1400" b="1" dirty="0"/>
                    <a:t>Condenser</a:t>
                  </a:r>
                </a:p>
              </p:txBody>
            </p:sp>
            <p:sp>
              <p:nvSpPr>
                <p:cNvPr id="57" name="Trapezoid 56"/>
                <p:cNvSpPr/>
                <p:nvPr/>
              </p:nvSpPr>
              <p:spPr>
                <a:xfrm rot="16200000">
                  <a:off x="6435569" y="2792803"/>
                  <a:ext cx="1248992" cy="1234244"/>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b="1" dirty="0"/>
                    <a:t>Turbine</a:t>
                  </a:r>
                </a:p>
              </p:txBody>
            </p:sp>
            <p:cxnSp>
              <p:nvCxnSpPr>
                <p:cNvPr id="58" name="Straight Connector 57"/>
                <p:cNvCxnSpPr/>
                <p:nvPr/>
              </p:nvCxnSpPr>
              <p:spPr>
                <a:xfrm>
                  <a:off x="5132195" y="4783480"/>
                  <a:ext cx="2392896" cy="0"/>
                </a:xfrm>
                <a:prstGeom prst="line">
                  <a:avLst/>
                </a:prstGeom>
                <a:ln w="76200">
                  <a:solidFill>
                    <a:schemeClr val="bg2">
                      <a:lumMod val="9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7509743" y="3998298"/>
                  <a:ext cx="0" cy="801503"/>
                </a:xfrm>
                <a:prstGeom prst="straightConnector1">
                  <a:avLst/>
                </a:prstGeom>
                <a:ln w="76200">
                  <a:solidFill>
                    <a:schemeClr val="bg2">
                      <a:lumMod val="9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0" name="Flowchart: Connector 59"/>
                <p:cNvSpPr/>
                <p:nvPr/>
              </p:nvSpPr>
              <p:spPr>
                <a:xfrm>
                  <a:off x="1154002" y="3059648"/>
                  <a:ext cx="1638813" cy="923524"/>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t>Pump</a:t>
                  </a:r>
                </a:p>
              </p:txBody>
            </p:sp>
            <p:cxnSp>
              <p:nvCxnSpPr>
                <p:cNvPr id="61" name="Straight Connector 60"/>
                <p:cNvCxnSpPr/>
                <p:nvPr/>
              </p:nvCxnSpPr>
              <p:spPr>
                <a:xfrm>
                  <a:off x="1922492" y="2131895"/>
                  <a:ext cx="1509323" cy="0"/>
                </a:xfrm>
                <a:prstGeom prst="line">
                  <a:avLst/>
                </a:prstGeom>
                <a:ln w="76200">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1964351" y="2141727"/>
                  <a:ext cx="0" cy="728639"/>
                </a:xfrm>
                <a:prstGeom prst="straightConnector1">
                  <a:avLst/>
                </a:prstGeom>
                <a:ln w="762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a:off x="1763022" y="4066266"/>
                  <a:ext cx="0" cy="801503"/>
                </a:xfrm>
                <a:prstGeom prst="straightConnector1">
                  <a:avLst/>
                </a:prstGeom>
                <a:ln w="762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64" name="Trapezoid 63"/>
                <p:cNvSpPr/>
                <p:nvPr/>
              </p:nvSpPr>
              <p:spPr>
                <a:xfrm rot="16200000">
                  <a:off x="6378570" y="2681644"/>
                  <a:ext cx="1248992" cy="1483068"/>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sz="1400" b="1" dirty="0"/>
                    <a:t>Turbine</a:t>
                  </a:r>
                </a:p>
              </p:txBody>
            </p:sp>
            <p:sp>
              <p:nvSpPr>
                <p:cNvPr id="65" name="Down Arrow 64"/>
                <p:cNvSpPr/>
                <p:nvPr/>
              </p:nvSpPr>
              <p:spPr>
                <a:xfrm>
                  <a:off x="3556097" y="838200"/>
                  <a:ext cx="1397611" cy="1002704"/>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H</a:t>
                  </a:r>
                </a:p>
              </p:txBody>
            </p:sp>
            <p:sp>
              <p:nvSpPr>
                <p:cNvPr id="66" name="Down Arrow 65"/>
                <p:cNvSpPr/>
                <p:nvPr/>
              </p:nvSpPr>
              <p:spPr>
                <a:xfrm>
                  <a:off x="3821865" y="5210291"/>
                  <a:ext cx="1007179" cy="685543"/>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400" b="1" dirty="0">
                      <a:solidFill>
                        <a:schemeClr val="tx1"/>
                      </a:solidFill>
                    </a:rPr>
                    <a:t>Q</a:t>
                  </a:r>
                  <a:r>
                    <a:rPr lang="fr-FR" sz="1400" b="1" baseline="-25000" dirty="0">
                      <a:solidFill>
                        <a:schemeClr val="tx1"/>
                      </a:solidFill>
                    </a:rPr>
                    <a:t>C</a:t>
                  </a:r>
                </a:p>
              </p:txBody>
            </p:sp>
            <p:sp>
              <p:nvSpPr>
                <p:cNvPr id="67" name="Right Arrow 66"/>
                <p:cNvSpPr/>
                <p:nvPr/>
              </p:nvSpPr>
              <p:spPr>
                <a:xfrm>
                  <a:off x="7729495" y="2980871"/>
                  <a:ext cx="1341120" cy="76826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err="1"/>
                    <a:t>Wout</a:t>
                  </a:r>
                  <a:endParaRPr lang="en-US" sz="1400" b="1" dirty="0"/>
                </a:p>
              </p:txBody>
            </p:sp>
            <p:sp>
              <p:nvSpPr>
                <p:cNvPr id="68" name="Right Arrow 67"/>
                <p:cNvSpPr/>
                <p:nvPr/>
              </p:nvSpPr>
              <p:spPr>
                <a:xfrm>
                  <a:off x="-105" y="3304577"/>
                  <a:ext cx="1161707" cy="5984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Win</a:t>
                  </a:r>
                </a:p>
              </p:txBody>
            </p:sp>
            <p:sp>
              <p:nvSpPr>
                <p:cNvPr id="69" name="Oval 68"/>
                <p:cNvSpPr/>
                <p:nvPr/>
              </p:nvSpPr>
              <p:spPr>
                <a:xfrm>
                  <a:off x="6002770" y="1426335"/>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2</a:t>
                  </a:r>
                </a:p>
              </p:txBody>
            </p:sp>
            <p:sp>
              <p:nvSpPr>
                <p:cNvPr id="70" name="Oval 69"/>
                <p:cNvSpPr/>
                <p:nvPr/>
              </p:nvSpPr>
              <p:spPr>
                <a:xfrm>
                  <a:off x="6901613" y="4767162"/>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3</a:t>
                  </a:r>
                </a:p>
              </p:txBody>
            </p:sp>
            <p:sp>
              <p:nvSpPr>
                <p:cNvPr id="71" name="Oval 70"/>
                <p:cNvSpPr/>
                <p:nvPr/>
              </p:nvSpPr>
              <p:spPr>
                <a:xfrm>
                  <a:off x="947753" y="4918726"/>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4</a:t>
                  </a:r>
                </a:p>
              </p:txBody>
            </p:sp>
          </p:grpSp>
          <p:sp>
            <p:nvSpPr>
              <p:cNvPr id="49" name="Oval 48"/>
              <p:cNvSpPr/>
              <p:nvPr/>
            </p:nvSpPr>
            <p:spPr>
              <a:xfrm>
                <a:off x="1145567" y="1858314"/>
                <a:ext cx="841034" cy="381198"/>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1</a:t>
                </a:r>
              </a:p>
            </p:txBody>
          </p:sp>
        </p:grpSp>
        <p:sp>
          <p:nvSpPr>
            <p:cNvPr id="44" name="Oval 43"/>
            <p:cNvSpPr/>
            <p:nvPr/>
          </p:nvSpPr>
          <p:spPr>
            <a:xfrm>
              <a:off x="1892842" y="1056512"/>
              <a:ext cx="1231358" cy="55811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400 MW</a:t>
              </a:r>
            </a:p>
          </p:txBody>
        </p:sp>
        <p:sp>
          <p:nvSpPr>
            <p:cNvPr id="45" name="Oval 44"/>
            <p:cNvSpPr/>
            <p:nvPr/>
          </p:nvSpPr>
          <p:spPr>
            <a:xfrm>
              <a:off x="2040919" y="4323356"/>
              <a:ext cx="1231358" cy="55811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240 MW</a:t>
              </a:r>
            </a:p>
          </p:txBody>
        </p:sp>
        <p:sp>
          <p:nvSpPr>
            <p:cNvPr id="46" name="Oval 45"/>
            <p:cNvSpPr/>
            <p:nvPr/>
          </p:nvSpPr>
          <p:spPr>
            <a:xfrm>
              <a:off x="4343400" y="2362200"/>
              <a:ext cx="1231358" cy="55811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165 MW</a:t>
              </a:r>
            </a:p>
          </p:txBody>
        </p:sp>
        <p:sp>
          <p:nvSpPr>
            <p:cNvPr id="47" name="Oval 46"/>
            <p:cNvSpPr/>
            <p:nvPr/>
          </p:nvSpPr>
          <p:spPr>
            <a:xfrm>
              <a:off x="711" y="2514600"/>
              <a:ext cx="925137" cy="55811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5 MW</a:t>
              </a:r>
            </a:p>
          </p:txBody>
        </p:sp>
      </p:grpSp>
      <p:grpSp>
        <p:nvGrpSpPr>
          <p:cNvPr id="72" name="Group 71"/>
          <p:cNvGrpSpPr>
            <a:grpSpLocks noChangeAspect="1"/>
          </p:cNvGrpSpPr>
          <p:nvPr/>
        </p:nvGrpSpPr>
        <p:grpSpPr>
          <a:xfrm>
            <a:off x="7460615" y="2770845"/>
            <a:ext cx="3508780" cy="3291840"/>
            <a:chOff x="4572000" y="1447800"/>
            <a:chExt cx="4181768" cy="3923219"/>
          </a:xfrm>
        </p:grpSpPr>
        <p:sp>
          <p:nvSpPr>
            <p:cNvPr id="73" name="Line 5"/>
            <p:cNvSpPr>
              <a:spLocks noChangeShapeType="1"/>
            </p:cNvSpPr>
            <p:nvPr/>
          </p:nvSpPr>
          <p:spPr bwMode="auto">
            <a:xfrm flipV="1">
              <a:off x="5081081" y="14478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74" name="Line 6"/>
            <p:cNvSpPr>
              <a:spLocks noChangeShapeType="1"/>
            </p:cNvSpPr>
            <p:nvPr/>
          </p:nvSpPr>
          <p:spPr bwMode="auto">
            <a:xfrm>
              <a:off x="5081197" y="5029200"/>
              <a:ext cx="3672571"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75" name="Text Box 13"/>
            <p:cNvSpPr txBox="1">
              <a:spLocks noChangeArrowheads="1"/>
            </p:cNvSpPr>
            <p:nvPr/>
          </p:nvSpPr>
          <p:spPr bwMode="auto">
            <a:xfrm>
              <a:off x="8314937" y="49898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76" name="Text Box 14"/>
            <p:cNvSpPr txBox="1">
              <a:spLocks noChangeArrowheads="1"/>
            </p:cNvSpPr>
            <p:nvPr/>
          </p:nvSpPr>
          <p:spPr bwMode="auto">
            <a:xfrm>
              <a:off x="4609256" y="16183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77" name="Text Box 19"/>
            <p:cNvSpPr txBox="1">
              <a:spLocks noChangeArrowheads="1"/>
            </p:cNvSpPr>
            <p:nvPr/>
          </p:nvSpPr>
          <p:spPr bwMode="auto">
            <a:xfrm>
              <a:off x="5394724" y="2879071"/>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78" name="Text Box 22"/>
            <p:cNvSpPr txBox="1">
              <a:spLocks noChangeArrowheads="1"/>
            </p:cNvSpPr>
            <p:nvPr/>
          </p:nvSpPr>
          <p:spPr bwMode="auto">
            <a:xfrm>
              <a:off x="5442496" y="4163917"/>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79" name="Text Box 22"/>
            <p:cNvSpPr txBox="1">
              <a:spLocks noChangeArrowheads="1"/>
            </p:cNvSpPr>
            <p:nvPr/>
          </p:nvSpPr>
          <p:spPr bwMode="auto">
            <a:xfrm>
              <a:off x="7734629" y="2925258"/>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80" name="Text Box 22"/>
            <p:cNvSpPr txBox="1">
              <a:spLocks noChangeArrowheads="1"/>
            </p:cNvSpPr>
            <p:nvPr/>
          </p:nvSpPr>
          <p:spPr bwMode="auto">
            <a:xfrm>
              <a:off x="7723306" y="4246150"/>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81" name="Straight Connector 80"/>
            <p:cNvCxnSpPr/>
            <p:nvPr/>
          </p:nvCxnSpPr>
          <p:spPr>
            <a:xfrm>
              <a:off x="4944454" y="31388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82" name="Straight Connector 81"/>
            <p:cNvCxnSpPr/>
            <p:nvPr/>
          </p:nvCxnSpPr>
          <p:spPr>
            <a:xfrm>
              <a:off x="4944454" y="43843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83" name="Text Box 22"/>
            <p:cNvSpPr txBox="1">
              <a:spLocks noChangeArrowheads="1"/>
            </p:cNvSpPr>
            <p:nvPr/>
          </p:nvSpPr>
          <p:spPr bwMode="auto">
            <a:xfrm>
              <a:off x="4586288" y="29881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84" name="Text Box 22"/>
            <p:cNvSpPr txBox="1">
              <a:spLocks noChangeArrowheads="1"/>
            </p:cNvSpPr>
            <p:nvPr/>
          </p:nvSpPr>
          <p:spPr bwMode="auto">
            <a:xfrm>
              <a:off x="4572000" y="42679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85" name="Freeform 84"/>
            <p:cNvSpPr/>
            <p:nvPr/>
          </p:nvSpPr>
          <p:spPr>
            <a:xfrm>
              <a:off x="5488368" y="16460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grpSp>
          <p:nvGrpSpPr>
            <p:cNvPr id="86" name="Group 85"/>
            <p:cNvGrpSpPr/>
            <p:nvPr/>
          </p:nvGrpSpPr>
          <p:grpSpPr>
            <a:xfrm>
              <a:off x="5772482" y="3063547"/>
              <a:ext cx="1933944" cy="1340868"/>
              <a:chOff x="5772482" y="3063547"/>
              <a:chExt cx="1933944" cy="1340868"/>
            </a:xfrm>
          </p:grpSpPr>
          <p:sp>
            <p:nvSpPr>
              <p:cNvPr id="87" name="Line 11"/>
              <p:cNvSpPr>
                <a:spLocks noChangeShapeType="1"/>
              </p:cNvSpPr>
              <p:nvPr/>
            </p:nvSpPr>
            <p:spPr bwMode="auto">
              <a:xfrm>
                <a:off x="6342838" y="31037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88" name="Straight Connector 87"/>
              <p:cNvCxnSpPr/>
              <p:nvPr/>
            </p:nvCxnSpPr>
            <p:spPr>
              <a:xfrm rot="16200000">
                <a:off x="6738984" y="2136557"/>
                <a:ext cx="0" cy="1933003"/>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89" name="Straight Connector 88"/>
              <p:cNvCxnSpPr/>
              <p:nvPr/>
            </p:nvCxnSpPr>
            <p:spPr>
              <a:xfrm>
                <a:off x="7705486"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0" name="Straight Connector 89"/>
              <p:cNvCxnSpPr/>
              <p:nvPr/>
            </p:nvCxnSpPr>
            <p:spPr>
              <a:xfrm>
                <a:off x="5777908"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1" name="Straight Connector 90"/>
              <p:cNvCxnSpPr/>
              <p:nvPr/>
            </p:nvCxnSpPr>
            <p:spPr>
              <a:xfrm rot="16200000">
                <a:off x="6738984" y="3390924"/>
                <a:ext cx="0" cy="1913864"/>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92" name="Straight Arrow Connector 91"/>
              <p:cNvCxnSpPr/>
              <p:nvPr/>
            </p:nvCxnSpPr>
            <p:spPr>
              <a:xfrm>
                <a:off x="5777908" y="3527257"/>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93" name="Line 11"/>
              <p:cNvSpPr>
                <a:spLocks noChangeShapeType="1"/>
              </p:cNvSpPr>
              <p:nvPr/>
            </p:nvSpPr>
            <p:spPr bwMode="auto">
              <a:xfrm flipH="1">
                <a:off x="6546838" y="43517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94" name="Straight Arrow Connector 93"/>
              <p:cNvCxnSpPr/>
              <p:nvPr/>
            </p:nvCxnSpPr>
            <p:spPr>
              <a:xfrm flipV="1">
                <a:off x="7706426" y="351366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30106364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Carnot Vapour Power Cycle</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772135" y="1032046"/>
            <a:ext cx="5655559" cy="4992236"/>
          </a:xfrm>
        </p:spPr>
        <p:txBody>
          <a:bodyPr>
            <a:noAutofit/>
          </a:bodyPr>
          <a:lstStyle/>
          <a:p>
            <a:pPr marL="0" indent="0">
              <a:buNone/>
            </a:pPr>
            <a:r>
              <a:rPr lang="en-US" sz="2600" b="1" dirty="0">
                <a:solidFill>
                  <a:srgbClr val="C00000"/>
                </a:solidFill>
              </a:rPr>
              <a:t>Reasons why the Carnot cycle is not a practical cycle</a:t>
            </a:r>
          </a:p>
          <a:p>
            <a:pPr>
              <a:buFont typeface="Wingdings" panose="05000000000000000000" pitchFamily="2" charset="2"/>
              <a:buChar char="v"/>
            </a:pPr>
            <a:r>
              <a:rPr lang="en-US" sz="2600" dirty="0"/>
              <a:t>The turbine has to handle vapour with low quality: risk of erosion and wear in turbine blades.</a:t>
            </a:r>
          </a:p>
          <a:p>
            <a:pPr>
              <a:buFont typeface="Wingdings" panose="05000000000000000000" pitchFamily="2" charset="2"/>
              <a:buChar char="v"/>
            </a:pPr>
            <a:r>
              <a:rPr lang="en-US" sz="2600" dirty="0"/>
              <a:t>It is impractical to design a pump that handles two phase fluid.</a:t>
            </a:r>
          </a:p>
          <a:p>
            <a:pPr>
              <a:buFont typeface="Wingdings" panose="05000000000000000000" pitchFamily="2" charset="2"/>
              <a:buChar char="v"/>
            </a:pPr>
            <a:r>
              <a:rPr lang="en-US" sz="2600" dirty="0"/>
              <a:t>It is difficult to control the condensation process that precisely has to end up with the desired quality at point 4.</a:t>
            </a:r>
          </a:p>
          <a:p>
            <a:pPr>
              <a:buFont typeface="Wingdings" panose="05000000000000000000" pitchFamily="2" charset="2"/>
              <a:buChar char="v"/>
            </a:pPr>
            <a:endParaRPr lang="en-US" sz="2400" dirty="0"/>
          </a:p>
          <a:p>
            <a:pPr>
              <a:buFont typeface="Wingdings" panose="05000000000000000000" pitchFamily="2" charset="2"/>
              <a:buChar char="v"/>
            </a:pPr>
            <a:endParaRPr lang="en-US" sz="2600"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25</a:t>
            </a:fld>
            <a:endParaRPr lang="en-US" dirty="0"/>
          </a:p>
        </p:txBody>
      </p:sp>
      <p:grpSp>
        <p:nvGrpSpPr>
          <p:cNvPr id="95" name="Group 94"/>
          <p:cNvGrpSpPr>
            <a:grpSpLocks noChangeAspect="1"/>
          </p:cNvGrpSpPr>
          <p:nvPr/>
        </p:nvGrpSpPr>
        <p:grpSpPr>
          <a:xfrm>
            <a:off x="7374648" y="2145024"/>
            <a:ext cx="2873152" cy="2560320"/>
            <a:chOff x="4351193" y="1447800"/>
            <a:chExt cx="4402575" cy="3923219"/>
          </a:xfrm>
        </p:grpSpPr>
        <p:sp>
          <p:nvSpPr>
            <p:cNvPr id="96" name="Line 5"/>
            <p:cNvSpPr>
              <a:spLocks noChangeShapeType="1"/>
            </p:cNvSpPr>
            <p:nvPr/>
          </p:nvSpPr>
          <p:spPr bwMode="auto">
            <a:xfrm flipV="1">
              <a:off x="5081081" y="14478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97" name="Line 6"/>
            <p:cNvSpPr>
              <a:spLocks noChangeShapeType="1"/>
            </p:cNvSpPr>
            <p:nvPr/>
          </p:nvSpPr>
          <p:spPr bwMode="auto">
            <a:xfrm>
              <a:off x="5081197" y="5029200"/>
              <a:ext cx="3672571"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98" name="Text Box 13"/>
            <p:cNvSpPr txBox="1">
              <a:spLocks noChangeArrowheads="1"/>
            </p:cNvSpPr>
            <p:nvPr/>
          </p:nvSpPr>
          <p:spPr bwMode="auto">
            <a:xfrm>
              <a:off x="8314937" y="49898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99" name="Text Box 14"/>
            <p:cNvSpPr txBox="1">
              <a:spLocks noChangeArrowheads="1"/>
            </p:cNvSpPr>
            <p:nvPr/>
          </p:nvSpPr>
          <p:spPr bwMode="auto">
            <a:xfrm>
              <a:off x="4609256" y="16183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100" name="Text Box 19"/>
            <p:cNvSpPr txBox="1">
              <a:spLocks noChangeArrowheads="1"/>
            </p:cNvSpPr>
            <p:nvPr/>
          </p:nvSpPr>
          <p:spPr bwMode="auto">
            <a:xfrm>
              <a:off x="5530023" y="2494447"/>
              <a:ext cx="460332" cy="31041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01" name="Text Box 22"/>
            <p:cNvSpPr txBox="1">
              <a:spLocks noChangeArrowheads="1"/>
            </p:cNvSpPr>
            <p:nvPr/>
          </p:nvSpPr>
          <p:spPr bwMode="auto">
            <a:xfrm>
              <a:off x="5509076" y="4347855"/>
              <a:ext cx="372365" cy="22429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102" name="Text Box 22"/>
            <p:cNvSpPr txBox="1">
              <a:spLocks noChangeArrowheads="1"/>
            </p:cNvSpPr>
            <p:nvPr/>
          </p:nvSpPr>
          <p:spPr bwMode="auto">
            <a:xfrm>
              <a:off x="7512124" y="2457100"/>
              <a:ext cx="207744" cy="39168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103" name="Text Box 22"/>
            <p:cNvSpPr txBox="1">
              <a:spLocks noChangeArrowheads="1"/>
            </p:cNvSpPr>
            <p:nvPr/>
          </p:nvSpPr>
          <p:spPr bwMode="auto">
            <a:xfrm flipH="1">
              <a:off x="7512124" y="4347855"/>
              <a:ext cx="211182" cy="17830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104" name="Straight Connector 103"/>
            <p:cNvCxnSpPr/>
            <p:nvPr/>
          </p:nvCxnSpPr>
          <p:spPr>
            <a:xfrm>
              <a:off x="4944454" y="31388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5" name="Straight Connector 104"/>
            <p:cNvCxnSpPr/>
            <p:nvPr/>
          </p:nvCxnSpPr>
          <p:spPr>
            <a:xfrm>
              <a:off x="4944454" y="43843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06" name="Text Box 22"/>
            <p:cNvSpPr txBox="1">
              <a:spLocks noChangeArrowheads="1"/>
            </p:cNvSpPr>
            <p:nvPr/>
          </p:nvSpPr>
          <p:spPr bwMode="auto">
            <a:xfrm>
              <a:off x="4351193" y="2955890"/>
              <a:ext cx="805265" cy="28217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107" name="Text Box 22"/>
            <p:cNvSpPr txBox="1">
              <a:spLocks noChangeArrowheads="1"/>
            </p:cNvSpPr>
            <p:nvPr/>
          </p:nvSpPr>
          <p:spPr bwMode="auto">
            <a:xfrm>
              <a:off x="4442174" y="4219631"/>
              <a:ext cx="873539" cy="37518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108" name="Freeform 107"/>
            <p:cNvSpPr/>
            <p:nvPr/>
          </p:nvSpPr>
          <p:spPr>
            <a:xfrm>
              <a:off x="5488368" y="16460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grpSp>
          <p:nvGrpSpPr>
            <p:cNvPr id="109" name="Group 108"/>
            <p:cNvGrpSpPr/>
            <p:nvPr/>
          </p:nvGrpSpPr>
          <p:grpSpPr>
            <a:xfrm>
              <a:off x="5772482" y="3063547"/>
              <a:ext cx="1933944" cy="1340868"/>
              <a:chOff x="5772482" y="3063547"/>
              <a:chExt cx="1933944" cy="1340868"/>
            </a:xfrm>
          </p:grpSpPr>
          <p:sp>
            <p:nvSpPr>
              <p:cNvPr id="110" name="Line 11"/>
              <p:cNvSpPr>
                <a:spLocks noChangeShapeType="1"/>
              </p:cNvSpPr>
              <p:nvPr/>
            </p:nvSpPr>
            <p:spPr bwMode="auto">
              <a:xfrm>
                <a:off x="6342838" y="31037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111" name="Straight Connector 110"/>
              <p:cNvCxnSpPr/>
              <p:nvPr/>
            </p:nvCxnSpPr>
            <p:spPr>
              <a:xfrm rot="16200000">
                <a:off x="6738984" y="2136557"/>
                <a:ext cx="0" cy="1933003"/>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112" name="Straight Connector 111"/>
              <p:cNvCxnSpPr/>
              <p:nvPr/>
            </p:nvCxnSpPr>
            <p:spPr>
              <a:xfrm>
                <a:off x="7705486"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3" name="Straight Connector 112"/>
              <p:cNvCxnSpPr/>
              <p:nvPr/>
            </p:nvCxnSpPr>
            <p:spPr>
              <a:xfrm>
                <a:off x="5777908"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4" name="Straight Connector 113"/>
              <p:cNvCxnSpPr/>
              <p:nvPr/>
            </p:nvCxnSpPr>
            <p:spPr>
              <a:xfrm rot="16200000">
                <a:off x="6738984" y="3390924"/>
                <a:ext cx="0" cy="1913864"/>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115" name="Straight Arrow Connector 114"/>
              <p:cNvCxnSpPr/>
              <p:nvPr/>
            </p:nvCxnSpPr>
            <p:spPr>
              <a:xfrm>
                <a:off x="5777908" y="3527257"/>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116" name="Line 11"/>
              <p:cNvSpPr>
                <a:spLocks noChangeShapeType="1"/>
              </p:cNvSpPr>
              <p:nvPr/>
            </p:nvSpPr>
            <p:spPr bwMode="auto">
              <a:xfrm flipH="1">
                <a:off x="6546838" y="43517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117" name="Straight Arrow Connector 116"/>
              <p:cNvCxnSpPr/>
              <p:nvPr/>
            </p:nvCxnSpPr>
            <p:spPr>
              <a:xfrm flipV="1">
                <a:off x="7706426" y="351366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grpSp>
      <p:sp>
        <p:nvSpPr>
          <p:cNvPr id="118" name="Rectangle 117"/>
          <p:cNvSpPr/>
          <p:nvPr/>
        </p:nvSpPr>
        <p:spPr>
          <a:xfrm>
            <a:off x="9437494" y="3065610"/>
            <a:ext cx="243007" cy="1116942"/>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8192233" y="3113374"/>
            <a:ext cx="243007" cy="1116942"/>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8004101" y="3780279"/>
            <a:ext cx="670308" cy="660736"/>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Tree>
    <p:extLst>
      <p:ext uri="{BB962C8B-B14F-4D97-AF65-F5344CB8AC3E}">
        <p14:creationId xmlns:p14="http://schemas.microsoft.com/office/powerpoint/2010/main" val="25451773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Carnot And Ideal Rankine Cycles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26</a:t>
            </a:fld>
            <a:endParaRPr lang="en-US" dirty="0"/>
          </a:p>
        </p:txBody>
      </p:sp>
      <p:cxnSp>
        <p:nvCxnSpPr>
          <p:cNvPr id="31" name="Straight Arrow Connector 30"/>
          <p:cNvCxnSpPr/>
          <p:nvPr/>
        </p:nvCxnSpPr>
        <p:spPr>
          <a:xfrm>
            <a:off x="6561455" y="4774430"/>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32" name="Content Placeholder 2"/>
          <p:cNvSpPr txBox="1">
            <a:spLocks/>
          </p:cNvSpPr>
          <p:nvPr/>
        </p:nvSpPr>
        <p:spPr bwMode="auto">
          <a:xfrm>
            <a:off x="892027" y="969116"/>
            <a:ext cx="3352800" cy="1292304"/>
          </a:xfrm>
          <a:prstGeom prst="rect">
            <a:avLst/>
          </a:prstGeom>
          <a:solidFill>
            <a:srgbClr val="7030A0"/>
          </a:solidFill>
          <a:ln w="9525" cap="flat" cmpd="sng" algn="ctr">
            <a:noFill/>
            <a:prstDash val="solid"/>
            <a:miter lim="800000"/>
            <a:headEnd/>
            <a:tailEn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l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l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l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fontAlgn="base">
              <a:spcBef>
                <a:spcPct val="0"/>
              </a:spcBef>
              <a:spcAft>
                <a:spcPct val="0"/>
              </a:spcAft>
              <a:buFont typeface="Arial" pitchFamily="34" charset="0"/>
              <a:buNone/>
            </a:pPr>
            <a:r>
              <a:rPr lang="en-GB" sz="2000" b="1" dirty="0">
                <a:solidFill>
                  <a:srgbClr val="FFFF00"/>
                </a:solidFill>
              </a:rPr>
              <a:t>Carnot cycle :</a:t>
            </a:r>
          </a:p>
          <a:p>
            <a:pPr fontAlgn="base">
              <a:spcBef>
                <a:spcPct val="0"/>
              </a:spcBef>
              <a:spcAft>
                <a:spcPct val="0"/>
              </a:spcAft>
            </a:pPr>
            <a:r>
              <a:rPr lang="en-GB" sz="2000" b="1" dirty="0">
                <a:solidFill>
                  <a:srgbClr val="FFFF00"/>
                </a:solidFill>
              </a:rPr>
              <a:t>Two isothermal processes </a:t>
            </a:r>
          </a:p>
          <a:p>
            <a:pPr fontAlgn="base">
              <a:spcBef>
                <a:spcPct val="0"/>
              </a:spcBef>
              <a:spcAft>
                <a:spcPct val="0"/>
              </a:spcAft>
            </a:pPr>
            <a:r>
              <a:rPr lang="en-GB" sz="2000" b="1" dirty="0">
                <a:solidFill>
                  <a:srgbClr val="FFFF00"/>
                </a:solidFill>
              </a:rPr>
              <a:t>Two isentropic processes</a:t>
            </a:r>
          </a:p>
        </p:txBody>
      </p:sp>
      <p:sp>
        <p:nvSpPr>
          <p:cNvPr id="33" name="Content Placeholder 2"/>
          <p:cNvSpPr txBox="1">
            <a:spLocks/>
          </p:cNvSpPr>
          <p:nvPr/>
        </p:nvSpPr>
        <p:spPr bwMode="auto">
          <a:xfrm>
            <a:off x="6652182" y="968312"/>
            <a:ext cx="3218793" cy="1292304"/>
          </a:xfrm>
          <a:prstGeom prst="rect">
            <a:avLst/>
          </a:prstGeom>
          <a:solidFill>
            <a:srgbClr val="7030A0"/>
          </a:solidFill>
          <a:ln w="9525" cap="flat" cmpd="sng" algn="ctr">
            <a:noFill/>
            <a:prstDash val="solid"/>
            <a:miter lim="800000"/>
            <a:headEnd/>
            <a:tailEn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normAutofit/>
          </a:bodyPr>
          <a:lstStyle>
            <a:lvl1pPr marL="342900" indent="-342900" algn="l" defTabSz="914400" rtl="0" eaLnBrk="1" latinLnBrk="0" hangingPunct="1">
              <a:spcBef>
                <a:spcPct val="20000"/>
              </a:spcBef>
              <a:buFont typeface="Arial" pitchFamily="34" charset="0"/>
              <a:buChar char="•"/>
              <a:defRPr sz="3200" kern="1200">
                <a:solidFill>
                  <a:schemeClr val="l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l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l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fontAlgn="base">
              <a:spcBef>
                <a:spcPct val="0"/>
              </a:spcBef>
              <a:spcAft>
                <a:spcPct val="0"/>
              </a:spcAft>
              <a:buFont typeface="Arial" pitchFamily="34" charset="0"/>
              <a:buNone/>
            </a:pPr>
            <a:r>
              <a:rPr lang="en-GB" sz="2000" b="1" dirty="0">
                <a:solidFill>
                  <a:srgbClr val="FFFF00"/>
                </a:solidFill>
              </a:rPr>
              <a:t>Ideal Simple Rankine cycle :</a:t>
            </a:r>
          </a:p>
          <a:p>
            <a:pPr fontAlgn="base">
              <a:spcBef>
                <a:spcPct val="0"/>
              </a:spcBef>
              <a:spcAft>
                <a:spcPct val="0"/>
              </a:spcAft>
            </a:pPr>
            <a:r>
              <a:rPr lang="en-GB" sz="2000" b="1" dirty="0">
                <a:solidFill>
                  <a:srgbClr val="FFFF00"/>
                </a:solidFill>
              </a:rPr>
              <a:t>Two isobaric processes </a:t>
            </a:r>
          </a:p>
          <a:p>
            <a:pPr fontAlgn="base">
              <a:spcBef>
                <a:spcPct val="0"/>
              </a:spcBef>
              <a:spcAft>
                <a:spcPct val="0"/>
              </a:spcAft>
            </a:pPr>
            <a:r>
              <a:rPr lang="en-GB" sz="2000" b="1" dirty="0">
                <a:solidFill>
                  <a:srgbClr val="FFFF00"/>
                </a:solidFill>
              </a:rPr>
              <a:t>Two isentropic processes</a:t>
            </a:r>
          </a:p>
        </p:txBody>
      </p:sp>
      <p:sp>
        <p:nvSpPr>
          <p:cNvPr id="34" name="Line 5"/>
          <p:cNvSpPr>
            <a:spLocks noChangeShapeType="1"/>
          </p:cNvSpPr>
          <p:nvPr/>
        </p:nvSpPr>
        <p:spPr bwMode="auto">
          <a:xfrm flipV="1">
            <a:off x="1332303" y="2698519"/>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5" name="Line 6"/>
          <p:cNvSpPr>
            <a:spLocks noChangeShapeType="1"/>
          </p:cNvSpPr>
          <p:nvPr/>
        </p:nvSpPr>
        <p:spPr bwMode="auto">
          <a:xfrm>
            <a:off x="1332419" y="6279919"/>
            <a:ext cx="3672571"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6" name="Text Box 14"/>
          <p:cNvSpPr txBox="1">
            <a:spLocks noChangeArrowheads="1"/>
          </p:cNvSpPr>
          <p:nvPr/>
        </p:nvSpPr>
        <p:spPr bwMode="auto">
          <a:xfrm>
            <a:off x="860478" y="2869032"/>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7" name="Text Box 19"/>
          <p:cNvSpPr txBox="1">
            <a:spLocks noChangeArrowheads="1"/>
          </p:cNvSpPr>
          <p:nvPr/>
        </p:nvSpPr>
        <p:spPr bwMode="auto">
          <a:xfrm>
            <a:off x="1645946" y="4129790"/>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38" name="Text Box 22"/>
          <p:cNvSpPr txBox="1">
            <a:spLocks noChangeArrowheads="1"/>
          </p:cNvSpPr>
          <p:nvPr/>
        </p:nvSpPr>
        <p:spPr bwMode="auto">
          <a:xfrm>
            <a:off x="1693718" y="5414636"/>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39" name="Text Box 22"/>
          <p:cNvSpPr txBox="1">
            <a:spLocks noChangeArrowheads="1"/>
          </p:cNvSpPr>
          <p:nvPr/>
        </p:nvSpPr>
        <p:spPr bwMode="auto">
          <a:xfrm>
            <a:off x="3985851" y="4175977"/>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40" name="Text Box 22"/>
          <p:cNvSpPr txBox="1">
            <a:spLocks noChangeArrowheads="1"/>
          </p:cNvSpPr>
          <p:nvPr/>
        </p:nvSpPr>
        <p:spPr bwMode="auto">
          <a:xfrm>
            <a:off x="3974528" y="5496869"/>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41" name="Straight Connector 40"/>
          <p:cNvCxnSpPr/>
          <p:nvPr/>
        </p:nvCxnSpPr>
        <p:spPr>
          <a:xfrm>
            <a:off x="1195676" y="4389567"/>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2" name="Straight Connector 41"/>
          <p:cNvCxnSpPr/>
          <p:nvPr/>
        </p:nvCxnSpPr>
        <p:spPr>
          <a:xfrm>
            <a:off x="1195676" y="5635045"/>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3" name="Text Box 22"/>
          <p:cNvSpPr txBox="1">
            <a:spLocks noChangeArrowheads="1"/>
          </p:cNvSpPr>
          <p:nvPr/>
        </p:nvSpPr>
        <p:spPr bwMode="auto">
          <a:xfrm>
            <a:off x="837510" y="4238819"/>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44" name="Text Box 22"/>
          <p:cNvSpPr txBox="1">
            <a:spLocks noChangeArrowheads="1"/>
          </p:cNvSpPr>
          <p:nvPr/>
        </p:nvSpPr>
        <p:spPr bwMode="auto">
          <a:xfrm>
            <a:off x="823222" y="5518663"/>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45" name="Freeform 44"/>
          <p:cNvSpPr/>
          <p:nvPr/>
        </p:nvSpPr>
        <p:spPr>
          <a:xfrm>
            <a:off x="1739590" y="2896807"/>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grpSp>
        <p:nvGrpSpPr>
          <p:cNvPr id="46" name="Group 45"/>
          <p:cNvGrpSpPr/>
          <p:nvPr/>
        </p:nvGrpSpPr>
        <p:grpSpPr>
          <a:xfrm>
            <a:off x="2023704" y="4353778"/>
            <a:ext cx="1933003" cy="691"/>
            <a:chOff x="1229385" y="3497439"/>
            <a:chExt cx="1933003" cy="691"/>
          </a:xfrm>
        </p:grpSpPr>
        <p:sp>
          <p:nvSpPr>
            <p:cNvPr id="47" name="Line 11"/>
            <p:cNvSpPr>
              <a:spLocks noChangeShapeType="1"/>
            </p:cNvSpPr>
            <p:nvPr/>
          </p:nvSpPr>
          <p:spPr bwMode="auto">
            <a:xfrm>
              <a:off x="1799741" y="349813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48" name="Straight Connector 47"/>
            <p:cNvCxnSpPr/>
            <p:nvPr/>
          </p:nvCxnSpPr>
          <p:spPr>
            <a:xfrm rot="16200000">
              <a:off x="2195887" y="2530937"/>
              <a:ext cx="0" cy="1933003"/>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grpSp>
      <p:cxnSp>
        <p:nvCxnSpPr>
          <p:cNvPr id="49" name="Straight Connector 48"/>
          <p:cNvCxnSpPr/>
          <p:nvPr/>
        </p:nvCxnSpPr>
        <p:spPr>
          <a:xfrm>
            <a:off x="3956708" y="4314266"/>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0" name="Straight Connector 49"/>
          <p:cNvCxnSpPr/>
          <p:nvPr/>
        </p:nvCxnSpPr>
        <p:spPr>
          <a:xfrm>
            <a:off x="2029130" y="4314266"/>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1" name="Straight Arrow Connector 50"/>
          <p:cNvCxnSpPr/>
          <p:nvPr/>
        </p:nvCxnSpPr>
        <p:spPr>
          <a:xfrm>
            <a:off x="2029130" y="4777976"/>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nvGrpSpPr>
          <p:cNvPr id="52" name="Group 51"/>
          <p:cNvGrpSpPr/>
          <p:nvPr/>
        </p:nvGrpSpPr>
        <p:grpSpPr>
          <a:xfrm>
            <a:off x="2033274" y="5598575"/>
            <a:ext cx="1913864" cy="3931"/>
            <a:chOff x="1238955" y="4742236"/>
            <a:chExt cx="1913864" cy="3931"/>
          </a:xfrm>
        </p:grpSpPr>
        <p:cxnSp>
          <p:nvCxnSpPr>
            <p:cNvPr id="53" name="Straight Connector 52"/>
            <p:cNvCxnSpPr/>
            <p:nvPr/>
          </p:nvCxnSpPr>
          <p:spPr>
            <a:xfrm rot="16200000">
              <a:off x="2195887" y="3785304"/>
              <a:ext cx="0" cy="1913864"/>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sp>
          <p:nvSpPr>
            <p:cNvPr id="54" name="Line 11"/>
            <p:cNvSpPr>
              <a:spLocks noChangeShapeType="1"/>
            </p:cNvSpPr>
            <p:nvPr/>
          </p:nvSpPr>
          <p:spPr bwMode="auto">
            <a:xfrm flipH="1">
              <a:off x="2003741" y="474616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grpSp>
      <p:cxnSp>
        <p:nvCxnSpPr>
          <p:cNvPr id="55" name="Straight Arrow Connector 54"/>
          <p:cNvCxnSpPr/>
          <p:nvPr/>
        </p:nvCxnSpPr>
        <p:spPr>
          <a:xfrm flipV="1">
            <a:off x="3957648" y="4764380"/>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56" name="Line 5"/>
          <p:cNvSpPr>
            <a:spLocks noChangeShapeType="1"/>
          </p:cNvSpPr>
          <p:nvPr/>
        </p:nvSpPr>
        <p:spPr bwMode="auto">
          <a:xfrm flipV="1">
            <a:off x="5875400" y="2608939"/>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57" name="Line 6"/>
          <p:cNvSpPr>
            <a:spLocks noChangeShapeType="1"/>
          </p:cNvSpPr>
          <p:nvPr/>
        </p:nvSpPr>
        <p:spPr bwMode="auto">
          <a:xfrm>
            <a:off x="5887687" y="6202371"/>
            <a:ext cx="4039828"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58" name="Text Box 14"/>
          <p:cNvSpPr txBox="1">
            <a:spLocks noChangeArrowheads="1"/>
          </p:cNvSpPr>
          <p:nvPr/>
        </p:nvSpPr>
        <p:spPr bwMode="auto">
          <a:xfrm>
            <a:off x="5403575" y="2779452"/>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59" name="Text Box 19"/>
          <p:cNvSpPr txBox="1">
            <a:spLocks noChangeArrowheads="1"/>
          </p:cNvSpPr>
          <p:nvPr/>
        </p:nvSpPr>
        <p:spPr bwMode="auto">
          <a:xfrm>
            <a:off x="6308716" y="4189082"/>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60" name="Text Box 22"/>
          <p:cNvSpPr txBox="1">
            <a:spLocks noChangeArrowheads="1"/>
          </p:cNvSpPr>
          <p:nvPr/>
        </p:nvSpPr>
        <p:spPr bwMode="auto">
          <a:xfrm>
            <a:off x="6356919" y="5529331"/>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61" name="Text Box 22"/>
          <p:cNvSpPr txBox="1">
            <a:spLocks noChangeArrowheads="1"/>
          </p:cNvSpPr>
          <p:nvPr/>
        </p:nvSpPr>
        <p:spPr bwMode="auto">
          <a:xfrm>
            <a:off x="8772907" y="407018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62" name="Text Box 22"/>
          <p:cNvSpPr txBox="1">
            <a:spLocks noChangeArrowheads="1"/>
          </p:cNvSpPr>
          <p:nvPr/>
        </p:nvSpPr>
        <p:spPr bwMode="auto">
          <a:xfrm>
            <a:off x="8836718" y="5529331"/>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63" name="Straight Connector 62"/>
          <p:cNvCxnSpPr/>
          <p:nvPr/>
        </p:nvCxnSpPr>
        <p:spPr>
          <a:xfrm>
            <a:off x="5738773" y="4299987"/>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4" name="Straight Connector 63"/>
          <p:cNvCxnSpPr/>
          <p:nvPr/>
        </p:nvCxnSpPr>
        <p:spPr>
          <a:xfrm>
            <a:off x="5738773" y="5545465"/>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5" name="Text Box 22"/>
          <p:cNvSpPr txBox="1">
            <a:spLocks noChangeArrowheads="1"/>
          </p:cNvSpPr>
          <p:nvPr/>
        </p:nvSpPr>
        <p:spPr bwMode="auto">
          <a:xfrm>
            <a:off x="5380607" y="4149239"/>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66" name="Text Box 22"/>
          <p:cNvSpPr txBox="1">
            <a:spLocks noChangeArrowheads="1"/>
          </p:cNvSpPr>
          <p:nvPr/>
        </p:nvSpPr>
        <p:spPr bwMode="auto">
          <a:xfrm>
            <a:off x="5366319" y="5429083"/>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67" name="Freeform 66"/>
          <p:cNvSpPr/>
          <p:nvPr/>
        </p:nvSpPr>
        <p:spPr>
          <a:xfrm>
            <a:off x="6520519" y="2807227"/>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cxnSp>
        <p:nvCxnSpPr>
          <p:cNvPr id="68" name="Straight Connector 67"/>
          <p:cNvCxnSpPr/>
          <p:nvPr/>
        </p:nvCxnSpPr>
        <p:spPr>
          <a:xfrm>
            <a:off x="8757063" y="4272783"/>
            <a:ext cx="48058" cy="1236211"/>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69" name="Straight Connector 68"/>
          <p:cNvCxnSpPr/>
          <p:nvPr/>
        </p:nvCxnSpPr>
        <p:spPr>
          <a:xfrm>
            <a:off x="6561455" y="4517381"/>
            <a:ext cx="0" cy="1003198"/>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70" name="Straight Arrow Connector 69"/>
          <p:cNvCxnSpPr/>
          <p:nvPr/>
        </p:nvCxnSpPr>
        <p:spPr>
          <a:xfrm flipH="1" flipV="1">
            <a:off x="8764781" y="4644366"/>
            <a:ext cx="8126" cy="344493"/>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nvGrpSpPr>
          <p:cNvPr id="71" name="Group 70"/>
          <p:cNvGrpSpPr/>
          <p:nvPr/>
        </p:nvGrpSpPr>
        <p:grpSpPr>
          <a:xfrm>
            <a:off x="6234361" y="2944141"/>
            <a:ext cx="2948990" cy="1919764"/>
            <a:chOff x="5440042" y="2087802"/>
            <a:chExt cx="2948990" cy="1919764"/>
          </a:xfrm>
        </p:grpSpPr>
        <p:sp>
          <p:nvSpPr>
            <p:cNvPr id="72" name="Line 11"/>
            <p:cNvSpPr>
              <a:spLocks noChangeShapeType="1"/>
            </p:cNvSpPr>
            <p:nvPr/>
          </p:nvSpPr>
          <p:spPr bwMode="auto">
            <a:xfrm>
              <a:off x="6580670" y="34085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73" name="Straight Connector 72"/>
            <p:cNvCxnSpPr/>
            <p:nvPr/>
          </p:nvCxnSpPr>
          <p:spPr>
            <a:xfrm rot="16200000">
              <a:off x="6976816" y="2421930"/>
              <a:ext cx="0" cy="1971856"/>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4" name="Straight Connector 73"/>
            <p:cNvCxnSpPr/>
            <p:nvPr/>
          </p:nvCxnSpPr>
          <p:spPr>
            <a:xfrm flipV="1">
              <a:off x="7950350" y="2087802"/>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75" name="Straight Connector 74"/>
            <p:cNvCxnSpPr/>
            <p:nvPr/>
          </p:nvCxnSpPr>
          <p:spPr>
            <a:xfrm flipV="1">
              <a:off x="5440042" y="3416444"/>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nvGrpSpPr>
          <p:cNvPr id="76" name="Group 75"/>
          <p:cNvGrpSpPr/>
          <p:nvPr/>
        </p:nvGrpSpPr>
        <p:grpSpPr>
          <a:xfrm>
            <a:off x="5979385" y="4228327"/>
            <a:ext cx="3757243" cy="1868175"/>
            <a:chOff x="5185066" y="3371988"/>
            <a:chExt cx="3757243" cy="1868175"/>
          </a:xfrm>
        </p:grpSpPr>
        <p:cxnSp>
          <p:nvCxnSpPr>
            <p:cNvPr id="77" name="Straight Connector 76"/>
            <p:cNvCxnSpPr/>
            <p:nvPr/>
          </p:nvCxnSpPr>
          <p:spPr>
            <a:xfrm rot="16200000">
              <a:off x="7133356" y="3251612"/>
              <a:ext cx="0" cy="280208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8" name="Line 11"/>
            <p:cNvSpPr>
              <a:spLocks noChangeShapeType="1"/>
            </p:cNvSpPr>
            <p:nvPr/>
          </p:nvSpPr>
          <p:spPr bwMode="auto">
            <a:xfrm flipH="1">
              <a:off x="6784670" y="46565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79" name="Straight Connector 78"/>
            <p:cNvCxnSpPr/>
            <p:nvPr/>
          </p:nvCxnSpPr>
          <p:spPr>
            <a:xfrm flipV="1">
              <a:off x="8503627" y="3371988"/>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80" name="Straight Connector 79"/>
            <p:cNvCxnSpPr/>
            <p:nvPr/>
          </p:nvCxnSpPr>
          <p:spPr>
            <a:xfrm flipV="1">
              <a:off x="5185066" y="4649041"/>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sp>
        <p:nvSpPr>
          <p:cNvPr id="81" name="Right Arrow 80"/>
          <p:cNvSpPr/>
          <p:nvPr/>
        </p:nvSpPr>
        <p:spPr>
          <a:xfrm>
            <a:off x="4838364" y="1408759"/>
            <a:ext cx="936532" cy="533400"/>
          </a:xfrm>
          <a:prstGeom prst="rightArrow">
            <a:avLst/>
          </a:prstGeom>
          <a:solidFill>
            <a:srgbClr val="7030A0"/>
          </a:solidFill>
          <a:ln w="9525" cap="flat" cmpd="sng" algn="ctr">
            <a:solidFill>
              <a:srgbClr val="FFFF00"/>
            </a:solidFill>
            <a:prstDash val="solid"/>
            <a:miter lim="800000"/>
            <a:headEnd/>
            <a:tailEn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normAutofit fontScale="70000" lnSpcReduction="20000"/>
          </a:bodyPr>
          <a:lstStyle/>
          <a:p>
            <a:pPr algn="l">
              <a:buFont typeface="Arial" pitchFamily="34" charset="0"/>
              <a:buNone/>
            </a:pPr>
            <a:endParaRPr lang="en-US" sz="2000" b="1">
              <a:solidFill>
                <a:srgbClr val="FFFF00"/>
              </a:solidFill>
            </a:endParaRPr>
          </a:p>
        </p:txBody>
      </p:sp>
    </p:spTree>
    <p:extLst>
      <p:ext uri="{BB962C8B-B14F-4D97-AF65-F5344CB8AC3E}">
        <p14:creationId xmlns:p14="http://schemas.microsoft.com/office/powerpoint/2010/main" val="37366324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Ideal Rankine Vapour Power Cycle</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27</a:t>
            </a:fld>
            <a:endParaRPr lang="en-US" dirty="0"/>
          </a:p>
        </p:txBody>
      </p:sp>
      <p:sp>
        <p:nvSpPr>
          <p:cNvPr id="9" name="Content Placeholder 2"/>
          <p:cNvSpPr>
            <a:spLocks noGrp="1"/>
          </p:cNvSpPr>
          <p:nvPr>
            <p:ph sz="half" idx="1"/>
          </p:nvPr>
        </p:nvSpPr>
        <p:spPr>
          <a:xfrm>
            <a:off x="228600" y="1052235"/>
            <a:ext cx="5392499" cy="5085641"/>
          </a:xfrm>
        </p:spPr>
        <p:txBody>
          <a:bodyPr>
            <a:noAutofit/>
          </a:bodyPr>
          <a:lstStyle/>
          <a:p>
            <a:pPr>
              <a:buFont typeface="Wingdings" panose="05000000000000000000" pitchFamily="2" charset="2"/>
              <a:buChar char="v"/>
            </a:pPr>
            <a:r>
              <a:rPr lang="en-US" sz="2400" dirty="0"/>
              <a:t>In general, the efficiency can be improved by increasing the complexity of the plant. </a:t>
            </a:r>
          </a:p>
          <a:p>
            <a:pPr>
              <a:buFont typeface="Wingdings" panose="05000000000000000000" pitchFamily="2" charset="2"/>
              <a:buChar char="v"/>
            </a:pPr>
            <a:r>
              <a:rPr lang="en-US" sz="2400" dirty="0"/>
              <a:t>A compromise between low operating and capital costs is therefore required.</a:t>
            </a:r>
          </a:p>
          <a:p>
            <a:pPr>
              <a:buFont typeface="Wingdings" panose="05000000000000000000" pitchFamily="2" charset="2"/>
              <a:buChar char="v"/>
            </a:pPr>
            <a:r>
              <a:rPr lang="en-US" sz="2400" dirty="0">
                <a:solidFill>
                  <a:srgbClr val="002060"/>
                </a:solidFill>
              </a:rPr>
              <a:t>One way to improve the efficiency of the Rankine cycle by superheating the saturated steam before it enters the turbine.</a:t>
            </a:r>
          </a:p>
          <a:p>
            <a:pPr>
              <a:buFont typeface="Wingdings" panose="05000000000000000000" pitchFamily="2" charset="2"/>
              <a:buChar char="v"/>
            </a:pPr>
            <a:r>
              <a:rPr lang="en-US" sz="2400" dirty="0"/>
              <a:t>This can be done by installing a superheater in the steam flow line at exit from the boiler.</a:t>
            </a:r>
          </a:p>
          <a:p>
            <a:pPr>
              <a:buFont typeface="Wingdings" panose="05000000000000000000" pitchFamily="2" charset="2"/>
              <a:buChar char="v"/>
            </a:pPr>
            <a:endParaRPr lang="en-US" sz="2300" dirty="0"/>
          </a:p>
          <a:p>
            <a:pPr>
              <a:buFont typeface="Wingdings" panose="05000000000000000000" pitchFamily="2" charset="2"/>
              <a:buChar char="v"/>
            </a:pPr>
            <a:endParaRPr lang="en-US" dirty="0"/>
          </a:p>
        </p:txBody>
      </p:sp>
      <p:pic>
        <p:nvPicPr>
          <p:cNvPr id="27650" name="Picture 2" descr="Boiler Efficiency - an overview | ScienceDirect Top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1100" y="1217226"/>
            <a:ext cx="6322909" cy="492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9151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Ideal Rankine Vapour Power Cycle</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28</a:t>
            </a:fld>
            <a:endParaRPr lang="en-US" dirty="0"/>
          </a:p>
        </p:txBody>
      </p:sp>
      <p:grpSp>
        <p:nvGrpSpPr>
          <p:cNvPr id="82" name="Group 81"/>
          <p:cNvGrpSpPr>
            <a:grpSpLocks noChangeAspect="1"/>
          </p:cNvGrpSpPr>
          <p:nvPr/>
        </p:nvGrpSpPr>
        <p:grpSpPr>
          <a:xfrm>
            <a:off x="6464094" y="1329821"/>
            <a:ext cx="4146072" cy="3566160"/>
            <a:chOff x="4572000" y="1752600"/>
            <a:chExt cx="4561196" cy="3923219"/>
          </a:xfrm>
        </p:grpSpPr>
        <p:cxnSp>
          <p:nvCxnSpPr>
            <p:cNvPr id="83" name="Straight Arrow Connector 82"/>
            <p:cNvCxnSpPr/>
            <p:nvPr/>
          </p:nvCxnSpPr>
          <p:spPr>
            <a:xfrm>
              <a:off x="5767136" y="391809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84" name="Line 5"/>
            <p:cNvSpPr>
              <a:spLocks noChangeShapeType="1"/>
            </p:cNvSpPr>
            <p:nvPr/>
          </p:nvSpPr>
          <p:spPr bwMode="auto">
            <a:xfrm flipV="1">
              <a:off x="5081081" y="17526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85" name="Line 6"/>
            <p:cNvSpPr>
              <a:spLocks noChangeShapeType="1"/>
            </p:cNvSpPr>
            <p:nvPr/>
          </p:nvSpPr>
          <p:spPr bwMode="auto">
            <a:xfrm>
              <a:off x="5093368" y="5346032"/>
              <a:ext cx="4039828"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86" name="Text Box 13"/>
            <p:cNvSpPr txBox="1">
              <a:spLocks noChangeArrowheads="1"/>
            </p:cNvSpPr>
            <p:nvPr/>
          </p:nvSpPr>
          <p:spPr bwMode="auto">
            <a:xfrm>
              <a:off x="8552769" y="52946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87" name="Text Box 14"/>
            <p:cNvSpPr txBox="1">
              <a:spLocks noChangeArrowheads="1"/>
            </p:cNvSpPr>
            <p:nvPr/>
          </p:nvSpPr>
          <p:spPr bwMode="auto">
            <a:xfrm>
              <a:off x="4609256" y="19231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88" name="Text Box 19"/>
            <p:cNvSpPr txBox="1">
              <a:spLocks noChangeArrowheads="1"/>
            </p:cNvSpPr>
            <p:nvPr/>
          </p:nvSpPr>
          <p:spPr bwMode="auto">
            <a:xfrm>
              <a:off x="5514397" y="3332743"/>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89" name="Text Box 22"/>
            <p:cNvSpPr txBox="1">
              <a:spLocks noChangeArrowheads="1"/>
            </p:cNvSpPr>
            <p:nvPr/>
          </p:nvSpPr>
          <p:spPr bwMode="auto">
            <a:xfrm>
              <a:off x="5562600" y="467299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90" name="Text Box 22"/>
            <p:cNvSpPr txBox="1">
              <a:spLocks noChangeArrowheads="1"/>
            </p:cNvSpPr>
            <p:nvPr/>
          </p:nvSpPr>
          <p:spPr bwMode="auto">
            <a:xfrm>
              <a:off x="7924800" y="2286000"/>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91" name="Text Box 22"/>
            <p:cNvSpPr txBox="1">
              <a:spLocks noChangeArrowheads="1"/>
            </p:cNvSpPr>
            <p:nvPr/>
          </p:nvSpPr>
          <p:spPr bwMode="auto">
            <a:xfrm>
              <a:off x="8042399" y="467299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92" name="Straight Connector 91"/>
            <p:cNvCxnSpPr/>
            <p:nvPr/>
          </p:nvCxnSpPr>
          <p:spPr>
            <a:xfrm>
              <a:off x="4944454" y="34436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3" name="Straight Connector 92"/>
            <p:cNvCxnSpPr/>
            <p:nvPr/>
          </p:nvCxnSpPr>
          <p:spPr>
            <a:xfrm>
              <a:off x="4944454" y="46891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94" name="Text Box 22"/>
            <p:cNvSpPr txBox="1">
              <a:spLocks noChangeArrowheads="1"/>
            </p:cNvSpPr>
            <p:nvPr/>
          </p:nvSpPr>
          <p:spPr bwMode="auto">
            <a:xfrm>
              <a:off x="4586288" y="32929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95" name="Text Box 22"/>
            <p:cNvSpPr txBox="1">
              <a:spLocks noChangeArrowheads="1"/>
            </p:cNvSpPr>
            <p:nvPr/>
          </p:nvSpPr>
          <p:spPr bwMode="auto">
            <a:xfrm>
              <a:off x="4572000" y="45727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96" name="Freeform 95"/>
            <p:cNvSpPr/>
            <p:nvPr/>
          </p:nvSpPr>
          <p:spPr>
            <a:xfrm>
              <a:off x="5726200" y="19508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cxnSp>
          <p:nvCxnSpPr>
            <p:cNvPr id="97" name="Straight Connector 96"/>
            <p:cNvCxnSpPr/>
            <p:nvPr/>
          </p:nvCxnSpPr>
          <p:spPr>
            <a:xfrm>
              <a:off x="8212507" y="2650029"/>
              <a:ext cx="0" cy="2002626"/>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98" name="Straight Connector 97"/>
            <p:cNvCxnSpPr/>
            <p:nvPr/>
          </p:nvCxnSpPr>
          <p:spPr>
            <a:xfrm>
              <a:off x="5767136" y="3661042"/>
              <a:ext cx="0" cy="1003198"/>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99" name="Straight Arrow Connector 98"/>
            <p:cNvCxnSpPr/>
            <p:nvPr/>
          </p:nvCxnSpPr>
          <p:spPr>
            <a:xfrm flipV="1">
              <a:off x="8212507" y="3788026"/>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nvGrpSpPr>
            <p:cNvPr id="100" name="Group 99"/>
            <p:cNvGrpSpPr/>
            <p:nvPr/>
          </p:nvGrpSpPr>
          <p:grpSpPr>
            <a:xfrm>
              <a:off x="5440042" y="2087802"/>
              <a:ext cx="2948990" cy="1919764"/>
              <a:chOff x="5440042" y="2087802"/>
              <a:chExt cx="2948990" cy="1919764"/>
            </a:xfrm>
          </p:grpSpPr>
          <p:sp>
            <p:nvSpPr>
              <p:cNvPr id="106" name="Line 11"/>
              <p:cNvSpPr>
                <a:spLocks noChangeShapeType="1"/>
              </p:cNvSpPr>
              <p:nvPr/>
            </p:nvSpPr>
            <p:spPr bwMode="auto">
              <a:xfrm>
                <a:off x="6580670" y="34085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107" name="Straight Connector 106"/>
              <p:cNvCxnSpPr/>
              <p:nvPr/>
            </p:nvCxnSpPr>
            <p:spPr>
              <a:xfrm rot="16200000">
                <a:off x="6976816" y="2421930"/>
                <a:ext cx="0" cy="1971856"/>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8" name="Straight Connector 107"/>
              <p:cNvCxnSpPr/>
              <p:nvPr/>
            </p:nvCxnSpPr>
            <p:spPr>
              <a:xfrm flipV="1">
                <a:off x="7950350" y="2087802"/>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9" name="Straight Connector 108"/>
              <p:cNvCxnSpPr/>
              <p:nvPr/>
            </p:nvCxnSpPr>
            <p:spPr>
              <a:xfrm flipV="1">
                <a:off x="5440042" y="3416444"/>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nvGrpSpPr>
            <p:cNvPr id="101" name="Group 100"/>
            <p:cNvGrpSpPr/>
            <p:nvPr/>
          </p:nvGrpSpPr>
          <p:grpSpPr>
            <a:xfrm>
              <a:off x="5185066" y="3371988"/>
              <a:ext cx="3757243" cy="1868175"/>
              <a:chOff x="5185066" y="3371988"/>
              <a:chExt cx="3757243" cy="1868175"/>
            </a:xfrm>
          </p:grpSpPr>
          <p:cxnSp>
            <p:nvCxnSpPr>
              <p:cNvPr id="102" name="Straight Connector 101"/>
              <p:cNvCxnSpPr/>
              <p:nvPr/>
            </p:nvCxnSpPr>
            <p:spPr>
              <a:xfrm rot="16200000">
                <a:off x="7133356" y="3251612"/>
                <a:ext cx="0" cy="280208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03" name="Line 11"/>
              <p:cNvSpPr>
                <a:spLocks noChangeShapeType="1"/>
              </p:cNvSpPr>
              <p:nvPr/>
            </p:nvSpPr>
            <p:spPr bwMode="auto">
              <a:xfrm flipH="1">
                <a:off x="6784670" y="46565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104" name="Straight Connector 103"/>
              <p:cNvCxnSpPr/>
              <p:nvPr/>
            </p:nvCxnSpPr>
            <p:spPr>
              <a:xfrm flipV="1">
                <a:off x="8503627" y="3371988"/>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5" name="Straight Connector 104"/>
              <p:cNvCxnSpPr/>
              <p:nvPr/>
            </p:nvCxnSpPr>
            <p:spPr>
              <a:xfrm flipV="1">
                <a:off x="5185066" y="4649041"/>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cxnSp>
        <p:nvCxnSpPr>
          <p:cNvPr id="110" name="Straight Connector 109"/>
          <p:cNvCxnSpPr/>
          <p:nvPr/>
        </p:nvCxnSpPr>
        <p:spPr>
          <a:xfrm>
            <a:off x="1389791" y="3668201"/>
            <a:ext cx="918570"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1239823" y="2913682"/>
            <a:ext cx="272726" cy="3329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112" name="Rectangle 111"/>
          <p:cNvSpPr/>
          <p:nvPr/>
        </p:nvSpPr>
        <p:spPr>
          <a:xfrm>
            <a:off x="1396675" y="2596377"/>
            <a:ext cx="247933" cy="2751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cxnSp>
        <p:nvCxnSpPr>
          <p:cNvPr id="113" name="Straight Connector 112"/>
          <p:cNvCxnSpPr/>
          <p:nvPr/>
        </p:nvCxnSpPr>
        <p:spPr>
          <a:xfrm>
            <a:off x="3226400" y="2164907"/>
            <a:ext cx="918570"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14" name="Straight Arrow Connector 113"/>
          <p:cNvCxnSpPr/>
          <p:nvPr/>
        </p:nvCxnSpPr>
        <p:spPr>
          <a:xfrm>
            <a:off x="4144970" y="2142735"/>
            <a:ext cx="0" cy="487792"/>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2308361" y="2038931"/>
            <a:ext cx="914788" cy="251953"/>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t>Boiler</a:t>
            </a:r>
          </a:p>
        </p:txBody>
      </p:sp>
      <p:sp>
        <p:nvSpPr>
          <p:cNvPr id="116" name="Rectangle 115"/>
          <p:cNvSpPr/>
          <p:nvPr/>
        </p:nvSpPr>
        <p:spPr>
          <a:xfrm>
            <a:off x="2262621" y="3515505"/>
            <a:ext cx="1006267" cy="251953"/>
          </a:xfrm>
          <a:prstGeom prst="rect">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1400" b="1" dirty="0"/>
              <a:t>Condenser</a:t>
            </a:r>
          </a:p>
        </p:txBody>
      </p:sp>
      <p:sp>
        <p:nvSpPr>
          <p:cNvPr id="117" name="Trapezoid 116"/>
          <p:cNvSpPr/>
          <p:nvPr/>
        </p:nvSpPr>
        <p:spPr>
          <a:xfrm rot="16200000">
            <a:off x="3972253" y="2530568"/>
            <a:ext cx="691030" cy="682871"/>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b="1" dirty="0"/>
              <a:t>Turbine</a:t>
            </a:r>
          </a:p>
        </p:txBody>
      </p:sp>
      <p:cxnSp>
        <p:nvCxnSpPr>
          <p:cNvPr id="118" name="Straight Connector 117"/>
          <p:cNvCxnSpPr/>
          <p:nvPr/>
        </p:nvCxnSpPr>
        <p:spPr>
          <a:xfrm>
            <a:off x="3251135" y="3631950"/>
            <a:ext cx="1323919" cy="0"/>
          </a:xfrm>
          <a:prstGeom prst="line">
            <a:avLst/>
          </a:prstGeom>
          <a:ln w="76200">
            <a:solidFill>
              <a:schemeClr val="bg2">
                <a:lumMod val="9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9" name="Straight Arrow Connector 118"/>
          <p:cNvCxnSpPr/>
          <p:nvPr/>
        </p:nvCxnSpPr>
        <p:spPr>
          <a:xfrm>
            <a:off x="4566562" y="3197533"/>
            <a:ext cx="0" cy="443448"/>
          </a:xfrm>
          <a:prstGeom prst="straightConnector1">
            <a:avLst/>
          </a:prstGeom>
          <a:ln w="76200">
            <a:solidFill>
              <a:schemeClr val="bg2">
                <a:lumMod val="9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20" name="Flowchart: Connector 119"/>
          <p:cNvSpPr/>
          <p:nvPr/>
        </p:nvSpPr>
        <p:spPr>
          <a:xfrm>
            <a:off x="1050118" y="2678205"/>
            <a:ext cx="906707" cy="510958"/>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t>Pump</a:t>
            </a:r>
          </a:p>
        </p:txBody>
      </p:sp>
      <p:cxnSp>
        <p:nvCxnSpPr>
          <p:cNvPr id="121" name="Straight Connector 120"/>
          <p:cNvCxnSpPr/>
          <p:nvPr/>
        </p:nvCxnSpPr>
        <p:spPr>
          <a:xfrm>
            <a:off x="1475301" y="2164907"/>
            <a:ext cx="835064" cy="0"/>
          </a:xfrm>
          <a:prstGeom prst="line">
            <a:avLst/>
          </a:prstGeom>
          <a:ln w="76200">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22" name="Straight Arrow Connector 121"/>
          <p:cNvCxnSpPr/>
          <p:nvPr/>
        </p:nvCxnSpPr>
        <p:spPr>
          <a:xfrm>
            <a:off x="1498460" y="2170347"/>
            <a:ext cx="0" cy="403134"/>
          </a:xfrm>
          <a:prstGeom prst="straightConnector1">
            <a:avLst/>
          </a:prstGeom>
          <a:ln w="762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3" name="Straight Arrow Connector 122"/>
          <p:cNvCxnSpPr/>
          <p:nvPr/>
        </p:nvCxnSpPr>
        <p:spPr>
          <a:xfrm>
            <a:off x="1387071" y="3235137"/>
            <a:ext cx="0" cy="443448"/>
          </a:xfrm>
          <a:prstGeom prst="straightConnector1">
            <a:avLst/>
          </a:prstGeom>
          <a:ln w="762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124" name="Trapezoid 123"/>
          <p:cNvSpPr/>
          <p:nvPr/>
        </p:nvSpPr>
        <p:spPr>
          <a:xfrm rot="16200000">
            <a:off x="3940717" y="2469067"/>
            <a:ext cx="691030" cy="820538"/>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sz="1400" b="1" dirty="0"/>
              <a:t>Turbine</a:t>
            </a:r>
          </a:p>
        </p:txBody>
      </p:sp>
      <p:sp>
        <p:nvSpPr>
          <p:cNvPr id="125" name="Down Arrow 124"/>
          <p:cNvSpPr/>
          <p:nvPr/>
        </p:nvSpPr>
        <p:spPr>
          <a:xfrm>
            <a:off x="2459629" y="1449144"/>
            <a:ext cx="612252" cy="554766"/>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H</a:t>
            </a:r>
          </a:p>
        </p:txBody>
      </p:sp>
      <p:sp>
        <p:nvSpPr>
          <p:cNvPr id="126" name="Down Arrow 125"/>
          <p:cNvSpPr/>
          <p:nvPr/>
        </p:nvSpPr>
        <p:spPr>
          <a:xfrm>
            <a:off x="2526168" y="3868092"/>
            <a:ext cx="557242" cy="379291"/>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400" b="1" dirty="0">
                <a:solidFill>
                  <a:schemeClr val="tx1"/>
                </a:solidFill>
              </a:rPr>
              <a:t>Q</a:t>
            </a:r>
            <a:r>
              <a:rPr lang="fr-FR" sz="1400" b="1" baseline="-25000" dirty="0">
                <a:solidFill>
                  <a:schemeClr val="tx1"/>
                </a:solidFill>
              </a:rPr>
              <a:t>C</a:t>
            </a:r>
          </a:p>
        </p:txBody>
      </p:sp>
      <p:sp>
        <p:nvSpPr>
          <p:cNvPr id="127" name="Right Arrow 126"/>
          <p:cNvSpPr/>
          <p:nvPr/>
        </p:nvSpPr>
        <p:spPr>
          <a:xfrm>
            <a:off x="4688144" y="2634620"/>
            <a:ext cx="742002" cy="4250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err="1"/>
              <a:t>Wout</a:t>
            </a:r>
            <a:endParaRPr lang="en-US" sz="1400" b="1" dirty="0"/>
          </a:p>
        </p:txBody>
      </p:sp>
      <p:sp>
        <p:nvSpPr>
          <p:cNvPr id="128" name="Right Arrow 127"/>
          <p:cNvSpPr/>
          <p:nvPr/>
        </p:nvSpPr>
        <p:spPr>
          <a:xfrm>
            <a:off x="411585" y="2813717"/>
            <a:ext cx="642738" cy="33110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Win</a:t>
            </a:r>
          </a:p>
        </p:txBody>
      </p:sp>
      <p:sp>
        <p:nvSpPr>
          <p:cNvPr id="129" name="Oval 128"/>
          <p:cNvSpPr/>
          <p:nvPr/>
        </p:nvSpPr>
        <p:spPr>
          <a:xfrm>
            <a:off x="3732798" y="1774542"/>
            <a:ext cx="824341" cy="37363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2</a:t>
            </a:r>
          </a:p>
        </p:txBody>
      </p:sp>
      <p:sp>
        <p:nvSpPr>
          <p:cNvPr id="130" name="Oval 129"/>
          <p:cNvSpPr/>
          <p:nvPr/>
        </p:nvSpPr>
        <p:spPr>
          <a:xfrm>
            <a:off x="4230101" y="3622922"/>
            <a:ext cx="824341" cy="37363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3</a:t>
            </a:r>
          </a:p>
        </p:txBody>
      </p:sp>
      <p:sp>
        <p:nvSpPr>
          <p:cNvPr id="131" name="Oval 130"/>
          <p:cNvSpPr/>
          <p:nvPr/>
        </p:nvSpPr>
        <p:spPr>
          <a:xfrm>
            <a:off x="936007" y="3706778"/>
            <a:ext cx="824341" cy="37363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4</a:t>
            </a:r>
          </a:p>
        </p:txBody>
      </p:sp>
      <p:sp>
        <p:nvSpPr>
          <p:cNvPr id="132" name="Oval 131"/>
          <p:cNvSpPr/>
          <p:nvPr/>
        </p:nvSpPr>
        <p:spPr>
          <a:xfrm>
            <a:off x="1086290" y="1817094"/>
            <a:ext cx="824342" cy="373632"/>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1</a:t>
            </a:r>
          </a:p>
        </p:txBody>
      </p:sp>
      <p:sp>
        <p:nvSpPr>
          <p:cNvPr id="133" name="Oval 132"/>
          <p:cNvSpPr/>
          <p:nvPr/>
        </p:nvSpPr>
        <p:spPr>
          <a:xfrm>
            <a:off x="2117484" y="1014506"/>
            <a:ext cx="1206919" cy="547035"/>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400 MW</a:t>
            </a:r>
          </a:p>
        </p:txBody>
      </p:sp>
      <p:sp>
        <p:nvSpPr>
          <p:cNvPr id="134" name="Oval 133"/>
          <p:cNvSpPr/>
          <p:nvPr/>
        </p:nvSpPr>
        <p:spPr>
          <a:xfrm>
            <a:off x="2262622" y="4216511"/>
            <a:ext cx="1206919" cy="547035"/>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240 MW</a:t>
            </a:r>
          </a:p>
        </p:txBody>
      </p:sp>
      <p:sp>
        <p:nvSpPr>
          <p:cNvPr id="135" name="Oval 134"/>
          <p:cNvSpPr/>
          <p:nvPr/>
        </p:nvSpPr>
        <p:spPr>
          <a:xfrm>
            <a:off x="4455031" y="2285895"/>
            <a:ext cx="1206919" cy="547035"/>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165 MW</a:t>
            </a:r>
          </a:p>
        </p:txBody>
      </p:sp>
      <p:sp>
        <p:nvSpPr>
          <p:cNvPr id="136" name="Oval 135"/>
          <p:cNvSpPr/>
          <p:nvPr/>
        </p:nvSpPr>
        <p:spPr>
          <a:xfrm>
            <a:off x="262907" y="2443655"/>
            <a:ext cx="906775" cy="547035"/>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rgbClr val="002060"/>
                </a:solidFill>
              </a:rPr>
              <a:t>5 MW</a:t>
            </a:r>
          </a:p>
        </p:txBody>
      </p:sp>
      <p:sp>
        <p:nvSpPr>
          <p:cNvPr id="137" name="Flowchart: Connector 136"/>
          <p:cNvSpPr/>
          <p:nvPr/>
        </p:nvSpPr>
        <p:spPr>
          <a:xfrm>
            <a:off x="7484374" y="3028480"/>
            <a:ext cx="122720" cy="157270"/>
          </a:xfrm>
          <a:prstGeom prst="flowChartConnector">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138" name="Flowchart: Connector 137"/>
          <p:cNvSpPr/>
          <p:nvPr/>
        </p:nvSpPr>
        <p:spPr>
          <a:xfrm>
            <a:off x="1427634" y="2106168"/>
            <a:ext cx="160025" cy="183957"/>
          </a:xfrm>
          <a:prstGeom prst="flowChartConnector">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139" name="Down Arrow 138"/>
          <p:cNvSpPr/>
          <p:nvPr/>
        </p:nvSpPr>
        <p:spPr>
          <a:xfrm>
            <a:off x="8344843" y="2175170"/>
            <a:ext cx="612252" cy="554766"/>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in</a:t>
            </a:r>
          </a:p>
        </p:txBody>
      </p:sp>
      <p:sp>
        <p:nvSpPr>
          <p:cNvPr id="140" name="Right Arrow 139"/>
          <p:cNvSpPr/>
          <p:nvPr/>
        </p:nvSpPr>
        <p:spPr>
          <a:xfrm>
            <a:off x="9821941" y="2958256"/>
            <a:ext cx="742002" cy="42505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err="1"/>
              <a:t>W</a:t>
            </a:r>
            <a:r>
              <a:rPr lang="en-US" sz="1400" b="1" baseline="-25000" dirty="0" err="1"/>
              <a:t>out</a:t>
            </a:r>
            <a:endParaRPr lang="en-US" sz="1400" b="1" baseline="-25000" dirty="0"/>
          </a:p>
        </p:txBody>
      </p:sp>
      <p:sp>
        <p:nvSpPr>
          <p:cNvPr id="141" name="Down Arrow 140"/>
          <p:cNvSpPr/>
          <p:nvPr/>
        </p:nvSpPr>
        <p:spPr>
          <a:xfrm>
            <a:off x="8536840" y="4079871"/>
            <a:ext cx="675874" cy="379291"/>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400" b="1" dirty="0" err="1">
                <a:solidFill>
                  <a:schemeClr val="tx1"/>
                </a:solidFill>
              </a:rPr>
              <a:t>Q</a:t>
            </a:r>
            <a:r>
              <a:rPr lang="fr-FR" sz="1400" b="1" baseline="-25000" dirty="0" err="1">
                <a:solidFill>
                  <a:schemeClr val="tx1"/>
                </a:solidFill>
              </a:rPr>
              <a:t>out</a:t>
            </a:r>
            <a:endParaRPr lang="fr-FR" sz="1400" b="1" baseline="-25000" dirty="0">
              <a:solidFill>
                <a:schemeClr val="tx1"/>
              </a:solidFill>
            </a:endParaRPr>
          </a:p>
        </p:txBody>
      </p:sp>
      <p:sp>
        <p:nvSpPr>
          <p:cNvPr id="142" name="Right Arrow 141"/>
          <p:cNvSpPr/>
          <p:nvPr/>
        </p:nvSpPr>
        <p:spPr>
          <a:xfrm>
            <a:off x="6870510" y="3493471"/>
            <a:ext cx="642738" cy="33110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W</a:t>
            </a:r>
            <a:r>
              <a:rPr lang="en-US" sz="1400" b="1" baseline="-25000" dirty="0">
                <a:solidFill>
                  <a:schemeClr val="tx1"/>
                </a:solidFill>
              </a:rPr>
              <a:t>in</a:t>
            </a:r>
          </a:p>
        </p:txBody>
      </p:sp>
      <p:graphicFrame>
        <p:nvGraphicFramePr>
          <p:cNvPr id="143" name="Object 142"/>
          <p:cNvGraphicFramePr>
            <a:graphicFrameLocks noChangeAspect="1"/>
          </p:cNvGraphicFramePr>
          <p:nvPr/>
        </p:nvGraphicFramePr>
        <p:xfrm>
          <a:off x="2831983" y="5038501"/>
          <a:ext cx="2288697" cy="443727"/>
        </p:xfrm>
        <a:graphic>
          <a:graphicData uri="http://schemas.openxmlformats.org/presentationml/2006/ole">
            <mc:AlternateContent xmlns:mc="http://schemas.openxmlformats.org/markup-compatibility/2006">
              <mc:Choice xmlns:v="urn:schemas-microsoft-com:vml" Requires="v">
                <p:oleObj spid="_x0000_s24614" name="Уравнение" r:id="rId3" imgW="1244600" imgH="241300" progId="Equation.3">
                  <p:embed/>
                </p:oleObj>
              </mc:Choice>
              <mc:Fallback>
                <p:oleObj name="Уравнение" r:id="rId3" imgW="1244600" imgH="241300" progId="Equation.3">
                  <p:embed/>
                  <p:pic>
                    <p:nvPicPr>
                      <p:cNvPr id="143" name="Object 1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1983" y="5038501"/>
                        <a:ext cx="2288697" cy="443727"/>
                      </a:xfrm>
                      <a:prstGeom prst="rect">
                        <a:avLst/>
                      </a:prstGeom>
                      <a:noFill/>
                    </p:spPr>
                  </p:pic>
                </p:oleObj>
              </mc:Fallback>
            </mc:AlternateContent>
          </a:graphicData>
        </a:graphic>
      </p:graphicFrame>
      <p:graphicFrame>
        <p:nvGraphicFramePr>
          <p:cNvPr id="144" name="Object 143"/>
          <p:cNvGraphicFramePr>
            <a:graphicFrameLocks noChangeAspect="1"/>
          </p:cNvGraphicFramePr>
          <p:nvPr/>
        </p:nvGraphicFramePr>
        <p:xfrm>
          <a:off x="2820219" y="5559381"/>
          <a:ext cx="1758950" cy="406400"/>
        </p:xfrm>
        <a:graphic>
          <a:graphicData uri="http://schemas.openxmlformats.org/presentationml/2006/ole">
            <mc:AlternateContent xmlns:mc="http://schemas.openxmlformats.org/markup-compatibility/2006">
              <mc:Choice xmlns:v="urn:schemas-microsoft-com:vml" Requires="v">
                <p:oleObj spid="_x0000_s24615" name="Уравнение" r:id="rId5" imgW="990360" imgH="228600" progId="Equation.3">
                  <p:embed/>
                </p:oleObj>
              </mc:Choice>
              <mc:Fallback>
                <p:oleObj name="Уравнение" r:id="rId5" imgW="990360" imgH="228600" progId="Equation.3">
                  <p:embed/>
                  <p:pic>
                    <p:nvPicPr>
                      <p:cNvPr id="144" name="Object 143"/>
                      <p:cNvPicPr>
                        <a:picLocks noChangeAspect="1" noChangeArrowheads="1"/>
                      </p:cNvPicPr>
                      <p:nvPr/>
                    </p:nvPicPr>
                    <p:blipFill>
                      <a:blip r:embed="rId6"/>
                      <a:srcRect/>
                      <a:stretch>
                        <a:fillRect/>
                      </a:stretch>
                    </p:blipFill>
                    <p:spPr bwMode="auto">
                      <a:xfrm>
                        <a:off x="2820219" y="5559381"/>
                        <a:ext cx="1758950" cy="406400"/>
                      </a:xfrm>
                      <a:prstGeom prst="rect">
                        <a:avLst/>
                      </a:prstGeom>
                      <a:noFill/>
                    </p:spPr>
                  </p:pic>
                </p:oleObj>
              </mc:Fallback>
            </mc:AlternateContent>
          </a:graphicData>
        </a:graphic>
      </p:graphicFrame>
      <p:graphicFrame>
        <p:nvGraphicFramePr>
          <p:cNvPr id="145" name="Object 144"/>
          <p:cNvGraphicFramePr>
            <a:graphicFrameLocks noChangeAspect="1"/>
          </p:cNvGraphicFramePr>
          <p:nvPr/>
        </p:nvGraphicFramePr>
        <p:xfrm>
          <a:off x="5370654" y="5299557"/>
          <a:ext cx="1239837" cy="406400"/>
        </p:xfrm>
        <a:graphic>
          <a:graphicData uri="http://schemas.openxmlformats.org/presentationml/2006/ole">
            <mc:AlternateContent xmlns:mc="http://schemas.openxmlformats.org/markup-compatibility/2006">
              <mc:Choice xmlns:v="urn:schemas-microsoft-com:vml" Requires="v">
                <p:oleObj spid="_x0000_s24616" name="Уравнение" r:id="rId7" imgW="698400" imgH="228600" progId="Equation.3">
                  <p:embed/>
                </p:oleObj>
              </mc:Choice>
              <mc:Fallback>
                <p:oleObj name="Уравнение" r:id="rId7" imgW="698400" imgH="228600" progId="Equation.3">
                  <p:embed/>
                  <p:pic>
                    <p:nvPicPr>
                      <p:cNvPr id="145" name="Object 144"/>
                      <p:cNvPicPr>
                        <a:picLocks noChangeAspect="1" noChangeArrowheads="1"/>
                      </p:cNvPicPr>
                      <p:nvPr/>
                    </p:nvPicPr>
                    <p:blipFill>
                      <a:blip r:embed="rId8"/>
                      <a:srcRect/>
                      <a:stretch>
                        <a:fillRect/>
                      </a:stretch>
                    </p:blipFill>
                    <p:spPr bwMode="auto">
                      <a:xfrm>
                        <a:off x="5370654" y="5299557"/>
                        <a:ext cx="1239837" cy="406400"/>
                      </a:xfrm>
                      <a:prstGeom prst="rect">
                        <a:avLst/>
                      </a:prstGeom>
                      <a:noFill/>
                    </p:spPr>
                  </p:pic>
                </p:oleObj>
              </mc:Fallback>
            </mc:AlternateContent>
          </a:graphicData>
        </a:graphic>
      </p:graphicFrame>
      <p:sp>
        <p:nvSpPr>
          <p:cNvPr id="146" name="Left Brace 145"/>
          <p:cNvSpPr/>
          <p:nvPr/>
        </p:nvSpPr>
        <p:spPr>
          <a:xfrm>
            <a:off x="5129794" y="5022709"/>
            <a:ext cx="248659" cy="10615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325333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002060"/>
                </a:solidFill>
                <a:latin typeface="Georgia" panose="02040502050405020303" pitchFamily="18" charset="0"/>
              </a:rPr>
              <a:t>Ideal Rankine Vapour Power Cycle</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29</a:t>
            </a:fld>
            <a:endParaRPr lang="en-US"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238149" y="968188"/>
                <a:ext cx="6566062" cy="513677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C00000"/>
                    </a:solidFill>
                  </a:rPr>
                  <a:t>Each component is treated as an open system.</a:t>
                </a:r>
              </a:p>
              <a:p>
                <a:pPr>
                  <a:buFont typeface="Wingdings" panose="05000000000000000000" pitchFamily="2" charset="2"/>
                  <a:buChar char="v"/>
                </a:pPr>
                <a:r>
                  <a:rPr lang="en-US" sz="2200" dirty="0"/>
                  <a:t>The steady flow energy equation for an open system from an initial state, </a:t>
                </a:r>
                <a:r>
                  <a:rPr lang="en-US" sz="2200" dirty="0" err="1"/>
                  <a:t>i</a:t>
                </a:r>
                <a:r>
                  <a:rPr lang="en-US" sz="2200" dirty="0"/>
                  <a:t> to a final state f, is given by</a:t>
                </a:r>
              </a:p>
              <a:p>
                <a:pPr marL="0" indent="0">
                  <a:buNone/>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rPr>
                          </m:ctrlPr>
                        </m:sSubPr>
                        <m:e>
                          <m:r>
                            <m:rPr>
                              <m:sty m:val="p"/>
                            </m:rPr>
                            <a:rPr lang="en-US" sz="1800" b="0" i="0" dirty="0" smtClean="0">
                              <a:latin typeface="Cambria Math" panose="02040503050406030204" pitchFamily="18" charset="0"/>
                            </a:rPr>
                            <m:t>Q</m:t>
                          </m:r>
                        </m:e>
                        <m:sub>
                          <m:r>
                            <m:rPr>
                              <m:sty m:val="p"/>
                            </m:rPr>
                            <a:rPr lang="en-US" sz="1800" b="0" i="0" dirty="0" smtClean="0">
                              <a:latin typeface="Cambria Math" panose="02040503050406030204" pitchFamily="18" charset="0"/>
                            </a:rPr>
                            <m:t>if</m:t>
                          </m:r>
                        </m:sub>
                      </m:sSub>
                      <m:r>
                        <a:rPr lang="en-US" sz="1800" b="0" i="0"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m:rPr>
                              <m:sty m:val="p"/>
                            </m:rPr>
                            <a:rPr lang="en-US" sz="1800" b="0" i="0" dirty="0" smtClean="0">
                              <a:latin typeface="Cambria Math" panose="02040503050406030204" pitchFamily="18" charset="0"/>
                            </a:rPr>
                            <m:t>W</m:t>
                          </m:r>
                        </m:e>
                        <m:sub>
                          <m:r>
                            <m:rPr>
                              <m:sty m:val="p"/>
                            </m:rPr>
                            <a:rPr lang="en-US" sz="1800" b="0" i="0" dirty="0" smtClean="0">
                              <a:latin typeface="Cambria Math" panose="02040503050406030204" pitchFamily="18" charset="0"/>
                            </a:rPr>
                            <m:t>if</m:t>
                          </m:r>
                        </m:sub>
                      </m:sSub>
                      <m:r>
                        <a:rPr lang="en-US" sz="1800" b="0" i="0" dirty="0" smtClean="0">
                          <a:latin typeface="Cambria Math" panose="02040503050406030204" pitchFamily="18" charset="0"/>
                        </a:rPr>
                        <m:t>=</m:t>
                      </m:r>
                      <m:r>
                        <m:rPr>
                          <m:sty m:val="p"/>
                        </m:rPr>
                        <a:rPr lang="en-US" sz="1800" b="0" i="0" dirty="0" smtClean="0">
                          <a:latin typeface="Cambria Math" panose="02040503050406030204" pitchFamily="18" charset="0"/>
                        </a:rPr>
                        <m:t>m</m:t>
                      </m:r>
                      <m:d>
                        <m:dPr>
                          <m:begChr m:val="["/>
                          <m:endChr m:val="]"/>
                          <m:ctrlPr>
                            <a:rPr lang="en-US" sz="1800" b="0" i="1" dirty="0" smtClean="0">
                              <a:latin typeface="Cambria Math" panose="02040503050406030204" pitchFamily="18" charset="0"/>
                            </a:rPr>
                          </m:ctrlPr>
                        </m:dPr>
                        <m:e>
                          <m:d>
                            <m:dPr>
                              <m:ctrlPr>
                                <a:rPr lang="en-US" sz="1800" b="0" i="1" dirty="0" smtClean="0">
                                  <a:latin typeface="Cambria Math" panose="02040503050406030204" pitchFamily="18" charset="0"/>
                                </a:rPr>
                              </m:ctrlPr>
                            </m:dPr>
                            <m:e>
                              <m:sSub>
                                <m:sSubPr>
                                  <m:ctrlPr>
                                    <a:rPr lang="en-US" sz="1800" b="0" i="1" dirty="0" smtClean="0">
                                      <a:latin typeface="Cambria Math" panose="02040503050406030204" pitchFamily="18" charset="0"/>
                                    </a:rPr>
                                  </m:ctrlPr>
                                </m:sSubPr>
                                <m:e>
                                  <m:r>
                                    <m:rPr>
                                      <m:sty m:val="p"/>
                                    </m:rPr>
                                    <a:rPr lang="en-US" sz="1800" b="0" i="0" dirty="0" smtClean="0">
                                      <a:latin typeface="Cambria Math" panose="02040503050406030204" pitchFamily="18" charset="0"/>
                                    </a:rPr>
                                    <m:t>h</m:t>
                                  </m:r>
                                </m:e>
                                <m:sub>
                                  <m:r>
                                    <m:rPr>
                                      <m:sty m:val="p"/>
                                    </m:rPr>
                                    <a:rPr lang="en-US" sz="1800" b="0" i="0" dirty="0" smtClean="0">
                                      <a:latin typeface="Cambria Math" panose="02040503050406030204" pitchFamily="18" charset="0"/>
                                    </a:rPr>
                                    <m:t>f</m:t>
                                  </m:r>
                                </m:sub>
                              </m:sSub>
                              <m:r>
                                <a:rPr lang="en-US" sz="1800" b="0" i="0"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m:rPr>
                                      <m:sty m:val="p"/>
                                    </m:rPr>
                                    <a:rPr lang="en-US" sz="1800" b="0" i="0" dirty="0" smtClean="0">
                                      <a:latin typeface="Cambria Math" panose="02040503050406030204" pitchFamily="18" charset="0"/>
                                    </a:rPr>
                                    <m:t>h</m:t>
                                  </m:r>
                                </m:e>
                                <m:sub>
                                  <m:r>
                                    <m:rPr>
                                      <m:sty m:val="p"/>
                                    </m:rPr>
                                    <a:rPr lang="en-US" sz="1800" b="0" i="0" dirty="0" smtClean="0">
                                      <a:latin typeface="Cambria Math" panose="02040503050406030204" pitchFamily="18" charset="0"/>
                                    </a:rPr>
                                    <m:t>i</m:t>
                                  </m:r>
                                </m:sub>
                              </m:sSub>
                            </m:e>
                          </m:d>
                          <m:r>
                            <a:rPr lang="en-US" sz="1800" b="0" i="0" dirty="0" smtClean="0">
                              <a:latin typeface="Cambria Math" panose="02040503050406030204" pitchFamily="18" charset="0"/>
                            </a:rPr>
                            <m:t>+</m:t>
                          </m:r>
                          <m:f>
                            <m:fPr>
                              <m:ctrlPr>
                                <a:rPr lang="en-US" sz="1800" b="0" i="1" dirty="0" smtClean="0">
                                  <a:latin typeface="Cambria Math" panose="02040503050406030204" pitchFamily="18" charset="0"/>
                                </a:rPr>
                              </m:ctrlPr>
                            </m:fPr>
                            <m:num>
                              <m:sSubSup>
                                <m:sSubSupPr>
                                  <m:ctrlPr>
                                    <a:rPr lang="en-US" sz="1800" b="0" i="1" dirty="0" smtClean="0">
                                      <a:latin typeface="Cambria Math" panose="02040503050406030204" pitchFamily="18" charset="0"/>
                                    </a:rPr>
                                  </m:ctrlPr>
                                </m:sSubSupPr>
                                <m:e>
                                  <m:r>
                                    <m:rPr>
                                      <m:sty m:val="p"/>
                                    </m:rPr>
                                    <a:rPr lang="en-US" sz="1800" b="0" i="0" dirty="0" smtClean="0">
                                      <a:latin typeface="Cambria Math" panose="02040503050406030204" pitchFamily="18" charset="0"/>
                                    </a:rPr>
                                    <m:t>C</m:t>
                                  </m:r>
                                </m:e>
                                <m:sub>
                                  <m:r>
                                    <m:rPr>
                                      <m:sty m:val="p"/>
                                    </m:rPr>
                                    <a:rPr lang="en-US" sz="1800" b="0" i="0" dirty="0" smtClean="0">
                                      <a:latin typeface="Cambria Math" panose="02040503050406030204" pitchFamily="18" charset="0"/>
                                    </a:rPr>
                                    <m:t>f</m:t>
                                  </m:r>
                                </m:sub>
                                <m:sup>
                                  <m:r>
                                    <a:rPr lang="en-US" sz="1800" b="0" i="0" dirty="0" smtClean="0">
                                      <a:latin typeface="Cambria Math" panose="02040503050406030204" pitchFamily="18" charset="0"/>
                                    </a:rPr>
                                    <m:t>2</m:t>
                                  </m:r>
                                </m:sup>
                              </m:sSubSup>
                              <m:r>
                                <a:rPr lang="en-US" sz="1800" b="0" i="0" dirty="0" smtClean="0">
                                  <a:latin typeface="Cambria Math" panose="02040503050406030204" pitchFamily="18" charset="0"/>
                                </a:rPr>
                                <m:t>−</m:t>
                              </m:r>
                              <m:sSubSup>
                                <m:sSubSupPr>
                                  <m:ctrlPr>
                                    <a:rPr lang="en-US" sz="1800" b="0" i="1" dirty="0" smtClean="0">
                                      <a:latin typeface="Cambria Math" panose="02040503050406030204" pitchFamily="18" charset="0"/>
                                    </a:rPr>
                                  </m:ctrlPr>
                                </m:sSubSupPr>
                                <m:e>
                                  <m:r>
                                    <m:rPr>
                                      <m:sty m:val="p"/>
                                    </m:rPr>
                                    <a:rPr lang="en-US" sz="1800" b="0" i="0" dirty="0" smtClean="0">
                                      <a:latin typeface="Cambria Math" panose="02040503050406030204" pitchFamily="18" charset="0"/>
                                    </a:rPr>
                                    <m:t>C</m:t>
                                  </m:r>
                                </m:e>
                                <m:sub>
                                  <m:r>
                                    <m:rPr>
                                      <m:sty m:val="p"/>
                                    </m:rPr>
                                    <a:rPr lang="en-US" sz="1800" b="0" i="0" dirty="0" smtClean="0">
                                      <a:latin typeface="Cambria Math" panose="02040503050406030204" pitchFamily="18" charset="0"/>
                                    </a:rPr>
                                    <m:t>i</m:t>
                                  </m:r>
                                </m:sub>
                                <m:sup>
                                  <m:r>
                                    <a:rPr lang="en-US" sz="1800" b="0" i="0" dirty="0" smtClean="0">
                                      <a:latin typeface="Cambria Math" panose="02040503050406030204" pitchFamily="18" charset="0"/>
                                    </a:rPr>
                                    <m:t>2</m:t>
                                  </m:r>
                                </m:sup>
                              </m:sSubSup>
                            </m:num>
                            <m:den>
                              <m:r>
                                <a:rPr lang="en-US" sz="1800" b="0" i="0" dirty="0" smtClean="0">
                                  <a:latin typeface="Cambria Math" panose="02040503050406030204" pitchFamily="18" charset="0"/>
                                </a:rPr>
                                <m:t>2</m:t>
                              </m:r>
                            </m:den>
                          </m:f>
                          <m:r>
                            <a:rPr lang="en-US" sz="1800" b="0" i="0" dirty="0" smtClean="0">
                              <a:latin typeface="Cambria Math" panose="02040503050406030204" pitchFamily="18" charset="0"/>
                            </a:rPr>
                            <m:t>+</m:t>
                          </m:r>
                          <m:r>
                            <m:rPr>
                              <m:sty m:val="p"/>
                            </m:rPr>
                            <a:rPr lang="en-US" sz="1800" b="0" i="0" dirty="0" smtClean="0">
                              <a:latin typeface="Cambria Math" panose="02040503050406030204" pitchFamily="18" charset="0"/>
                            </a:rPr>
                            <m:t>g</m:t>
                          </m:r>
                          <m:d>
                            <m:dPr>
                              <m:ctrlPr>
                                <a:rPr lang="en-US" sz="1800" b="0" i="1" dirty="0" smtClean="0">
                                  <a:latin typeface="Cambria Math" panose="02040503050406030204" pitchFamily="18" charset="0"/>
                                </a:rPr>
                              </m:ctrlPr>
                            </m:dPr>
                            <m:e>
                              <m:sSub>
                                <m:sSubPr>
                                  <m:ctrlPr>
                                    <a:rPr lang="en-US" sz="1800" b="0" i="1" dirty="0" smtClean="0">
                                      <a:latin typeface="Cambria Math" panose="02040503050406030204" pitchFamily="18" charset="0"/>
                                    </a:rPr>
                                  </m:ctrlPr>
                                </m:sSubPr>
                                <m:e>
                                  <m:r>
                                    <m:rPr>
                                      <m:sty m:val="p"/>
                                    </m:rPr>
                                    <a:rPr lang="en-US" sz="1800" b="0" i="0" dirty="0" smtClean="0">
                                      <a:latin typeface="Cambria Math" panose="02040503050406030204" pitchFamily="18" charset="0"/>
                                    </a:rPr>
                                    <m:t>Z</m:t>
                                  </m:r>
                                </m:e>
                                <m:sub>
                                  <m:r>
                                    <m:rPr>
                                      <m:sty m:val="p"/>
                                    </m:rPr>
                                    <a:rPr lang="en-US" sz="1800" b="0" i="0" dirty="0" smtClean="0">
                                      <a:latin typeface="Cambria Math" panose="02040503050406030204" pitchFamily="18" charset="0"/>
                                    </a:rPr>
                                    <m:t>f</m:t>
                                  </m:r>
                                </m:sub>
                              </m:sSub>
                              <m:r>
                                <a:rPr lang="en-US" sz="1800" b="0" i="0"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m:rPr>
                                      <m:sty m:val="p"/>
                                    </m:rPr>
                                    <a:rPr lang="en-US" sz="1800" b="0" i="0" dirty="0" smtClean="0">
                                      <a:latin typeface="Cambria Math" panose="02040503050406030204" pitchFamily="18" charset="0"/>
                                    </a:rPr>
                                    <m:t>Z</m:t>
                                  </m:r>
                                </m:e>
                                <m:sub>
                                  <m:r>
                                    <m:rPr>
                                      <m:sty m:val="p"/>
                                    </m:rPr>
                                    <a:rPr lang="en-US" sz="1800" b="0" i="0" dirty="0" smtClean="0">
                                      <a:latin typeface="Cambria Math" panose="02040503050406030204" pitchFamily="18" charset="0"/>
                                    </a:rPr>
                                    <m:t>i</m:t>
                                  </m:r>
                                </m:sub>
                              </m:sSub>
                            </m:e>
                          </m:d>
                        </m:e>
                      </m:d>
                    </m:oMath>
                  </m:oMathPara>
                </a14:m>
                <a:endParaRPr lang="en-US" sz="1800" dirty="0"/>
              </a:p>
              <a:p>
                <a:pPr>
                  <a:buFont typeface="Wingdings" panose="05000000000000000000" pitchFamily="2" charset="2"/>
                  <a:buChar char="v"/>
                </a:pPr>
                <a:r>
                  <a:rPr lang="en-US" sz="2200" b="1" dirty="0">
                    <a:solidFill>
                      <a:srgbClr val="002060"/>
                    </a:solidFill>
                  </a:rPr>
                  <a:t>Applying the SFEE to the boiler,</a:t>
                </a:r>
              </a:p>
              <a:p>
                <a:pPr marL="0" indent="0">
                  <a:buNone/>
                </a:pPr>
                <a:r>
                  <a:rPr lang="en-US" sz="2200" dirty="0">
                    <a:solidFill>
                      <a:srgbClr val="002060"/>
                    </a:solidFill>
                  </a:rPr>
                  <a:t>					</a:t>
                </a:r>
                <a:r>
                  <a:rPr lang="en-US" sz="2200" b="1" dirty="0">
                    <a:solidFill>
                      <a:srgbClr val="C00000"/>
                    </a:solidFill>
                  </a:rPr>
                  <a:t> </a:t>
                </a:r>
                <a14:m>
                  <m:oMath xmlns:m="http://schemas.openxmlformats.org/officeDocument/2006/math">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𝑸</m:t>
                        </m:r>
                      </m:e>
                      <m:sub>
                        <m:r>
                          <a:rPr lang="en-US" sz="2000" b="1" i="1">
                            <a:solidFill>
                              <a:srgbClr val="C00000"/>
                            </a:solidFill>
                            <a:latin typeface="Cambria Math" panose="02040503050406030204" pitchFamily="18" charset="0"/>
                          </a:rPr>
                          <m:t>𝟏𝟐</m:t>
                        </m:r>
                      </m:sub>
                    </m:sSub>
                    <m:r>
                      <a:rPr lang="en-US" sz="2000" b="1" i="1">
                        <a:solidFill>
                          <a:srgbClr val="C00000"/>
                        </a:solidFill>
                        <a:latin typeface="Cambria Math" panose="02040503050406030204" pitchFamily="18" charset="0"/>
                      </a:rPr>
                      <m:t>=</m:t>
                    </m:r>
                    <m:r>
                      <a:rPr lang="en-US" sz="2000" b="1" i="1">
                        <a:solidFill>
                          <a:srgbClr val="C00000"/>
                        </a:solidFill>
                        <a:latin typeface="Cambria Math" panose="02040503050406030204" pitchFamily="18" charset="0"/>
                      </a:rPr>
                      <m:t>𝒎</m:t>
                    </m:r>
                    <m:d>
                      <m:dPr>
                        <m:ctrlPr>
                          <a:rPr lang="en-US" sz="2000" b="1" i="1">
                            <a:solidFill>
                              <a:srgbClr val="C00000"/>
                            </a:solidFill>
                            <a:latin typeface="Cambria Math" panose="02040503050406030204" pitchFamily="18" charset="0"/>
                          </a:rPr>
                        </m:ctrlPr>
                      </m:dPr>
                      <m:e>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a:solidFill>
                                  <a:srgbClr val="C00000"/>
                                </a:solidFill>
                                <a:latin typeface="Cambria Math" panose="02040503050406030204" pitchFamily="18" charset="0"/>
                              </a:rPr>
                              <m:t>𝟐</m:t>
                            </m:r>
                          </m:sub>
                        </m:sSub>
                        <m:r>
                          <a:rPr lang="en-US" sz="2000" b="1" i="1">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a:solidFill>
                                  <a:srgbClr val="C00000"/>
                                </a:solidFill>
                                <a:latin typeface="Cambria Math" panose="02040503050406030204" pitchFamily="18" charset="0"/>
                              </a:rPr>
                              <m:t>𝟏</m:t>
                            </m:r>
                          </m:sub>
                        </m:sSub>
                      </m:e>
                    </m:d>
                  </m:oMath>
                </a14:m>
                <a:endParaRPr lang="en-US" sz="2000" b="1" dirty="0"/>
              </a:p>
              <a:p>
                <a:pPr>
                  <a:buFont typeface="Wingdings" panose="05000000000000000000" pitchFamily="2" charset="2"/>
                  <a:buChar char="v"/>
                </a:pPr>
                <a:r>
                  <a:rPr lang="en-US" sz="2000" b="1" dirty="0">
                    <a:solidFill>
                      <a:srgbClr val="002060"/>
                    </a:solidFill>
                  </a:rPr>
                  <a:t>Applying the SFEE to the turbine,</a:t>
                </a:r>
              </a:p>
              <a:p>
                <a:pPr marL="0" indent="0">
                  <a:buNone/>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𝑾</m:t>
                          </m:r>
                        </m:e>
                        <m:sub>
                          <m:r>
                            <a:rPr lang="en-US" sz="2000" b="1" i="1">
                              <a:solidFill>
                                <a:srgbClr val="C00000"/>
                              </a:solidFill>
                              <a:latin typeface="Cambria Math" panose="02040503050406030204" pitchFamily="18" charset="0"/>
                            </a:rPr>
                            <m:t>𝟐</m:t>
                          </m:r>
                          <m:r>
                            <a:rPr lang="en-US" sz="2000" b="1" i="1" smtClean="0">
                              <a:solidFill>
                                <a:srgbClr val="C00000"/>
                              </a:solidFill>
                              <a:latin typeface="Cambria Math" panose="02040503050406030204" pitchFamily="18" charset="0"/>
                            </a:rPr>
                            <m:t>𝟑</m:t>
                          </m:r>
                        </m:sub>
                      </m:sSub>
                      <m:r>
                        <a:rPr lang="en-US" sz="2000" b="1" i="1">
                          <a:solidFill>
                            <a:srgbClr val="C00000"/>
                          </a:solidFill>
                          <a:latin typeface="Cambria Math" panose="02040503050406030204" pitchFamily="18" charset="0"/>
                        </a:rPr>
                        <m:t>=</m:t>
                      </m:r>
                      <m:r>
                        <a:rPr lang="en-US" sz="2000" b="1" i="1">
                          <a:solidFill>
                            <a:srgbClr val="C00000"/>
                          </a:solidFill>
                          <a:latin typeface="Cambria Math" panose="02040503050406030204" pitchFamily="18" charset="0"/>
                        </a:rPr>
                        <m:t>𝒎</m:t>
                      </m:r>
                      <m:d>
                        <m:dPr>
                          <m:ctrlPr>
                            <a:rPr lang="en-US" sz="2000" b="1" i="1">
                              <a:solidFill>
                                <a:srgbClr val="C00000"/>
                              </a:solidFill>
                              <a:latin typeface="Cambria Math" panose="02040503050406030204" pitchFamily="18" charset="0"/>
                            </a:rPr>
                          </m:ctrlPr>
                        </m:dPr>
                        <m:e>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smtClean="0">
                                  <a:solidFill>
                                    <a:srgbClr val="C00000"/>
                                  </a:solidFill>
                                  <a:latin typeface="Cambria Math" panose="02040503050406030204" pitchFamily="18" charset="0"/>
                                </a:rPr>
                                <m:t>𝟑</m:t>
                              </m:r>
                            </m:sub>
                          </m:sSub>
                          <m:r>
                            <a:rPr lang="en-US" sz="2000" b="1" i="1">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smtClean="0">
                                  <a:solidFill>
                                    <a:srgbClr val="C00000"/>
                                  </a:solidFill>
                                  <a:latin typeface="Cambria Math" panose="02040503050406030204" pitchFamily="18" charset="0"/>
                                </a:rPr>
                                <m:t>𝟐</m:t>
                              </m:r>
                            </m:sub>
                          </m:sSub>
                        </m:e>
                      </m:d>
                    </m:oMath>
                  </m:oMathPara>
                </a14:m>
                <a:endParaRPr lang="en-US" sz="2000" b="1" dirty="0"/>
              </a:p>
              <a:p>
                <a:pPr>
                  <a:buFont typeface="Wingdings" panose="05000000000000000000" pitchFamily="2" charset="2"/>
                  <a:buChar char="v"/>
                </a:pPr>
                <a:r>
                  <a:rPr lang="en-US" sz="2200" b="1" dirty="0">
                    <a:solidFill>
                      <a:srgbClr val="002060"/>
                    </a:solidFill>
                  </a:rPr>
                  <a:t>Applying the SFEE to the condenser,</a:t>
                </a:r>
              </a:p>
              <a:p>
                <a:pPr marL="0" indent="0">
                  <a:buNone/>
                </a:pPr>
                <a:r>
                  <a:rPr lang="en-US" sz="2200" dirty="0">
                    <a:solidFill>
                      <a:srgbClr val="002060"/>
                    </a:solidFill>
                  </a:rPr>
                  <a:t>					</a:t>
                </a:r>
                <a:r>
                  <a:rPr lang="en-US" sz="2200" b="1" dirty="0">
                    <a:solidFill>
                      <a:srgbClr val="C00000"/>
                    </a:solidFill>
                  </a:rPr>
                  <a:t> </a:t>
                </a:r>
                <a14:m>
                  <m:oMath xmlns:m="http://schemas.openxmlformats.org/officeDocument/2006/math">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𝑸</m:t>
                        </m:r>
                      </m:e>
                      <m:sub>
                        <m:r>
                          <a:rPr lang="en-US" sz="2000" b="1" i="1" smtClean="0">
                            <a:solidFill>
                              <a:srgbClr val="C00000"/>
                            </a:solidFill>
                            <a:latin typeface="Cambria Math" panose="02040503050406030204" pitchFamily="18" charset="0"/>
                          </a:rPr>
                          <m:t>𝟑𝟒</m:t>
                        </m:r>
                      </m:sub>
                    </m:sSub>
                    <m:r>
                      <a:rPr lang="en-US" sz="2000" b="1" i="1">
                        <a:solidFill>
                          <a:srgbClr val="C00000"/>
                        </a:solidFill>
                        <a:latin typeface="Cambria Math" panose="02040503050406030204" pitchFamily="18" charset="0"/>
                      </a:rPr>
                      <m:t>=</m:t>
                    </m:r>
                    <m:r>
                      <a:rPr lang="en-US" sz="2000" b="1" i="1">
                        <a:solidFill>
                          <a:srgbClr val="C00000"/>
                        </a:solidFill>
                        <a:latin typeface="Cambria Math" panose="02040503050406030204" pitchFamily="18" charset="0"/>
                      </a:rPr>
                      <m:t>𝒎</m:t>
                    </m:r>
                    <m:d>
                      <m:dPr>
                        <m:ctrlPr>
                          <a:rPr lang="en-US" sz="2000" b="1" i="1">
                            <a:solidFill>
                              <a:srgbClr val="C00000"/>
                            </a:solidFill>
                            <a:latin typeface="Cambria Math" panose="02040503050406030204" pitchFamily="18" charset="0"/>
                          </a:rPr>
                        </m:ctrlPr>
                      </m:dPr>
                      <m:e>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smtClean="0">
                                <a:solidFill>
                                  <a:srgbClr val="C00000"/>
                                </a:solidFill>
                                <a:latin typeface="Cambria Math" panose="02040503050406030204" pitchFamily="18" charset="0"/>
                              </a:rPr>
                              <m:t>𝟒</m:t>
                            </m:r>
                          </m:sub>
                        </m:sSub>
                        <m:r>
                          <a:rPr lang="en-US" sz="2000" b="1" i="1">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smtClean="0">
                                <a:solidFill>
                                  <a:srgbClr val="C00000"/>
                                </a:solidFill>
                                <a:latin typeface="Cambria Math" panose="02040503050406030204" pitchFamily="18" charset="0"/>
                              </a:rPr>
                              <m:t>𝟑</m:t>
                            </m:r>
                          </m:sub>
                        </m:sSub>
                      </m:e>
                    </m:d>
                  </m:oMath>
                </a14:m>
                <a:endParaRPr lang="en-US" sz="2000" b="1" dirty="0"/>
              </a:p>
              <a:p>
                <a:pPr>
                  <a:buFont typeface="Wingdings" panose="05000000000000000000" pitchFamily="2" charset="2"/>
                  <a:buChar char="v"/>
                </a:pPr>
                <a:r>
                  <a:rPr lang="en-US" sz="2000" b="1" dirty="0">
                    <a:solidFill>
                      <a:srgbClr val="002060"/>
                    </a:solidFill>
                  </a:rPr>
                  <a:t>Applying the SFEE to the pump,</a:t>
                </a:r>
              </a:p>
              <a:p>
                <a:pPr marL="0" indent="0">
                  <a:buNone/>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𝑾</m:t>
                          </m:r>
                        </m:e>
                        <m:sub>
                          <m:r>
                            <a:rPr lang="en-US" sz="2000" b="1" i="1" smtClean="0">
                              <a:solidFill>
                                <a:srgbClr val="C00000"/>
                              </a:solidFill>
                              <a:latin typeface="Cambria Math" panose="02040503050406030204" pitchFamily="18" charset="0"/>
                            </a:rPr>
                            <m:t>𝟒𝟏</m:t>
                          </m:r>
                        </m:sub>
                      </m:sSub>
                      <m:r>
                        <a:rPr lang="en-US" sz="2000" b="1" i="1">
                          <a:solidFill>
                            <a:srgbClr val="C00000"/>
                          </a:solidFill>
                          <a:latin typeface="Cambria Math" panose="02040503050406030204" pitchFamily="18" charset="0"/>
                        </a:rPr>
                        <m:t>=</m:t>
                      </m:r>
                      <m:r>
                        <a:rPr lang="en-US" sz="2000" b="1" i="1">
                          <a:solidFill>
                            <a:srgbClr val="C00000"/>
                          </a:solidFill>
                          <a:latin typeface="Cambria Math" panose="02040503050406030204" pitchFamily="18" charset="0"/>
                        </a:rPr>
                        <m:t>𝒎</m:t>
                      </m:r>
                      <m:d>
                        <m:dPr>
                          <m:ctrlPr>
                            <a:rPr lang="en-US" sz="2000" b="1" i="1">
                              <a:solidFill>
                                <a:srgbClr val="C00000"/>
                              </a:solidFill>
                              <a:latin typeface="Cambria Math" panose="02040503050406030204" pitchFamily="18" charset="0"/>
                            </a:rPr>
                          </m:ctrlPr>
                        </m:dPr>
                        <m:e>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smtClean="0">
                                  <a:solidFill>
                                    <a:srgbClr val="C00000"/>
                                  </a:solidFill>
                                  <a:latin typeface="Cambria Math" panose="02040503050406030204" pitchFamily="18" charset="0"/>
                                </a:rPr>
                                <m:t>𝟏</m:t>
                              </m:r>
                            </m:sub>
                          </m:sSub>
                          <m:r>
                            <a:rPr lang="en-US" sz="2000" b="1" i="1">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1">
                                  <a:solidFill>
                                    <a:srgbClr val="C00000"/>
                                  </a:solidFill>
                                  <a:latin typeface="Cambria Math" panose="02040503050406030204" pitchFamily="18" charset="0"/>
                                </a:rPr>
                                <m:t>𝒉</m:t>
                              </m:r>
                            </m:e>
                            <m:sub>
                              <m:r>
                                <a:rPr lang="en-US" sz="2000" b="1" i="1" smtClean="0">
                                  <a:solidFill>
                                    <a:srgbClr val="C00000"/>
                                  </a:solidFill>
                                  <a:latin typeface="Cambria Math" panose="02040503050406030204" pitchFamily="18" charset="0"/>
                                </a:rPr>
                                <m:t>𝟒</m:t>
                              </m:r>
                            </m:sub>
                          </m:sSub>
                        </m:e>
                      </m:d>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𝒎</m:t>
                      </m:r>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𝒗</m:t>
                          </m:r>
                        </m:e>
                        <m:sub>
                          <m:r>
                            <a:rPr lang="en-US" sz="2000" b="1" i="1" smtClean="0">
                              <a:solidFill>
                                <a:srgbClr val="C00000"/>
                              </a:solidFill>
                              <a:latin typeface="Cambria Math" panose="02040503050406030204" pitchFamily="18" charset="0"/>
                            </a:rPr>
                            <m:t>𝟒</m:t>
                          </m:r>
                        </m:sub>
                      </m:sSub>
                      <m:d>
                        <m:dPr>
                          <m:ctrlPr>
                            <a:rPr lang="en-US" sz="2000" b="1" i="1" smtClean="0">
                              <a:solidFill>
                                <a:srgbClr val="C00000"/>
                              </a:solidFill>
                              <a:latin typeface="Cambria Math" panose="02040503050406030204" pitchFamily="18" charset="0"/>
                            </a:rPr>
                          </m:ctrlPr>
                        </m:dPr>
                        <m:e>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𝑷</m:t>
                              </m:r>
                            </m:e>
                            <m:sub>
                              <m:r>
                                <a:rPr lang="en-US" sz="2000" b="1" i="1" smtClean="0">
                                  <a:solidFill>
                                    <a:srgbClr val="C00000"/>
                                  </a:solidFill>
                                  <a:latin typeface="Cambria Math" panose="02040503050406030204" pitchFamily="18" charset="0"/>
                                </a:rPr>
                                <m:t>𝟏</m:t>
                              </m:r>
                            </m:sub>
                          </m:sSub>
                          <m:r>
                            <a:rPr lang="en-US" sz="2000" b="1" i="1" smtClean="0">
                              <a:solidFill>
                                <a:srgbClr val="C00000"/>
                              </a:solidFill>
                              <a:latin typeface="Cambria Math" panose="02040503050406030204" pitchFamily="18" charset="0"/>
                            </a:rPr>
                            <m:t>−</m:t>
                          </m:r>
                          <m:sSub>
                            <m:sSubPr>
                              <m:ctrlPr>
                                <a:rPr lang="en-US" sz="2000" b="1" i="1" smtClean="0">
                                  <a:solidFill>
                                    <a:srgbClr val="C00000"/>
                                  </a:solidFill>
                                  <a:latin typeface="Cambria Math" panose="02040503050406030204" pitchFamily="18" charset="0"/>
                                </a:rPr>
                              </m:ctrlPr>
                            </m:sSubPr>
                            <m:e>
                              <m:r>
                                <a:rPr lang="en-US" sz="2000" b="1" i="1" smtClean="0">
                                  <a:solidFill>
                                    <a:srgbClr val="C00000"/>
                                  </a:solidFill>
                                  <a:latin typeface="Cambria Math" panose="02040503050406030204" pitchFamily="18" charset="0"/>
                                </a:rPr>
                                <m:t>𝑷</m:t>
                              </m:r>
                            </m:e>
                            <m:sub>
                              <m:r>
                                <a:rPr lang="en-US" sz="2000" b="1" i="1" smtClean="0">
                                  <a:solidFill>
                                    <a:srgbClr val="C00000"/>
                                  </a:solidFill>
                                  <a:latin typeface="Cambria Math" panose="02040503050406030204" pitchFamily="18" charset="0"/>
                                </a:rPr>
                                <m:t>𝟒</m:t>
                              </m:r>
                            </m:sub>
                          </m:sSub>
                        </m:e>
                      </m:d>
                    </m:oMath>
                  </m:oMathPara>
                </a14:m>
                <a:endParaRPr lang="en-US" sz="2000" b="1"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238149" y="968188"/>
                <a:ext cx="6566062" cy="5136777"/>
              </a:xfrm>
              <a:prstGeom prst="rect">
                <a:avLst/>
              </a:prstGeom>
              <a:blipFill rotWithShape="0">
                <a:blip r:embed="rId2"/>
                <a:stretch>
                  <a:fillRect l="-1207" t="-950" r="-464"/>
                </a:stretch>
              </a:blipFill>
            </p:spPr>
            <p:txBody>
              <a:bodyPr/>
              <a:lstStyle/>
              <a:p>
                <a:r>
                  <a:rPr lang="en-US">
                    <a:noFill/>
                  </a:rPr>
                  <a:t> </a:t>
                </a:r>
              </a:p>
            </p:txBody>
          </p:sp>
        </mc:Fallback>
      </mc:AlternateContent>
      <p:sp>
        <p:nvSpPr>
          <p:cNvPr id="6" name="Freeform 5"/>
          <p:cNvSpPr/>
          <p:nvPr/>
        </p:nvSpPr>
        <p:spPr>
          <a:xfrm>
            <a:off x="8234205" y="2895850"/>
            <a:ext cx="2182071" cy="2280269"/>
          </a:xfrm>
          <a:custGeom>
            <a:avLst/>
            <a:gdLst>
              <a:gd name="connsiteX0" fmla="*/ 57752 w 2223436"/>
              <a:gd name="connsiteY0" fmla="*/ 2377440 h 2377440"/>
              <a:gd name="connsiteX1" fmla="*/ 0 w 2223436"/>
              <a:gd name="connsiteY1" fmla="*/ 914400 h 2377440"/>
              <a:gd name="connsiteX2" fmla="*/ 240632 w 2223436"/>
              <a:gd name="connsiteY2" fmla="*/ 644893 h 2377440"/>
              <a:gd name="connsiteX3" fmla="*/ 2002055 w 2223436"/>
              <a:gd name="connsiteY3" fmla="*/ 606392 h 2377440"/>
              <a:gd name="connsiteX4" fmla="*/ 2184935 w 2223436"/>
              <a:gd name="connsiteY4" fmla="*/ 0 h 2377440"/>
              <a:gd name="connsiteX5" fmla="*/ 2184935 w 2223436"/>
              <a:gd name="connsiteY5" fmla="*/ 1694046 h 2377440"/>
              <a:gd name="connsiteX6" fmla="*/ 2223436 w 2223436"/>
              <a:gd name="connsiteY6" fmla="*/ 2367815 h 2377440"/>
              <a:gd name="connsiteX7" fmla="*/ 57752 w 2223436"/>
              <a:gd name="connsiteY7" fmla="*/ 2377440 h 2377440"/>
              <a:gd name="connsiteX0" fmla="*/ 9626 w 2175310"/>
              <a:gd name="connsiteY0" fmla="*/ 2377440 h 2377440"/>
              <a:gd name="connsiteX1" fmla="*/ 0 w 2175310"/>
              <a:gd name="connsiteY1" fmla="*/ 914400 h 2377440"/>
              <a:gd name="connsiteX2" fmla="*/ 192506 w 2175310"/>
              <a:gd name="connsiteY2" fmla="*/ 644893 h 2377440"/>
              <a:gd name="connsiteX3" fmla="*/ 1953929 w 2175310"/>
              <a:gd name="connsiteY3" fmla="*/ 606392 h 2377440"/>
              <a:gd name="connsiteX4" fmla="*/ 2136809 w 2175310"/>
              <a:gd name="connsiteY4" fmla="*/ 0 h 2377440"/>
              <a:gd name="connsiteX5" fmla="*/ 2136809 w 2175310"/>
              <a:gd name="connsiteY5" fmla="*/ 1694046 h 2377440"/>
              <a:gd name="connsiteX6" fmla="*/ 2175310 w 2175310"/>
              <a:gd name="connsiteY6" fmla="*/ 2367815 h 2377440"/>
              <a:gd name="connsiteX7" fmla="*/ 9626 w 2175310"/>
              <a:gd name="connsiteY7" fmla="*/ 2377440 h 2377440"/>
              <a:gd name="connsiteX0" fmla="*/ 28877 w 2194561"/>
              <a:gd name="connsiteY0" fmla="*/ 2377440 h 2377440"/>
              <a:gd name="connsiteX1" fmla="*/ 0 w 2194561"/>
              <a:gd name="connsiteY1" fmla="*/ 914400 h 2377440"/>
              <a:gd name="connsiteX2" fmla="*/ 211757 w 2194561"/>
              <a:gd name="connsiteY2" fmla="*/ 644893 h 2377440"/>
              <a:gd name="connsiteX3" fmla="*/ 1973180 w 2194561"/>
              <a:gd name="connsiteY3" fmla="*/ 606392 h 2377440"/>
              <a:gd name="connsiteX4" fmla="*/ 2156060 w 2194561"/>
              <a:gd name="connsiteY4" fmla="*/ 0 h 2377440"/>
              <a:gd name="connsiteX5" fmla="*/ 2156060 w 2194561"/>
              <a:gd name="connsiteY5" fmla="*/ 1694046 h 2377440"/>
              <a:gd name="connsiteX6" fmla="*/ 2194561 w 2194561"/>
              <a:gd name="connsiteY6" fmla="*/ 2367815 h 2377440"/>
              <a:gd name="connsiteX7" fmla="*/ 28877 w 2194561"/>
              <a:gd name="connsiteY7" fmla="*/ 2377440 h 2377440"/>
              <a:gd name="connsiteX0" fmla="*/ 278 w 2214088"/>
              <a:gd name="connsiteY0" fmla="*/ 2396690 h 2396690"/>
              <a:gd name="connsiteX1" fmla="*/ 19527 w 2214088"/>
              <a:gd name="connsiteY1" fmla="*/ 914400 h 2396690"/>
              <a:gd name="connsiteX2" fmla="*/ 231284 w 2214088"/>
              <a:gd name="connsiteY2" fmla="*/ 644893 h 2396690"/>
              <a:gd name="connsiteX3" fmla="*/ 1992707 w 2214088"/>
              <a:gd name="connsiteY3" fmla="*/ 606392 h 2396690"/>
              <a:gd name="connsiteX4" fmla="*/ 2175587 w 2214088"/>
              <a:gd name="connsiteY4" fmla="*/ 0 h 2396690"/>
              <a:gd name="connsiteX5" fmla="*/ 2175587 w 2214088"/>
              <a:gd name="connsiteY5" fmla="*/ 1694046 h 2396690"/>
              <a:gd name="connsiteX6" fmla="*/ 2214088 w 2214088"/>
              <a:gd name="connsiteY6" fmla="*/ 2367815 h 2396690"/>
              <a:gd name="connsiteX7" fmla="*/ 278 w 2214088"/>
              <a:gd name="connsiteY7" fmla="*/ 2396690 h 2396690"/>
              <a:gd name="connsiteX0" fmla="*/ 278 w 2214088"/>
              <a:gd name="connsiteY0" fmla="*/ 2396690 h 2396690"/>
              <a:gd name="connsiteX1" fmla="*/ 19527 w 2214088"/>
              <a:gd name="connsiteY1" fmla="*/ 914400 h 2396690"/>
              <a:gd name="connsiteX2" fmla="*/ 96531 w 2214088"/>
              <a:gd name="connsiteY2" fmla="*/ 789272 h 2396690"/>
              <a:gd name="connsiteX3" fmla="*/ 231284 w 2214088"/>
              <a:gd name="connsiteY3" fmla="*/ 644893 h 2396690"/>
              <a:gd name="connsiteX4" fmla="*/ 1992707 w 2214088"/>
              <a:gd name="connsiteY4" fmla="*/ 606392 h 2396690"/>
              <a:gd name="connsiteX5" fmla="*/ 2175587 w 2214088"/>
              <a:gd name="connsiteY5" fmla="*/ 0 h 2396690"/>
              <a:gd name="connsiteX6" fmla="*/ 2175587 w 2214088"/>
              <a:gd name="connsiteY6" fmla="*/ 1694046 h 2396690"/>
              <a:gd name="connsiteX7" fmla="*/ 2214088 w 2214088"/>
              <a:gd name="connsiteY7" fmla="*/ 2367815 h 2396690"/>
              <a:gd name="connsiteX8" fmla="*/ 278 w 2214088"/>
              <a:gd name="connsiteY8" fmla="*/ 2396690 h 2396690"/>
              <a:gd name="connsiteX0" fmla="*/ 9626 w 2223436"/>
              <a:gd name="connsiteY0" fmla="*/ 2396690 h 2396690"/>
              <a:gd name="connsiteX1" fmla="*/ 0 w 2223436"/>
              <a:gd name="connsiteY1" fmla="*/ 914400 h 2396690"/>
              <a:gd name="connsiteX2" fmla="*/ 105879 w 2223436"/>
              <a:gd name="connsiteY2" fmla="*/ 789272 h 2396690"/>
              <a:gd name="connsiteX3" fmla="*/ 240632 w 2223436"/>
              <a:gd name="connsiteY3" fmla="*/ 644893 h 2396690"/>
              <a:gd name="connsiteX4" fmla="*/ 2002055 w 2223436"/>
              <a:gd name="connsiteY4" fmla="*/ 606392 h 2396690"/>
              <a:gd name="connsiteX5" fmla="*/ 2184935 w 2223436"/>
              <a:gd name="connsiteY5" fmla="*/ 0 h 2396690"/>
              <a:gd name="connsiteX6" fmla="*/ 2184935 w 2223436"/>
              <a:gd name="connsiteY6" fmla="*/ 1694046 h 2396690"/>
              <a:gd name="connsiteX7" fmla="*/ 2223436 w 2223436"/>
              <a:gd name="connsiteY7" fmla="*/ 2367815 h 2396690"/>
              <a:gd name="connsiteX8" fmla="*/ 9626 w 2223436"/>
              <a:gd name="connsiteY8" fmla="*/ 2396690 h 2396690"/>
              <a:gd name="connsiteX0" fmla="*/ 9626 w 2252737"/>
              <a:gd name="connsiteY0" fmla="*/ 2396690 h 2407666"/>
              <a:gd name="connsiteX1" fmla="*/ 0 w 2252737"/>
              <a:gd name="connsiteY1" fmla="*/ 914400 h 2407666"/>
              <a:gd name="connsiteX2" fmla="*/ 105879 w 2252737"/>
              <a:gd name="connsiteY2" fmla="*/ 789272 h 2407666"/>
              <a:gd name="connsiteX3" fmla="*/ 240632 w 2252737"/>
              <a:gd name="connsiteY3" fmla="*/ 644893 h 2407666"/>
              <a:gd name="connsiteX4" fmla="*/ 2002055 w 2252737"/>
              <a:gd name="connsiteY4" fmla="*/ 606392 h 2407666"/>
              <a:gd name="connsiteX5" fmla="*/ 2184935 w 2252737"/>
              <a:gd name="connsiteY5" fmla="*/ 0 h 2407666"/>
              <a:gd name="connsiteX6" fmla="*/ 2184935 w 2252737"/>
              <a:gd name="connsiteY6" fmla="*/ 1694046 h 2407666"/>
              <a:gd name="connsiteX7" fmla="*/ 2252737 w 2252737"/>
              <a:gd name="connsiteY7" fmla="*/ 2407666 h 2407666"/>
              <a:gd name="connsiteX8" fmla="*/ 9626 w 2252737"/>
              <a:gd name="connsiteY8" fmla="*/ 2396690 h 2407666"/>
              <a:gd name="connsiteX0" fmla="*/ 38928 w 2282039"/>
              <a:gd name="connsiteY0" fmla="*/ 2396690 h 2407666"/>
              <a:gd name="connsiteX1" fmla="*/ 0 w 2282039"/>
              <a:gd name="connsiteY1" fmla="*/ 884511 h 2407666"/>
              <a:gd name="connsiteX2" fmla="*/ 135181 w 2282039"/>
              <a:gd name="connsiteY2" fmla="*/ 789272 h 2407666"/>
              <a:gd name="connsiteX3" fmla="*/ 269934 w 2282039"/>
              <a:gd name="connsiteY3" fmla="*/ 644893 h 2407666"/>
              <a:gd name="connsiteX4" fmla="*/ 2031357 w 2282039"/>
              <a:gd name="connsiteY4" fmla="*/ 606392 h 2407666"/>
              <a:gd name="connsiteX5" fmla="*/ 2214237 w 2282039"/>
              <a:gd name="connsiteY5" fmla="*/ 0 h 2407666"/>
              <a:gd name="connsiteX6" fmla="*/ 2214237 w 2282039"/>
              <a:gd name="connsiteY6" fmla="*/ 1694046 h 2407666"/>
              <a:gd name="connsiteX7" fmla="*/ 2282039 w 2282039"/>
              <a:gd name="connsiteY7" fmla="*/ 2407666 h 2407666"/>
              <a:gd name="connsiteX8" fmla="*/ 38928 w 2282039"/>
              <a:gd name="connsiteY8" fmla="*/ 2396690 h 2407666"/>
              <a:gd name="connsiteX0" fmla="*/ 38928 w 2282039"/>
              <a:gd name="connsiteY0" fmla="*/ 2396690 h 2407666"/>
              <a:gd name="connsiteX1" fmla="*/ 0 w 2282039"/>
              <a:gd name="connsiteY1" fmla="*/ 884511 h 2407666"/>
              <a:gd name="connsiteX2" fmla="*/ 105879 w 2282039"/>
              <a:gd name="connsiteY2" fmla="*/ 759383 h 2407666"/>
              <a:gd name="connsiteX3" fmla="*/ 269934 w 2282039"/>
              <a:gd name="connsiteY3" fmla="*/ 644893 h 2407666"/>
              <a:gd name="connsiteX4" fmla="*/ 2031357 w 2282039"/>
              <a:gd name="connsiteY4" fmla="*/ 606392 h 2407666"/>
              <a:gd name="connsiteX5" fmla="*/ 2214237 w 2282039"/>
              <a:gd name="connsiteY5" fmla="*/ 0 h 2407666"/>
              <a:gd name="connsiteX6" fmla="*/ 2214237 w 2282039"/>
              <a:gd name="connsiteY6" fmla="*/ 1694046 h 2407666"/>
              <a:gd name="connsiteX7" fmla="*/ 2282039 w 2282039"/>
              <a:gd name="connsiteY7" fmla="*/ 2407666 h 2407666"/>
              <a:gd name="connsiteX8" fmla="*/ 38928 w 2282039"/>
              <a:gd name="connsiteY8" fmla="*/ 2396690 h 2407666"/>
              <a:gd name="connsiteX0" fmla="*/ 38928 w 2282039"/>
              <a:gd name="connsiteY0" fmla="*/ 2396690 h 2407666"/>
              <a:gd name="connsiteX1" fmla="*/ 0 w 2282039"/>
              <a:gd name="connsiteY1" fmla="*/ 884511 h 2407666"/>
              <a:gd name="connsiteX2" fmla="*/ 105879 w 2282039"/>
              <a:gd name="connsiteY2" fmla="*/ 759383 h 2407666"/>
              <a:gd name="connsiteX3" fmla="*/ 269934 w 2282039"/>
              <a:gd name="connsiteY3" fmla="*/ 585117 h 2407666"/>
              <a:gd name="connsiteX4" fmla="*/ 2031357 w 2282039"/>
              <a:gd name="connsiteY4" fmla="*/ 606392 h 2407666"/>
              <a:gd name="connsiteX5" fmla="*/ 2214237 w 2282039"/>
              <a:gd name="connsiteY5" fmla="*/ 0 h 2407666"/>
              <a:gd name="connsiteX6" fmla="*/ 2214237 w 2282039"/>
              <a:gd name="connsiteY6" fmla="*/ 1694046 h 2407666"/>
              <a:gd name="connsiteX7" fmla="*/ 2282039 w 2282039"/>
              <a:gd name="connsiteY7" fmla="*/ 2407666 h 2407666"/>
              <a:gd name="connsiteX8" fmla="*/ 38928 w 2282039"/>
              <a:gd name="connsiteY8" fmla="*/ 2396690 h 2407666"/>
              <a:gd name="connsiteX0" fmla="*/ 38928 w 2214237"/>
              <a:gd name="connsiteY0" fmla="*/ 2396690 h 2407666"/>
              <a:gd name="connsiteX1" fmla="*/ 0 w 2214237"/>
              <a:gd name="connsiteY1" fmla="*/ 884511 h 2407666"/>
              <a:gd name="connsiteX2" fmla="*/ 105879 w 2214237"/>
              <a:gd name="connsiteY2" fmla="*/ 759383 h 2407666"/>
              <a:gd name="connsiteX3" fmla="*/ 269934 w 2214237"/>
              <a:gd name="connsiteY3" fmla="*/ 585117 h 2407666"/>
              <a:gd name="connsiteX4" fmla="*/ 2031357 w 2214237"/>
              <a:gd name="connsiteY4" fmla="*/ 606392 h 2407666"/>
              <a:gd name="connsiteX5" fmla="*/ 2214237 w 2214237"/>
              <a:gd name="connsiteY5" fmla="*/ 0 h 2407666"/>
              <a:gd name="connsiteX6" fmla="*/ 2214237 w 2214237"/>
              <a:gd name="connsiteY6" fmla="*/ 1694046 h 2407666"/>
              <a:gd name="connsiteX7" fmla="*/ 2184367 w 2214237"/>
              <a:gd name="connsiteY7" fmla="*/ 2407666 h 2407666"/>
              <a:gd name="connsiteX8" fmla="*/ 38928 w 2214237"/>
              <a:gd name="connsiteY8" fmla="*/ 2396690 h 2407666"/>
              <a:gd name="connsiteX0" fmla="*/ 38928 w 2214237"/>
              <a:gd name="connsiteY0" fmla="*/ 2396690 h 2407666"/>
              <a:gd name="connsiteX1" fmla="*/ 0 w 2214237"/>
              <a:gd name="connsiteY1" fmla="*/ 884511 h 2407666"/>
              <a:gd name="connsiteX2" fmla="*/ 105879 w 2214237"/>
              <a:gd name="connsiteY2" fmla="*/ 759383 h 2407666"/>
              <a:gd name="connsiteX3" fmla="*/ 269934 w 2214237"/>
              <a:gd name="connsiteY3" fmla="*/ 585117 h 2407666"/>
              <a:gd name="connsiteX4" fmla="*/ 2031357 w 2214237"/>
              <a:gd name="connsiteY4" fmla="*/ 606392 h 2407666"/>
              <a:gd name="connsiteX5" fmla="*/ 2214237 w 2214237"/>
              <a:gd name="connsiteY5" fmla="*/ 0 h 2407666"/>
              <a:gd name="connsiteX6" fmla="*/ 2214237 w 2214237"/>
              <a:gd name="connsiteY6" fmla="*/ 1694046 h 2407666"/>
              <a:gd name="connsiteX7" fmla="*/ 2213669 w 2214237"/>
              <a:gd name="connsiteY7" fmla="*/ 2407666 h 2407666"/>
              <a:gd name="connsiteX8" fmla="*/ 38928 w 2214237"/>
              <a:gd name="connsiteY8" fmla="*/ 2396690 h 240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4237" h="2407666">
                <a:moveTo>
                  <a:pt x="38928" y="2396690"/>
                </a:moveTo>
                <a:cubicBezTo>
                  <a:pt x="35719" y="1909010"/>
                  <a:pt x="3209" y="1372191"/>
                  <a:pt x="0" y="884511"/>
                </a:cubicBezTo>
                <a:cubicBezTo>
                  <a:pt x="35293" y="849218"/>
                  <a:pt x="70586" y="794676"/>
                  <a:pt x="105879" y="759383"/>
                </a:cubicBezTo>
                <a:lnTo>
                  <a:pt x="269934" y="585117"/>
                </a:lnTo>
                <a:lnTo>
                  <a:pt x="2031357" y="606392"/>
                </a:lnTo>
                <a:lnTo>
                  <a:pt x="2214237" y="0"/>
                </a:lnTo>
                <a:lnTo>
                  <a:pt x="2214237" y="1694046"/>
                </a:lnTo>
                <a:cubicBezTo>
                  <a:pt x="2214048" y="1931919"/>
                  <a:pt x="2213858" y="2169793"/>
                  <a:pt x="2213669" y="2407666"/>
                </a:cubicBezTo>
                <a:lnTo>
                  <a:pt x="38928" y="2396690"/>
                </a:lnTo>
                <a:close/>
              </a:path>
            </a:pathLst>
          </a:custGeom>
          <a:pattFill prst="wdDnDiag">
            <a:fgClr>
              <a:srgbClr val="C000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srgbClr val="002060"/>
              </a:solidFill>
            </a:endParaRPr>
          </a:p>
        </p:txBody>
      </p:sp>
      <p:grpSp>
        <p:nvGrpSpPr>
          <p:cNvPr id="7" name="Group 6"/>
          <p:cNvGrpSpPr>
            <a:grpSpLocks noChangeAspect="1"/>
          </p:cNvGrpSpPr>
          <p:nvPr/>
        </p:nvGrpSpPr>
        <p:grpSpPr>
          <a:xfrm>
            <a:off x="7140723" y="1913970"/>
            <a:ext cx="4146072" cy="3566160"/>
            <a:chOff x="4572000" y="1752600"/>
            <a:chExt cx="4561196" cy="3923219"/>
          </a:xfrm>
        </p:grpSpPr>
        <p:cxnSp>
          <p:nvCxnSpPr>
            <p:cNvPr id="8" name="Straight Arrow Connector 7"/>
            <p:cNvCxnSpPr/>
            <p:nvPr/>
          </p:nvCxnSpPr>
          <p:spPr>
            <a:xfrm>
              <a:off x="5767136" y="391809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9" name="Line 5"/>
            <p:cNvSpPr>
              <a:spLocks noChangeShapeType="1"/>
            </p:cNvSpPr>
            <p:nvPr/>
          </p:nvSpPr>
          <p:spPr bwMode="auto">
            <a:xfrm flipV="1">
              <a:off x="5081081" y="17526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10" name="Line 6"/>
            <p:cNvSpPr>
              <a:spLocks noChangeShapeType="1"/>
            </p:cNvSpPr>
            <p:nvPr/>
          </p:nvSpPr>
          <p:spPr bwMode="auto">
            <a:xfrm>
              <a:off x="5093368" y="5346032"/>
              <a:ext cx="4039828"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11" name="Text Box 13"/>
            <p:cNvSpPr txBox="1">
              <a:spLocks noChangeArrowheads="1"/>
            </p:cNvSpPr>
            <p:nvPr/>
          </p:nvSpPr>
          <p:spPr bwMode="auto">
            <a:xfrm>
              <a:off x="8552769" y="52946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12" name="Text Box 14"/>
            <p:cNvSpPr txBox="1">
              <a:spLocks noChangeArrowheads="1"/>
            </p:cNvSpPr>
            <p:nvPr/>
          </p:nvSpPr>
          <p:spPr bwMode="auto">
            <a:xfrm>
              <a:off x="4609256" y="19231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13" name="Text Box 19"/>
            <p:cNvSpPr txBox="1">
              <a:spLocks noChangeArrowheads="1"/>
            </p:cNvSpPr>
            <p:nvPr/>
          </p:nvSpPr>
          <p:spPr bwMode="auto">
            <a:xfrm>
              <a:off x="5514397" y="3332743"/>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14" name="Text Box 22"/>
            <p:cNvSpPr txBox="1">
              <a:spLocks noChangeArrowheads="1"/>
            </p:cNvSpPr>
            <p:nvPr/>
          </p:nvSpPr>
          <p:spPr bwMode="auto">
            <a:xfrm>
              <a:off x="5456456" y="4343366"/>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15" name="Text Box 22"/>
            <p:cNvSpPr txBox="1">
              <a:spLocks noChangeArrowheads="1"/>
            </p:cNvSpPr>
            <p:nvPr/>
          </p:nvSpPr>
          <p:spPr bwMode="auto">
            <a:xfrm>
              <a:off x="7924800" y="2286000"/>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16" name="Text Box 22"/>
            <p:cNvSpPr txBox="1">
              <a:spLocks noChangeArrowheads="1"/>
            </p:cNvSpPr>
            <p:nvPr/>
          </p:nvSpPr>
          <p:spPr bwMode="auto">
            <a:xfrm>
              <a:off x="8166092" y="4283585"/>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17" name="Straight Connector 16"/>
            <p:cNvCxnSpPr/>
            <p:nvPr/>
          </p:nvCxnSpPr>
          <p:spPr>
            <a:xfrm>
              <a:off x="4944454" y="34436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8" name="Straight Connector 17"/>
            <p:cNvCxnSpPr/>
            <p:nvPr/>
          </p:nvCxnSpPr>
          <p:spPr>
            <a:xfrm>
              <a:off x="4944454" y="46891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19" name="Text Box 22"/>
            <p:cNvSpPr txBox="1">
              <a:spLocks noChangeArrowheads="1"/>
            </p:cNvSpPr>
            <p:nvPr/>
          </p:nvSpPr>
          <p:spPr bwMode="auto">
            <a:xfrm>
              <a:off x="4586288" y="32929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20" name="Text Box 22"/>
            <p:cNvSpPr txBox="1">
              <a:spLocks noChangeArrowheads="1"/>
            </p:cNvSpPr>
            <p:nvPr/>
          </p:nvSpPr>
          <p:spPr bwMode="auto">
            <a:xfrm>
              <a:off x="4572000" y="45727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21" name="Freeform 20"/>
            <p:cNvSpPr/>
            <p:nvPr/>
          </p:nvSpPr>
          <p:spPr>
            <a:xfrm>
              <a:off x="5726200" y="19508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cxnSp>
          <p:nvCxnSpPr>
            <p:cNvPr id="22" name="Straight Connector 21"/>
            <p:cNvCxnSpPr/>
            <p:nvPr/>
          </p:nvCxnSpPr>
          <p:spPr>
            <a:xfrm>
              <a:off x="8212507" y="2650029"/>
              <a:ext cx="0" cy="2002626"/>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23" name="Straight Connector 22"/>
            <p:cNvCxnSpPr/>
            <p:nvPr/>
          </p:nvCxnSpPr>
          <p:spPr>
            <a:xfrm>
              <a:off x="5767136" y="3661042"/>
              <a:ext cx="0" cy="1003198"/>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flipV="1">
              <a:off x="8212507" y="3788026"/>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nvGrpSpPr>
            <p:cNvPr id="25" name="Group 24"/>
            <p:cNvGrpSpPr/>
            <p:nvPr/>
          </p:nvGrpSpPr>
          <p:grpSpPr>
            <a:xfrm>
              <a:off x="5440042" y="2087802"/>
              <a:ext cx="2948990" cy="1919764"/>
              <a:chOff x="5440042" y="2087802"/>
              <a:chExt cx="2948990" cy="1919764"/>
            </a:xfrm>
          </p:grpSpPr>
          <p:sp>
            <p:nvSpPr>
              <p:cNvPr id="31" name="Line 11"/>
              <p:cNvSpPr>
                <a:spLocks noChangeShapeType="1"/>
              </p:cNvSpPr>
              <p:nvPr/>
            </p:nvSpPr>
            <p:spPr bwMode="auto">
              <a:xfrm>
                <a:off x="6580670" y="34085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32" name="Straight Connector 31"/>
              <p:cNvCxnSpPr/>
              <p:nvPr/>
            </p:nvCxnSpPr>
            <p:spPr>
              <a:xfrm rot="16200000">
                <a:off x="6976816" y="2421930"/>
                <a:ext cx="0" cy="1971856"/>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3" name="Straight Connector 32"/>
              <p:cNvCxnSpPr/>
              <p:nvPr/>
            </p:nvCxnSpPr>
            <p:spPr>
              <a:xfrm flipV="1">
                <a:off x="7950350" y="2087802"/>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4" name="Straight Connector 33"/>
              <p:cNvCxnSpPr/>
              <p:nvPr/>
            </p:nvCxnSpPr>
            <p:spPr>
              <a:xfrm flipV="1">
                <a:off x="5440042" y="3416444"/>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nvGrpSpPr>
            <p:cNvPr id="26" name="Group 25"/>
            <p:cNvGrpSpPr/>
            <p:nvPr/>
          </p:nvGrpSpPr>
          <p:grpSpPr>
            <a:xfrm>
              <a:off x="5185066" y="3371988"/>
              <a:ext cx="3757243" cy="1868175"/>
              <a:chOff x="5185066" y="3371988"/>
              <a:chExt cx="3757243" cy="1868175"/>
            </a:xfrm>
          </p:grpSpPr>
          <p:cxnSp>
            <p:nvCxnSpPr>
              <p:cNvPr id="27" name="Straight Connector 26"/>
              <p:cNvCxnSpPr/>
              <p:nvPr/>
            </p:nvCxnSpPr>
            <p:spPr>
              <a:xfrm rot="16200000">
                <a:off x="7133356" y="3251612"/>
                <a:ext cx="0" cy="280208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8" name="Line 11"/>
              <p:cNvSpPr>
                <a:spLocks noChangeShapeType="1"/>
              </p:cNvSpPr>
              <p:nvPr/>
            </p:nvSpPr>
            <p:spPr bwMode="auto">
              <a:xfrm flipH="1">
                <a:off x="6784670" y="46565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29" name="Straight Connector 28"/>
              <p:cNvCxnSpPr/>
              <p:nvPr/>
            </p:nvCxnSpPr>
            <p:spPr>
              <a:xfrm flipV="1">
                <a:off x="8503627" y="3371988"/>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Connector 29"/>
              <p:cNvCxnSpPr/>
              <p:nvPr/>
            </p:nvCxnSpPr>
            <p:spPr>
              <a:xfrm flipV="1">
                <a:off x="5185066" y="4649041"/>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sp>
        <p:nvSpPr>
          <p:cNvPr id="35" name="Rectangle 34"/>
          <p:cNvSpPr/>
          <p:nvPr/>
        </p:nvSpPr>
        <p:spPr>
          <a:xfrm>
            <a:off x="8269285" y="4560616"/>
            <a:ext cx="2138424" cy="611303"/>
          </a:xfrm>
          <a:prstGeom prst="rect">
            <a:avLst/>
          </a:prstGeom>
          <a:pattFill prst="wdUp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baseline="-25000" dirty="0">
              <a:solidFill>
                <a:schemeClr val="tx1"/>
              </a:solidFill>
            </a:endParaRPr>
          </a:p>
        </p:txBody>
      </p:sp>
      <p:sp>
        <p:nvSpPr>
          <p:cNvPr id="36" name="TextBox 35"/>
          <p:cNvSpPr txBox="1"/>
          <p:nvPr/>
        </p:nvSpPr>
        <p:spPr>
          <a:xfrm>
            <a:off x="8826726" y="3774126"/>
            <a:ext cx="974556" cy="461665"/>
          </a:xfrm>
          <a:prstGeom prst="rect">
            <a:avLst/>
          </a:prstGeom>
          <a:noFill/>
        </p:spPr>
        <p:txBody>
          <a:bodyPr wrap="square" rtlCol="0">
            <a:spAutoFit/>
          </a:bodyPr>
          <a:lstStyle/>
          <a:p>
            <a:r>
              <a:rPr lang="en-US" sz="2400" b="1" dirty="0">
                <a:solidFill>
                  <a:srgbClr val="002060"/>
                </a:solidFill>
              </a:rPr>
              <a:t>Q</a:t>
            </a:r>
            <a:r>
              <a:rPr lang="en-US" sz="2400" b="1" baseline="-25000" dirty="0">
                <a:solidFill>
                  <a:srgbClr val="002060"/>
                </a:solidFill>
              </a:rPr>
              <a:t>H</a:t>
            </a:r>
          </a:p>
        </p:txBody>
      </p:sp>
      <p:sp>
        <p:nvSpPr>
          <p:cNvPr id="37" name="Rectangle 36"/>
          <p:cNvSpPr/>
          <p:nvPr/>
        </p:nvSpPr>
        <p:spPr>
          <a:xfrm>
            <a:off x="9008227" y="4645605"/>
            <a:ext cx="570990" cy="461665"/>
          </a:xfrm>
          <a:prstGeom prst="rect">
            <a:avLst/>
          </a:prstGeom>
        </p:spPr>
        <p:txBody>
          <a:bodyPr wrap="none">
            <a:spAutoFit/>
          </a:bodyPr>
          <a:lstStyle/>
          <a:p>
            <a:r>
              <a:rPr lang="en-US" sz="2400" b="1" dirty="0"/>
              <a:t>Q</a:t>
            </a:r>
            <a:r>
              <a:rPr lang="en-US" sz="2400" b="1" baseline="-25000" dirty="0"/>
              <a:t>C</a:t>
            </a:r>
          </a:p>
        </p:txBody>
      </p:sp>
      <p:sp>
        <p:nvSpPr>
          <p:cNvPr id="38" name="TextBox 37"/>
          <p:cNvSpPr txBox="1"/>
          <p:nvPr/>
        </p:nvSpPr>
        <p:spPr>
          <a:xfrm>
            <a:off x="8893323" y="3763597"/>
            <a:ext cx="974556" cy="461665"/>
          </a:xfrm>
          <a:prstGeom prst="rect">
            <a:avLst/>
          </a:prstGeom>
          <a:noFill/>
        </p:spPr>
        <p:txBody>
          <a:bodyPr wrap="square" rtlCol="0">
            <a:spAutoFit/>
          </a:bodyPr>
          <a:lstStyle/>
          <a:p>
            <a:r>
              <a:rPr lang="en-US" sz="2400" b="1" dirty="0" err="1">
                <a:solidFill>
                  <a:srgbClr val="002060"/>
                </a:solidFill>
              </a:rPr>
              <a:t>Q</a:t>
            </a:r>
            <a:r>
              <a:rPr lang="en-US" sz="2400" b="1" baseline="-25000" dirty="0" err="1">
                <a:solidFill>
                  <a:srgbClr val="002060"/>
                </a:solidFill>
              </a:rPr>
              <a:t>net</a:t>
            </a:r>
            <a:endParaRPr lang="en-US" sz="2400" b="1" baseline="-25000" dirty="0">
              <a:solidFill>
                <a:srgbClr val="002060"/>
              </a:solidFill>
            </a:endParaRPr>
          </a:p>
        </p:txBody>
      </p:sp>
    </p:spTree>
    <p:extLst>
      <p:ext uri="{BB962C8B-B14F-4D97-AF65-F5344CB8AC3E}">
        <p14:creationId xmlns:p14="http://schemas.microsoft.com/office/powerpoint/2010/main" val="17684016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Carnot Power Cycle Problems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30</a:t>
            </a:fld>
            <a:endParaRPr lang="en-US" dirty="0"/>
          </a:p>
        </p:txBody>
      </p:sp>
      <p:sp>
        <p:nvSpPr>
          <p:cNvPr id="5" name="Content Placeholder 2"/>
          <p:cNvSpPr txBox="1">
            <a:spLocks/>
          </p:cNvSpPr>
          <p:nvPr/>
        </p:nvSpPr>
        <p:spPr>
          <a:xfrm>
            <a:off x="238148" y="968188"/>
            <a:ext cx="5692005" cy="513677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500" b="1" dirty="0">
                <a:solidFill>
                  <a:srgbClr val="C00000"/>
                </a:solidFill>
              </a:rPr>
              <a:t>Problem 1</a:t>
            </a:r>
          </a:p>
          <a:p>
            <a:pPr marL="0" indent="0">
              <a:buNone/>
            </a:pPr>
            <a:r>
              <a:rPr lang="en-US" sz="2400" dirty="0"/>
              <a:t>A steady-flow Carnot cycle uses water as the working fluid. Water changes from saturated liquid to saturated vapor as heat is transferred to it from a source at 250 °C. Heat rejection takes place at a pressure of 20 </a:t>
            </a:r>
            <a:r>
              <a:rPr lang="en-US" sz="2400" dirty="0" err="1"/>
              <a:t>kPa</a:t>
            </a:r>
            <a:r>
              <a:rPr lang="en-US" sz="2400" dirty="0"/>
              <a:t>. Show the cycle on a T-s diagram relative to the saturation lines, and determine (a) the thermal efficiency, (b) the amount of heat rejected, and (c) the net work output.</a:t>
            </a:r>
          </a:p>
          <a:p>
            <a:pPr marL="0" indent="0">
              <a:buNone/>
            </a:pPr>
            <a:r>
              <a:rPr lang="en-US" sz="2400" b="1" dirty="0">
                <a:solidFill>
                  <a:srgbClr val="002060"/>
                </a:solidFill>
              </a:rPr>
              <a:t>Suggested Answers: 36.3%; 1715.3 kJ/kg; 623 kJ/kg</a:t>
            </a:r>
          </a:p>
        </p:txBody>
      </p:sp>
      <p:grpSp>
        <p:nvGrpSpPr>
          <p:cNvPr id="7" name="Group 6"/>
          <p:cNvGrpSpPr/>
          <p:nvPr/>
        </p:nvGrpSpPr>
        <p:grpSpPr>
          <a:xfrm>
            <a:off x="6350788" y="1103712"/>
            <a:ext cx="4585143" cy="2288902"/>
            <a:chOff x="457200" y="1482913"/>
            <a:chExt cx="5120184" cy="2854902"/>
          </a:xfrm>
        </p:grpSpPr>
        <p:grpSp>
          <p:nvGrpSpPr>
            <p:cNvPr id="12" name="Group 11"/>
            <p:cNvGrpSpPr>
              <a:grpSpLocks noChangeAspect="1"/>
            </p:cNvGrpSpPr>
            <p:nvPr/>
          </p:nvGrpSpPr>
          <p:grpSpPr>
            <a:xfrm>
              <a:off x="457200" y="1482913"/>
              <a:ext cx="5120184" cy="2854902"/>
              <a:chOff x="-105" y="838200"/>
              <a:chExt cx="9070720" cy="5057634"/>
            </a:xfrm>
          </p:grpSpPr>
          <p:cxnSp>
            <p:nvCxnSpPr>
              <p:cNvPr id="14" name="Straight Connector 13"/>
              <p:cNvCxnSpPr/>
              <p:nvPr/>
            </p:nvCxnSpPr>
            <p:spPr>
              <a:xfrm>
                <a:off x="1767938" y="4849001"/>
                <a:ext cx="1660255"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496880" y="3485257"/>
                <a:ext cx="492934" cy="6017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16" name="Rectangle 15"/>
              <p:cNvSpPr/>
              <p:nvPr/>
            </p:nvSpPr>
            <p:spPr>
              <a:xfrm>
                <a:off x="1780380" y="2911749"/>
                <a:ext cx="448122" cy="4973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cxnSp>
            <p:nvCxnSpPr>
              <p:cNvPr id="17" name="Straight Connector 16"/>
              <p:cNvCxnSpPr/>
              <p:nvPr/>
            </p:nvCxnSpPr>
            <p:spPr>
              <a:xfrm>
                <a:off x="5087488" y="2131895"/>
                <a:ext cx="166025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6747743" y="2091820"/>
                <a:ext cx="0" cy="881653"/>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428193" y="1904201"/>
                <a:ext cx="1653420" cy="455388"/>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Boiler</a:t>
                </a:r>
              </a:p>
            </p:txBody>
          </p:sp>
          <p:sp>
            <p:nvSpPr>
              <p:cNvPr id="20" name="Rectangle 19"/>
              <p:cNvSpPr/>
              <p:nvPr/>
            </p:nvSpPr>
            <p:spPr>
              <a:xfrm>
                <a:off x="3345522" y="4573013"/>
                <a:ext cx="1818761" cy="455389"/>
              </a:xfrm>
              <a:prstGeom prst="rect">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1100" b="1" dirty="0"/>
                  <a:t>Condenser</a:t>
                </a:r>
              </a:p>
            </p:txBody>
          </p:sp>
          <p:sp>
            <p:nvSpPr>
              <p:cNvPr id="21" name="Trapezoid 20"/>
              <p:cNvSpPr/>
              <p:nvPr/>
            </p:nvSpPr>
            <p:spPr>
              <a:xfrm rot="16200000">
                <a:off x="6435569" y="2792803"/>
                <a:ext cx="1248992" cy="1234244"/>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b="1" dirty="0"/>
                  <a:t>Turbine</a:t>
                </a:r>
              </a:p>
            </p:txBody>
          </p:sp>
          <p:cxnSp>
            <p:nvCxnSpPr>
              <p:cNvPr id="22" name="Straight Connector 21"/>
              <p:cNvCxnSpPr/>
              <p:nvPr/>
            </p:nvCxnSpPr>
            <p:spPr>
              <a:xfrm>
                <a:off x="5132195" y="4783480"/>
                <a:ext cx="2392896" cy="0"/>
              </a:xfrm>
              <a:prstGeom prst="line">
                <a:avLst/>
              </a:prstGeom>
              <a:ln w="76200">
                <a:solidFill>
                  <a:schemeClr val="bg2">
                    <a:lumMod val="9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7509743" y="3998298"/>
                <a:ext cx="0" cy="801503"/>
              </a:xfrm>
              <a:prstGeom prst="straightConnector1">
                <a:avLst/>
              </a:prstGeom>
              <a:ln w="76200">
                <a:solidFill>
                  <a:schemeClr val="bg2">
                    <a:lumMod val="9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Flowchart: Connector 23"/>
              <p:cNvSpPr/>
              <p:nvPr/>
            </p:nvSpPr>
            <p:spPr>
              <a:xfrm>
                <a:off x="1154002" y="3059648"/>
                <a:ext cx="1638813" cy="923524"/>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Pump</a:t>
                </a:r>
              </a:p>
            </p:txBody>
          </p:sp>
          <p:cxnSp>
            <p:nvCxnSpPr>
              <p:cNvPr id="25" name="Straight Connector 24"/>
              <p:cNvCxnSpPr/>
              <p:nvPr/>
            </p:nvCxnSpPr>
            <p:spPr>
              <a:xfrm>
                <a:off x="1922492" y="2131895"/>
                <a:ext cx="1509323" cy="0"/>
              </a:xfrm>
              <a:prstGeom prst="line">
                <a:avLst/>
              </a:prstGeom>
              <a:ln w="76200">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1964351" y="2141727"/>
                <a:ext cx="0" cy="728639"/>
              </a:xfrm>
              <a:prstGeom prst="straightConnector1">
                <a:avLst/>
              </a:prstGeom>
              <a:ln w="762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1763022" y="4066266"/>
                <a:ext cx="0" cy="801503"/>
              </a:xfrm>
              <a:prstGeom prst="straightConnector1">
                <a:avLst/>
              </a:prstGeom>
              <a:ln w="762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Trapezoid 27"/>
              <p:cNvSpPr/>
              <p:nvPr/>
            </p:nvSpPr>
            <p:spPr>
              <a:xfrm rot="16200000">
                <a:off x="6378570" y="2681644"/>
                <a:ext cx="1248992" cy="1483068"/>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sz="1100" b="1" dirty="0"/>
                  <a:t>Turbine</a:t>
                </a:r>
              </a:p>
            </p:txBody>
          </p:sp>
          <p:sp>
            <p:nvSpPr>
              <p:cNvPr id="29" name="Down Arrow 28"/>
              <p:cNvSpPr/>
              <p:nvPr/>
            </p:nvSpPr>
            <p:spPr>
              <a:xfrm>
                <a:off x="3556097" y="838200"/>
                <a:ext cx="1397611" cy="1002704"/>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in</a:t>
                </a:r>
              </a:p>
            </p:txBody>
          </p:sp>
          <p:sp>
            <p:nvSpPr>
              <p:cNvPr id="30" name="Down Arrow 29"/>
              <p:cNvSpPr/>
              <p:nvPr/>
            </p:nvSpPr>
            <p:spPr>
              <a:xfrm>
                <a:off x="3821865" y="5210291"/>
                <a:ext cx="1007179" cy="685543"/>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100" b="1" dirty="0" err="1">
                    <a:solidFill>
                      <a:schemeClr val="tx1"/>
                    </a:solidFill>
                  </a:rPr>
                  <a:t>Q</a:t>
                </a:r>
                <a:r>
                  <a:rPr lang="fr-FR" sz="1100" b="1" dirty="0" err="1"/>
                  <a:t>out</a:t>
                </a:r>
                <a:endParaRPr lang="fr-FR" sz="1100" b="1" dirty="0">
                  <a:solidFill>
                    <a:schemeClr val="tx1"/>
                  </a:solidFill>
                </a:endParaRPr>
              </a:p>
            </p:txBody>
          </p:sp>
          <p:sp>
            <p:nvSpPr>
              <p:cNvPr id="31" name="Right Arrow 30"/>
              <p:cNvSpPr/>
              <p:nvPr/>
            </p:nvSpPr>
            <p:spPr>
              <a:xfrm>
                <a:off x="7729495" y="2980871"/>
                <a:ext cx="1341120" cy="76826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err="1"/>
                  <a:t>Wout</a:t>
                </a:r>
                <a:endParaRPr lang="en-US" sz="1100" b="1" dirty="0"/>
              </a:p>
            </p:txBody>
          </p:sp>
          <p:sp>
            <p:nvSpPr>
              <p:cNvPr id="32" name="Right Arrow 31"/>
              <p:cNvSpPr/>
              <p:nvPr/>
            </p:nvSpPr>
            <p:spPr>
              <a:xfrm>
                <a:off x="-105" y="3304577"/>
                <a:ext cx="1161707" cy="5984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tx1"/>
                    </a:solidFill>
                  </a:rPr>
                  <a:t>Win</a:t>
                </a:r>
              </a:p>
            </p:txBody>
          </p:sp>
          <p:sp>
            <p:nvSpPr>
              <p:cNvPr id="33" name="Oval 32"/>
              <p:cNvSpPr/>
              <p:nvPr/>
            </p:nvSpPr>
            <p:spPr>
              <a:xfrm>
                <a:off x="6002770" y="1426335"/>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2</a:t>
                </a:r>
              </a:p>
            </p:txBody>
          </p:sp>
          <p:sp>
            <p:nvSpPr>
              <p:cNvPr id="34" name="Oval 33"/>
              <p:cNvSpPr/>
              <p:nvPr/>
            </p:nvSpPr>
            <p:spPr>
              <a:xfrm>
                <a:off x="6901613" y="4767162"/>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3</a:t>
                </a:r>
              </a:p>
            </p:txBody>
          </p:sp>
          <p:sp>
            <p:nvSpPr>
              <p:cNvPr id="35" name="Oval 34"/>
              <p:cNvSpPr/>
              <p:nvPr/>
            </p:nvSpPr>
            <p:spPr>
              <a:xfrm>
                <a:off x="947753" y="4918726"/>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4</a:t>
                </a:r>
              </a:p>
            </p:txBody>
          </p:sp>
        </p:grpSp>
        <p:sp>
          <p:nvSpPr>
            <p:cNvPr id="13" name="Oval 12"/>
            <p:cNvSpPr/>
            <p:nvPr/>
          </p:nvSpPr>
          <p:spPr>
            <a:xfrm>
              <a:off x="1145567" y="1858314"/>
              <a:ext cx="841034" cy="381198"/>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1</a:t>
              </a:r>
            </a:p>
          </p:txBody>
        </p:sp>
      </p:grpSp>
      <p:grpSp>
        <p:nvGrpSpPr>
          <p:cNvPr id="36" name="Group 35"/>
          <p:cNvGrpSpPr>
            <a:grpSpLocks noChangeAspect="1"/>
          </p:cNvGrpSpPr>
          <p:nvPr/>
        </p:nvGrpSpPr>
        <p:grpSpPr>
          <a:xfrm>
            <a:off x="7234118" y="3496092"/>
            <a:ext cx="2981982" cy="2797613"/>
            <a:chOff x="4572000" y="1447800"/>
            <a:chExt cx="4181768" cy="3923219"/>
          </a:xfrm>
        </p:grpSpPr>
        <p:sp>
          <p:nvSpPr>
            <p:cNvPr id="37" name="Line 5"/>
            <p:cNvSpPr>
              <a:spLocks noChangeShapeType="1"/>
            </p:cNvSpPr>
            <p:nvPr/>
          </p:nvSpPr>
          <p:spPr bwMode="auto">
            <a:xfrm flipV="1">
              <a:off x="5081081" y="14478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8" name="Line 6"/>
            <p:cNvSpPr>
              <a:spLocks noChangeShapeType="1"/>
            </p:cNvSpPr>
            <p:nvPr/>
          </p:nvSpPr>
          <p:spPr bwMode="auto">
            <a:xfrm>
              <a:off x="5081197" y="5029200"/>
              <a:ext cx="3672571"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40" name="Text Box 13"/>
            <p:cNvSpPr txBox="1">
              <a:spLocks noChangeArrowheads="1"/>
            </p:cNvSpPr>
            <p:nvPr/>
          </p:nvSpPr>
          <p:spPr bwMode="auto">
            <a:xfrm>
              <a:off x="8314937" y="49898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1" name="Text Box 14"/>
            <p:cNvSpPr txBox="1">
              <a:spLocks noChangeArrowheads="1"/>
            </p:cNvSpPr>
            <p:nvPr/>
          </p:nvSpPr>
          <p:spPr bwMode="auto">
            <a:xfrm>
              <a:off x="4609256" y="16183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2" name="Text Box 19"/>
            <p:cNvSpPr txBox="1">
              <a:spLocks noChangeArrowheads="1"/>
            </p:cNvSpPr>
            <p:nvPr/>
          </p:nvSpPr>
          <p:spPr bwMode="auto">
            <a:xfrm>
              <a:off x="5394724" y="2879071"/>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43" name="Text Box 22"/>
            <p:cNvSpPr txBox="1">
              <a:spLocks noChangeArrowheads="1"/>
            </p:cNvSpPr>
            <p:nvPr/>
          </p:nvSpPr>
          <p:spPr bwMode="auto">
            <a:xfrm>
              <a:off x="5442496" y="4163917"/>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44" name="Text Box 22"/>
            <p:cNvSpPr txBox="1">
              <a:spLocks noChangeArrowheads="1"/>
            </p:cNvSpPr>
            <p:nvPr/>
          </p:nvSpPr>
          <p:spPr bwMode="auto">
            <a:xfrm>
              <a:off x="7734629" y="2925258"/>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45" name="Text Box 22"/>
            <p:cNvSpPr txBox="1">
              <a:spLocks noChangeArrowheads="1"/>
            </p:cNvSpPr>
            <p:nvPr/>
          </p:nvSpPr>
          <p:spPr bwMode="auto">
            <a:xfrm>
              <a:off x="7723306" y="4246150"/>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46" name="Straight Connector 45"/>
            <p:cNvCxnSpPr/>
            <p:nvPr/>
          </p:nvCxnSpPr>
          <p:spPr>
            <a:xfrm>
              <a:off x="4944454" y="31388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7" name="Straight Connector 46"/>
            <p:cNvCxnSpPr/>
            <p:nvPr/>
          </p:nvCxnSpPr>
          <p:spPr>
            <a:xfrm>
              <a:off x="4944454" y="43843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8" name="Text Box 22"/>
            <p:cNvSpPr txBox="1">
              <a:spLocks noChangeArrowheads="1"/>
            </p:cNvSpPr>
            <p:nvPr/>
          </p:nvSpPr>
          <p:spPr bwMode="auto">
            <a:xfrm>
              <a:off x="4586288" y="29881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49" name="Text Box 22"/>
            <p:cNvSpPr txBox="1">
              <a:spLocks noChangeArrowheads="1"/>
            </p:cNvSpPr>
            <p:nvPr/>
          </p:nvSpPr>
          <p:spPr bwMode="auto">
            <a:xfrm>
              <a:off x="4572000" y="42679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50" name="Freeform 49"/>
            <p:cNvSpPr/>
            <p:nvPr/>
          </p:nvSpPr>
          <p:spPr>
            <a:xfrm>
              <a:off x="5488368" y="16460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grpSp>
          <p:nvGrpSpPr>
            <p:cNvPr id="51" name="Group 50"/>
            <p:cNvGrpSpPr/>
            <p:nvPr/>
          </p:nvGrpSpPr>
          <p:grpSpPr>
            <a:xfrm>
              <a:off x="5772482" y="3063547"/>
              <a:ext cx="1933944" cy="1340868"/>
              <a:chOff x="5772482" y="3063547"/>
              <a:chExt cx="1933944" cy="1340868"/>
            </a:xfrm>
          </p:grpSpPr>
          <p:sp>
            <p:nvSpPr>
              <p:cNvPr id="52" name="Line 11"/>
              <p:cNvSpPr>
                <a:spLocks noChangeShapeType="1"/>
              </p:cNvSpPr>
              <p:nvPr/>
            </p:nvSpPr>
            <p:spPr bwMode="auto">
              <a:xfrm>
                <a:off x="6342838" y="31037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3" name="Straight Connector 52"/>
              <p:cNvCxnSpPr/>
              <p:nvPr/>
            </p:nvCxnSpPr>
            <p:spPr>
              <a:xfrm rot="16200000">
                <a:off x="6738984" y="2136557"/>
                <a:ext cx="0" cy="1933003"/>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54" name="Straight Connector 53"/>
              <p:cNvCxnSpPr/>
              <p:nvPr/>
            </p:nvCxnSpPr>
            <p:spPr>
              <a:xfrm>
                <a:off x="7705486"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5" name="Straight Connector 54"/>
              <p:cNvCxnSpPr/>
              <p:nvPr/>
            </p:nvCxnSpPr>
            <p:spPr>
              <a:xfrm>
                <a:off x="5777908"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6" name="Straight Connector 55"/>
              <p:cNvCxnSpPr/>
              <p:nvPr/>
            </p:nvCxnSpPr>
            <p:spPr>
              <a:xfrm rot="16200000">
                <a:off x="6738984" y="3390924"/>
                <a:ext cx="0" cy="1913864"/>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a:off x="5777908" y="3527257"/>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58" name="Line 11"/>
              <p:cNvSpPr>
                <a:spLocks noChangeShapeType="1"/>
              </p:cNvSpPr>
              <p:nvPr/>
            </p:nvSpPr>
            <p:spPr bwMode="auto">
              <a:xfrm flipH="1">
                <a:off x="6546838" y="43517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9" name="Straight Arrow Connector 58"/>
              <p:cNvCxnSpPr/>
              <p:nvPr/>
            </p:nvCxnSpPr>
            <p:spPr>
              <a:xfrm flipV="1">
                <a:off x="7706426" y="351366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13078812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Carnot Power Cycle Problems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31</a:t>
            </a:fld>
            <a:endParaRPr lang="en-US" dirty="0"/>
          </a:p>
        </p:txBody>
      </p:sp>
      <p:sp>
        <p:nvSpPr>
          <p:cNvPr id="5" name="Content Placeholder 2"/>
          <p:cNvSpPr txBox="1">
            <a:spLocks/>
          </p:cNvSpPr>
          <p:nvPr/>
        </p:nvSpPr>
        <p:spPr>
          <a:xfrm>
            <a:off x="238148" y="968188"/>
            <a:ext cx="5692005" cy="513677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500" b="1" dirty="0">
                <a:solidFill>
                  <a:srgbClr val="C00000"/>
                </a:solidFill>
              </a:rPr>
              <a:t>Problem 2</a:t>
            </a:r>
          </a:p>
          <a:p>
            <a:pPr marL="0" indent="0">
              <a:buNone/>
            </a:pPr>
            <a:r>
              <a:rPr lang="en-US" sz="2400" dirty="0"/>
              <a:t>Consider a steady-flow Carnot cycle with water as the working fluid. The maximum and minimum temperatures in the cycle are 350 and </a:t>
            </a:r>
            <a:r>
              <a:rPr lang="en-US" sz="2400" dirty="0" smtClean="0"/>
              <a:t>60 </a:t>
            </a:r>
            <a:r>
              <a:rPr lang="en-US" sz="2400" baseline="30000" dirty="0" smtClean="0"/>
              <a:t>0</a:t>
            </a:r>
            <a:r>
              <a:rPr lang="en-US" sz="2400" dirty="0" smtClean="0"/>
              <a:t>C</a:t>
            </a:r>
            <a:r>
              <a:rPr lang="en-US" sz="2400" dirty="0"/>
              <a:t>. The quality of water is </a:t>
            </a:r>
            <a:r>
              <a:rPr lang="en-US" sz="2400" dirty="0" smtClean="0"/>
              <a:t>0.619at </a:t>
            </a:r>
            <a:r>
              <a:rPr lang="en-US" sz="2400" dirty="0"/>
              <a:t>the beginning of the heat-rejection process and </a:t>
            </a:r>
            <a:r>
              <a:rPr lang="en-US" sz="2400" dirty="0" smtClean="0"/>
              <a:t>0.416 </a:t>
            </a:r>
            <a:r>
              <a:rPr lang="en-US" sz="2400" dirty="0"/>
              <a:t>at the end. Show the cycle on a T-s diagram relative to the saturation lines, and determine (a) the thermal efficiency, (b) the pressure at the turbine inlet, and (c) the net work output.</a:t>
            </a:r>
          </a:p>
          <a:p>
            <a:pPr marL="0" indent="0">
              <a:buNone/>
            </a:pPr>
            <a:r>
              <a:rPr lang="en-US" sz="2400" b="1" dirty="0">
                <a:solidFill>
                  <a:srgbClr val="002060"/>
                </a:solidFill>
              </a:rPr>
              <a:t>Suggested Answers: (a) 0.465, (b) </a:t>
            </a:r>
            <a:r>
              <a:rPr lang="en-US" sz="2400" b="1" dirty="0" smtClean="0">
                <a:solidFill>
                  <a:srgbClr val="002060"/>
                </a:solidFill>
              </a:rPr>
              <a:t>16.53 </a:t>
            </a:r>
            <a:r>
              <a:rPr lang="en-US" sz="2400" b="1" dirty="0">
                <a:solidFill>
                  <a:srgbClr val="002060"/>
                </a:solidFill>
              </a:rPr>
              <a:t>MPa, (c) </a:t>
            </a:r>
            <a:r>
              <a:rPr lang="en-US" sz="2400" b="1" dirty="0" smtClean="0">
                <a:solidFill>
                  <a:srgbClr val="002060"/>
                </a:solidFill>
              </a:rPr>
              <a:t>441.6 </a:t>
            </a:r>
            <a:r>
              <a:rPr lang="en-US" sz="2400" b="1" dirty="0">
                <a:solidFill>
                  <a:srgbClr val="002060"/>
                </a:solidFill>
              </a:rPr>
              <a:t>kJ/kg</a:t>
            </a:r>
          </a:p>
        </p:txBody>
      </p:sp>
      <p:grpSp>
        <p:nvGrpSpPr>
          <p:cNvPr id="7" name="Group 6"/>
          <p:cNvGrpSpPr/>
          <p:nvPr/>
        </p:nvGrpSpPr>
        <p:grpSpPr>
          <a:xfrm>
            <a:off x="6350788" y="1103712"/>
            <a:ext cx="4585143" cy="2288902"/>
            <a:chOff x="457200" y="1482913"/>
            <a:chExt cx="5120184" cy="2854902"/>
          </a:xfrm>
        </p:grpSpPr>
        <p:grpSp>
          <p:nvGrpSpPr>
            <p:cNvPr id="12" name="Group 11"/>
            <p:cNvGrpSpPr>
              <a:grpSpLocks noChangeAspect="1"/>
            </p:cNvGrpSpPr>
            <p:nvPr/>
          </p:nvGrpSpPr>
          <p:grpSpPr>
            <a:xfrm>
              <a:off x="457200" y="1482913"/>
              <a:ext cx="5120184" cy="2854902"/>
              <a:chOff x="-105" y="838200"/>
              <a:chExt cx="9070720" cy="5057634"/>
            </a:xfrm>
          </p:grpSpPr>
          <p:cxnSp>
            <p:nvCxnSpPr>
              <p:cNvPr id="14" name="Straight Connector 13"/>
              <p:cNvCxnSpPr/>
              <p:nvPr/>
            </p:nvCxnSpPr>
            <p:spPr>
              <a:xfrm>
                <a:off x="1767938" y="4849001"/>
                <a:ext cx="1660255"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496880" y="3485257"/>
                <a:ext cx="492934" cy="6017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16" name="Rectangle 15"/>
              <p:cNvSpPr/>
              <p:nvPr/>
            </p:nvSpPr>
            <p:spPr>
              <a:xfrm>
                <a:off x="1780380" y="2911749"/>
                <a:ext cx="448122" cy="4973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cxnSp>
            <p:nvCxnSpPr>
              <p:cNvPr id="17" name="Straight Connector 16"/>
              <p:cNvCxnSpPr/>
              <p:nvPr/>
            </p:nvCxnSpPr>
            <p:spPr>
              <a:xfrm>
                <a:off x="5087488" y="2131895"/>
                <a:ext cx="166025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6747743" y="2091820"/>
                <a:ext cx="0" cy="881653"/>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428193" y="1904201"/>
                <a:ext cx="1653420" cy="455388"/>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Boiler</a:t>
                </a:r>
              </a:p>
            </p:txBody>
          </p:sp>
          <p:sp>
            <p:nvSpPr>
              <p:cNvPr id="20" name="Rectangle 19"/>
              <p:cNvSpPr/>
              <p:nvPr/>
            </p:nvSpPr>
            <p:spPr>
              <a:xfrm>
                <a:off x="3345522" y="4573013"/>
                <a:ext cx="1818761" cy="455389"/>
              </a:xfrm>
              <a:prstGeom prst="rect">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1100" b="1" dirty="0"/>
                  <a:t>Condenser</a:t>
                </a:r>
              </a:p>
            </p:txBody>
          </p:sp>
          <p:sp>
            <p:nvSpPr>
              <p:cNvPr id="21" name="Trapezoid 20"/>
              <p:cNvSpPr/>
              <p:nvPr/>
            </p:nvSpPr>
            <p:spPr>
              <a:xfrm rot="16200000">
                <a:off x="6435569" y="2792803"/>
                <a:ext cx="1248992" cy="1234244"/>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b="1" dirty="0"/>
                  <a:t>Turbine</a:t>
                </a:r>
              </a:p>
            </p:txBody>
          </p:sp>
          <p:cxnSp>
            <p:nvCxnSpPr>
              <p:cNvPr id="22" name="Straight Connector 21"/>
              <p:cNvCxnSpPr/>
              <p:nvPr/>
            </p:nvCxnSpPr>
            <p:spPr>
              <a:xfrm>
                <a:off x="5132195" y="4783480"/>
                <a:ext cx="2392896" cy="0"/>
              </a:xfrm>
              <a:prstGeom prst="line">
                <a:avLst/>
              </a:prstGeom>
              <a:ln w="76200">
                <a:solidFill>
                  <a:schemeClr val="bg2">
                    <a:lumMod val="9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a:off x="7509743" y="3998298"/>
                <a:ext cx="0" cy="801503"/>
              </a:xfrm>
              <a:prstGeom prst="straightConnector1">
                <a:avLst/>
              </a:prstGeom>
              <a:ln w="76200">
                <a:solidFill>
                  <a:schemeClr val="bg2">
                    <a:lumMod val="9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Flowchart: Connector 23"/>
              <p:cNvSpPr/>
              <p:nvPr/>
            </p:nvSpPr>
            <p:spPr>
              <a:xfrm>
                <a:off x="1154002" y="3059648"/>
                <a:ext cx="1638813" cy="923524"/>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Pump</a:t>
                </a:r>
              </a:p>
            </p:txBody>
          </p:sp>
          <p:cxnSp>
            <p:nvCxnSpPr>
              <p:cNvPr id="25" name="Straight Connector 24"/>
              <p:cNvCxnSpPr/>
              <p:nvPr/>
            </p:nvCxnSpPr>
            <p:spPr>
              <a:xfrm>
                <a:off x="1922492" y="2131895"/>
                <a:ext cx="1509323" cy="0"/>
              </a:xfrm>
              <a:prstGeom prst="line">
                <a:avLst/>
              </a:prstGeom>
              <a:ln w="76200">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1964351" y="2141727"/>
                <a:ext cx="0" cy="728639"/>
              </a:xfrm>
              <a:prstGeom prst="straightConnector1">
                <a:avLst/>
              </a:prstGeom>
              <a:ln w="762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1763022" y="4066266"/>
                <a:ext cx="0" cy="801503"/>
              </a:xfrm>
              <a:prstGeom prst="straightConnector1">
                <a:avLst/>
              </a:prstGeom>
              <a:ln w="762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Trapezoid 27"/>
              <p:cNvSpPr/>
              <p:nvPr/>
            </p:nvSpPr>
            <p:spPr>
              <a:xfrm rot="16200000">
                <a:off x="6378570" y="2681644"/>
                <a:ext cx="1248992" cy="1483068"/>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sz="1100" b="1" dirty="0"/>
                  <a:t>Turbine</a:t>
                </a:r>
              </a:p>
            </p:txBody>
          </p:sp>
          <p:sp>
            <p:nvSpPr>
              <p:cNvPr id="29" name="Down Arrow 28"/>
              <p:cNvSpPr/>
              <p:nvPr/>
            </p:nvSpPr>
            <p:spPr>
              <a:xfrm>
                <a:off x="3556097" y="838200"/>
                <a:ext cx="1397611" cy="1002704"/>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in</a:t>
                </a:r>
              </a:p>
            </p:txBody>
          </p:sp>
          <p:sp>
            <p:nvSpPr>
              <p:cNvPr id="30" name="Down Arrow 29"/>
              <p:cNvSpPr/>
              <p:nvPr/>
            </p:nvSpPr>
            <p:spPr>
              <a:xfrm>
                <a:off x="3821865" y="5210291"/>
                <a:ext cx="1007179" cy="685543"/>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100" b="1" dirty="0" err="1">
                    <a:solidFill>
                      <a:schemeClr val="tx1"/>
                    </a:solidFill>
                  </a:rPr>
                  <a:t>Qout</a:t>
                </a:r>
                <a:endParaRPr lang="fr-FR" sz="1100" b="1" baseline="-25000" dirty="0">
                  <a:solidFill>
                    <a:schemeClr val="tx1"/>
                  </a:solidFill>
                </a:endParaRPr>
              </a:p>
            </p:txBody>
          </p:sp>
          <p:sp>
            <p:nvSpPr>
              <p:cNvPr id="31" name="Right Arrow 30"/>
              <p:cNvSpPr/>
              <p:nvPr/>
            </p:nvSpPr>
            <p:spPr>
              <a:xfrm>
                <a:off x="7729495" y="2980871"/>
                <a:ext cx="1341120" cy="76826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err="1"/>
                  <a:t>Wout</a:t>
                </a:r>
                <a:endParaRPr lang="en-US" sz="1100" b="1" dirty="0"/>
              </a:p>
            </p:txBody>
          </p:sp>
          <p:sp>
            <p:nvSpPr>
              <p:cNvPr id="32" name="Right Arrow 31"/>
              <p:cNvSpPr/>
              <p:nvPr/>
            </p:nvSpPr>
            <p:spPr>
              <a:xfrm>
                <a:off x="-105" y="3304577"/>
                <a:ext cx="1161707" cy="5984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tx1"/>
                    </a:solidFill>
                  </a:rPr>
                  <a:t>Win</a:t>
                </a:r>
              </a:p>
            </p:txBody>
          </p:sp>
          <p:sp>
            <p:nvSpPr>
              <p:cNvPr id="33" name="Oval 32"/>
              <p:cNvSpPr/>
              <p:nvPr/>
            </p:nvSpPr>
            <p:spPr>
              <a:xfrm>
                <a:off x="6002770" y="1426335"/>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2</a:t>
                </a:r>
              </a:p>
            </p:txBody>
          </p:sp>
          <p:sp>
            <p:nvSpPr>
              <p:cNvPr id="34" name="Oval 33"/>
              <p:cNvSpPr/>
              <p:nvPr/>
            </p:nvSpPr>
            <p:spPr>
              <a:xfrm>
                <a:off x="6901613" y="4767162"/>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3</a:t>
                </a:r>
              </a:p>
            </p:txBody>
          </p:sp>
          <p:sp>
            <p:nvSpPr>
              <p:cNvPr id="35" name="Oval 34"/>
              <p:cNvSpPr/>
              <p:nvPr/>
            </p:nvSpPr>
            <p:spPr>
              <a:xfrm>
                <a:off x="947753" y="4918726"/>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4</a:t>
                </a:r>
              </a:p>
            </p:txBody>
          </p:sp>
        </p:grpSp>
        <p:sp>
          <p:nvSpPr>
            <p:cNvPr id="13" name="Oval 12"/>
            <p:cNvSpPr/>
            <p:nvPr/>
          </p:nvSpPr>
          <p:spPr>
            <a:xfrm>
              <a:off x="1145567" y="1858314"/>
              <a:ext cx="841034" cy="381198"/>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1</a:t>
              </a:r>
            </a:p>
          </p:txBody>
        </p:sp>
      </p:grpSp>
      <p:grpSp>
        <p:nvGrpSpPr>
          <p:cNvPr id="36" name="Group 35"/>
          <p:cNvGrpSpPr>
            <a:grpSpLocks noChangeAspect="1"/>
          </p:cNvGrpSpPr>
          <p:nvPr/>
        </p:nvGrpSpPr>
        <p:grpSpPr>
          <a:xfrm>
            <a:off x="7234118" y="3496092"/>
            <a:ext cx="2981982" cy="2797613"/>
            <a:chOff x="4572000" y="1447800"/>
            <a:chExt cx="4181768" cy="3923219"/>
          </a:xfrm>
        </p:grpSpPr>
        <p:sp>
          <p:nvSpPr>
            <p:cNvPr id="37" name="Line 5"/>
            <p:cNvSpPr>
              <a:spLocks noChangeShapeType="1"/>
            </p:cNvSpPr>
            <p:nvPr/>
          </p:nvSpPr>
          <p:spPr bwMode="auto">
            <a:xfrm flipV="1">
              <a:off x="5081081" y="14478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8" name="Line 6"/>
            <p:cNvSpPr>
              <a:spLocks noChangeShapeType="1"/>
            </p:cNvSpPr>
            <p:nvPr/>
          </p:nvSpPr>
          <p:spPr bwMode="auto">
            <a:xfrm>
              <a:off x="5081197" y="5029200"/>
              <a:ext cx="3672571"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40" name="Text Box 13"/>
            <p:cNvSpPr txBox="1">
              <a:spLocks noChangeArrowheads="1"/>
            </p:cNvSpPr>
            <p:nvPr/>
          </p:nvSpPr>
          <p:spPr bwMode="auto">
            <a:xfrm>
              <a:off x="8314937" y="49898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1" name="Text Box 14"/>
            <p:cNvSpPr txBox="1">
              <a:spLocks noChangeArrowheads="1"/>
            </p:cNvSpPr>
            <p:nvPr/>
          </p:nvSpPr>
          <p:spPr bwMode="auto">
            <a:xfrm>
              <a:off x="4609256" y="16183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42" name="Text Box 19"/>
            <p:cNvSpPr txBox="1">
              <a:spLocks noChangeArrowheads="1"/>
            </p:cNvSpPr>
            <p:nvPr/>
          </p:nvSpPr>
          <p:spPr bwMode="auto">
            <a:xfrm>
              <a:off x="5394724" y="2879071"/>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43" name="Text Box 22"/>
            <p:cNvSpPr txBox="1">
              <a:spLocks noChangeArrowheads="1"/>
            </p:cNvSpPr>
            <p:nvPr/>
          </p:nvSpPr>
          <p:spPr bwMode="auto">
            <a:xfrm>
              <a:off x="5442496" y="4163917"/>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44" name="Text Box 22"/>
            <p:cNvSpPr txBox="1">
              <a:spLocks noChangeArrowheads="1"/>
            </p:cNvSpPr>
            <p:nvPr/>
          </p:nvSpPr>
          <p:spPr bwMode="auto">
            <a:xfrm>
              <a:off x="7734629" y="2925258"/>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45" name="Text Box 22"/>
            <p:cNvSpPr txBox="1">
              <a:spLocks noChangeArrowheads="1"/>
            </p:cNvSpPr>
            <p:nvPr/>
          </p:nvSpPr>
          <p:spPr bwMode="auto">
            <a:xfrm>
              <a:off x="7723306" y="4246150"/>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46" name="Straight Connector 45"/>
            <p:cNvCxnSpPr/>
            <p:nvPr/>
          </p:nvCxnSpPr>
          <p:spPr>
            <a:xfrm>
              <a:off x="4944454" y="31388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7" name="Straight Connector 46"/>
            <p:cNvCxnSpPr/>
            <p:nvPr/>
          </p:nvCxnSpPr>
          <p:spPr>
            <a:xfrm>
              <a:off x="4944454" y="43843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8" name="Text Box 22"/>
            <p:cNvSpPr txBox="1">
              <a:spLocks noChangeArrowheads="1"/>
            </p:cNvSpPr>
            <p:nvPr/>
          </p:nvSpPr>
          <p:spPr bwMode="auto">
            <a:xfrm>
              <a:off x="4586288" y="29881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49" name="Text Box 22"/>
            <p:cNvSpPr txBox="1">
              <a:spLocks noChangeArrowheads="1"/>
            </p:cNvSpPr>
            <p:nvPr/>
          </p:nvSpPr>
          <p:spPr bwMode="auto">
            <a:xfrm>
              <a:off x="4572000" y="42679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50" name="Freeform 49"/>
            <p:cNvSpPr/>
            <p:nvPr/>
          </p:nvSpPr>
          <p:spPr>
            <a:xfrm>
              <a:off x="5488368" y="16460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grpSp>
          <p:nvGrpSpPr>
            <p:cNvPr id="51" name="Group 50"/>
            <p:cNvGrpSpPr/>
            <p:nvPr/>
          </p:nvGrpSpPr>
          <p:grpSpPr>
            <a:xfrm>
              <a:off x="5772482" y="3063547"/>
              <a:ext cx="1933944" cy="1340868"/>
              <a:chOff x="5772482" y="3063547"/>
              <a:chExt cx="1933944" cy="1340868"/>
            </a:xfrm>
          </p:grpSpPr>
          <p:sp>
            <p:nvSpPr>
              <p:cNvPr id="52" name="Line 11"/>
              <p:cNvSpPr>
                <a:spLocks noChangeShapeType="1"/>
              </p:cNvSpPr>
              <p:nvPr/>
            </p:nvSpPr>
            <p:spPr bwMode="auto">
              <a:xfrm>
                <a:off x="6342838" y="31037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3" name="Straight Connector 52"/>
              <p:cNvCxnSpPr/>
              <p:nvPr/>
            </p:nvCxnSpPr>
            <p:spPr>
              <a:xfrm rot="16200000">
                <a:off x="6738984" y="2136557"/>
                <a:ext cx="0" cy="1933003"/>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54" name="Straight Connector 53"/>
              <p:cNvCxnSpPr/>
              <p:nvPr/>
            </p:nvCxnSpPr>
            <p:spPr>
              <a:xfrm>
                <a:off x="7705486"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5" name="Straight Connector 54"/>
              <p:cNvCxnSpPr/>
              <p:nvPr/>
            </p:nvCxnSpPr>
            <p:spPr>
              <a:xfrm>
                <a:off x="5777908" y="3063547"/>
                <a:ext cx="0" cy="134086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6" name="Straight Connector 55"/>
              <p:cNvCxnSpPr/>
              <p:nvPr/>
            </p:nvCxnSpPr>
            <p:spPr>
              <a:xfrm rot="16200000">
                <a:off x="6738984" y="3390924"/>
                <a:ext cx="0" cy="1913864"/>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57" name="Straight Arrow Connector 56"/>
              <p:cNvCxnSpPr/>
              <p:nvPr/>
            </p:nvCxnSpPr>
            <p:spPr>
              <a:xfrm>
                <a:off x="5777908" y="3527257"/>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58" name="Line 11"/>
              <p:cNvSpPr>
                <a:spLocks noChangeShapeType="1"/>
              </p:cNvSpPr>
              <p:nvPr/>
            </p:nvSpPr>
            <p:spPr bwMode="auto">
              <a:xfrm flipH="1">
                <a:off x="6546838" y="43517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9" name="Straight Arrow Connector 58"/>
              <p:cNvCxnSpPr/>
              <p:nvPr/>
            </p:nvCxnSpPr>
            <p:spPr>
              <a:xfrm flipV="1">
                <a:off x="7706426" y="351366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22186804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Ideal Rankine Power Cycle Problems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32</a:t>
            </a:fld>
            <a:endParaRPr lang="en-US" dirty="0"/>
          </a:p>
        </p:txBody>
      </p:sp>
      <p:sp>
        <p:nvSpPr>
          <p:cNvPr id="5" name="Content Placeholder 2"/>
          <p:cNvSpPr txBox="1">
            <a:spLocks/>
          </p:cNvSpPr>
          <p:nvPr/>
        </p:nvSpPr>
        <p:spPr>
          <a:xfrm>
            <a:off x="238148" y="968188"/>
            <a:ext cx="5947170" cy="513677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500" b="1" dirty="0">
                <a:solidFill>
                  <a:srgbClr val="C00000"/>
                </a:solidFill>
              </a:rPr>
              <a:t>Problem 1</a:t>
            </a:r>
          </a:p>
          <a:p>
            <a:pPr marL="0" indent="0">
              <a:buNone/>
            </a:pPr>
            <a:r>
              <a:rPr lang="en-US" sz="2400" dirty="0"/>
              <a:t>Consider a 210-MW steam power plant that operates on a simple ideal Rankine cycle. Superheated steam enters the turbine at 10 MPa and 500 °C and is cooled in the condenser at a pressure of 10 kPa. Show the cycle on a T-s diagram with respect to saturation lines, and determine (a) the quality of the steam at the turbine exit, (b) the thermal efficiency of the cycle, and (c) the mass flow rate of the steam. </a:t>
            </a:r>
          </a:p>
          <a:p>
            <a:pPr marL="0" indent="0">
              <a:buNone/>
            </a:pPr>
            <a:r>
              <a:rPr lang="en-US" sz="2400" b="1" dirty="0">
                <a:solidFill>
                  <a:srgbClr val="002060"/>
                </a:solidFill>
              </a:rPr>
              <a:t>Suggested Answers: (a) 0.793, (b) 40.2 percent, (c) 165 kg/s</a:t>
            </a:r>
          </a:p>
        </p:txBody>
      </p:sp>
      <p:grpSp>
        <p:nvGrpSpPr>
          <p:cNvPr id="6" name="Group 5"/>
          <p:cNvGrpSpPr/>
          <p:nvPr/>
        </p:nvGrpSpPr>
        <p:grpSpPr>
          <a:xfrm>
            <a:off x="6668753" y="1122738"/>
            <a:ext cx="4585143" cy="2288902"/>
            <a:chOff x="457200" y="1482913"/>
            <a:chExt cx="5120184" cy="2854902"/>
          </a:xfrm>
        </p:grpSpPr>
        <p:grpSp>
          <p:nvGrpSpPr>
            <p:cNvPr id="7" name="Group 6"/>
            <p:cNvGrpSpPr>
              <a:grpSpLocks noChangeAspect="1"/>
            </p:cNvGrpSpPr>
            <p:nvPr/>
          </p:nvGrpSpPr>
          <p:grpSpPr>
            <a:xfrm>
              <a:off x="457200" y="1482913"/>
              <a:ext cx="5120184" cy="2854902"/>
              <a:chOff x="-105" y="838200"/>
              <a:chExt cx="9070720" cy="5057634"/>
            </a:xfrm>
          </p:grpSpPr>
          <p:cxnSp>
            <p:nvCxnSpPr>
              <p:cNvPr id="9" name="Straight Connector 8"/>
              <p:cNvCxnSpPr/>
              <p:nvPr/>
            </p:nvCxnSpPr>
            <p:spPr>
              <a:xfrm>
                <a:off x="1767938" y="4849001"/>
                <a:ext cx="1660255"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496880" y="3485257"/>
                <a:ext cx="492934" cy="6017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11" name="Rectangle 10"/>
              <p:cNvSpPr/>
              <p:nvPr/>
            </p:nvSpPr>
            <p:spPr>
              <a:xfrm>
                <a:off x="1780380" y="2911749"/>
                <a:ext cx="448122" cy="4973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cxnSp>
            <p:nvCxnSpPr>
              <p:cNvPr id="12" name="Straight Connector 11"/>
              <p:cNvCxnSpPr/>
              <p:nvPr/>
            </p:nvCxnSpPr>
            <p:spPr>
              <a:xfrm>
                <a:off x="5087488" y="2131895"/>
                <a:ext cx="166025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6747743" y="2091820"/>
                <a:ext cx="0" cy="881653"/>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428193" y="1904201"/>
                <a:ext cx="1653420" cy="455388"/>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Boiler</a:t>
                </a:r>
              </a:p>
            </p:txBody>
          </p:sp>
          <p:sp>
            <p:nvSpPr>
              <p:cNvPr id="15" name="Rectangle 14"/>
              <p:cNvSpPr/>
              <p:nvPr/>
            </p:nvSpPr>
            <p:spPr>
              <a:xfrm>
                <a:off x="3345522" y="4573013"/>
                <a:ext cx="1818761" cy="455389"/>
              </a:xfrm>
              <a:prstGeom prst="rect">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1100" b="1" dirty="0"/>
                  <a:t>Condenser</a:t>
                </a:r>
              </a:p>
            </p:txBody>
          </p:sp>
          <p:sp>
            <p:nvSpPr>
              <p:cNvPr id="16" name="Trapezoid 15"/>
              <p:cNvSpPr/>
              <p:nvPr/>
            </p:nvSpPr>
            <p:spPr>
              <a:xfrm rot="16200000">
                <a:off x="6435569" y="2792803"/>
                <a:ext cx="1248992" cy="1234244"/>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b="1" dirty="0"/>
                  <a:t>Turbine</a:t>
                </a:r>
              </a:p>
            </p:txBody>
          </p:sp>
          <p:cxnSp>
            <p:nvCxnSpPr>
              <p:cNvPr id="17" name="Straight Connector 16"/>
              <p:cNvCxnSpPr/>
              <p:nvPr/>
            </p:nvCxnSpPr>
            <p:spPr>
              <a:xfrm>
                <a:off x="5132195" y="4783480"/>
                <a:ext cx="2392896" cy="0"/>
              </a:xfrm>
              <a:prstGeom prst="line">
                <a:avLst/>
              </a:prstGeom>
              <a:ln w="76200">
                <a:solidFill>
                  <a:schemeClr val="bg2">
                    <a:lumMod val="9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7509743" y="3998298"/>
                <a:ext cx="0" cy="801503"/>
              </a:xfrm>
              <a:prstGeom prst="straightConnector1">
                <a:avLst/>
              </a:prstGeom>
              <a:ln w="76200">
                <a:solidFill>
                  <a:schemeClr val="bg2">
                    <a:lumMod val="9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9" name="Flowchart: Connector 18"/>
              <p:cNvSpPr/>
              <p:nvPr/>
            </p:nvSpPr>
            <p:spPr>
              <a:xfrm>
                <a:off x="1154002" y="3059648"/>
                <a:ext cx="1638813" cy="923524"/>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Pump</a:t>
                </a:r>
              </a:p>
            </p:txBody>
          </p:sp>
          <p:cxnSp>
            <p:nvCxnSpPr>
              <p:cNvPr id="20" name="Straight Connector 19"/>
              <p:cNvCxnSpPr/>
              <p:nvPr/>
            </p:nvCxnSpPr>
            <p:spPr>
              <a:xfrm>
                <a:off x="1922492" y="2131895"/>
                <a:ext cx="1509323" cy="0"/>
              </a:xfrm>
              <a:prstGeom prst="line">
                <a:avLst/>
              </a:prstGeom>
              <a:ln w="76200">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1964351" y="2141727"/>
                <a:ext cx="0" cy="728639"/>
              </a:xfrm>
              <a:prstGeom prst="straightConnector1">
                <a:avLst/>
              </a:prstGeom>
              <a:ln w="762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1763022" y="4066266"/>
                <a:ext cx="0" cy="801503"/>
              </a:xfrm>
              <a:prstGeom prst="straightConnector1">
                <a:avLst/>
              </a:prstGeom>
              <a:ln w="762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3" name="Trapezoid 22"/>
              <p:cNvSpPr/>
              <p:nvPr/>
            </p:nvSpPr>
            <p:spPr>
              <a:xfrm rot="16200000">
                <a:off x="6378570" y="2681644"/>
                <a:ext cx="1248992" cy="1483068"/>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sz="1100" b="1" dirty="0"/>
                  <a:t>Turbine</a:t>
                </a:r>
              </a:p>
            </p:txBody>
          </p:sp>
          <p:sp>
            <p:nvSpPr>
              <p:cNvPr id="24" name="Down Arrow 23"/>
              <p:cNvSpPr/>
              <p:nvPr/>
            </p:nvSpPr>
            <p:spPr>
              <a:xfrm>
                <a:off x="3556097" y="838200"/>
                <a:ext cx="1397611" cy="1002704"/>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in</a:t>
                </a:r>
              </a:p>
            </p:txBody>
          </p:sp>
          <p:sp>
            <p:nvSpPr>
              <p:cNvPr id="25" name="Down Arrow 24"/>
              <p:cNvSpPr/>
              <p:nvPr/>
            </p:nvSpPr>
            <p:spPr>
              <a:xfrm>
                <a:off x="3821865" y="5210291"/>
                <a:ext cx="1007179" cy="685543"/>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100" b="1" dirty="0" err="1">
                    <a:solidFill>
                      <a:schemeClr val="tx1"/>
                    </a:solidFill>
                  </a:rPr>
                  <a:t>Qout</a:t>
                </a:r>
                <a:endParaRPr lang="fr-FR" sz="1100" b="1" baseline="-25000" dirty="0">
                  <a:solidFill>
                    <a:schemeClr val="tx1"/>
                  </a:solidFill>
                </a:endParaRPr>
              </a:p>
            </p:txBody>
          </p:sp>
          <p:sp>
            <p:nvSpPr>
              <p:cNvPr id="26" name="Right Arrow 25"/>
              <p:cNvSpPr/>
              <p:nvPr/>
            </p:nvSpPr>
            <p:spPr>
              <a:xfrm>
                <a:off x="7729495" y="2980871"/>
                <a:ext cx="1341120" cy="76826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err="1"/>
                  <a:t>Wout</a:t>
                </a:r>
                <a:endParaRPr lang="en-US" sz="1100" b="1" dirty="0"/>
              </a:p>
            </p:txBody>
          </p:sp>
          <p:sp>
            <p:nvSpPr>
              <p:cNvPr id="27" name="Right Arrow 26"/>
              <p:cNvSpPr/>
              <p:nvPr/>
            </p:nvSpPr>
            <p:spPr>
              <a:xfrm>
                <a:off x="-105" y="3304577"/>
                <a:ext cx="1161707" cy="5984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tx1"/>
                    </a:solidFill>
                  </a:rPr>
                  <a:t>Win</a:t>
                </a:r>
              </a:p>
            </p:txBody>
          </p:sp>
          <p:sp>
            <p:nvSpPr>
              <p:cNvPr id="28" name="Oval 27"/>
              <p:cNvSpPr/>
              <p:nvPr/>
            </p:nvSpPr>
            <p:spPr>
              <a:xfrm>
                <a:off x="6002770" y="1426335"/>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2</a:t>
                </a:r>
              </a:p>
            </p:txBody>
          </p:sp>
          <p:sp>
            <p:nvSpPr>
              <p:cNvPr id="29" name="Oval 28"/>
              <p:cNvSpPr/>
              <p:nvPr/>
            </p:nvSpPr>
            <p:spPr>
              <a:xfrm>
                <a:off x="6901613" y="4767162"/>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3</a:t>
                </a:r>
              </a:p>
            </p:txBody>
          </p:sp>
          <p:sp>
            <p:nvSpPr>
              <p:cNvPr id="30" name="Oval 29"/>
              <p:cNvSpPr/>
              <p:nvPr/>
            </p:nvSpPr>
            <p:spPr>
              <a:xfrm>
                <a:off x="947753" y="4918726"/>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4</a:t>
                </a:r>
              </a:p>
            </p:txBody>
          </p:sp>
        </p:grpSp>
        <p:sp>
          <p:nvSpPr>
            <p:cNvPr id="8" name="Oval 7"/>
            <p:cNvSpPr/>
            <p:nvPr/>
          </p:nvSpPr>
          <p:spPr>
            <a:xfrm>
              <a:off x="1145567" y="1858314"/>
              <a:ext cx="841034" cy="381198"/>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1</a:t>
              </a:r>
            </a:p>
          </p:txBody>
        </p:sp>
      </p:grpSp>
      <p:grpSp>
        <p:nvGrpSpPr>
          <p:cNvPr id="31" name="Group 30"/>
          <p:cNvGrpSpPr>
            <a:grpSpLocks noChangeAspect="1"/>
          </p:cNvGrpSpPr>
          <p:nvPr/>
        </p:nvGrpSpPr>
        <p:grpSpPr>
          <a:xfrm>
            <a:off x="7168240" y="3642050"/>
            <a:ext cx="3091362" cy="2658973"/>
            <a:chOff x="4572000" y="1752600"/>
            <a:chExt cx="4561196" cy="3923219"/>
          </a:xfrm>
        </p:grpSpPr>
        <p:cxnSp>
          <p:nvCxnSpPr>
            <p:cNvPr id="32" name="Straight Arrow Connector 31"/>
            <p:cNvCxnSpPr/>
            <p:nvPr/>
          </p:nvCxnSpPr>
          <p:spPr>
            <a:xfrm>
              <a:off x="5767136" y="391809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33" name="Line 5"/>
            <p:cNvSpPr>
              <a:spLocks noChangeShapeType="1"/>
            </p:cNvSpPr>
            <p:nvPr/>
          </p:nvSpPr>
          <p:spPr bwMode="auto">
            <a:xfrm flipV="1">
              <a:off x="5081081" y="17526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4" name="Line 6"/>
            <p:cNvSpPr>
              <a:spLocks noChangeShapeType="1"/>
            </p:cNvSpPr>
            <p:nvPr/>
          </p:nvSpPr>
          <p:spPr bwMode="auto">
            <a:xfrm>
              <a:off x="5093368" y="5346032"/>
              <a:ext cx="4039828"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5" name="Text Box 13"/>
            <p:cNvSpPr txBox="1">
              <a:spLocks noChangeArrowheads="1"/>
            </p:cNvSpPr>
            <p:nvPr/>
          </p:nvSpPr>
          <p:spPr bwMode="auto">
            <a:xfrm>
              <a:off x="8552769" y="52946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6" name="Text Box 14"/>
            <p:cNvSpPr txBox="1">
              <a:spLocks noChangeArrowheads="1"/>
            </p:cNvSpPr>
            <p:nvPr/>
          </p:nvSpPr>
          <p:spPr bwMode="auto">
            <a:xfrm>
              <a:off x="4609256" y="19231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7" name="Text Box 19"/>
            <p:cNvSpPr txBox="1">
              <a:spLocks noChangeArrowheads="1"/>
            </p:cNvSpPr>
            <p:nvPr/>
          </p:nvSpPr>
          <p:spPr bwMode="auto">
            <a:xfrm>
              <a:off x="5514397" y="3134337"/>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38" name="Text Box 22"/>
            <p:cNvSpPr txBox="1">
              <a:spLocks noChangeArrowheads="1"/>
            </p:cNvSpPr>
            <p:nvPr/>
          </p:nvSpPr>
          <p:spPr bwMode="auto">
            <a:xfrm>
              <a:off x="5562600" y="467299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40" name="Text Box 22"/>
            <p:cNvSpPr txBox="1">
              <a:spLocks noChangeArrowheads="1"/>
            </p:cNvSpPr>
            <p:nvPr/>
          </p:nvSpPr>
          <p:spPr bwMode="auto">
            <a:xfrm>
              <a:off x="7885119" y="2147115"/>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41" name="Text Box 22"/>
            <p:cNvSpPr txBox="1">
              <a:spLocks noChangeArrowheads="1"/>
            </p:cNvSpPr>
            <p:nvPr/>
          </p:nvSpPr>
          <p:spPr bwMode="auto">
            <a:xfrm>
              <a:off x="8042399" y="467299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42" name="Straight Connector 41"/>
            <p:cNvCxnSpPr/>
            <p:nvPr/>
          </p:nvCxnSpPr>
          <p:spPr>
            <a:xfrm>
              <a:off x="4944454" y="34436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3" name="Straight Connector 42"/>
            <p:cNvCxnSpPr/>
            <p:nvPr/>
          </p:nvCxnSpPr>
          <p:spPr>
            <a:xfrm>
              <a:off x="4944454" y="46891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4" name="Text Box 22"/>
            <p:cNvSpPr txBox="1">
              <a:spLocks noChangeArrowheads="1"/>
            </p:cNvSpPr>
            <p:nvPr/>
          </p:nvSpPr>
          <p:spPr bwMode="auto">
            <a:xfrm>
              <a:off x="4586288" y="32929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45" name="Text Box 22"/>
            <p:cNvSpPr txBox="1">
              <a:spLocks noChangeArrowheads="1"/>
            </p:cNvSpPr>
            <p:nvPr/>
          </p:nvSpPr>
          <p:spPr bwMode="auto">
            <a:xfrm>
              <a:off x="4572000" y="45727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46" name="Freeform 45"/>
            <p:cNvSpPr/>
            <p:nvPr/>
          </p:nvSpPr>
          <p:spPr>
            <a:xfrm>
              <a:off x="5726200" y="19508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cxnSp>
          <p:nvCxnSpPr>
            <p:cNvPr id="47" name="Straight Connector 46"/>
            <p:cNvCxnSpPr/>
            <p:nvPr/>
          </p:nvCxnSpPr>
          <p:spPr>
            <a:xfrm>
              <a:off x="8212507" y="2650029"/>
              <a:ext cx="0" cy="2002626"/>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48" name="Straight Connector 47"/>
            <p:cNvCxnSpPr/>
            <p:nvPr/>
          </p:nvCxnSpPr>
          <p:spPr>
            <a:xfrm>
              <a:off x="5767136" y="3661042"/>
              <a:ext cx="0" cy="1003198"/>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49" name="Straight Arrow Connector 48"/>
            <p:cNvCxnSpPr/>
            <p:nvPr/>
          </p:nvCxnSpPr>
          <p:spPr>
            <a:xfrm flipV="1">
              <a:off x="8212507" y="3788026"/>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nvGrpSpPr>
            <p:cNvPr id="50" name="Group 49"/>
            <p:cNvGrpSpPr/>
            <p:nvPr/>
          </p:nvGrpSpPr>
          <p:grpSpPr>
            <a:xfrm>
              <a:off x="5440042" y="2087802"/>
              <a:ext cx="2948990" cy="1919764"/>
              <a:chOff x="5440042" y="2087802"/>
              <a:chExt cx="2948990" cy="1919764"/>
            </a:xfrm>
          </p:grpSpPr>
          <p:sp>
            <p:nvSpPr>
              <p:cNvPr id="56" name="Line 11"/>
              <p:cNvSpPr>
                <a:spLocks noChangeShapeType="1"/>
              </p:cNvSpPr>
              <p:nvPr/>
            </p:nvSpPr>
            <p:spPr bwMode="auto">
              <a:xfrm>
                <a:off x="6580670" y="34085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7" name="Straight Connector 56"/>
              <p:cNvCxnSpPr/>
              <p:nvPr/>
            </p:nvCxnSpPr>
            <p:spPr>
              <a:xfrm rot="16200000">
                <a:off x="6976816" y="2421930"/>
                <a:ext cx="0" cy="1971856"/>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a:xfrm flipV="1">
                <a:off x="7950350" y="2087802"/>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9" name="Straight Connector 58"/>
              <p:cNvCxnSpPr/>
              <p:nvPr/>
            </p:nvCxnSpPr>
            <p:spPr>
              <a:xfrm flipV="1">
                <a:off x="5440042" y="3416444"/>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nvGrpSpPr>
            <p:cNvPr id="51" name="Group 50"/>
            <p:cNvGrpSpPr/>
            <p:nvPr/>
          </p:nvGrpSpPr>
          <p:grpSpPr>
            <a:xfrm>
              <a:off x="5185066" y="3371988"/>
              <a:ext cx="3757243" cy="1868175"/>
              <a:chOff x="5185066" y="3371988"/>
              <a:chExt cx="3757243" cy="1868175"/>
            </a:xfrm>
          </p:grpSpPr>
          <p:cxnSp>
            <p:nvCxnSpPr>
              <p:cNvPr id="52" name="Straight Connector 51"/>
              <p:cNvCxnSpPr/>
              <p:nvPr/>
            </p:nvCxnSpPr>
            <p:spPr>
              <a:xfrm rot="16200000">
                <a:off x="7133356" y="3251612"/>
                <a:ext cx="0" cy="280208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3" name="Line 11"/>
              <p:cNvSpPr>
                <a:spLocks noChangeShapeType="1"/>
              </p:cNvSpPr>
              <p:nvPr/>
            </p:nvSpPr>
            <p:spPr bwMode="auto">
              <a:xfrm flipH="1">
                <a:off x="6784670" y="46565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4" name="Straight Connector 53"/>
              <p:cNvCxnSpPr/>
              <p:nvPr/>
            </p:nvCxnSpPr>
            <p:spPr>
              <a:xfrm flipV="1">
                <a:off x="8503627" y="3371988"/>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5" name="Straight Connector 54"/>
              <p:cNvCxnSpPr/>
              <p:nvPr/>
            </p:nvCxnSpPr>
            <p:spPr>
              <a:xfrm flipV="1">
                <a:off x="5185066" y="4649041"/>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34368056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Ideal Rankine Power Cycle Problems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33</a:t>
            </a:fld>
            <a:endParaRPr lang="en-US" dirty="0"/>
          </a:p>
        </p:txBody>
      </p:sp>
      <p:sp>
        <p:nvSpPr>
          <p:cNvPr id="5" name="Content Placeholder 2"/>
          <p:cNvSpPr txBox="1">
            <a:spLocks/>
          </p:cNvSpPr>
          <p:nvPr/>
        </p:nvSpPr>
        <p:spPr>
          <a:xfrm>
            <a:off x="238148" y="968188"/>
            <a:ext cx="5692005" cy="513677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500" b="1" dirty="0">
                <a:solidFill>
                  <a:srgbClr val="C00000"/>
                </a:solidFill>
              </a:rPr>
              <a:t>Problem 2</a:t>
            </a:r>
          </a:p>
          <a:p>
            <a:pPr marL="0" indent="0">
              <a:buNone/>
            </a:pPr>
            <a:r>
              <a:rPr lang="en-US" sz="2400" dirty="0"/>
              <a:t>A simple ideal Rankine cycle operates between</a:t>
            </a:r>
          </a:p>
          <a:p>
            <a:pPr marL="0" indent="0">
              <a:buNone/>
            </a:pPr>
            <a:r>
              <a:rPr lang="en-US" sz="2400" dirty="0"/>
              <a:t>the pressure limits of 10 kPa and 3 MPa, with a turbine inlet temperature of 600 °C. Disregarding the pump work, determine the cycle efficiency. </a:t>
            </a:r>
          </a:p>
          <a:p>
            <a:pPr marL="0" indent="0">
              <a:buNone/>
            </a:pPr>
            <a:r>
              <a:rPr lang="en-US" sz="2400" b="1" dirty="0">
                <a:solidFill>
                  <a:srgbClr val="002060"/>
                </a:solidFill>
              </a:rPr>
              <a:t>Suggested Answers: </a:t>
            </a:r>
            <a:r>
              <a:rPr lang="en-US" sz="2400" b="1" dirty="0" smtClean="0">
                <a:solidFill>
                  <a:srgbClr val="002060"/>
                </a:solidFill>
              </a:rPr>
              <a:t>37.3%</a:t>
            </a:r>
            <a:endParaRPr lang="en-US" sz="2400" b="1" dirty="0">
              <a:solidFill>
                <a:srgbClr val="002060"/>
              </a:solidFill>
            </a:endParaRPr>
          </a:p>
        </p:txBody>
      </p:sp>
      <p:grpSp>
        <p:nvGrpSpPr>
          <p:cNvPr id="6" name="Group 5"/>
          <p:cNvGrpSpPr/>
          <p:nvPr/>
        </p:nvGrpSpPr>
        <p:grpSpPr>
          <a:xfrm>
            <a:off x="6668753" y="1122738"/>
            <a:ext cx="4585143" cy="2288902"/>
            <a:chOff x="457200" y="1482913"/>
            <a:chExt cx="5120184" cy="2854902"/>
          </a:xfrm>
        </p:grpSpPr>
        <p:grpSp>
          <p:nvGrpSpPr>
            <p:cNvPr id="7" name="Group 6"/>
            <p:cNvGrpSpPr>
              <a:grpSpLocks noChangeAspect="1"/>
            </p:cNvGrpSpPr>
            <p:nvPr/>
          </p:nvGrpSpPr>
          <p:grpSpPr>
            <a:xfrm>
              <a:off x="457200" y="1482913"/>
              <a:ext cx="5120184" cy="2854902"/>
              <a:chOff x="-105" y="838200"/>
              <a:chExt cx="9070720" cy="5057634"/>
            </a:xfrm>
          </p:grpSpPr>
          <p:cxnSp>
            <p:nvCxnSpPr>
              <p:cNvPr id="9" name="Straight Connector 8"/>
              <p:cNvCxnSpPr/>
              <p:nvPr/>
            </p:nvCxnSpPr>
            <p:spPr>
              <a:xfrm>
                <a:off x="1767938" y="4849001"/>
                <a:ext cx="1660255"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496880" y="3485257"/>
                <a:ext cx="492934" cy="6017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11" name="Rectangle 10"/>
              <p:cNvSpPr/>
              <p:nvPr/>
            </p:nvSpPr>
            <p:spPr>
              <a:xfrm>
                <a:off x="1780380" y="2911749"/>
                <a:ext cx="448122" cy="4973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cxnSp>
            <p:nvCxnSpPr>
              <p:cNvPr id="12" name="Straight Connector 11"/>
              <p:cNvCxnSpPr/>
              <p:nvPr/>
            </p:nvCxnSpPr>
            <p:spPr>
              <a:xfrm>
                <a:off x="5087488" y="2131895"/>
                <a:ext cx="1660255" cy="0"/>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6747743" y="2091820"/>
                <a:ext cx="0" cy="881653"/>
              </a:xfrm>
              <a:prstGeom prst="straightConnector1">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428193" y="1904201"/>
                <a:ext cx="1653420" cy="455388"/>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Boiler</a:t>
                </a:r>
              </a:p>
            </p:txBody>
          </p:sp>
          <p:sp>
            <p:nvSpPr>
              <p:cNvPr id="15" name="Rectangle 14"/>
              <p:cNvSpPr/>
              <p:nvPr/>
            </p:nvSpPr>
            <p:spPr>
              <a:xfrm>
                <a:off x="3345522" y="4573013"/>
                <a:ext cx="1818761" cy="455389"/>
              </a:xfrm>
              <a:prstGeom prst="rect">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1100" b="1" dirty="0"/>
                  <a:t>Condenser</a:t>
                </a:r>
              </a:p>
            </p:txBody>
          </p:sp>
          <p:sp>
            <p:nvSpPr>
              <p:cNvPr id="16" name="Trapezoid 15"/>
              <p:cNvSpPr/>
              <p:nvPr/>
            </p:nvSpPr>
            <p:spPr>
              <a:xfrm rot="16200000">
                <a:off x="6435569" y="2792803"/>
                <a:ext cx="1248992" cy="1234244"/>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b="1" dirty="0"/>
                  <a:t>Turbine</a:t>
                </a:r>
              </a:p>
            </p:txBody>
          </p:sp>
          <p:cxnSp>
            <p:nvCxnSpPr>
              <p:cNvPr id="17" name="Straight Connector 16"/>
              <p:cNvCxnSpPr/>
              <p:nvPr/>
            </p:nvCxnSpPr>
            <p:spPr>
              <a:xfrm>
                <a:off x="5132195" y="4783480"/>
                <a:ext cx="2392896" cy="0"/>
              </a:xfrm>
              <a:prstGeom prst="line">
                <a:avLst/>
              </a:prstGeom>
              <a:ln w="76200">
                <a:solidFill>
                  <a:schemeClr val="bg2">
                    <a:lumMod val="9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7509743" y="3998298"/>
                <a:ext cx="0" cy="801503"/>
              </a:xfrm>
              <a:prstGeom prst="straightConnector1">
                <a:avLst/>
              </a:prstGeom>
              <a:ln w="76200">
                <a:solidFill>
                  <a:schemeClr val="bg2">
                    <a:lumMod val="90000"/>
                  </a:schemeClr>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9" name="Flowchart: Connector 18"/>
              <p:cNvSpPr/>
              <p:nvPr/>
            </p:nvSpPr>
            <p:spPr>
              <a:xfrm>
                <a:off x="1154002" y="3059648"/>
                <a:ext cx="1638813" cy="923524"/>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t>Pump</a:t>
                </a:r>
              </a:p>
            </p:txBody>
          </p:sp>
          <p:cxnSp>
            <p:nvCxnSpPr>
              <p:cNvPr id="20" name="Straight Connector 19"/>
              <p:cNvCxnSpPr/>
              <p:nvPr/>
            </p:nvCxnSpPr>
            <p:spPr>
              <a:xfrm>
                <a:off x="1922492" y="2131895"/>
                <a:ext cx="1509323" cy="0"/>
              </a:xfrm>
              <a:prstGeom prst="line">
                <a:avLst/>
              </a:prstGeom>
              <a:ln w="76200">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a:off x="1964351" y="2141727"/>
                <a:ext cx="0" cy="728639"/>
              </a:xfrm>
              <a:prstGeom prst="straightConnector1">
                <a:avLst/>
              </a:prstGeom>
              <a:ln w="762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1763022" y="4066266"/>
                <a:ext cx="0" cy="801503"/>
              </a:xfrm>
              <a:prstGeom prst="straightConnector1">
                <a:avLst/>
              </a:prstGeom>
              <a:ln w="762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3" name="Trapezoid 22"/>
              <p:cNvSpPr/>
              <p:nvPr/>
            </p:nvSpPr>
            <p:spPr>
              <a:xfrm rot="16200000">
                <a:off x="6378570" y="2681644"/>
                <a:ext cx="1248992" cy="1483068"/>
              </a:xfrm>
              <a:prstGeom prst="trapezoid">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1"/>
              </a:lnRef>
              <a:fillRef idx="3">
                <a:schemeClr val="accent1"/>
              </a:fillRef>
              <a:effectRef idx="2">
                <a:schemeClr val="accent1"/>
              </a:effectRef>
              <a:fontRef idx="minor">
                <a:schemeClr val="lt1"/>
              </a:fontRef>
            </p:style>
            <p:txBody>
              <a:bodyPr vert="vert" rtlCol="0" anchor="ctr"/>
              <a:lstStyle/>
              <a:p>
                <a:pPr algn="ctr"/>
                <a:r>
                  <a:rPr lang="en-US" sz="1100" b="1" dirty="0"/>
                  <a:t>Turbine</a:t>
                </a:r>
              </a:p>
            </p:txBody>
          </p:sp>
          <p:sp>
            <p:nvSpPr>
              <p:cNvPr id="24" name="Down Arrow 23"/>
              <p:cNvSpPr/>
              <p:nvPr/>
            </p:nvSpPr>
            <p:spPr>
              <a:xfrm>
                <a:off x="3556097" y="838200"/>
                <a:ext cx="1397611" cy="1002704"/>
              </a:xfrm>
              <a:prstGeom prst="downArrow">
                <a:avLst>
                  <a:gd name="adj1" fmla="val 100000"/>
                  <a:gd name="adj2" fmla="val 1142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t>Q</a:t>
                </a:r>
                <a:r>
                  <a:rPr lang="fr-FR" sz="1400" b="1" baseline="-25000" dirty="0"/>
                  <a:t>in</a:t>
                </a:r>
              </a:p>
            </p:txBody>
          </p:sp>
          <p:sp>
            <p:nvSpPr>
              <p:cNvPr id="25" name="Down Arrow 24"/>
              <p:cNvSpPr/>
              <p:nvPr/>
            </p:nvSpPr>
            <p:spPr>
              <a:xfrm>
                <a:off x="3821865" y="5210291"/>
                <a:ext cx="1007179" cy="685543"/>
              </a:xfrm>
              <a:prstGeom prst="downArrow">
                <a:avLst>
                  <a:gd name="adj1" fmla="val 100000"/>
                  <a:gd name="adj2" fmla="val 11420"/>
                </a:avLst>
              </a:prstGeom>
              <a:solidFill>
                <a:schemeClr val="tx2">
                  <a:lumMod val="20000"/>
                  <a:lumOff val="80000"/>
                </a:schemeClr>
              </a:solidFill>
              <a:ln w="76200">
                <a:solidFill>
                  <a:schemeClr val="tx2">
                    <a:lumMod val="20000"/>
                    <a:lumOff val="8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r>
                  <a:rPr lang="fr-FR" sz="1100" b="1" dirty="0" err="1">
                    <a:solidFill>
                      <a:schemeClr val="tx1"/>
                    </a:solidFill>
                  </a:rPr>
                  <a:t>Qout</a:t>
                </a:r>
                <a:endParaRPr lang="fr-FR" sz="1100" b="1" baseline="-25000" dirty="0">
                  <a:solidFill>
                    <a:schemeClr val="tx1"/>
                  </a:solidFill>
                </a:endParaRPr>
              </a:p>
            </p:txBody>
          </p:sp>
          <p:sp>
            <p:nvSpPr>
              <p:cNvPr id="26" name="Right Arrow 25"/>
              <p:cNvSpPr/>
              <p:nvPr/>
            </p:nvSpPr>
            <p:spPr>
              <a:xfrm>
                <a:off x="7729495" y="2980871"/>
                <a:ext cx="1341120" cy="76826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err="1"/>
                  <a:t>Wout</a:t>
                </a:r>
                <a:endParaRPr lang="en-US" sz="1100" b="1" dirty="0"/>
              </a:p>
            </p:txBody>
          </p:sp>
          <p:sp>
            <p:nvSpPr>
              <p:cNvPr id="27" name="Right Arrow 26"/>
              <p:cNvSpPr/>
              <p:nvPr/>
            </p:nvSpPr>
            <p:spPr>
              <a:xfrm>
                <a:off x="-105" y="3304577"/>
                <a:ext cx="1161707" cy="59845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tx1"/>
                    </a:solidFill>
                  </a:rPr>
                  <a:t>Win</a:t>
                </a:r>
              </a:p>
            </p:txBody>
          </p:sp>
          <p:sp>
            <p:nvSpPr>
              <p:cNvPr id="28" name="Oval 27"/>
              <p:cNvSpPr/>
              <p:nvPr/>
            </p:nvSpPr>
            <p:spPr>
              <a:xfrm>
                <a:off x="6002770" y="1426335"/>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2</a:t>
                </a:r>
              </a:p>
            </p:txBody>
          </p:sp>
          <p:sp>
            <p:nvSpPr>
              <p:cNvPr id="29" name="Oval 28"/>
              <p:cNvSpPr/>
              <p:nvPr/>
            </p:nvSpPr>
            <p:spPr>
              <a:xfrm>
                <a:off x="6901613" y="4767162"/>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3</a:t>
                </a:r>
              </a:p>
            </p:txBody>
          </p:sp>
          <p:sp>
            <p:nvSpPr>
              <p:cNvPr id="30" name="Oval 29"/>
              <p:cNvSpPr/>
              <p:nvPr/>
            </p:nvSpPr>
            <p:spPr>
              <a:xfrm>
                <a:off x="947753" y="4918726"/>
                <a:ext cx="1489943" cy="675316"/>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4</a:t>
                </a:r>
              </a:p>
            </p:txBody>
          </p:sp>
        </p:grpSp>
        <p:sp>
          <p:nvSpPr>
            <p:cNvPr id="8" name="Oval 7"/>
            <p:cNvSpPr/>
            <p:nvPr/>
          </p:nvSpPr>
          <p:spPr>
            <a:xfrm>
              <a:off x="1145567" y="1858314"/>
              <a:ext cx="841034" cy="381198"/>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002060"/>
                  </a:solidFill>
                </a:rPr>
                <a:t>1</a:t>
              </a:r>
            </a:p>
          </p:txBody>
        </p:sp>
      </p:grpSp>
      <p:grpSp>
        <p:nvGrpSpPr>
          <p:cNvPr id="31" name="Group 30"/>
          <p:cNvGrpSpPr>
            <a:grpSpLocks noChangeAspect="1"/>
          </p:cNvGrpSpPr>
          <p:nvPr/>
        </p:nvGrpSpPr>
        <p:grpSpPr>
          <a:xfrm>
            <a:off x="7168240" y="3642050"/>
            <a:ext cx="3091362" cy="2658973"/>
            <a:chOff x="4572000" y="1752600"/>
            <a:chExt cx="4561196" cy="3923219"/>
          </a:xfrm>
        </p:grpSpPr>
        <p:cxnSp>
          <p:nvCxnSpPr>
            <p:cNvPr id="32" name="Straight Arrow Connector 31"/>
            <p:cNvCxnSpPr/>
            <p:nvPr/>
          </p:nvCxnSpPr>
          <p:spPr>
            <a:xfrm>
              <a:off x="5767136" y="3918091"/>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33" name="Line 5"/>
            <p:cNvSpPr>
              <a:spLocks noChangeShapeType="1"/>
            </p:cNvSpPr>
            <p:nvPr/>
          </p:nvSpPr>
          <p:spPr bwMode="auto">
            <a:xfrm flipV="1">
              <a:off x="5081081" y="1752600"/>
              <a:ext cx="0" cy="3601327"/>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4" name="Line 6"/>
            <p:cNvSpPr>
              <a:spLocks noChangeShapeType="1"/>
            </p:cNvSpPr>
            <p:nvPr/>
          </p:nvSpPr>
          <p:spPr bwMode="auto">
            <a:xfrm>
              <a:off x="5093368" y="5346032"/>
              <a:ext cx="4039828" cy="0"/>
            </a:xfrm>
            <a:prstGeom prst="line">
              <a:avLst/>
            </a:prstGeom>
            <a:noFill/>
            <a:ln w="12700">
              <a:solidFill>
                <a:srgbClr val="0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sp>
          <p:nvSpPr>
            <p:cNvPr id="35" name="Text Box 13"/>
            <p:cNvSpPr txBox="1">
              <a:spLocks noChangeArrowheads="1"/>
            </p:cNvSpPr>
            <p:nvPr/>
          </p:nvSpPr>
          <p:spPr bwMode="auto">
            <a:xfrm>
              <a:off x="8552769" y="5294698"/>
              <a:ext cx="372709" cy="381121"/>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S</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6" name="Text Box 14"/>
            <p:cNvSpPr txBox="1">
              <a:spLocks noChangeArrowheads="1"/>
            </p:cNvSpPr>
            <p:nvPr/>
          </p:nvSpPr>
          <p:spPr bwMode="auto">
            <a:xfrm>
              <a:off x="4609256" y="1923113"/>
              <a:ext cx="393963"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ts val="1000"/>
                </a:spcAft>
                <a:buClrTx/>
                <a:buSzTx/>
                <a:buFontTx/>
                <a:buNone/>
                <a:tabLst/>
              </a:pPr>
              <a:r>
                <a:rPr kumimoji="0" lang="en-GB" sz="1400" b="1" i="0" u="none" strike="noStrike" cap="none" normalizeH="0" baseline="0" dirty="0">
                  <a:ln>
                    <a:noFill/>
                  </a:ln>
                  <a:solidFill>
                    <a:schemeClr val="tx1"/>
                  </a:solidFill>
                  <a:effectLst/>
                  <a:latin typeface="Calibri" pitchFamily="34" charset="0"/>
                  <a:cs typeface="Arial" pitchFamily="34" charset="0"/>
                </a:rPr>
                <a:t>T</a:t>
              </a:r>
              <a:endParaRPr kumimoji="0" lang="en-US" sz="1400" b="1" i="0" u="none" strike="noStrike" cap="none" normalizeH="0" baseline="0" dirty="0">
                <a:ln>
                  <a:noFill/>
                </a:ln>
                <a:solidFill>
                  <a:schemeClr val="tx1"/>
                </a:solidFill>
                <a:effectLst/>
                <a:latin typeface="Arial" pitchFamily="34" charset="0"/>
                <a:cs typeface="Arial" pitchFamily="34" charset="0"/>
              </a:endParaRPr>
            </a:p>
          </p:txBody>
        </p:sp>
        <p:sp>
          <p:nvSpPr>
            <p:cNvPr id="37" name="Text Box 19"/>
            <p:cNvSpPr txBox="1">
              <a:spLocks noChangeArrowheads="1"/>
            </p:cNvSpPr>
            <p:nvPr/>
          </p:nvSpPr>
          <p:spPr bwMode="auto">
            <a:xfrm>
              <a:off x="5514397" y="3134337"/>
              <a:ext cx="394722"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GB" sz="2000" b="1" i="0" u="none" strike="noStrike" cap="none" normalizeH="0" baseline="0" dirty="0">
                  <a:ln>
                    <a:noFill/>
                  </a:ln>
                  <a:solidFill>
                    <a:schemeClr val="tx1"/>
                  </a:solidFill>
                  <a:effectLst/>
                  <a:latin typeface="Calibri" pitchFamily="34" charset="0"/>
                  <a:cs typeface="Arial" pitchFamily="34" charset="0"/>
                </a:rPr>
                <a:t>1</a:t>
              </a:r>
              <a:endParaRPr kumimoji="0" lang="en-US" sz="2000" b="1" i="0" u="none" strike="noStrike" cap="none" normalizeH="0" baseline="0" dirty="0">
                <a:ln>
                  <a:noFill/>
                </a:ln>
                <a:solidFill>
                  <a:schemeClr val="tx1"/>
                </a:solidFill>
                <a:effectLst/>
                <a:latin typeface="Arial" pitchFamily="34" charset="0"/>
                <a:cs typeface="Arial" pitchFamily="34" charset="0"/>
              </a:endParaRPr>
            </a:p>
          </p:txBody>
        </p:sp>
        <p:sp>
          <p:nvSpPr>
            <p:cNvPr id="38" name="Text Box 22"/>
            <p:cNvSpPr txBox="1">
              <a:spLocks noChangeArrowheads="1"/>
            </p:cNvSpPr>
            <p:nvPr/>
          </p:nvSpPr>
          <p:spPr bwMode="auto">
            <a:xfrm>
              <a:off x="5562600" y="467299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4</a:t>
              </a:r>
            </a:p>
          </p:txBody>
        </p:sp>
        <p:sp>
          <p:nvSpPr>
            <p:cNvPr id="40" name="Text Box 22"/>
            <p:cNvSpPr txBox="1">
              <a:spLocks noChangeArrowheads="1"/>
            </p:cNvSpPr>
            <p:nvPr/>
          </p:nvSpPr>
          <p:spPr bwMode="auto">
            <a:xfrm>
              <a:off x="7885119" y="2147115"/>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2</a:t>
              </a:r>
            </a:p>
          </p:txBody>
        </p:sp>
        <p:sp>
          <p:nvSpPr>
            <p:cNvPr id="41" name="Text Box 22"/>
            <p:cNvSpPr txBox="1">
              <a:spLocks noChangeArrowheads="1"/>
            </p:cNvSpPr>
            <p:nvPr/>
          </p:nvSpPr>
          <p:spPr bwMode="auto">
            <a:xfrm>
              <a:off x="8042399" y="4672992"/>
              <a:ext cx="263401" cy="280008"/>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a:ln>
                    <a:noFill/>
                  </a:ln>
                  <a:solidFill>
                    <a:schemeClr val="tx1"/>
                  </a:solidFill>
                  <a:effectLst/>
                  <a:latin typeface="Arial" pitchFamily="34" charset="0"/>
                  <a:cs typeface="Arial" pitchFamily="34" charset="0"/>
                </a:rPr>
                <a:t>3</a:t>
              </a:r>
            </a:p>
          </p:txBody>
        </p:sp>
        <p:cxnSp>
          <p:nvCxnSpPr>
            <p:cNvPr id="42" name="Straight Connector 41"/>
            <p:cNvCxnSpPr/>
            <p:nvPr/>
          </p:nvCxnSpPr>
          <p:spPr>
            <a:xfrm>
              <a:off x="4944454" y="3443648"/>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43" name="Straight Connector 42"/>
            <p:cNvCxnSpPr/>
            <p:nvPr/>
          </p:nvCxnSpPr>
          <p:spPr>
            <a:xfrm>
              <a:off x="4944454" y="4689126"/>
              <a:ext cx="255384" cy="0"/>
            </a:xfrm>
            <a:prstGeom prst="line">
              <a:avLst/>
            </a:prstGeom>
            <a:ln w="3175">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44" name="Text Box 22"/>
            <p:cNvSpPr txBox="1">
              <a:spLocks noChangeArrowheads="1"/>
            </p:cNvSpPr>
            <p:nvPr/>
          </p:nvSpPr>
          <p:spPr bwMode="auto">
            <a:xfrm>
              <a:off x="4586288" y="3292900"/>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H</a:t>
              </a:r>
            </a:p>
          </p:txBody>
        </p:sp>
        <p:sp>
          <p:nvSpPr>
            <p:cNvPr id="45" name="Text Box 22"/>
            <p:cNvSpPr txBox="1">
              <a:spLocks noChangeArrowheads="1"/>
            </p:cNvSpPr>
            <p:nvPr/>
          </p:nvSpPr>
          <p:spPr bwMode="auto">
            <a:xfrm>
              <a:off x="4572000" y="4572744"/>
              <a:ext cx="570172" cy="292233"/>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400" b="1" i="0" u="none" strike="noStrike" cap="none" normalizeH="0" baseline="0" dirty="0">
                  <a:ln>
                    <a:noFill/>
                  </a:ln>
                  <a:solidFill>
                    <a:schemeClr val="tx1"/>
                  </a:solidFill>
                  <a:effectLst/>
                  <a:latin typeface="Arial" pitchFamily="34" charset="0"/>
                  <a:cs typeface="Arial" pitchFamily="34" charset="0"/>
                </a:rPr>
                <a:t>T</a:t>
              </a:r>
              <a:r>
                <a:rPr kumimoji="0" lang="en-US" sz="1400" b="1" i="0" u="none" strike="noStrike" cap="none" normalizeH="0" baseline="-25000" dirty="0">
                  <a:ln>
                    <a:noFill/>
                  </a:ln>
                  <a:solidFill>
                    <a:schemeClr val="tx1"/>
                  </a:solidFill>
                  <a:effectLst/>
                  <a:latin typeface="Arial" pitchFamily="34" charset="0"/>
                  <a:cs typeface="Arial" pitchFamily="34" charset="0"/>
                </a:rPr>
                <a:t>C</a:t>
              </a:r>
            </a:p>
          </p:txBody>
        </p:sp>
        <p:sp>
          <p:nvSpPr>
            <p:cNvPr id="46" name="Freeform 45"/>
            <p:cNvSpPr/>
            <p:nvPr/>
          </p:nvSpPr>
          <p:spPr>
            <a:xfrm>
              <a:off x="5726200" y="1950888"/>
              <a:ext cx="2967336" cy="3144944"/>
            </a:xfrm>
            <a:custGeom>
              <a:avLst/>
              <a:gdLst>
                <a:gd name="connsiteX0" fmla="*/ 0 w 3026979"/>
                <a:gd name="connsiteY0" fmla="*/ 2334063 h 2544270"/>
                <a:gd name="connsiteX1" fmla="*/ 493986 w 3026979"/>
                <a:gd name="connsiteY1" fmla="*/ 473732 h 2544270"/>
                <a:gd name="connsiteX2" fmla="*/ 1250731 w 3026979"/>
                <a:gd name="connsiteY2" fmla="*/ 766 h 2544270"/>
                <a:gd name="connsiteX3" fmla="*/ 2017986 w 3026979"/>
                <a:gd name="connsiteY3" fmla="*/ 536794 h 2544270"/>
                <a:gd name="connsiteX4" fmla="*/ 3026979 w 3026979"/>
                <a:gd name="connsiteY4" fmla="*/ 2544270 h 2544270"/>
                <a:gd name="connsiteX5" fmla="*/ 3026979 w 3026979"/>
                <a:gd name="connsiteY5" fmla="*/ 2544270 h 2544270"/>
                <a:gd name="connsiteX0" fmla="*/ 0 w 3026979"/>
                <a:gd name="connsiteY0" fmla="*/ 2648833 h 2859040"/>
                <a:gd name="connsiteX1" fmla="*/ 493986 w 3026979"/>
                <a:gd name="connsiteY1" fmla="*/ 788502 h 2859040"/>
                <a:gd name="connsiteX2" fmla="*/ 1229711 w 3026979"/>
                <a:gd name="connsiteY2" fmla="*/ 226 h 2859040"/>
                <a:gd name="connsiteX3" fmla="*/ 2017986 w 3026979"/>
                <a:gd name="connsiteY3" fmla="*/ 851564 h 2859040"/>
                <a:gd name="connsiteX4" fmla="*/ 3026979 w 3026979"/>
                <a:gd name="connsiteY4" fmla="*/ 2859040 h 2859040"/>
                <a:gd name="connsiteX5" fmla="*/ 3026979 w 3026979"/>
                <a:gd name="connsiteY5" fmla="*/ 2859040 h 285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979" h="2859040">
                  <a:moveTo>
                    <a:pt x="0" y="2648833"/>
                  </a:moveTo>
                  <a:cubicBezTo>
                    <a:pt x="142765" y="1913109"/>
                    <a:pt x="289034" y="1229936"/>
                    <a:pt x="493986" y="788502"/>
                  </a:cubicBezTo>
                  <a:cubicBezTo>
                    <a:pt x="698938" y="347068"/>
                    <a:pt x="975711" y="-10284"/>
                    <a:pt x="1229711" y="226"/>
                  </a:cubicBezTo>
                  <a:cubicBezTo>
                    <a:pt x="1483711" y="10736"/>
                    <a:pt x="1718441" y="375095"/>
                    <a:pt x="2017986" y="851564"/>
                  </a:cubicBezTo>
                  <a:cubicBezTo>
                    <a:pt x="2317531" y="1328033"/>
                    <a:pt x="3026979" y="2859040"/>
                    <a:pt x="3026979" y="2859040"/>
                  </a:cubicBezTo>
                  <a:lnTo>
                    <a:pt x="3026979" y="2859040"/>
                  </a:lnTo>
                </a:path>
              </a:pathLst>
            </a:custGeom>
            <a:noFill/>
            <a:ln w="12700" cap="flat" cmpd="sng">
              <a:solidFill>
                <a:srgbClr val="000000"/>
              </a:solidFill>
              <a:prstDash val="solid"/>
              <a:round/>
              <a:headEnd/>
              <a:tailEnd/>
            </a:ln>
            <a:effec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Arial" panose="020B0604020202020204" pitchFamily="34" charset="0"/>
                <a:cs typeface="Arial" panose="020B0604020202020204" pitchFamily="34" charset="0"/>
              </a:endParaRPr>
            </a:p>
          </p:txBody>
        </p:sp>
        <p:cxnSp>
          <p:nvCxnSpPr>
            <p:cNvPr id="47" name="Straight Connector 46"/>
            <p:cNvCxnSpPr/>
            <p:nvPr/>
          </p:nvCxnSpPr>
          <p:spPr>
            <a:xfrm>
              <a:off x="8212507" y="2650029"/>
              <a:ext cx="0" cy="2002626"/>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48" name="Straight Connector 47"/>
            <p:cNvCxnSpPr/>
            <p:nvPr/>
          </p:nvCxnSpPr>
          <p:spPr>
            <a:xfrm>
              <a:off x="5767136" y="3661042"/>
              <a:ext cx="0" cy="1003198"/>
            </a:xfrm>
            <a:prstGeom prst="line">
              <a:avLst/>
            </a:prstGeom>
            <a:ln w="38100">
              <a:solidFill>
                <a:srgbClr val="C00000"/>
              </a:solidFill>
              <a:headEnd type="oval" w="med" len="med"/>
              <a:tailEnd type="oval" w="med" len="med"/>
            </a:ln>
          </p:spPr>
          <p:style>
            <a:lnRef idx="2">
              <a:schemeClr val="dk1"/>
            </a:lnRef>
            <a:fillRef idx="0">
              <a:schemeClr val="dk1"/>
            </a:fillRef>
            <a:effectRef idx="1">
              <a:schemeClr val="dk1"/>
            </a:effectRef>
            <a:fontRef idx="minor">
              <a:schemeClr val="tx1"/>
            </a:fontRef>
          </p:style>
        </p:cxnSp>
        <p:cxnSp>
          <p:nvCxnSpPr>
            <p:cNvPr id="49" name="Straight Arrow Connector 48"/>
            <p:cNvCxnSpPr/>
            <p:nvPr/>
          </p:nvCxnSpPr>
          <p:spPr>
            <a:xfrm flipV="1">
              <a:off x="8212507" y="3788026"/>
              <a:ext cx="0" cy="501509"/>
            </a:xfrm>
            <a:prstGeom prst="straightConnector1">
              <a:avLst/>
            </a:prstGeom>
            <a:ln w="38100">
              <a:solidFill>
                <a:srgbClr val="C00000"/>
              </a:solidFill>
              <a:headEnd type="triangle" w="med" len="med"/>
              <a:tailEnd type="none" w="med" len="med"/>
            </a:ln>
          </p:spPr>
          <p:style>
            <a:lnRef idx="2">
              <a:schemeClr val="dk1"/>
            </a:lnRef>
            <a:fillRef idx="0">
              <a:schemeClr val="dk1"/>
            </a:fillRef>
            <a:effectRef idx="1">
              <a:schemeClr val="dk1"/>
            </a:effectRef>
            <a:fontRef idx="minor">
              <a:schemeClr val="tx1"/>
            </a:fontRef>
          </p:style>
        </p:cxnSp>
        <p:grpSp>
          <p:nvGrpSpPr>
            <p:cNvPr id="50" name="Group 49"/>
            <p:cNvGrpSpPr/>
            <p:nvPr/>
          </p:nvGrpSpPr>
          <p:grpSpPr>
            <a:xfrm>
              <a:off x="5440042" y="2087802"/>
              <a:ext cx="2948990" cy="1919764"/>
              <a:chOff x="5440042" y="2087802"/>
              <a:chExt cx="2948990" cy="1919764"/>
            </a:xfrm>
          </p:grpSpPr>
          <p:sp>
            <p:nvSpPr>
              <p:cNvPr id="56" name="Line 11"/>
              <p:cNvSpPr>
                <a:spLocks noChangeShapeType="1"/>
              </p:cNvSpPr>
              <p:nvPr/>
            </p:nvSpPr>
            <p:spPr bwMode="auto">
              <a:xfrm>
                <a:off x="6580670" y="3408550"/>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7" name="Straight Connector 56"/>
              <p:cNvCxnSpPr/>
              <p:nvPr/>
            </p:nvCxnSpPr>
            <p:spPr>
              <a:xfrm rot="16200000">
                <a:off x="6976816" y="2421930"/>
                <a:ext cx="0" cy="1971856"/>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a:xfrm flipV="1">
                <a:off x="7950350" y="2087802"/>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9" name="Straight Connector 58"/>
              <p:cNvCxnSpPr/>
              <p:nvPr/>
            </p:nvCxnSpPr>
            <p:spPr>
              <a:xfrm flipV="1">
                <a:off x="5440042" y="3416444"/>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nvGrpSpPr>
            <p:cNvPr id="51" name="Group 50"/>
            <p:cNvGrpSpPr/>
            <p:nvPr/>
          </p:nvGrpSpPr>
          <p:grpSpPr>
            <a:xfrm>
              <a:off x="5185066" y="3371988"/>
              <a:ext cx="3757243" cy="1868175"/>
              <a:chOff x="5185066" y="3371988"/>
              <a:chExt cx="3757243" cy="1868175"/>
            </a:xfrm>
          </p:grpSpPr>
          <p:cxnSp>
            <p:nvCxnSpPr>
              <p:cNvPr id="52" name="Straight Connector 51"/>
              <p:cNvCxnSpPr/>
              <p:nvPr/>
            </p:nvCxnSpPr>
            <p:spPr>
              <a:xfrm rot="16200000">
                <a:off x="7133356" y="3251612"/>
                <a:ext cx="0" cy="2802088"/>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53" name="Line 11"/>
              <p:cNvSpPr>
                <a:spLocks noChangeShapeType="1"/>
              </p:cNvSpPr>
              <p:nvPr/>
            </p:nvSpPr>
            <p:spPr bwMode="auto">
              <a:xfrm flipH="1">
                <a:off x="6784670" y="4656587"/>
                <a:ext cx="558000" cy="0"/>
              </a:xfrm>
              <a:prstGeom prst="line">
                <a:avLst/>
              </a:prstGeom>
              <a:noFill/>
              <a:ln w="38100">
                <a:solidFill>
                  <a:srgbClr val="C00000"/>
                </a:solidFill>
                <a:round/>
                <a:headEnd/>
                <a:tailEnd type="triangle" w="med" len="med"/>
              </a:ln>
              <a:effectLst/>
            </p:spPr>
            <p:txBody>
              <a:bodyPr vert="horz" wrap="square" lIns="91440" tIns="45720" rIns="91440" bIns="45720" numCol="1" anchor="t" anchorCtr="0" compatLnSpc="1">
                <a:prstTxWarp prst="textNoShape">
                  <a:avLst/>
                </a:prstTxWarp>
              </a:bodyPr>
              <a:lstStyle/>
              <a:p>
                <a:endParaRPr lang="en-US"/>
              </a:p>
            </p:txBody>
          </p:sp>
          <p:cxnSp>
            <p:nvCxnSpPr>
              <p:cNvPr id="54" name="Straight Connector 53"/>
              <p:cNvCxnSpPr/>
              <p:nvPr/>
            </p:nvCxnSpPr>
            <p:spPr>
              <a:xfrm flipV="1">
                <a:off x="8503627" y="3371988"/>
                <a:ext cx="438682" cy="1319363"/>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55" name="Straight Connector 54"/>
              <p:cNvCxnSpPr/>
              <p:nvPr/>
            </p:nvCxnSpPr>
            <p:spPr>
              <a:xfrm flipV="1">
                <a:off x="5185066" y="4649041"/>
                <a:ext cx="581018" cy="591122"/>
              </a:xfrm>
              <a:prstGeom prst="line">
                <a:avLst/>
              </a:prstGeom>
              <a:ln w="38100">
                <a:solidFill>
                  <a:srgbClr val="C00000"/>
                </a:solidFill>
                <a:headEnd type="none" w="med" len="med"/>
                <a:tailEnd type="none" w="med" len="med"/>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21727608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21" y="195127"/>
            <a:ext cx="11712686" cy="592690"/>
          </a:xfrm>
        </p:spPr>
        <p:txBody>
          <a:bodyPr/>
          <a:lstStyle/>
          <a:p>
            <a:r>
              <a:rPr lang="en-GB" sz="3200" dirty="0">
                <a:solidFill>
                  <a:srgbClr val="C00000"/>
                </a:solidFill>
              </a:rPr>
              <a:t>Options for improving the efficiency of the Basic Rankine Cycle </a:t>
            </a:r>
            <a:endParaRPr lang="en-US" sz="3200" dirty="0">
              <a:solidFill>
                <a:srgbClr val="C00000"/>
              </a:solidFill>
            </a:endParaRPr>
          </a:p>
        </p:txBody>
      </p:sp>
      <p:sp>
        <p:nvSpPr>
          <p:cNvPr id="3" name="Content Placeholder 2"/>
          <p:cNvSpPr>
            <a:spLocks noGrp="1"/>
          </p:cNvSpPr>
          <p:nvPr>
            <p:ph sz="half" idx="1"/>
          </p:nvPr>
        </p:nvSpPr>
        <p:spPr>
          <a:xfrm>
            <a:off x="161109" y="945297"/>
            <a:ext cx="11198085" cy="5175827"/>
          </a:xfrm>
        </p:spPr>
        <p:txBody>
          <a:bodyPr/>
          <a:lstStyle/>
          <a:p>
            <a:r>
              <a:rPr lang="en-GB" dirty="0"/>
              <a:t>The basic idea behind all the modifications to increase the thermal efficiency of a power cycle is the same:  </a:t>
            </a:r>
            <a:r>
              <a:rPr lang="en-GB" i="1" dirty="0"/>
              <a:t>Increase the average temperature at which heat is transferred to the working fluid in the boiler, or decrease the average temperature at which heat is rejected from the working fluid in the condenser</a:t>
            </a:r>
            <a:r>
              <a:rPr lang="en-GB" dirty="0"/>
              <a:t>.  </a:t>
            </a:r>
            <a:endParaRPr lang="en-GB" dirty="0" smtClean="0"/>
          </a:p>
          <a:p>
            <a:r>
              <a:rPr lang="en-GB" dirty="0"/>
              <a:t>Three ways of increasing the efficiency of the Basic Rankine Cycle are discussed below</a:t>
            </a:r>
            <a:r>
              <a:rPr lang="en-GB" dirty="0" smtClean="0"/>
              <a:t>: </a:t>
            </a:r>
            <a:endParaRPr lang="en-US" dirty="0"/>
          </a:p>
          <a:p>
            <a:pPr marL="514350" indent="-514350">
              <a:buFont typeface="+mj-lt"/>
              <a:buAutoNum type="alphaLcParenR"/>
            </a:pPr>
            <a:r>
              <a:rPr lang="en-GB" altLang="en-US" b="1" dirty="0">
                <a:latin typeface="Times New Roman" panose="02020603050405020304" pitchFamily="18" charset="0"/>
                <a:ea typeface="Calibri" panose="020F0502020204030204" pitchFamily="34" charset="0"/>
                <a:cs typeface="Times New Roman" panose="02020603050405020304" pitchFamily="18" charset="0"/>
              </a:rPr>
              <a:t>Lowering the condenser Pressure (</a:t>
            </a:r>
            <a:r>
              <a:rPr lang="en-GB" altLang="en-US" b="1" dirty="0" smtClean="0">
                <a:latin typeface="Times New Roman" panose="02020603050405020304" pitchFamily="18" charset="0"/>
                <a:ea typeface="Calibri" panose="020F0502020204030204" pitchFamily="34" charset="0"/>
                <a:cs typeface="Times New Roman" panose="02020603050405020304" pitchFamily="18" charset="0"/>
              </a:rPr>
              <a:t>Lowers           ) </a:t>
            </a:r>
          </a:p>
          <a:p>
            <a:pPr marL="514350" indent="-514350">
              <a:buFont typeface="+mj-lt"/>
              <a:buAutoNum type="alphaLcParenR"/>
            </a:pPr>
            <a:r>
              <a:rPr lang="en-GB" b="1" dirty="0">
                <a:latin typeface="Times New Roman" panose="02020603050405020304" pitchFamily="18" charset="0"/>
                <a:cs typeface="Times New Roman" panose="02020603050405020304" pitchFamily="18" charset="0"/>
              </a:rPr>
              <a:t>Superheating the Steam to High Temperatures (</a:t>
            </a:r>
            <a:r>
              <a:rPr lang="en-GB" b="1" dirty="0" smtClean="0">
                <a:latin typeface="Times New Roman" panose="02020603050405020304" pitchFamily="18" charset="0"/>
                <a:cs typeface="Times New Roman" panose="02020603050405020304" pitchFamily="18" charset="0"/>
              </a:rPr>
              <a:t>increases         )</a:t>
            </a:r>
          </a:p>
          <a:p>
            <a:pPr marL="514350" indent="-514350">
              <a:buFont typeface="+mj-lt"/>
              <a:buAutoNum type="alphaLcParenR"/>
            </a:pPr>
            <a:r>
              <a:rPr lang="en-GB" b="1" dirty="0">
                <a:latin typeface="Times New Roman" panose="02020603050405020304" pitchFamily="18" charset="0"/>
                <a:cs typeface="Times New Roman" panose="02020603050405020304" pitchFamily="18" charset="0"/>
              </a:rPr>
              <a:t>Increasing Boiler Pressure (</a:t>
            </a:r>
            <a:r>
              <a:rPr lang="en-GB" b="1" dirty="0" smtClean="0">
                <a:latin typeface="Times New Roman" panose="02020603050405020304" pitchFamily="18" charset="0"/>
                <a:cs typeface="Times New Roman" panose="02020603050405020304" pitchFamily="18" charset="0"/>
              </a:rPr>
              <a:t>Increases          )  </a:t>
            </a:r>
            <a:endParaRPr lang="en-GB" altLang="en-US" sz="4000" dirty="0">
              <a:latin typeface="Times New Roman" panose="02020603050405020304" pitchFamily="18" charset="0"/>
              <a:cs typeface="Times New Roman" panose="02020603050405020304" pitchFamily="18" charset="0"/>
            </a:endParaRPr>
          </a:p>
          <a:p>
            <a:pPr marL="514350" indent="-514350">
              <a:buFont typeface="+mj-lt"/>
              <a:buAutoNum type="alphaLcParenR"/>
            </a:pPr>
            <a:endParaRPr lang="en-US" dirty="0"/>
          </a:p>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34</a:t>
            </a:fld>
            <a:endParaRPr lang="en-US" dirty="0"/>
          </a:p>
        </p:txBody>
      </p:sp>
      <p:graphicFrame>
        <p:nvGraphicFramePr>
          <p:cNvPr id="15" name="Object 14"/>
          <p:cNvGraphicFramePr>
            <a:graphicFrameLocks noChangeAspect="1"/>
          </p:cNvGraphicFramePr>
          <p:nvPr>
            <p:extLst>
              <p:ext uri="{D42A27DB-BD31-4B8C-83A1-F6EECF244321}">
                <p14:modId xmlns:p14="http://schemas.microsoft.com/office/powerpoint/2010/main" val="62034648"/>
              </p:ext>
            </p:extLst>
          </p:nvPr>
        </p:nvGraphicFramePr>
        <p:xfrm>
          <a:off x="7221070" y="3722867"/>
          <a:ext cx="900953" cy="549361"/>
        </p:xfrm>
        <a:graphic>
          <a:graphicData uri="http://schemas.openxmlformats.org/presentationml/2006/ole">
            <mc:AlternateContent xmlns:mc="http://schemas.openxmlformats.org/markup-compatibility/2006">
              <mc:Choice xmlns:v="urn:schemas-microsoft-com:vml" Requires="v">
                <p:oleObj spid="_x0000_s25628" r:id="rId3" imgW="393529" imgH="241195" progId="Equation.3">
                  <p:embed/>
                </p:oleObj>
              </mc:Choice>
              <mc:Fallback>
                <p:oleObj r:id="rId3" imgW="393529" imgH="241195"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1070" y="3722867"/>
                        <a:ext cx="900953" cy="549361"/>
                      </a:xfrm>
                      <a:prstGeom prst="rect">
                        <a:avLst/>
                      </a:prstGeom>
                      <a:noFill/>
                    </p:spPr>
                  </p:pic>
                </p:oleObj>
              </mc:Fallback>
            </mc:AlternateContent>
          </a:graphicData>
        </a:graphic>
      </p:graphicFrame>
      <p:sp>
        <p:nvSpPr>
          <p:cNvPr id="16" name="Rectangle 12"/>
          <p:cNvSpPr>
            <a:spLocks noChangeArrowheads="1"/>
          </p:cNvSpPr>
          <p:nvPr/>
        </p:nvSpPr>
        <p:spPr bwMode="auto">
          <a:xfrm>
            <a:off x="685800" y="6953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685800" algn="l"/>
              </a:tabLst>
            </a:pPr>
            <a:r>
              <a:rPr kumimoji="0" lang="en-GB" altLang="en-US" sz="12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GB"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16"/>
          <p:cNvSpPr>
            <a:spLocks noChangeArrowheads="1"/>
          </p:cNvSpPr>
          <p:nvPr/>
        </p:nvSpPr>
        <p:spPr bwMode="auto">
          <a:xfrm>
            <a:off x="9493623" y="396688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 name="Object 20"/>
          <p:cNvGraphicFramePr>
            <a:graphicFrameLocks noChangeAspect="1"/>
          </p:cNvGraphicFramePr>
          <p:nvPr>
            <p:extLst>
              <p:ext uri="{D42A27DB-BD31-4B8C-83A1-F6EECF244321}">
                <p14:modId xmlns:p14="http://schemas.microsoft.com/office/powerpoint/2010/main" val="419185761"/>
              </p:ext>
            </p:extLst>
          </p:nvPr>
        </p:nvGraphicFramePr>
        <p:xfrm>
          <a:off x="9493623" y="4272228"/>
          <a:ext cx="701966" cy="389981"/>
        </p:xfrm>
        <a:graphic>
          <a:graphicData uri="http://schemas.openxmlformats.org/presentationml/2006/ole">
            <mc:AlternateContent xmlns:mc="http://schemas.openxmlformats.org/markup-compatibility/2006">
              <mc:Choice xmlns:v="urn:schemas-microsoft-com:vml" Requires="v">
                <p:oleObj spid="_x0000_s25629" r:id="rId5" imgW="431613" imgH="241195" progId="Equation.3">
                  <p:embed/>
                </p:oleObj>
              </mc:Choice>
              <mc:Fallback>
                <p:oleObj r:id="rId5" imgW="431613" imgH="241195"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93623" y="4272228"/>
                        <a:ext cx="701966" cy="389981"/>
                      </a:xfrm>
                      <a:prstGeom prst="rect">
                        <a:avLst/>
                      </a:prstGeom>
                      <a:noFill/>
                    </p:spPr>
                  </p:pic>
                </p:oleObj>
              </mc:Fallback>
            </mc:AlternateContent>
          </a:graphicData>
        </a:graphic>
      </p:graphicFrame>
      <p:graphicFrame>
        <p:nvGraphicFramePr>
          <p:cNvPr id="22" name="Object 21"/>
          <p:cNvGraphicFramePr>
            <a:graphicFrameLocks noChangeAspect="1"/>
          </p:cNvGraphicFramePr>
          <p:nvPr>
            <p:extLst>
              <p:ext uri="{D42A27DB-BD31-4B8C-83A1-F6EECF244321}">
                <p14:modId xmlns:p14="http://schemas.microsoft.com/office/powerpoint/2010/main" val="1305699670"/>
              </p:ext>
            </p:extLst>
          </p:nvPr>
        </p:nvGraphicFramePr>
        <p:xfrm>
          <a:off x="6519104" y="4814609"/>
          <a:ext cx="701966" cy="389981"/>
        </p:xfrm>
        <a:graphic>
          <a:graphicData uri="http://schemas.openxmlformats.org/presentationml/2006/ole">
            <mc:AlternateContent xmlns:mc="http://schemas.openxmlformats.org/markup-compatibility/2006">
              <mc:Choice xmlns:v="urn:schemas-microsoft-com:vml" Requires="v">
                <p:oleObj spid="_x0000_s25630" r:id="rId7" imgW="431613" imgH="241195" progId="Equation.3">
                  <p:embed/>
                </p:oleObj>
              </mc:Choice>
              <mc:Fallback>
                <p:oleObj r:id="rId7" imgW="431613" imgH="241195" progId="Equation.3">
                  <p:embed/>
                  <p:pic>
                    <p:nvPicPr>
                      <p:cNvPr id="21"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9104" y="4814609"/>
                        <a:ext cx="701966" cy="389981"/>
                      </a:xfrm>
                      <a:prstGeom prst="rect">
                        <a:avLst/>
                      </a:prstGeom>
                      <a:noFill/>
                    </p:spPr>
                  </p:pic>
                </p:oleObj>
              </mc:Fallback>
            </mc:AlternateContent>
          </a:graphicData>
        </a:graphic>
      </p:graphicFrame>
    </p:spTree>
    <p:extLst>
      <p:ext uri="{BB962C8B-B14F-4D97-AF65-F5344CB8AC3E}">
        <p14:creationId xmlns:p14="http://schemas.microsoft.com/office/powerpoint/2010/main" val="1020119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708" y="195127"/>
            <a:ext cx="11720979" cy="592690"/>
          </a:xfrm>
        </p:spPr>
        <p:txBody>
          <a:bodyPr/>
          <a:lstStyle/>
          <a:p>
            <a:r>
              <a:rPr lang="en-GB" altLang="en-US" b="1" dirty="0" smtClean="0">
                <a:latin typeface="Times New Roman" panose="02020603050405020304" pitchFamily="18" charset="0"/>
                <a:ea typeface="Calibri" panose="020F0502020204030204" pitchFamily="34" charset="0"/>
                <a:cs typeface="Times New Roman" panose="02020603050405020304" pitchFamily="18" charset="0"/>
              </a:rPr>
              <a:t>a) Lowering </a:t>
            </a:r>
            <a:r>
              <a:rPr lang="en-GB" altLang="en-US" b="1" dirty="0">
                <a:latin typeface="Times New Roman" panose="02020603050405020304" pitchFamily="18" charset="0"/>
                <a:ea typeface="Calibri" panose="020F0502020204030204" pitchFamily="34" charset="0"/>
                <a:cs typeface="Times New Roman" panose="02020603050405020304" pitchFamily="18" charset="0"/>
              </a:rPr>
              <a:t>the condenser Pressure (Lowers           ) </a:t>
            </a:r>
            <a:br>
              <a:rPr lang="en-GB" altLang="en-US" b="1" dirty="0">
                <a:latin typeface="Times New Roman" panose="02020603050405020304" pitchFamily="18" charset="0"/>
                <a:ea typeface="Calibri" panose="020F0502020204030204" pitchFamily="34" charset="0"/>
                <a:cs typeface="Times New Roman" panose="02020603050405020304" pitchFamily="18" charset="0"/>
              </a:rPr>
            </a:br>
            <a:endParaRPr lang="en-US" dirty="0"/>
          </a:p>
        </p:txBody>
      </p:sp>
      <p:sp>
        <p:nvSpPr>
          <p:cNvPr id="3" name="Content Placeholder 2"/>
          <p:cNvSpPr>
            <a:spLocks noGrp="1"/>
          </p:cNvSpPr>
          <p:nvPr>
            <p:ph sz="half" idx="1"/>
          </p:nvPr>
        </p:nvSpPr>
        <p:spPr/>
        <p:txBody>
          <a:bodyPr/>
          <a:lstStyle/>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35</a:t>
            </a:fld>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846295576"/>
              </p:ext>
            </p:extLst>
          </p:nvPr>
        </p:nvGraphicFramePr>
        <p:xfrm>
          <a:off x="10199401" y="195127"/>
          <a:ext cx="1147714" cy="699825"/>
        </p:xfrm>
        <a:graphic>
          <a:graphicData uri="http://schemas.openxmlformats.org/presentationml/2006/ole">
            <mc:AlternateContent xmlns:mc="http://schemas.openxmlformats.org/markup-compatibility/2006">
              <mc:Choice xmlns:v="urn:schemas-microsoft-com:vml" Requires="v">
                <p:oleObj spid="_x0000_s26630" r:id="rId3" imgW="393529" imgH="241195" progId="Equation.3">
                  <p:embed/>
                </p:oleObj>
              </mc:Choice>
              <mc:Fallback>
                <p:oleObj r:id="rId3" imgW="393529" imgH="241195" progId="Equation.3">
                  <p:embed/>
                  <p:pic>
                    <p:nvPicPr>
                      <p:cNvPr id="15"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9401" y="195127"/>
                        <a:ext cx="1147714" cy="699825"/>
                      </a:xfrm>
                      <a:prstGeom prst="rect">
                        <a:avLst/>
                      </a:prstGeom>
                      <a:noFill/>
                    </p:spPr>
                  </p:pic>
                </p:oleObj>
              </mc:Fallback>
            </mc:AlternateContent>
          </a:graphicData>
        </a:graphic>
      </p:graphicFrame>
      <p:pic>
        <p:nvPicPr>
          <p:cNvPr id="26626" name="Picture 2"/>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a:stretch>
            <a:fillRect/>
          </a:stretch>
        </p:blipFill>
        <p:spPr bwMode="auto">
          <a:xfrm>
            <a:off x="3179035" y="1097281"/>
            <a:ext cx="5587703" cy="5181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2213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5127"/>
            <a:ext cx="12192000" cy="592690"/>
          </a:xfrm>
        </p:spPr>
        <p:txBody>
          <a:bodyPr/>
          <a:lstStyle/>
          <a:p>
            <a:r>
              <a:rPr lang="en-GB" sz="3200" b="1" dirty="0" smtClean="0">
                <a:latin typeface="Times New Roman" panose="02020603050405020304" pitchFamily="18" charset="0"/>
                <a:cs typeface="Times New Roman" panose="02020603050405020304" pitchFamily="18" charset="0"/>
              </a:rPr>
              <a:t>b) Superheating </a:t>
            </a:r>
            <a:r>
              <a:rPr lang="en-GB" sz="3200" b="1" dirty="0">
                <a:latin typeface="Times New Roman" panose="02020603050405020304" pitchFamily="18" charset="0"/>
                <a:cs typeface="Times New Roman" panose="02020603050405020304" pitchFamily="18" charset="0"/>
              </a:rPr>
              <a:t>the Steam to High Temperatures (</a:t>
            </a:r>
            <a:r>
              <a:rPr lang="en-GB" sz="3200" b="1" dirty="0" smtClean="0">
                <a:latin typeface="Times New Roman" panose="02020603050405020304" pitchFamily="18" charset="0"/>
                <a:cs typeface="Times New Roman" panose="02020603050405020304" pitchFamily="18" charset="0"/>
              </a:rPr>
              <a:t>increases          </a:t>
            </a:r>
            <a:r>
              <a:rPr lang="en-GB" sz="3200" b="1" dirty="0">
                <a:latin typeface="Times New Roman" panose="02020603050405020304" pitchFamily="18" charset="0"/>
                <a:cs typeface="Times New Roman" panose="02020603050405020304" pitchFamily="18" charset="0"/>
              </a:rPr>
              <a:t>)</a:t>
            </a:r>
            <a:br>
              <a:rPr lang="en-GB" sz="3200" b="1" dirty="0">
                <a:latin typeface="Times New Roman" panose="02020603050405020304" pitchFamily="18" charset="0"/>
                <a:cs typeface="Times New Roman" panose="02020603050405020304" pitchFamily="18" charset="0"/>
              </a:rPr>
            </a:br>
            <a:endParaRPr lang="en-US" sz="3200" dirty="0"/>
          </a:p>
        </p:txBody>
      </p:sp>
      <p:sp>
        <p:nvSpPr>
          <p:cNvPr id="3" name="Content Placeholder 2"/>
          <p:cNvSpPr>
            <a:spLocks noGrp="1"/>
          </p:cNvSpPr>
          <p:nvPr>
            <p:ph sz="half" idx="1"/>
          </p:nvPr>
        </p:nvSpPr>
        <p:spPr/>
        <p:txBody>
          <a:bodyPr/>
          <a:lstStyle/>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36</a:t>
            </a:fld>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454359189"/>
              </p:ext>
            </p:extLst>
          </p:nvPr>
        </p:nvGraphicFramePr>
        <p:xfrm>
          <a:off x="10564776" y="296482"/>
          <a:ext cx="884403" cy="491335"/>
        </p:xfrm>
        <a:graphic>
          <a:graphicData uri="http://schemas.openxmlformats.org/presentationml/2006/ole">
            <mc:AlternateContent xmlns:mc="http://schemas.openxmlformats.org/markup-compatibility/2006">
              <mc:Choice xmlns:v="urn:schemas-microsoft-com:vml" Requires="v">
                <p:oleObj spid="_x0000_s27654" r:id="rId3" imgW="431613" imgH="241195" progId="Equation.3">
                  <p:embed/>
                </p:oleObj>
              </mc:Choice>
              <mc:Fallback>
                <p:oleObj r:id="rId3" imgW="431613" imgH="241195" progId="Equation.3">
                  <p:embed/>
                  <p:pic>
                    <p:nvPicPr>
                      <p:cNvPr id="21"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4776" y="296482"/>
                        <a:ext cx="884403" cy="491335"/>
                      </a:xfrm>
                      <a:prstGeom prst="rect">
                        <a:avLst/>
                      </a:prstGeom>
                      <a:noFill/>
                    </p:spPr>
                  </p:pic>
                </p:oleObj>
              </mc:Fallback>
            </mc:AlternateContent>
          </a:graphicData>
        </a:graphic>
      </p:graphicFrame>
      <p:pic>
        <p:nvPicPr>
          <p:cNvPr id="27650" name="Picture 2"/>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a:stretch>
            <a:fillRect/>
          </a:stretch>
        </p:blipFill>
        <p:spPr bwMode="auto">
          <a:xfrm>
            <a:off x="3301622" y="1002089"/>
            <a:ext cx="5045546" cy="5276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6859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c) Increasing </a:t>
            </a:r>
            <a:r>
              <a:rPr lang="en-GB" b="1" dirty="0">
                <a:latin typeface="Times New Roman" panose="02020603050405020304" pitchFamily="18" charset="0"/>
                <a:cs typeface="Times New Roman" panose="02020603050405020304" pitchFamily="18" charset="0"/>
              </a:rPr>
              <a:t>Boiler Pressure (Increases          )  </a:t>
            </a:r>
            <a:r>
              <a:rPr lang="en-GB" altLang="en-US" sz="5400" dirty="0">
                <a:latin typeface="Times New Roman" panose="02020603050405020304" pitchFamily="18" charset="0"/>
                <a:cs typeface="Times New Roman" panose="02020603050405020304" pitchFamily="18" charset="0"/>
              </a:rPr>
              <a:t/>
            </a:r>
            <a:br>
              <a:rPr lang="en-GB" altLang="en-US" sz="5400"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sz="half" idx="1"/>
          </p:nvPr>
        </p:nvSpPr>
        <p:spPr/>
        <p:txBody>
          <a:bodyPr/>
          <a:lstStyle/>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pPr/>
              <a:t>37</a:t>
            </a:fld>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3132232840"/>
              </p:ext>
            </p:extLst>
          </p:nvPr>
        </p:nvGraphicFramePr>
        <p:xfrm>
          <a:off x="9928510" y="340739"/>
          <a:ext cx="997584" cy="554213"/>
        </p:xfrm>
        <a:graphic>
          <a:graphicData uri="http://schemas.openxmlformats.org/presentationml/2006/ole">
            <mc:AlternateContent xmlns:mc="http://schemas.openxmlformats.org/markup-compatibility/2006">
              <mc:Choice xmlns:v="urn:schemas-microsoft-com:vml" Requires="v">
                <p:oleObj spid="_x0000_s28678" r:id="rId3" imgW="431613" imgH="241195" progId="Equation.3">
                  <p:embed/>
                </p:oleObj>
              </mc:Choice>
              <mc:Fallback>
                <p:oleObj r:id="rId3" imgW="431613" imgH="241195" progId="Equation.3">
                  <p:embed/>
                  <p:pic>
                    <p:nvPicPr>
                      <p:cNvPr id="22"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8510" y="340739"/>
                        <a:ext cx="997584" cy="554213"/>
                      </a:xfrm>
                      <a:prstGeom prst="rect">
                        <a:avLst/>
                      </a:prstGeom>
                      <a:noFill/>
                    </p:spPr>
                  </p:pic>
                </p:oleObj>
              </mc:Fallback>
            </mc:AlternateContent>
          </a:graphicData>
        </a:graphic>
      </p:graphicFrame>
      <p:pic>
        <p:nvPicPr>
          <p:cNvPr id="28674" name="Picture 2"/>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a:stretch>
            <a:fillRect/>
          </a:stretch>
        </p:blipFill>
        <p:spPr bwMode="auto">
          <a:xfrm>
            <a:off x="2756263" y="946296"/>
            <a:ext cx="5614290" cy="5287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5530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38</a:t>
            </a:fld>
            <a:endParaRPr lang="en-US" dirty="0"/>
          </a:p>
        </p:txBody>
      </p:sp>
      <p:sp>
        <p:nvSpPr>
          <p:cNvPr id="6" name="Title 1"/>
          <p:cNvSpPr txBox="1">
            <a:spLocks/>
          </p:cNvSpPr>
          <p:nvPr/>
        </p:nvSpPr>
        <p:spPr>
          <a:xfrm>
            <a:off x="301337" y="283087"/>
            <a:ext cx="11198086" cy="592690"/>
          </a:xfrm>
          <a:prstGeom prst="rect">
            <a:avLst/>
          </a:prstGeom>
        </p:spPr>
        <p:txBody>
          <a:bodyPr/>
          <a:lstStyle>
            <a:lvl1pPr algn="ctr" defTabSz="457200" rtl="0" eaLnBrk="1" latinLnBrk="0" hangingPunct="1">
              <a:spcBef>
                <a:spcPct val="0"/>
              </a:spcBef>
              <a:buNone/>
              <a:defRPr sz="4000" kern="1200">
                <a:solidFill>
                  <a:schemeClr val="tx1"/>
                </a:solidFill>
                <a:latin typeface="Garamond" panose="02020404030301010803" pitchFamily="18" charset="0"/>
                <a:ea typeface="+mj-ea"/>
                <a:cs typeface="+mj-cs"/>
              </a:defRPr>
            </a:lvl1pPr>
          </a:lstStyle>
          <a:p>
            <a:endParaRPr lang="en-GB" sz="2000" dirty="0">
              <a:solidFill>
                <a:srgbClr val="FF0000"/>
              </a:solidFill>
            </a:endParaRPr>
          </a:p>
        </p:txBody>
      </p:sp>
      <p:sp>
        <p:nvSpPr>
          <p:cNvPr id="10" name="Footer Placeholder 5"/>
          <p:cNvSpPr txBox="1">
            <a:spLocks/>
          </p:cNvSpPr>
          <p:nvPr/>
        </p:nvSpPr>
        <p:spPr>
          <a:xfrm>
            <a:off x="770964" y="6281915"/>
            <a:ext cx="1210236"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KNUST-SESC</a:t>
            </a:r>
          </a:p>
        </p:txBody>
      </p:sp>
      <p:pic>
        <p:nvPicPr>
          <p:cNvPr id="8" name="Picture 2" descr="7,473 Thank You Business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198" y="1988579"/>
            <a:ext cx="7532942" cy="350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646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43828</TotalTime>
  <Words>2688</Words>
  <Application>Microsoft Office PowerPoint</Application>
  <PresentationFormat>Widescreen</PresentationFormat>
  <Paragraphs>433</Paragraphs>
  <Slides>38</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3</vt:i4>
      </vt:variant>
      <vt:variant>
        <vt:lpstr>Slide Titles</vt:lpstr>
      </vt:variant>
      <vt:variant>
        <vt:i4>38</vt:i4>
      </vt:variant>
    </vt:vector>
  </HeadingPairs>
  <TitlesOfParts>
    <vt:vector size="51" baseType="lpstr">
      <vt:lpstr>Arial</vt:lpstr>
      <vt:lpstr>Calibri</vt:lpstr>
      <vt:lpstr>Cambria Math</vt:lpstr>
      <vt:lpstr>Eras Demi ITC</vt:lpstr>
      <vt:lpstr>Garamond</vt:lpstr>
      <vt:lpstr>Georgia</vt:lpstr>
      <vt:lpstr>Helvetica</vt:lpstr>
      <vt:lpstr>Times New Roman</vt:lpstr>
      <vt:lpstr>Wingdings</vt:lpstr>
      <vt:lpstr>Office Theme</vt:lpstr>
      <vt:lpstr>Equation</vt:lpstr>
      <vt:lpstr>Уравнение</vt:lpstr>
      <vt:lpstr>Equation.3</vt:lpstr>
      <vt:lpstr>THERMODYNAMICS I (ME 265) </vt:lpstr>
      <vt:lpstr>Pure Substance</vt:lpstr>
      <vt:lpstr>Properties of Liquids and Vapours</vt:lpstr>
      <vt:lpstr>Properties of Liquids and Vapours</vt:lpstr>
      <vt:lpstr>Properties of Liquids and Vapours</vt:lpstr>
      <vt:lpstr>Properties of Liquids and Vapours</vt:lpstr>
      <vt:lpstr>Properties of Liquids and Vapours</vt:lpstr>
      <vt:lpstr>Properties of Liquids and Vapours</vt:lpstr>
      <vt:lpstr>Properties of Liquids and Vapours</vt:lpstr>
      <vt:lpstr>Properties of Liquids and Vapours</vt:lpstr>
      <vt:lpstr>PowerPoint Presentation</vt:lpstr>
      <vt:lpstr>PowerPoint Presentation</vt:lpstr>
      <vt:lpstr>PowerPoint Presentation</vt:lpstr>
      <vt:lpstr>Use of Interpolation in Tables of Properties</vt:lpstr>
      <vt:lpstr>Properties of Liquids and Vapours: Problems</vt:lpstr>
      <vt:lpstr>Properties of Liquids and Vapours: Problems</vt:lpstr>
      <vt:lpstr>Properties of Liquids and Vapours: Problems</vt:lpstr>
      <vt:lpstr>Properties of Liquids and Vapours: Problems</vt:lpstr>
      <vt:lpstr>Properties of Liquids and Vapours: Problems</vt:lpstr>
      <vt:lpstr>Properties of Liquids and Vapours: Problems</vt:lpstr>
      <vt:lpstr>Vapour Power Cycles</vt:lpstr>
      <vt:lpstr>Vapour Power Cycles</vt:lpstr>
      <vt:lpstr>Criteria for Comparing Power Cycles</vt:lpstr>
      <vt:lpstr>Carnot Vapour Power Cycle</vt:lpstr>
      <vt:lpstr>Carnot Vapour Power Cycle</vt:lpstr>
      <vt:lpstr>Carnot And Ideal Rankine Cycles</vt:lpstr>
      <vt:lpstr>Ideal Rankine Vapour Power Cycle</vt:lpstr>
      <vt:lpstr>Ideal Rankine Vapour Power Cycle</vt:lpstr>
      <vt:lpstr>Ideal Rankine Vapour Power Cycle</vt:lpstr>
      <vt:lpstr>Carnot Power Cycle Problems</vt:lpstr>
      <vt:lpstr>Carnot Power Cycle Problems</vt:lpstr>
      <vt:lpstr>Ideal Rankine Power Cycle Problems</vt:lpstr>
      <vt:lpstr>Ideal Rankine Power Cycle Problems</vt:lpstr>
      <vt:lpstr>Options for improving the efficiency of the Basic Rankine Cycle </vt:lpstr>
      <vt:lpstr>a) Lowering the condenser Pressure (Lowers           )  </vt:lpstr>
      <vt:lpstr>b) Superheating the Steam to High Temperatures (increases          ) </vt:lpstr>
      <vt:lpstr>c) Increasing Boiler Pressure (Increases          )   </vt:lpstr>
      <vt:lpstr>PowerPoint Presentation</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HP</cp:lastModifiedBy>
  <cp:revision>947</cp:revision>
  <dcterms:created xsi:type="dcterms:W3CDTF">2016-11-07T15:28:41Z</dcterms:created>
  <dcterms:modified xsi:type="dcterms:W3CDTF">2022-05-10T09:11:09Z</dcterms:modified>
</cp:coreProperties>
</file>