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41"/>
  </p:notesMasterIdLst>
  <p:handoutMasterIdLst>
    <p:handoutMasterId r:id="rId42"/>
  </p:handoutMasterIdLst>
  <p:sldIdLst>
    <p:sldId id="503" r:id="rId2"/>
    <p:sldId id="544" r:id="rId3"/>
    <p:sldId id="547" r:id="rId4"/>
    <p:sldId id="670" r:id="rId5"/>
    <p:sldId id="669" r:id="rId6"/>
    <p:sldId id="548" r:id="rId7"/>
    <p:sldId id="644" r:id="rId8"/>
    <p:sldId id="645" r:id="rId9"/>
    <p:sldId id="646" r:id="rId10"/>
    <p:sldId id="647" r:id="rId11"/>
    <p:sldId id="648" r:id="rId12"/>
    <p:sldId id="649" r:id="rId13"/>
    <p:sldId id="650" r:id="rId14"/>
    <p:sldId id="651" r:id="rId15"/>
    <p:sldId id="655" r:id="rId16"/>
    <p:sldId id="652" r:id="rId17"/>
    <p:sldId id="653" r:id="rId18"/>
    <p:sldId id="654" r:id="rId19"/>
    <p:sldId id="671" r:id="rId20"/>
    <p:sldId id="672" r:id="rId21"/>
    <p:sldId id="673" r:id="rId22"/>
    <p:sldId id="674" r:id="rId23"/>
    <p:sldId id="675" r:id="rId24"/>
    <p:sldId id="676" r:id="rId25"/>
    <p:sldId id="677" r:id="rId26"/>
    <p:sldId id="678" r:id="rId27"/>
    <p:sldId id="656" r:id="rId28"/>
    <p:sldId id="657" r:id="rId29"/>
    <p:sldId id="658" r:id="rId30"/>
    <p:sldId id="659" r:id="rId31"/>
    <p:sldId id="660" r:id="rId32"/>
    <p:sldId id="661" r:id="rId33"/>
    <p:sldId id="663" r:id="rId34"/>
    <p:sldId id="664" r:id="rId35"/>
    <p:sldId id="665" r:id="rId36"/>
    <p:sldId id="666" r:id="rId37"/>
    <p:sldId id="667" r:id="rId38"/>
    <p:sldId id="668" r:id="rId39"/>
    <p:sldId id="543" r:id="rId4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98DF"/>
    <a:srgbClr val="F6C702"/>
    <a:srgbClr val="008001"/>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5221" autoAdjust="0"/>
    <p:restoredTop sz="94660"/>
  </p:normalViewPr>
  <p:slideViewPr>
    <p:cSldViewPr snapToGrid="0" snapToObjects="1">
      <p:cViewPr>
        <p:scale>
          <a:sx n="70" d="100"/>
          <a:sy n="70" d="100"/>
        </p:scale>
        <p:origin x="324" y="36"/>
      </p:cViewPr>
      <p:guideLst>
        <p:guide orient="horz" pos="2160"/>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image" Target="../media/image26.wmf"/><Relationship Id="rId1" Type="http://schemas.openxmlformats.org/officeDocument/2006/relationships/image" Target="../media/image25.wmf"/><Relationship Id="rId5" Type="http://schemas.openxmlformats.org/officeDocument/2006/relationships/image" Target="../media/image29.wmf"/><Relationship Id="rId4" Type="http://schemas.openxmlformats.org/officeDocument/2006/relationships/image" Target="../media/image28.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image" Target="../media/image31.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4.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image" Target="../media/image36.wmf"/><Relationship Id="rId1" Type="http://schemas.openxmlformats.org/officeDocument/2006/relationships/image" Target="../media/image35.wmf"/><Relationship Id="rId5" Type="http://schemas.openxmlformats.org/officeDocument/2006/relationships/image" Target="../media/image39.wmf"/><Relationship Id="rId4" Type="http://schemas.openxmlformats.org/officeDocument/2006/relationships/image" Target="../media/image38.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42.wmf"/><Relationship Id="rId1" Type="http://schemas.openxmlformats.org/officeDocument/2006/relationships/image" Target="../media/image41.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45.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50.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A847608-6ABE-4504-86B5-76DC66B615AB}" type="datetimeFigureOut">
              <a:rPr lang="en-US" smtClean="0"/>
              <a:t>12/1/2021</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D7764DC-64CD-49E5-9D34-444ECD2251CF}" type="slidenum">
              <a:rPr lang="en-US" smtClean="0"/>
              <a:t>‹#›</a:t>
            </a:fld>
            <a:endParaRPr lang="en-US"/>
          </a:p>
        </p:txBody>
      </p:sp>
    </p:spTree>
    <p:extLst>
      <p:ext uri="{BB962C8B-B14F-4D97-AF65-F5344CB8AC3E}">
        <p14:creationId xmlns:p14="http://schemas.microsoft.com/office/powerpoint/2010/main" val="215543705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C070D9-CE4C-4523-84E5-2BCC360EF90C}" type="datetimeFigureOut">
              <a:rPr lang="en-US" smtClean="0"/>
              <a:t>12/1/2021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7DD320-4E3A-4CB5-A0BC-F8EFFE6E1B53}" type="slidenum">
              <a:rPr lang="en-US" smtClean="0"/>
              <a:t>‹#›</a:t>
            </a:fld>
            <a:endParaRPr lang="en-US"/>
          </a:p>
        </p:txBody>
      </p:sp>
    </p:spTree>
    <p:extLst>
      <p:ext uri="{BB962C8B-B14F-4D97-AF65-F5344CB8AC3E}">
        <p14:creationId xmlns:p14="http://schemas.microsoft.com/office/powerpoint/2010/main" val="5620647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www.knust.edu.gh/" TargetMode="External"/><Relationship Id="rId7"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hyperlink" Target="https://www.facebook.com/knust.Ghana/" TargetMode="External"/><Relationship Id="rId5" Type="http://schemas.openxmlformats.org/officeDocument/2006/relationships/image" Target="../media/image3.jpeg"/><Relationship Id="rId4" Type="http://schemas.openxmlformats.org/officeDocument/2006/relationships/hyperlink" Target="https://twitter.com/_knust_" TargetMode="Externa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A2076DD-8797-46B9-BAA0-1118061A3B20}" type="datetime1">
              <a:rPr lang="en-US" smtClean="0"/>
              <a:t>12/1/2021</a:t>
            </a:fld>
            <a:endParaRPr lang="en-US"/>
          </a:p>
        </p:txBody>
      </p:sp>
      <p:sp>
        <p:nvSpPr>
          <p:cNvPr id="6" name="Slide Number Placeholder 5"/>
          <p:cNvSpPr>
            <a:spLocks noGrp="1"/>
          </p:cNvSpPr>
          <p:nvPr>
            <p:ph type="sldNum" sz="quarter" idx="12"/>
          </p:nvPr>
        </p:nvSpPr>
        <p:spPr/>
        <p:txBody>
          <a:bodyPr/>
          <a:lstStyle/>
          <a:p>
            <a:fld id="{F4801FD5-11B4-DE43-ACA2-E85EEB9A6F9C}" type="slidenum">
              <a:rPr lang="en-US" smtClean="0"/>
              <a:t>‹#›</a:t>
            </a:fld>
            <a:endParaRPr lang="en-US"/>
          </a:p>
        </p:txBody>
      </p:sp>
      <p:grpSp>
        <p:nvGrpSpPr>
          <p:cNvPr id="7" name="Group 6"/>
          <p:cNvGrpSpPr/>
          <p:nvPr userDrawn="1"/>
        </p:nvGrpSpPr>
        <p:grpSpPr>
          <a:xfrm>
            <a:off x="0" y="1"/>
            <a:ext cx="12192000" cy="854748"/>
            <a:chOff x="0" y="1"/>
            <a:chExt cx="9144000" cy="854748"/>
          </a:xfrm>
        </p:grpSpPr>
        <p:sp>
          <p:nvSpPr>
            <p:cNvPr id="8" name="Rectangle 7"/>
            <p:cNvSpPr/>
            <p:nvPr/>
          </p:nvSpPr>
          <p:spPr>
            <a:xfrm>
              <a:off x="0" y="1"/>
              <a:ext cx="9144000" cy="854748"/>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9" name="TextBox 8"/>
            <p:cNvSpPr txBox="1"/>
            <p:nvPr/>
          </p:nvSpPr>
          <p:spPr>
            <a:xfrm>
              <a:off x="6413360" y="241270"/>
              <a:ext cx="2519624" cy="523220"/>
            </a:xfrm>
            <a:prstGeom prst="rect">
              <a:avLst/>
            </a:prstGeom>
            <a:noFill/>
          </p:spPr>
          <p:txBody>
            <a:bodyPr wrap="square" rtlCol="0">
              <a:spAutoFit/>
            </a:bodyPr>
            <a:lstStyle/>
            <a:p>
              <a:r>
                <a:rPr lang="en-US" sz="1400" dirty="0">
                  <a:solidFill>
                    <a:schemeClr val="bg1"/>
                  </a:solidFill>
                  <a:latin typeface="Helvetica"/>
                  <a:cs typeface="Helvetica"/>
                </a:rPr>
                <a:t>Kwame Nkrumah University of </a:t>
              </a:r>
            </a:p>
            <a:p>
              <a:r>
                <a:rPr lang="en-US" sz="1400" dirty="0">
                  <a:solidFill>
                    <a:schemeClr val="bg1"/>
                  </a:solidFill>
                  <a:latin typeface="Helvetica"/>
                  <a:cs typeface="Helvetica"/>
                </a:rPr>
                <a:t>Science &amp; Technology, Kumasi, Ghana</a:t>
              </a:r>
            </a:p>
          </p:txBody>
        </p:sp>
        <p:pic>
          <p:nvPicPr>
            <p:cNvPr id="10" name="Picture 9" descr="KNUST_logo Vector.png"/>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850123" y="68970"/>
              <a:ext cx="563237" cy="716809"/>
            </a:xfrm>
            <a:prstGeom prst="rect">
              <a:avLst/>
            </a:prstGeom>
          </p:spPr>
        </p:pic>
      </p:grpSp>
      <p:sp>
        <p:nvSpPr>
          <p:cNvPr id="11" name="Title 1"/>
          <p:cNvSpPr>
            <a:spLocks noGrp="1"/>
          </p:cNvSpPr>
          <p:nvPr>
            <p:ph type="ctrTitle"/>
          </p:nvPr>
        </p:nvSpPr>
        <p:spPr>
          <a:xfrm>
            <a:off x="914400" y="1096019"/>
            <a:ext cx="10363200" cy="2541745"/>
          </a:xfrm>
          <a:prstGeom prst="rect">
            <a:avLst/>
          </a:prstGeom>
        </p:spPr>
        <p:txBody>
          <a:bodyPr>
            <a:normAutofit/>
          </a:bodyPr>
          <a:lstStyle>
            <a:lvl1pPr>
              <a:defRPr>
                <a:latin typeface="Garamond" panose="02020404030301010803" pitchFamily="18" charset="0"/>
              </a:defRPr>
            </a:lvl1pPr>
          </a:lstStyle>
          <a:p>
            <a:pPr algn="l"/>
            <a:r>
              <a:rPr lang="en-US" dirty="0">
                <a:latin typeface="Helvetica"/>
                <a:cs typeface="Helvetica"/>
              </a:rPr>
              <a:t>Title</a:t>
            </a:r>
          </a:p>
        </p:txBody>
      </p:sp>
      <p:sp>
        <p:nvSpPr>
          <p:cNvPr id="12" name="Subtitle 2"/>
          <p:cNvSpPr>
            <a:spLocks noGrp="1"/>
          </p:cNvSpPr>
          <p:nvPr>
            <p:ph type="subTitle" idx="1"/>
          </p:nvPr>
        </p:nvSpPr>
        <p:spPr>
          <a:xfrm>
            <a:off x="914400" y="4666761"/>
            <a:ext cx="10363200" cy="1599330"/>
          </a:xfrm>
        </p:spPr>
        <p:txBody>
          <a:bodyPr>
            <a:normAutofit/>
          </a:bodyPr>
          <a:lstStyle>
            <a:lvl1pPr marL="0" indent="0" algn="ctr">
              <a:buNone/>
              <a:defRPr>
                <a:solidFill>
                  <a:schemeClr val="bg1">
                    <a:lumMod val="50000"/>
                  </a:schemeClr>
                </a:solidFill>
                <a:latin typeface="Garamond" panose="02020404030301010803" pitchFamily="18" charset="0"/>
              </a:defRPr>
            </a:lvl1pPr>
          </a:lstStyle>
          <a:p>
            <a:pPr algn="l"/>
            <a:endParaRPr lang="en-US" b="1" dirty="0">
              <a:solidFill>
                <a:schemeClr val="tx1"/>
              </a:solidFill>
              <a:latin typeface="Helvetica"/>
              <a:cs typeface="Helvetica"/>
            </a:endParaRPr>
          </a:p>
        </p:txBody>
      </p:sp>
    </p:spTree>
    <p:extLst>
      <p:ext uri="{BB962C8B-B14F-4D97-AF65-F5344CB8AC3E}">
        <p14:creationId xmlns:p14="http://schemas.microsoft.com/office/powerpoint/2010/main" val="10266817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27CC460-5DEC-4F9C-AE86-3A65EBEA6D5D}" type="datetime1">
              <a:rPr lang="en-US" smtClean="0"/>
              <a:t>12/1/2021</a:t>
            </a:fld>
            <a:endParaRPr lang="en-US"/>
          </a:p>
        </p:txBody>
      </p:sp>
      <p:sp>
        <p:nvSpPr>
          <p:cNvPr id="5" name="Footer Placeholder 4"/>
          <p:cNvSpPr>
            <a:spLocks noGrp="1"/>
          </p:cNvSpPr>
          <p:nvPr>
            <p:ph type="ftr" sz="quarter" idx="11"/>
          </p:nvPr>
        </p:nvSpPr>
        <p:spPr/>
        <p:txBody>
          <a:bodyPr/>
          <a:lstStyle/>
          <a:p>
            <a:endParaRPr lang="en-US"/>
          </a:p>
        </p:txBody>
      </p:sp>
      <p:grpSp>
        <p:nvGrpSpPr>
          <p:cNvPr id="7" name="Group 6"/>
          <p:cNvGrpSpPr/>
          <p:nvPr userDrawn="1"/>
        </p:nvGrpSpPr>
        <p:grpSpPr>
          <a:xfrm>
            <a:off x="0" y="6271235"/>
            <a:ext cx="12191997" cy="586764"/>
            <a:chOff x="0" y="6271235"/>
            <a:chExt cx="9144000" cy="586764"/>
          </a:xfrm>
        </p:grpSpPr>
        <p:sp>
          <p:nvSpPr>
            <p:cNvPr id="8" name="Rectangle 7"/>
            <p:cNvSpPr/>
            <p:nvPr/>
          </p:nvSpPr>
          <p:spPr>
            <a:xfrm>
              <a:off x="0" y="6668022"/>
              <a:ext cx="9144000" cy="189977"/>
            </a:xfrm>
            <a:prstGeom prst="rect">
              <a:avLst/>
            </a:prstGeom>
            <a:solidFill>
              <a:schemeClr val="accent3">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sp>
          <p:nvSpPr>
            <p:cNvPr id="9" name="Rectangle 8"/>
            <p:cNvSpPr/>
            <p:nvPr/>
          </p:nvSpPr>
          <p:spPr>
            <a:xfrm>
              <a:off x="0" y="6271235"/>
              <a:ext cx="9144000" cy="363407"/>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pic>
          <p:nvPicPr>
            <p:cNvPr id="10" name="Picture 9" descr="KNUST_logo Vector.png"/>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836489" y="6299719"/>
              <a:ext cx="205238" cy="283189"/>
            </a:xfrm>
            <a:prstGeom prst="rect">
              <a:avLst/>
            </a:prstGeom>
          </p:spPr>
        </p:pic>
        <p:sp>
          <p:nvSpPr>
            <p:cNvPr id="11" name="TextBox 10">
              <a:hlinkClick r:id="rId3"/>
            </p:cNvPr>
            <p:cNvSpPr txBox="1"/>
            <p:nvPr/>
          </p:nvSpPr>
          <p:spPr>
            <a:xfrm>
              <a:off x="8027214" y="6314438"/>
              <a:ext cx="1091658" cy="276999"/>
            </a:xfrm>
            <a:prstGeom prst="rect">
              <a:avLst/>
            </a:prstGeom>
            <a:noFill/>
          </p:spPr>
          <p:txBody>
            <a:bodyPr wrap="square" rtlCol="0">
              <a:spAutoFit/>
            </a:bodyPr>
            <a:lstStyle/>
            <a:p>
              <a:r>
                <a:rPr lang="en-US" sz="1200" dirty="0">
                  <a:solidFill>
                    <a:schemeClr val="bg1"/>
                  </a:solidFill>
                  <a:latin typeface="Helvetica"/>
                  <a:cs typeface="Helvetica"/>
                </a:rPr>
                <a:t>www.knust.edu.gh</a:t>
              </a:r>
            </a:p>
          </p:txBody>
        </p:sp>
        <p:pic>
          <p:nvPicPr>
            <p:cNvPr id="12" name="Picture 11">
              <a:hlinkClick r:id="rId4"/>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7450538" y="6320348"/>
              <a:ext cx="268162" cy="268162"/>
            </a:xfrm>
            <a:prstGeom prst="rect">
              <a:avLst/>
            </a:prstGeom>
          </p:spPr>
        </p:pic>
        <p:pic>
          <p:nvPicPr>
            <p:cNvPr id="13" name="Picture 12">
              <a:hlinkClick r:id="rId6"/>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7087070" y="6308011"/>
              <a:ext cx="292217" cy="292217"/>
            </a:xfrm>
            <a:prstGeom prst="rect">
              <a:avLst/>
            </a:prstGeom>
          </p:spPr>
        </p:pic>
      </p:grpSp>
      <p:sp>
        <p:nvSpPr>
          <p:cNvPr id="16" name="Title 1">
            <a:extLst>
              <a:ext uri="{FF2B5EF4-FFF2-40B4-BE49-F238E27FC236}">
                <a16:creationId xmlns:a16="http://schemas.microsoft.com/office/drawing/2014/main" id="{33D96D2C-39D2-D146-949D-A56FF129CBA3}"/>
              </a:ext>
            </a:extLst>
          </p:cNvPr>
          <p:cNvSpPr>
            <a:spLocks noGrp="1"/>
          </p:cNvSpPr>
          <p:nvPr>
            <p:ph type="title"/>
          </p:nvPr>
        </p:nvSpPr>
        <p:spPr>
          <a:xfrm>
            <a:off x="609601" y="195127"/>
            <a:ext cx="11198086" cy="592690"/>
          </a:xfrm>
          <a:prstGeom prst="rect">
            <a:avLst/>
          </a:prstGeom>
        </p:spPr>
        <p:txBody>
          <a:bodyPr/>
          <a:lstStyle>
            <a:lvl1pPr>
              <a:defRPr sz="4000">
                <a:latin typeface="Garamond" panose="02020404030301010803" pitchFamily="18" charset="0"/>
              </a:defRPr>
            </a:lvl1pPr>
          </a:lstStyle>
          <a:p>
            <a:r>
              <a:rPr lang="en-US"/>
              <a:t>Click to edit Master title style</a:t>
            </a:r>
          </a:p>
        </p:txBody>
      </p:sp>
      <p:cxnSp>
        <p:nvCxnSpPr>
          <p:cNvPr id="3" name="Straight Connector 2">
            <a:extLst>
              <a:ext uri="{FF2B5EF4-FFF2-40B4-BE49-F238E27FC236}">
                <a16:creationId xmlns:a16="http://schemas.microsoft.com/office/drawing/2014/main" id="{0F8A6806-0C47-8F41-8CB1-123A74FCD28F}"/>
              </a:ext>
            </a:extLst>
          </p:cNvPr>
          <p:cNvCxnSpPr/>
          <p:nvPr userDrawn="1"/>
        </p:nvCxnSpPr>
        <p:spPr>
          <a:xfrm>
            <a:off x="1" y="924340"/>
            <a:ext cx="12207161" cy="0"/>
          </a:xfrm>
          <a:prstGeom prst="line">
            <a:avLst/>
          </a:prstGeom>
          <a:ln w="12700">
            <a:solidFill>
              <a:srgbClr val="008001"/>
            </a:solidFill>
          </a:ln>
        </p:spPr>
        <p:style>
          <a:lnRef idx="1">
            <a:schemeClr val="accent3"/>
          </a:lnRef>
          <a:fillRef idx="0">
            <a:schemeClr val="accent3"/>
          </a:fillRef>
          <a:effectRef idx="0">
            <a:schemeClr val="accent3"/>
          </a:effectRef>
          <a:fontRef idx="minor">
            <a:schemeClr val="tx1"/>
          </a:fontRef>
        </p:style>
      </p:cxnSp>
      <p:sp>
        <p:nvSpPr>
          <p:cNvPr id="17" name="Content Placeholder 2">
            <a:extLst>
              <a:ext uri="{FF2B5EF4-FFF2-40B4-BE49-F238E27FC236}">
                <a16:creationId xmlns:a16="http://schemas.microsoft.com/office/drawing/2014/main" id="{B14474AE-41FC-854B-B962-6E0C929C52C0}"/>
              </a:ext>
            </a:extLst>
          </p:cNvPr>
          <p:cNvSpPr>
            <a:spLocks noGrp="1"/>
          </p:cNvSpPr>
          <p:nvPr>
            <p:ph sz="half" idx="1"/>
          </p:nvPr>
        </p:nvSpPr>
        <p:spPr>
          <a:xfrm>
            <a:off x="609600" y="1002088"/>
            <a:ext cx="11198085" cy="517582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a:xfrm>
            <a:off x="86708" y="6278605"/>
            <a:ext cx="855784" cy="365125"/>
          </a:xfrm>
        </p:spPr>
        <p:txBody>
          <a:bodyPr/>
          <a:lstStyle>
            <a:lvl1pPr>
              <a:defRPr sz="2400" b="1">
                <a:solidFill>
                  <a:schemeClr val="bg1"/>
                </a:solidFill>
                <a:latin typeface="Garamond" panose="02020404030301010803" pitchFamily="18" charset="0"/>
              </a:defRPr>
            </a:lvl1pPr>
          </a:lstStyle>
          <a:p>
            <a:fld id="{F4801FD5-11B4-DE43-ACA2-E85EEB9A6F9C}" type="slidenum">
              <a:rPr lang="en-US" smtClean="0"/>
              <a:pPr/>
              <a:t>‹#›</a:t>
            </a:fld>
            <a:endParaRPr lang="en-US" dirty="0"/>
          </a:p>
        </p:txBody>
      </p:sp>
    </p:spTree>
    <p:extLst>
      <p:ext uri="{BB962C8B-B14F-4D97-AF65-F5344CB8AC3E}">
        <p14:creationId xmlns:p14="http://schemas.microsoft.com/office/powerpoint/2010/main" val="37939046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a:prstGeom prst="rect">
            <a:avLst/>
          </a:prstGeom>
        </p:spPr>
        <p:txBody>
          <a:bodyPr anchor="t"/>
          <a:lstStyle>
            <a:lvl1pPr algn="l">
              <a:defRPr sz="4000" b="1" cap="all">
                <a:latin typeface="Garamond" panose="02020404030301010803" pitchFamily="18" charset="0"/>
              </a:defRPr>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0D7EC4-0FAA-4E2B-9A38-6D09C67DA3A1}" type="datetime1">
              <a:rPr lang="en-US" smtClean="0"/>
              <a:t>12/1/2021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3130215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B8C2406-8828-418B-8809-38D0A9920C77}" type="datetime1">
              <a:rPr lang="en-US" smtClean="0"/>
              <a:t>12/1/2021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21215673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8115C99-0020-4D01-8567-E31F48D46E49}" type="datetime1">
              <a:rPr lang="en-US" smtClean="0"/>
              <a:t>12/1/2021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15018759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p:txBody>
          <a:bodyPr/>
          <a:lstStyle/>
          <a:p>
            <a:fld id="{BD30C0AC-B421-4F27-B629-B4BF5EA43D28}" type="datetime1">
              <a:rPr lang="en-US" smtClean="0"/>
              <a:t>12/1/2021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38211903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4468E7F-7F5B-4B1A-A083-B461A23AA8FA}" type="datetime1">
              <a:rPr lang="en-US" smtClean="0"/>
              <a:t>12/1/2021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21126693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F82FB52-87DB-4D57-8A37-3B02874B479C}" type="datetime1">
              <a:rPr lang="en-US" smtClean="0"/>
              <a:t>12/1/2021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9142711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332A186-4EFB-4B8E-AB2B-86BDDA713B27}" type="datetime1">
              <a:rPr lang="en-US" smtClean="0"/>
              <a:t>12/1/2021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22782987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F9EFC1A-4AC2-4AAF-A501-06099FF0D626}" type="datetime1">
              <a:rPr lang="en-US" smtClean="0"/>
              <a:t>12/1/2021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412812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F873F44-2E53-4BAA-A8EA-A81B2EB64AD8}" type="datetime1">
              <a:rPr lang="en-US" smtClean="0"/>
              <a:t>12/1/2021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26707956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9488C0D-608D-44E2-B7D7-7A7555FE1132}" type="datetime1">
              <a:rPr lang="en-US" smtClean="0"/>
              <a:t>12/1/2021</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801FD5-11B4-DE43-ACA2-E85EEB9A6F9C}" type="slidenum">
              <a:rPr lang="en-US" smtClean="0"/>
              <a:t>‹#›</a:t>
            </a:fld>
            <a:endParaRPr lang="en-US"/>
          </a:p>
        </p:txBody>
      </p:sp>
    </p:spTree>
    <p:extLst>
      <p:ext uri="{BB962C8B-B14F-4D97-AF65-F5344CB8AC3E}">
        <p14:creationId xmlns:p14="http://schemas.microsoft.com/office/powerpoint/2010/main" val="2954336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jpeg"/></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image" Target="../media/image27.wmf"/><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image" Target="../media/image29.w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26.wmf"/><Relationship Id="rId11" Type="http://schemas.openxmlformats.org/officeDocument/2006/relationships/oleObject" Target="../embeddings/oleObject5.bin"/><Relationship Id="rId5" Type="http://schemas.openxmlformats.org/officeDocument/2006/relationships/oleObject" Target="../embeddings/oleObject2.bin"/><Relationship Id="rId10" Type="http://schemas.openxmlformats.org/officeDocument/2006/relationships/image" Target="../media/image28.wmf"/><Relationship Id="rId4" Type="http://schemas.openxmlformats.org/officeDocument/2006/relationships/image" Target="../media/image25.wmf"/><Relationship Id="rId9" Type="http://schemas.openxmlformats.org/officeDocument/2006/relationships/oleObject" Target="../embeddings/oleObject4.bin"/></Relationships>
</file>

<file path=ppt/slides/_rels/slide2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oleObject" Target="../embeddings/oleObject6.bin"/><Relationship Id="rId7"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32.png"/><Relationship Id="rId5" Type="http://schemas.openxmlformats.org/officeDocument/2006/relationships/oleObject" Target="../embeddings/oleObject7.bin"/><Relationship Id="rId4" Type="http://schemas.openxmlformats.org/officeDocument/2006/relationships/image" Target="../media/image31.w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34.wmf"/></Relationships>
</file>

<file path=ppt/slides/_rels/slide23.xml.rels><?xml version="1.0" encoding="UTF-8" standalone="yes"?>
<Relationships xmlns="http://schemas.openxmlformats.org/package/2006/relationships"><Relationship Id="rId8" Type="http://schemas.openxmlformats.org/officeDocument/2006/relationships/image" Target="../media/image37.wmf"/><Relationship Id="rId3" Type="http://schemas.openxmlformats.org/officeDocument/2006/relationships/oleObject" Target="../embeddings/oleObject10.bin"/><Relationship Id="rId7" Type="http://schemas.openxmlformats.org/officeDocument/2006/relationships/oleObject" Target="../embeddings/oleObject12.bin"/><Relationship Id="rId12" Type="http://schemas.openxmlformats.org/officeDocument/2006/relationships/image" Target="../media/image39.wmf"/><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36.wmf"/><Relationship Id="rId11" Type="http://schemas.openxmlformats.org/officeDocument/2006/relationships/oleObject" Target="../embeddings/oleObject14.bin"/><Relationship Id="rId5" Type="http://schemas.openxmlformats.org/officeDocument/2006/relationships/oleObject" Target="../embeddings/oleObject11.bin"/><Relationship Id="rId10" Type="http://schemas.openxmlformats.org/officeDocument/2006/relationships/image" Target="../media/image38.wmf"/><Relationship Id="rId4" Type="http://schemas.openxmlformats.org/officeDocument/2006/relationships/image" Target="../media/image35.wmf"/><Relationship Id="rId9" Type="http://schemas.openxmlformats.org/officeDocument/2006/relationships/oleObject" Target="../embeddings/oleObject13.bin"/></Relationships>
</file>

<file path=ppt/slides/_rels/slide24.x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42.wmf"/><Relationship Id="rId3" Type="http://schemas.openxmlformats.org/officeDocument/2006/relationships/image" Target="../media/image43.emf"/><Relationship Id="rId7" Type="http://schemas.openxmlformats.org/officeDocument/2006/relationships/oleObject" Target="../embeddings/oleObject16.bin"/><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44.emf"/><Relationship Id="rId5" Type="http://schemas.openxmlformats.org/officeDocument/2006/relationships/image" Target="../media/image41.wmf"/><Relationship Id="rId4" Type="http://schemas.openxmlformats.org/officeDocument/2006/relationships/oleObject" Target="../embeddings/oleObject15.bin"/></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45.wmf"/></Relationships>
</file>

<file path=ppt/slides/_rels/slide2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50.w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9.gif"/><Relationship Id="rId2" Type="http://schemas.openxmlformats.org/officeDocument/2006/relationships/image" Target="../media/image58.png"/><Relationship Id="rId1" Type="http://schemas.openxmlformats.org/officeDocument/2006/relationships/slideLayout" Target="../slideLayouts/slideLayout2.xml"/><Relationship Id="rId5" Type="http://schemas.openxmlformats.org/officeDocument/2006/relationships/image" Target="../media/image61.jpeg"/><Relationship Id="rId4" Type="http://schemas.openxmlformats.org/officeDocument/2006/relationships/image" Target="../media/image60.png"/></Relationships>
</file>

<file path=ppt/slides/_rels/slide39.xml.rels><?xml version="1.0" encoding="UTF-8" standalone="yes"?>
<Relationships xmlns="http://schemas.openxmlformats.org/package/2006/relationships"><Relationship Id="rId2" Type="http://schemas.openxmlformats.org/officeDocument/2006/relationships/image" Target="../media/image6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ubtitle 2"/>
          <p:cNvSpPr txBox="1">
            <a:spLocks/>
          </p:cNvSpPr>
          <p:nvPr/>
        </p:nvSpPr>
        <p:spPr>
          <a:xfrm>
            <a:off x="1809245" y="5271247"/>
            <a:ext cx="8432872" cy="1345757"/>
          </a:xfrm>
          <a:prstGeom prst="rect">
            <a:avLst/>
          </a:prstGeom>
        </p:spPr>
        <p:txBody>
          <a:bodyPr vert="horz" lIns="91440" tIns="45720" rIns="91440" bIns="45720" rtlCol="0">
            <a:normAutofit/>
          </a:bodyPr>
          <a:lstStyle>
            <a:lvl1pPr marL="0" indent="0" algn="ctr" defTabSz="457200" rtl="0" eaLnBrk="1" latinLnBrk="0" hangingPunct="1">
              <a:spcBef>
                <a:spcPct val="20000"/>
              </a:spcBef>
              <a:buFont typeface="Arial"/>
              <a:buNone/>
              <a:defRPr sz="3200" kern="1200">
                <a:solidFill>
                  <a:schemeClr val="bg1">
                    <a:lumMod val="50000"/>
                  </a:schemeClr>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400" b="1" dirty="0">
                <a:solidFill>
                  <a:schemeClr val="tx1"/>
                </a:solidFill>
                <a:latin typeface="Helvetica"/>
                <a:cs typeface="Helvetica"/>
              </a:rPr>
              <a:t>Francis Kofi Forson (Professor)</a:t>
            </a:r>
          </a:p>
          <a:p>
            <a:r>
              <a:rPr lang="en-US" sz="1800" b="1" dirty="0">
                <a:latin typeface="Helvetica"/>
                <a:cs typeface="Helvetica"/>
              </a:rPr>
              <a:t>Department of Mechanical Engineering</a:t>
            </a:r>
          </a:p>
          <a:p>
            <a:r>
              <a:rPr lang="en-US" sz="1800" b="1" dirty="0">
                <a:latin typeface="Helvetica"/>
                <a:cs typeface="Helvetica"/>
              </a:rPr>
              <a:t>Kwame Nkrumah University of Science and Technology, Kumasi, Ghana</a:t>
            </a:r>
          </a:p>
        </p:txBody>
      </p:sp>
      <p:sp>
        <p:nvSpPr>
          <p:cNvPr id="6" name="Text Placeholder 3">
            <a:extLst>
              <a:ext uri="{FF2B5EF4-FFF2-40B4-BE49-F238E27FC236}">
                <a16:creationId xmlns:a16="http://schemas.microsoft.com/office/drawing/2014/main" id="{E81EFB1F-8D7C-2F44-8B60-6C24E97F6990}"/>
              </a:ext>
            </a:extLst>
          </p:cNvPr>
          <p:cNvSpPr txBox="1">
            <a:spLocks/>
          </p:cNvSpPr>
          <p:nvPr/>
        </p:nvSpPr>
        <p:spPr>
          <a:xfrm>
            <a:off x="1346423" y="3908277"/>
            <a:ext cx="9814635" cy="1115054"/>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GB" sz="3600" b="1" dirty="0">
                <a:solidFill>
                  <a:srgbClr val="C00000"/>
                </a:solidFill>
                <a:latin typeface="Georgia" panose="02040502050405020303" pitchFamily="18" charset="0"/>
              </a:rPr>
              <a:t>THERMODYNAMICS I</a:t>
            </a:r>
          </a:p>
          <a:p>
            <a:pPr algn="ctr"/>
            <a:r>
              <a:rPr lang="en-GB" sz="3600" b="1" dirty="0">
                <a:solidFill>
                  <a:srgbClr val="C00000"/>
                </a:solidFill>
                <a:latin typeface="Georgia" panose="02040502050405020303" pitchFamily="18" charset="0"/>
              </a:rPr>
              <a:t>(ME 265)</a:t>
            </a:r>
          </a:p>
        </p:txBody>
      </p:sp>
      <p:pic>
        <p:nvPicPr>
          <p:cNvPr id="1026" name="Picture 2" descr="The Emblem | Kwame Nkrumah University of Science and Technolog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39235" y="974941"/>
            <a:ext cx="2501153" cy="28315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88710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Course Content</a:t>
            </a:r>
            <a:endParaRPr lang="en-US" dirty="0">
              <a:solidFill>
                <a:srgbClr val="002060"/>
              </a:solidFill>
              <a:latin typeface="Georgia" panose="02040502050405020303" pitchFamily="18" charset="0"/>
            </a:endParaRPr>
          </a:p>
        </p:txBody>
      </p:sp>
      <p:sp>
        <p:nvSpPr>
          <p:cNvPr id="3" name="Content Placeholder 2"/>
          <p:cNvSpPr>
            <a:spLocks noGrp="1"/>
          </p:cNvSpPr>
          <p:nvPr>
            <p:ph sz="half" idx="1"/>
          </p:nvPr>
        </p:nvSpPr>
        <p:spPr/>
        <p:txBody>
          <a:bodyPr>
            <a:normAutofit/>
          </a:bodyPr>
          <a:lstStyle/>
          <a:p>
            <a:pPr>
              <a:buFont typeface="Wingdings" panose="05000000000000000000" pitchFamily="2" charset="2"/>
              <a:buChar char="Ø"/>
            </a:pPr>
            <a:r>
              <a:rPr lang="en-US" sz="4700" dirty="0"/>
              <a:t>Introduction (Definitions and Concepts)</a:t>
            </a:r>
          </a:p>
          <a:p>
            <a:pPr>
              <a:buFont typeface="Wingdings" panose="05000000000000000000" pitchFamily="2" charset="2"/>
              <a:buChar char="Ø"/>
            </a:pPr>
            <a:r>
              <a:rPr lang="en-US" sz="4700" dirty="0"/>
              <a:t>First Law of Thermodynamics</a:t>
            </a:r>
          </a:p>
          <a:p>
            <a:pPr>
              <a:buFont typeface="Wingdings" panose="05000000000000000000" pitchFamily="2" charset="2"/>
              <a:buChar char="Ø"/>
            </a:pPr>
            <a:r>
              <a:rPr lang="en-US" sz="4700" dirty="0"/>
              <a:t>Second Law of Thermodynamics</a:t>
            </a:r>
          </a:p>
          <a:p>
            <a:pPr>
              <a:buFont typeface="Wingdings" panose="05000000000000000000" pitchFamily="2" charset="2"/>
              <a:buChar char="Ø"/>
            </a:pPr>
            <a:r>
              <a:rPr lang="en-US" sz="4700" dirty="0"/>
              <a:t>Properties of Liquids and Vapours</a:t>
            </a:r>
          </a:p>
          <a:p>
            <a:pPr>
              <a:buFont typeface="Wingdings" panose="05000000000000000000" pitchFamily="2" charset="2"/>
              <a:buChar char="Ø"/>
            </a:pPr>
            <a:r>
              <a:rPr lang="en-US" sz="4700" dirty="0"/>
              <a:t>Vapour Power Cycles: Rankine Cycle</a:t>
            </a:r>
          </a:p>
        </p:txBody>
      </p:sp>
      <p:sp>
        <p:nvSpPr>
          <p:cNvPr id="4" name="Slide Number Placeholder 3"/>
          <p:cNvSpPr>
            <a:spLocks noGrp="1"/>
          </p:cNvSpPr>
          <p:nvPr>
            <p:ph type="sldNum" sz="quarter" idx="12"/>
          </p:nvPr>
        </p:nvSpPr>
        <p:spPr/>
        <p:txBody>
          <a:bodyPr/>
          <a:lstStyle/>
          <a:p>
            <a:fld id="{F4801FD5-11B4-DE43-ACA2-E85EEB9A6F9C}" type="slidenum">
              <a:rPr lang="en-US" smtClean="0"/>
              <a:pPr/>
              <a:t>2</a:t>
            </a:fld>
            <a:endParaRPr lang="en-US" dirty="0"/>
          </a:p>
        </p:txBody>
      </p:sp>
    </p:spTree>
    <p:extLst>
      <p:ext uri="{BB962C8B-B14F-4D97-AF65-F5344CB8AC3E}">
        <p14:creationId xmlns:p14="http://schemas.microsoft.com/office/powerpoint/2010/main" val="3249198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1" y="195127"/>
            <a:ext cx="11198086" cy="592690"/>
          </a:xfrm>
        </p:spPr>
        <p:txBody>
          <a:bodyPr/>
          <a:lstStyle/>
          <a:p>
            <a:r>
              <a:rPr lang="en-US" sz="3200" b="1" dirty="0">
                <a:solidFill>
                  <a:srgbClr val="002060"/>
                </a:solidFill>
                <a:latin typeface="Georgia" panose="02040502050405020303" pitchFamily="18" charset="0"/>
              </a:rPr>
              <a:t>References/Reading List /Recommended Textbooks</a:t>
            </a:r>
            <a:endParaRPr lang="en-US" sz="3200" dirty="0">
              <a:solidFill>
                <a:srgbClr val="002060"/>
              </a:solidFill>
              <a:latin typeface="Georgia" panose="02040502050405020303" pitchFamily="18" charset="0"/>
            </a:endParaRPr>
          </a:p>
        </p:txBody>
      </p:sp>
      <p:sp>
        <p:nvSpPr>
          <p:cNvPr id="3" name="Content Placeholder 2"/>
          <p:cNvSpPr>
            <a:spLocks noGrp="1"/>
          </p:cNvSpPr>
          <p:nvPr>
            <p:ph sz="half" idx="1"/>
          </p:nvPr>
        </p:nvSpPr>
        <p:spPr>
          <a:xfrm>
            <a:off x="609600" y="1002089"/>
            <a:ext cx="11358282" cy="5273206"/>
          </a:xfrm>
        </p:spPr>
        <p:txBody>
          <a:bodyPr>
            <a:normAutofit/>
          </a:bodyPr>
          <a:lstStyle/>
          <a:p>
            <a:pPr>
              <a:buFont typeface="Wingdings" panose="05000000000000000000" pitchFamily="2" charset="2"/>
              <a:buChar char="Ø"/>
            </a:pPr>
            <a:r>
              <a:rPr lang="en-US" sz="3200" dirty="0"/>
              <a:t>Lecture Materials (Notes and Slides)</a:t>
            </a:r>
          </a:p>
          <a:p>
            <a:pPr lvl="0">
              <a:buFont typeface="Wingdings" panose="05000000000000000000" pitchFamily="2" charset="2"/>
              <a:buChar char="Ø"/>
            </a:pPr>
            <a:r>
              <a:rPr lang="en-US" dirty="0"/>
              <a:t>Y. A. Cengel and M. A. Boles (2019). Thermodynamics: An Engineering Approach 9</a:t>
            </a:r>
            <a:r>
              <a:rPr lang="en-US" baseline="30000" dirty="0"/>
              <a:t>th</a:t>
            </a:r>
            <a:r>
              <a:rPr lang="en-US" dirty="0"/>
              <a:t> Edition.</a:t>
            </a:r>
          </a:p>
          <a:p>
            <a:pPr lvl="0">
              <a:buFont typeface="Wingdings" panose="05000000000000000000" pitchFamily="2" charset="2"/>
              <a:buChar char="Ø"/>
            </a:pPr>
            <a:r>
              <a:rPr lang="en-US" dirty="0"/>
              <a:t>M.J. Moran, H. N. Shapiro, D. D. Boettner, M. B. Bailey (2018). Fundamentals of Engineering Thermodynamics 9</a:t>
            </a:r>
            <a:r>
              <a:rPr lang="en-US" baseline="30000" dirty="0"/>
              <a:t>th</a:t>
            </a:r>
            <a:r>
              <a:rPr lang="en-US" dirty="0"/>
              <a:t> Edition.</a:t>
            </a:r>
          </a:p>
          <a:p>
            <a:pPr lvl="0">
              <a:buFont typeface="Wingdings" panose="05000000000000000000" pitchFamily="2" charset="2"/>
              <a:buChar char="Ø"/>
            </a:pPr>
            <a:r>
              <a:rPr lang="en-US" dirty="0"/>
              <a:t>R. K. Rajput (2007). Engineering Thermodynamics 4</a:t>
            </a:r>
            <a:r>
              <a:rPr lang="en-US" baseline="30000" dirty="0"/>
              <a:t>th</a:t>
            </a:r>
            <a:r>
              <a:rPr lang="en-US" dirty="0"/>
              <a:t> Edition.</a:t>
            </a:r>
          </a:p>
          <a:p>
            <a:pPr marL="0" indent="0">
              <a:buNone/>
            </a:pPr>
            <a:endParaRPr lang="en-US" dirty="0"/>
          </a:p>
        </p:txBody>
      </p:sp>
      <p:sp>
        <p:nvSpPr>
          <p:cNvPr id="4" name="Slide Number Placeholder 3"/>
          <p:cNvSpPr>
            <a:spLocks noGrp="1"/>
          </p:cNvSpPr>
          <p:nvPr>
            <p:ph type="sldNum" sz="quarter" idx="12"/>
          </p:nvPr>
        </p:nvSpPr>
        <p:spPr/>
        <p:txBody>
          <a:bodyPr/>
          <a:lstStyle/>
          <a:p>
            <a:fld id="{F4801FD5-11B4-DE43-ACA2-E85EEB9A6F9C}" type="slidenum">
              <a:rPr lang="en-US" smtClean="0"/>
              <a:pPr/>
              <a:t>3</a:t>
            </a:fld>
            <a:endParaRPr lang="en-US" dirty="0"/>
          </a:p>
        </p:txBody>
      </p:sp>
    </p:spTree>
    <p:extLst>
      <p:ext uri="{BB962C8B-B14F-4D97-AF65-F5344CB8AC3E}">
        <p14:creationId xmlns:p14="http://schemas.microsoft.com/office/powerpoint/2010/main" val="1338641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1" y="195127"/>
            <a:ext cx="11198086" cy="592690"/>
          </a:xfrm>
        </p:spPr>
        <p:txBody>
          <a:bodyPr/>
          <a:lstStyle/>
          <a:p>
            <a:r>
              <a:rPr lang="en-US" sz="3200" b="1" dirty="0">
                <a:solidFill>
                  <a:srgbClr val="002060"/>
                </a:solidFill>
                <a:latin typeface="Georgia" panose="02040502050405020303" pitchFamily="18" charset="0"/>
              </a:rPr>
              <a:t>ASSESSMENT</a:t>
            </a:r>
            <a:endParaRPr lang="en-US" sz="3200" dirty="0">
              <a:solidFill>
                <a:srgbClr val="002060"/>
              </a:solidFill>
              <a:latin typeface="Georgia" panose="02040502050405020303" pitchFamily="18" charset="0"/>
            </a:endParaRPr>
          </a:p>
        </p:txBody>
      </p:sp>
      <p:sp>
        <p:nvSpPr>
          <p:cNvPr id="3" name="Content Placeholder 2"/>
          <p:cNvSpPr>
            <a:spLocks noGrp="1"/>
          </p:cNvSpPr>
          <p:nvPr>
            <p:ph sz="half" idx="1"/>
          </p:nvPr>
        </p:nvSpPr>
        <p:spPr>
          <a:xfrm>
            <a:off x="609600" y="1002089"/>
            <a:ext cx="11358282" cy="3763875"/>
          </a:xfrm>
        </p:spPr>
        <p:txBody>
          <a:bodyPr>
            <a:normAutofit fontScale="92500" lnSpcReduction="20000"/>
          </a:bodyPr>
          <a:lstStyle/>
          <a:p>
            <a:pPr>
              <a:buFont typeface="Wingdings" panose="05000000000000000000" pitchFamily="2" charset="2"/>
              <a:buChar char="v"/>
            </a:pPr>
            <a:r>
              <a:rPr lang="en-US" dirty="0"/>
              <a:t>Hard copies of two online quizzes would be given to students on day 1 of lectures on 17/01/2022</a:t>
            </a:r>
          </a:p>
          <a:p>
            <a:pPr>
              <a:buFont typeface="Wingdings" panose="05000000000000000000" pitchFamily="2" charset="2"/>
              <a:buChar char="v"/>
            </a:pPr>
            <a:r>
              <a:rPr lang="en-US" dirty="0"/>
              <a:t>Quiz 1 will be conducted online between 8am and 12 midnight on 15/02/2022. When you log in into the system to start the quiz, you have 2 hours to complete the questions. Note that you have only one attempt to select the correct answer to each question.</a:t>
            </a:r>
          </a:p>
          <a:p>
            <a:pPr>
              <a:buFont typeface="Wingdings" panose="05000000000000000000" pitchFamily="2" charset="2"/>
              <a:buChar char="v"/>
            </a:pPr>
            <a:r>
              <a:rPr lang="en-US" dirty="0"/>
              <a:t>Quiz 2 will be conducted online between 8am and 12 midnight on 5/04/2022. When you log in into the system to start the quiz, you have 2 hours to complete the questions. Note that you have only one attempt to select the correct answer to each question.</a:t>
            </a:r>
          </a:p>
          <a:p>
            <a:pPr>
              <a:buFont typeface="Wingdings" panose="05000000000000000000" pitchFamily="2" charset="2"/>
              <a:buChar char="v"/>
            </a:pPr>
            <a:endParaRPr lang="en-US" dirty="0"/>
          </a:p>
          <a:p>
            <a:pPr>
              <a:buFont typeface="Wingdings" panose="05000000000000000000" pitchFamily="2" charset="2"/>
              <a:buChar char="v"/>
            </a:pPr>
            <a:endParaRPr lang="en-US" dirty="0"/>
          </a:p>
          <a:p>
            <a:pPr>
              <a:buFont typeface="Wingdings" panose="05000000000000000000" pitchFamily="2" charset="2"/>
              <a:buChar char="v"/>
            </a:pPr>
            <a:endParaRPr lang="en-US" dirty="0"/>
          </a:p>
        </p:txBody>
      </p:sp>
      <p:sp>
        <p:nvSpPr>
          <p:cNvPr id="4" name="Slide Number Placeholder 3"/>
          <p:cNvSpPr>
            <a:spLocks noGrp="1"/>
          </p:cNvSpPr>
          <p:nvPr>
            <p:ph type="sldNum" sz="quarter" idx="12"/>
          </p:nvPr>
        </p:nvSpPr>
        <p:spPr/>
        <p:txBody>
          <a:bodyPr/>
          <a:lstStyle/>
          <a:p>
            <a:fld id="{F4801FD5-11B4-DE43-ACA2-E85EEB9A6F9C}" type="slidenum">
              <a:rPr lang="en-US" smtClean="0"/>
              <a:pPr/>
              <a:t>4</a:t>
            </a:fld>
            <a:endParaRPr lang="en-US" dirty="0"/>
          </a:p>
        </p:txBody>
      </p:sp>
      <p:graphicFrame>
        <p:nvGraphicFramePr>
          <p:cNvPr id="5" name="Table 5">
            <a:extLst>
              <a:ext uri="{FF2B5EF4-FFF2-40B4-BE49-F238E27FC236}">
                <a16:creationId xmlns:a16="http://schemas.microsoft.com/office/drawing/2014/main" id="{A2461226-49BB-4711-9EC9-54426A5D5A02}"/>
              </a:ext>
            </a:extLst>
          </p:cNvPr>
          <p:cNvGraphicFramePr>
            <a:graphicFrameLocks noGrp="1"/>
          </p:cNvGraphicFramePr>
          <p:nvPr>
            <p:extLst>
              <p:ext uri="{D42A27DB-BD31-4B8C-83A1-F6EECF244321}">
                <p14:modId xmlns:p14="http://schemas.microsoft.com/office/powerpoint/2010/main" val="2997429009"/>
              </p:ext>
            </p:extLst>
          </p:nvPr>
        </p:nvGraphicFramePr>
        <p:xfrm>
          <a:off x="1096509" y="4642038"/>
          <a:ext cx="10224270" cy="1313512"/>
        </p:xfrm>
        <a:graphic>
          <a:graphicData uri="http://schemas.openxmlformats.org/drawingml/2006/table">
            <a:tbl>
              <a:tblPr firstRow="1" bandRow="1">
                <a:tableStyleId>{5C22544A-7EE6-4342-B048-85BDC9FD1C3A}</a:tableStyleId>
              </a:tblPr>
              <a:tblGrid>
                <a:gridCol w="3408090">
                  <a:extLst>
                    <a:ext uri="{9D8B030D-6E8A-4147-A177-3AD203B41FA5}">
                      <a16:colId xmlns:a16="http://schemas.microsoft.com/office/drawing/2014/main" val="622053015"/>
                    </a:ext>
                  </a:extLst>
                </a:gridCol>
                <a:gridCol w="3408090">
                  <a:extLst>
                    <a:ext uri="{9D8B030D-6E8A-4147-A177-3AD203B41FA5}">
                      <a16:colId xmlns:a16="http://schemas.microsoft.com/office/drawing/2014/main" val="289070818"/>
                    </a:ext>
                  </a:extLst>
                </a:gridCol>
                <a:gridCol w="3408090">
                  <a:extLst>
                    <a:ext uri="{9D8B030D-6E8A-4147-A177-3AD203B41FA5}">
                      <a16:colId xmlns:a16="http://schemas.microsoft.com/office/drawing/2014/main" val="1852246992"/>
                    </a:ext>
                  </a:extLst>
                </a:gridCol>
              </a:tblGrid>
              <a:tr h="1313512">
                <a:tc>
                  <a:txBody>
                    <a:bodyPr/>
                    <a:lstStyle/>
                    <a:p>
                      <a:pPr marL="0" marR="0">
                        <a:lnSpc>
                          <a:spcPct val="107000"/>
                        </a:lnSpc>
                        <a:spcBef>
                          <a:spcPts val="0"/>
                        </a:spcBef>
                        <a:spcAft>
                          <a:spcPts val="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Weightings of quizzes and exams</a:t>
                      </a:r>
                    </a:p>
                  </a:txBody>
                  <a:tcPr marL="68580" marR="68580" marT="0" marB="0"/>
                </a:tc>
                <a:tc>
                  <a:txBody>
                    <a:bodyPr/>
                    <a:lstStyle/>
                    <a:p>
                      <a:pPr marL="0" marR="0">
                        <a:lnSpc>
                          <a:spcPct val="107000"/>
                        </a:lnSpc>
                        <a:spcBef>
                          <a:spcPts val="0"/>
                        </a:spcBef>
                        <a:spcAft>
                          <a:spcPts val="0"/>
                        </a:spcAft>
                      </a:pPr>
                      <a:r>
                        <a:rPr lang="en-US" sz="1800" b="1" u="sng" dirty="0">
                          <a:effectLst/>
                          <a:latin typeface="Times New Roman" panose="02020603050405020304" pitchFamily="18" charset="0"/>
                          <a:ea typeface="Calibri" panose="020F0502020204030204" pitchFamily="34" charset="0"/>
                          <a:cs typeface="Times New Roman" panose="02020603050405020304" pitchFamily="18" charset="0"/>
                        </a:rPr>
                        <a:t>Continuous Assessment (30%)</a:t>
                      </a:r>
                      <a:endParaRPr lang="en-US" sz="2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Quiz 1 10%</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Quiz 2 10%</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Mid- Semester 10%</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000" b="1" u="sng" dirty="0">
                          <a:effectLst/>
                          <a:latin typeface="Times New Roman" panose="02020603050405020304" pitchFamily="18" charset="0"/>
                          <a:ea typeface="Calibri" panose="020F0502020204030204" pitchFamily="34" charset="0"/>
                          <a:cs typeface="Times New Roman" panose="02020603050405020304" pitchFamily="18" charset="0"/>
                        </a:rPr>
                        <a:t>Final Examination (70 %)</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Section A: 49 %</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Section B: 51 %</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17573028"/>
                  </a:ext>
                </a:extLst>
              </a:tr>
            </a:tbl>
          </a:graphicData>
        </a:graphic>
      </p:graphicFrame>
    </p:spTree>
    <p:extLst>
      <p:ext uri="{BB962C8B-B14F-4D97-AF65-F5344CB8AC3E}">
        <p14:creationId xmlns:p14="http://schemas.microsoft.com/office/powerpoint/2010/main" val="18583599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A8B02BC7-9B65-A649-A6AA-B9A015F5977F}"/>
              </a:ext>
            </a:extLst>
          </p:cNvPr>
          <p:cNvSpPr>
            <a:spLocks noGrp="1"/>
          </p:cNvSpPr>
          <p:nvPr>
            <p:ph type="ctrTitle"/>
          </p:nvPr>
        </p:nvSpPr>
        <p:spPr>
          <a:xfrm>
            <a:off x="352540" y="949448"/>
            <a:ext cx="11149069" cy="1031752"/>
          </a:xfrm>
        </p:spPr>
        <p:txBody>
          <a:bodyPr vert="horz" lIns="68580" tIns="34290" rIns="68580" bIns="34290" rtlCol="0" anchor="b">
            <a:noAutofit/>
          </a:bodyPr>
          <a:lstStyle/>
          <a:p>
            <a:r>
              <a:rPr lang="en-GB" sz="3200" b="1" dirty="0">
                <a:solidFill>
                  <a:srgbClr val="0070C0"/>
                </a:solidFill>
                <a:latin typeface="Georgia" panose="02040502050405020303" pitchFamily="18" charset="0"/>
              </a:rPr>
              <a:t>THERMODYNAMICS I (ME 265)</a:t>
            </a:r>
            <a:br>
              <a:rPr lang="en-GB" sz="3200" b="1" dirty="0">
                <a:solidFill>
                  <a:srgbClr val="0070C0"/>
                </a:solidFill>
                <a:latin typeface="Eras Demi ITC" panose="020B0805030504020804" pitchFamily="34" charset="0"/>
              </a:rPr>
            </a:br>
            <a:endParaRPr lang="en-GB" sz="3200" dirty="0">
              <a:latin typeface="Eras Demi ITC" panose="020B0805030504020804" pitchFamily="34" charset="0"/>
            </a:endParaRPr>
          </a:p>
        </p:txBody>
      </p:sp>
      <p:sp>
        <p:nvSpPr>
          <p:cNvPr id="11" name="Subtitle 2"/>
          <p:cNvSpPr txBox="1">
            <a:spLocks/>
          </p:cNvSpPr>
          <p:nvPr/>
        </p:nvSpPr>
        <p:spPr>
          <a:xfrm>
            <a:off x="1809245" y="5405717"/>
            <a:ext cx="8432872" cy="1211287"/>
          </a:xfrm>
          <a:prstGeom prst="rect">
            <a:avLst/>
          </a:prstGeom>
        </p:spPr>
        <p:txBody>
          <a:bodyPr vert="horz" lIns="91440" tIns="45720" rIns="91440" bIns="45720" rtlCol="0">
            <a:normAutofit/>
          </a:bodyPr>
          <a:lstStyle>
            <a:lvl1pPr marL="0" indent="0" algn="ctr" defTabSz="457200" rtl="0" eaLnBrk="1" latinLnBrk="0" hangingPunct="1">
              <a:spcBef>
                <a:spcPct val="20000"/>
              </a:spcBef>
              <a:buFont typeface="Arial"/>
              <a:buNone/>
              <a:defRPr sz="3200" kern="1200">
                <a:solidFill>
                  <a:schemeClr val="bg1">
                    <a:lumMod val="50000"/>
                  </a:schemeClr>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400" b="1" dirty="0">
                <a:solidFill>
                  <a:schemeClr val="tx1"/>
                </a:solidFill>
                <a:latin typeface="Helvetica"/>
                <a:cs typeface="Helvetica"/>
              </a:rPr>
              <a:t>Francis Kofi Forson (Professor)</a:t>
            </a:r>
          </a:p>
          <a:p>
            <a:r>
              <a:rPr lang="en-US" sz="1800" b="1" dirty="0">
                <a:latin typeface="Helvetica"/>
                <a:cs typeface="Helvetica"/>
              </a:rPr>
              <a:t>Department of Mechanical Engineering</a:t>
            </a:r>
          </a:p>
          <a:p>
            <a:r>
              <a:rPr lang="en-US" sz="1800" b="1" dirty="0">
                <a:latin typeface="Helvetica"/>
                <a:cs typeface="Helvetica"/>
              </a:rPr>
              <a:t>Kwame Nkrumah University of Science and Technology, Kumasi, Ghana</a:t>
            </a:r>
          </a:p>
        </p:txBody>
      </p:sp>
      <p:sp>
        <p:nvSpPr>
          <p:cNvPr id="6" name="Text Placeholder 3">
            <a:extLst>
              <a:ext uri="{FF2B5EF4-FFF2-40B4-BE49-F238E27FC236}">
                <a16:creationId xmlns:a16="http://schemas.microsoft.com/office/drawing/2014/main" id="{E81EFB1F-8D7C-2F44-8B60-6C24E97F6990}"/>
              </a:ext>
            </a:extLst>
          </p:cNvPr>
          <p:cNvSpPr txBox="1">
            <a:spLocks/>
          </p:cNvSpPr>
          <p:nvPr/>
        </p:nvSpPr>
        <p:spPr>
          <a:xfrm>
            <a:off x="1346423" y="3908277"/>
            <a:ext cx="9814635" cy="1115054"/>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GB" sz="3600" b="1" dirty="0">
                <a:solidFill>
                  <a:srgbClr val="C00000"/>
                </a:solidFill>
                <a:latin typeface="Georgia" panose="02040502050405020303" pitchFamily="18" charset="0"/>
              </a:rPr>
              <a:t>INTRODUCTION</a:t>
            </a:r>
          </a:p>
          <a:p>
            <a:pPr algn="ctr"/>
            <a:r>
              <a:rPr lang="en-GB" sz="3600" b="1" dirty="0">
                <a:solidFill>
                  <a:srgbClr val="002060"/>
                </a:solidFill>
                <a:latin typeface="Garamond" panose="02020404030301010803" pitchFamily="18" charset="0"/>
              </a:rPr>
              <a:t>(Basic Concepts and Definitions)</a:t>
            </a:r>
          </a:p>
        </p:txBody>
      </p:sp>
      <p:pic>
        <p:nvPicPr>
          <p:cNvPr id="1026" name="Picture 2" descr="The Emblem | Kwame Nkrumah University of Science and Technolog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1253" y="1577247"/>
            <a:ext cx="1969135" cy="22292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25735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Introduction</a:t>
            </a:r>
            <a:endParaRPr lang="en-US" dirty="0">
              <a:solidFill>
                <a:srgbClr val="002060"/>
              </a:solidFill>
              <a:latin typeface="Georgia" panose="02040502050405020303" pitchFamily="18" charset="0"/>
            </a:endParaRPr>
          </a:p>
        </p:txBody>
      </p:sp>
      <p:sp>
        <p:nvSpPr>
          <p:cNvPr id="3" name="Content Placeholder 2"/>
          <p:cNvSpPr>
            <a:spLocks noGrp="1"/>
          </p:cNvSpPr>
          <p:nvPr>
            <p:ph sz="half" idx="1"/>
          </p:nvPr>
        </p:nvSpPr>
        <p:spPr>
          <a:xfrm>
            <a:off x="609598" y="1714997"/>
            <a:ext cx="8090648" cy="4563608"/>
          </a:xfrm>
        </p:spPr>
        <p:txBody>
          <a:bodyPr>
            <a:noAutofit/>
          </a:bodyPr>
          <a:lstStyle/>
          <a:p>
            <a:pPr>
              <a:buFont typeface="Wingdings" panose="05000000000000000000" pitchFamily="2" charset="2"/>
              <a:buChar char="v"/>
            </a:pPr>
            <a:r>
              <a:rPr lang="en-US" b="1" dirty="0">
                <a:solidFill>
                  <a:srgbClr val="002060"/>
                </a:solidFill>
              </a:rPr>
              <a:t>Thermodynamics is concerned with the </a:t>
            </a:r>
            <a:r>
              <a:rPr lang="en-US" b="1" dirty="0">
                <a:solidFill>
                  <a:srgbClr val="C00000"/>
                </a:solidFill>
              </a:rPr>
              <a:t>study of energy</a:t>
            </a:r>
            <a:r>
              <a:rPr lang="en-US" b="1" dirty="0">
                <a:solidFill>
                  <a:srgbClr val="002060"/>
                </a:solidFill>
              </a:rPr>
              <a:t>, its forms and transformations, and </a:t>
            </a:r>
            <a:r>
              <a:rPr lang="en-US" b="1" dirty="0">
                <a:solidFill>
                  <a:srgbClr val="C00000"/>
                </a:solidFill>
              </a:rPr>
              <a:t>the interactions of energy with matter</a:t>
            </a:r>
            <a:r>
              <a:rPr lang="en-US" b="1" dirty="0">
                <a:solidFill>
                  <a:srgbClr val="002060"/>
                </a:solidFill>
              </a:rPr>
              <a:t>. </a:t>
            </a:r>
          </a:p>
          <a:p>
            <a:pPr>
              <a:buFont typeface="Wingdings" panose="05000000000000000000" pitchFamily="2" charset="2"/>
              <a:buChar char="v"/>
            </a:pPr>
            <a:r>
              <a:rPr lang="en-US" dirty="0"/>
              <a:t>Thermodynamics is both a branch of physics and an engineering science.  </a:t>
            </a:r>
          </a:p>
          <a:p>
            <a:pPr>
              <a:buFont typeface="Wingdings" panose="05000000000000000000" pitchFamily="2" charset="2"/>
              <a:buChar char="v"/>
            </a:pPr>
            <a:r>
              <a:rPr lang="en-US" dirty="0"/>
              <a:t>Engineers are generally interested in studying systems and how they interact with their surroundings. To facilitate this, engineers extend the subject of thermodynamics to the study of systems through which matter flows.</a:t>
            </a:r>
          </a:p>
          <a:p>
            <a:pPr>
              <a:buFont typeface="Wingdings" panose="05000000000000000000" pitchFamily="2" charset="2"/>
              <a:buChar char="v"/>
            </a:pPr>
            <a:endParaRPr lang="en-US" dirty="0"/>
          </a:p>
        </p:txBody>
      </p:sp>
      <p:sp>
        <p:nvSpPr>
          <p:cNvPr id="4" name="Slide Number Placeholder 3"/>
          <p:cNvSpPr>
            <a:spLocks noGrp="1"/>
          </p:cNvSpPr>
          <p:nvPr>
            <p:ph type="sldNum" sz="quarter" idx="12"/>
          </p:nvPr>
        </p:nvSpPr>
        <p:spPr/>
        <p:txBody>
          <a:bodyPr/>
          <a:lstStyle/>
          <a:p>
            <a:fld id="{F4801FD5-11B4-DE43-ACA2-E85EEB9A6F9C}" type="slidenum">
              <a:rPr lang="en-US" smtClean="0"/>
              <a:pPr/>
              <a:t>6</a:t>
            </a:fld>
            <a:endParaRPr lang="en-US" dirty="0"/>
          </a:p>
        </p:txBody>
      </p:sp>
      <p:sp>
        <p:nvSpPr>
          <p:cNvPr id="5" name="Rectangle 4"/>
          <p:cNvSpPr/>
          <p:nvPr/>
        </p:nvSpPr>
        <p:spPr>
          <a:xfrm>
            <a:off x="609598" y="1130221"/>
            <a:ext cx="4863355" cy="584775"/>
          </a:xfrm>
          <a:prstGeom prst="rect">
            <a:avLst/>
          </a:prstGeom>
        </p:spPr>
        <p:txBody>
          <a:bodyPr wrap="square">
            <a:spAutoFit/>
          </a:bodyPr>
          <a:lstStyle/>
          <a:p>
            <a:pPr algn="ctr" fontAlgn="base">
              <a:spcBef>
                <a:spcPct val="0"/>
              </a:spcBef>
              <a:spcAft>
                <a:spcPct val="0"/>
              </a:spcAft>
            </a:pPr>
            <a:r>
              <a:rPr lang="en-GB" sz="3200" b="1" dirty="0">
                <a:latin typeface="Garamond" panose="02020404030301010803" pitchFamily="18" charset="0"/>
                <a:ea typeface="Times New Roman" pitchFamily="18" charset="0"/>
                <a:cs typeface="Arial" pitchFamily="34" charset="0"/>
              </a:rPr>
              <a:t>What is thermodynamics?</a:t>
            </a:r>
          </a:p>
        </p:txBody>
      </p:sp>
      <p:pic>
        <p:nvPicPr>
          <p:cNvPr id="1026" name="Picture 2" descr="Laws of Thermodynamics – StudiousGu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00246" y="2256915"/>
            <a:ext cx="3333189" cy="24998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2084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Introduction</a:t>
            </a:r>
            <a:endParaRPr lang="en-US" dirty="0">
              <a:solidFill>
                <a:srgbClr val="002060"/>
              </a:solidFill>
              <a:latin typeface="Georgia" panose="02040502050405020303" pitchFamily="18" charset="0"/>
            </a:endParaRPr>
          </a:p>
        </p:txBody>
      </p:sp>
      <p:sp>
        <p:nvSpPr>
          <p:cNvPr id="3" name="Content Placeholder 2"/>
          <p:cNvSpPr>
            <a:spLocks noGrp="1"/>
          </p:cNvSpPr>
          <p:nvPr>
            <p:ph sz="half" idx="1"/>
          </p:nvPr>
        </p:nvSpPr>
        <p:spPr>
          <a:xfrm>
            <a:off x="609597" y="1616495"/>
            <a:ext cx="8249213" cy="4563608"/>
          </a:xfrm>
        </p:spPr>
        <p:txBody>
          <a:bodyPr>
            <a:noAutofit/>
          </a:bodyPr>
          <a:lstStyle/>
          <a:p>
            <a:pPr>
              <a:buFont typeface="Wingdings" panose="05000000000000000000" pitchFamily="2" charset="2"/>
              <a:buChar char="v"/>
            </a:pPr>
            <a:r>
              <a:rPr lang="en-US" sz="2400" dirty="0"/>
              <a:t>Systems may be studied from the macroscopic or microscopic approach. </a:t>
            </a:r>
          </a:p>
          <a:p>
            <a:pPr>
              <a:buFont typeface="Wingdings" panose="05000000000000000000" pitchFamily="2" charset="2"/>
              <a:buChar char="v"/>
            </a:pPr>
            <a:r>
              <a:rPr lang="en-US" sz="2400" dirty="0"/>
              <a:t>The </a:t>
            </a:r>
            <a:r>
              <a:rPr lang="en-US" sz="2400" b="1" dirty="0">
                <a:solidFill>
                  <a:srgbClr val="002060"/>
                </a:solidFill>
              </a:rPr>
              <a:t>macroscopic approach </a:t>
            </a:r>
            <a:r>
              <a:rPr lang="en-US" sz="2400" dirty="0"/>
              <a:t>to thermodynamics is </a:t>
            </a:r>
            <a:r>
              <a:rPr lang="en-US" sz="2400" b="1" dirty="0">
                <a:solidFill>
                  <a:srgbClr val="C00000"/>
                </a:solidFill>
              </a:rPr>
              <a:t>concerned with the gross or overall behaviour</a:t>
            </a:r>
            <a:r>
              <a:rPr lang="en-US" sz="2400" dirty="0"/>
              <a:t>.  This is sometimes called classical thermodynamics.   </a:t>
            </a:r>
          </a:p>
          <a:p>
            <a:pPr>
              <a:buFont typeface="Wingdings" panose="05000000000000000000" pitchFamily="2" charset="2"/>
              <a:buChar char="v"/>
            </a:pPr>
            <a:r>
              <a:rPr lang="en-US" sz="2400" dirty="0"/>
              <a:t>The </a:t>
            </a:r>
            <a:r>
              <a:rPr lang="en-US" sz="2400" b="1" dirty="0">
                <a:solidFill>
                  <a:srgbClr val="002060"/>
                </a:solidFill>
              </a:rPr>
              <a:t>microscopic approach</a:t>
            </a:r>
            <a:r>
              <a:rPr lang="en-US" sz="2400" dirty="0"/>
              <a:t>, is concerned directly with the structure of matter. It is known as statistical thermodynamics. </a:t>
            </a:r>
          </a:p>
          <a:p>
            <a:pPr>
              <a:buFont typeface="Wingdings" panose="05000000000000000000" pitchFamily="2" charset="2"/>
              <a:buChar char="v"/>
            </a:pPr>
            <a:r>
              <a:rPr lang="en-US" sz="2400" dirty="0"/>
              <a:t>The macroscopic viewpoint is what is generally adopted in engineering thermodynamics but for understanding concepts are interpreted from the microscopic viewpoint.</a:t>
            </a:r>
          </a:p>
        </p:txBody>
      </p:sp>
      <p:sp>
        <p:nvSpPr>
          <p:cNvPr id="4" name="Slide Number Placeholder 3"/>
          <p:cNvSpPr>
            <a:spLocks noGrp="1"/>
          </p:cNvSpPr>
          <p:nvPr>
            <p:ph type="sldNum" sz="quarter" idx="12"/>
          </p:nvPr>
        </p:nvSpPr>
        <p:spPr/>
        <p:txBody>
          <a:bodyPr/>
          <a:lstStyle/>
          <a:p>
            <a:fld id="{F4801FD5-11B4-DE43-ACA2-E85EEB9A6F9C}" type="slidenum">
              <a:rPr lang="en-US" smtClean="0"/>
              <a:pPr/>
              <a:t>7</a:t>
            </a:fld>
            <a:endParaRPr lang="en-US" dirty="0"/>
          </a:p>
        </p:txBody>
      </p:sp>
      <p:sp>
        <p:nvSpPr>
          <p:cNvPr id="5" name="Rectangle 4"/>
          <p:cNvSpPr/>
          <p:nvPr/>
        </p:nvSpPr>
        <p:spPr>
          <a:xfrm>
            <a:off x="609601" y="1031720"/>
            <a:ext cx="8249210" cy="584775"/>
          </a:xfrm>
          <a:prstGeom prst="rect">
            <a:avLst/>
          </a:prstGeom>
        </p:spPr>
        <p:txBody>
          <a:bodyPr wrap="square">
            <a:spAutoFit/>
          </a:bodyPr>
          <a:lstStyle/>
          <a:p>
            <a:pPr algn="ctr" fontAlgn="base">
              <a:spcBef>
                <a:spcPct val="0"/>
              </a:spcBef>
              <a:spcAft>
                <a:spcPct val="0"/>
              </a:spcAft>
            </a:pPr>
            <a:r>
              <a:rPr lang="en-GB" sz="3200" b="1" dirty="0">
                <a:latin typeface="Garamond" panose="02020404030301010803" pitchFamily="18" charset="0"/>
                <a:ea typeface="Times New Roman" pitchFamily="18" charset="0"/>
                <a:cs typeface="Arial" pitchFamily="34" charset="0"/>
              </a:rPr>
              <a:t>Two Approaches to Thermodynamics</a:t>
            </a:r>
          </a:p>
        </p:txBody>
      </p:sp>
      <p:pic>
        <p:nvPicPr>
          <p:cNvPr id="1026" name="Picture 2" descr="Laws of Thermodynamics – StudiousGu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58811" y="2445174"/>
            <a:ext cx="3333189" cy="24998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16601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Introduction</a:t>
            </a:r>
            <a:endParaRPr lang="en-US" dirty="0">
              <a:solidFill>
                <a:srgbClr val="002060"/>
              </a:solidFill>
              <a:latin typeface="Georgia" panose="02040502050405020303" pitchFamily="18" charset="0"/>
            </a:endParaRPr>
          </a:p>
        </p:txBody>
      </p:sp>
      <p:sp>
        <p:nvSpPr>
          <p:cNvPr id="3" name="Content Placeholder 2"/>
          <p:cNvSpPr>
            <a:spLocks noGrp="1"/>
          </p:cNvSpPr>
          <p:nvPr>
            <p:ph sz="half" idx="1"/>
          </p:nvPr>
        </p:nvSpPr>
        <p:spPr>
          <a:xfrm>
            <a:off x="609597" y="1616495"/>
            <a:ext cx="4903697" cy="4563608"/>
          </a:xfrm>
        </p:spPr>
        <p:txBody>
          <a:bodyPr>
            <a:noAutofit/>
          </a:bodyPr>
          <a:lstStyle/>
          <a:p>
            <a:pPr>
              <a:buFont typeface="Wingdings" panose="05000000000000000000" pitchFamily="2" charset="2"/>
              <a:buChar char="v"/>
            </a:pPr>
            <a:r>
              <a:rPr lang="en-US" dirty="0"/>
              <a:t>Four laws of thermodynamics are:</a:t>
            </a:r>
          </a:p>
          <a:p>
            <a:pPr>
              <a:buFont typeface="Wingdings" panose="05000000000000000000" pitchFamily="2" charset="2"/>
              <a:buChar char="ü"/>
            </a:pPr>
            <a:r>
              <a:rPr lang="en-US" sz="3200" dirty="0"/>
              <a:t>Zeroth law</a:t>
            </a:r>
          </a:p>
          <a:p>
            <a:pPr>
              <a:buFont typeface="Wingdings" panose="05000000000000000000" pitchFamily="2" charset="2"/>
              <a:buChar char="ü"/>
            </a:pPr>
            <a:r>
              <a:rPr lang="en-US" sz="3200" dirty="0"/>
              <a:t>First law</a:t>
            </a:r>
          </a:p>
          <a:p>
            <a:pPr>
              <a:buFont typeface="Wingdings" panose="05000000000000000000" pitchFamily="2" charset="2"/>
              <a:buChar char="ü"/>
            </a:pPr>
            <a:r>
              <a:rPr lang="en-US" sz="3200" dirty="0"/>
              <a:t>Second law</a:t>
            </a:r>
          </a:p>
          <a:p>
            <a:pPr>
              <a:buFont typeface="Wingdings" panose="05000000000000000000" pitchFamily="2" charset="2"/>
              <a:buChar char="ü"/>
            </a:pPr>
            <a:r>
              <a:rPr lang="en-US" sz="3200" dirty="0"/>
              <a:t>Third law</a:t>
            </a:r>
          </a:p>
          <a:p>
            <a:pPr>
              <a:buFont typeface="Wingdings" panose="05000000000000000000" pitchFamily="2" charset="2"/>
              <a:buChar char="v"/>
            </a:pPr>
            <a:r>
              <a:rPr lang="en-US" sz="3200" dirty="0"/>
              <a:t>The state postulate</a:t>
            </a:r>
          </a:p>
        </p:txBody>
      </p:sp>
      <p:sp>
        <p:nvSpPr>
          <p:cNvPr id="4" name="Slide Number Placeholder 3"/>
          <p:cNvSpPr>
            <a:spLocks noGrp="1"/>
          </p:cNvSpPr>
          <p:nvPr>
            <p:ph type="sldNum" sz="quarter" idx="12"/>
          </p:nvPr>
        </p:nvSpPr>
        <p:spPr/>
        <p:txBody>
          <a:bodyPr/>
          <a:lstStyle/>
          <a:p>
            <a:fld id="{F4801FD5-11B4-DE43-ACA2-E85EEB9A6F9C}" type="slidenum">
              <a:rPr lang="en-US" smtClean="0"/>
              <a:pPr/>
              <a:t>8</a:t>
            </a:fld>
            <a:endParaRPr lang="en-US" dirty="0"/>
          </a:p>
        </p:txBody>
      </p:sp>
      <p:sp>
        <p:nvSpPr>
          <p:cNvPr id="5" name="Rectangle 4"/>
          <p:cNvSpPr/>
          <p:nvPr/>
        </p:nvSpPr>
        <p:spPr>
          <a:xfrm>
            <a:off x="345726" y="982469"/>
            <a:ext cx="5862918" cy="584775"/>
          </a:xfrm>
          <a:prstGeom prst="rect">
            <a:avLst/>
          </a:prstGeom>
        </p:spPr>
        <p:txBody>
          <a:bodyPr wrap="square">
            <a:spAutoFit/>
          </a:bodyPr>
          <a:lstStyle/>
          <a:p>
            <a:pPr marL="0" lvl="1" fontAlgn="base">
              <a:spcBef>
                <a:spcPct val="0"/>
              </a:spcBef>
              <a:spcAft>
                <a:spcPct val="0"/>
              </a:spcAft>
            </a:pPr>
            <a:r>
              <a:rPr lang="en-GB" sz="3200" b="1" dirty="0">
                <a:latin typeface="Garamond" panose="02020404030301010803" pitchFamily="18" charset="0"/>
                <a:ea typeface="Times New Roman" pitchFamily="18" charset="0"/>
                <a:cs typeface="Arial" pitchFamily="34" charset="0"/>
              </a:rPr>
              <a:t>	</a:t>
            </a:r>
            <a:r>
              <a:rPr lang="en-GB" sz="3200" b="1" dirty="0">
                <a:solidFill>
                  <a:srgbClr val="C00000"/>
                </a:solidFill>
                <a:latin typeface="Garamond" panose="02020404030301010803" pitchFamily="18" charset="0"/>
                <a:ea typeface="Times New Roman" pitchFamily="18" charset="0"/>
                <a:cs typeface="Arial" pitchFamily="34" charset="0"/>
              </a:rPr>
              <a:t>Laws of Thermodynamics</a:t>
            </a:r>
          </a:p>
        </p:txBody>
      </p:sp>
      <p:pic>
        <p:nvPicPr>
          <p:cNvPr id="2050" name="Picture 2" descr="4 Laws Of Thermodynamics With Examples (Very Simpl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53151" y="1274856"/>
            <a:ext cx="5954536" cy="43989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1720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Zeroth Law of Thermodynamics</a:t>
            </a:r>
            <a:endParaRPr lang="en-US" dirty="0">
              <a:solidFill>
                <a:srgbClr val="002060"/>
              </a:solidFill>
              <a:latin typeface="Georgia" panose="02040502050405020303" pitchFamily="18" charset="0"/>
            </a:endParaRPr>
          </a:p>
        </p:txBody>
      </p:sp>
      <p:sp>
        <p:nvSpPr>
          <p:cNvPr id="3" name="Content Placeholder 2"/>
          <p:cNvSpPr>
            <a:spLocks noGrp="1"/>
          </p:cNvSpPr>
          <p:nvPr>
            <p:ph sz="half" idx="1"/>
          </p:nvPr>
        </p:nvSpPr>
        <p:spPr>
          <a:xfrm>
            <a:off x="609598" y="1116106"/>
            <a:ext cx="7434800" cy="4558553"/>
          </a:xfrm>
        </p:spPr>
        <p:txBody>
          <a:bodyPr>
            <a:noAutofit/>
          </a:bodyPr>
          <a:lstStyle/>
          <a:p>
            <a:pPr>
              <a:buFont typeface="Wingdings" panose="05000000000000000000" pitchFamily="2" charset="2"/>
              <a:buChar char="v"/>
            </a:pPr>
            <a:r>
              <a:rPr lang="en-US" dirty="0"/>
              <a:t>If Body A has same temperature  as body C and body B has same temperature as C, then A and B have the same temperature. This forms the basis for comparison of temperatures.</a:t>
            </a:r>
          </a:p>
          <a:p>
            <a:pPr>
              <a:buFont typeface="Wingdings" panose="05000000000000000000" pitchFamily="2" charset="2"/>
              <a:buChar char="v"/>
            </a:pPr>
            <a:r>
              <a:rPr lang="en-US" b="1" dirty="0">
                <a:solidFill>
                  <a:srgbClr val="002060"/>
                </a:solidFill>
              </a:rPr>
              <a:t>The Zeroth Law states that, </a:t>
            </a:r>
            <a:r>
              <a:rPr lang="en-US" b="1" i="1" dirty="0">
                <a:solidFill>
                  <a:srgbClr val="C00000"/>
                </a:solidFill>
              </a:rPr>
              <a:t>if two systems are in thermal equilibrium with a third system, then the two systems are equally in thermal equilibrium with each other</a:t>
            </a:r>
            <a:r>
              <a:rPr lang="en-US" b="1" dirty="0">
                <a:solidFill>
                  <a:srgbClr val="002060"/>
                </a:solidFill>
              </a:rPr>
              <a:t>.  </a:t>
            </a:r>
          </a:p>
          <a:p>
            <a:pPr>
              <a:buFont typeface="Wingdings" panose="05000000000000000000" pitchFamily="2" charset="2"/>
              <a:buChar char="v"/>
            </a:pPr>
            <a:r>
              <a:rPr lang="en-US" dirty="0"/>
              <a:t>The third body or system is usually a thermometer.</a:t>
            </a:r>
          </a:p>
          <a:p>
            <a:pPr>
              <a:buFont typeface="Wingdings" panose="05000000000000000000" pitchFamily="2" charset="2"/>
              <a:buChar char="v"/>
            </a:pPr>
            <a:endParaRPr lang="en-US" dirty="0"/>
          </a:p>
        </p:txBody>
      </p:sp>
      <p:sp>
        <p:nvSpPr>
          <p:cNvPr id="4" name="Slide Number Placeholder 3"/>
          <p:cNvSpPr>
            <a:spLocks noGrp="1"/>
          </p:cNvSpPr>
          <p:nvPr>
            <p:ph type="sldNum" sz="quarter" idx="12"/>
          </p:nvPr>
        </p:nvSpPr>
        <p:spPr/>
        <p:txBody>
          <a:bodyPr/>
          <a:lstStyle/>
          <a:p>
            <a:fld id="{F4801FD5-11B4-DE43-ACA2-E85EEB9A6F9C}" type="slidenum">
              <a:rPr lang="en-US" smtClean="0"/>
              <a:pPr/>
              <a:t>9</a:t>
            </a:fld>
            <a:endParaRPr lang="en-US" dirty="0"/>
          </a:p>
        </p:txBody>
      </p:sp>
      <p:grpSp>
        <p:nvGrpSpPr>
          <p:cNvPr id="7" name="Group 6"/>
          <p:cNvGrpSpPr/>
          <p:nvPr/>
        </p:nvGrpSpPr>
        <p:grpSpPr>
          <a:xfrm>
            <a:off x="8044398" y="1394684"/>
            <a:ext cx="3358508" cy="2000698"/>
            <a:chOff x="2699792" y="2467976"/>
            <a:chExt cx="3358508" cy="2000698"/>
          </a:xfrm>
        </p:grpSpPr>
        <p:sp>
          <p:nvSpPr>
            <p:cNvPr id="8" name="TextBox 7"/>
            <p:cNvSpPr txBox="1"/>
            <p:nvPr/>
          </p:nvSpPr>
          <p:spPr>
            <a:xfrm>
              <a:off x="2699792" y="4007009"/>
              <a:ext cx="360040" cy="461665"/>
            </a:xfrm>
            <a:prstGeom prst="rect">
              <a:avLst/>
            </a:prstGeom>
            <a:noFill/>
          </p:spPr>
          <p:txBody>
            <a:bodyPr wrap="square" rtlCol="0">
              <a:spAutoFit/>
            </a:bodyPr>
            <a:lstStyle/>
            <a:p>
              <a:r>
                <a:rPr lang="en-US" sz="2400" b="1" dirty="0"/>
                <a:t>A</a:t>
              </a:r>
            </a:p>
          </p:txBody>
        </p:sp>
        <p:sp>
          <p:nvSpPr>
            <p:cNvPr id="9" name="TextBox 8"/>
            <p:cNvSpPr txBox="1"/>
            <p:nvPr/>
          </p:nvSpPr>
          <p:spPr>
            <a:xfrm>
              <a:off x="5698260" y="3998174"/>
              <a:ext cx="360040" cy="461665"/>
            </a:xfrm>
            <a:prstGeom prst="rect">
              <a:avLst/>
            </a:prstGeom>
            <a:noFill/>
          </p:spPr>
          <p:txBody>
            <a:bodyPr wrap="square" rtlCol="0">
              <a:spAutoFit/>
            </a:bodyPr>
            <a:lstStyle/>
            <a:p>
              <a:r>
                <a:rPr lang="en-US" sz="2400" b="1" dirty="0"/>
                <a:t>B</a:t>
              </a:r>
            </a:p>
          </p:txBody>
        </p:sp>
        <p:sp>
          <p:nvSpPr>
            <p:cNvPr id="10" name="TextBox 9"/>
            <p:cNvSpPr txBox="1"/>
            <p:nvPr/>
          </p:nvSpPr>
          <p:spPr>
            <a:xfrm>
              <a:off x="4181800" y="2467976"/>
              <a:ext cx="545441" cy="461665"/>
            </a:xfrm>
            <a:prstGeom prst="rect">
              <a:avLst/>
            </a:prstGeom>
            <a:noFill/>
          </p:spPr>
          <p:txBody>
            <a:bodyPr wrap="square" rtlCol="0">
              <a:spAutoFit/>
            </a:bodyPr>
            <a:lstStyle/>
            <a:p>
              <a:r>
                <a:rPr lang="en-US" sz="2400" b="1" dirty="0"/>
                <a:t>C </a:t>
              </a:r>
            </a:p>
          </p:txBody>
        </p:sp>
        <p:cxnSp>
          <p:nvCxnSpPr>
            <p:cNvPr id="11" name="Straight Arrow Connector 10"/>
            <p:cNvCxnSpPr/>
            <p:nvPr/>
          </p:nvCxnSpPr>
          <p:spPr>
            <a:xfrm flipV="1">
              <a:off x="3059832" y="3026569"/>
              <a:ext cx="1368152" cy="1008112"/>
            </a:xfrm>
            <a:prstGeom prst="straightConnector1">
              <a:avLst/>
            </a:prstGeom>
            <a:ln w="5715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H="1" flipV="1">
              <a:off x="4427984" y="3026569"/>
              <a:ext cx="1270276" cy="1008112"/>
            </a:xfrm>
            <a:prstGeom prst="straightConnector1">
              <a:avLst/>
            </a:prstGeom>
            <a:ln w="57150">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pic>
        <p:nvPicPr>
          <p:cNvPr id="16" name="Picture 1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668559">
            <a:off x="8658114" y="3580912"/>
            <a:ext cx="2228952" cy="2228952"/>
          </a:xfrm>
          <a:prstGeom prst="rect">
            <a:avLst/>
          </a:prstGeom>
        </p:spPr>
      </p:pic>
    </p:spTree>
    <p:extLst>
      <p:ext uri="{BB962C8B-B14F-4D97-AF65-F5344CB8AC3E}">
        <p14:creationId xmlns:p14="http://schemas.microsoft.com/office/powerpoint/2010/main" val="1705312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wipe(down)">
                                      <p:cBhvr>
                                        <p:cTn id="1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First Law of Thermodynamics</a:t>
            </a:r>
            <a:endParaRPr lang="en-US" dirty="0">
              <a:solidFill>
                <a:srgbClr val="002060"/>
              </a:solidFill>
              <a:latin typeface="Georgia" panose="02040502050405020303" pitchFamily="18" charset="0"/>
            </a:endParaRPr>
          </a:p>
        </p:txBody>
      </p:sp>
      <p:sp>
        <p:nvSpPr>
          <p:cNvPr id="3" name="Content Placeholder 2"/>
          <p:cNvSpPr>
            <a:spLocks noGrp="1"/>
          </p:cNvSpPr>
          <p:nvPr>
            <p:ph sz="half" idx="1"/>
          </p:nvPr>
        </p:nvSpPr>
        <p:spPr>
          <a:xfrm>
            <a:off x="609598" y="1116106"/>
            <a:ext cx="6100484" cy="4558553"/>
          </a:xfrm>
        </p:spPr>
        <p:txBody>
          <a:bodyPr>
            <a:noAutofit/>
          </a:bodyPr>
          <a:lstStyle/>
          <a:p>
            <a:pPr>
              <a:buFont typeface="Wingdings" panose="05000000000000000000" pitchFamily="2" charset="2"/>
              <a:buChar char="v"/>
            </a:pPr>
            <a:r>
              <a:rPr lang="en-US" dirty="0"/>
              <a:t>It obeys the </a:t>
            </a:r>
            <a:r>
              <a:rPr lang="en-US" b="1" dirty="0">
                <a:solidFill>
                  <a:srgbClr val="C00000"/>
                </a:solidFill>
              </a:rPr>
              <a:t>conservation of energy</a:t>
            </a:r>
            <a:r>
              <a:rPr lang="en-US" dirty="0"/>
              <a:t> which states that </a:t>
            </a:r>
            <a:r>
              <a:rPr lang="en-US" u="sng" dirty="0"/>
              <a:t>energy can neither be created nor destroyed but can be transformed from one form to other</a:t>
            </a:r>
            <a:r>
              <a:rPr lang="en-US" dirty="0"/>
              <a:t>. </a:t>
            </a:r>
          </a:p>
          <a:p>
            <a:pPr>
              <a:buFont typeface="Wingdings" panose="05000000000000000000" pitchFamily="2" charset="2"/>
              <a:buChar char="v"/>
            </a:pPr>
            <a:r>
              <a:rPr lang="en-US" dirty="0"/>
              <a:t>If a system does not interact with its environment in any way then no energy comes in and no energy goes out. Energy is “conserved”.</a:t>
            </a:r>
          </a:p>
          <a:p>
            <a:pPr>
              <a:buFont typeface="Wingdings" panose="05000000000000000000" pitchFamily="2" charset="2"/>
              <a:buChar char="v"/>
            </a:pPr>
            <a:r>
              <a:rPr lang="en-US" dirty="0"/>
              <a:t>There is always an energy balance.</a:t>
            </a:r>
          </a:p>
          <a:p>
            <a:pPr>
              <a:buFont typeface="Wingdings" panose="05000000000000000000" pitchFamily="2" charset="2"/>
              <a:buChar char="v"/>
            </a:pPr>
            <a:endParaRPr lang="en-US" dirty="0"/>
          </a:p>
        </p:txBody>
      </p:sp>
      <p:sp>
        <p:nvSpPr>
          <p:cNvPr id="4" name="Slide Number Placeholder 3"/>
          <p:cNvSpPr>
            <a:spLocks noGrp="1"/>
          </p:cNvSpPr>
          <p:nvPr>
            <p:ph type="sldNum" sz="quarter" idx="12"/>
          </p:nvPr>
        </p:nvSpPr>
        <p:spPr/>
        <p:txBody>
          <a:bodyPr/>
          <a:lstStyle/>
          <a:p>
            <a:fld id="{F4801FD5-11B4-DE43-ACA2-E85EEB9A6F9C}" type="slidenum">
              <a:rPr lang="en-US" smtClean="0"/>
              <a:pPr/>
              <a:t>10</a:t>
            </a:fld>
            <a:endParaRPr lang="en-US" dirty="0"/>
          </a:p>
        </p:txBody>
      </p:sp>
      <p:pic>
        <p:nvPicPr>
          <p:cNvPr id="6" name="Picture 5"/>
          <p:cNvPicPr>
            <a:picLocks noChangeAspect="1"/>
          </p:cNvPicPr>
          <p:nvPr/>
        </p:nvPicPr>
        <p:blipFill>
          <a:blip r:embed="rId2"/>
          <a:stretch>
            <a:fillRect/>
          </a:stretch>
        </p:blipFill>
        <p:spPr>
          <a:xfrm>
            <a:off x="7087769" y="1254204"/>
            <a:ext cx="4719918" cy="4174077"/>
          </a:xfrm>
          <a:prstGeom prst="rect">
            <a:avLst/>
          </a:prstGeom>
        </p:spPr>
      </p:pic>
    </p:spTree>
    <p:extLst>
      <p:ext uri="{BB962C8B-B14F-4D97-AF65-F5344CB8AC3E}">
        <p14:creationId xmlns:p14="http://schemas.microsoft.com/office/powerpoint/2010/main" val="1580863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Second Law of Thermodynamics</a:t>
            </a:r>
            <a:endParaRPr lang="en-US" dirty="0">
              <a:solidFill>
                <a:srgbClr val="002060"/>
              </a:solidFill>
              <a:latin typeface="Georgia" panose="02040502050405020303" pitchFamily="18" charset="0"/>
            </a:endParaRPr>
          </a:p>
        </p:txBody>
      </p:sp>
      <p:sp>
        <p:nvSpPr>
          <p:cNvPr id="3" name="Content Placeholder 2"/>
          <p:cNvSpPr>
            <a:spLocks noGrp="1"/>
          </p:cNvSpPr>
          <p:nvPr>
            <p:ph sz="half" idx="1"/>
          </p:nvPr>
        </p:nvSpPr>
        <p:spPr>
          <a:xfrm>
            <a:off x="609598" y="1116106"/>
            <a:ext cx="6033250" cy="4558553"/>
          </a:xfrm>
        </p:spPr>
        <p:txBody>
          <a:bodyPr>
            <a:noAutofit/>
          </a:bodyPr>
          <a:lstStyle/>
          <a:p>
            <a:pPr>
              <a:buFont typeface="Wingdings" panose="05000000000000000000" pitchFamily="2" charset="2"/>
              <a:buChar char="v"/>
            </a:pPr>
            <a:r>
              <a:rPr lang="en-US" b="1" dirty="0"/>
              <a:t>Aspects of Second Law include;</a:t>
            </a:r>
          </a:p>
          <a:p>
            <a:pPr>
              <a:buFont typeface="Wingdings" panose="05000000000000000000" pitchFamily="2" charset="2"/>
              <a:buChar char="ü"/>
            </a:pPr>
            <a:r>
              <a:rPr lang="en-US" dirty="0"/>
              <a:t>Predicting the direction of processes. </a:t>
            </a:r>
          </a:p>
          <a:p>
            <a:pPr>
              <a:buFont typeface="Wingdings" panose="05000000000000000000" pitchFamily="2" charset="2"/>
              <a:buChar char="ü"/>
            </a:pPr>
            <a:r>
              <a:rPr lang="en-US" dirty="0"/>
              <a:t>Establishing conditions for equilibrium. determining the best theoretical performance of cycles, engines, and other devices. </a:t>
            </a:r>
          </a:p>
          <a:p>
            <a:pPr>
              <a:buFont typeface="Wingdings" panose="05000000000000000000" pitchFamily="2" charset="2"/>
              <a:buChar char="ü"/>
            </a:pPr>
            <a:r>
              <a:rPr lang="en-US" dirty="0"/>
              <a:t>Evaluating quantitatively the factors that preclude attainment of the best theoretical performance level. </a:t>
            </a:r>
          </a:p>
        </p:txBody>
      </p:sp>
      <p:sp>
        <p:nvSpPr>
          <p:cNvPr id="4" name="Slide Number Placeholder 3"/>
          <p:cNvSpPr>
            <a:spLocks noGrp="1"/>
          </p:cNvSpPr>
          <p:nvPr>
            <p:ph type="sldNum" sz="quarter" idx="12"/>
          </p:nvPr>
        </p:nvSpPr>
        <p:spPr/>
        <p:txBody>
          <a:bodyPr/>
          <a:lstStyle/>
          <a:p>
            <a:fld id="{F4801FD5-11B4-DE43-ACA2-E85EEB9A6F9C}" type="slidenum">
              <a:rPr lang="en-US" smtClean="0"/>
              <a:pPr/>
              <a:t>11</a:t>
            </a:fld>
            <a:endParaRPr lang="en-US" dirty="0"/>
          </a:p>
        </p:txBody>
      </p:sp>
      <p:pic>
        <p:nvPicPr>
          <p:cNvPr id="7" name="Picture 6"/>
          <p:cNvPicPr>
            <a:picLocks noChangeAspect="1"/>
          </p:cNvPicPr>
          <p:nvPr/>
        </p:nvPicPr>
        <p:blipFill>
          <a:blip r:embed="rId2"/>
          <a:stretch>
            <a:fillRect/>
          </a:stretch>
        </p:blipFill>
        <p:spPr>
          <a:xfrm>
            <a:off x="6753579" y="1638859"/>
            <a:ext cx="5054108" cy="3052481"/>
          </a:xfrm>
          <a:prstGeom prst="rect">
            <a:avLst/>
          </a:prstGeom>
        </p:spPr>
      </p:pic>
    </p:spTree>
    <p:extLst>
      <p:ext uri="{BB962C8B-B14F-4D97-AF65-F5344CB8AC3E}">
        <p14:creationId xmlns:p14="http://schemas.microsoft.com/office/powerpoint/2010/main" val="684008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Third Law of Thermodynamics</a:t>
            </a:r>
            <a:endParaRPr lang="en-US" dirty="0">
              <a:solidFill>
                <a:srgbClr val="002060"/>
              </a:solidFill>
              <a:latin typeface="Georgia" panose="02040502050405020303" pitchFamily="18" charset="0"/>
            </a:endParaRPr>
          </a:p>
        </p:txBody>
      </p:sp>
      <p:sp>
        <p:nvSpPr>
          <p:cNvPr id="3" name="Content Placeholder 2"/>
          <p:cNvSpPr>
            <a:spLocks noGrp="1"/>
          </p:cNvSpPr>
          <p:nvPr>
            <p:ph sz="half" idx="1"/>
          </p:nvPr>
        </p:nvSpPr>
        <p:spPr>
          <a:xfrm>
            <a:off x="609597" y="1116106"/>
            <a:ext cx="6342531" cy="4558553"/>
          </a:xfrm>
        </p:spPr>
        <p:txBody>
          <a:bodyPr>
            <a:noAutofit/>
          </a:bodyPr>
          <a:lstStyle/>
          <a:p>
            <a:pPr>
              <a:buFont typeface="Wingdings" panose="05000000000000000000" pitchFamily="2" charset="2"/>
              <a:buChar char="v"/>
            </a:pPr>
            <a:r>
              <a:rPr lang="en-US" b="1" dirty="0">
                <a:solidFill>
                  <a:srgbClr val="C00000"/>
                </a:solidFill>
              </a:rPr>
              <a:t>It states that, it is impossible to attain a temperature of absolute zero.</a:t>
            </a:r>
          </a:p>
          <a:p>
            <a:pPr>
              <a:buFont typeface="Wingdings" panose="05000000000000000000" pitchFamily="2" charset="2"/>
              <a:buChar char="v"/>
            </a:pPr>
            <a:r>
              <a:rPr lang="en-US" dirty="0"/>
              <a:t>On the Kelvin temperature scale, T = 0K is often referred to as absolute zero.</a:t>
            </a:r>
          </a:p>
          <a:p>
            <a:pPr>
              <a:buFont typeface="Wingdings" panose="05000000000000000000" pitchFamily="2" charset="2"/>
              <a:buChar char="v"/>
            </a:pPr>
            <a:r>
              <a:rPr lang="en-US" dirty="0"/>
              <a:t>If absolute zero temperature (0K) can be obtained, 100% efficiency can be achieved.</a:t>
            </a:r>
          </a:p>
        </p:txBody>
      </p:sp>
      <p:sp>
        <p:nvSpPr>
          <p:cNvPr id="4" name="Slide Number Placeholder 3"/>
          <p:cNvSpPr>
            <a:spLocks noGrp="1"/>
          </p:cNvSpPr>
          <p:nvPr>
            <p:ph type="sldNum" sz="quarter" idx="12"/>
          </p:nvPr>
        </p:nvSpPr>
        <p:spPr/>
        <p:txBody>
          <a:bodyPr/>
          <a:lstStyle/>
          <a:p>
            <a:fld id="{F4801FD5-11B4-DE43-ACA2-E85EEB9A6F9C}" type="slidenum">
              <a:rPr lang="en-US" smtClean="0"/>
              <a:pPr/>
              <a:t>12</a:t>
            </a:fld>
            <a:endParaRPr lang="en-US" dirty="0"/>
          </a:p>
        </p:txBody>
      </p:sp>
      <p:pic>
        <p:nvPicPr>
          <p:cNvPr id="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54825" y="1210236"/>
            <a:ext cx="3478772" cy="44644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58373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Applications of Thermodynamics</a:t>
            </a:r>
            <a:endParaRPr lang="en-US" dirty="0">
              <a:solidFill>
                <a:srgbClr val="002060"/>
              </a:solidFill>
              <a:latin typeface="Georgia" panose="02040502050405020303" pitchFamily="18" charset="0"/>
            </a:endParaRPr>
          </a:p>
        </p:txBody>
      </p:sp>
      <p:sp>
        <p:nvSpPr>
          <p:cNvPr id="4" name="Slide Number Placeholder 3"/>
          <p:cNvSpPr>
            <a:spLocks noGrp="1"/>
          </p:cNvSpPr>
          <p:nvPr>
            <p:ph type="sldNum" sz="quarter" idx="12"/>
          </p:nvPr>
        </p:nvSpPr>
        <p:spPr/>
        <p:txBody>
          <a:bodyPr/>
          <a:lstStyle/>
          <a:p>
            <a:fld id="{F4801FD5-11B4-DE43-ACA2-E85EEB9A6F9C}" type="slidenum">
              <a:rPr lang="en-US" smtClean="0"/>
              <a:pPr/>
              <a:t>13</a:t>
            </a:fld>
            <a:endParaRPr lang="en-US" dirty="0"/>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4174" y="1074371"/>
            <a:ext cx="2228850" cy="204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86036" y="1074370"/>
            <a:ext cx="3093939" cy="19282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8" descr="01004 copy"/>
          <p:cNvPicPr>
            <a:picLocks noChangeAspect="1" noChangeArrowheads="1"/>
          </p:cNvPicPr>
          <p:nvPr/>
        </p:nvPicPr>
        <p:blipFill rotWithShape="1">
          <a:blip r:embed="rId4" cstate="print"/>
          <a:srcRect t="7426" r="92933" b="32835"/>
          <a:stretch/>
        </p:blipFill>
        <p:spPr bwMode="auto">
          <a:xfrm>
            <a:off x="3580461" y="1074370"/>
            <a:ext cx="914994" cy="3518231"/>
          </a:xfrm>
          <a:prstGeom prst="rect">
            <a:avLst/>
          </a:prstGeom>
          <a:noFill/>
        </p:spPr>
      </p:pic>
      <p:pic>
        <p:nvPicPr>
          <p:cNvPr id="10"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4788" y="3533210"/>
            <a:ext cx="3110279" cy="23297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909260" y="4367681"/>
            <a:ext cx="2819400" cy="161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 name="Picture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909260" y="1074371"/>
            <a:ext cx="2090434" cy="3293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 name="Picture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786037" y="3127948"/>
            <a:ext cx="3901026" cy="29635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793745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Basic Concepts and Definitions</a:t>
            </a:r>
            <a:endParaRPr lang="en-US" dirty="0">
              <a:solidFill>
                <a:srgbClr val="002060"/>
              </a:solidFill>
              <a:latin typeface="Georgia" panose="02040502050405020303" pitchFamily="18" charset="0"/>
            </a:endParaRPr>
          </a:p>
        </p:txBody>
      </p:sp>
      <p:sp>
        <p:nvSpPr>
          <p:cNvPr id="3" name="Content Placeholder 2"/>
          <p:cNvSpPr>
            <a:spLocks noGrp="1"/>
          </p:cNvSpPr>
          <p:nvPr>
            <p:ph sz="half" idx="1"/>
          </p:nvPr>
        </p:nvSpPr>
        <p:spPr>
          <a:xfrm>
            <a:off x="609601" y="1083815"/>
            <a:ext cx="7754470" cy="5048043"/>
          </a:xfrm>
        </p:spPr>
        <p:txBody>
          <a:bodyPr>
            <a:noAutofit/>
          </a:bodyPr>
          <a:lstStyle/>
          <a:p>
            <a:pPr>
              <a:buFont typeface="Wingdings" panose="05000000000000000000" pitchFamily="2" charset="2"/>
              <a:buChar char="v"/>
            </a:pPr>
            <a:r>
              <a:rPr lang="en-US" sz="2200" b="1" dirty="0">
                <a:solidFill>
                  <a:srgbClr val="C00000"/>
                </a:solidFill>
              </a:rPr>
              <a:t>Thermodynamic system </a:t>
            </a:r>
            <a:r>
              <a:rPr lang="en-US" sz="2200" dirty="0"/>
              <a:t>is a region of space or an amount of matter, bounded by an arbitrary surface.</a:t>
            </a:r>
          </a:p>
          <a:p>
            <a:pPr>
              <a:buFont typeface="Wingdings" panose="05000000000000000000" pitchFamily="2" charset="2"/>
              <a:buChar char="v"/>
            </a:pPr>
            <a:r>
              <a:rPr lang="en-US" sz="2200" b="1" dirty="0">
                <a:solidFill>
                  <a:srgbClr val="002060"/>
                </a:solidFill>
              </a:rPr>
              <a:t>Everything external to the system is considered to be part of the system’s surroundings.  </a:t>
            </a:r>
          </a:p>
          <a:p>
            <a:pPr>
              <a:buFont typeface="Wingdings" panose="05000000000000000000" pitchFamily="2" charset="2"/>
              <a:buChar char="v"/>
            </a:pPr>
            <a:r>
              <a:rPr lang="en-US" sz="2200" dirty="0"/>
              <a:t>The system is distinguished from its surroundings by a specified boundary, which may be at rest or in motion.</a:t>
            </a:r>
          </a:p>
          <a:p>
            <a:pPr>
              <a:buFont typeface="Wingdings" panose="05000000000000000000" pitchFamily="2" charset="2"/>
              <a:buChar char="v"/>
            </a:pPr>
            <a:r>
              <a:rPr lang="en-US" sz="2200" dirty="0"/>
              <a:t>A </a:t>
            </a:r>
            <a:r>
              <a:rPr lang="en-US" sz="2200" b="1" dirty="0">
                <a:solidFill>
                  <a:srgbClr val="C00000"/>
                </a:solidFill>
              </a:rPr>
              <a:t>boundary</a:t>
            </a:r>
            <a:r>
              <a:rPr lang="en-US" sz="2200" dirty="0"/>
              <a:t> is a closed surface, either real or imaginary, surrounding a system through which energy and mass may enter or leave the system and which separates the system from its surroundings. </a:t>
            </a:r>
          </a:p>
          <a:p>
            <a:pPr>
              <a:buFont typeface="Wingdings" panose="05000000000000000000" pitchFamily="2" charset="2"/>
              <a:buChar char="ü"/>
            </a:pPr>
            <a:r>
              <a:rPr lang="en-US" sz="2200" dirty="0"/>
              <a:t>Permeable and process boundaries allow mass transfer to occur.</a:t>
            </a:r>
          </a:p>
          <a:p>
            <a:pPr>
              <a:buFont typeface="Wingdings" panose="05000000000000000000" pitchFamily="2" charset="2"/>
              <a:buChar char="ü"/>
            </a:pPr>
            <a:r>
              <a:rPr lang="en-US" sz="2200" dirty="0"/>
              <a:t>A diathermal boundary allows heat transfer to occur across it as in the case of thin metal walls.</a:t>
            </a:r>
          </a:p>
          <a:p>
            <a:pPr>
              <a:buFont typeface="Wingdings" panose="05000000000000000000" pitchFamily="2" charset="2"/>
              <a:buChar char="v"/>
            </a:pPr>
            <a:endParaRPr lang="en-US" dirty="0"/>
          </a:p>
        </p:txBody>
      </p:sp>
      <p:sp>
        <p:nvSpPr>
          <p:cNvPr id="4" name="Slide Number Placeholder 3"/>
          <p:cNvSpPr>
            <a:spLocks noGrp="1"/>
          </p:cNvSpPr>
          <p:nvPr>
            <p:ph type="sldNum" sz="quarter" idx="12"/>
          </p:nvPr>
        </p:nvSpPr>
        <p:spPr/>
        <p:txBody>
          <a:bodyPr/>
          <a:lstStyle/>
          <a:p>
            <a:fld id="{F4801FD5-11B4-DE43-ACA2-E85EEB9A6F9C}" type="slidenum">
              <a:rPr lang="en-US" smtClean="0"/>
              <a:pPr/>
              <a:t>14</a:t>
            </a:fld>
            <a:endParaRPr lang="en-US" dirty="0"/>
          </a:p>
        </p:txBody>
      </p:sp>
      <p:pic>
        <p:nvPicPr>
          <p:cNvPr id="7170" name="Picture 2" descr="Module 1 : Classical Thermodynamics Lecture 1 : Review of Thermodynamics 1  2 3 4 5 6 Concepts of classical thermodynamics Thermodynamic system A thermodynamic  system is defined as the quantity of matter or a region in space upon which  attention is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19646" y="2178845"/>
            <a:ext cx="3438525" cy="25050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4186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Basic Concepts and Definitions</a:t>
            </a:r>
            <a:endParaRPr lang="en-US" dirty="0">
              <a:solidFill>
                <a:srgbClr val="002060"/>
              </a:solidFill>
              <a:latin typeface="Georgia" panose="02040502050405020303" pitchFamily="18" charset="0"/>
            </a:endParaRPr>
          </a:p>
        </p:txBody>
      </p:sp>
      <p:sp>
        <p:nvSpPr>
          <p:cNvPr id="3" name="Content Placeholder 2"/>
          <p:cNvSpPr>
            <a:spLocks noGrp="1"/>
          </p:cNvSpPr>
          <p:nvPr>
            <p:ph sz="half" idx="1"/>
          </p:nvPr>
        </p:nvSpPr>
        <p:spPr>
          <a:xfrm>
            <a:off x="609601" y="1083815"/>
            <a:ext cx="8943100" cy="5048043"/>
          </a:xfrm>
        </p:spPr>
        <p:txBody>
          <a:bodyPr>
            <a:noAutofit/>
          </a:bodyPr>
          <a:lstStyle/>
          <a:p>
            <a:pPr>
              <a:buFont typeface="Wingdings" panose="05000000000000000000" pitchFamily="2" charset="2"/>
              <a:buChar char="v"/>
            </a:pPr>
            <a:r>
              <a:rPr lang="en-US" sz="2400" dirty="0"/>
              <a:t>Once the system is defined and the relevant interactions with other systems are identified, one or more physical laws or relations are applied.</a:t>
            </a:r>
          </a:p>
          <a:p>
            <a:pPr>
              <a:buFont typeface="Wingdings" panose="05000000000000000000" pitchFamily="2" charset="2"/>
              <a:buChar char="v"/>
            </a:pPr>
            <a:r>
              <a:rPr lang="en-US" sz="2400" dirty="0"/>
              <a:t>The system is whatever we want to study.  We may want to study a quantity of matter contained within a closed, rigid-tank, or we may want to consider something such as a gas pipeline through which matter flows.</a:t>
            </a:r>
          </a:p>
          <a:p>
            <a:pPr lvl="0" defTabSz="914400">
              <a:buNone/>
            </a:pPr>
            <a:r>
              <a:rPr lang="en-US" sz="2000" b="1" dirty="0"/>
              <a:t>Note:</a:t>
            </a:r>
          </a:p>
          <a:p>
            <a:pPr lvl="0" defTabSz="914400">
              <a:buFont typeface="Wingdings" panose="05000000000000000000" pitchFamily="2" charset="2"/>
              <a:buChar char="v"/>
            </a:pPr>
            <a:r>
              <a:rPr lang="en-US" sz="2200" dirty="0"/>
              <a:t>Even vacuum which is devoid of matter, may be the focus of interest. The composition of matter inside a system</a:t>
            </a:r>
            <a:r>
              <a:rPr lang="en-US" sz="2200" dirty="0">
                <a:solidFill>
                  <a:srgbClr val="1F497D"/>
                </a:solidFill>
              </a:rPr>
              <a:t> </a:t>
            </a:r>
            <a:r>
              <a:rPr lang="en-US" sz="2200" u="sng" dirty="0">
                <a:solidFill>
                  <a:srgbClr val="C00000"/>
                </a:solidFill>
              </a:rPr>
              <a:t>may be fixed</a:t>
            </a:r>
            <a:r>
              <a:rPr lang="en-US" sz="2200" dirty="0">
                <a:solidFill>
                  <a:srgbClr val="C00000"/>
                </a:solidFill>
              </a:rPr>
              <a:t> </a:t>
            </a:r>
            <a:r>
              <a:rPr lang="en-US" sz="2200" dirty="0"/>
              <a:t>or may </a:t>
            </a:r>
            <a:r>
              <a:rPr lang="en-US" sz="2200" u="sng" dirty="0">
                <a:solidFill>
                  <a:srgbClr val="C00000"/>
                </a:solidFill>
              </a:rPr>
              <a:t>be changing</a:t>
            </a:r>
            <a:r>
              <a:rPr lang="en-US" sz="2200" dirty="0">
                <a:solidFill>
                  <a:srgbClr val="C00000"/>
                </a:solidFill>
              </a:rPr>
              <a:t> </a:t>
            </a:r>
            <a:r>
              <a:rPr lang="en-US" sz="2200" dirty="0"/>
              <a:t>through chemical or nuclear reactions.  </a:t>
            </a:r>
            <a:r>
              <a:rPr lang="en-US" sz="2200" b="1" u="sng" dirty="0">
                <a:solidFill>
                  <a:srgbClr val="002060"/>
                </a:solidFill>
              </a:rPr>
              <a:t>The shape or volume of the system being analysed is not necessarily constant</a:t>
            </a:r>
            <a:r>
              <a:rPr lang="en-US" sz="2200" dirty="0"/>
              <a:t>, as when a piston compresses a gas in a cylinder or a balloon is being inflated.  </a:t>
            </a:r>
          </a:p>
          <a:p>
            <a:pPr>
              <a:buFont typeface="Wingdings" panose="05000000000000000000" pitchFamily="2" charset="2"/>
              <a:buChar char="v"/>
            </a:pPr>
            <a:endParaRPr lang="en-US" sz="2400" dirty="0"/>
          </a:p>
        </p:txBody>
      </p:sp>
      <p:sp>
        <p:nvSpPr>
          <p:cNvPr id="4" name="Slide Number Placeholder 3"/>
          <p:cNvSpPr>
            <a:spLocks noGrp="1"/>
          </p:cNvSpPr>
          <p:nvPr>
            <p:ph type="sldNum" sz="quarter" idx="12"/>
          </p:nvPr>
        </p:nvSpPr>
        <p:spPr/>
        <p:txBody>
          <a:bodyPr/>
          <a:lstStyle/>
          <a:p>
            <a:fld id="{F4801FD5-11B4-DE43-ACA2-E85EEB9A6F9C}" type="slidenum">
              <a:rPr lang="en-US" smtClean="0"/>
              <a:pPr/>
              <a:t>15</a:t>
            </a:fld>
            <a:endParaRPr lang="en-US" dirty="0"/>
          </a:p>
        </p:txBody>
      </p:sp>
      <p:pic>
        <p:nvPicPr>
          <p:cNvPr id="7170" name="Picture 2" descr="Module 1 : Classical Thermodynamics Lecture 1 : Review of Thermodynamics 1  2 3 4 5 6 Concepts of classical thermodynamics Thermodynamic system A thermodynamic  system is defined as the quantity of matter or a region in space upon which  attention is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52701" y="2931459"/>
            <a:ext cx="2405470" cy="17524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7856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Basic Concepts and Definitions</a:t>
            </a:r>
            <a:endParaRPr lang="en-US" dirty="0">
              <a:solidFill>
                <a:srgbClr val="002060"/>
              </a:solidFill>
              <a:latin typeface="Georgia" panose="02040502050405020303" pitchFamily="18" charset="0"/>
            </a:endParaRPr>
          </a:p>
        </p:txBody>
      </p:sp>
      <p:sp>
        <p:nvSpPr>
          <p:cNvPr id="3" name="Content Placeholder 2"/>
          <p:cNvSpPr>
            <a:spLocks noGrp="1"/>
          </p:cNvSpPr>
          <p:nvPr>
            <p:ph sz="half" idx="1"/>
          </p:nvPr>
        </p:nvSpPr>
        <p:spPr>
          <a:xfrm>
            <a:off x="514600" y="1008530"/>
            <a:ext cx="8078071" cy="2339788"/>
          </a:xfrm>
        </p:spPr>
        <p:txBody>
          <a:bodyPr>
            <a:noAutofit/>
          </a:bodyPr>
          <a:lstStyle/>
          <a:p>
            <a:pPr marL="0" indent="0">
              <a:buNone/>
            </a:pPr>
            <a:r>
              <a:rPr lang="en-US" sz="3600" b="1" dirty="0">
                <a:solidFill>
                  <a:srgbClr val="C00000"/>
                </a:solidFill>
              </a:rPr>
              <a:t>Classification of Systems</a:t>
            </a:r>
          </a:p>
          <a:p>
            <a:pPr>
              <a:buFont typeface="Wingdings" panose="05000000000000000000" pitchFamily="2" charset="2"/>
              <a:buChar char="v"/>
            </a:pPr>
            <a:r>
              <a:rPr lang="en-US" sz="3000" dirty="0"/>
              <a:t>A thermodynamic system interacts with its surroundings through its boundary in two ways: by exchanging </a:t>
            </a:r>
            <a:r>
              <a:rPr lang="en-US" sz="3000" dirty="0">
                <a:solidFill>
                  <a:srgbClr val="002060"/>
                </a:solidFill>
              </a:rPr>
              <a:t>energy and matter</a:t>
            </a:r>
            <a:r>
              <a:rPr lang="en-US" sz="3000" dirty="0"/>
              <a:t> (mass).</a:t>
            </a:r>
          </a:p>
          <a:p>
            <a:pPr marL="0" indent="0">
              <a:buNone/>
            </a:pPr>
            <a:endParaRPr lang="en-US" dirty="0"/>
          </a:p>
          <a:p>
            <a:pPr>
              <a:buFont typeface="Wingdings" panose="05000000000000000000" pitchFamily="2" charset="2"/>
              <a:buChar char="v"/>
            </a:pPr>
            <a:endParaRPr lang="en-US" dirty="0"/>
          </a:p>
        </p:txBody>
      </p:sp>
      <p:sp>
        <p:nvSpPr>
          <p:cNvPr id="4" name="Slide Number Placeholder 3"/>
          <p:cNvSpPr>
            <a:spLocks noGrp="1"/>
          </p:cNvSpPr>
          <p:nvPr>
            <p:ph type="sldNum" sz="quarter" idx="12"/>
          </p:nvPr>
        </p:nvSpPr>
        <p:spPr/>
        <p:txBody>
          <a:bodyPr/>
          <a:lstStyle/>
          <a:p>
            <a:fld id="{F4801FD5-11B4-DE43-ACA2-E85EEB9A6F9C}" type="slidenum">
              <a:rPr lang="en-US" smtClean="0"/>
              <a:pPr/>
              <a:t>16</a:t>
            </a:fld>
            <a:endParaRPr lang="en-US" dirty="0"/>
          </a:p>
        </p:txBody>
      </p:sp>
      <p:pic>
        <p:nvPicPr>
          <p:cNvPr id="5" name="Picture 4"/>
          <p:cNvPicPr>
            <a:picLocks noChangeAspect="1"/>
          </p:cNvPicPr>
          <p:nvPr/>
        </p:nvPicPr>
        <p:blipFill>
          <a:blip r:embed="rId2"/>
          <a:stretch>
            <a:fillRect/>
          </a:stretch>
        </p:blipFill>
        <p:spPr>
          <a:xfrm>
            <a:off x="3278871" y="3348318"/>
            <a:ext cx="3308224" cy="2827206"/>
          </a:xfrm>
          <a:prstGeom prst="rect">
            <a:avLst/>
          </a:prstGeom>
        </p:spPr>
      </p:pic>
      <p:pic>
        <p:nvPicPr>
          <p:cNvPr id="7" name="Picture 6"/>
          <p:cNvPicPr>
            <a:picLocks noChangeAspect="1"/>
          </p:cNvPicPr>
          <p:nvPr/>
        </p:nvPicPr>
        <p:blipFill>
          <a:blip r:embed="rId3"/>
          <a:stretch>
            <a:fillRect/>
          </a:stretch>
        </p:blipFill>
        <p:spPr>
          <a:xfrm>
            <a:off x="6663232" y="3201397"/>
            <a:ext cx="3208961" cy="3024714"/>
          </a:xfrm>
          <a:prstGeom prst="rect">
            <a:avLst/>
          </a:prstGeom>
        </p:spPr>
      </p:pic>
      <p:pic>
        <p:nvPicPr>
          <p:cNvPr id="8" name="Picture 7"/>
          <p:cNvPicPr>
            <a:picLocks noChangeAspect="1"/>
          </p:cNvPicPr>
          <p:nvPr/>
        </p:nvPicPr>
        <p:blipFill>
          <a:blip r:embed="rId4"/>
          <a:stretch>
            <a:fillRect/>
          </a:stretch>
        </p:blipFill>
        <p:spPr>
          <a:xfrm>
            <a:off x="9578659" y="1008530"/>
            <a:ext cx="2375773" cy="3173121"/>
          </a:xfrm>
          <a:prstGeom prst="rect">
            <a:avLst/>
          </a:prstGeom>
        </p:spPr>
      </p:pic>
      <p:sp>
        <p:nvSpPr>
          <p:cNvPr id="10" name="Content Placeholder 2"/>
          <p:cNvSpPr txBox="1">
            <a:spLocks/>
          </p:cNvSpPr>
          <p:nvPr/>
        </p:nvSpPr>
        <p:spPr>
          <a:xfrm>
            <a:off x="401418" y="3887395"/>
            <a:ext cx="2704853" cy="1802217"/>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marL="0" indent="0">
              <a:buFont typeface="Arial"/>
              <a:buNone/>
            </a:pPr>
            <a:r>
              <a:rPr lang="en-US" sz="2400" b="1" dirty="0">
                <a:solidFill>
                  <a:srgbClr val="C00000"/>
                </a:solidFill>
              </a:rPr>
              <a:t>Types of systems</a:t>
            </a:r>
          </a:p>
          <a:p>
            <a:pPr>
              <a:buFont typeface="Wingdings" panose="05000000000000000000" pitchFamily="2" charset="2"/>
              <a:buChar char="ü"/>
            </a:pPr>
            <a:r>
              <a:rPr lang="en-US" sz="2400" dirty="0"/>
              <a:t>Closed system.</a:t>
            </a:r>
          </a:p>
          <a:p>
            <a:pPr>
              <a:buFont typeface="Wingdings" panose="05000000000000000000" pitchFamily="2" charset="2"/>
              <a:buChar char="ü"/>
            </a:pPr>
            <a:r>
              <a:rPr lang="en-US" sz="2400" dirty="0"/>
              <a:t>Open system</a:t>
            </a:r>
          </a:p>
          <a:p>
            <a:pPr>
              <a:buFont typeface="Wingdings" panose="05000000000000000000" pitchFamily="2" charset="2"/>
              <a:buChar char="ü"/>
            </a:pPr>
            <a:r>
              <a:rPr lang="en-US" sz="2400" dirty="0"/>
              <a:t>Isolated system</a:t>
            </a:r>
          </a:p>
          <a:p>
            <a:pPr marL="0" indent="0">
              <a:buFont typeface="Arial"/>
              <a:buNone/>
            </a:pPr>
            <a:endParaRPr lang="en-US" dirty="0"/>
          </a:p>
          <a:p>
            <a:pPr>
              <a:buFont typeface="Wingdings" panose="05000000000000000000" pitchFamily="2" charset="2"/>
              <a:buChar char="v"/>
            </a:pPr>
            <a:endParaRPr lang="en-US" dirty="0"/>
          </a:p>
        </p:txBody>
      </p:sp>
    </p:spTree>
    <p:extLst>
      <p:ext uri="{BB962C8B-B14F-4D97-AF65-F5344CB8AC3E}">
        <p14:creationId xmlns:p14="http://schemas.microsoft.com/office/powerpoint/2010/main" val="1016289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Basic Concepts and Definitions</a:t>
            </a:r>
            <a:endParaRPr lang="en-US" dirty="0">
              <a:solidFill>
                <a:srgbClr val="002060"/>
              </a:solidFill>
              <a:latin typeface="Georgia" panose="02040502050405020303" pitchFamily="18" charset="0"/>
            </a:endParaRPr>
          </a:p>
        </p:txBody>
      </p:sp>
      <p:sp>
        <p:nvSpPr>
          <p:cNvPr id="3" name="Content Placeholder 2"/>
          <p:cNvSpPr>
            <a:spLocks noGrp="1"/>
          </p:cNvSpPr>
          <p:nvPr>
            <p:ph sz="half" idx="1"/>
          </p:nvPr>
        </p:nvSpPr>
        <p:spPr>
          <a:xfrm>
            <a:off x="514600" y="1008530"/>
            <a:ext cx="8642847" cy="1358152"/>
          </a:xfrm>
        </p:spPr>
        <p:txBody>
          <a:bodyPr>
            <a:noAutofit/>
          </a:bodyPr>
          <a:lstStyle/>
          <a:p>
            <a:pPr marL="0" indent="0">
              <a:buNone/>
            </a:pPr>
            <a:r>
              <a:rPr lang="en-US" sz="3600" b="1" dirty="0">
                <a:solidFill>
                  <a:srgbClr val="C00000"/>
                </a:solidFill>
              </a:rPr>
              <a:t>Sign Convention</a:t>
            </a:r>
          </a:p>
          <a:p>
            <a:pPr>
              <a:buFont typeface="Wingdings" panose="05000000000000000000" pitchFamily="2" charset="2"/>
              <a:buChar char="v"/>
            </a:pPr>
            <a:r>
              <a:rPr lang="en-US" sz="3000" dirty="0"/>
              <a:t>Energy interaction occurs in two ways; heat and work.</a:t>
            </a:r>
          </a:p>
          <a:p>
            <a:pPr marL="0" indent="0">
              <a:buNone/>
            </a:pPr>
            <a:endParaRPr lang="en-US" dirty="0"/>
          </a:p>
          <a:p>
            <a:pPr>
              <a:buFont typeface="Wingdings" panose="05000000000000000000" pitchFamily="2" charset="2"/>
              <a:buChar char="v"/>
            </a:pPr>
            <a:endParaRPr lang="en-US" dirty="0"/>
          </a:p>
        </p:txBody>
      </p:sp>
      <p:sp>
        <p:nvSpPr>
          <p:cNvPr id="4" name="Slide Number Placeholder 3"/>
          <p:cNvSpPr>
            <a:spLocks noGrp="1"/>
          </p:cNvSpPr>
          <p:nvPr>
            <p:ph type="sldNum" sz="quarter" idx="12"/>
          </p:nvPr>
        </p:nvSpPr>
        <p:spPr/>
        <p:txBody>
          <a:bodyPr/>
          <a:lstStyle/>
          <a:p>
            <a:fld id="{F4801FD5-11B4-DE43-ACA2-E85EEB9A6F9C}" type="slidenum">
              <a:rPr lang="en-US" smtClean="0"/>
              <a:pPr/>
              <a:t>17</a:t>
            </a:fld>
            <a:endParaRPr lang="en-US" dirty="0"/>
          </a:p>
        </p:txBody>
      </p:sp>
      <p:pic>
        <p:nvPicPr>
          <p:cNvPr id="6" name="Picture 5"/>
          <p:cNvPicPr>
            <a:picLocks noChangeAspect="1"/>
          </p:cNvPicPr>
          <p:nvPr/>
        </p:nvPicPr>
        <p:blipFill>
          <a:blip r:embed="rId2"/>
          <a:stretch>
            <a:fillRect/>
          </a:stretch>
        </p:blipFill>
        <p:spPr>
          <a:xfrm>
            <a:off x="848005" y="2177837"/>
            <a:ext cx="7569854" cy="4082173"/>
          </a:xfrm>
          <a:prstGeom prst="rect">
            <a:avLst/>
          </a:prstGeom>
        </p:spPr>
      </p:pic>
      <p:pic>
        <p:nvPicPr>
          <p:cNvPr id="9" name="Picture 8"/>
          <p:cNvPicPr>
            <a:picLocks noChangeAspect="1"/>
          </p:cNvPicPr>
          <p:nvPr/>
        </p:nvPicPr>
        <p:blipFill>
          <a:blip r:embed="rId3"/>
          <a:stretch>
            <a:fillRect/>
          </a:stretch>
        </p:blipFill>
        <p:spPr>
          <a:xfrm>
            <a:off x="8751264" y="2177837"/>
            <a:ext cx="3270407" cy="3066516"/>
          </a:xfrm>
          <a:prstGeom prst="rect">
            <a:avLst/>
          </a:prstGeom>
        </p:spPr>
      </p:pic>
    </p:spTree>
    <p:extLst>
      <p:ext uri="{BB962C8B-B14F-4D97-AF65-F5344CB8AC3E}">
        <p14:creationId xmlns:p14="http://schemas.microsoft.com/office/powerpoint/2010/main" val="2262170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Basic Concepts and Definitions</a:t>
            </a:r>
            <a:endParaRPr lang="en-US" dirty="0">
              <a:solidFill>
                <a:srgbClr val="002060"/>
              </a:solidFill>
              <a:latin typeface="Georgia" panose="02040502050405020303" pitchFamily="18" charset="0"/>
            </a:endParaRPr>
          </a:p>
        </p:txBody>
      </p:sp>
      <p:sp>
        <p:nvSpPr>
          <p:cNvPr id="3" name="Content Placeholder 2"/>
          <p:cNvSpPr>
            <a:spLocks noGrp="1"/>
          </p:cNvSpPr>
          <p:nvPr>
            <p:ph sz="half" idx="1"/>
          </p:nvPr>
        </p:nvSpPr>
        <p:spPr>
          <a:xfrm>
            <a:off x="514601" y="1008529"/>
            <a:ext cx="5836894" cy="5270076"/>
          </a:xfrm>
        </p:spPr>
        <p:txBody>
          <a:bodyPr>
            <a:noAutofit/>
          </a:bodyPr>
          <a:lstStyle/>
          <a:p>
            <a:pPr marL="0" indent="0">
              <a:buNone/>
            </a:pPr>
            <a:r>
              <a:rPr lang="en-US" sz="3600" b="1" dirty="0">
                <a:solidFill>
                  <a:srgbClr val="C00000"/>
                </a:solidFill>
              </a:rPr>
              <a:t>Thermodynamic Properties</a:t>
            </a:r>
          </a:p>
          <a:p>
            <a:pPr>
              <a:buFont typeface="Wingdings" panose="05000000000000000000" pitchFamily="2" charset="2"/>
              <a:buChar char="v"/>
            </a:pPr>
            <a:r>
              <a:rPr lang="en-US" sz="2400" dirty="0"/>
              <a:t>A property is a characteristic of a system. It is used to specify the condition of that system.</a:t>
            </a:r>
          </a:p>
          <a:p>
            <a:pPr>
              <a:buFont typeface="Wingdings" panose="05000000000000000000" pitchFamily="2" charset="2"/>
              <a:buChar char="v"/>
            </a:pPr>
            <a:r>
              <a:rPr lang="en-US" sz="2400" dirty="0"/>
              <a:t>The most common properties are pressure, temperature, mass, volume and energy.</a:t>
            </a:r>
          </a:p>
          <a:p>
            <a:pPr>
              <a:buFont typeface="Wingdings" panose="05000000000000000000" pitchFamily="2" charset="2"/>
              <a:buChar char="v"/>
            </a:pPr>
            <a:r>
              <a:rPr lang="en-US" sz="2400" dirty="0"/>
              <a:t>A property must be macroscopic, measurable and have a single numerical value that does not depend on how the condition of the system was attained.</a:t>
            </a:r>
          </a:p>
          <a:p>
            <a:pPr>
              <a:buFont typeface="Wingdings" panose="05000000000000000000" pitchFamily="2" charset="2"/>
              <a:buChar char="v"/>
            </a:pPr>
            <a:r>
              <a:rPr lang="en-US" sz="2400" b="1" dirty="0">
                <a:solidFill>
                  <a:srgbClr val="002060"/>
                </a:solidFill>
              </a:rPr>
              <a:t>Thermodynamic properties are classified as </a:t>
            </a:r>
            <a:r>
              <a:rPr lang="en-US" sz="2400" b="1" dirty="0">
                <a:solidFill>
                  <a:srgbClr val="C00000"/>
                </a:solidFill>
              </a:rPr>
              <a:t>Intensive</a:t>
            </a:r>
            <a:r>
              <a:rPr lang="en-US" sz="2400" b="1" dirty="0">
                <a:solidFill>
                  <a:srgbClr val="002060"/>
                </a:solidFill>
              </a:rPr>
              <a:t> and </a:t>
            </a:r>
            <a:r>
              <a:rPr lang="en-US" sz="2400" b="1" dirty="0">
                <a:solidFill>
                  <a:srgbClr val="C00000"/>
                </a:solidFill>
              </a:rPr>
              <a:t>Extensive</a:t>
            </a:r>
            <a:r>
              <a:rPr lang="en-US" sz="2400" b="1" dirty="0">
                <a:solidFill>
                  <a:srgbClr val="002060"/>
                </a:solidFill>
              </a:rPr>
              <a:t> properties.</a:t>
            </a:r>
          </a:p>
          <a:p>
            <a:pPr>
              <a:buFont typeface="Wingdings" panose="05000000000000000000" pitchFamily="2" charset="2"/>
              <a:buChar char="v"/>
            </a:pPr>
            <a:endParaRPr lang="en-US" dirty="0"/>
          </a:p>
          <a:p>
            <a:pPr>
              <a:buFont typeface="Wingdings" panose="05000000000000000000" pitchFamily="2" charset="2"/>
              <a:buChar char="v"/>
            </a:pPr>
            <a:endParaRPr lang="en-US" dirty="0"/>
          </a:p>
        </p:txBody>
      </p:sp>
      <p:sp>
        <p:nvSpPr>
          <p:cNvPr id="4" name="Slide Number Placeholder 3"/>
          <p:cNvSpPr>
            <a:spLocks noGrp="1"/>
          </p:cNvSpPr>
          <p:nvPr>
            <p:ph type="sldNum" sz="quarter" idx="12"/>
          </p:nvPr>
        </p:nvSpPr>
        <p:spPr/>
        <p:txBody>
          <a:bodyPr/>
          <a:lstStyle/>
          <a:p>
            <a:fld id="{F4801FD5-11B4-DE43-ACA2-E85EEB9A6F9C}" type="slidenum">
              <a:rPr lang="en-US" smtClean="0"/>
              <a:pPr/>
              <a:t>18</a:t>
            </a:fld>
            <a:endParaRPr lang="en-US" dirty="0"/>
          </a:p>
        </p:txBody>
      </p:sp>
      <p:sp>
        <p:nvSpPr>
          <p:cNvPr id="5" name="Content Placeholder 2"/>
          <p:cNvSpPr txBox="1">
            <a:spLocks/>
          </p:cNvSpPr>
          <p:nvPr/>
        </p:nvSpPr>
        <p:spPr>
          <a:xfrm>
            <a:off x="6351495" y="1013011"/>
            <a:ext cx="5684494" cy="5270076"/>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a:buFont typeface="Wingdings" panose="05000000000000000000" pitchFamily="2" charset="2"/>
              <a:buChar char="v"/>
            </a:pPr>
            <a:r>
              <a:rPr lang="en-US" sz="2400" dirty="0"/>
              <a:t>Extensive properties depend on the extent or size of the system and hence vary directly with the mass. Examples are mass, volume, energy.</a:t>
            </a:r>
          </a:p>
          <a:p>
            <a:pPr>
              <a:buFont typeface="Wingdings" panose="05000000000000000000" pitchFamily="2" charset="2"/>
              <a:buChar char="v"/>
            </a:pPr>
            <a:r>
              <a:rPr lang="en-US" sz="2400" dirty="0"/>
              <a:t>Intensive properties are independent of the size of the system. Examples are Pressure, specific volume, specific energy, and temperature.</a:t>
            </a:r>
          </a:p>
          <a:p>
            <a:pPr>
              <a:buFont typeface="Wingdings" panose="05000000000000000000" pitchFamily="2" charset="2"/>
              <a:buChar char="v"/>
            </a:pPr>
            <a:r>
              <a:rPr lang="en-US" sz="2400" b="1" dirty="0">
                <a:solidFill>
                  <a:srgbClr val="002060"/>
                </a:solidFill>
              </a:rPr>
              <a:t>Specific properties (</a:t>
            </a:r>
            <a:r>
              <a:rPr lang="en-US" sz="2400" b="1" dirty="0">
                <a:solidFill>
                  <a:srgbClr val="FF0000"/>
                </a:solidFill>
              </a:rPr>
              <a:t>denoted by lower case letters</a:t>
            </a:r>
            <a:r>
              <a:rPr lang="en-US" sz="2400" b="1" dirty="0">
                <a:solidFill>
                  <a:srgbClr val="002060"/>
                </a:solidFill>
              </a:rPr>
              <a:t>) are defined as the value of an extensive property per unit mass. They are therefore, independent of mass and are regarded as intensive properties.</a:t>
            </a:r>
          </a:p>
          <a:p>
            <a:pPr>
              <a:buFont typeface="Wingdings" panose="05000000000000000000" pitchFamily="2" charset="2"/>
              <a:buChar char="v"/>
            </a:pPr>
            <a:endParaRPr lang="en-US" sz="2400" dirty="0"/>
          </a:p>
          <a:p>
            <a:pPr>
              <a:buFont typeface="Wingdings" panose="05000000000000000000" pitchFamily="2" charset="2"/>
              <a:buChar char="v"/>
            </a:pPr>
            <a:endParaRPr lang="en-US" sz="2400" dirty="0"/>
          </a:p>
          <a:p>
            <a:pPr>
              <a:buFont typeface="Wingdings" panose="05000000000000000000" pitchFamily="2" charset="2"/>
              <a:buChar char="v"/>
            </a:pPr>
            <a:endParaRPr lang="en-US" sz="2400" dirty="0"/>
          </a:p>
          <a:p>
            <a:pPr>
              <a:buFont typeface="Wingdings" panose="05000000000000000000" pitchFamily="2" charset="2"/>
              <a:buChar char="v"/>
            </a:pPr>
            <a:endParaRPr lang="en-US" sz="2400" dirty="0"/>
          </a:p>
        </p:txBody>
      </p:sp>
    </p:spTree>
    <p:extLst>
      <p:ext uri="{BB962C8B-B14F-4D97-AF65-F5344CB8AC3E}">
        <p14:creationId xmlns:p14="http://schemas.microsoft.com/office/powerpoint/2010/main" val="150234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Basic Concepts and Definitions</a:t>
            </a:r>
            <a:endParaRPr lang="en-US" dirty="0">
              <a:solidFill>
                <a:srgbClr val="002060"/>
              </a:solidFill>
              <a:latin typeface="Georgia" panose="02040502050405020303" pitchFamily="18" charset="0"/>
            </a:endParaRPr>
          </a:p>
        </p:txBody>
      </p:sp>
      <p:sp>
        <p:nvSpPr>
          <p:cNvPr id="3" name="Content Placeholder 2"/>
          <p:cNvSpPr>
            <a:spLocks noGrp="1"/>
          </p:cNvSpPr>
          <p:nvPr>
            <p:ph sz="half" idx="1"/>
          </p:nvPr>
        </p:nvSpPr>
        <p:spPr>
          <a:xfrm>
            <a:off x="514601" y="1008528"/>
            <a:ext cx="5836894" cy="5072958"/>
          </a:xfrm>
        </p:spPr>
        <p:txBody>
          <a:bodyPr>
            <a:noAutofit/>
          </a:bodyPr>
          <a:lstStyle/>
          <a:p>
            <a:pPr>
              <a:buFont typeface="Wingdings" panose="05000000000000000000" pitchFamily="2" charset="2"/>
              <a:buChar char="v"/>
            </a:pPr>
            <a:r>
              <a:rPr lang="en-US" sz="2000" dirty="0"/>
              <a:t>Three measurable intensive properties that are particularly important in engineering thermodynamics are specific volume, pressure, and temperature.</a:t>
            </a:r>
          </a:p>
          <a:p>
            <a:pPr>
              <a:buFont typeface="Wingdings" panose="05000000000000000000" pitchFamily="2" charset="2"/>
              <a:buChar char="v"/>
            </a:pPr>
            <a:r>
              <a:rPr lang="en-US" sz="2000" b="1" dirty="0">
                <a:solidFill>
                  <a:srgbClr val="FF0000"/>
                </a:solidFill>
              </a:rPr>
              <a:t>Specific Volume</a:t>
            </a:r>
            <a:r>
              <a:rPr lang="en-GB" sz="2000" b="1" dirty="0">
                <a:solidFill>
                  <a:srgbClr val="FF0000"/>
                </a:solidFill>
              </a:rPr>
              <a:t> on mass and molar basis</a:t>
            </a:r>
          </a:p>
          <a:p>
            <a:pPr>
              <a:buFont typeface="Wingdings" panose="05000000000000000000" pitchFamily="2" charset="2"/>
              <a:buChar char="ü"/>
            </a:pPr>
            <a:r>
              <a:rPr lang="en-US" sz="2000" dirty="0"/>
              <a:t>The density (ρ), or local mass per unit volume, is an intensive property that may vary from point to point within a system.  Thus, the mass associated with a particular volume V is determined in principle by integration </a:t>
            </a:r>
          </a:p>
          <a:p>
            <a:pPr marL="0" indent="0">
              <a:buNone/>
            </a:pPr>
            <a:endParaRPr lang="en-US" sz="2000" dirty="0">
              <a:solidFill>
                <a:srgbClr val="FF0000"/>
              </a:solidFill>
            </a:endParaRPr>
          </a:p>
          <a:p>
            <a:pPr marL="0" indent="0">
              <a:buNone/>
            </a:pPr>
            <a:r>
              <a:rPr lang="en-US" sz="2000" dirty="0"/>
              <a:t>	and </a:t>
            </a:r>
            <a:r>
              <a:rPr lang="en-US" sz="2000" i="1" dirty="0"/>
              <a:t>not </a:t>
            </a:r>
            <a:r>
              <a:rPr lang="en-US" sz="2000" dirty="0"/>
              <a:t>simply as the product of density and 	volume.</a:t>
            </a:r>
          </a:p>
          <a:p>
            <a:pPr>
              <a:buFont typeface="Wingdings" panose="05000000000000000000" pitchFamily="2" charset="2"/>
              <a:buChar char="ü"/>
            </a:pPr>
            <a:r>
              <a:rPr lang="en-US" sz="2000" dirty="0"/>
              <a:t>The specific volume on mass basis </a:t>
            </a:r>
            <a:r>
              <a:rPr lang="en-US" sz="2000" i="1" dirty="0"/>
              <a:t>v</a:t>
            </a:r>
            <a:r>
              <a:rPr lang="en-US" sz="2000" dirty="0"/>
              <a:t> is defined as the reciprocal of density</a:t>
            </a:r>
          </a:p>
          <a:p>
            <a:pPr marL="0" indent="0">
              <a:buNone/>
            </a:pPr>
            <a:endParaRPr lang="en-US" sz="2000" dirty="0"/>
          </a:p>
          <a:p>
            <a:pPr marL="0" indent="0">
              <a:buNone/>
            </a:pPr>
            <a:endParaRPr lang="en-US" sz="2000" dirty="0">
              <a:solidFill>
                <a:srgbClr val="FF0000"/>
              </a:solidFill>
            </a:endParaRPr>
          </a:p>
        </p:txBody>
      </p:sp>
      <p:sp>
        <p:nvSpPr>
          <p:cNvPr id="4" name="Slide Number Placeholder 3"/>
          <p:cNvSpPr>
            <a:spLocks noGrp="1"/>
          </p:cNvSpPr>
          <p:nvPr>
            <p:ph type="sldNum" sz="quarter" idx="12"/>
          </p:nvPr>
        </p:nvSpPr>
        <p:spPr/>
        <p:txBody>
          <a:bodyPr/>
          <a:lstStyle/>
          <a:p>
            <a:fld id="{F4801FD5-11B4-DE43-ACA2-E85EEB9A6F9C}" type="slidenum">
              <a:rPr lang="en-US" smtClean="0"/>
              <a:pPr/>
              <a:t>19</a:t>
            </a:fld>
            <a:endParaRPr lang="en-US" dirty="0"/>
          </a:p>
        </p:txBody>
      </p:sp>
      <p:sp>
        <p:nvSpPr>
          <p:cNvPr id="5" name="Content Placeholder 2"/>
          <p:cNvSpPr txBox="1">
            <a:spLocks/>
          </p:cNvSpPr>
          <p:nvPr/>
        </p:nvSpPr>
        <p:spPr>
          <a:xfrm>
            <a:off x="6351495" y="1013011"/>
            <a:ext cx="5684494" cy="5270076"/>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a:buFont typeface="Wingdings" panose="05000000000000000000" pitchFamily="2" charset="2"/>
              <a:buChar char="ü"/>
            </a:pPr>
            <a:r>
              <a:rPr lang="en-US" sz="1800" dirty="0"/>
              <a:t>Like density, specific volume is an intensive property and may vary from point to point.  SI units for density and specific volume are kg/m</a:t>
            </a:r>
            <a:r>
              <a:rPr lang="en-US" sz="1800" baseline="30000" dirty="0"/>
              <a:t>3</a:t>
            </a:r>
            <a:r>
              <a:rPr lang="en-US" sz="1800" dirty="0"/>
              <a:t> and m</a:t>
            </a:r>
            <a:r>
              <a:rPr lang="en-US" sz="1800" baseline="30000" dirty="0"/>
              <a:t>3</a:t>
            </a:r>
            <a:r>
              <a:rPr lang="en-US" sz="1800" dirty="0"/>
              <a:t>/kg, respectively</a:t>
            </a:r>
            <a:r>
              <a:rPr lang="en-US" sz="2400" dirty="0"/>
              <a:t>.</a:t>
            </a:r>
          </a:p>
          <a:p>
            <a:pPr>
              <a:buFont typeface="Wingdings" panose="05000000000000000000" pitchFamily="2" charset="2"/>
              <a:buChar char="ü"/>
            </a:pPr>
            <a:r>
              <a:rPr lang="en-US" sz="2000" dirty="0"/>
              <a:t>The specific volume on molar basis    is defined in terms of the specific volume on mass basis     by the relation </a:t>
            </a:r>
          </a:p>
          <a:p>
            <a:pPr>
              <a:buFont typeface="Wingdings" panose="05000000000000000000" pitchFamily="2" charset="2"/>
              <a:buChar char="v"/>
            </a:pPr>
            <a:endParaRPr lang="en-US" sz="2000" dirty="0"/>
          </a:p>
          <a:p>
            <a:pPr>
              <a:buFont typeface="Wingdings" panose="05000000000000000000" pitchFamily="2" charset="2"/>
              <a:buChar char="v"/>
            </a:pPr>
            <a:endParaRPr lang="en-US" sz="2000" dirty="0"/>
          </a:p>
          <a:p>
            <a:pPr marL="0" indent="0">
              <a:buNone/>
            </a:pPr>
            <a:endParaRPr lang="en-US" sz="2000" dirty="0"/>
          </a:p>
          <a:p>
            <a:pPr>
              <a:buFont typeface="Wingdings" panose="05000000000000000000" pitchFamily="2" charset="2"/>
              <a:buChar char="ü"/>
            </a:pPr>
            <a:r>
              <a:rPr lang="en-US" sz="2000" dirty="0"/>
              <a:t>The specific weight (γ=Weight/V=mg/V) is defined as the weight per unit volume of a system. It is related to the density of the system by the relation: γ = </a:t>
            </a:r>
            <a:r>
              <a:rPr lang="en-US" sz="2000" dirty="0" err="1"/>
              <a:t>ρg</a:t>
            </a:r>
            <a:r>
              <a:rPr lang="en-US" sz="2000" dirty="0"/>
              <a:t>, where g is the local acceleration due to gravity. Specific weight has the unit Newton per cubic meter (N/m</a:t>
            </a:r>
            <a:r>
              <a:rPr lang="en-US" sz="2000" baseline="30000" dirty="0"/>
              <a:t>3</a:t>
            </a:r>
            <a:r>
              <a:rPr lang="en-US" sz="2000" dirty="0"/>
              <a:t>) </a:t>
            </a:r>
          </a:p>
          <a:p>
            <a:pPr>
              <a:buFont typeface="Wingdings" panose="05000000000000000000" pitchFamily="2" charset="2"/>
              <a:buChar char="v"/>
            </a:pPr>
            <a:endParaRPr lang="en-US" sz="1800" dirty="0"/>
          </a:p>
          <a:p>
            <a:pPr>
              <a:buFont typeface="Wingdings" panose="05000000000000000000" pitchFamily="2" charset="2"/>
              <a:buChar char="v"/>
            </a:pPr>
            <a:endParaRPr lang="en-US" sz="1600" dirty="0"/>
          </a:p>
        </p:txBody>
      </p:sp>
      <p:sp>
        <p:nvSpPr>
          <p:cNvPr id="14" name="Rectangle 10">
            <a:extLst>
              <a:ext uri="{FF2B5EF4-FFF2-40B4-BE49-F238E27FC236}">
                <a16:creationId xmlns:a16="http://schemas.microsoft.com/office/drawing/2014/main" id="{CEDDBD42-94D3-4737-A168-FEF93B6E94AC}"/>
              </a:ext>
            </a:extLst>
          </p:cNvPr>
          <p:cNvSpPr>
            <a:spLocks noChangeArrowheads="1"/>
          </p:cNvSpPr>
          <p:nvPr/>
        </p:nvSpPr>
        <p:spPr bwMode="auto">
          <a:xfrm>
            <a:off x="2165928" y="5932208"/>
            <a:ext cx="19597462"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graphicFrame>
        <p:nvGraphicFramePr>
          <p:cNvPr id="15" name="Object 14">
            <a:extLst>
              <a:ext uri="{FF2B5EF4-FFF2-40B4-BE49-F238E27FC236}">
                <a16:creationId xmlns:a16="http://schemas.microsoft.com/office/drawing/2014/main" id="{C602A00F-2726-498B-9A0B-D14E4FAB2D33}"/>
              </a:ext>
            </a:extLst>
          </p:cNvPr>
          <p:cNvGraphicFramePr>
            <a:graphicFrameLocks noChangeAspect="1"/>
          </p:cNvGraphicFramePr>
          <p:nvPr>
            <p:extLst>
              <p:ext uri="{D42A27DB-BD31-4B8C-83A1-F6EECF244321}">
                <p14:modId xmlns:p14="http://schemas.microsoft.com/office/powerpoint/2010/main" val="426781693"/>
              </p:ext>
            </p:extLst>
          </p:nvPr>
        </p:nvGraphicFramePr>
        <p:xfrm>
          <a:off x="2165928" y="3955397"/>
          <a:ext cx="1540604" cy="548951"/>
        </p:xfrm>
        <a:graphic>
          <a:graphicData uri="http://schemas.openxmlformats.org/presentationml/2006/ole">
            <mc:AlternateContent xmlns:mc="http://schemas.openxmlformats.org/markup-compatibility/2006">
              <mc:Choice xmlns:v="urn:schemas-microsoft-com:vml" Requires="v">
                <p:oleObj spid="_x0000_s2132" r:id="rId3" imgW="825500" imgH="292100" progId="Equation.3">
                  <p:embed/>
                </p:oleObj>
              </mc:Choice>
              <mc:Fallback>
                <p:oleObj r:id="rId3" imgW="825500" imgH="292100" progId="Equation.3">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65928" y="3955397"/>
                        <a:ext cx="1540604" cy="548951"/>
                      </a:xfrm>
                      <a:prstGeom prst="rect">
                        <a:avLst/>
                      </a:prstGeom>
                      <a:noFill/>
                    </p:spPr>
                  </p:pic>
                </p:oleObj>
              </mc:Fallback>
            </mc:AlternateContent>
          </a:graphicData>
        </a:graphic>
      </p:graphicFrame>
      <p:sp>
        <p:nvSpPr>
          <p:cNvPr id="18" name="Rectangle 15">
            <a:extLst>
              <a:ext uri="{FF2B5EF4-FFF2-40B4-BE49-F238E27FC236}">
                <a16:creationId xmlns:a16="http://schemas.microsoft.com/office/drawing/2014/main" id="{561870F7-9D50-4393-A979-0E2BB7F87073}"/>
              </a:ext>
            </a:extLst>
          </p:cNvPr>
          <p:cNvSpPr>
            <a:spLocks noChangeArrowheads="1"/>
          </p:cNvSpPr>
          <p:nvPr/>
        </p:nvSpPr>
        <p:spPr bwMode="auto">
          <a:xfrm>
            <a:off x="8275120" y="1799771"/>
            <a:ext cx="2388636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graphicFrame>
        <p:nvGraphicFramePr>
          <p:cNvPr id="19" name="Object 18">
            <a:extLst>
              <a:ext uri="{FF2B5EF4-FFF2-40B4-BE49-F238E27FC236}">
                <a16:creationId xmlns:a16="http://schemas.microsoft.com/office/drawing/2014/main" id="{DB19E256-DB34-4471-8E7C-D3F39090C3B9}"/>
              </a:ext>
            </a:extLst>
          </p:cNvPr>
          <p:cNvGraphicFramePr>
            <a:graphicFrameLocks noChangeAspect="1"/>
          </p:cNvGraphicFramePr>
          <p:nvPr>
            <p:extLst>
              <p:ext uri="{D42A27DB-BD31-4B8C-83A1-F6EECF244321}">
                <p14:modId xmlns:p14="http://schemas.microsoft.com/office/powerpoint/2010/main" val="247743351"/>
              </p:ext>
            </p:extLst>
          </p:nvPr>
        </p:nvGraphicFramePr>
        <p:xfrm>
          <a:off x="3186280" y="5705195"/>
          <a:ext cx="1362075" cy="454025"/>
        </p:xfrm>
        <a:graphic>
          <a:graphicData uri="http://schemas.openxmlformats.org/presentationml/2006/ole">
            <mc:AlternateContent xmlns:mc="http://schemas.openxmlformats.org/markup-compatibility/2006">
              <mc:Choice xmlns:v="urn:schemas-microsoft-com:vml" Requires="v">
                <p:oleObj spid="_x0000_s2133" r:id="rId5" imgW="596641" imgH="203112" progId="Equation.3">
                  <p:embed/>
                </p:oleObj>
              </mc:Choice>
              <mc:Fallback>
                <p:oleObj r:id="rId5" imgW="596641" imgH="203112" progId="Equation.3">
                  <p:embed/>
                  <p:pic>
                    <p:nvPicPr>
                      <p:cNvPr id="0" name="Object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86280" y="5705195"/>
                        <a:ext cx="1362075" cy="454025"/>
                      </a:xfrm>
                      <a:prstGeom prst="rect">
                        <a:avLst/>
                      </a:prstGeom>
                      <a:noFill/>
                    </p:spPr>
                  </p:pic>
                </p:oleObj>
              </mc:Fallback>
            </mc:AlternateContent>
          </a:graphicData>
        </a:graphic>
      </p:graphicFrame>
      <p:sp>
        <p:nvSpPr>
          <p:cNvPr id="32" name="Rectangle 29">
            <a:extLst>
              <a:ext uri="{FF2B5EF4-FFF2-40B4-BE49-F238E27FC236}">
                <a16:creationId xmlns:a16="http://schemas.microsoft.com/office/drawing/2014/main" id="{48C953CD-DE7D-421D-9E0A-D30B31447655}"/>
              </a:ext>
            </a:extLst>
          </p:cNvPr>
          <p:cNvSpPr>
            <a:spLocks noChangeArrowheads="1"/>
          </p:cNvSpPr>
          <p:nvPr/>
        </p:nvSpPr>
        <p:spPr bwMode="auto">
          <a:xfrm>
            <a:off x="11677400" y="3874418"/>
            <a:ext cx="254752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graphicFrame>
        <p:nvGraphicFramePr>
          <p:cNvPr id="33" name="Object 32">
            <a:extLst>
              <a:ext uri="{FF2B5EF4-FFF2-40B4-BE49-F238E27FC236}">
                <a16:creationId xmlns:a16="http://schemas.microsoft.com/office/drawing/2014/main" id="{837AFA4B-85D5-47E1-8F3B-2D09AE2538B8}"/>
              </a:ext>
            </a:extLst>
          </p:cNvPr>
          <p:cNvGraphicFramePr>
            <a:graphicFrameLocks noChangeAspect="1"/>
          </p:cNvGraphicFramePr>
          <p:nvPr>
            <p:extLst>
              <p:ext uri="{D42A27DB-BD31-4B8C-83A1-F6EECF244321}">
                <p14:modId xmlns:p14="http://schemas.microsoft.com/office/powerpoint/2010/main" val="4213019161"/>
              </p:ext>
            </p:extLst>
          </p:nvPr>
        </p:nvGraphicFramePr>
        <p:xfrm>
          <a:off x="10274987" y="2002298"/>
          <a:ext cx="238830" cy="378148"/>
        </p:xfrm>
        <a:graphic>
          <a:graphicData uri="http://schemas.openxmlformats.org/presentationml/2006/ole">
            <mc:AlternateContent xmlns:mc="http://schemas.openxmlformats.org/markup-compatibility/2006">
              <mc:Choice xmlns:v="urn:schemas-microsoft-com:vml" Requires="v">
                <p:oleObj spid="_x0000_s2134" r:id="rId7" imgW="114102" imgH="177492" progId="Equation.DSMT4">
                  <p:embed/>
                </p:oleObj>
              </mc:Choice>
              <mc:Fallback>
                <p:oleObj r:id="rId7" imgW="114102" imgH="177492" progId="Equation.DSMT4">
                  <p:embed/>
                  <p:pic>
                    <p:nvPicPr>
                      <p:cNvPr id="0" name="Object 2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274987" y="2002298"/>
                        <a:ext cx="238830" cy="378148"/>
                      </a:xfrm>
                      <a:prstGeom prst="rect">
                        <a:avLst/>
                      </a:prstGeom>
                      <a:noFill/>
                    </p:spPr>
                  </p:pic>
                </p:oleObj>
              </mc:Fallback>
            </mc:AlternateContent>
          </a:graphicData>
        </a:graphic>
      </p:graphicFrame>
      <p:sp>
        <p:nvSpPr>
          <p:cNvPr id="34" name="Rectangle 31">
            <a:extLst>
              <a:ext uri="{FF2B5EF4-FFF2-40B4-BE49-F238E27FC236}">
                <a16:creationId xmlns:a16="http://schemas.microsoft.com/office/drawing/2014/main" id="{9BCAEC52-4B5D-479B-8D32-8020DA281181}"/>
              </a:ext>
            </a:extLst>
          </p:cNvPr>
          <p:cNvSpPr>
            <a:spLocks noChangeArrowheads="1"/>
          </p:cNvSpPr>
          <p:nvPr/>
        </p:nvSpPr>
        <p:spPr bwMode="auto">
          <a:xfrm>
            <a:off x="10022461" y="4830742"/>
            <a:ext cx="54890773"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graphicFrame>
        <p:nvGraphicFramePr>
          <p:cNvPr id="35" name="Object 34">
            <a:extLst>
              <a:ext uri="{FF2B5EF4-FFF2-40B4-BE49-F238E27FC236}">
                <a16:creationId xmlns:a16="http://schemas.microsoft.com/office/drawing/2014/main" id="{0DD9E7F7-06B5-48C2-8195-41D2E8D156F3}"/>
              </a:ext>
            </a:extLst>
          </p:cNvPr>
          <p:cNvGraphicFramePr>
            <a:graphicFrameLocks noChangeAspect="1"/>
          </p:cNvGraphicFramePr>
          <p:nvPr>
            <p:extLst>
              <p:ext uri="{D42A27DB-BD31-4B8C-83A1-F6EECF244321}">
                <p14:modId xmlns:p14="http://schemas.microsoft.com/office/powerpoint/2010/main" val="1398027182"/>
              </p:ext>
            </p:extLst>
          </p:nvPr>
        </p:nvGraphicFramePr>
        <p:xfrm>
          <a:off x="11070895" y="2395344"/>
          <a:ext cx="288601" cy="360751"/>
        </p:xfrm>
        <a:graphic>
          <a:graphicData uri="http://schemas.openxmlformats.org/presentationml/2006/ole">
            <mc:AlternateContent xmlns:mc="http://schemas.openxmlformats.org/markup-compatibility/2006">
              <mc:Choice xmlns:v="urn:schemas-microsoft-com:vml" Requires="v">
                <p:oleObj spid="_x0000_s2135" r:id="rId9" imgW="114201" imgH="139579" progId="Equation.DSMT4">
                  <p:embed/>
                </p:oleObj>
              </mc:Choice>
              <mc:Fallback>
                <p:oleObj r:id="rId9" imgW="114201" imgH="139579" progId="Equation.DSMT4">
                  <p:embed/>
                  <p:pic>
                    <p:nvPicPr>
                      <p:cNvPr id="0" name="Object 3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070895" y="2395344"/>
                        <a:ext cx="288601" cy="360751"/>
                      </a:xfrm>
                      <a:prstGeom prst="rect">
                        <a:avLst/>
                      </a:prstGeom>
                      <a:noFill/>
                    </p:spPr>
                  </p:pic>
                </p:oleObj>
              </mc:Fallback>
            </mc:AlternateContent>
          </a:graphicData>
        </a:graphic>
      </p:graphicFrame>
      <p:sp>
        <p:nvSpPr>
          <p:cNvPr id="36" name="Rectangle 33">
            <a:extLst>
              <a:ext uri="{FF2B5EF4-FFF2-40B4-BE49-F238E27FC236}">
                <a16:creationId xmlns:a16="http://schemas.microsoft.com/office/drawing/2014/main" id="{B950A2DB-D064-4BB5-A817-4D8C2A16CC2A}"/>
              </a:ext>
            </a:extLst>
          </p:cNvPr>
          <p:cNvSpPr>
            <a:spLocks noChangeArrowheads="1"/>
          </p:cNvSpPr>
          <p:nvPr/>
        </p:nvSpPr>
        <p:spPr bwMode="auto">
          <a:xfrm>
            <a:off x="8814894" y="4846387"/>
            <a:ext cx="16074507"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graphicFrame>
        <p:nvGraphicFramePr>
          <p:cNvPr id="37" name="Object 36">
            <a:extLst>
              <a:ext uri="{FF2B5EF4-FFF2-40B4-BE49-F238E27FC236}">
                <a16:creationId xmlns:a16="http://schemas.microsoft.com/office/drawing/2014/main" id="{7286DF1B-98FC-4868-9218-16BC1DE813B2}"/>
              </a:ext>
            </a:extLst>
          </p:cNvPr>
          <p:cNvGraphicFramePr>
            <a:graphicFrameLocks noChangeAspect="1"/>
          </p:cNvGraphicFramePr>
          <p:nvPr>
            <p:extLst>
              <p:ext uri="{D42A27DB-BD31-4B8C-83A1-F6EECF244321}">
                <p14:modId xmlns:p14="http://schemas.microsoft.com/office/powerpoint/2010/main" val="2752445188"/>
              </p:ext>
            </p:extLst>
          </p:nvPr>
        </p:nvGraphicFramePr>
        <p:xfrm>
          <a:off x="7665548" y="3056052"/>
          <a:ext cx="3001935" cy="786221"/>
        </p:xfrm>
        <a:graphic>
          <a:graphicData uri="http://schemas.openxmlformats.org/presentationml/2006/ole">
            <mc:AlternateContent xmlns:mc="http://schemas.openxmlformats.org/markup-compatibility/2006">
              <mc:Choice xmlns:v="urn:schemas-microsoft-com:vml" Requires="v">
                <p:oleObj spid="_x0000_s2136" r:id="rId11" imgW="1600200" imgH="419100" progId="Equation.DSMT4">
                  <p:embed/>
                </p:oleObj>
              </mc:Choice>
              <mc:Fallback>
                <p:oleObj r:id="rId11" imgW="1600200" imgH="419100" progId="Equation.DSMT4">
                  <p:embed/>
                  <p:pic>
                    <p:nvPicPr>
                      <p:cNvPr id="0" name="Object 3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665548" y="3056052"/>
                        <a:ext cx="3001935" cy="786221"/>
                      </a:xfrm>
                      <a:prstGeom prst="rect">
                        <a:avLst/>
                      </a:prstGeom>
                      <a:noFill/>
                    </p:spPr>
                  </p:pic>
                </p:oleObj>
              </mc:Fallback>
            </mc:AlternateContent>
          </a:graphicData>
        </a:graphic>
      </p:graphicFrame>
    </p:spTree>
    <p:extLst>
      <p:ext uri="{BB962C8B-B14F-4D97-AF65-F5344CB8AC3E}">
        <p14:creationId xmlns:p14="http://schemas.microsoft.com/office/powerpoint/2010/main" val="20868656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Basic Concepts and Definitions</a:t>
            </a:r>
            <a:endParaRPr lang="en-US" dirty="0">
              <a:solidFill>
                <a:srgbClr val="002060"/>
              </a:solidFill>
              <a:latin typeface="Georgia" panose="02040502050405020303" pitchFamily="18" charset="0"/>
            </a:endParaRPr>
          </a:p>
        </p:txBody>
      </p:sp>
      <p:sp>
        <p:nvSpPr>
          <p:cNvPr id="3" name="Content Placeholder 2"/>
          <p:cNvSpPr>
            <a:spLocks noGrp="1"/>
          </p:cNvSpPr>
          <p:nvPr>
            <p:ph sz="half" idx="1"/>
          </p:nvPr>
        </p:nvSpPr>
        <p:spPr>
          <a:xfrm>
            <a:off x="514601" y="1008528"/>
            <a:ext cx="5836894" cy="5072958"/>
          </a:xfrm>
        </p:spPr>
        <p:txBody>
          <a:bodyPr>
            <a:noAutofit/>
          </a:bodyPr>
          <a:lstStyle/>
          <a:p>
            <a:pPr>
              <a:buFont typeface="Wingdings" panose="05000000000000000000" pitchFamily="2" charset="2"/>
              <a:buChar char="v"/>
            </a:pPr>
            <a:r>
              <a:rPr lang="en-US" sz="1800" b="1" dirty="0">
                <a:solidFill>
                  <a:srgbClr val="FF0000"/>
                </a:solidFill>
                <a:effectLst/>
                <a:latin typeface="Arial" panose="020B0604020202020204" pitchFamily="34" charset="0"/>
                <a:ea typeface="Times New Roman" panose="02020603050405020304" pitchFamily="18" charset="0"/>
              </a:rPr>
              <a:t>Pressure</a:t>
            </a:r>
          </a:p>
          <a:p>
            <a:pPr marL="0" marR="0" algn="just">
              <a:spcBef>
                <a:spcPts val="0"/>
              </a:spcBef>
              <a:spcAft>
                <a:spcPts val="0"/>
              </a:spcAft>
              <a:buFont typeface="Wingdings" panose="05000000000000000000" pitchFamily="2" charset="2"/>
              <a:buChar char="ü"/>
            </a:pPr>
            <a:r>
              <a:rPr lang="en-US" sz="1600" dirty="0">
                <a:effectLst/>
                <a:latin typeface="Times New Roman" panose="02020603050405020304" pitchFamily="18" charset="0"/>
                <a:ea typeface="Times New Roman" panose="02020603050405020304" pitchFamily="18" charset="0"/>
              </a:rPr>
              <a:t>The thermodynamic pressure, P, of a system is defined as the total normal force, per unit area, exerted by the system within and at the boundary.  In solids, the pressure is referred to as the normal stress.</a:t>
            </a:r>
          </a:p>
          <a:p>
            <a:pPr marR="0" algn="just">
              <a:spcBef>
                <a:spcPts val="0"/>
              </a:spcBef>
              <a:spcAft>
                <a:spcPts val="0"/>
              </a:spcAft>
              <a:buFont typeface="Wingdings" panose="05000000000000000000" pitchFamily="2" charset="2"/>
              <a:buChar char="ü"/>
            </a:pPr>
            <a:r>
              <a:rPr lang="en-US" sz="1600" dirty="0">
                <a:effectLst/>
                <a:latin typeface="Times New Roman" panose="02020603050405020304" pitchFamily="18" charset="0"/>
                <a:ea typeface="Times New Roman" panose="02020603050405020304" pitchFamily="18" charset="0"/>
              </a:rPr>
              <a:t>The SI unit of pressure and stress is the Pascal (Pa).  </a:t>
            </a:r>
          </a:p>
          <a:p>
            <a:pPr marL="0" marR="0" indent="0" algn="ctr">
              <a:spcBef>
                <a:spcPts val="0"/>
              </a:spcBef>
              <a:spcAft>
                <a:spcPts val="0"/>
              </a:spcAft>
              <a:buNone/>
            </a:pPr>
            <a:r>
              <a:rPr lang="en-US" sz="1600" dirty="0">
                <a:effectLst/>
                <a:latin typeface="Times New Roman" panose="02020603050405020304" pitchFamily="18" charset="0"/>
                <a:ea typeface="Times New Roman" panose="02020603050405020304" pitchFamily="18" charset="0"/>
              </a:rPr>
              <a:t>1 Pascal = 1 N/m</a:t>
            </a:r>
            <a:r>
              <a:rPr lang="en-US" sz="1600" baseline="30000" dirty="0">
                <a:effectLst/>
                <a:latin typeface="Times New Roman" panose="02020603050405020304" pitchFamily="18" charset="0"/>
                <a:ea typeface="Times New Roman" panose="02020603050405020304" pitchFamily="18" charset="0"/>
              </a:rPr>
              <a:t>2</a:t>
            </a:r>
            <a:endParaRPr lang="en-US" sz="1600" dirty="0">
              <a:effectLst/>
              <a:latin typeface="Times New Roman" panose="02020603050405020304" pitchFamily="18" charset="0"/>
              <a:ea typeface="Times New Roman" panose="02020603050405020304" pitchFamily="18" charset="0"/>
            </a:endParaRPr>
          </a:p>
          <a:p>
            <a:pPr marR="0">
              <a:spcBef>
                <a:spcPts val="0"/>
              </a:spcBef>
              <a:spcAft>
                <a:spcPts val="0"/>
              </a:spcAft>
              <a:buFont typeface="Wingdings" panose="05000000000000000000" pitchFamily="2" charset="2"/>
              <a:buChar char="ü"/>
            </a:pPr>
            <a:r>
              <a:rPr lang="en-US" sz="1600" dirty="0">
                <a:effectLst/>
                <a:latin typeface="Times New Roman" panose="02020603050405020304" pitchFamily="18" charset="0"/>
                <a:ea typeface="Times New Roman" panose="02020603050405020304" pitchFamily="18" charset="0"/>
              </a:rPr>
              <a:t>It is, however, convenient to work with multiples of the Pascal: the kilopascal, the bar, and the megapascal.</a:t>
            </a:r>
          </a:p>
          <a:p>
            <a:pPr marL="1828800" marR="0" indent="0">
              <a:spcBef>
                <a:spcPts val="0"/>
              </a:spcBef>
              <a:spcAft>
                <a:spcPts val="0"/>
              </a:spcAft>
              <a:buNone/>
            </a:pPr>
            <a:r>
              <a:rPr lang="nl-NL" sz="1600" dirty="0">
                <a:effectLst/>
                <a:latin typeface="Times New Roman" panose="02020603050405020304" pitchFamily="18" charset="0"/>
                <a:ea typeface="Times New Roman" panose="02020603050405020304" pitchFamily="18" charset="0"/>
              </a:rPr>
              <a:t>1 kPa = 10</a:t>
            </a:r>
            <a:r>
              <a:rPr lang="nl-NL" sz="1600" baseline="30000" dirty="0">
                <a:effectLst/>
                <a:latin typeface="Times New Roman" panose="02020603050405020304" pitchFamily="18" charset="0"/>
                <a:ea typeface="Times New Roman" panose="02020603050405020304" pitchFamily="18" charset="0"/>
              </a:rPr>
              <a:t>3</a:t>
            </a:r>
            <a:r>
              <a:rPr lang="nl-NL" sz="1600" dirty="0">
                <a:effectLst/>
                <a:latin typeface="Times New Roman" panose="02020603050405020304" pitchFamily="18" charset="0"/>
                <a:ea typeface="Times New Roman" panose="02020603050405020304" pitchFamily="18" charset="0"/>
              </a:rPr>
              <a:t> N/m</a:t>
            </a:r>
            <a:r>
              <a:rPr lang="nl-NL" sz="1600" baseline="30000" dirty="0">
                <a:effectLst/>
                <a:latin typeface="Times New Roman" panose="02020603050405020304" pitchFamily="18" charset="0"/>
                <a:ea typeface="Times New Roman" panose="02020603050405020304" pitchFamily="18" charset="0"/>
              </a:rPr>
              <a:t>2</a:t>
            </a:r>
            <a:endParaRPr lang="en-US" sz="1600" dirty="0">
              <a:effectLst/>
              <a:latin typeface="Times New Roman" panose="02020603050405020304" pitchFamily="18" charset="0"/>
              <a:ea typeface="Times New Roman" panose="02020603050405020304" pitchFamily="18" charset="0"/>
            </a:endParaRPr>
          </a:p>
          <a:p>
            <a:pPr marL="1828800" marR="0" indent="0">
              <a:spcBef>
                <a:spcPts val="0"/>
              </a:spcBef>
              <a:spcAft>
                <a:spcPts val="0"/>
              </a:spcAft>
              <a:buNone/>
            </a:pPr>
            <a:r>
              <a:rPr lang="nl-NL" sz="1600" dirty="0">
                <a:effectLst/>
                <a:latin typeface="Times New Roman" panose="02020603050405020304" pitchFamily="18" charset="0"/>
                <a:ea typeface="Times New Roman" panose="02020603050405020304" pitchFamily="18" charset="0"/>
              </a:rPr>
              <a:t>1 bar = 10</a:t>
            </a:r>
            <a:r>
              <a:rPr lang="nl-NL" sz="1600" baseline="30000" dirty="0">
                <a:effectLst/>
                <a:latin typeface="Times New Roman" panose="02020603050405020304" pitchFamily="18" charset="0"/>
                <a:ea typeface="Times New Roman" panose="02020603050405020304" pitchFamily="18" charset="0"/>
              </a:rPr>
              <a:t>5</a:t>
            </a:r>
            <a:r>
              <a:rPr lang="nl-NL" sz="1600" dirty="0">
                <a:effectLst/>
                <a:latin typeface="Times New Roman" panose="02020603050405020304" pitchFamily="18" charset="0"/>
                <a:ea typeface="Times New Roman" panose="02020603050405020304" pitchFamily="18" charset="0"/>
              </a:rPr>
              <a:t> N/m</a:t>
            </a:r>
            <a:r>
              <a:rPr lang="nl-NL" sz="1600" baseline="30000" dirty="0">
                <a:effectLst/>
                <a:latin typeface="Times New Roman" panose="02020603050405020304" pitchFamily="18" charset="0"/>
                <a:ea typeface="Times New Roman" panose="02020603050405020304" pitchFamily="18" charset="0"/>
              </a:rPr>
              <a:t>2</a:t>
            </a:r>
            <a:r>
              <a:rPr lang="nl-NL" sz="1600" dirty="0">
                <a:effectLst/>
                <a:latin typeface="Times New Roman" panose="02020603050405020304" pitchFamily="18" charset="0"/>
                <a:ea typeface="Times New Roman" panose="02020603050405020304" pitchFamily="18" charset="0"/>
              </a:rPr>
              <a:t> = 100 kPa</a:t>
            </a:r>
            <a:endParaRPr lang="en-US" sz="1600" dirty="0">
              <a:effectLst/>
              <a:latin typeface="Times New Roman" panose="02020603050405020304" pitchFamily="18" charset="0"/>
              <a:ea typeface="Times New Roman" panose="02020603050405020304" pitchFamily="18" charset="0"/>
            </a:endParaRPr>
          </a:p>
          <a:p>
            <a:pPr marL="1943100" marR="0" indent="0">
              <a:spcBef>
                <a:spcPts val="0"/>
              </a:spcBef>
              <a:spcAft>
                <a:spcPts val="0"/>
              </a:spcAft>
              <a:buNone/>
            </a:pPr>
            <a:r>
              <a:rPr lang="en-US" sz="1600" dirty="0">
                <a:effectLst/>
                <a:latin typeface="Times New Roman" panose="02020603050405020304" pitchFamily="18" charset="0"/>
                <a:ea typeface="Times New Roman" panose="02020603050405020304" pitchFamily="18" charset="0"/>
              </a:rPr>
              <a:t>1 MPa = 10</a:t>
            </a:r>
            <a:r>
              <a:rPr lang="en-US" sz="1600" baseline="30000" dirty="0">
                <a:effectLst/>
                <a:latin typeface="Times New Roman" panose="02020603050405020304" pitchFamily="18" charset="0"/>
                <a:ea typeface="Times New Roman" panose="02020603050405020304" pitchFamily="18" charset="0"/>
              </a:rPr>
              <a:t>6</a:t>
            </a:r>
            <a:r>
              <a:rPr lang="en-US" sz="1600" dirty="0">
                <a:effectLst/>
                <a:latin typeface="Times New Roman" panose="02020603050405020304" pitchFamily="18" charset="0"/>
                <a:ea typeface="Times New Roman" panose="02020603050405020304" pitchFamily="18" charset="0"/>
              </a:rPr>
              <a:t> N/m</a:t>
            </a:r>
            <a:r>
              <a:rPr lang="en-US" sz="1600" baseline="30000" dirty="0">
                <a:effectLst/>
                <a:latin typeface="Times New Roman" panose="02020603050405020304" pitchFamily="18" charset="0"/>
                <a:ea typeface="Times New Roman" panose="02020603050405020304" pitchFamily="18" charset="0"/>
              </a:rPr>
              <a:t>2</a:t>
            </a:r>
            <a:r>
              <a:rPr lang="en-US" sz="1600" dirty="0">
                <a:effectLst/>
                <a:latin typeface="Times New Roman" panose="02020603050405020304" pitchFamily="18" charset="0"/>
                <a:ea typeface="Times New Roman" panose="02020603050405020304" pitchFamily="18" charset="0"/>
              </a:rPr>
              <a:t> = 1000 kPa</a:t>
            </a:r>
          </a:p>
          <a:p>
            <a:pPr marR="0">
              <a:spcBef>
                <a:spcPts val="0"/>
              </a:spcBef>
              <a:spcAft>
                <a:spcPts val="0"/>
              </a:spcAft>
              <a:buFont typeface="Wingdings" panose="05000000000000000000" pitchFamily="2" charset="2"/>
              <a:buChar char="ü"/>
              <a:tabLst>
                <a:tab pos="457200" algn="l"/>
              </a:tabLst>
            </a:pPr>
            <a:r>
              <a:rPr lang="en-US" sz="1600" dirty="0">
                <a:effectLst/>
                <a:latin typeface="Times New Roman" panose="02020603050405020304" pitchFamily="18" charset="0"/>
                <a:ea typeface="Times New Roman" panose="02020603050405020304" pitchFamily="18" charset="0"/>
              </a:rPr>
              <a:t>Another unit of pressure that continues to be used is the atmosphere (atm.).</a:t>
            </a:r>
          </a:p>
          <a:p>
            <a:pPr marL="0" marR="0" indent="0" algn="ctr">
              <a:spcBef>
                <a:spcPts val="0"/>
              </a:spcBef>
              <a:spcAft>
                <a:spcPts val="0"/>
              </a:spcAft>
              <a:buNone/>
              <a:tabLst>
                <a:tab pos="457200" algn="l"/>
              </a:tabLst>
            </a:pPr>
            <a:endParaRPr lang="en-US" sz="1600" dirty="0">
              <a:latin typeface="Times New Roman" panose="02020603050405020304" pitchFamily="18" charset="0"/>
              <a:ea typeface="Times New Roman" panose="02020603050405020304" pitchFamily="18" charset="0"/>
            </a:endParaRPr>
          </a:p>
          <a:p>
            <a:pPr marR="0" algn="ctr">
              <a:spcBef>
                <a:spcPts val="0"/>
              </a:spcBef>
              <a:spcAft>
                <a:spcPts val="0"/>
              </a:spcAft>
              <a:buFont typeface="Wingdings" panose="05000000000000000000" pitchFamily="2" charset="2"/>
              <a:buChar char="ü"/>
              <a:tabLst>
                <a:tab pos="457200" algn="l"/>
              </a:tabLst>
            </a:pPr>
            <a:r>
              <a:rPr lang="en-US" sz="1600" dirty="0">
                <a:effectLst/>
                <a:latin typeface="Times New Roman" panose="02020603050405020304" pitchFamily="18" charset="0"/>
                <a:ea typeface="Times New Roman" panose="02020603050405020304" pitchFamily="18" charset="0"/>
              </a:rPr>
              <a:t>1 atm = 101 325 Pa =101.325 kPa = 1.013 25 bar = 760 mm Hg</a:t>
            </a:r>
          </a:p>
          <a:p>
            <a:pPr marR="0" algn="just">
              <a:spcBef>
                <a:spcPts val="0"/>
              </a:spcBef>
              <a:spcAft>
                <a:spcPts val="0"/>
              </a:spcAft>
              <a:buFont typeface="Wingdings" panose="05000000000000000000" pitchFamily="2" charset="2"/>
              <a:buChar char="ü"/>
              <a:tabLst>
                <a:tab pos="457200" algn="l"/>
              </a:tabLst>
            </a:pPr>
            <a:r>
              <a:rPr lang="en-US" sz="1600" dirty="0">
                <a:effectLst/>
                <a:latin typeface="Times New Roman" panose="02020603050405020304" pitchFamily="18" charset="0"/>
                <a:ea typeface="Times New Roman" panose="02020603050405020304" pitchFamily="18" charset="0"/>
              </a:rPr>
              <a:t>The 760 mm Hg refers to the height of mercury column that the atmosphere can support; the force per unit area exerted by the mercury column is the atmospheric pressure.</a:t>
            </a:r>
          </a:p>
        </p:txBody>
      </p:sp>
      <p:sp>
        <p:nvSpPr>
          <p:cNvPr id="4" name="Slide Number Placeholder 3"/>
          <p:cNvSpPr>
            <a:spLocks noGrp="1"/>
          </p:cNvSpPr>
          <p:nvPr>
            <p:ph type="sldNum" sz="quarter" idx="12"/>
          </p:nvPr>
        </p:nvSpPr>
        <p:spPr/>
        <p:txBody>
          <a:bodyPr/>
          <a:lstStyle/>
          <a:p>
            <a:fld id="{F4801FD5-11B4-DE43-ACA2-E85EEB9A6F9C}" type="slidenum">
              <a:rPr lang="en-US" smtClean="0"/>
              <a:pPr/>
              <a:t>20</a:t>
            </a:fld>
            <a:endParaRPr lang="en-US" dirty="0"/>
          </a:p>
        </p:txBody>
      </p:sp>
      <p:sp>
        <p:nvSpPr>
          <p:cNvPr id="5" name="Content Placeholder 2"/>
          <p:cNvSpPr txBox="1">
            <a:spLocks/>
          </p:cNvSpPr>
          <p:nvPr/>
        </p:nvSpPr>
        <p:spPr>
          <a:xfrm>
            <a:off x="6351495" y="1013011"/>
            <a:ext cx="5684494" cy="5270076"/>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marR="0" algn="just">
              <a:spcBef>
                <a:spcPts val="0"/>
              </a:spcBef>
              <a:spcAft>
                <a:spcPts val="0"/>
              </a:spcAft>
              <a:buFont typeface="Wingdings" panose="05000000000000000000" pitchFamily="2" charset="2"/>
              <a:buChar char="ü"/>
              <a:tabLst>
                <a:tab pos="457200" algn="l"/>
              </a:tabLst>
            </a:pPr>
            <a:r>
              <a:rPr lang="en-US" sz="1800" dirty="0">
                <a:effectLst/>
                <a:latin typeface="Times New Roman" panose="02020603050405020304" pitchFamily="18" charset="0"/>
                <a:ea typeface="Times New Roman" panose="02020603050405020304" pitchFamily="18" charset="0"/>
              </a:rPr>
              <a:t>The pressure of a system is usually measured relative to its surroundings, and it is called “gauge pressure”.  The pressure used in thermodynamics is the absolute pressure and is defined by:</a:t>
            </a:r>
          </a:p>
          <a:p>
            <a:pPr marL="0" marR="0" indent="0" algn="ctr">
              <a:spcBef>
                <a:spcPts val="0"/>
              </a:spcBef>
              <a:spcAft>
                <a:spcPts val="0"/>
              </a:spcAft>
              <a:buNone/>
              <a:tabLst>
                <a:tab pos="457200" algn="l"/>
              </a:tabLst>
            </a:pPr>
            <a:r>
              <a:rPr lang="en-US" sz="1800" dirty="0">
                <a:solidFill>
                  <a:srgbClr val="FF0000"/>
                </a:solidFill>
                <a:effectLst/>
                <a:latin typeface="Times New Roman" panose="02020603050405020304" pitchFamily="18" charset="0"/>
                <a:ea typeface="Times New Roman" panose="02020603050405020304" pitchFamily="18" charset="0"/>
              </a:rPr>
              <a:t>Absolute pressure = gauge pressure + surrounding pressure</a:t>
            </a:r>
          </a:p>
          <a:p>
            <a:pPr marR="0" algn="just">
              <a:spcBef>
                <a:spcPts val="0"/>
              </a:spcBef>
              <a:spcAft>
                <a:spcPts val="0"/>
              </a:spcAft>
              <a:buFont typeface="Wingdings" panose="05000000000000000000" pitchFamily="2" charset="2"/>
              <a:buChar char="ü"/>
              <a:tabLst>
                <a:tab pos="457200" algn="l"/>
              </a:tabLst>
            </a:pPr>
            <a:endParaRPr lang="en-US" sz="1800" dirty="0">
              <a:effectLst/>
              <a:latin typeface="Times New Roman" panose="02020603050405020304" pitchFamily="18" charset="0"/>
              <a:ea typeface="Times New Roman" panose="02020603050405020304" pitchFamily="18" charset="0"/>
            </a:endParaRPr>
          </a:p>
          <a:p>
            <a:pPr marR="0" algn="just">
              <a:spcBef>
                <a:spcPts val="0"/>
              </a:spcBef>
              <a:spcAft>
                <a:spcPts val="0"/>
              </a:spcAft>
              <a:buFont typeface="Wingdings" panose="05000000000000000000" pitchFamily="2" charset="2"/>
              <a:buChar char="ü"/>
              <a:tabLst>
                <a:tab pos="457200" algn="l"/>
              </a:tabLst>
            </a:pPr>
            <a:r>
              <a:rPr lang="en-US" sz="1800" dirty="0">
                <a:effectLst/>
                <a:latin typeface="Times New Roman" panose="02020603050405020304" pitchFamily="18" charset="0"/>
                <a:ea typeface="Times New Roman" panose="02020603050405020304" pitchFamily="18" charset="0"/>
              </a:rPr>
              <a:t>Gauge pressure below surrounding pressure is gauge negative and is referred to as vacuum pressure.</a:t>
            </a:r>
          </a:p>
          <a:p>
            <a:pPr marR="0" algn="just">
              <a:spcBef>
                <a:spcPts val="0"/>
              </a:spcBef>
              <a:spcAft>
                <a:spcPts val="0"/>
              </a:spcAft>
              <a:buFont typeface="Wingdings" panose="05000000000000000000" pitchFamily="2" charset="2"/>
              <a:buChar char="ü"/>
              <a:tabLst>
                <a:tab pos="457200" algn="l"/>
              </a:tabLst>
            </a:pPr>
            <a:endParaRPr lang="en-US" sz="1800" dirty="0">
              <a:effectLst/>
              <a:latin typeface="Times New Roman" panose="02020603050405020304" pitchFamily="18" charset="0"/>
              <a:ea typeface="Times New Roman" panose="02020603050405020304" pitchFamily="18" charset="0"/>
            </a:endParaRPr>
          </a:p>
          <a:p>
            <a:pPr marL="0" indent="0" algn="ctr">
              <a:buNone/>
            </a:pPr>
            <a:r>
              <a:rPr lang="en-US" sz="1800" dirty="0">
                <a:effectLst/>
                <a:latin typeface="Times New Roman" panose="02020603050405020304" pitchFamily="18" charset="0"/>
                <a:ea typeface="Times New Roman" panose="02020603050405020304" pitchFamily="18" charset="0"/>
              </a:rPr>
              <a:t>p(vacuum) = 		(absolute) – p(absolute)</a:t>
            </a:r>
          </a:p>
          <a:p>
            <a:pPr marL="0" indent="0">
              <a:buNone/>
            </a:pPr>
            <a:endParaRPr lang="en-US" sz="2000" dirty="0"/>
          </a:p>
        </p:txBody>
      </p:sp>
      <p:sp>
        <p:nvSpPr>
          <p:cNvPr id="14" name="Rectangle 10">
            <a:extLst>
              <a:ext uri="{FF2B5EF4-FFF2-40B4-BE49-F238E27FC236}">
                <a16:creationId xmlns:a16="http://schemas.microsoft.com/office/drawing/2014/main" id="{CEDDBD42-94D3-4737-A168-FEF93B6E94AC}"/>
              </a:ext>
            </a:extLst>
          </p:cNvPr>
          <p:cNvSpPr>
            <a:spLocks noChangeArrowheads="1"/>
          </p:cNvSpPr>
          <p:nvPr/>
        </p:nvSpPr>
        <p:spPr bwMode="auto">
          <a:xfrm>
            <a:off x="2165928" y="5932208"/>
            <a:ext cx="19597462"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18" name="Rectangle 15">
            <a:extLst>
              <a:ext uri="{FF2B5EF4-FFF2-40B4-BE49-F238E27FC236}">
                <a16:creationId xmlns:a16="http://schemas.microsoft.com/office/drawing/2014/main" id="{561870F7-9D50-4393-A979-0E2BB7F87073}"/>
              </a:ext>
            </a:extLst>
          </p:cNvPr>
          <p:cNvSpPr>
            <a:spLocks noChangeArrowheads="1"/>
          </p:cNvSpPr>
          <p:nvPr/>
        </p:nvSpPr>
        <p:spPr bwMode="auto">
          <a:xfrm>
            <a:off x="8275120" y="1799771"/>
            <a:ext cx="2388636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32" name="Rectangle 29">
            <a:extLst>
              <a:ext uri="{FF2B5EF4-FFF2-40B4-BE49-F238E27FC236}">
                <a16:creationId xmlns:a16="http://schemas.microsoft.com/office/drawing/2014/main" id="{48C953CD-DE7D-421D-9E0A-D30B31447655}"/>
              </a:ext>
            </a:extLst>
          </p:cNvPr>
          <p:cNvSpPr>
            <a:spLocks noChangeArrowheads="1"/>
          </p:cNvSpPr>
          <p:nvPr/>
        </p:nvSpPr>
        <p:spPr bwMode="auto">
          <a:xfrm>
            <a:off x="11677400" y="3874418"/>
            <a:ext cx="254752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34" name="Rectangle 31">
            <a:extLst>
              <a:ext uri="{FF2B5EF4-FFF2-40B4-BE49-F238E27FC236}">
                <a16:creationId xmlns:a16="http://schemas.microsoft.com/office/drawing/2014/main" id="{9BCAEC52-4B5D-479B-8D32-8020DA281181}"/>
              </a:ext>
            </a:extLst>
          </p:cNvPr>
          <p:cNvSpPr>
            <a:spLocks noChangeArrowheads="1"/>
          </p:cNvSpPr>
          <p:nvPr/>
        </p:nvSpPr>
        <p:spPr bwMode="auto">
          <a:xfrm>
            <a:off x="10022461" y="4830742"/>
            <a:ext cx="54890773"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36" name="Rectangle 33">
            <a:extLst>
              <a:ext uri="{FF2B5EF4-FFF2-40B4-BE49-F238E27FC236}">
                <a16:creationId xmlns:a16="http://schemas.microsoft.com/office/drawing/2014/main" id="{B950A2DB-D064-4BB5-A817-4D8C2A16CC2A}"/>
              </a:ext>
            </a:extLst>
          </p:cNvPr>
          <p:cNvSpPr>
            <a:spLocks noChangeArrowheads="1"/>
          </p:cNvSpPr>
          <p:nvPr/>
        </p:nvSpPr>
        <p:spPr bwMode="auto">
          <a:xfrm>
            <a:off x="8814894" y="4846387"/>
            <a:ext cx="16074507"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pic>
        <p:nvPicPr>
          <p:cNvPr id="4113" name="Picture 17">
            <a:extLst>
              <a:ext uri="{FF2B5EF4-FFF2-40B4-BE49-F238E27FC236}">
                <a16:creationId xmlns:a16="http://schemas.microsoft.com/office/drawing/2014/main" id="{B1E84D99-2DB4-4B87-AAA9-8C32436F63D6}"/>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474673" y="3545007"/>
            <a:ext cx="539774" cy="2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601910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solidFill>
                  <a:srgbClr val="002060"/>
                </a:solidFill>
                <a:latin typeface="Georgia" panose="02040502050405020303" pitchFamily="18" charset="0"/>
              </a:rPr>
              <a:t>Pressure Measurement in a Column of Static Fluid</a:t>
            </a:r>
            <a:endParaRPr lang="en-US" sz="3200" dirty="0">
              <a:solidFill>
                <a:srgbClr val="002060"/>
              </a:solidFill>
              <a:latin typeface="Georgia" panose="02040502050405020303" pitchFamily="18" charset="0"/>
            </a:endParaRPr>
          </a:p>
        </p:txBody>
      </p:sp>
      <p:sp>
        <p:nvSpPr>
          <p:cNvPr id="3" name="Content Placeholder 2"/>
          <p:cNvSpPr>
            <a:spLocks noGrp="1"/>
          </p:cNvSpPr>
          <p:nvPr>
            <p:ph sz="half" idx="1"/>
          </p:nvPr>
        </p:nvSpPr>
        <p:spPr>
          <a:xfrm>
            <a:off x="514601" y="1008528"/>
            <a:ext cx="5836894" cy="2719034"/>
          </a:xfrm>
        </p:spPr>
        <p:txBody>
          <a:bodyPr>
            <a:noAutofit/>
          </a:bodyPr>
          <a:lstStyle/>
          <a:p>
            <a:pPr>
              <a:buFont typeface="Wingdings" panose="05000000000000000000" pitchFamily="2" charset="2"/>
              <a:buChar char="v"/>
            </a:pPr>
            <a:r>
              <a:rPr lang="en-US" sz="1800" dirty="0">
                <a:effectLst/>
                <a:latin typeface="Times New Roman" panose="02020603050405020304" pitchFamily="18" charset="0"/>
                <a:ea typeface="Times New Roman" panose="02020603050405020304" pitchFamily="18" charset="0"/>
              </a:rPr>
              <a:t>Two commonly used devices for measuring pressure are the manometer and the Bourdon tube.  Manometers measure pressure differences in terms of the length of a column of liquid such as water, mercury, or oil.  </a:t>
            </a:r>
          </a:p>
          <a:p>
            <a:pPr>
              <a:buFont typeface="Wingdings" panose="05000000000000000000" pitchFamily="2" charset="2"/>
              <a:buChar char="v"/>
            </a:pPr>
            <a:r>
              <a:rPr lang="en-US" sz="1800" dirty="0">
                <a:effectLst/>
                <a:latin typeface="Times New Roman" panose="02020603050405020304" pitchFamily="18" charset="0"/>
                <a:ea typeface="Times New Roman" panose="02020603050405020304" pitchFamily="18" charset="0"/>
              </a:rPr>
              <a:t>The manometer shown in Fig. 12 has one end open to the atmosphere and the other attached to a closed vessel containing a gas at uniform pressure.  </a:t>
            </a:r>
          </a:p>
          <a:p>
            <a:pPr>
              <a:buFont typeface="Wingdings" panose="05000000000000000000" pitchFamily="2" charset="2"/>
              <a:buChar char="v"/>
            </a:pPr>
            <a:r>
              <a:rPr lang="en-US" sz="1800" dirty="0">
                <a:effectLst/>
                <a:latin typeface="Times New Roman" panose="02020603050405020304" pitchFamily="18" charset="0"/>
                <a:ea typeface="Times New Roman" panose="02020603050405020304" pitchFamily="18" charset="0"/>
              </a:rPr>
              <a:t>The difference between the gas pressure and that of the atmosphere is given by </a:t>
            </a:r>
          </a:p>
          <a:p>
            <a:pPr>
              <a:buFont typeface="Wingdings" panose="05000000000000000000" pitchFamily="2" charset="2"/>
              <a:buChar char="v"/>
            </a:pPr>
            <a:endParaRPr lang="en-US" sz="1800" dirty="0">
              <a:latin typeface="Times New Roman" panose="02020603050405020304" pitchFamily="18" charset="0"/>
              <a:ea typeface="Times New Roman" panose="02020603050405020304" pitchFamily="18" charset="0"/>
            </a:endParaRPr>
          </a:p>
          <a:p>
            <a:pPr>
              <a:buFont typeface="Wingdings" panose="05000000000000000000" pitchFamily="2" charset="2"/>
              <a:buChar char="v"/>
            </a:pPr>
            <a:endParaRPr lang="en-US" sz="1600" dirty="0">
              <a:effectLst/>
              <a:latin typeface="Times New Roman" panose="02020603050405020304" pitchFamily="18" charset="0"/>
              <a:ea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4801FD5-11B4-DE43-ACA2-E85EEB9A6F9C}" type="slidenum">
              <a:rPr lang="en-US" smtClean="0"/>
              <a:pPr/>
              <a:t>21</a:t>
            </a:fld>
            <a:endParaRPr lang="en-US" dirty="0"/>
          </a:p>
        </p:txBody>
      </p:sp>
      <p:sp>
        <p:nvSpPr>
          <p:cNvPr id="5" name="Content Placeholder 2"/>
          <p:cNvSpPr txBox="1">
            <a:spLocks/>
          </p:cNvSpPr>
          <p:nvPr/>
        </p:nvSpPr>
        <p:spPr>
          <a:xfrm>
            <a:off x="6351495" y="1013011"/>
            <a:ext cx="5684494" cy="5270076"/>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marR="0" algn="just">
              <a:spcBef>
                <a:spcPts val="0"/>
              </a:spcBef>
              <a:spcAft>
                <a:spcPts val="0"/>
              </a:spcAft>
              <a:buFont typeface="Wingdings" panose="05000000000000000000" pitchFamily="2" charset="2"/>
              <a:buChar char="v"/>
              <a:tabLst>
                <a:tab pos="457200" algn="l"/>
              </a:tabLst>
            </a:pPr>
            <a:r>
              <a:rPr lang="en-US" sz="1800" dirty="0">
                <a:solidFill>
                  <a:srgbClr val="FF0000"/>
                </a:solidFill>
                <a:effectLst/>
                <a:latin typeface="Times New Roman" panose="02020603050405020304" pitchFamily="18" charset="0"/>
                <a:ea typeface="Times New Roman" panose="02020603050405020304" pitchFamily="18" charset="0"/>
              </a:rPr>
              <a:t>A Bourdon tube gauge</a:t>
            </a:r>
            <a:r>
              <a:rPr lang="en-US" sz="1800" dirty="0">
                <a:effectLst/>
                <a:latin typeface="Times New Roman" panose="02020603050405020304" pitchFamily="18" charset="0"/>
                <a:ea typeface="Times New Roman" panose="02020603050405020304" pitchFamily="18" charset="0"/>
              </a:rPr>
              <a:t> is shown in Fig. 13. The figure shows a curved tube having an elliptical cross section with one end attached to the pressure to be measured and the other end connected to a pointer by a mechanism. </a:t>
            </a:r>
          </a:p>
          <a:p>
            <a:pPr marR="0" algn="just">
              <a:spcBef>
                <a:spcPts val="0"/>
              </a:spcBef>
              <a:spcAft>
                <a:spcPts val="0"/>
              </a:spcAft>
              <a:buFont typeface="Wingdings" panose="05000000000000000000" pitchFamily="2" charset="2"/>
              <a:buChar char="v"/>
              <a:tabLst>
                <a:tab pos="457200" algn="l"/>
              </a:tabLst>
            </a:pPr>
            <a:r>
              <a:rPr lang="en-US" sz="1800" dirty="0">
                <a:effectLst/>
                <a:latin typeface="Times New Roman" panose="02020603050405020304" pitchFamily="18" charset="0"/>
                <a:ea typeface="Times New Roman" panose="02020603050405020304" pitchFamily="18" charset="0"/>
              </a:rPr>
              <a:t> When the fluid under pressure fills the tube, the elliptical section tends to become circular, and the tube straightens.  </a:t>
            </a:r>
          </a:p>
          <a:p>
            <a:pPr marR="0" algn="just">
              <a:spcBef>
                <a:spcPts val="0"/>
              </a:spcBef>
              <a:spcAft>
                <a:spcPts val="0"/>
              </a:spcAft>
              <a:buFont typeface="Wingdings" panose="05000000000000000000" pitchFamily="2" charset="2"/>
              <a:buChar char="v"/>
              <a:tabLst>
                <a:tab pos="457200" algn="l"/>
              </a:tabLst>
            </a:pPr>
            <a:r>
              <a:rPr lang="en-US" sz="1800" dirty="0">
                <a:effectLst/>
                <a:latin typeface="Times New Roman" panose="02020603050405020304" pitchFamily="18" charset="0"/>
                <a:ea typeface="Times New Roman" panose="02020603050405020304" pitchFamily="18" charset="0"/>
              </a:rPr>
              <a:t>This motion is transmitted by the mechanism to the pointer.  By calibrating the deflection of the pointer for known pressures, a graduated scale can be determined from which any applied pressure can be read in suitable units.  </a:t>
            </a:r>
          </a:p>
          <a:p>
            <a:pPr marR="0" algn="just">
              <a:spcBef>
                <a:spcPts val="0"/>
              </a:spcBef>
              <a:spcAft>
                <a:spcPts val="0"/>
              </a:spcAft>
              <a:buFont typeface="Wingdings" panose="05000000000000000000" pitchFamily="2" charset="2"/>
              <a:buChar char="v"/>
              <a:tabLst>
                <a:tab pos="457200" algn="l"/>
              </a:tabLst>
            </a:pPr>
            <a:r>
              <a:rPr lang="en-US" sz="1800" dirty="0">
                <a:effectLst/>
                <a:latin typeface="Times New Roman" panose="02020603050405020304" pitchFamily="18" charset="0"/>
                <a:ea typeface="Times New Roman" panose="02020603050405020304" pitchFamily="18" charset="0"/>
              </a:rPr>
              <a:t>Because of its construction, the Bourdon tube measures the pressure relative to the pressure of the surroundings existing at the instrument.  Accordingly, the dial reads zero when the inside and outside of the tube are at the same pressure.</a:t>
            </a:r>
          </a:p>
          <a:p>
            <a:pPr marL="0" indent="0">
              <a:buNone/>
            </a:pPr>
            <a:endParaRPr lang="en-US" sz="2000" dirty="0"/>
          </a:p>
        </p:txBody>
      </p:sp>
      <p:sp>
        <p:nvSpPr>
          <p:cNvPr id="14" name="Rectangle 10">
            <a:extLst>
              <a:ext uri="{FF2B5EF4-FFF2-40B4-BE49-F238E27FC236}">
                <a16:creationId xmlns:a16="http://schemas.microsoft.com/office/drawing/2014/main" id="{CEDDBD42-94D3-4737-A168-FEF93B6E94AC}"/>
              </a:ext>
            </a:extLst>
          </p:cNvPr>
          <p:cNvSpPr>
            <a:spLocks noChangeArrowheads="1"/>
          </p:cNvSpPr>
          <p:nvPr/>
        </p:nvSpPr>
        <p:spPr bwMode="auto">
          <a:xfrm>
            <a:off x="2165928" y="5932208"/>
            <a:ext cx="19597462"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18" name="Rectangle 15">
            <a:extLst>
              <a:ext uri="{FF2B5EF4-FFF2-40B4-BE49-F238E27FC236}">
                <a16:creationId xmlns:a16="http://schemas.microsoft.com/office/drawing/2014/main" id="{561870F7-9D50-4393-A979-0E2BB7F87073}"/>
              </a:ext>
            </a:extLst>
          </p:cNvPr>
          <p:cNvSpPr>
            <a:spLocks noChangeArrowheads="1"/>
          </p:cNvSpPr>
          <p:nvPr/>
        </p:nvSpPr>
        <p:spPr bwMode="auto">
          <a:xfrm>
            <a:off x="8275120" y="1799771"/>
            <a:ext cx="2388636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32" name="Rectangle 29">
            <a:extLst>
              <a:ext uri="{FF2B5EF4-FFF2-40B4-BE49-F238E27FC236}">
                <a16:creationId xmlns:a16="http://schemas.microsoft.com/office/drawing/2014/main" id="{48C953CD-DE7D-421D-9E0A-D30B31447655}"/>
              </a:ext>
            </a:extLst>
          </p:cNvPr>
          <p:cNvSpPr>
            <a:spLocks noChangeArrowheads="1"/>
          </p:cNvSpPr>
          <p:nvPr/>
        </p:nvSpPr>
        <p:spPr bwMode="auto">
          <a:xfrm>
            <a:off x="11677400" y="3874418"/>
            <a:ext cx="254752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34" name="Rectangle 31">
            <a:extLst>
              <a:ext uri="{FF2B5EF4-FFF2-40B4-BE49-F238E27FC236}">
                <a16:creationId xmlns:a16="http://schemas.microsoft.com/office/drawing/2014/main" id="{9BCAEC52-4B5D-479B-8D32-8020DA281181}"/>
              </a:ext>
            </a:extLst>
          </p:cNvPr>
          <p:cNvSpPr>
            <a:spLocks noChangeArrowheads="1"/>
          </p:cNvSpPr>
          <p:nvPr/>
        </p:nvSpPr>
        <p:spPr bwMode="auto">
          <a:xfrm>
            <a:off x="10022461" y="4830742"/>
            <a:ext cx="54890773"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36" name="Rectangle 33">
            <a:extLst>
              <a:ext uri="{FF2B5EF4-FFF2-40B4-BE49-F238E27FC236}">
                <a16:creationId xmlns:a16="http://schemas.microsoft.com/office/drawing/2014/main" id="{B950A2DB-D064-4BB5-A817-4D8C2A16CC2A}"/>
              </a:ext>
            </a:extLst>
          </p:cNvPr>
          <p:cNvSpPr>
            <a:spLocks noChangeArrowheads="1"/>
          </p:cNvSpPr>
          <p:nvPr/>
        </p:nvSpPr>
        <p:spPr bwMode="auto">
          <a:xfrm>
            <a:off x="8814894" y="4846387"/>
            <a:ext cx="16074507"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8" name="Rectangle 4">
            <a:extLst>
              <a:ext uri="{FF2B5EF4-FFF2-40B4-BE49-F238E27FC236}">
                <a16:creationId xmlns:a16="http://schemas.microsoft.com/office/drawing/2014/main" id="{20F7FF2D-04EE-472C-AEDF-9E67C5D2458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9" name="Object 8">
            <a:extLst>
              <a:ext uri="{FF2B5EF4-FFF2-40B4-BE49-F238E27FC236}">
                <a16:creationId xmlns:a16="http://schemas.microsoft.com/office/drawing/2014/main" id="{5ED163B3-9BD7-4039-BD44-D8FB85859209}"/>
              </a:ext>
            </a:extLst>
          </p:cNvPr>
          <p:cNvGraphicFramePr>
            <a:graphicFrameLocks noChangeAspect="1"/>
          </p:cNvGraphicFramePr>
          <p:nvPr>
            <p:extLst>
              <p:ext uri="{D42A27DB-BD31-4B8C-83A1-F6EECF244321}">
                <p14:modId xmlns:p14="http://schemas.microsoft.com/office/powerpoint/2010/main" val="2285762671"/>
              </p:ext>
            </p:extLst>
          </p:nvPr>
        </p:nvGraphicFramePr>
        <p:xfrm>
          <a:off x="3433048" y="3362451"/>
          <a:ext cx="1962472" cy="365111"/>
        </p:xfrm>
        <a:graphic>
          <a:graphicData uri="http://schemas.openxmlformats.org/presentationml/2006/ole">
            <mc:AlternateContent xmlns:mc="http://schemas.openxmlformats.org/markup-compatibility/2006">
              <mc:Choice xmlns:v="urn:schemas-microsoft-com:vml" Requires="v">
                <p:oleObj spid="_x0000_s5153" r:id="rId3" imgW="1231366" imgH="228501" progId="Equation.3">
                  <p:embed/>
                </p:oleObj>
              </mc:Choice>
              <mc:Fallback>
                <p:oleObj r:id="rId3" imgW="1231366" imgH="228501"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33048" y="3362451"/>
                        <a:ext cx="1962472" cy="365111"/>
                      </a:xfrm>
                      <a:prstGeom prst="rect">
                        <a:avLst/>
                      </a:prstGeom>
                      <a:noFill/>
                    </p:spPr>
                  </p:pic>
                </p:oleObj>
              </mc:Fallback>
            </mc:AlternateContent>
          </a:graphicData>
        </a:graphic>
      </p:graphicFrame>
      <p:sp>
        <p:nvSpPr>
          <p:cNvPr id="10" name="Rectangle 6">
            <a:extLst>
              <a:ext uri="{FF2B5EF4-FFF2-40B4-BE49-F238E27FC236}">
                <a16:creationId xmlns:a16="http://schemas.microsoft.com/office/drawing/2014/main" id="{8065D9C1-FBF1-499A-BA97-B4C120678E44}"/>
              </a:ext>
            </a:extLst>
          </p:cNvPr>
          <p:cNvSpPr>
            <a:spLocks noChangeArrowheads="1"/>
          </p:cNvSpPr>
          <p:nvPr/>
        </p:nvSpPr>
        <p:spPr bwMode="auto">
          <a:xfrm>
            <a:off x="1467376" y="417879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1" name="Object 10">
            <a:extLst>
              <a:ext uri="{FF2B5EF4-FFF2-40B4-BE49-F238E27FC236}">
                <a16:creationId xmlns:a16="http://schemas.microsoft.com/office/drawing/2014/main" id="{F88C2740-3991-450A-8A47-73E390B52AEA}"/>
              </a:ext>
            </a:extLst>
          </p:cNvPr>
          <p:cNvGraphicFramePr>
            <a:graphicFrameLocks noChangeAspect="1"/>
          </p:cNvGraphicFramePr>
          <p:nvPr>
            <p:extLst>
              <p:ext uri="{D42A27DB-BD31-4B8C-83A1-F6EECF244321}">
                <p14:modId xmlns:p14="http://schemas.microsoft.com/office/powerpoint/2010/main" val="806092382"/>
              </p:ext>
            </p:extLst>
          </p:nvPr>
        </p:nvGraphicFramePr>
        <p:xfrm>
          <a:off x="843647" y="3648049"/>
          <a:ext cx="1507836" cy="2312015"/>
        </p:xfrm>
        <a:graphic>
          <a:graphicData uri="http://schemas.openxmlformats.org/presentationml/2006/ole">
            <mc:AlternateContent xmlns:mc="http://schemas.openxmlformats.org/markup-compatibility/2006">
              <mc:Choice xmlns:v="urn:schemas-microsoft-com:vml" Requires="v">
                <p:oleObj spid="_x0000_s5154" name="Bitmap Image" r:id="rId5" imgW="1638529" imgH="2495238" progId="Paint.Picture">
                  <p:embed/>
                </p:oleObj>
              </mc:Choice>
              <mc:Fallback>
                <p:oleObj name="Bitmap Image" r:id="rId5" imgW="1638529" imgH="2495238" progId="Paint.Picture">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43647" y="3648049"/>
                        <a:ext cx="1507836" cy="2312015"/>
                      </a:xfrm>
                      <a:prstGeom prst="rect">
                        <a:avLst/>
                      </a:prstGeom>
                      <a:noFill/>
                    </p:spPr>
                  </p:pic>
                </p:oleObj>
              </mc:Fallback>
            </mc:AlternateContent>
          </a:graphicData>
        </a:graphic>
      </p:graphicFrame>
      <p:sp>
        <p:nvSpPr>
          <p:cNvPr id="12" name="Rectangle 8">
            <a:extLst>
              <a:ext uri="{FF2B5EF4-FFF2-40B4-BE49-F238E27FC236}">
                <a16:creationId xmlns:a16="http://schemas.microsoft.com/office/drawing/2014/main" id="{805D490F-5EA2-4690-8E48-41CC73061B5E}"/>
              </a:ext>
            </a:extLst>
          </p:cNvPr>
          <p:cNvSpPr>
            <a:spLocks noChangeArrowheads="1"/>
          </p:cNvSpPr>
          <p:nvPr/>
        </p:nvSpPr>
        <p:spPr bwMode="auto">
          <a:xfrm>
            <a:off x="3283554" y="421023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3" name="Object 12">
            <a:extLst>
              <a:ext uri="{FF2B5EF4-FFF2-40B4-BE49-F238E27FC236}">
                <a16:creationId xmlns:a16="http://schemas.microsoft.com/office/drawing/2014/main" id="{29E9BE53-E0C6-4600-9BDC-8542F8C15D78}"/>
              </a:ext>
            </a:extLst>
          </p:cNvPr>
          <p:cNvGraphicFramePr>
            <a:graphicFrameLocks noChangeAspect="1"/>
          </p:cNvGraphicFramePr>
          <p:nvPr>
            <p:extLst>
              <p:ext uri="{D42A27DB-BD31-4B8C-83A1-F6EECF244321}">
                <p14:modId xmlns:p14="http://schemas.microsoft.com/office/powerpoint/2010/main" val="4238463923"/>
              </p:ext>
            </p:extLst>
          </p:nvPr>
        </p:nvGraphicFramePr>
        <p:xfrm>
          <a:off x="3484540" y="3992006"/>
          <a:ext cx="2177437" cy="1882843"/>
        </p:xfrm>
        <a:graphic>
          <a:graphicData uri="http://schemas.openxmlformats.org/presentationml/2006/ole">
            <mc:AlternateContent xmlns:mc="http://schemas.openxmlformats.org/markup-compatibility/2006">
              <mc:Choice xmlns:v="urn:schemas-microsoft-com:vml" Requires="v">
                <p:oleObj spid="_x0000_s5155" name="Bitmap Image" r:id="rId7" imgW="2610214" imgH="2257740" progId="Paint.Picture">
                  <p:embed/>
                </p:oleObj>
              </mc:Choice>
              <mc:Fallback>
                <p:oleObj name="Bitmap Image" r:id="rId7" imgW="2610214" imgH="2257740" progId="Paint.Picture">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84540" y="3992006"/>
                        <a:ext cx="2177437" cy="1882843"/>
                      </a:xfrm>
                      <a:prstGeom prst="rect">
                        <a:avLst/>
                      </a:prstGeom>
                      <a:noFill/>
                    </p:spPr>
                  </p:pic>
                </p:oleObj>
              </mc:Fallback>
            </mc:AlternateContent>
          </a:graphicData>
        </a:graphic>
      </p:graphicFrame>
      <p:sp>
        <p:nvSpPr>
          <p:cNvPr id="20" name="Content Placeholder 2">
            <a:extLst>
              <a:ext uri="{FF2B5EF4-FFF2-40B4-BE49-F238E27FC236}">
                <a16:creationId xmlns:a16="http://schemas.microsoft.com/office/drawing/2014/main" id="{71B34FDC-0D3D-47AB-A70C-CF7206FC85D9}"/>
              </a:ext>
            </a:extLst>
          </p:cNvPr>
          <p:cNvSpPr txBox="1">
            <a:spLocks/>
          </p:cNvSpPr>
          <p:nvPr/>
        </p:nvSpPr>
        <p:spPr>
          <a:xfrm>
            <a:off x="514601" y="5902704"/>
            <a:ext cx="5836894" cy="282548"/>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marL="0" indent="0">
              <a:buNone/>
            </a:pPr>
            <a:r>
              <a:rPr lang="en-US" sz="1600" dirty="0">
                <a:latin typeface="Times New Roman" panose="02020603050405020304" pitchFamily="18" charset="0"/>
                <a:ea typeface="Times New Roman" panose="02020603050405020304" pitchFamily="18" charset="0"/>
              </a:rPr>
              <a:t>	Figure 12						Figure 13</a:t>
            </a:r>
          </a:p>
        </p:txBody>
      </p:sp>
    </p:spTree>
    <p:extLst>
      <p:ext uri="{BB962C8B-B14F-4D97-AF65-F5344CB8AC3E}">
        <p14:creationId xmlns:p14="http://schemas.microsoft.com/office/powerpoint/2010/main" val="37549733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Basic Concepts and Definitions</a:t>
            </a:r>
            <a:endParaRPr lang="en-US" dirty="0">
              <a:solidFill>
                <a:srgbClr val="002060"/>
              </a:solidFill>
              <a:latin typeface="Georgia" panose="02040502050405020303" pitchFamily="18" charset="0"/>
            </a:endParaRPr>
          </a:p>
        </p:txBody>
      </p:sp>
      <p:sp>
        <p:nvSpPr>
          <p:cNvPr id="3" name="Content Placeholder 2"/>
          <p:cNvSpPr>
            <a:spLocks noGrp="1"/>
          </p:cNvSpPr>
          <p:nvPr>
            <p:ph sz="half" idx="1"/>
          </p:nvPr>
        </p:nvSpPr>
        <p:spPr>
          <a:xfrm>
            <a:off x="514601" y="1008528"/>
            <a:ext cx="5836894" cy="5072958"/>
          </a:xfrm>
        </p:spPr>
        <p:txBody>
          <a:bodyPr>
            <a:noAutofit/>
          </a:bodyPr>
          <a:lstStyle/>
          <a:p>
            <a:pPr algn="just">
              <a:spcBef>
                <a:spcPts val="0"/>
              </a:spcBef>
              <a:buFont typeface="Wingdings" panose="05000000000000000000" pitchFamily="2" charset="2"/>
              <a:buChar char="v"/>
              <a:tabLst>
                <a:tab pos="457200" algn="l"/>
                <a:tab pos="457200" algn="l"/>
              </a:tabLst>
            </a:pPr>
            <a:r>
              <a:rPr lang="x-none" sz="2400" b="1" i="0" dirty="0">
                <a:solidFill>
                  <a:srgbClr val="FF0000"/>
                </a:solidFill>
                <a:effectLst/>
                <a:latin typeface="Arial" panose="020B0604020202020204" pitchFamily="34" charset="0"/>
                <a:ea typeface="Times New Roman" panose="02020603050405020304" pitchFamily="18" charset="0"/>
                <a:cs typeface="Times New Roman" panose="02020603050405020304" pitchFamily="18" charset="0"/>
              </a:rPr>
              <a:t>Temperature</a:t>
            </a:r>
            <a:endParaRPr lang="en-US" sz="2400" b="1" i="1" dirty="0">
              <a:solidFill>
                <a:srgbClr val="FF0000"/>
              </a:solidFill>
              <a:effectLst/>
              <a:latin typeface="Times New Roman" panose="02020603050405020304" pitchFamily="18" charset="0"/>
              <a:ea typeface="Times New Roman" panose="02020603050405020304" pitchFamily="18" charset="0"/>
            </a:endParaRPr>
          </a:p>
          <a:p>
            <a:pPr>
              <a:buFont typeface="Wingdings" panose="05000000000000000000" pitchFamily="2" charset="2"/>
              <a:buChar char="ü"/>
            </a:pPr>
            <a:r>
              <a:rPr lang="en-US" sz="2000" dirty="0">
                <a:effectLst/>
                <a:latin typeface="Times New Roman" panose="02020603050405020304" pitchFamily="18" charset="0"/>
                <a:ea typeface="Times New Roman" panose="02020603050405020304" pitchFamily="18" charset="0"/>
              </a:rPr>
              <a:t>If two bodies are kept together for a sufficiently long period, experience shows that the bodies appear to attain the same degree of hotness and the changes in their resistance also cease.  </a:t>
            </a:r>
          </a:p>
          <a:p>
            <a:pPr>
              <a:buFont typeface="Wingdings" panose="05000000000000000000" pitchFamily="2" charset="2"/>
              <a:buChar char="ü"/>
            </a:pPr>
            <a:endParaRPr lang="en-US" sz="2000" dirty="0">
              <a:effectLst/>
              <a:latin typeface="Times New Roman" panose="02020603050405020304" pitchFamily="18" charset="0"/>
              <a:ea typeface="Times New Roman" panose="02020603050405020304" pitchFamily="18" charset="0"/>
            </a:endParaRPr>
          </a:p>
          <a:p>
            <a:pPr>
              <a:buFont typeface="Wingdings" panose="05000000000000000000" pitchFamily="2" charset="2"/>
              <a:buChar char="ü"/>
            </a:pPr>
            <a:r>
              <a:rPr lang="en-US" sz="2000" dirty="0">
                <a:effectLst/>
                <a:latin typeface="Times New Roman" panose="02020603050405020304" pitchFamily="18" charset="0"/>
                <a:ea typeface="Times New Roman" panose="02020603050405020304" pitchFamily="18" charset="0"/>
              </a:rPr>
              <a:t>This state is defined as the state of thermal equilibrium, and the two bodies are then said to have the same temperature.  </a:t>
            </a:r>
          </a:p>
          <a:p>
            <a:pPr>
              <a:buFont typeface="Wingdings" panose="05000000000000000000" pitchFamily="2" charset="2"/>
              <a:buChar char="ü"/>
            </a:pPr>
            <a:endParaRPr lang="en-US" sz="2000" dirty="0">
              <a:effectLst/>
              <a:latin typeface="Times New Roman" panose="02020603050405020304" pitchFamily="18" charset="0"/>
              <a:ea typeface="Times New Roman" panose="02020603050405020304" pitchFamily="18" charset="0"/>
            </a:endParaRPr>
          </a:p>
          <a:p>
            <a:pPr>
              <a:buFont typeface="Wingdings" panose="05000000000000000000" pitchFamily="2" charset="2"/>
              <a:buChar char="ü"/>
            </a:pPr>
            <a:r>
              <a:rPr lang="en-US" sz="2000" dirty="0">
                <a:effectLst/>
                <a:latin typeface="Times New Roman" panose="02020603050405020304" pitchFamily="18" charset="0"/>
                <a:ea typeface="Times New Roman" panose="02020603050405020304" pitchFamily="18" charset="0"/>
              </a:rPr>
              <a:t>Temperature is, therefore, </a:t>
            </a:r>
            <a:r>
              <a:rPr lang="en-US" sz="2000" i="1" dirty="0">
                <a:solidFill>
                  <a:srgbClr val="0198DF"/>
                </a:solidFill>
                <a:effectLst/>
                <a:latin typeface="Times New Roman" panose="02020603050405020304" pitchFamily="18" charset="0"/>
                <a:ea typeface="Times New Roman" panose="02020603050405020304" pitchFamily="18" charset="0"/>
              </a:rPr>
              <a:t>a property of a system which determines whether or not they are in thermal equilibrium with other systems or their surroundings</a:t>
            </a:r>
            <a:r>
              <a:rPr lang="en-US" sz="2000" dirty="0">
                <a:effectLst/>
                <a:latin typeface="Times New Roman" panose="02020603050405020304" pitchFamily="18" charset="0"/>
                <a:ea typeface="Times New Roman" panose="02020603050405020304" pitchFamily="18" charset="0"/>
              </a:rPr>
              <a:t>.</a:t>
            </a:r>
          </a:p>
          <a:p>
            <a:pPr>
              <a:buFont typeface="Wingdings" panose="05000000000000000000" pitchFamily="2" charset="2"/>
              <a:buChar char="ü"/>
            </a:pPr>
            <a:endParaRPr lang="en-US" sz="1600" dirty="0">
              <a:effectLst/>
              <a:latin typeface="Times New Roman" panose="02020603050405020304" pitchFamily="18" charset="0"/>
              <a:ea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4801FD5-11B4-DE43-ACA2-E85EEB9A6F9C}" type="slidenum">
              <a:rPr lang="en-US" smtClean="0"/>
              <a:pPr/>
              <a:t>22</a:t>
            </a:fld>
            <a:endParaRPr lang="en-US" dirty="0"/>
          </a:p>
        </p:txBody>
      </p:sp>
      <p:sp>
        <p:nvSpPr>
          <p:cNvPr id="5" name="Content Placeholder 2"/>
          <p:cNvSpPr txBox="1">
            <a:spLocks/>
          </p:cNvSpPr>
          <p:nvPr/>
        </p:nvSpPr>
        <p:spPr>
          <a:xfrm>
            <a:off x="6351495" y="1013011"/>
            <a:ext cx="5684494" cy="5270076"/>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marL="0" indent="0">
              <a:buNone/>
            </a:pPr>
            <a:endParaRPr lang="en-US" sz="2000" dirty="0"/>
          </a:p>
        </p:txBody>
      </p:sp>
      <p:sp>
        <p:nvSpPr>
          <p:cNvPr id="14" name="Rectangle 10">
            <a:extLst>
              <a:ext uri="{FF2B5EF4-FFF2-40B4-BE49-F238E27FC236}">
                <a16:creationId xmlns:a16="http://schemas.microsoft.com/office/drawing/2014/main" id="{CEDDBD42-94D3-4737-A168-FEF93B6E94AC}"/>
              </a:ext>
            </a:extLst>
          </p:cNvPr>
          <p:cNvSpPr>
            <a:spLocks noChangeArrowheads="1"/>
          </p:cNvSpPr>
          <p:nvPr/>
        </p:nvSpPr>
        <p:spPr bwMode="auto">
          <a:xfrm>
            <a:off x="2165928" y="5932208"/>
            <a:ext cx="19597462"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18" name="Rectangle 15">
            <a:extLst>
              <a:ext uri="{FF2B5EF4-FFF2-40B4-BE49-F238E27FC236}">
                <a16:creationId xmlns:a16="http://schemas.microsoft.com/office/drawing/2014/main" id="{561870F7-9D50-4393-A979-0E2BB7F87073}"/>
              </a:ext>
            </a:extLst>
          </p:cNvPr>
          <p:cNvSpPr>
            <a:spLocks noChangeArrowheads="1"/>
          </p:cNvSpPr>
          <p:nvPr/>
        </p:nvSpPr>
        <p:spPr bwMode="auto">
          <a:xfrm>
            <a:off x="8275120" y="1799771"/>
            <a:ext cx="2388636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32" name="Rectangle 29">
            <a:extLst>
              <a:ext uri="{FF2B5EF4-FFF2-40B4-BE49-F238E27FC236}">
                <a16:creationId xmlns:a16="http://schemas.microsoft.com/office/drawing/2014/main" id="{48C953CD-DE7D-421D-9E0A-D30B31447655}"/>
              </a:ext>
            </a:extLst>
          </p:cNvPr>
          <p:cNvSpPr>
            <a:spLocks noChangeArrowheads="1"/>
          </p:cNvSpPr>
          <p:nvPr/>
        </p:nvSpPr>
        <p:spPr bwMode="auto">
          <a:xfrm>
            <a:off x="11677400" y="3874418"/>
            <a:ext cx="254752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34" name="Rectangle 31">
            <a:extLst>
              <a:ext uri="{FF2B5EF4-FFF2-40B4-BE49-F238E27FC236}">
                <a16:creationId xmlns:a16="http://schemas.microsoft.com/office/drawing/2014/main" id="{9BCAEC52-4B5D-479B-8D32-8020DA281181}"/>
              </a:ext>
            </a:extLst>
          </p:cNvPr>
          <p:cNvSpPr>
            <a:spLocks noChangeArrowheads="1"/>
          </p:cNvSpPr>
          <p:nvPr/>
        </p:nvSpPr>
        <p:spPr bwMode="auto">
          <a:xfrm>
            <a:off x="10022461" y="4830742"/>
            <a:ext cx="54890773"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36" name="Rectangle 33">
            <a:extLst>
              <a:ext uri="{FF2B5EF4-FFF2-40B4-BE49-F238E27FC236}">
                <a16:creationId xmlns:a16="http://schemas.microsoft.com/office/drawing/2014/main" id="{B950A2DB-D064-4BB5-A817-4D8C2A16CC2A}"/>
              </a:ext>
            </a:extLst>
          </p:cNvPr>
          <p:cNvSpPr>
            <a:spLocks noChangeArrowheads="1"/>
          </p:cNvSpPr>
          <p:nvPr/>
        </p:nvSpPr>
        <p:spPr bwMode="auto">
          <a:xfrm>
            <a:off x="8814894" y="4846387"/>
            <a:ext cx="16074507"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12" name="Content Placeholder 2">
            <a:extLst>
              <a:ext uri="{FF2B5EF4-FFF2-40B4-BE49-F238E27FC236}">
                <a16:creationId xmlns:a16="http://schemas.microsoft.com/office/drawing/2014/main" id="{6354A1AE-EEBF-4867-9130-6EB4FB01A5D0}"/>
              </a:ext>
            </a:extLst>
          </p:cNvPr>
          <p:cNvSpPr txBox="1">
            <a:spLocks/>
          </p:cNvSpPr>
          <p:nvPr/>
        </p:nvSpPr>
        <p:spPr>
          <a:xfrm>
            <a:off x="5985755" y="1013011"/>
            <a:ext cx="6050233" cy="5072958"/>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marR="0" algn="just">
              <a:spcBef>
                <a:spcPts val="0"/>
              </a:spcBef>
              <a:spcAft>
                <a:spcPts val="0"/>
              </a:spcAft>
              <a:buFont typeface="Wingdings" panose="05000000000000000000" pitchFamily="2" charset="2"/>
              <a:buChar char="v"/>
              <a:tabLst>
                <a:tab pos="548640" algn="l"/>
                <a:tab pos="457200" algn="l"/>
              </a:tabLst>
            </a:pPr>
            <a:r>
              <a:rPr lang="en-US" sz="1800" b="1" u="none" strike="noStrike" dirty="0">
                <a:solidFill>
                  <a:srgbClr val="FF0000"/>
                </a:solidFill>
                <a:effectLst/>
                <a:latin typeface="Times New Roman" panose="02020603050405020304" pitchFamily="18" charset="0"/>
                <a:ea typeface="Times New Roman" panose="02020603050405020304" pitchFamily="18" charset="0"/>
              </a:rPr>
              <a:t>The </a:t>
            </a:r>
            <a:r>
              <a:rPr lang="x-none" sz="1800" b="1" u="none" strike="noStrike" dirty="0">
                <a:solidFill>
                  <a:srgbClr val="FF0000"/>
                </a:solidFill>
                <a:effectLst/>
                <a:latin typeface="Times New Roman" panose="02020603050405020304" pitchFamily="18" charset="0"/>
                <a:ea typeface="Times New Roman" panose="02020603050405020304" pitchFamily="18" charset="0"/>
              </a:rPr>
              <a:t>Celsius, Rankine and Fahrenheit Scales</a:t>
            </a:r>
            <a:endParaRPr lang="en-US" sz="1800" b="1" u="sng" dirty="0">
              <a:solidFill>
                <a:srgbClr val="FF0000"/>
              </a:solidFill>
              <a:effectLst/>
              <a:latin typeface="Times New Roman" panose="02020603050405020304" pitchFamily="18" charset="0"/>
              <a:ea typeface="Times New Roman" panose="02020603050405020304" pitchFamily="18" charset="0"/>
            </a:endParaRPr>
          </a:p>
          <a:p>
            <a:pPr>
              <a:buFont typeface="Wingdings" panose="05000000000000000000" pitchFamily="2" charset="2"/>
              <a:buChar char="ü"/>
            </a:pPr>
            <a:r>
              <a:rPr lang="en-US" sz="1800" dirty="0">
                <a:effectLst/>
                <a:latin typeface="Times New Roman" panose="02020603050405020304" pitchFamily="18" charset="0"/>
                <a:ea typeface="Times New Roman" panose="02020603050405020304" pitchFamily="18" charset="0"/>
              </a:rPr>
              <a:t>The Celsius temperature scale uses the unit degree Celsius (</a:t>
            </a:r>
            <a:r>
              <a:rPr lang="en-US" sz="1800" baseline="30000" dirty="0">
                <a:effectLst/>
                <a:latin typeface="Times New Roman" panose="02020603050405020304" pitchFamily="18" charset="0"/>
                <a:ea typeface="Times New Roman" panose="02020603050405020304" pitchFamily="18" charset="0"/>
              </a:rPr>
              <a:t>°</a:t>
            </a:r>
            <a:r>
              <a:rPr lang="en-US" sz="1800" dirty="0">
                <a:effectLst/>
                <a:latin typeface="Times New Roman" panose="02020603050405020304" pitchFamily="18" charset="0"/>
                <a:ea typeface="Times New Roman" panose="02020603050405020304" pitchFamily="18" charset="0"/>
              </a:rPr>
              <a:t>C), which has the same difference in magnitude as the Kelvin.  </a:t>
            </a:r>
          </a:p>
          <a:p>
            <a:pPr>
              <a:buFont typeface="Wingdings" panose="05000000000000000000" pitchFamily="2" charset="2"/>
              <a:buChar char="ü"/>
            </a:pPr>
            <a:r>
              <a:rPr lang="en-US" sz="1800" dirty="0">
                <a:effectLst/>
                <a:latin typeface="Times New Roman" panose="02020603050405020304" pitchFamily="18" charset="0"/>
                <a:ea typeface="Times New Roman" panose="02020603050405020304" pitchFamily="18" charset="0"/>
              </a:rPr>
              <a:t>Thus, temperature differences are identical on both scales.  However, the zero point on the Celsius scale is shifted to 273.15 K, as shown by the following relationship between the Celsius temperature and the Kelvin temperature </a:t>
            </a:r>
          </a:p>
          <a:p>
            <a:pPr marL="0" indent="0">
              <a:buNone/>
            </a:pPr>
            <a:r>
              <a:rPr lang="en-US" sz="1800" dirty="0">
                <a:latin typeface="Times New Roman" panose="02020603050405020304" pitchFamily="18" charset="0"/>
                <a:ea typeface="Times New Roman" panose="02020603050405020304" pitchFamily="18" charset="0"/>
              </a:rPr>
              <a:t>                                                                                     (1.1)</a:t>
            </a:r>
            <a:endParaRPr lang="en-US" sz="1400" dirty="0">
              <a:latin typeface="Times New Roman" panose="02020603050405020304" pitchFamily="18" charset="0"/>
              <a:ea typeface="Times New Roman" panose="02020603050405020304" pitchFamily="18" charset="0"/>
            </a:endParaRPr>
          </a:p>
          <a:p>
            <a:pPr>
              <a:buFont typeface="Wingdings" panose="05000000000000000000" pitchFamily="2" charset="2"/>
              <a:buChar char="ü"/>
            </a:pPr>
            <a:endParaRPr lang="en-US" sz="1800" dirty="0">
              <a:latin typeface="Times New Roman" panose="02020603050405020304" pitchFamily="18" charset="0"/>
              <a:ea typeface="Times New Roman" panose="02020603050405020304" pitchFamily="18" charset="0"/>
            </a:endParaRPr>
          </a:p>
          <a:p>
            <a:pPr marL="0" marR="0" algn="just">
              <a:spcBef>
                <a:spcPts val="0"/>
              </a:spcBef>
              <a:spcAft>
                <a:spcPts val="0"/>
              </a:spcAft>
              <a:buFont typeface="Wingdings" panose="05000000000000000000" pitchFamily="2" charset="2"/>
              <a:buChar char="ü"/>
              <a:tabLst>
                <a:tab pos="457200" algn="l"/>
              </a:tabLst>
            </a:pPr>
            <a:r>
              <a:rPr lang="en-US" sz="1800" dirty="0">
                <a:effectLst/>
                <a:latin typeface="Times New Roman" panose="02020603050405020304" pitchFamily="18" charset="0"/>
                <a:ea typeface="Times New Roman" panose="02020603050405020304" pitchFamily="18" charset="0"/>
              </a:rPr>
              <a:t>Thus, from Equation (1.1) we see that on the Celsius scale the triple point of water is 0.01 </a:t>
            </a:r>
            <a:r>
              <a:rPr lang="en-US" sz="1800" baseline="30000" dirty="0">
                <a:effectLst/>
                <a:latin typeface="Times New Roman" panose="02020603050405020304" pitchFamily="18" charset="0"/>
                <a:ea typeface="Times New Roman" panose="02020603050405020304" pitchFamily="18" charset="0"/>
              </a:rPr>
              <a:t>°</a:t>
            </a:r>
            <a:r>
              <a:rPr lang="en-US" sz="1800" dirty="0">
                <a:effectLst/>
                <a:latin typeface="Times New Roman" panose="02020603050405020304" pitchFamily="18" charset="0"/>
                <a:ea typeface="Times New Roman" panose="02020603050405020304" pitchFamily="18" charset="0"/>
              </a:rPr>
              <a:t>C and 0 K corresponds to – 273.15 </a:t>
            </a:r>
            <a:r>
              <a:rPr lang="en-US" sz="1800" baseline="30000" dirty="0">
                <a:effectLst/>
                <a:latin typeface="Times New Roman" panose="02020603050405020304" pitchFamily="18" charset="0"/>
                <a:ea typeface="Times New Roman" panose="02020603050405020304" pitchFamily="18" charset="0"/>
              </a:rPr>
              <a:t>°</a:t>
            </a:r>
            <a:r>
              <a:rPr lang="en-US" sz="1800" dirty="0">
                <a:effectLst/>
                <a:latin typeface="Times New Roman" panose="02020603050405020304" pitchFamily="18" charset="0"/>
                <a:ea typeface="Times New Roman" panose="02020603050405020304" pitchFamily="18" charset="0"/>
              </a:rPr>
              <a:t>C. </a:t>
            </a:r>
            <a:r>
              <a:rPr lang="en-US" sz="1800" dirty="0">
                <a:latin typeface="Times New Roman" panose="02020603050405020304" pitchFamily="18" charset="0"/>
                <a:ea typeface="Times New Roman" panose="02020603050405020304" pitchFamily="18" charset="0"/>
              </a:rPr>
              <a:t>The ice point is 0 </a:t>
            </a:r>
            <a:r>
              <a:rPr lang="en-US" sz="1800" baseline="30000" dirty="0">
                <a:effectLst/>
                <a:latin typeface="Times New Roman" panose="02020603050405020304" pitchFamily="18" charset="0"/>
                <a:ea typeface="Times New Roman" panose="02020603050405020304" pitchFamily="18" charset="0"/>
              </a:rPr>
              <a:t>°</a:t>
            </a:r>
            <a:r>
              <a:rPr lang="en-US" sz="1800" dirty="0">
                <a:effectLst/>
                <a:latin typeface="Times New Roman" panose="02020603050405020304" pitchFamily="18" charset="0"/>
                <a:ea typeface="Times New Roman" panose="02020603050405020304" pitchFamily="18" charset="0"/>
              </a:rPr>
              <a:t>C. </a:t>
            </a:r>
          </a:p>
          <a:p>
            <a:pPr marL="0" marR="0" algn="just">
              <a:spcBef>
                <a:spcPts val="0"/>
              </a:spcBef>
              <a:spcAft>
                <a:spcPts val="0"/>
              </a:spcAft>
              <a:buFont typeface="Wingdings" panose="05000000000000000000" pitchFamily="2" charset="2"/>
              <a:buChar char="ü"/>
              <a:tabLst>
                <a:tab pos="457200" algn="l"/>
              </a:tabLst>
            </a:pPr>
            <a:r>
              <a:rPr lang="en-US" sz="1800" dirty="0">
                <a:effectLst/>
                <a:latin typeface="Times New Roman" panose="02020603050405020304" pitchFamily="18" charset="0"/>
                <a:ea typeface="Times New Roman" panose="02020603050405020304" pitchFamily="18" charset="0"/>
              </a:rPr>
              <a:t>The temperature of at the steam point, 373.15 K is 100.0 </a:t>
            </a:r>
            <a:r>
              <a:rPr lang="en-US" sz="1800" baseline="30000" dirty="0">
                <a:effectLst/>
                <a:latin typeface="Times New Roman" panose="02020603050405020304" pitchFamily="18" charset="0"/>
                <a:ea typeface="Times New Roman" panose="02020603050405020304" pitchFamily="18" charset="0"/>
              </a:rPr>
              <a:t>°</a:t>
            </a:r>
            <a:r>
              <a:rPr lang="en-US" sz="1800" dirty="0">
                <a:effectLst/>
                <a:latin typeface="Times New Roman" panose="02020603050405020304" pitchFamily="18" charset="0"/>
                <a:ea typeface="Times New Roman" panose="02020603050405020304" pitchFamily="18" charset="0"/>
              </a:rPr>
              <a:t>C.  Accordingly, there are 100 Celsius degrees in this interval of 100 Kelvin.</a:t>
            </a:r>
          </a:p>
          <a:p>
            <a:pPr>
              <a:buFont typeface="Wingdings" panose="05000000000000000000" pitchFamily="2" charset="2"/>
              <a:buChar char="ü"/>
            </a:pPr>
            <a:endParaRPr lang="en-US" sz="1600" dirty="0">
              <a:latin typeface="Times New Roman" panose="02020603050405020304" pitchFamily="18" charset="0"/>
              <a:ea typeface="Times New Roman" panose="02020603050405020304" pitchFamily="18" charset="0"/>
            </a:endParaRPr>
          </a:p>
        </p:txBody>
      </p:sp>
      <p:sp>
        <p:nvSpPr>
          <p:cNvPr id="6" name="Rectangle 2">
            <a:extLst>
              <a:ext uri="{FF2B5EF4-FFF2-40B4-BE49-F238E27FC236}">
                <a16:creationId xmlns:a16="http://schemas.microsoft.com/office/drawing/2014/main" id="{9AAE94EA-246D-4E47-A830-E0813D52C101}"/>
              </a:ext>
            </a:extLst>
          </p:cNvPr>
          <p:cNvSpPr>
            <a:spLocks noChangeArrowheads="1"/>
          </p:cNvSpPr>
          <p:nvPr/>
        </p:nvSpPr>
        <p:spPr bwMode="auto">
          <a:xfrm>
            <a:off x="7506268" y="3691854"/>
            <a:ext cx="13319008"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graphicFrame>
        <p:nvGraphicFramePr>
          <p:cNvPr id="7" name="Object 6">
            <a:extLst>
              <a:ext uri="{FF2B5EF4-FFF2-40B4-BE49-F238E27FC236}">
                <a16:creationId xmlns:a16="http://schemas.microsoft.com/office/drawing/2014/main" id="{F8D508EA-ECCC-4D50-802A-A499BE86C056}"/>
              </a:ext>
            </a:extLst>
          </p:cNvPr>
          <p:cNvGraphicFramePr>
            <a:graphicFrameLocks noChangeAspect="1"/>
          </p:cNvGraphicFramePr>
          <p:nvPr>
            <p:extLst>
              <p:ext uri="{D42A27DB-BD31-4B8C-83A1-F6EECF244321}">
                <p14:modId xmlns:p14="http://schemas.microsoft.com/office/powerpoint/2010/main" val="1338575336"/>
              </p:ext>
            </p:extLst>
          </p:nvPr>
        </p:nvGraphicFramePr>
        <p:xfrm>
          <a:off x="7506268" y="3691855"/>
          <a:ext cx="3147030" cy="365125"/>
        </p:xfrm>
        <a:graphic>
          <a:graphicData uri="http://schemas.openxmlformats.org/presentationml/2006/ole">
            <mc:AlternateContent xmlns:mc="http://schemas.openxmlformats.org/markup-compatibility/2006">
              <mc:Choice xmlns:v="urn:schemas-microsoft-com:vml" Requires="v">
                <p:oleObj spid="_x0000_s6154" r:id="rId3" imgW="1726451" imgH="203112" progId="Equation.3">
                  <p:embed/>
                </p:oleObj>
              </mc:Choice>
              <mc:Fallback>
                <p:oleObj r:id="rId3" imgW="1726451" imgH="203112" progId="Equation.3">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06268" y="3691855"/>
                        <a:ext cx="3147030" cy="365125"/>
                      </a:xfrm>
                      <a:prstGeom prst="rect">
                        <a:avLst/>
                      </a:prstGeom>
                      <a:noFill/>
                    </p:spPr>
                  </p:pic>
                </p:oleObj>
              </mc:Fallback>
            </mc:AlternateContent>
          </a:graphicData>
        </a:graphic>
      </p:graphicFrame>
    </p:spTree>
    <p:extLst>
      <p:ext uri="{BB962C8B-B14F-4D97-AF65-F5344CB8AC3E}">
        <p14:creationId xmlns:p14="http://schemas.microsoft.com/office/powerpoint/2010/main" val="10884499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Basic Concepts and Definitions</a:t>
            </a:r>
            <a:endParaRPr lang="en-US" dirty="0">
              <a:solidFill>
                <a:srgbClr val="002060"/>
              </a:solidFill>
              <a:latin typeface="Georgia" panose="02040502050405020303" pitchFamily="18" charset="0"/>
            </a:endParaRPr>
          </a:p>
        </p:txBody>
      </p:sp>
      <p:sp>
        <p:nvSpPr>
          <p:cNvPr id="3" name="Content Placeholder 2"/>
          <p:cNvSpPr>
            <a:spLocks noGrp="1"/>
          </p:cNvSpPr>
          <p:nvPr>
            <p:ph sz="half" idx="1"/>
          </p:nvPr>
        </p:nvSpPr>
        <p:spPr>
          <a:xfrm>
            <a:off x="156011" y="1008528"/>
            <a:ext cx="5836894" cy="5270076"/>
          </a:xfrm>
        </p:spPr>
        <p:txBody>
          <a:bodyPr>
            <a:noAutofit/>
          </a:bodyPr>
          <a:lstStyle/>
          <a:p>
            <a:pPr marR="0">
              <a:spcBef>
                <a:spcPts val="0"/>
              </a:spcBef>
              <a:spcAft>
                <a:spcPts val="0"/>
              </a:spcAft>
              <a:buFont typeface="Wingdings" panose="05000000000000000000" pitchFamily="2" charset="2"/>
              <a:buChar char="v"/>
            </a:pPr>
            <a:r>
              <a:rPr lang="en-US" sz="2000" dirty="0">
                <a:solidFill>
                  <a:srgbClr val="FF0000"/>
                </a:solidFill>
                <a:effectLst/>
                <a:latin typeface="Times New Roman" panose="02020603050405020304" pitchFamily="18" charset="0"/>
                <a:ea typeface="Times New Roman" panose="02020603050405020304" pitchFamily="18" charset="0"/>
              </a:rPr>
              <a:t>The Rankine scale</a:t>
            </a:r>
          </a:p>
          <a:p>
            <a:pPr marR="0">
              <a:spcBef>
                <a:spcPts val="0"/>
              </a:spcBef>
              <a:spcAft>
                <a:spcPts val="0"/>
              </a:spcAft>
              <a:buFont typeface="Wingdings" panose="05000000000000000000" pitchFamily="2" charset="2"/>
              <a:buChar char="ü"/>
            </a:pPr>
            <a:r>
              <a:rPr lang="en-US" sz="1800" dirty="0">
                <a:effectLst/>
                <a:latin typeface="Times New Roman" panose="02020603050405020304" pitchFamily="18" charset="0"/>
                <a:ea typeface="Times New Roman" panose="02020603050405020304" pitchFamily="18" charset="0"/>
              </a:rPr>
              <a:t>the unit is the degree Rankine (°R), and is proportional to the Kelvin temperature according to</a:t>
            </a:r>
          </a:p>
          <a:p>
            <a:pPr marR="0">
              <a:spcBef>
                <a:spcPts val="0"/>
              </a:spcBef>
              <a:spcAft>
                <a:spcPts val="0"/>
              </a:spcAft>
              <a:buFont typeface="Wingdings" panose="05000000000000000000" pitchFamily="2" charset="2"/>
              <a:buChar char="ü"/>
            </a:pPr>
            <a:endParaRPr lang="en-US" sz="1800" dirty="0">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dirty="0">
                <a:effectLst/>
                <a:latin typeface="Times New Roman" panose="02020603050405020304" pitchFamily="18" charset="0"/>
                <a:ea typeface="Times New Roman" panose="02020603050405020304" pitchFamily="18" charset="0"/>
              </a:rPr>
              <a:t>                                                                           (1.2)</a:t>
            </a:r>
          </a:p>
          <a:p>
            <a:pPr>
              <a:buFont typeface="Wingdings" panose="05000000000000000000" pitchFamily="2" charset="2"/>
              <a:buChar char="ü"/>
            </a:pPr>
            <a:endParaRPr lang="en-US" sz="1600" dirty="0">
              <a:effectLst/>
              <a:latin typeface="Times New Roman" panose="02020603050405020304" pitchFamily="18" charset="0"/>
              <a:ea typeface="Times New Roman" panose="02020603050405020304" pitchFamily="18" charset="0"/>
            </a:endParaRPr>
          </a:p>
          <a:p>
            <a:pPr marL="0" marR="0">
              <a:spcBef>
                <a:spcPts val="0"/>
              </a:spcBef>
              <a:spcAft>
                <a:spcPts val="0"/>
              </a:spcAft>
              <a:buFont typeface="Wingdings" panose="05000000000000000000" pitchFamily="2" charset="2"/>
              <a:buChar char="ü"/>
            </a:pPr>
            <a:r>
              <a:rPr lang="en-US" sz="1800" dirty="0">
                <a:effectLst/>
                <a:latin typeface="Times New Roman" panose="02020603050405020304" pitchFamily="18" charset="0"/>
                <a:ea typeface="Times New Roman" panose="02020603050405020304" pitchFamily="18" charset="0"/>
              </a:rPr>
              <a:t>The Rankine scale is also an absolute temperature scale.</a:t>
            </a:r>
          </a:p>
          <a:p>
            <a:pPr marL="0" marR="0">
              <a:spcBef>
                <a:spcPts val="0"/>
              </a:spcBef>
              <a:spcAft>
                <a:spcPts val="0"/>
              </a:spcAft>
              <a:buFont typeface="Wingdings" panose="05000000000000000000" pitchFamily="2" charset="2"/>
              <a:buChar char="ü"/>
            </a:pPr>
            <a:r>
              <a:rPr lang="en-US" sz="1800" dirty="0">
                <a:effectLst/>
                <a:latin typeface="Times New Roman" panose="02020603050405020304" pitchFamily="18" charset="0"/>
                <a:ea typeface="Times New Roman" panose="02020603050405020304" pitchFamily="18" charset="0"/>
              </a:rPr>
              <a:t>The Fahrenheit scale is related to the Rankine scale by the relation</a:t>
            </a:r>
          </a:p>
          <a:p>
            <a:pPr marL="0" marR="0">
              <a:spcBef>
                <a:spcPts val="0"/>
              </a:spcBef>
              <a:spcAft>
                <a:spcPts val="0"/>
              </a:spcAft>
              <a:buFont typeface="Wingdings" panose="05000000000000000000" pitchFamily="2" charset="2"/>
              <a:buChar char="ü"/>
            </a:pPr>
            <a:endParaRPr lang="en-US" sz="1800" dirty="0">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dirty="0">
                <a:effectLst/>
                <a:latin typeface="Times New Roman" panose="02020603050405020304" pitchFamily="18" charset="0"/>
                <a:ea typeface="Times New Roman" panose="02020603050405020304" pitchFamily="18" charset="0"/>
              </a:rPr>
              <a:t>                                                                                  (1.3)</a:t>
            </a:r>
          </a:p>
          <a:p>
            <a:pPr marL="0" marR="0" indent="0">
              <a:spcBef>
                <a:spcPts val="0"/>
              </a:spcBef>
              <a:spcAft>
                <a:spcPts val="0"/>
              </a:spcAft>
              <a:buNone/>
            </a:pPr>
            <a:endParaRPr lang="en-US" sz="1800" dirty="0">
              <a:latin typeface="Times New Roman" panose="02020603050405020304" pitchFamily="18" charset="0"/>
              <a:ea typeface="Times New Roman" panose="02020603050405020304" pitchFamily="18" charset="0"/>
            </a:endParaRPr>
          </a:p>
          <a:p>
            <a:pPr marL="0" indent="0">
              <a:spcBef>
                <a:spcPts val="0"/>
              </a:spcBef>
              <a:buNone/>
            </a:pPr>
            <a:r>
              <a:rPr lang="en-US" sz="1800" dirty="0">
                <a:effectLst/>
                <a:latin typeface="Times New Roman" panose="02020603050405020304" pitchFamily="18" charset="0"/>
                <a:ea typeface="Times New Roman" panose="02020603050405020304" pitchFamily="18" charset="0"/>
              </a:rPr>
              <a:t>Substituting </a:t>
            </a:r>
            <a:r>
              <a:rPr lang="en-US" sz="1800" dirty="0" err="1">
                <a:effectLst/>
                <a:latin typeface="Times New Roman" panose="02020603050405020304" pitchFamily="18" charset="0"/>
                <a:ea typeface="Times New Roman" panose="02020603050405020304" pitchFamily="18" charset="0"/>
              </a:rPr>
              <a:t>Eqs</a:t>
            </a:r>
            <a:r>
              <a:rPr lang="en-US" sz="1800" dirty="0">
                <a:effectLst/>
                <a:latin typeface="Times New Roman" panose="02020603050405020304" pitchFamily="18" charset="0"/>
                <a:ea typeface="Times New Roman" panose="02020603050405020304" pitchFamily="18" charset="0"/>
              </a:rPr>
              <a:t>. 1.1 and 1.2 into Eq. 1.3, it follows that</a:t>
            </a:r>
          </a:p>
          <a:p>
            <a:pPr marL="0" indent="0">
              <a:spcBef>
                <a:spcPts val="0"/>
              </a:spcBef>
              <a:buNone/>
            </a:pPr>
            <a:endParaRPr lang="en-US" sz="1800" dirty="0">
              <a:latin typeface="Times New Roman" panose="02020603050405020304" pitchFamily="18" charset="0"/>
              <a:ea typeface="Times New Roman" panose="02020603050405020304" pitchFamily="18" charset="0"/>
            </a:endParaRPr>
          </a:p>
          <a:p>
            <a:pPr marL="0" indent="0">
              <a:spcBef>
                <a:spcPts val="0"/>
              </a:spcBef>
              <a:buNone/>
            </a:pPr>
            <a:r>
              <a:rPr lang="en-US" sz="1800" dirty="0">
                <a:effectLst/>
                <a:latin typeface="Times New Roman" panose="02020603050405020304" pitchFamily="18" charset="0"/>
                <a:ea typeface="Times New Roman" panose="02020603050405020304" pitchFamily="18" charset="0"/>
              </a:rPr>
              <a:t>                                                                                   (1.4)</a:t>
            </a:r>
          </a:p>
          <a:p>
            <a:pPr marL="0" indent="0">
              <a:spcBef>
                <a:spcPts val="0"/>
              </a:spcBef>
              <a:buNone/>
            </a:pPr>
            <a:endParaRPr lang="en-US" sz="1800" dirty="0">
              <a:latin typeface="Times New Roman" panose="02020603050405020304" pitchFamily="18" charset="0"/>
              <a:ea typeface="Times New Roman" panose="02020603050405020304" pitchFamily="18" charset="0"/>
            </a:endParaRPr>
          </a:p>
          <a:p>
            <a:pPr marL="0" indent="0">
              <a:spcBef>
                <a:spcPts val="0"/>
              </a:spcBef>
              <a:buNone/>
            </a:pPr>
            <a:r>
              <a:rPr lang="en-US" sz="1800" dirty="0">
                <a:effectLst/>
                <a:latin typeface="Times New Roman" panose="02020603050405020304" pitchFamily="18" charset="0"/>
                <a:ea typeface="Times New Roman" panose="02020603050405020304" pitchFamily="18" charset="0"/>
              </a:rPr>
              <a:t>Equation (1.4) shows that the Fahrenheit temperature of the ice point (0 °C) is 32 °F and the steam point (100 °C) is 212 °F.</a:t>
            </a:r>
          </a:p>
          <a:p>
            <a:pPr marL="0" indent="0">
              <a:spcBef>
                <a:spcPts val="0"/>
              </a:spcBef>
              <a:buNone/>
            </a:pP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buFont typeface="Wingdings" panose="05000000000000000000" pitchFamily="2" charset="2"/>
              <a:buChar char="ü"/>
            </a:pPr>
            <a:endParaRPr lang="en-US" sz="1800" dirty="0">
              <a:effectLst/>
              <a:latin typeface="Times New Roman" panose="02020603050405020304" pitchFamily="18" charset="0"/>
              <a:ea typeface="Times New Roman" panose="02020603050405020304" pitchFamily="18" charset="0"/>
            </a:endParaRPr>
          </a:p>
          <a:p>
            <a:pPr>
              <a:buFont typeface="Wingdings" panose="05000000000000000000" pitchFamily="2" charset="2"/>
              <a:buChar char="ü"/>
            </a:pPr>
            <a:endParaRPr lang="en-US" sz="1600" dirty="0">
              <a:effectLst/>
              <a:latin typeface="Times New Roman" panose="02020603050405020304" pitchFamily="18" charset="0"/>
              <a:ea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4801FD5-11B4-DE43-ACA2-E85EEB9A6F9C}" type="slidenum">
              <a:rPr lang="en-US" smtClean="0"/>
              <a:pPr/>
              <a:t>23</a:t>
            </a:fld>
            <a:endParaRPr lang="en-US" dirty="0"/>
          </a:p>
        </p:txBody>
      </p:sp>
      <p:sp>
        <p:nvSpPr>
          <p:cNvPr id="5" name="Content Placeholder 2"/>
          <p:cNvSpPr txBox="1">
            <a:spLocks/>
          </p:cNvSpPr>
          <p:nvPr/>
        </p:nvSpPr>
        <p:spPr>
          <a:xfrm>
            <a:off x="6351495" y="1013011"/>
            <a:ext cx="5684494" cy="5270076"/>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marL="0" indent="0">
              <a:buNone/>
            </a:pPr>
            <a:endParaRPr lang="en-US" sz="2000" dirty="0"/>
          </a:p>
        </p:txBody>
      </p:sp>
      <p:sp>
        <p:nvSpPr>
          <p:cNvPr id="14" name="Rectangle 10">
            <a:extLst>
              <a:ext uri="{FF2B5EF4-FFF2-40B4-BE49-F238E27FC236}">
                <a16:creationId xmlns:a16="http://schemas.microsoft.com/office/drawing/2014/main" id="{CEDDBD42-94D3-4737-A168-FEF93B6E94AC}"/>
              </a:ext>
            </a:extLst>
          </p:cNvPr>
          <p:cNvSpPr>
            <a:spLocks noChangeArrowheads="1"/>
          </p:cNvSpPr>
          <p:nvPr/>
        </p:nvSpPr>
        <p:spPr bwMode="auto">
          <a:xfrm>
            <a:off x="2165928" y="5932208"/>
            <a:ext cx="19597462"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18" name="Rectangle 15">
            <a:extLst>
              <a:ext uri="{FF2B5EF4-FFF2-40B4-BE49-F238E27FC236}">
                <a16:creationId xmlns:a16="http://schemas.microsoft.com/office/drawing/2014/main" id="{561870F7-9D50-4393-A979-0E2BB7F87073}"/>
              </a:ext>
            </a:extLst>
          </p:cNvPr>
          <p:cNvSpPr>
            <a:spLocks noChangeArrowheads="1"/>
          </p:cNvSpPr>
          <p:nvPr/>
        </p:nvSpPr>
        <p:spPr bwMode="auto">
          <a:xfrm>
            <a:off x="8275120" y="1799771"/>
            <a:ext cx="2388636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32" name="Rectangle 29">
            <a:extLst>
              <a:ext uri="{FF2B5EF4-FFF2-40B4-BE49-F238E27FC236}">
                <a16:creationId xmlns:a16="http://schemas.microsoft.com/office/drawing/2014/main" id="{48C953CD-DE7D-421D-9E0A-D30B31447655}"/>
              </a:ext>
            </a:extLst>
          </p:cNvPr>
          <p:cNvSpPr>
            <a:spLocks noChangeArrowheads="1"/>
          </p:cNvSpPr>
          <p:nvPr/>
        </p:nvSpPr>
        <p:spPr bwMode="auto">
          <a:xfrm>
            <a:off x="11677400" y="3874418"/>
            <a:ext cx="254752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34" name="Rectangle 31">
            <a:extLst>
              <a:ext uri="{FF2B5EF4-FFF2-40B4-BE49-F238E27FC236}">
                <a16:creationId xmlns:a16="http://schemas.microsoft.com/office/drawing/2014/main" id="{9BCAEC52-4B5D-479B-8D32-8020DA281181}"/>
              </a:ext>
            </a:extLst>
          </p:cNvPr>
          <p:cNvSpPr>
            <a:spLocks noChangeArrowheads="1"/>
          </p:cNvSpPr>
          <p:nvPr/>
        </p:nvSpPr>
        <p:spPr bwMode="auto">
          <a:xfrm>
            <a:off x="10022461" y="4830742"/>
            <a:ext cx="54890773"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36" name="Rectangle 33">
            <a:extLst>
              <a:ext uri="{FF2B5EF4-FFF2-40B4-BE49-F238E27FC236}">
                <a16:creationId xmlns:a16="http://schemas.microsoft.com/office/drawing/2014/main" id="{B950A2DB-D064-4BB5-A817-4D8C2A16CC2A}"/>
              </a:ext>
            </a:extLst>
          </p:cNvPr>
          <p:cNvSpPr>
            <a:spLocks noChangeArrowheads="1"/>
          </p:cNvSpPr>
          <p:nvPr/>
        </p:nvSpPr>
        <p:spPr bwMode="auto">
          <a:xfrm>
            <a:off x="8814894" y="4846387"/>
            <a:ext cx="16074507"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12" name="Content Placeholder 2">
            <a:extLst>
              <a:ext uri="{FF2B5EF4-FFF2-40B4-BE49-F238E27FC236}">
                <a16:creationId xmlns:a16="http://schemas.microsoft.com/office/drawing/2014/main" id="{6354A1AE-EEBF-4867-9130-6EB4FB01A5D0}"/>
              </a:ext>
            </a:extLst>
          </p:cNvPr>
          <p:cNvSpPr txBox="1">
            <a:spLocks/>
          </p:cNvSpPr>
          <p:nvPr/>
        </p:nvSpPr>
        <p:spPr>
          <a:xfrm>
            <a:off x="5985755" y="1013011"/>
            <a:ext cx="6050233" cy="5072958"/>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marL="228600" marR="0" algn="just">
              <a:spcBef>
                <a:spcPts val="0"/>
              </a:spcBef>
              <a:spcAft>
                <a:spcPts val="0"/>
              </a:spcAft>
              <a:buFont typeface="Wingdings" panose="05000000000000000000" pitchFamily="2" charset="2"/>
              <a:buChar char="v"/>
              <a:tabLst>
                <a:tab pos="457200" algn="l"/>
              </a:tabLst>
            </a:pPr>
            <a:r>
              <a:rPr lang="en-US" sz="1800" dirty="0">
                <a:effectLst/>
                <a:latin typeface="Times New Roman" panose="02020603050405020304" pitchFamily="18" charset="0"/>
                <a:ea typeface="Times New Roman" panose="02020603050405020304" pitchFamily="18" charset="0"/>
              </a:rPr>
              <a:t>When dealing with temperature interval on the different scales defined the following must be noted:</a:t>
            </a:r>
          </a:p>
          <a:p>
            <a:pPr marL="228600" marR="0" algn="just">
              <a:spcBef>
                <a:spcPts val="0"/>
              </a:spcBef>
              <a:spcAft>
                <a:spcPts val="0"/>
              </a:spcAft>
              <a:buFont typeface="Wingdings" panose="05000000000000000000" pitchFamily="2" charset="2"/>
              <a:buChar char="v"/>
              <a:tabLst>
                <a:tab pos="457200" algn="l"/>
              </a:tabLst>
            </a:pPr>
            <a:endParaRPr lang="en-US" sz="1800" dirty="0">
              <a:latin typeface="Times New Roman" panose="02020603050405020304" pitchFamily="18" charset="0"/>
              <a:ea typeface="Times New Roman" panose="02020603050405020304" pitchFamily="18" charset="0"/>
            </a:endParaRPr>
          </a:p>
          <a:p>
            <a:pPr marL="228600" marR="0" algn="just">
              <a:spcBef>
                <a:spcPts val="0"/>
              </a:spcBef>
              <a:spcAft>
                <a:spcPts val="0"/>
              </a:spcAft>
              <a:buFont typeface="Wingdings" panose="05000000000000000000" pitchFamily="2" charset="2"/>
              <a:buChar char="v"/>
              <a:tabLst>
                <a:tab pos="457200" algn="l"/>
              </a:tabLst>
            </a:pPr>
            <a:endParaRPr lang="en-US" sz="1800" dirty="0">
              <a:effectLst/>
              <a:latin typeface="Times New Roman" panose="02020603050405020304" pitchFamily="18" charset="0"/>
              <a:ea typeface="Times New Roman" panose="02020603050405020304" pitchFamily="18" charset="0"/>
            </a:endParaRPr>
          </a:p>
          <a:p>
            <a:pPr marL="228600" marR="0" algn="just">
              <a:spcBef>
                <a:spcPts val="0"/>
              </a:spcBef>
              <a:spcAft>
                <a:spcPts val="0"/>
              </a:spcAft>
              <a:buFont typeface="Wingdings" panose="05000000000000000000" pitchFamily="2" charset="2"/>
              <a:buChar char="v"/>
              <a:tabLst>
                <a:tab pos="457200" algn="l"/>
              </a:tabLst>
            </a:pPr>
            <a:endParaRPr lang="en-US" sz="1800" dirty="0">
              <a:latin typeface="Times New Roman" panose="02020603050405020304" pitchFamily="18" charset="0"/>
              <a:ea typeface="Times New Roman" panose="02020603050405020304" pitchFamily="18" charset="0"/>
            </a:endParaRPr>
          </a:p>
          <a:p>
            <a:pPr marL="228600" marR="0" algn="just">
              <a:spcBef>
                <a:spcPts val="0"/>
              </a:spcBef>
              <a:spcAft>
                <a:spcPts val="0"/>
              </a:spcAft>
              <a:buFont typeface="Wingdings" panose="05000000000000000000" pitchFamily="2" charset="2"/>
              <a:buChar char="v"/>
              <a:tabLst>
                <a:tab pos="457200" algn="l"/>
              </a:tabLst>
            </a:pPr>
            <a:endParaRPr lang="en-US" sz="1800" dirty="0">
              <a:effectLst/>
              <a:latin typeface="Times New Roman" panose="02020603050405020304" pitchFamily="18" charset="0"/>
              <a:ea typeface="Times New Roman" panose="02020603050405020304" pitchFamily="18" charset="0"/>
            </a:endParaRPr>
          </a:p>
          <a:p>
            <a:pPr marL="228600" marR="0" algn="just">
              <a:spcBef>
                <a:spcPts val="0"/>
              </a:spcBef>
              <a:spcAft>
                <a:spcPts val="0"/>
              </a:spcAft>
              <a:buFont typeface="Wingdings" panose="05000000000000000000" pitchFamily="2" charset="2"/>
              <a:buChar char="v"/>
              <a:tabLst>
                <a:tab pos="457200" algn="l"/>
              </a:tabLst>
            </a:pPr>
            <a:endParaRPr lang="en-US" sz="1800" dirty="0">
              <a:latin typeface="Times New Roman" panose="02020603050405020304" pitchFamily="18" charset="0"/>
              <a:ea typeface="Times New Roman" panose="02020603050405020304" pitchFamily="18" charset="0"/>
            </a:endParaRPr>
          </a:p>
          <a:p>
            <a:pPr marL="228600" marR="0" algn="just">
              <a:spcBef>
                <a:spcPts val="0"/>
              </a:spcBef>
              <a:spcAft>
                <a:spcPts val="0"/>
              </a:spcAft>
              <a:buFont typeface="Wingdings" panose="05000000000000000000" pitchFamily="2" charset="2"/>
              <a:buChar char="v"/>
              <a:tabLst>
                <a:tab pos="457200" algn="l"/>
              </a:tabLst>
            </a:pPr>
            <a:endParaRPr lang="en-US" sz="1800" dirty="0">
              <a:effectLst/>
              <a:latin typeface="Times New Roman" panose="02020603050405020304" pitchFamily="18" charset="0"/>
              <a:ea typeface="Times New Roman" panose="02020603050405020304" pitchFamily="18" charset="0"/>
            </a:endParaRPr>
          </a:p>
          <a:p>
            <a:pPr marL="228600" algn="just">
              <a:spcBef>
                <a:spcPts val="0"/>
              </a:spcBef>
              <a:buFont typeface="Wingdings" panose="05000000000000000000" pitchFamily="2" charset="2"/>
              <a:buChar char="v"/>
              <a:tabLst>
                <a:tab pos="457200" algn="l"/>
              </a:tabLst>
            </a:pPr>
            <a:r>
              <a:rPr lang="en-US" sz="1800" dirty="0">
                <a:effectLst/>
                <a:latin typeface="Times New Roman" panose="02020603050405020304" pitchFamily="18" charset="0"/>
                <a:ea typeface="Times New Roman" panose="02020603050405020304" pitchFamily="18" charset="0"/>
              </a:rPr>
              <a:t>During a heating process, the temperature of s system rises by 10 </a:t>
            </a:r>
            <a:r>
              <a:rPr lang="en-US" sz="1800" baseline="30000" dirty="0">
                <a:effectLst/>
                <a:latin typeface="Times New Roman" panose="02020603050405020304" pitchFamily="18" charset="0"/>
                <a:ea typeface="Times New Roman" panose="02020603050405020304" pitchFamily="18" charset="0"/>
              </a:rPr>
              <a:t>0</a:t>
            </a:r>
            <a:r>
              <a:rPr lang="en-US" sz="1800" dirty="0">
                <a:effectLst/>
                <a:latin typeface="Times New Roman" panose="02020603050405020304" pitchFamily="18" charset="0"/>
                <a:ea typeface="Times New Roman" panose="02020603050405020304" pitchFamily="18" charset="0"/>
              </a:rPr>
              <a:t>C. This rise in temperature in K is 10 K. The rise in temperature in </a:t>
            </a:r>
            <a:r>
              <a:rPr lang="en-US" sz="1800" baseline="30000" dirty="0">
                <a:effectLst/>
                <a:latin typeface="Times New Roman" panose="02020603050405020304" pitchFamily="18" charset="0"/>
                <a:ea typeface="Times New Roman" panose="02020603050405020304" pitchFamily="18" charset="0"/>
              </a:rPr>
              <a:t>0</a:t>
            </a:r>
            <a:r>
              <a:rPr lang="en-US" sz="1800" dirty="0">
                <a:effectLst/>
                <a:latin typeface="Times New Roman" panose="02020603050405020304" pitchFamily="18" charset="0"/>
                <a:ea typeface="Times New Roman" panose="02020603050405020304" pitchFamily="18" charset="0"/>
              </a:rPr>
              <a:t>F is 1.8(10) = 18 </a:t>
            </a:r>
            <a:r>
              <a:rPr lang="en-US" sz="1800" baseline="30000" dirty="0">
                <a:effectLst/>
                <a:latin typeface="Times New Roman" panose="02020603050405020304" pitchFamily="18" charset="0"/>
                <a:ea typeface="Times New Roman" panose="02020603050405020304" pitchFamily="18" charset="0"/>
              </a:rPr>
              <a:t>0</a:t>
            </a:r>
            <a:r>
              <a:rPr lang="en-US" sz="1800" dirty="0">
                <a:effectLst/>
                <a:latin typeface="Times New Roman" panose="02020603050405020304" pitchFamily="18" charset="0"/>
                <a:ea typeface="Times New Roman" panose="02020603050405020304" pitchFamily="18" charset="0"/>
              </a:rPr>
              <a:t>F.</a:t>
            </a:r>
          </a:p>
          <a:p>
            <a:pPr marL="228600" marR="0" algn="just">
              <a:spcBef>
                <a:spcPts val="0"/>
              </a:spcBef>
              <a:spcAft>
                <a:spcPts val="0"/>
              </a:spcAft>
              <a:buFont typeface="Wingdings" panose="05000000000000000000" pitchFamily="2" charset="2"/>
              <a:buChar char="v"/>
              <a:tabLst>
                <a:tab pos="457200" algn="l"/>
              </a:tabLst>
            </a:pPr>
            <a:endParaRPr lang="en-US" sz="1800" dirty="0">
              <a:effectLst/>
              <a:latin typeface="Times New Roman" panose="02020603050405020304" pitchFamily="18" charset="0"/>
              <a:ea typeface="Times New Roman" panose="02020603050405020304" pitchFamily="18" charset="0"/>
            </a:endParaRPr>
          </a:p>
          <a:p>
            <a:pPr>
              <a:buFont typeface="Wingdings" panose="05000000000000000000" pitchFamily="2" charset="2"/>
              <a:buChar char="ü"/>
            </a:pPr>
            <a:endParaRPr lang="en-US" sz="1600" dirty="0">
              <a:latin typeface="Times New Roman" panose="02020603050405020304" pitchFamily="18" charset="0"/>
              <a:ea typeface="Times New Roman" panose="02020603050405020304" pitchFamily="18" charset="0"/>
            </a:endParaRPr>
          </a:p>
        </p:txBody>
      </p:sp>
      <p:sp>
        <p:nvSpPr>
          <p:cNvPr id="6" name="Rectangle 2">
            <a:extLst>
              <a:ext uri="{FF2B5EF4-FFF2-40B4-BE49-F238E27FC236}">
                <a16:creationId xmlns:a16="http://schemas.microsoft.com/office/drawing/2014/main" id="{9AAE94EA-246D-4E47-A830-E0813D52C101}"/>
              </a:ext>
            </a:extLst>
          </p:cNvPr>
          <p:cNvSpPr>
            <a:spLocks noChangeArrowheads="1"/>
          </p:cNvSpPr>
          <p:nvPr/>
        </p:nvSpPr>
        <p:spPr bwMode="auto">
          <a:xfrm>
            <a:off x="7506268" y="3691854"/>
            <a:ext cx="13319008"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8" name="Rectangle 4">
            <a:extLst>
              <a:ext uri="{FF2B5EF4-FFF2-40B4-BE49-F238E27FC236}">
                <a16:creationId xmlns:a16="http://schemas.microsoft.com/office/drawing/2014/main" id="{75D8E0F7-47E4-4126-B755-D13728B3AD1A}"/>
              </a:ext>
            </a:extLst>
          </p:cNvPr>
          <p:cNvSpPr>
            <a:spLocks noChangeArrowheads="1"/>
          </p:cNvSpPr>
          <p:nvPr/>
        </p:nvSpPr>
        <p:spPr bwMode="auto">
          <a:xfrm>
            <a:off x="1906153" y="2056199"/>
            <a:ext cx="13665373"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graphicFrame>
        <p:nvGraphicFramePr>
          <p:cNvPr id="9" name="Object 8">
            <a:extLst>
              <a:ext uri="{FF2B5EF4-FFF2-40B4-BE49-F238E27FC236}">
                <a16:creationId xmlns:a16="http://schemas.microsoft.com/office/drawing/2014/main" id="{8D93B0D5-1CBA-4AD7-8E9D-853BCEAEDD0A}"/>
              </a:ext>
            </a:extLst>
          </p:cNvPr>
          <p:cNvGraphicFramePr>
            <a:graphicFrameLocks noChangeAspect="1"/>
          </p:cNvGraphicFramePr>
          <p:nvPr>
            <p:extLst>
              <p:ext uri="{D42A27DB-BD31-4B8C-83A1-F6EECF244321}">
                <p14:modId xmlns:p14="http://schemas.microsoft.com/office/powerpoint/2010/main" val="1383686577"/>
              </p:ext>
            </p:extLst>
          </p:nvPr>
        </p:nvGraphicFramePr>
        <p:xfrm>
          <a:off x="1737970" y="2190689"/>
          <a:ext cx="2155976" cy="365125"/>
        </p:xfrm>
        <a:graphic>
          <a:graphicData uri="http://schemas.openxmlformats.org/presentationml/2006/ole">
            <mc:AlternateContent xmlns:mc="http://schemas.openxmlformats.org/markup-compatibility/2006">
              <mc:Choice xmlns:v="urn:schemas-microsoft-com:vml" Requires="v">
                <p:oleObj spid="_x0000_s7216" r:id="rId3" imgW="1180588" imgH="203112" progId="Equation.3">
                  <p:embed/>
                </p:oleObj>
              </mc:Choice>
              <mc:Fallback>
                <p:oleObj r:id="rId3" imgW="1180588" imgH="203112"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37970" y="2190689"/>
                        <a:ext cx="2155976" cy="365125"/>
                      </a:xfrm>
                      <a:prstGeom prst="rect">
                        <a:avLst/>
                      </a:prstGeom>
                      <a:noFill/>
                    </p:spPr>
                  </p:pic>
                </p:oleObj>
              </mc:Fallback>
            </mc:AlternateContent>
          </a:graphicData>
        </a:graphic>
      </p:graphicFrame>
      <p:sp>
        <p:nvSpPr>
          <p:cNvPr id="10" name="Rectangle 6">
            <a:extLst>
              <a:ext uri="{FF2B5EF4-FFF2-40B4-BE49-F238E27FC236}">
                <a16:creationId xmlns:a16="http://schemas.microsoft.com/office/drawing/2014/main" id="{A010AFAE-C3A6-4682-ACDE-17BD4CDD8728}"/>
              </a:ext>
            </a:extLst>
          </p:cNvPr>
          <p:cNvSpPr>
            <a:spLocks noChangeArrowheads="1"/>
          </p:cNvSpPr>
          <p:nvPr/>
        </p:nvSpPr>
        <p:spPr bwMode="auto">
          <a:xfrm>
            <a:off x="1073522" y="3691855"/>
            <a:ext cx="13657083"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graphicFrame>
        <p:nvGraphicFramePr>
          <p:cNvPr id="11" name="Object 10">
            <a:extLst>
              <a:ext uri="{FF2B5EF4-FFF2-40B4-BE49-F238E27FC236}">
                <a16:creationId xmlns:a16="http://schemas.microsoft.com/office/drawing/2014/main" id="{53897AF8-8812-48B9-9CC0-A359FE1AD70E}"/>
              </a:ext>
            </a:extLst>
          </p:cNvPr>
          <p:cNvGraphicFramePr>
            <a:graphicFrameLocks noChangeAspect="1"/>
          </p:cNvGraphicFramePr>
          <p:nvPr>
            <p:extLst>
              <p:ext uri="{D42A27DB-BD31-4B8C-83A1-F6EECF244321}">
                <p14:modId xmlns:p14="http://schemas.microsoft.com/office/powerpoint/2010/main" val="1439985657"/>
              </p:ext>
            </p:extLst>
          </p:nvPr>
        </p:nvGraphicFramePr>
        <p:xfrm>
          <a:off x="942492" y="3885710"/>
          <a:ext cx="3529542" cy="365125"/>
        </p:xfrm>
        <a:graphic>
          <a:graphicData uri="http://schemas.openxmlformats.org/presentationml/2006/ole">
            <mc:AlternateContent xmlns:mc="http://schemas.openxmlformats.org/markup-compatibility/2006">
              <mc:Choice xmlns:v="urn:schemas-microsoft-com:vml" Requires="v">
                <p:oleObj spid="_x0000_s7217" r:id="rId5" imgW="1930400" imgH="203200" progId="Equation.3">
                  <p:embed/>
                </p:oleObj>
              </mc:Choice>
              <mc:Fallback>
                <p:oleObj r:id="rId5" imgW="1930400" imgH="2032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42492" y="3885710"/>
                        <a:ext cx="3529542" cy="365125"/>
                      </a:xfrm>
                      <a:prstGeom prst="rect">
                        <a:avLst/>
                      </a:prstGeom>
                      <a:noFill/>
                    </p:spPr>
                  </p:pic>
                </p:oleObj>
              </mc:Fallback>
            </mc:AlternateContent>
          </a:graphicData>
        </a:graphic>
      </p:graphicFrame>
      <p:sp>
        <p:nvSpPr>
          <p:cNvPr id="13" name="Rectangle 8">
            <a:extLst>
              <a:ext uri="{FF2B5EF4-FFF2-40B4-BE49-F238E27FC236}">
                <a16:creationId xmlns:a16="http://schemas.microsoft.com/office/drawing/2014/main" id="{3F9DACBE-01A2-4A64-8D04-9BECCDC38131}"/>
              </a:ext>
            </a:extLst>
          </p:cNvPr>
          <p:cNvSpPr>
            <a:spLocks noChangeArrowheads="1"/>
          </p:cNvSpPr>
          <p:nvPr/>
        </p:nvSpPr>
        <p:spPr bwMode="auto">
          <a:xfrm>
            <a:off x="876485" y="4806122"/>
            <a:ext cx="13862931"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graphicFrame>
        <p:nvGraphicFramePr>
          <p:cNvPr id="15" name="Object 14">
            <a:extLst>
              <a:ext uri="{FF2B5EF4-FFF2-40B4-BE49-F238E27FC236}">
                <a16:creationId xmlns:a16="http://schemas.microsoft.com/office/drawing/2014/main" id="{D73EB538-5EEB-4351-935E-6D6B81297B9A}"/>
              </a:ext>
            </a:extLst>
          </p:cNvPr>
          <p:cNvGraphicFramePr>
            <a:graphicFrameLocks noChangeAspect="1"/>
          </p:cNvGraphicFramePr>
          <p:nvPr>
            <p:extLst>
              <p:ext uri="{D42A27DB-BD31-4B8C-83A1-F6EECF244321}">
                <p14:modId xmlns:p14="http://schemas.microsoft.com/office/powerpoint/2010/main" val="3712549569"/>
              </p:ext>
            </p:extLst>
          </p:nvPr>
        </p:nvGraphicFramePr>
        <p:xfrm>
          <a:off x="928493" y="4967473"/>
          <a:ext cx="3017461" cy="360038"/>
        </p:xfrm>
        <a:graphic>
          <a:graphicData uri="http://schemas.openxmlformats.org/presentationml/2006/ole">
            <mc:AlternateContent xmlns:mc="http://schemas.openxmlformats.org/markup-compatibility/2006">
              <mc:Choice xmlns:v="urn:schemas-microsoft-com:vml" Requires="v">
                <p:oleObj spid="_x0000_s7218" r:id="rId7" imgW="1676400" imgH="203200" progId="Equation.3">
                  <p:embed/>
                </p:oleObj>
              </mc:Choice>
              <mc:Fallback>
                <p:oleObj r:id="rId7" imgW="1676400" imgH="203200"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28493" y="4967473"/>
                        <a:ext cx="3017461" cy="360038"/>
                      </a:xfrm>
                      <a:prstGeom prst="rect">
                        <a:avLst/>
                      </a:prstGeom>
                      <a:noFill/>
                    </p:spPr>
                  </p:pic>
                </p:oleObj>
              </mc:Fallback>
            </mc:AlternateContent>
          </a:graphicData>
        </a:graphic>
      </p:graphicFrame>
      <p:sp>
        <p:nvSpPr>
          <p:cNvPr id="16" name="Rectangle 10">
            <a:extLst>
              <a:ext uri="{FF2B5EF4-FFF2-40B4-BE49-F238E27FC236}">
                <a16:creationId xmlns:a16="http://schemas.microsoft.com/office/drawing/2014/main" id="{B2B84F93-7A88-466B-8C42-908B1610EA7F}"/>
              </a:ext>
            </a:extLst>
          </p:cNvPr>
          <p:cNvSpPr>
            <a:spLocks noChangeArrowheads="1"/>
          </p:cNvSpPr>
          <p:nvPr/>
        </p:nvSpPr>
        <p:spPr bwMode="auto">
          <a:xfrm>
            <a:off x="7574864" y="1825073"/>
            <a:ext cx="20041456"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graphicFrame>
        <p:nvGraphicFramePr>
          <p:cNvPr id="17" name="Object 16">
            <a:extLst>
              <a:ext uri="{FF2B5EF4-FFF2-40B4-BE49-F238E27FC236}">
                <a16:creationId xmlns:a16="http://schemas.microsoft.com/office/drawing/2014/main" id="{B45A6C75-2F98-437B-BB93-56CD75447C54}"/>
              </a:ext>
            </a:extLst>
          </p:cNvPr>
          <p:cNvGraphicFramePr>
            <a:graphicFrameLocks noChangeAspect="1"/>
          </p:cNvGraphicFramePr>
          <p:nvPr>
            <p:extLst>
              <p:ext uri="{D42A27DB-BD31-4B8C-83A1-F6EECF244321}">
                <p14:modId xmlns:p14="http://schemas.microsoft.com/office/powerpoint/2010/main" val="1094851306"/>
              </p:ext>
            </p:extLst>
          </p:nvPr>
        </p:nvGraphicFramePr>
        <p:xfrm>
          <a:off x="7807950" y="1756205"/>
          <a:ext cx="2237868" cy="483863"/>
        </p:xfrm>
        <a:graphic>
          <a:graphicData uri="http://schemas.openxmlformats.org/presentationml/2006/ole">
            <mc:AlternateContent xmlns:mc="http://schemas.openxmlformats.org/markup-compatibility/2006">
              <mc:Choice xmlns:v="urn:schemas-microsoft-com:vml" Requires="v">
                <p:oleObj spid="_x0000_s7219" r:id="rId9" imgW="1054100" imgH="228600" progId="Equation.3">
                  <p:embed/>
                </p:oleObj>
              </mc:Choice>
              <mc:Fallback>
                <p:oleObj r:id="rId9" imgW="1054100" imgH="228600" progId="Equation.3">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807950" y="1756205"/>
                        <a:ext cx="2237868" cy="483863"/>
                      </a:xfrm>
                      <a:prstGeom prst="rect">
                        <a:avLst/>
                      </a:prstGeom>
                      <a:noFill/>
                    </p:spPr>
                  </p:pic>
                </p:oleObj>
              </mc:Fallback>
            </mc:AlternateContent>
          </a:graphicData>
        </a:graphic>
      </p:graphicFrame>
      <p:sp>
        <p:nvSpPr>
          <p:cNvPr id="19" name="Rectangle 12">
            <a:extLst>
              <a:ext uri="{FF2B5EF4-FFF2-40B4-BE49-F238E27FC236}">
                <a16:creationId xmlns:a16="http://schemas.microsoft.com/office/drawing/2014/main" id="{4EC380C1-AA8D-4C5C-B626-233A9E3F81DB}"/>
              </a:ext>
            </a:extLst>
          </p:cNvPr>
          <p:cNvSpPr>
            <a:spLocks noChangeArrowheads="1"/>
          </p:cNvSpPr>
          <p:nvPr/>
        </p:nvSpPr>
        <p:spPr bwMode="auto">
          <a:xfrm>
            <a:off x="7907337" y="2647407"/>
            <a:ext cx="17781086"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graphicFrame>
        <p:nvGraphicFramePr>
          <p:cNvPr id="20" name="Object 19">
            <a:extLst>
              <a:ext uri="{FF2B5EF4-FFF2-40B4-BE49-F238E27FC236}">
                <a16:creationId xmlns:a16="http://schemas.microsoft.com/office/drawing/2014/main" id="{2FA0CB7E-76F5-4F55-9F8F-1A8F82068EDA}"/>
              </a:ext>
            </a:extLst>
          </p:cNvPr>
          <p:cNvGraphicFramePr>
            <a:graphicFrameLocks noChangeAspect="1"/>
          </p:cNvGraphicFramePr>
          <p:nvPr>
            <p:extLst>
              <p:ext uri="{D42A27DB-BD31-4B8C-83A1-F6EECF244321}">
                <p14:modId xmlns:p14="http://schemas.microsoft.com/office/powerpoint/2010/main" val="88632885"/>
              </p:ext>
            </p:extLst>
          </p:nvPr>
        </p:nvGraphicFramePr>
        <p:xfrm>
          <a:off x="7930693" y="2359911"/>
          <a:ext cx="2115125" cy="453241"/>
        </p:xfrm>
        <a:graphic>
          <a:graphicData uri="http://schemas.openxmlformats.org/presentationml/2006/ole">
            <mc:AlternateContent xmlns:mc="http://schemas.openxmlformats.org/markup-compatibility/2006">
              <mc:Choice xmlns:v="urn:schemas-microsoft-com:vml" Requires="v">
                <p:oleObj spid="_x0000_s7220" r:id="rId11" imgW="1066800" imgH="228600" progId="Equation.3">
                  <p:embed/>
                </p:oleObj>
              </mc:Choice>
              <mc:Fallback>
                <p:oleObj r:id="rId11" imgW="1066800" imgH="228600" progId="Equation.3">
                  <p:embed/>
                  <p:pic>
                    <p:nvPicPr>
                      <p:cNvPr id="0" name="Object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930693" y="2359911"/>
                        <a:ext cx="2115125" cy="453241"/>
                      </a:xfrm>
                      <a:prstGeom prst="rect">
                        <a:avLst/>
                      </a:prstGeom>
                      <a:noFill/>
                    </p:spPr>
                  </p:pic>
                </p:oleObj>
              </mc:Fallback>
            </mc:AlternateContent>
          </a:graphicData>
        </a:graphic>
      </p:graphicFrame>
    </p:spTree>
    <p:extLst>
      <p:ext uri="{BB962C8B-B14F-4D97-AF65-F5344CB8AC3E}">
        <p14:creationId xmlns:p14="http://schemas.microsoft.com/office/powerpoint/2010/main" val="19231207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Basic Concepts and Definitions</a:t>
            </a:r>
            <a:endParaRPr lang="en-US" dirty="0">
              <a:solidFill>
                <a:srgbClr val="002060"/>
              </a:solidFill>
              <a:latin typeface="Georgia" panose="02040502050405020303" pitchFamily="18" charset="0"/>
            </a:endParaRPr>
          </a:p>
        </p:txBody>
      </p:sp>
      <p:sp>
        <p:nvSpPr>
          <p:cNvPr id="3" name="Content Placeholder 2"/>
          <p:cNvSpPr>
            <a:spLocks noGrp="1"/>
          </p:cNvSpPr>
          <p:nvPr>
            <p:ph sz="half" idx="1"/>
          </p:nvPr>
        </p:nvSpPr>
        <p:spPr>
          <a:xfrm>
            <a:off x="156011" y="1008528"/>
            <a:ext cx="5836894" cy="5270076"/>
          </a:xfrm>
        </p:spPr>
        <p:txBody>
          <a:bodyPr>
            <a:noAutofit/>
          </a:bodyPr>
          <a:lstStyle/>
          <a:p>
            <a:pPr marR="0">
              <a:spcBef>
                <a:spcPts val="0"/>
              </a:spcBef>
              <a:spcAft>
                <a:spcPts val="0"/>
              </a:spcAft>
              <a:buFont typeface="Wingdings" panose="05000000000000000000" pitchFamily="2" charset="2"/>
              <a:buChar char="v"/>
            </a:pPr>
            <a:r>
              <a:rPr lang="en-US" sz="2400" b="1" dirty="0">
                <a:solidFill>
                  <a:srgbClr val="FF0000"/>
                </a:solidFill>
                <a:effectLst/>
                <a:latin typeface="Times New Roman" panose="02020603050405020304" pitchFamily="18" charset="0"/>
                <a:ea typeface="Times New Roman" panose="02020603050405020304" pitchFamily="18" charset="0"/>
              </a:rPr>
              <a:t>INTERPOLATION</a:t>
            </a:r>
            <a:endParaRPr lang="en-US" sz="2400" dirty="0">
              <a:solidFill>
                <a:srgbClr val="FF0000"/>
              </a:solidFill>
              <a:effectLst/>
              <a:latin typeface="Times New Roman" panose="02020603050405020304" pitchFamily="18" charset="0"/>
              <a:ea typeface="Times New Roman" panose="02020603050405020304" pitchFamily="18" charset="0"/>
            </a:endParaRPr>
          </a:p>
          <a:p>
            <a:pPr marL="0" marR="0">
              <a:spcBef>
                <a:spcPts val="0"/>
              </a:spcBef>
              <a:spcAft>
                <a:spcPts val="0"/>
              </a:spcAft>
              <a:buFont typeface="Wingdings" panose="05000000000000000000" pitchFamily="2" charset="2"/>
              <a:buChar char="ü"/>
            </a:pPr>
            <a:r>
              <a:rPr lang="en-US" sz="1800" dirty="0">
                <a:effectLst/>
                <a:latin typeface="Times New Roman" panose="02020603050405020304" pitchFamily="18" charset="0"/>
                <a:ea typeface="Times New Roman" panose="02020603050405020304" pitchFamily="18" charset="0"/>
                <a:cs typeface="TimesTenLTStd-Roman"/>
              </a:rPr>
              <a:t>Data encountered in solving problems often do not fall exactly on the grid of values provided by property tables, and </a:t>
            </a:r>
            <a:r>
              <a:rPr lang="en-US" sz="1800" i="1" dirty="0">
                <a:effectLst/>
                <a:latin typeface="Times New Roman" panose="02020603050405020304" pitchFamily="18" charset="0"/>
                <a:ea typeface="Times New Roman" panose="02020603050405020304" pitchFamily="18" charset="0"/>
                <a:cs typeface="TimesTenLTStd-Italic"/>
              </a:rPr>
              <a:t>linear interpolation </a:t>
            </a:r>
            <a:r>
              <a:rPr lang="en-US" sz="1800" dirty="0">
                <a:effectLst/>
                <a:latin typeface="Times New Roman" panose="02020603050405020304" pitchFamily="18" charset="0"/>
                <a:ea typeface="Times New Roman" panose="02020603050405020304" pitchFamily="18" charset="0"/>
                <a:cs typeface="TimesTenLTStd-Roman"/>
              </a:rPr>
              <a:t>between adjacent table entries</a:t>
            </a:r>
            <a:r>
              <a:rPr lang="en-US" sz="1800" dirty="0">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TenLTStd-Roman"/>
              </a:rPr>
              <a:t>becomes very necessary. Interpolation can be </a:t>
            </a:r>
            <a:r>
              <a:rPr lang="en-US" sz="1800" b="1" u="sng" dirty="0">
                <a:effectLst/>
                <a:latin typeface="Times New Roman" panose="02020603050405020304" pitchFamily="18" charset="0"/>
                <a:ea typeface="Times New Roman" panose="02020603050405020304" pitchFamily="18" charset="0"/>
                <a:cs typeface="TimesTenLTStd-Roman"/>
              </a:rPr>
              <a:t>single linear interpolation</a:t>
            </a:r>
            <a:r>
              <a:rPr lang="en-US" sz="1800" dirty="0">
                <a:effectLst/>
                <a:latin typeface="Times New Roman" panose="02020603050405020304" pitchFamily="18" charset="0"/>
                <a:ea typeface="Times New Roman" panose="02020603050405020304" pitchFamily="18" charset="0"/>
                <a:cs typeface="TimesTenLTStd-Roman"/>
              </a:rPr>
              <a:t> or </a:t>
            </a:r>
            <a:r>
              <a:rPr lang="en-US" sz="1800" b="1" i="1" dirty="0">
                <a:effectLst/>
                <a:latin typeface="Times New Roman" panose="02020603050405020304" pitchFamily="18" charset="0"/>
                <a:ea typeface="Times New Roman" panose="02020603050405020304" pitchFamily="18" charset="0"/>
                <a:cs typeface="TimesTenLTStd-Roman"/>
              </a:rPr>
              <a:t>double linear interpolation</a:t>
            </a:r>
            <a:r>
              <a:rPr lang="en-US" sz="1800" b="1" dirty="0">
                <a:effectLst/>
                <a:latin typeface="Times New Roman" panose="02020603050405020304" pitchFamily="18" charset="0"/>
                <a:ea typeface="Times New Roman" panose="02020603050405020304" pitchFamily="18" charset="0"/>
                <a:cs typeface="TimesTenLTStd-Roman"/>
              </a:rPr>
              <a:t>. </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buFont typeface="Wingdings" panose="05000000000000000000" pitchFamily="2" charset="2"/>
              <a:buChar char="ü"/>
            </a:pP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buFont typeface="Wingdings" panose="05000000000000000000" pitchFamily="2" charset="2"/>
              <a:buChar char="ü"/>
            </a:pPr>
            <a:r>
              <a:rPr lang="en-US" sz="1800" dirty="0">
                <a:effectLst/>
                <a:latin typeface="Times New Roman" panose="02020603050405020304" pitchFamily="18" charset="0"/>
                <a:ea typeface="Times New Roman" panose="02020603050405020304" pitchFamily="18" charset="0"/>
                <a:cs typeface="TimesTenLTStd-Roman"/>
              </a:rPr>
              <a:t>The example below illustrates the principles applied in single linear and double linear interpolation.</a:t>
            </a:r>
          </a:p>
          <a:p>
            <a:pPr marL="0" marR="0">
              <a:spcBef>
                <a:spcPts val="0"/>
              </a:spcBef>
              <a:spcAft>
                <a:spcPts val="0"/>
              </a:spcAft>
              <a:buFont typeface="Wingdings" panose="05000000000000000000" pitchFamily="2" charset="2"/>
              <a:buChar char="ü"/>
            </a:pPr>
            <a:endParaRPr lang="en-US" sz="1800" dirty="0">
              <a:effectLst/>
              <a:latin typeface="Times New Roman" panose="02020603050405020304" pitchFamily="18" charset="0"/>
              <a:ea typeface="Times New Roman" panose="02020603050405020304" pitchFamily="18" charset="0"/>
            </a:endParaRPr>
          </a:p>
          <a:p>
            <a:pPr>
              <a:spcBef>
                <a:spcPts val="0"/>
              </a:spcBef>
              <a:buFont typeface="Wingdings" panose="05000000000000000000" pitchFamily="2" charset="2"/>
              <a:buChar char="ü"/>
            </a:pPr>
            <a:r>
              <a:rPr lang="en-US" sz="1800" dirty="0">
                <a:effectLst/>
                <a:latin typeface="Times New Roman" panose="02020603050405020304" pitchFamily="18" charset="0"/>
                <a:ea typeface="Times New Roman" panose="02020603050405020304" pitchFamily="18" charset="0"/>
                <a:cs typeface="TimesTenLTStd-Roman"/>
              </a:rPr>
              <a:t>The following table lists temperatures and specific volumes of water vapour at two pressures:</a:t>
            </a:r>
            <a:endParaRPr lang="en-US" sz="1800" dirty="0">
              <a:effectLst/>
              <a:latin typeface="Times New Roman" panose="02020603050405020304" pitchFamily="18" charset="0"/>
              <a:ea typeface="Times New Roman" panose="02020603050405020304" pitchFamily="18" charset="0"/>
            </a:endParaRPr>
          </a:p>
          <a:p>
            <a:pPr>
              <a:spcBef>
                <a:spcPts val="0"/>
              </a:spcBef>
              <a:buFont typeface="Wingdings" panose="05000000000000000000" pitchFamily="2" charset="2"/>
              <a:buChar char="ü"/>
            </a:pP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buFont typeface="Wingdings" panose="05000000000000000000" pitchFamily="2" charset="2"/>
              <a:buChar char="ü"/>
            </a:pPr>
            <a:endParaRPr lang="en-US" sz="1800" dirty="0">
              <a:effectLst/>
              <a:latin typeface="Times New Roman" panose="02020603050405020304" pitchFamily="18" charset="0"/>
              <a:ea typeface="Times New Roman" panose="02020603050405020304" pitchFamily="18" charset="0"/>
            </a:endParaRPr>
          </a:p>
          <a:p>
            <a:pPr>
              <a:buFont typeface="Wingdings" panose="05000000000000000000" pitchFamily="2" charset="2"/>
              <a:buChar char="ü"/>
            </a:pPr>
            <a:endParaRPr lang="en-US" sz="1600" dirty="0">
              <a:effectLst/>
              <a:latin typeface="Times New Roman" panose="02020603050405020304" pitchFamily="18" charset="0"/>
              <a:ea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4801FD5-11B4-DE43-ACA2-E85EEB9A6F9C}" type="slidenum">
              <a:rPr lang="en-US" smtClean="0"/>
              <a:pPr/>
              <a:t>24</a:t>
            </a:fld>
            <a:endParaRPr lang="en-US" dirty="0"/>
          </a:p>
        </p:txBody>
      </p:sp>
      <p:sp>
        <p:nvSpPr>
          <p:cNvPr id="5" name="Content Placeholder 2"/>
          <p:cNvSpPr txBox="1">
            <a:spLocks/>
          </p:cNvSpPr>
          <p:nvPr/>
        </p:nvSpPr>
        <p:spPr>
          <a:xfrm>
            <a:off x="6351495" y="1013011"/>
            <a:ext cx="5684494" cy="5270076"/>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marL="0" indent="0">
              <a:buNone/>
            </a:pPr>
            <a:endParaRPr lang="en-US" sz="2000" dirty="0"/>
          </a:p>
        </p:txBody>
      </p:sp>
      <p:sp>
        <p:nvSpPr>
          <p:cNvPr id="14" name="Rectangle 10">
            <a:extLst>
              <a:ext uri="{FF2B5EF4-FFF2-40B4-BE49-F238E27FC236}">
                <a16:creationId xmlns:a16="http://schemas.microsoft.com/office/drawing/2014/main" id="{CEDDBD42-94D3-4737-A168-FEF93B6E94AC}"/>
              </a:ext>
            </a:extLst>
          </p:cNvPr>
          <p:cNvSpPr>
            <a:spLocks noChangeArrowheads="1"/>
          </p:cNvSpPr>
          <p:nvPr/>
        </p:nvSpPr>
        <p:spPr bwMode="auto">
          <a:xfrm>
            <a:off x="2165928" y="5932208"/>
            <a:ext cx="19597462"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18" name="Rectangle 15">
            <a:extLst>
              <a:ext uri="{FF2B5EF4-FFF2-40B4-BE49-F238E27FC236}">
                <a16:creationId xmlns:a16="http://schemas.microsoft.com/office/drawing/2014/main" id="{561870F7-9D50-4393-A979-0E2BB7F87073}"/>
              </a:ext>
            </a:extLst>
          </p:cNvPr>
          <p:cNvSpPr>
            <a:spLocks noChangeArrowheads="1"/>
          </p:cNvSpPr>
          <p:nvPr/>
        </p:nvSpPr>
        <p:spPr bwMode="auto">
          <a:xfrm>
            <a:off x="8275120" y="1799771"/>
            <a:ext cx="2388636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32" name="Rectangle 29">
            <a:extLst>
              <a:ext uri="{FF2B5EF4-FFF2-40B4-BE49-F238E27FC236}">
                <a16:creationId xmlns:a16="http://schemas.microsoft.com/office/drawing/2014/main" id="{48C953CD-DE7D-421D-9E0A-D30B31447655}"/>
              </a:ext>
            </a:extLst>
          </p:cNvPr>
          <p:cNvSpPr>
            <a:spLocks noChangeArrowheads="1"/>
          </p:cNvSpPr>
          <p:nvPr/>
        </p:nvSpPr>
        <p:spPr bwMode="auto">
          <a:xfrm>
            <a:off x="11677400" y="3874418"/>
            <a:ext cx="254752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34" name="Rectangle 31">
            <a:extLst>
              <a:ext uri="{FF2B5EF4-FFF2-40B4-BE49-F238E27FC236}">
                <a16:creationId xmlns:a16="http://schemas.microsoft.com/office/drawing/2014/main" id="{9BCAEC52-4B5D-479B-8D32-8020DA281181}"/>
              </a:ext>
            </a:extLst>
          </p:cNvPr>
          <p:cNvSpPr>
            <a:spLocks noChangeArrowheads="1"/>
          </p:cNvSpPr>
          <p:nvPr/>
        </p:nvSpPr>
        <p:spPr bwMode="auto">
          <a:xfrm>
            <a:off x="10022461" y="4830742"/>
            <a:ext cx="54890773"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36" name="Rectangle 33">
            <a:extLst>
              <a:ext uri="{FF2B5EF4-FFF2-40B4-BE49-F238E27FC236}">
                <a16:creationId xmlns:a16="http://schemas.microsoft.com/office/drawing/2014/main" id="{B950A2DB-D064-4BB5-A817-4D8C2A16CC2A}"/>
              </a:ext>
            </a:extLst>
          </p:cNvPr>
          <p:cNvSpPr>
            <a:spLocks noChangeArrowheads="1"/>
          </p:cNvSpPr>
          <p:nvPr/>
        </p:nvSpPr>
        <p:spPr bwMode="auto">
          <a:xfrm>
            <a:off x="8814894" y="4846387"/>
            <a:ext cx="16074507"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12" name="Content Placeholder 2">
            <a:extLst>
              <a:ext uri="{FF2B5EF4-FFF2-40B4-BE49-F238E27FC236}">
                <a16:creationId xmlns:a16="http://schemas.microsoft.com/office/drawing/2014/main" id="{6354A1AE-EEBF-4867-9130-6EB4FB01A5D0}"/>
              </a:ext>
            </a:extLst>
          </p:cNvPr>
          <p:cNvSpPr txBox="1">
            <a:spLocks/>
          </p:cNvSpPr>
          <p:nvPr/>
        </p:nvSpPr>
        <p:spPr>
          <a:xfrm>
            <a:off x="5985755" y="1013011"/>
            <a:ext cx="6050233" cy="5072958"/>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marL="0" marR="0" indent="0">
              <a:spcBef>
                <a:spcPts val="0"/>
              </a:spcBef>
              <a:spcAft>
                <a:spcPts val="0"/>
              </a:spcAft>
              <a:buNone/>
            </a:pPr>
            <a:r>
              <a:rPr lang="en-US" sz="1800" dirty="0">
                <a:effectLst/>
                <a:latin typeface="Times New Roman" panose="02020603050405020304" pitchFamily="18" charset="0"/>
                <a:ea typeface="Times New Roman" panose="02020603050405020304" pitchFamily="18" charset="0"/>
                <a:cs typeface="TimesTenLTStd-Roman"/>
              </a:rPr>
              <a:t>Using the data provided here, estimate </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dirty="0">
                <a:effectLst/>
                <a:latin typeface="Times New Roman" panose="02020603050405020304" pitchFamily="18" charset="0"/>
                <a:ea typeface="Times New Roman" panose="02020603050405020304" pitchFamily="18" charset="0"/>
                <a:cs typeface="TimesTenLTStd-Roman"/>
              </a:rPr>
              <a:t>(a) The specific volume at </a:t>
            </a:r>
            <a:r>
              <a:rPr lang="en-US" sz="1800" i="1" dirty="0">
                <a:effectLst/>
                <a:latin typeface="Times New Roman" panose="02020603050405020304" pitchFamily="18" charset="0"/>
                <a:ea typeface="Times New Roman" panose="02020603050405020304" pitchFamily="18" charset="0"/>
                <a:cs typeface="TimesTenLTStd-Italic"/>
              </a:rPr>
              <a:t>T=</a:t>
            </a:r>
            <a:r>
              <a:rPr lang="en-US" sz="1800" dirty="0">
                <a:effectLst/>
                <a:latin typeface="Times New Roman" panose="02020603050405020304" pitchFamily="18" charset="0"/>
                <a:ea typeface="Times New Roman" panose="02020603050405020304" pitchFamily="18" charset="0"/>
                <a:cs typeface="MathematicalPi-1"/>
              </a:rPr>
              <a:t> </a:t>
            </a:r>
            <a:r>
              <a:rPr lang="en-US" sz="1800" dirty="0">
                <a:effectLst/>
                <a:latin typeface="Times New Roman" panose="02020603050405020304" pitchFamily="18" charset="0"/>
                <a:ea typeface="Times New Roman" panose="02020603050405020304" pitchFamily="18" charset="0"/>
                <a:cs typeface="TimesTenLTStd-Roman"/>
              </a:rPr>
              <a:t>240°C, </a:t>
            </a:r>
            <a:r>
              <a:rPr lang="en-US" sz="1800" i="1" dirty="0">
                <a:effectLst/>
                <a:latin typeface="Times New Roman" panose="02020603050405020304" pitchFamily="18" charset="0"/>
                <a:ea typeface="Times New Roman" panose="02020603050405020304" pitchFamily="18" charset="0"/>
                <a:cs typeface="TimesTenLTStd-Italic"/>
              </a:rPr>
              <a:t>p =</a:t>
            </a:r>
            <a:r>
              <a:rPr lang="en-US" sz="1800" dirty="0">
                <a:effectLst/>
                <a:latin typeface="Times New Roman" panose="02020603050405020304" pitchFamily="18" charset="0"/>
                <a:ea typeface="Times New Roman" panose="02020603050405020304" pitchFamily="18" charset="0"/>
                <a:cs typeface="MathematicalPi-1"/>
              </a:rPr>
              <a:t> </a:t>
            </a:r>
            <a:r>
              <a:rPr lang="en-US" sz="1800" dirty="0">
                <a:effectLst/>
                <a:latin typeface="Times New Roman" panose="02020603050405020304" pitchFamily="18" charset="0"/>
                <a:ea typeface="Times New Roman" panose="02020603050405020304" pitchFamily="18" charset="0"/>
                <a:cs typeface="TimesTenLTStd-Roman"/>
              </a:rPr>
              <a:t>1.25 MPa, in m</a:t>
            </a:r>
            <a:r>
              <a:rPr lang="en-US" sz="1800" baseline="30000" dirty="0">
                <a:effectLst/>
                <a:latin typeface="Times New Roman" panose="02020603050405020304" pitchFamily="18" charset="0"/>
                <a:ea typeface="Times New Roman" panose="02020603050405020304" pitchFamily="18" charset="0"/>
                <a:cs typeface="TimesTenLTStd-Roman"/>
              </a:rPr>
              <a:t>3</a:t>
            </a:r>
            <a:r>
              <a:rPr lang="en-US" sz="1800" dirty="0">
                <a:effectLst/>
                <a:latin typeface="Times New Roman" panose="02020603050405020304" pitchFamily="18" charset="0"/>
                <a:ea typeface="Times New Roman" panose="02020603050405020304" pitchFamily="18" charset="0"/>
                <a:cs typeface="TimesTenLTStd-Roman"/>
              </a:rPr>
              <a:t>/kg.</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dirty="0">
                <a:effectLst/>
                <a:latin typeface="Times New Roman" panose="02020603050405020304" pitchFamily="18" charset="0"/>
                <a:ea typeface="Times New Roman" panose="02020603050405020304" pitchFamily="18" charset="0"/>
                <a:cs typeface="TimesTenLTStd-Roman"/>
              </a:rPr>
              <a:t>(b) The temperature at </a:t>
            </a:r>
            <a:r>
              <a:rPr lang="en-US" sz="1800" i="1" dirty="0">
                <a:effectLst/>
                <a:latin typeface="Times New Roman" panose="02020603050405020304" pitchFamily="18" charset="0"/>
                <a:ea typeface="Times New Roman" panose="02020603050405020304" pitchFamily="18" charset="0"/>
                <a:cs typeface="TimesTenLTStd-Italic"/>
              </a:rPr>
              <a:t>p =</a:t>
            </a:r>
            <a:r>
              <a:rPr lang="en-US" sz="1800" dirty="0">
                <a:effectLst/>
                <a:latin typeface="Times New Roman" panose="02020603050405020304" pitchFamily="18" charset="0"/>
                <a:ea typeface="Times New Roman" panose="02020603050405020304" pitchFamily="18" charset="0"/>
                <a:cs typeface="MathematicalPi-1"/>
              </a:rPr>
              <a:t> </a:t>
            </a:r>
            <a:r>
              <a:rPr lang="en-US" sz="1800" dirty="0">
                <a:effectLst/>
                <a:latin typeface="Times New Roman" panose="02020603050405020304" pitchFamily="18" charset="0"/>
                <a:ea typeface="Times New Roman" panose="02020603050405020304" pitchFamily="18" charset="0"/>
                <a:cs typeface="TimesTenLTStd-Roman"/>
              </a:rPr>
              <a:t>1.5 MPa, v =</a:t>
            </a:r>
            <a:r>
              <a:rPr lang="en-US" sz="1800" dirty="0">
                <a:effectLst/>
                <a:latin typeface="Times New Roman" panose="02020603050405020304" pitchFamily="18" charset="0"/>
                <a:ea typeface="Times New Roman" panose="02020603050405020304" pitchFamily="18" charset="0"/>
                <a:cs typeface="MathematicalPi-1"/>
              </a:rPr>
              <a:t> </a:t>
            </a:r>
            <a:r>
              <a:rPr lang="en-US" sz="1800" dirty="0">
                <a:effectLst/>
                <a:latin typeface="Times New Roman" panose="02020603050405020304" pitchFamily="18" charset="0"/>
                <a:ea typeface="Times New Roman" panose="02020603050405020304" pitchFamily="18" charset="0"/>
                <a:cs typeface="TimesTenLTStd-Roman"/>
              </a:rPr>
              <a:t>0.1555 m</a:t>
            </a:r>
            <a:r>
              <a:rPr lang="en-US" sz="1800" baseline="30000" dirty="0">
                <a:effectLst/>
                <a:latin typeface="Times New Roman" panose="02020603050405020304" pitchFamily="18" charset="0"/>
                <a:ea typeface="Times New Roman" panose="02020603050405020304" pitchFamily="18" charset="0"/>
                <a:cs typeface="TimesTenLTStd-Roman"/>
              </a:rPr>
              <a:t>3</a:t>
            </a:r>
            <a:r>
              <a:rPr lang="en-US" sz="1800" dirty="0">
                <a:effectLst/>
                <a:latin typeface="Times New Roman" panose="02020603050405020304" pitchFamily="18" charset="0"/>
                <a:ea typeface="Times New Roman" panose="02020603050405020304" pitchFamily="18" charset="0"/>
                <a:cs typeface="TimesTenLTStd-Roman"/>
              </a:rPr>
              <a:t> /kg, in °C.</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dirty="0">
                <a:effectLst/>
                <a:latin typeface="Times New Roman" panose="02020603050405020304" pitchFamily="18" charset="0"/>
                <a:ea typeface="Times New Roman" panose="02020603050405020304" pitchFamily="18" charset="0"/>
                <a:cs typeface="TimesTenLTStd-Roman"/>
              </a:rPr>
              <a:t>(c) The specific volume at </a:t>
            </a:r>
            <a:r>
              <a:rPr lang="en-US" sz="1800" i="1" dirty="0">
                <a:effectLst/>
                <a:latin typeface="Times New Roman" panose="02020603050405020304" pitchFamily="18" charset="0"/>
                <a:ea typeface="Times New Roman" panose="02020603050405020304" pitchFamily="18" charset="0"/>
                <a:cs typeface="TimesTenLTStd-Italic"/>
              </a:rPr>
              <a:t>T =</a:t>
            </a:r>
            <a:r>
              <a:rPr lang="en-US" sz="1800" dirty="0">
                <a:effectLst/>
                <a:latin typeface="Times New Roman" panose="02020603050405020304" pitchFamily="18" charset="0"/>
                <a:ea typeface="Times New Roman" panose="02020603050405020304" pitchFamily="18" charset="0"/>
                <a:cs typeface="MathematicalPi-1"/>
              </a:rPr>
              <a:t> </a:t>
            </a:r>
            <a:r>
              <a:rPr lang="en-US" sz="1800" dirty="0">
                <a:effectLst/>
                <a:latin typeface="Times New Roman" panose="02020603050405020304" pitchFamily="18" charset="0"/>
                <a:ea typeface="Times New Roman" panose="02020603050405020304" pitchFamily="18" charset="0"/>
                <a:cs typeface="TimesTenLTStd-Roman"/>
              </a:rPr>
              <a:t>220°C, </a:t>
            </a:r>
            <a:r>
              <a:rPr lang="en-US" sz="1800" i="1" dirty="0">
                <a:effectLst/>
                <a:latin typeface="Times New Roman" panose="02020603050405020304" pitchFamily="18" charset="0"/>
                <a:ea typeface="Times New Roman" panose="02020603050405020304" pitchFamily="18" charset="0"/>
                <a:cs typeface="TimesTenLTStd-Italic"/>
              </a:rPr>
              <a:t>p =</a:t>
            </a:r>
            <a:r>
              <a:rPr lang="en-US" sz="1800" dirty="0">
                <a:effectLst/>
                <a:latin typeface="Times New Roman" panose="02020603050405020304" pitchFamily="18" charset="0"/>
                <a:ea typeface="Times New Roman" panose="02020603050405020304" pitchFamily="18" charset="0"/>
                <a:cs typeface="MathematicalPi-1"/>
              </a:rPr>
              <a:t> </a:t>
            </a:r>
            <a:r>
              <a:rPr lang="en-US" sz="1800" dirty="0">
                <a:effectLst/>
                <a:latin typeface="Times New Roman" panose="02020603050405020304" pitchFamily="18" charset="0"/>
                <a:ea typeface="Times New Roman" panose="02020603050405020304" pitchFamily="18" charset="0"/>
                <a:cs typeface="TimesTenLTStd-Roman"/>
              </a:rPr>
              <a:t>1.4 MPa, in m</a:t>
            </a:r>
            <a:r>
              <a:rPr lang="en-US" sz="1800" baseline="30000" dirty="0">
                <a:effectLst/>
                <a:latin typeface="Times New Roman" panose="02020603050405020304" pitchFamily="18" charset="0"/>
                <a:ea typeface="Times New Roman" panose="02020603050405020304" pitchFamily="18" charset="0"/>
                <a:cs typeface="TimesTenLTStd-Roman"/>
              </a:rPr>
              <a:t>3</a:t>
            </a:r>
            <a:r>
              <a:rPr lang="en-US" sz="1800" dirty="0">
                <a:effectLst/>
                <a:latin typeface="Times New Roman" panose="02020603050405020304" pitchFamily="18" charset="0"/>
                <a:ea typeface="Times New Roman" panose="02020603050405020304" pitchFamily="18" charset="0"/>
                <a:cs typeface="TimesTenLTStd-Roman"/>
              </a:rPr>
              <a:t>/kg</a:t>
            </a:r>
            <a:endParaRPr lang="en-US" sz="1800" dirty="0">
              <a:effectLst/>
              <a:latin typeface="Times New Roman" panose="02020603050405020304" pitchFamily="18" charset="0"/>
              <a:ea typeface="Times New Roman" panose="02020603050405020304" pitchFamily="18" charset="0"/>
            </a:endParaRPr>
          </a:p>
          <a:p>
            <a:pPr marL="0" marR="0" indent="0" algn="ctr">
              <a:spcBef>
                <a:spcPts val="0"/>
              </a:spcBef>
              <a:spcAft>
                <a:spcPts val="0"/>
              </a:spcAft>
              <a:buNone/>
            </a:pPr>
            <a:r>
              <a:rPr lang="en-US" sz="1800" b="1" dirty="0">
                <a:effectLst/>
                <a:latin typeface="Times New Roman" panose="02020603050405020304" pitchFamily="18" charset="0"/>
                <a:ea typeface="Times New Roman" panose="02020603050405020304" pitchFamily="18" charset="0"/>
                <a:cs typeface="TimesTenLTStd-Roman"/>
              </a:rPr>
              <a:t>SOLUTION</a:t>
            </a:r>
            <a:endParaRPr lang="en-US" sz="1800" dirty="0">
              <a:effectLst/>
              <a:latin typeface="Times New Roman" panose="02020603050405020304" pitchFamily="18" charset="0"/>
              <a:ea typeface="Times New Roman" panose="02020603050405020304" pitchFamily="18" charset="0"/>
            </a:endParaRPr>
          </a:p>
          <a:p>
            <a:pPr marL="0" indent="0">
              <a:buNone/>
            </a:pPr>
            <a:r>
              <a:rPr lang="en-US" sz="1800" b="1" dirty="0">
                <a:effectLst/>
                <a:latin typeface="Times New Roman" panose="02020603050405020304" pitchFamily="18" charset="0"/>
                <a:ea typeface="Times New Roman" panose="02020603050405020304" pitchFamily="18" charset="0"/>
                <a:cs typeface="TimesTenLTStd-Roman"/>
              </a:rPr>
              <a:t>(a) </a:t>
            </a:r>
            <a:r>
              <a:rPr lang="en-US" sz="1800" dirty="0">
                <a:effectLst/>
                <a:latin typeface="Times New Roman" panose="02020603050405020304" pitchFamily="18" charset="0"/>
                <a:ea typeface="Times New Roman" panose="02020603050405020304" pitchFamily="18" charset="0"/>
                <a:cs typeface="TimesTenLTStd-Roman"/>
              </a:rPr>
              <a:t>At the temperature of 240 </a:t>
            </a:r>
            <a:r>
              <a:rPr lang="en-US" sz="1800" baseline="30000" dirty="0">
                <a:effectLst/>
                <a:latin typeface="Times New Roman" panose="02020603050405020304" pitchFamily="18" charset="0"/>
                <a:ea typeface="Times New Roman" panose="02020603050405020304" pitchFamily="18" charset="0"/>
                <a:cs typeface="TimesTenLTStd-Roman"/>
              </a:rPr>
              <a:t>0</a:t>
            </a:r>
            <a:r>
              <a:rPr lang="en-US" sz="1800" dirty="0">
                <a:effectLst/>
                <a:latin typeface="Times New Roman" panose="02020603050405020304" pitchFamily="18" charset="0"/>
                <a:ea typeface="Times New Roman" panose="02020603050405020304" pitchFamily="18" charset="0"/>
                <a:cs typeface="TimesTenLTStd-Roman"/>
              </a:rPr>
              <a:t>C, the specified pressure of 1.25 MPa falls between the table values of 1.0 MPa and 1.50 MPa. To determine the specific volume corresponding to 1.25 MPa, we think of the slope of a straight line joining the adjacent states as follows:</a:t>
            </a:r>
            <a:endParaRPr lang="en-US" sz="1800" dirty="0">
              <a:effectLst/>
              <a:latin typeface="Times New Roman" panose="02020603050405020304" pitchFamily="18" charset="0"/>
              <a:ea typeface="Times New Roman" panose="02020603050405020304" pitchFamily="18" charset="0"/>
            </a:endParaRPr>
          </a:p>
          <a:p>
            <a:pPr>
              <a:buFont typeface="Wingdings" panose="05000000000000000000" pitchFamily="2" charset="2"/>
              <a:buChar char="ü"/>
            </a:pPr>
            <a:endParaRPr lang="en-US" sz="1600" dirty="0">
              <a:latin typeface="Times New Roman" panose="02020603050405020304" pitchFamily="18" charset="0"/>
              <a:ea typeface="Times New Roman" panose="02020603050405020304" pitchFamily="18" charset="0"/>
            </a:endParaRPr>
          </a:p>
        </p:txBody>
      </p:sp>
      <p:sp>
        <p:nvSpPr>
          <p:cNvPr id="6" name="Rectangle 2">
            <a:extLst>
              <a:ext uri="{FF2B5EF4-FFF2-40B4-BE49-F238E27FC236}">
                <a16:creationId xmlns:a16="http://schemas.microsoft.com/office/drawing/2014/main" id="{9AAE94EA-246D-4E47-A830-E0813D52C101}"/>
              </a:ext>
            </a:extLst>
          </p:cNvPr>
          <p:cNvSpPr>
            <a:spLocks noChangeArrowheads="1"/>
          </p:cNvSpPr>
          <p:nvPr/>
        </p:nvSpPr>
        <p:spPr bwMode="auto">
          <a:xfrm>
            <a:off x="7506268" y="3691854"/>
            <a:ext cx="13319008"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8" name="Rectangle 4">
            <a:extLst>
              <a:ext uri="{FF2B5EF4-FFF2-40B4-BE49-F238E27FC236}">
                <a16:creationId xmlns:a16="http://schemas.microsoft.com/office/drawing/2014/main" id="{75D8E0F7-47E4-4126-B755-D13728B3AD1A}"/>
              </a:ext>
            </a:extLst>
          </p:cNvPr>
          <p:cNvSpPr>
            <a:spLocks noChangeArrowheads="1"/>
          </p:cNvSpPr>
          <p:nvPr/>
        </p:nvSpPr>
        <p:spPr bwMode="auto">
          <a:xfrm>
            <a:off x="1906153" y="2056199"/>
            <a:ext cx="13665373"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10" name="Rectangle 6">
            <a:extLst>
              <a:ext uri="{FF2B5EF4-FFF2-40B4-BE49-F238E27FC236}">
                <a16:creationId xmlns:a16="http://schemas.microsoft.com/office/drawing/2014/main" id="{A010AFAE-C3A6-4682-ACDE-17BD4CDD8728}"/>
              </a:ext>
            </a:extLst>
          </p:cNvPr>
          <p:cNvSpPr>
            <a:spLocks noChangeArrowheads="1"/>
          </p:cNvSpPr>
          <p:nvPr/>
        </p:nvSpPr>
        <p:spPr bwMode="auto">
          <a:xfrm>
            <a:off x="1073522" y="3691855"/>
            <a:ext cx="13657083"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13" name="Rectangle 8">
            <a:extLst>
              <a:ext uri="{FF2B5EF4-FFF2-40B4-BE49-F238E27FC236}">
                <a16:creationId xmlns:a16="http://schemas.microsoft.com/office/drawing/2014/main" id="{3F9DACBE-01A2-4A64-8D04-9BECCDC38131}"/>
              </a:ext>
            </a:extLst>
          </p:cNvPr>
          <p:cNvSpPr>
            <a:spLocks noChangeArrowheads="1"/>
          </p:cNvSpPr>
          <p:nvPr/>
        </p:nvSpPr>
        <p:spPr bwMode="auto">
          <a:xfrm>
            <a:off x="876485" y="4806122"/>
            <a:ext cx="13862931"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16" name="Rectangle 10">
            <a:extLst>
              <a:ext uri="{FF2B5EF4-FFF2-40B4-BE49-F238E27FC236}">
                <a16:creationId xmlns:a16="http://schemas.microsoft.com/office/drawing/2014/main" id="{B2B84F93-7A88-466B-8C42-908B1610EA7F}"/>
              </a:ext>
            </a:extLst>
          </p:cNvPr>
          <p:cNvSpPr>
            <a:spLocks noChangeArrowheads="1"/>
          </p:cNvSpPr>
          <p:nvPr/>
        </p:nvSpPr>
        <p:spPr bwMode="auto">
          <a:xfrm>
            <a:off x="7574864" y="1825073"/>
            <a:ext cx="20041456"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19" name="Rectangle 12">
            <a:extLst>
              <a:ext uri="{FF2B5EF4-FFF2-40B4-BE49-F238E27FC236}">
                <a16:creationId xmlns:a16="http://schemas.microsoft.com/office/drawing/2014/main" id="{4EC380C1-AA8D-4C5C-B626-233A9E3F81DB}"/>
              </a:ext>
            </a:extLst>
          </p:cNvPr>
          <p:cNvSpPr>
            <a:spLocks noChangeArrowheads="1"/>
          </p:cNvSpPr>
          <p:nvPr/>
        </p:nvSpPr>
        <p:spPr bwMode="auto">
          <a:xfrm>
            <a:off x="7907337" y="2647407"/>
            <a:ext cx="17781086"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pic>
        <p:nvPicPr>
          <p:cNvPr id="8199" name="Picture 1">
            <a:extLst>
              <a:ext uri="{FF2B5EF4-FFF2-40B4-BE49-F238E27FC236}">
                <a16:creationId xmlns:a16="http://schemas.microsoft.com/office/drawing/2014/main" id="{E63897C5-0199-4AFD-A019-FACE02F86E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250" y="4521925"/>
            <a:ext cx="5707713" cy="1611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020338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Basic Concepts and Definitions</a:t>
            </a:r>
            <a:endParaRPr lang="en-US" dirty="0">
              <a:solidFill>
                <a:srgbClr val="002060"/>
              </a:solidFill>
              <a:latin typeface="Georgia" panose="02040502050405020303" pitchFamily="18" charset="0"/>
            </a:endParaRPr>
          </a:p>
        </p:txBody>
      </p:sp>
      <p:sp>
        <p:nvSpPr>
          <p:cNvPr id="3" name="Content Placeholder 2"/>
          <p:cNvSpPr>
            <a:spLocks noGrp="1"/>
          </p:cNvSpPr>
          <p:nvPr>
            <p:ph sz="half" idx="1"/>
          </p:nvPr>
        </p:nvSpPr>
        <p:spPr>
          <a:xfrm>
            <a:off x="156011" y="1008528"/>
            <a:ext cx="5836894" cy="5270076"/>
          </a:xfrm>
        </p:spPr>
        <p:txBody>
          <a:bodyPr>
            <a:noAutofit/>
          </a:bodyPr>
          <a:lstStyle/>
          <a:p>
            <a:pPr marR="0">
              <a:spcBef>
                <a:spcPts val="0"/>
              </a:spcBef>
              <a:spcAft>
                <a:spcPts val="0"/>
              </a:spcAft>
              <a:buFont typeface="Wingdings" panose="05000000000000000000" pitchFamily="2" charset="2"/>
              <a:buChar char="v"/>
            </a:pPr>
            <a:r>
              <a:rPr lang="en-US" sz="2400" b="1" dirty="0">
                <a:solidFill>
                  <a:srgbClr val="FF0000"/>
                </a:solidFill>
                <a:effectLst/>
                <a:latin typeface="Times New Roman" panose="02020603050405020304" pitchFamily="18" charset="0"/>
                <a:ea typeface="Times New Roman" panose="02020603050405020304" pitchFamily="18" charset="0"/>
              </a:rPr>
              <a:t>INTERPOLATION</a:t>
            </a:r>
            <a:endParaRPr lang="en-US" sz="2400" dirty="0">
              <a:solidFill>
                <a:srgbClr val="FF0000"/>
              </a:solidFill>
              <a:effectLst/>
              <a:latin typeface="Times New Roman" panose="02020603050405020304" pitchFamily="18" charset="0"/>
              <a:ea typeface="Times New Roman" panose="02020603050405020304" pitchFamily="18" charset="0"/>
            </a:endParaRPr>
          </a:p>
          <a:p>
            <a:pPr marL="0" marR="0">
              <a:spcBef>
                <a:spcPts val="0"/>
              </a:spcBef>
              <a:spcAft>
                <a:spcPts val="0"/>
              </a:spcAft>
            </a:pPr>
            <a:endParaRPr lang="en-US" sz="1800" dirty="0">
              <a:effectLst/>
              <a:latin typeface="Times New Roman" panose="02020603050405020304" pitchFamily="18" charset="0"/>
              <a:ea typeface="Times New Roman" panose="02020603050405020304" pitchFamily="18" charset="0"/>
              <a:cs typeface="TimesTenLTStd-Roman"/>
            </a:endParaRPr>
          </a:p>
          <a:p>
            <a:pPr marL="0" marR="0">
              <a:spcBef>
                <a:spcPts val="0"/>
              </a:spcBef>
              <a:spcAft>
                <a:spcPts val="0"/>
              </a:spcAft>
            </a:pPr>
            <a:endParaRPr lang="en-US" sz="1800" dirty="0">
              <a:latin typeface="Times New Roman" panose="02020603050405020304" pitchFamily="18" charset="0"/>
              <a:ea typeface="Times New Roman" panose="02020603050405020304" pitchFamily="18" charset="0"/>
              <a:cs typeface="TimesTenLTStd-Roman"/>
            </a:endParaRPr>
          </a:p>
          <a:p>
            <a:pPr marL="0" marR="0">
              <a:spcBef>
                <a:spcPts val="0"/>
              </a:spcBef>
              <a:spcAft>
                <a:spcPts val="0"/>
              </a:spcAft>
            </a:pPr>
            <a:endParaRPr lang="en-US" sz="1800" dirty="0">
              <a:effectLst/>
              <a:latin typeface="Times New Roman" panose="02020603050405020304" pitchFamily="18" charset="0"/>
              <a:ea typeface="Times New Roman" panose="02020603050405020304" pitchFamily="18" charset="0"/>
              <a:cs typeface="TimesTenLTStd-Roman"/>
            </a:endParaRPr>
          </a:p>
          <a:p>
            <a:pPr marL="0" marR="0">
              <a:spcBef>
                <a:spcPts val="0"/>
              </a:spcBef>
              <a:spcAft>
                <a:spcPts val="0"/>
              </a:spcAft>
            </a:pPr>
            <a:endParaRPr lang="en-US" sz="1800" dirty="0">
              <a:latin typeface="Times New Roman" panose="02020603050405020304" pitchFamily="18" charset="0"/>
              <a:ea typeface="Times New Roman" panose="02020603050405020304" pitchFamily="18" charset="0"/>
              <a:cs typeface="TimesTenLTStd-Roman"/>
            </a:endParaRPr>
          </a:p>
          <a:p>
            <a:pPr marL="0" marR="0">
              <a:spcBef>
                <a:spcPts val="0"/>
              </a:spcBef>
              <a:spcAft>
                <a:spcPts val="0"/>
              </a:spcAft>
            </a:pPr>
            <a:endParaRPr lang="en-US" sz="1800" dirty="0">
              <a:effectLst/>
              <a:latin typeface="Times New Roman" panose="02020603050405020304" pitchFamily="18" charset="0"/>
              <a:ea typeface="Times New Roman" panose="02020603050405020304" pitchFamily="18" charset="0"/>
              <a:cs typeface="TimesTenLTStd-Roman"/>
            </a:endParaRPr>
          </a:p>
          <a:p>
            <a:pPr marL="0" marR="0">
              <a:spcBef>
                <a:spcPts val="0"/>
              </a:spcBef>
              <a:spcAft>
                <a:spcPts val="0"/>
              </a:spcAft>
            </a:pPr>
            <a:endParaRPr lang="en-US" sz="1800" dirty="0">
              <a:latin typeface="Times New Roman" panose="02020603050405020304" pitchFamily="18" charset="0"/>
              <a:ea typeface="Times New Roman" panose="02020603050405020304" pitchFamily="18" charset="0"/>
              <a:cs typeface="TimesTenLTStd-Roman"/>
            </a:endParaRPr>
          </a:p>
          <a:p>
            <a:pPr marL="0" marR="0">
              <a:spcBef>
                <a:spcPts val="0"/>
              </a:spcBef>
              <a:spcAft>
                <a:spcPts val="0"/>
              </a:spcAft>
            </a:pPr>
            <a:endParaRPr lang="en-US" sz="1800" dirty="0">
              <a:effectLst/>
              <a:latin typeface="Times New Roman" panose="02020603050405020304" pitchFamily="18" charset="0"/>
              <a:ea typeface="Times New Roman" panose="02020603050405020304" pitchFamily="18" charset="0"/>
              <a:cs typeface="TimesTenLTStd-Roman"/>
            </a:endParaRPr>
          </a:p>
          <a:p>
            <a:pPr marL="0" marR="0" indent="0">
              <a:spcBef>
                <a:spcPts val="0"/>
              </a:spcBef>
              <a:spcAft>
                <a:spcPts val="0"/>
              </a:spcAft>
              <a:buNone/>
            </a:pPr>
            <a:r>
              <a:rPr lang="en-US" sz="1800" dirty="0">
                <a:effectLst/>
                <a:latin typeface="Times New Roman" panose="02020603050405020304" pitchFamily="18" charset="0"/>
                <a:ea typeface="Times New Roman" panose="02020603050405020304" pitchFamily="18" charset="0"/>
                <a:cs typeface="TimesTenLTStd-Roman"/>
              </a:rPr>
              <a:t>Similar triangles (Negative Slope):</a:t>
            </a:r>
          </a:p>
          <a:p>
            <a:pPr marL="0" marR="0" indent="0">
              <a:spcBef>
                <a:spcPts val="0"/>
              </a:spcBef>
              <a:spcAft>
                <a:spcPts val="0"/>
              </a:spcAft>
              <a:buNone/>
            </a:pPr>
            <a:endParaRPr lang="en-US" sz="1800" dirty="0">
              <a:latin typeface="Times New Roman" panose="02020603050405020304" pitchFamily="18" charset="0"/>
              <a:ea typeface="Times New Roman" panose="02020603050405020304" pitchFamily="18" charset="0"/>
            </a:endParaRPr>
          </a:p>
          <a:p>
            <a:pPr marL="0" marR="0" indent="0">
              <a:spcBef>
                <a:spcPts val="0"/>
              </a:spcBef>
              <a:spcAft>
                <a:spcPts val="0"/>
              </a:spcAft>
              <a:buNone/>
            </a:pP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endParaRPr lang="en-US" sz="1800" dirty="0">
              <a:latin typeface="Times New Roman" panose="02020603050405020304" pitchFamily="18" charset="0"/>
              <a:ea typeface="Times New Roman" panose="02020603050405020304" pitchFamily="18" charset="0"/>
            </a:endParaRPr>
          </a:p>
          <a:p>
            <a:pPr marL="0" indent="0">
              <a:spcBef>
                <a:spcPts val="0"/>
              </a:spcBef>
              <a:buNone/>
            </a:pPr>
            <a:r>
              <a:rPr lang="en-US" sz="1800" b="1" dirty="0">
                <a:effectLst/>
                <a:latin typeface="Times New Roman" panose="02020603050405020304" pitchFamily="18" charset="0"/>
                <a:ea typeface="Times New Roman" panose="02020603050405020304" pitchFamily="18" charset="0"/>
                <a:cs typeface="TimesTenLTStd-Roman"/>
              </a:rPr>
              <a:t>(b)</a:t>
            </a:r>
            <a:r>
              <a:rPr lang="en-US" sz="1800" dirty="0">
                <a:effectLst/>
                <a:latin typeface="Times New Roman" panose="02020603050405020304" pitchFamily="18" charset="0"/>
                <a:ea typeface="Times New Roman" panose="02020603050405020304" pitchFamily="18" charset="0"/>
                <a:cs typeface="TimesTenLTStd-Roman"/>
              </a:rPr>
              <a:t> At a pressure of 1.5 MPa, the given specific volume of 0.1555 m</a:t>
            </a:r>
            <a:r>
              <a:rPr lang="en-US" sz="1800" baseline="30000" dirty="0">
                <a:effectLst/>
                <a:latin typeface="Times New Roman" panose="02020603050405020304" pitchFamily="18" charset="0"/>
                <a:ea typeface="Times New Roman" panose="02020603050405020304" pitchFamily="18" charset="0"/>
                <a:cs typeface="TimesTenLTStd-Roman"/>
              </a:rPr>
              <a:t>3</a:t>
            </a:r>
            <a:r>
              <a:rPr lang="en-US" sz="1800" dirty="0">
                <a:effectLst/>
                <a:latin typeface="Times New Roman" panose="02020603050405020304" pitchFamily="18" charset="0"/>
                <a:ea typeface="Times New Roman" panose="02020603050405020304" pitchFamily="18" charset="0"/>
                <a:cs typeface="TimesTenLTStd-Roman"/>
              </a:rPr>
              <a:t>/kg falls between the table values of 240  </a:t>
            </a:r>
            <a:r>
              <a:rPr lang="en-US" sz="1800" baseline="30000" dirty="0">
                <a:effectLst/>
                <a:latin typeface="Times New Roman" panose="02020603050405020304" pitchFamily="18" charset="0"/>
                <a:ea typeface="Times New Roman" panose="02020603050405020304" pitchFamily="18" charset="0"/>
                <a:cs typeface="TimesTenLTStd-Roman"/>
              </a:rPr>
              <a:t>0</a:t>
            </a:r>
            <a:r>
              <a:rPr lang="en-US" sz="1800" dirty="0">
                <a:effectLst/>
                <a:latin typeface="Times New Roman" panose="02020603050405020304" pitchFamily="18" charset="0"/>
                <a:ea typeface="Times New Roman" panose="02020603050405020304" pitchFamily="18" charset="0"/>
                <a:cs typeface="TimesTenLTStd-Roman"/>
              </a:rPr>
              <a:t>C and 280  </a:t>
            </a:r>
            <a:r>
              <a:rPr lang="en-US" sz="1800" baseline="30000" dirty="0">
                <a:effectLst/>
                <a:latin typeface="Times New Roman" panose="02020603050405020304" pitchFamily="18" charset="0"/>
                <a:ea typeface="Times New Roman" panose="02020603050405020304" pitchFamily="18" charset="0"/>
                <a:cs typeface="TimesTenLTStd-Roman"/>
              </a:rPr>
              <a:t>0</a:t>
            </a:r>
            <a:r>
              <a:rPr lang="en-US" sz="1800" dirty="0">
                <a:effectLst/>
                <a:latin typeface="Times New Roman" panose="02020603050405020304" pitchFamily="18" charset="0"/>
                <a:ea typeface="Times New Roman" panose="02020603050405020304" pitchFamily="18" charset="0"/>
                <a:cs typeface="TimesTenLTStd-Roman"/>
              </a:rPr>
              <a:t>C.  To determine the temperature corresponding to the given specific volume, we think of the slope of a line joining the adjacent table states, as follows: </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buFont typeface="Wingdings" panose="05000000000000000000" pitchFamily="2" charset="2"/>
              <a:buChar char="ü"/>
            </a:pPr>
            <a:endParaRPr lang="en-US" sz="1800" dirty="0">
              <a:effectLst/>
              <a:latin typeface="Times New Roman" panose="02020603050405020304" pitchFamily="18" charset="0"/>
              <a:ea typeface="Times New Roman" panose="02020603050405020304" pitchFamily="18" charset="0"/>
            </a:endParaRPr>
          </a:p>
          <a:p>
            <a:pPr>
              <a:buFont typeface="Wingdings" panose="05000000000000000000" pitchFamily="2" charset="2"/>
              <a:buChar char="ü"/>
            </a:pPr>
            <a:endParaRPr lang="en-US" sz="1600" dirty="0">
              <a:effectLst/>
              <a:latin typeface="Times New Roman" panose="02020603050405020304" pitchFamily="18" charset="0"/>
              <a:ea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4801FD5-11B4-DE43-ACA2-E85EEB9A6F9C}" type="slidenum">
              <a:rPr lang="en-US" smtClean="0"/>
              <a:pPr/>
              <a:t>25</a:t>
            </a:fld>
            <a:endParaRPr lang="en-US" dirty="0"/>
          </a:p>
        </p:txBody>
      </p:sp>
      <p:sp>
        <p:nvSpPr>
          <p:cNvPr id="5" name="Content Placeholder 2"/>
          <p:cNvSpPr txBox="1">
            <a:spLocks/>
          </p:cNvSpPr>
          <p:nvPr/>
        </p:nvSpPr>
        <p:spPr>
          <a:xfrm>
            <a:off x="6351495" y="1013011"/>
            <a:ext cx="5684494" cy="5270076"/>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marL="0" indent="0">
              <a:buNone/>
            </a:pPr>
            <a:endParaRPr lang="en-US" sz="2000" dirty="0"/>
          </a:p>
        </p:txBody>
      </p:sp>
      <p:sp>
        <p:nvSpPr>
          <p:cNvPr id="14" name="Rectangle 10">
            <a:extLst>
              <a:ext uri="{FF2B5EF4-FFF2-40B4-BE49-F238E27FC236}">
                <a16:creationId xmlns:a16="http://schemas.microsoft.com/office/drawing/2014/main" id="{CEDDBD42-94D3-4737-A168-FEF93B6E94AC}"/>
              </a:ext>
            </a:extLst>
          </p:cNvPr>
          <p:cNvSpPr>
            <a:spLocks noChangeArrowheads="1"/>
          </p:cNvSpPr>
          <p:nvPr/>
        </p:nvSpPr>
        <p:spPr bwMode="auto">
          <a:xfrm>
            <a:off x="2165928" y="5932208"/>
            <a:ext cx="19597462"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18" name="Rectangle 15">
            <a:extLst>
              <a:ext uri="{FF2B5EF4-FFF2-40B4-BE49-F238E27FC236}">
                <a16:creationId xmlns:a16="http://schemas.microsoft.com/office/drawing/2014/main" id="{561870F7-9D50-4393-A979-0E2BB7F87073}"/>
              </a:ext>
            </a:extLst>
          </p:cNvPr>
          <p:cNvSpPr>
            <a:spLocks noChangeArrowheads="1"/>
          </p:cNvSpPr>
          <p:nvPr/>
        </p:nvSpPr>
        <p:spPr bwMode="auto">
          <a:xfrm>
            <a:off x="8275120" y="1799771"/>
            <a:ext cx="2388636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32" name="Rectangle 29">
            <a:extLst>
              <a:ext uri="{FF2B5EF4-FFF2-40B4-BE49-F238E27FC236}">
                <a16:creationId xmlns:a16="http://schemas.microsoft.com/office/drawing/2014/main" id="{48C953CD-DE7D-421D-9E0A-D30B31447655}"/>
              </a:ext>
            </a:extLst>
          </p:cNvPr>
          <p:cNvSpPr>
            <a:spLocks noChangeArrowheads="1"/>
          </p:cNvSpPr>
          <p:nvPr/>
        </p:nvSpPr>
        <p:spPr bwMode="auto">
          <a:xfrm>
            <a:off x="11677400" y="3874418"/>
            <a:ext cx="254752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34" name="Rectangle 31">
            <a:extLst>
              <a:ext uri="{FF2B5EF4-FFF2-40B4-BE49-F238E27FC236}">
                <a16:creationId xmlns:a16="http://schemas.microsoft.com/office/drawing/2014/main" id="{9BCAEC52-4B5D-479B-8D32-8020DA281181}"/>
              </a:ext>
            </a:extLst>
          </p:cNvPr>
          <p:cNvSpPr>
            <a:spLocks noChangeArrowheads="1"/>
          </p:cNvSpPr>
          <p:nvPr/>
        </p:nvSpPr>
        <p:spPr bwMode="auto">
          <a:xfrm>
            <a:off x="10022461" y="4830742"/>
            <a:ext cx="54890773"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36" name="Rectangle 33">
            <a:extLst>
              <a:ext uri="{FF2B5EF4-FFF2-40B4-BE49-F238E27FC236}">
                <a16:creationId xmlns:a16="http://schemas.microsoft.com/office/drawing/2014/main" id="{B950A2DB-D064-4BB5-A817-4D8C2A16CC2A}"/>
              </a:ext>
            </a:extLst>
          </p:cNvPr>
          <p:cNvSpPr>
            <a:spLocks noChangeArrowheads="1"/>
          </p:cNvSpPr>
          <p:nvPr/>
        </p:nvSpPr>
        <p:spPr bwMode="auto">
          <a:xfrm>
            <a:off x="8814894" y="4846387"/>
            <a:ext cx="16074507"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12" name="Content Placeholder 2">
            <a:extLst>
              <a:ext uri="{FF2B5EF4-FFF2-40B4-BE49-F238E27FC236}">
                <a16:creationId xmlns:a16="http://schemas.microsoft.com/office/drawing/2014/main" id="{6354A1AE-EEBF-4867-9130-6EB4FB01A5D0}"/>
              </a:ext>
            </a:extLst>
          </p:cNvPr>
          <p:cNvSpPr txBox="1">
            <a:spLocks/>
          </p:cNvSpPr>
          <p:nvPr/>
        </p:nvSpPr>
        <p:spPr>
          <a:xfrm>
            <a:off x="5985755" y="3238615"/>
            <a:ext cx="6050233" cy="2847354"/>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marL="0" marR="0" indent="0">
              <a:spcBef>
                <a:spcPts val="0"/>
              </a:spcBef>
              <a:spcAft>
                <a:spcPts val="0"/>
              </a:spcAft>
              <a:buNone/>
            </a:pPr>
            <a:r>
              <a:rPr lang="en-US" sz="1800" dirty="0">
                <a:effectLst/>
                <a:latin typeface="Times New Roman" panose="02020603050405020304" pitchFamily="18" charset="0"/>
                <a:ea typeface="Times New Roman" panose="02020603050405020304" pitchFamily="18" charset="0"/>
                <a:cs typeface="TimesTenLTStd-Roman"/>
              </a:rPr>
              <a:t>Similar triangles (</a:t>
            </a:r>
            <a:r>
              <a:rPr lang="en-US" sz="1800" dirty="0">
                <a:latin typeface="Times New Roman" panose="02020603050405020304" pitchFamily="18" charset="0"/>
                <a:ea typeface="Times New Roman" panose="02020603050405020304" pitchFamily="18" charset="0"/>
                <a:cs typeface="TimesTenLTStd-Roman"/>
              </a:rPr>
              <a:t>Posi</a:t>
            </a:r>
            <a:r>
              <a:rPr lang="en-US" sz="1800" dirty="0">
                <a:effectLst/>
                <a:latin typeface="Times New Roman" panose="02020603050405020304" pitchFamily="18" charset="0"/>
                <a:ea typeface="Times New Roman" panose="02020603050405020304" pitchFamily="18" charset="0"/>
                <a:cs typeface="TimesTenLTStd-Roman"/>
              </a:rPr>
              <a:t>tive Slope):</a:t>
            </a:r>
          </a:p>
          <a:p>
            <a:pPr marL="0" marR="0" indent="0">
              <a:spcBef>
                <a:spcPts val="0"/>
              </a:spcBef>
              <a:spcAft>
                <a:spcPts val="0"/>
              </a:spcAft>
              <a:buNone/>
            </a:pPr>
            <a:endParaRPr lang="en-US" sz="1800" dirty="0">
              <a:latin typeface="Times New Roman" panose="02020603050405020304" pitchFamily="18" charset="0"/>
              <a:ea typeface="Times New Roman" panose="02020603050405020304" pitchFamily="18" charset="0"/>
              <a:cs typeface="TimesTenLTStd-Roman"/>
            </a:endParaRPr>
          </a:p>
          <a:p>
            <a:pPr marL="0" marR="0" indent="0">
              <a:spcBef>
                <a:spcPts val="0"/>
              </a:spcBef>
              <a:spcAft>
                <a:spcPts val="0"/>
              </a:spcAft>
              <a:buNone/>
            </a:pPr>
            <a:endParaRPr lang="en-US" sz="1800" dirty="0">
              <a:effectLst/>
              <a:latin typeface="Times New Roman" panose="02020603050405020304" pitchFamily="18" charset="0"/>
              <a:ea typeface="Times New Roman" panose="02020603050405020304" pitchFamily="18" charset="0"/>
              <a:cs typeface="TimesTenLTStd-Roman"/>
            </a:endParaRPr>
          </a:p>
          <a:p>
            <a:pPr marL="0" marR="0" indent="0">
              <a:spcBef>
                <a:spcPts val="0"/>
              </a:spcBef>
              <a:spcAft>
                <a:spcPts val="0"/>
              </a:spcAft>
              <a:buNone/>
            </a:pPr>
            <a:endParaRPr lang="en-US" sz="1800" b="1" dirty="0">
              <a:effectLst/>
              <a:latin typeface="Times New Roman" panose="02020603050405020304" pitchFamily="18" charset="0"/>
              <a:ea typeface="Times New Roman" panose="02020603050405020304" pitchFamily="18" charset="0"/>
              <a:cs typeface="TimesTenLTStd-Roman"/>
            </a:endParaRPr>
          </a:p>
          <a:p>
            <a:pPr marL="0" marR="0" indent="0">
              <a:spcBef>
                <a:spcPts val="0"/>
              </a:spcBef>
              <a:spcAft>
                <a:spcPts val="0"/>
              </a:spcAft>
              <a:buNone/>
            </a:pPr>
            <a:r>
              <a:rPr lang="en-US" sz="1800" b="1" dirty="0">
                <a:effectLst/>
                <a:latin typeface="Times New Roman" panose="02020603050405020304" pitchFamily="18" charset="0"/>
                <a:ea typeface="Times New Roman" panose="02020603050405020304" pitchFamily="18" charset="0"/>
                <a:cs typeface="TimesTenLTStd-Roman"/>
              </a:rPr>
              <a:t>(c)</a:t>
            </a:r>
            <a:r>
              <a:rPr lang="en-US" sz="1800" dirty="0">
                <a:effectLst/>
                <a:latin typeface="Times New Roman" panose="02020603050405020304" pitchFamily="18" charset="0"/>
                <a:ea typeface="Times New Roman" panose="02020603050405020304" pitchFamily="18" charset="0"/>
                <a:cs typeface="TimesTenLTStd-Roman"/>
              </a:rPr>
              <a:t> In this case, the specified pressure falls between the table values of 1.0 MPa and 1.5 MPa and the specified temperature also falls between the table values of 200 </a:t>
            </a:r>
            <a:r>
              <a:rPr lang="en-US" sz="1800" baseline="30000" dirty="0">
                <a:effectLst/>
                <a:latin typeface="Times New Roman" panose="02020603050405020304" pitchFamily="18" charset="0"/>
                <a:ea typeface="Times New Roman" panose="02020603050405020304" pitchFamily="18" charset="0"/>
                <a:cs typeface="TimesTenLTStd-Roman"/>
              </a:rPr>
              <a:t>0</a:t>
            </a:r>
            <a:r>
              <a:rPr lang="en-US" sz="1800" dirty="0">
                <a:effectLst/>
                <a:latin typeface="Times New Roman" panose="02020603050405020304" pitchFamily="18" charset="0"/>
                <a:ea typeface="Times New Roman" panose="02020603050405020304" pitchFamily="18" charset="0"/>
                <a:cs typeface="TimesTenLTStd-Roman"/>
              </a:rPr>
              <a:t>C and 240 </a:t>
            </a:r>
            <a:r>
              <a:rPr lang="en-US" sz="1800" baseline="30000" dirty="0">
                <a:effectLst/>
                <a:latin typeface="Times New Roman" panose="02020603050405020304" pitchFamily="18" charset="0"/>
                <a:ea typeface="Times New Roman" panose="02020603050405020304" pitchFamily="18" charset="0"/>
                <a:cs typeface="TimesTenLTStd-Roman"/>
              </a:rPr>
              <a:t>0</a:t>
            </a:r>
            <a:r>
              <a:rPr lang="en-US" sz="1800" dirty="0">
                <a:effectLst/>
                <a:latin typeface="Times New Roman" panose="02020603050405020304" pitchFamily="18" charset="0"/>
                <a:ea typeface="Times New Roman" panose="02020603050405020304" pitchFamily="18" charset="0"/>
                <a:cs typeface="TimesTenLTStd-Roman"/>
              </a:rPr>
              <a:t>C.</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dirty="0">
                <a:effectLst/>
                <a:latin typeface="Times New Roman" panose="02020603050405020304" pitchFamily="18" charset="0"/>
                <a:ea typeface="Times New Roman" panose="02020603050405020304" pitchFamily="18" charset="0"/>
                <a:cs typeface="TimesTenLTStd-Roman"/>
              </a:rPr>
              <a:t>Thus,</a:t>
            </a:r>
            <a:r>
              <a:rPr lang="en-US" sz="1800" b="1" u="sng" dirty="0">
                <a:effectLst/>
                <a:latin typeface="Times New Roman" panose="02020603050405020304" pitchFamily="18" charset="0"/>
                <a:ea typeface="Times New Roman" panose="02020603050405020304" pitchFamily="18" charset="0"/>
                <a:cs typeface="TimesTenLTStd-Roman"/>
              </a:rPr>
              <a:t> double </a:t>
            </a:r>
            <a:r>
              <a:rPr lang="en-US" sz="1800" dirty="0">
                <a:effectLst/>
                <a:latin typeface="Times New Roman" panose="02020603050405020304" pitchFamily="18" charset="0"/>
                <a:ea typeface="Times New Roman" panose="02020603050405020304" pitchFamily="18" charset="0"/>
                <a:cs typeface="TimesTenLTStd-Roman"/>
              </a:rPr>
              <a:t>interpolation is required.</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endParaRPr lang="en-US" sz="1800" dirty="0">
              <a:effectLst/>
              <a:latin typeface="Times New Roman" panose="02020603050405020304" pitchFamily="18" charset="0"/>
              <a:ea typeface="Times New Roman" panose="02020603050405020304" pitchFamily="18" charset="0"/>
              <a:cs typeface="TimesTenLTStd-Roman"/>
            </a:endParaRPr>
          </a:p>
          <a:p>
            <a:pPr marL="0" marR="0" indent="0">
              <a:spcBef>
                <a:spcPts val="0"/>
              </a:spcBef>
              <a:spcAft>
                <a:spcPts val="0"/>
              </a:spcAft>
              <a:buNone/>
            </a:pPr>
            <a:endParaRPr lang="en-US" sz="1800" dirty="0">
              <a:latin typeface="Times New Roman" panose="02020603050405020304" pitchFamily="18" charset="0"/>
              <a:ea typeface="Times New Roman" panose="02020603050405020304" pitchFamily="18" charset="0"/>
              <a:cs typeface="TimesTenLTStd-Roman"/>
            </a:endParaRPr>
          </a:p>
          <a:p>
            <a:pPr marL="0" marR="0" indent="0">
              <a:spcBef>
                <a:spcPts val="0"/>
              </a:spcBef>
              <a:spcAft>
                <a:spcPts val="0"/>
              </a:spcAft>
              <a:buNone/>
            </a:pPr>
            <a:endParaRPr lang="en-US" sz="1800" dirty="0">
              <a:effectLst/>
              <a:latin typeface="Times New Roman" panose="02020603050405020304" pitchFamily="18" charset="0"/>
              <a:ea typeface="Times New Roman" panose="02020603050405020304" pitchFamily="18" charset="0"/>
              <a:cs typeface="TimesTenLTStd-Roman"/>
            </a:endParaRPr>
          </a:p>
          <a:p>
            <a:pPr marL="0" marR="0" indent="0">
              <a:spcBef>
                <a:spcPts val="0"/>
              </a:spcBef>
              <a:spcAft>
                <a:spcPts val="0"/>
              </a:spcAft>
              <a:buNone/>
            </a:pPr>
            <a:endParaRPr lang="en-US" sz="1800" dirty="0">
              <a:effectLst/>
              <a:latin typeface="Times New Roman" panose="02020603050405020304" pitchFamily="18" charset="0"/>
              <a:ea typeface="Times New Roman" panose="02020603050405020304" pitchFamily="18" charset="0"/>
              <a:cs typeface="TimesTenLTStd-Roman"/>
            </a:endParaRPr>
          </a:p>
        </p:txBody>
      </p:sp>
      <p:sp>
        <p:nvSpPr>
          <p:cNvPr id="6" name="Rectangle 2">
            <a:extLst>
              <a:ext uri="{FF2B5EF4-FFF2-40B4-BE49-F238E27FC236}">
                <a16:creationId xmlns:a16="http://schemas.microsoft.com/office/drawing/2014/main" id="{9AAE94EA-246D-4E47-A830-E0813D52C101}"/>
              </a:ext>
            </a:extLst>
          </p:cNvPr>
          <p:cNvSpPr>
            <a:spLocks noChangeArrowheads="1"/>
          </p:cNvSpPr>
          <p:nvPr/>
        </p:nvSpPr>
        <p:spPr bwMode="auto">
          <a:xfrm>
            <a:off x="7506268" y="3691854"/>
            <a:ext cx="13319008"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8" name="Rectangle 4">
            <a:extLst>
              <a:ext uri="{FF2B5EF4-FFF2-40B4-BE49-F238E27FC236}">
                <a16:creationId xmlns:a16="http://schemas.microsoft.com/office/drawing/2014/main" id="{75D8E0F7-47E4-4126-B755-D13728B3AD1A}"/>
              </a:ext>
            </a:extLst>
          </p:cNvPr>
          <p:cNvSpPr>
            <a:spLocks noChangeArrowheads="1"/>
          </p:cNvSpPr>
          <p:nvPr/>
        </p:nvSpPr>
        <p:spPr bwMode="auto">
          <a:xfrm>
            <a:off x="1906153" y="2056199"/>
            <a:ext cx="13665373"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10" name="Rectangle 6">
            <a:extLst>
              <a:ext uri="{FF2B5EF4-FFF2-40B4-BE49-F238E27FC236}">
                <a16:creationId xmlns:a16="http://schemas.microsoft.com/office/drawing/2014/main" id="{A010AFAE-C3A6-4682-ACDE-17BD4CDD8728}"/>
              </a:ext>
            </a:extLst>
          </p:cNvPr>
          <p:cNvSpPr>
            <a:spLocks noChangeArrowheads="1"/>
          </p:cNvSpPr>
          <p:nvPr/>
        </p:nvSpPr>
        <p:spPr bwMode="auto">
          <a:xfrm>
            <a:off x="1073522" y="3691855"/>
            <a:ext cx="13657083"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13" name="Rectangle 8">
            <a:extLst>
              <a:ext uri="{FF2B5EF4-FFF2-40B4-BE49-F238E27FC236}">
                <a16:creationId xmlns:a16="http://schemas.microsoft.com/office/drawing/2014/main" id="{3F9DACBE-01A2-4A64-8D04-9BECCDC38131}"/>
              </a:ext>
            </a:extLst>
          </p:cNvPr>
          <p:cNvSpPr>
            <a:spLocks noChangeArrowheads="1"/>
          </p:cNvSpPr>
          <p:nvPr/>
        </p:nvSpPr>
        <p:spPr bwMode="auto">
          <a:xfrm>
            <a:off x="876485" y="4806122"/>
            <a:ext cx="13862931"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16" name="Rectangle 10">
            <a:extLst>
              <a:ext uri="{FF2B5EF4-FFF2-40B4-BE49-F238E27FC236}">
                <a16:creationId xmlns:a16="http://schemas.microsoft.com/office/drawing/2014/main" id="{B2B84F93-7A88-466B-8C42-908B1610EA7F}"/>
              </a:ext>
            </a:extLst>
          </p:cNvPr>
          <p:cNvSpPr>
            <a:spLocks noChangeArrowheads="1"/>
          </p:cNvSpPr>
          <p:nvPr/>
        </p:nvSpPr>
        <p:spPr bwMode="auto">
          <a:xfrm>
            <a:off x="7574864" y="1825073"/>
            <a:ext cx="20041456"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19" name="Rectangle 12">
            <a:extLst>
              <a:ext uri="{FF2B5EF4-FFF2-40B4-BE49-F238E27FC236}">
                <a16:creationId xmlns:a16="http://schemas.microsoft.com/office/drawing/2014/main" id="{4EC380C1-AA8D-4C5C-B626-233A9E3F81DB}"/>
              </a:ext>
            </a:extLst>
          </p:cNvPr>
          <p:cNvSpPr>
            <a:spLocks noChangeArrowheads="1"/>
          </p:cNvSpPr>
          <p:nvPr/>
        </p:nvSpPr>
        <p:spPr bwMode="auto">
          <a:xfrm>
            <a:off x="7907337" y="2647407"/>
            <a:ext cx="17781086"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pic>
        <p:nvPicPr>
          <p:cNvPr id="20" name="Picture 2">
            <a:extLst>
              <a:ext uri="{FF2B5EF4-FFF2-40B4-BE49-F238E27FC236}">
                <a16:creationId xmlns:a16="http://schemas.microsoft.com/office/drawing/2014/main" id="{10485F2F-2570-46E7-B2F8-3B220DA422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953" y="1534459"/>
            <a:ext cx="5620493" cy="1778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2">
            <a:extLst>
              <a:ext uri="{FF2B5EF4-FFF2-40B4-BE49-F238E27FC236}">
                <a16:creationId xmlns:a16="http://schemas.microsoft.com/office/drawing/2014/main" id="{A465F0DA-8D6A-478F-B57D-7ED3D25FEC60}"/>
              </a:ext>
            </a:extLst>
          </p:cNvPr>
          <p:cNvSpPr>
            <a:spLocks noChangeArrowheads="1"/>
          </p:cNvSpPr>
          <p:nvPr/>
        </p:nvSpPr>
        <p:spPr bwMode="auto">
          <a:xfrm>
            <a:off x="105852" y="3865069"/>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graphicFrame>
        <p:nvGraphicFramePr>
          <p:cNvPr id="9" name="Object 8">
            <a:extLst>
              <a:ext uri="{FF2B5EF4-FFF2-40B4-BE49-F238E27FC236}">
                <a16:creationId xmlns:a16="http://schemas.microsoft.com/office/drawing/2014/main" id="{898C12A2-F160-4060-B7FF-AA3221BF03B4}"/>
              </a:ext>
            </a:extLst>
          </p:cNvPr>
          <p:cNvGraphicFramePr>
            <a:graphicFrameLocks noChangeAspect="1"/>
          </p:cNvGraphicFramePr>
          <p:nvPr>
            <p:extLst>
              <p:ext uri="{D42A27DB-BD31-4B8C-83A1-F6EECF244321}">
                <p14:modId xmlns:p14="http://schemas.microsoft.com/office/powerpoint/2010/main" val="1094550624"/>
              </p:ext>
            </p:extLst>
          </p:nvPr>
        </p:nvGraphicFramePr>
        <p:xfrm>
          <a:off x="105851" y="3865069"/>
          <a:ext cx="5529623" cy="475202"/>
        </p:xfrm>
        <a:graphic>
          <a:graphicData uri="http://schemas.openxmlformats.org/presentationml/2006/ole">
            <mc:AlternateContent xmlns:mc="http://schemas.openxmlformats.org/markup-compatibility/2006">
              <mc:Choice xmlns:v="urn:schemas-microsoft-com:vml" Requires="v">
                <p:oleObj spid="_x0000_s9232" r:id="rId4" imgW="5029200" imgH="431800" progId="Equation.3">
                  <p:embed/>
                </p:oleObj>
              </mc:Choice>
              <mc:Fallback>
                <p:oleObj r:id="rId4" imgW="5029200" imgH="431800" progId="Equation.3">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5851" y="3865069"/>
                        <a:ext cx="5529623" cy="475202"/>
                      </a:xfrm>
                      <a:prstGeom prst="rect">
                        <a:avLst/>
                      </a:prstGeom>
                      <a:noFill/>
                    </p:spPr>
                  </p:pic>
                </p:oleObj>
              </mc:Fallback>
            </mc:AlternateContent>
          </a:graphicData>
        </a:graphic>
      </p:graphicFrame>
      <p:pic>
        <p:nvPicPr>
          <p:cNvPr id="9219" name="Picture 19">
            <a:extLst>
              <a:ext uri="{FF2B5EF4-FFF2-40B4-BE49-F238E27FC236}">
                <a16:creationId xmlns:a16="http://schemas.microsoft.com/office/drawing/2014/main" id="{C46B808F-358D-40DE-B96D-1CAA55AA7CF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38098" y="1069962"/>
            <a:ext cx="3934352" cy="205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5">
            <a:extLst>
              <a:ext uri="{FF2B5EF4-FFF2-40B4-BE49-F238E27FC236}">
                <a16:creationId xmlns:a16="http://schemas.microsoft.com/office/drawing/2014/main" id="{66B1E977-1F91-4D60-AF5B-80025E43333C}"/>
              </a:ext>
            </a:extLst>
          </p:cNvPr>
          <p:cNvSpPr>
            <a:spLocks noChangeArrowheads="1"/>
          </p:cNvSpPr>
          <p:nvPr/>
        </p:nvSpPr>
        <p:spPr bwMode="auto">
          <a:xfrm>
            <a:off x="6191733" y="395768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5" name="Object 14">
            <a:extLst>
              <a:ext uri="{FF2B5EF4-FFF2-40B4-BE49-F238E27FC236}">
                <a16:creationId xmlns:a16="http://schemas.microsoft.com/office/drawing/2014/main" id="{E47D77CB-E0A3-4DF8-8070-59316173E145}"/>
              </a:ext>
            </a:extLst>
          </p:cNvPr>
          <p:cNvGraphicFramePr>
            <a:graphicFrameLocks noChangeAspect="1"/>
          </p:cNvGraphicFramePr>
          <p:nvPr>
            <p:extLst>
              <p:ext uri="{D42A27DB-BD31-4B8C-83A1-F6EECF244321}">
                <p14:modId xmlns:p14="http://schemas.microsoft.com/office/powerpoint/2010/main" val="471048027"/>
              </p:ext>
            </p:extLst>
          </p:nvPr>
        </p:nvGraphicFramePr>
        <p:xfrm>
          <a:off x="6191733" y="3617071"/>
          <a:ext cx="5210175" cy="428625"/>
        </p:xfrm>
        <a:graphic>
          <a:graphicData uri="http://schemas.openxmlformats.org/presentationml/2006/ole">
            <mc:AlternateContent xmlns:mc="http://schemas.openxmlformats.org/markup-compatibility/2006">
              <mc:Choice xmlns:v="urn:schemas-microsoft-com:vml" Requires="v">
                <p:oleObj spid="_x0000_s9233" r:id="rId7" imgW="5207000" imgH="431800" progId="Equation.3">
                  <p:embed/>
                </p:oleObj>
              </mc:Choice>
              <mc:Fallback>
                <p:oleObj r:id="rId7" imgW="5207000" imgH="4318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191733" y="3617071"/>
                        <a:ext cx="5210175" cy="428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3460676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Basic Concepts and Definitions</a:t>
            </a:r>
            <a:endParaRPr lang="en-US" dirty="0">
              <a:solidFill>
                <a:srgbClr val="002060"/>
              </a:solidFill>
              <a:latin typeface="Georgia" panose="02040502050405020303" pitchFamily="18" charset="0"/>
            </a:endParaRPr>
          </a:p>
        </p:txBody>
      </p:sp>
      <p:sp>
        <p:nvSpPr>
          <p:cNvPr id="3" name="Content Placeholder 2"/>
          <p:cNvSpPr>
            <a:spLocks noGrp="1"/>
          </p:cNvSpPr>
          <p:nvPr>
            <p:ph sz="half" idx="1"/>
          </p:nvPr>
        </p:nvSpPr>
        <p:spPr>
          <a:xfrm>
            <a:off x="156011" y="1008528"/>
            <a:ext cx="5836894" cy="5270076"/>
          </a:xfrm>
        </p:spPr>
        <p:txBody>
          <a:bodyPr>
            <a:noAutofit/>
          </a:bodyPr>
          <a:lstStyle/>
          <a:p>
            <a:pPr marR="0">
              <a:spcBef>
                <a:spcPts val="0"/>
              </a:spcBef>
              <a:spcAft>
                <a:spcPts val="0"/>
              </a:spcAft>
              <a:buFont typeface="Wingdings" panose="05000000000000000000" pitchFamily="2" charset="2"/>
              <a:buChar char="v"/>
            </a:pPr>
            <a:r>
              <a:rPr lang="en-US" sz="2400" b="1" dirty="0">
                <a:solidFill>
                  <a:srgbClr val="FF0000"/>
                </a:solidFill>
                <a:effectLst/>
                <a:latin typeface="Times New Roman" panose="02020603050405020304" pitchFamily="18" charset="0"/>
                <a:ea typeface="Times New Roman" panose="02020603050405020304" pitchFamily="18" charset="0"/>
              </a:rPr>
              <a:t>INTERPOLATION</a:t>
            </a:r>
          </a:p>
          <a:p>
            <a:pPr marR="0">
              <a:spcBef>
                <a:spcPts val="0"/>
              </a:spcBef>
              <a:spcAft>
                <a:spcPts val="0"/>
              </a:spcAft>
              <a:buFont typeface="Wingdings" panose="05000000000000000000" pitchFamily="2" charset="2"/>
              <a:buChar char="v"/>
            </a:pPr>
            <a:endParaRPr lang="en-US" sz="2400" dirty="0">
              <a:solidFill>
                <a:srgbClr val="FF0000"/>
              </a:solidFill>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dirty="0">
                <a:effectLst/>
                <a:latin typeface="Times New Roman" panose="02020603050405020304" pitchFamily="18" charset="0"/>
                <a:ea typeface="Times New Roman" panose="02020603050405020304" pitchFamily="18" charset="0"/>
                <a:cs typeface="TimesTenLTStd-Roman"/>
              </a:rPr>
              <a:t>At 220 </a:t>
            </a:r>
            <a:r>
              <a:rPr lang="en-US" sz="1800" baseline="30000" dirty="0">
                <a:effectLst/>
                <a:latin typeface="Times New Roman" panose="02020603050405020304" pitchFamily="18" charset="0"/>
                <a:ea typeface="Times New Roman" panose="02020603050405020304" pitchFamily="18" charset="0"/>
                <a:cs typeface="TimesTenLTStd-Roman"/>
              </a:rPr>
              <a:t>0</a:t>
            </a:r>
            <a:r>
              <a:rPr lang="en-US" sz="1800" dirty="0">
                <a:effectLst/>
                <a:latin typeface="Times New Roman" panose="02020603050405020304" pitchFamily="18" charset="0"/>
                <a:ea typeface="Times New Roman" panose="02020603050405020304" pitchFamily="18" charset="0"/>
                <a:cs typeface="TimesTenLTStd-Roman"/>
              </a:rPr>
              <a:t>C, the specific volume at each pressure is simply the over the interval since 220 </a:t>
            </a:r>
            <a:r>
              <a:rPr lang="en-US" sz="1800" baseline="30000" dirty="0">
                <a:effectLst/>
                <a:latin typeface="Times New Roman" panose="02020603050405020304" pitchFamily="18" charset="0"/>
                <a:ea typeface="Times New Roman" panose="02020603050405020304" pitchFamily="18" charset="0"/>
                <a:cs typeface="TimesTenLTStd-Roman"/>
              </a:rPr>
              <a:t>0</a:t>
            </a:r>
            <a:r>
              <a:rPr lang="en-US" sz="1800" dirty="0">
                <a:effectLst/>
                <a:latin typeface="Times New Roman" panose="02020603050405020304" pitchFamily="18" charset="0"/>
                <a:ea typeface="Times New Roman" panose="02020603050405020304" pitchFamily="18" charset="0"/>
                <a:cs typeface="TimesTenLTStd-Roman"/>
              </a:rPr>
              <a:t>C falls midway between 200 </a:t>
            </a:r>
            <a:r>
              <a:rPr lang="en-US" sz="1800" baseline="30000" dirty="0">
                <a:effectLst/>
                <a:latin typeface="Times New Roman" panose="02020603050405020304" pitchFamily="18" charset="0"/>
                <a:ea typeface="Times New Roman" panose="02020603050405020304" pitchFamily="18" charset="0"/>
                <a:cs typeface="TimesTenLTStd-Roman"/>
              </a:rPr>
              <a:t>0</a:t>
            </a:r>
            <a:r>
              <a:rPr lang="en-US" sz="1800" dirty="0">
                <a:effectLst/>
                <a:latin typeface="Times New Roman" panose="02020603050405020304" pitchFamily="18" charset="0"/>
                <a:ea typeface="Times New Roman" panose="02020603050405020304" pitchFamily="18" charset="0"/>
                <a:cs typeface="TimesTenLTStd-Roman"/>
              </a:rPr>
              <a:t>C and 240 </a:t>
            </a:r>
            <a:r>
              <a:rPr lang="en-US" sz="1800" baseline="30000" dirty="0">
                <a:effectLst/>
                <a:latin typeface="Times New Roman" panose="02020603050405020304" pitchFamily="18" charset="0"/>
                <a:ea typeface="Times New Roman" panose="02020603050405020304" pitchFamily="18" charset="0"/>
                <a:cs typeface="TimesTenLTStd-Roman"/>
              </a:rPr>
              <a:t>0</a:t>
            </a:r>
            <a:r>
              <a:rPr lang="en-US" sz="1800" dirty="0">
                <a:effectLst/>
                <a:latin typeface="Times New Roman" panose="02020603050405020304" pitchFamily="18" charset="0"/>
                <a:ea typeface="Times New Roman" panose="02020603050405020304" pitchFamily="18" charset="0"/>
                <a:cs typeface="TimesTenLTStd-Roman"/>
              </a:rPr>
              <a:t>C.</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dirty="0">
                <a:effectLst/>
                <a:latin typeface="Times New Roman" panose="02020603050405020304" pitchFamily="18" charset="0"/>
                <a:ea typeface="Times New Roman" panose="02020603050405020304" pitchFamily="18" charset="0"/>
                <a:cs typeface="TimesTenLTStd-Roman"/>
              </a:rPr>
              <a:t>At 1.0 MPa, 220 </a:t>
            </a:r>
            <a:r>
              <a:rPr lang="en-US" sz="1800" baseline="30000" dirty="0">
                <a:effectLst/>
                <a:latin typeface="Times New Roman" panose="02020603050405020304" pitchFamily="18" charset="0"/>
                <a:ea typeface="Times New Roman" panose="02020603050405020304" pitchFamily="18" charset="0"/>
                <a:cs typeface="TimesTenLTStd-Roman"/>
              </a:rPr>
              <a:t>0</a:t>
            </a:r>
            <a:r>
              <a:rPr lang="en-US" sz="1800" dirty="0">
                <a:effectLst/>
                <a:latin typeface="Times New Roman" panose="02020603050405020304" pitchFamily="18" charset="0"/>
                <a:ea typeface="Times New Roman" panose="02020603050405020304" pitchFamily="18" charset="0"/>
                <a:cs typeface="TimesTenLTStd-Roman"/>
              </a:rPr>
              <a:t>C; v = (0.2060 + 0.2275)/2 = 0.21675 m</a:t>
            </a:r>
            <a:r>
              <a:rPr lang="en-US" sz="1800" baseline="30000" dirty="0">
                <a:effectLst/>
                <a:latin typeface="Times New Roman" panose="02020603050405020304" pitchFamily="18" charset="0"/>
                <a:ea typeface="Times New Roman" panose="02020603050405020304" pitchFamily="18" charset="0"/>
                <a:cs typeface="TimesTenLTStd-Roman"/>
              </a:rPr>
              <a:t>3</a:t>
            </a:r>
            <a:r>
              <a:rPr lang="en-US" sz="1800" dirty="0">
                <a:effectLst/>
                <a:latin typeface="Times New Roman" panose="02020603050405020304" pitchFamily="18" charset="0"/>
                <a:ea typeface="Times New Roman" panose="02020603050405020304" pitchFamily="18" charset="0"/>
                <a:cs typeface="TimesTenLTStd-Roman"/>
              </a:rPr>
              <a:t>/kg</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dirty="0">
                <a:effectLst/>
                <a:latin typeface="Times New Roman" panose="02020603050405020304" pitchFamily="18" charset="0"/>
                <a:ea typeface="Times New Roman" panose="02020603050405020304" pitchFamily="18" charset="0"/>
                <a:cs typeface="TimesTenLTStd-Roman"/>
              </a:rPr>
              <a:t>At 1.5 MPa, 220 </a:t>
            </a:r>
            <a:r>
              <a:rPr lang="en-US" sz="1800" baseline="30000" dirty="0">
                <a:effectLst/>
                <a:latin typeface="Times New Roman" panose="02020603050405020304" pitchFamily="18" charset="0"/>
                <a:ea typeface="Times New Roman" panose="02020603050405020304" pitchFamily="18" charset="0"/>
                <a:cs typeface="TimesTenLTStd-Roman"/>
              </a:rPr>
              <a:t>0</a:t>
            </a:r>
            <a:r>
              <a:rPr lang="en-US" sz="1800" dirty="0">
                <a:effectLst/>
                <a:latin typeface="Times New Roman" panose="02020603050405020304" pitchFamily="18" charset="0"/>
                <a:ea typeface="Times New Roman" panose="02020603050405020304" pitchFamily="18" charset="0"/>
                <a:cs typeface="TimesTenLTStd-Roman"/>
              </a:rPr>
              <a:t>C; v = (0.1325 + 0.1483)/2 =0.1404 m</a:t>
            </a:r>
            <a:r>
              <a:rPr lang="en-US" sz="1800" baseline="30000" dirty="0">
                <a:effectLst/>
                <a:latin typeface="Times New Roman" panose="02020603050405020304" pitchFamily="18" charset="0"/>
                <a:ea typeface="Times New Roman" panose="02020603050405020304" pitchFamily="18" charset="0"/>
                <a:cs typeface="TimesTenLTStd-Roman"/>
              </a:rPr>
              <a:t>3</a:t>
            </a:r>
            <a:r>
              <a:rPr lang="en-US" sz="1800" dirty="0">
                <a:effectLst/>
                <a:latin typeface="Times New Roman" panose="02020603050405020304" pitchFamily="18" charset="0"/>
                <a:ea typeface="Times New Roman" panose="02020603050405020304" pitchFamily="18" charset="0"/>
                <a:cs typeface="TimesTenLTStd-Roman"/>
              </a:rPr>
              <a:t>/kg</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dirty="0">
                <a:effectLst/>
                <a:latin typeface="Times New Roman" panose="02020603050405020304" pitchFamily="18" charset="0"/>
                <a:ea typeface="Times New Roman" panose="02020603050405020304" pitchFamily="18" charset="0"/>
                <a:cs typeface="TimesTenLTStd-Roman"/>
              </a:rPr>
              <a:t>Thus with same approach as in </a:t>
            </a:r>
            <a:r>
              <a:rPr lang="en-US" sz="1800" b="1" dirty="0">
                <a:effectLst/>
                <a:latin typeface="Times New Roman" panose="02020603050405020304" pitchFamily="18" charset="0"/>
                <a:ea typeface="Times New Roman" panose="02020603050405020304" pitchFamily="18" charset="0"/>
                <a:cs typeface="TimesTenLTStd-Roman"/>
              </a:rPr>
              <a:t>(a), </a:t>
            </a:r>
            <a:r>
              <a:rPr lang="en-US" sz="1800" dirty="0">
                <a:effectLst/>
                <a:latin typeface="Times New Roman" panose="02020603050405020304" pitchFamily="18" charset="0"/>
                <a:ea typeface="Times New Roman" panose="02020603050405020304" pitchFamily="18" charset="0"/>
                <a:cs typeface="TimesTenLTStd-Roman"/>
              </a:rPr>
              <a:t>we write as follows</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buFont typeface="Wingdings" panose="05000000000000000000" pitchFamily="2" charset="2"/>
              <a:buChar char="ü"/>
            </a:pPr>
            <a:endParaRPr lang="en-US" sz="1800" dirty="0">
              <a:effectLst/>
              <a:latin typeface="Times New Roman" panose="02020603050405020304" pitchFamily="18" charset="0"/>
              <a:ea typeface="Times New Roman" panose="02020603050405020304" pitchFamily="18" charset="0"/>
            </a:endParaRPr>
          </a:p>
          <a:p>
            <a:pPr>
              <a:buFont typeface="Wingdings" panose="05000000000000000000" pitchFamily="2" charset="2"/>
              <a:buChar char="ü"/>
            </a:pPr>
            <a:endParaRPr lang="en-US" sz="1600" dirty="0">
              <a:effectLst/>
              <a:latin typeface="Times New Roman" panose="02020603050405020304" pitchFamily="18" charset="0"/>
              <a:ea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4801FD5-11B4-DE43-ACA2-E85EEB9A6F9C}" type="slidenum">
              <a:rPr lang="en-US" smtClean="0"/>
              <a:pPr/>
              <a:t>26</a:t>
            </a:fld>
            <a:endParaRPr lang="en-US" dirty="0"/>
          </a:p>
        </p:txBody>
      </p:sp>
      <p:sp>
        <p:nvSpPr>
          <p:cNvPr id="5" name="Content Placeholder 2"/>
          <p:cNvSpPr txBox="1">
            <a:spLocks/>
          </p:cNvSpPr>
          <p:nvPr/>
        </p:nvSpPr>
        <p:spPr>
          <a:xfrm>
            <a:off x="6351495" y="1013011"/>
            <a:ext cx="5684494" cy="5270076"/>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marL="0" indent="0">
              <a:buNone/>
            </a:pPr>
            <a:endParaRPr lang="en-US" sz="2000" dirty="0"/>
          </a:p>
        </p:txBody>
      </p:sp>
      <p:sp>
        <p:nvSpPr>
          <p:cNvPr id="14" name="Rectangle 10">
            <a:extLst>
              <a:ext uri="{FF2B5EF4-FFF2-40B4-BE49-F238E27FC236}">
                <a16:creationId xmlns:a16="http://schemas.microsoft.com/office/drawing/2014/main" id="{CEDDBD42-94D3-4737-A168-FEF93B6E94AC}"/>
              </a:ext>
            </a:extLst>
          </p:cNvPr>
          <p:cNvSpPr>
            <a:spLocks noChangeArrowheads="1"/>
          </p:cNvSpPr>
          <p:nvPr/>
        </p:nvSpPr>
        <p:spPr bwMode="auto">
          <a:xfrm>
            <a:off x="2165928" y="5932208"/>
            <a:ext cx="19597462"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18" name="Rectangle 15">
            <a:extLst>
              <a:ext uri="{FF2B5EF4-FFF2-40B4-BE49-F238E27FC236}">
                <a16:creationId xmlns:a16="http://schemas.microsoft.com/office/drawing/2014/main" id="{561870F7-9D50-4393-A979-0E2BB7F87073}"/>
              </a:ext>
            </a:extLst>
          </p:cNvPr>
          <p:cNvSpPr>
            <a:spLocks noChangeArrowheads="1"/>
          </p:cNvSpPr>
          <p:nvPr/>
        </p:nvSpPr>
        <p:spPr bwMode="auto">
          <a:xfrm>
            <a:off x="8275120" y="1799771"/>
            <a:ext cx="2388636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32" name="Rectangle 29">
            <a:extLst>
              <a:ext uri="{FF2B5EF4-FFF2-40B4-BE49-F238E27FC236}">
                <a16:creationId xmlns:a16="http://schemas.microsoft.com/office/drawing/2014/main" id="{48C953CD-DE7D-421D-9E0A-D30B31447655}"/>
              </a:ext>
            </a:extLst>
          </p:cNvPr>
          <p:cNvSpPr>
            <a:spLocks noChangeArrowheads="1"/>
          </p:cNvSpPr>
          <p:nvPr/>
        </p:nvSpPr>
        <p:spPr bwMode="auto">
          <a:xfrm>
            <a:off x="11677400" y="3874418"/>
            <a:ext cx="254752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34" name="Rectangle 31">
            <a:extLst>
              <a:ext uri="{FF2B5EF4-FFF2-40B4-BE49-F238E27FC236}">
                <a16:creationId xmlns:a16="http://schemas.microsoft.com/office/drawing/2014/main" id="{9BCAEC52-4B5D-479B-8D32-8020DA281181}"/>
              </a:ext>
            </a:extLst>
          </p:cNvPr>
          <p:cNvSpPr>
            <a:spLocks noChangeArrowheads="1"/>
          </p:cNvSpPr>
          <p:nvPr/>
        </p:nvSpPr>
        <p:spPr bwMode="auto">
          <a:xfrm>
            <a:off x="10022461" y="4830742"/>
            <a:ext cx="54890773"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36" name="Rectangle 33">
            <a:extLst>
              <a:ext uri="{FF2B5EF4-FFF2-40B4-BE49-F238E27FC236}">
                <a16:creationId xmlns:a16="http://schemas.microsoft.com/office/drawing/2014/main" id="{B950A2DB-D064-4BB5-A817-4D8C2A16CC2A}"/>
              </a:ext>
            </a:extLst>
          </p:cNvPr>
          <p:cNvSpPr>
            <a:spLocks noChangeArrowheads="1"/>
          </p:cNvSpPr>
          <p:nvPr/>
        </p:nvSpPr>
        <p:spPr bwMode="auto">
          <a:xfrm>
            <a:off x="8814894" y="4846387"/>
            <a:ext cx="16074507"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12" name="Content Placeholder 2">
            <a:extLst>
              <a:ext uri="{FF2B5EF4-FFF2-40B4-BE49-F238E27FC236}">
                <a16:creationId xmlns:a16="http://schemas.microsoft.com/office/drawing/2014/main" id="{6354A1AE-EEBF-4867-9130-6EB4FB01A5D0}"/>
              </a:ext>
            </a:extLst>
          </p:cNvPr>
          <p:cNvSpPr txBox="1">
            <a:spLocks/>
          </p:cNvSpPr>
          <p:nvPr/>
        </p:nvSpPr>
        <p:spPr>
          <a:xfrm>
            <a:off x="5985755" y="3238615"/>
            <a:ext cx="6050233" cy="2847354"/>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marL="0" marR="0" indent="0">
              <a:spcBef>
                <a:spcPts val="0"/>
              </a:spcBef>
              <a:spcAft>
                <a:spcPts val="0"/>
              </a:spcAft>
              <a:buNone/>
            </a:pPr>
            <a:endParaRPr lang="en-US" sz="1800" dirty="0">
              <a:effectLst/>
              <a:latin typeface="Times New Roman" panose="02020603050405020304" pitchFamily="18" charset="0"/>
              <a:ea typeface="Times New Roman" panose="02020603050405020304" pitchFamily="18" charset="0"/>
              <a:cs typeface="TimesTenLTStd-Roman"/>
            </a:endParaRPr>
          </a:p>
        </p:txBody>
      </p:sp>
      <p:sp>
        <p:nvSpPr>
          <p:cNvPr id="6" name="Rectangle 2">
            <a:extLst>
              <a:ext uri="{FF2B5EF4-FFF2-40B4-BE49-F238E27FC236}">
                <a16:creationId xmlns:a16="http://schemas.microsoft.com/office/drawing/2014/main" id="{9AAE94EA-246D-4E47-A830-E0813D52C101}"/>
              </a:ext>
            </a:extLst>
          </p:cNvPr>
          <p:cNvSpPr>
            <a:spLocks noChangeArrowheads="1"/>
          </p:cNvSpPr>
          <p:nvPr/>
        </p:nvSpPr>
        <p:spPr bwMode="auto">
          <a:xfrm>
            <a:off x="7506268" y="3691854"/>
            <a:ext cx="13319008"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8" name="Rectangle 4">
            <a:extLst>
              <a:ext uri="{FF2B5EF4-FFF2-40B4-BE49-F238E27FC236}">
                <a16:creationId xmlns:a16="http://schemas.microsoft.com/office/drawing/2014/main" id="{75D8E0F7-47E4-4126-B755-D13728B3AD1A}"/>
              </a:ext>
            </a:extLst>
          </p:cNvPr>
          <p:cNvSpPr>
            <a:spLocks noChangeArrowheads="1"/>
          </p:cNvSpPr>
          <p:nvPr/>
        </p:nvSpPr>
        <p:spPr bwMode="auto">
          <a:xfrm>
            <a:off x="1906153" y="2056199"/>
            <a:ext cx="13665373"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10" name="Rectangle 6">
            <a:extLst>
              <a:ext uri="{FF2B5EF4-FFF2-40B4-BE49-F238E27FC236}">
                <a16:creationId xmlns:a16="http://schemas.microsoft.com/office/drawing/2014/main" id="{A010AFAE-C3A6-4682-ACDE-17BD4CDD8728}"/>
              </a:ext>
            </a:extLst>
          </p:cNvPr>
          <p:cNvSpPr>
            <a:spLocks noChangeArrowheads="1"/>
          </p:cNvSpPr>
          <p:nvPr/>
        </p:nvSpPr>
        <p:spPr bwMode="auto">
          <a:xfrm>
            <a:off x="1073522" y="3691855"/>
            <a:ext cx="13657083"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13" name="Rectangle 8">
            <a:extLst>
              <a:ext uri="{FF2B5EF4-FFF2-40B4-BE49-F238E27FC236}">
                <a16:creationId xmlns:a16="http://schemas.microsoft.com/office/drawing/2014/main" id="{3F9DACBE-01A2-4A64-8D04-9BECCDC38131}"/>
              </a:ext>
            </a:extLst>
          </p:cNvPr>
          <p:cNvSpPr>
            <a:spLocks noChangeArrowheads="1"/>
          </p:cNvSpPr>
          <p:nvPr/>
        </p:nvSpPr>
        <p:spPr bwMode="auto">
          <a:xfrm>
            <a:off x="876485" y="4806122"/>
            <a:ext cx="13862931"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16" name="Rectangle 10">
            <a:extLst>
              <a:ext uri="{FF2B5EF4-FFF2-40B4-BE49-F238E27FC236}">
                <a16:creationId xmlns:a16="http://schemas.microsoft.com/office/drawing/2014/main" id="{B2B84F93-7A88-466B-8C42-908B1610EA7F}"/>
              </a:ext>
            </a:extLst>
          </p:cNvPr>
          <p:cNvSpPr>
            <a:spLocks noChangeArrowheads="1"/>
          </p:cNvSpPr>
          <p:nvPr/>
        </p:nvSpPr>
        <p:spPr bwMode="auto">
          <a:xfrm>
            <a:off x="7574864" y="1825073"/>
            <a:ext cx="20041456"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19" name="Rectangle 12">
            <a:extLst>
              <a:ext uri="{FF2B5EF4-FFF2-40B4-BE49-F238E27FC236}">
                <a16:creationId xmlns:a16="http://schemas.microsoft.com/office/drawing/2014/main" id="{4EC380C1-AA8D-4C5C-B626-233A9E3F81DB}"/>
              </a:ext>
            </a:extLst>
          </p:cNvPr>
          <p:cNvSpPr>
            <a:spLocks noChangeArrowheads="1"/>
          </p:cNvSpPr>
          <p:nvPr/>
        </p:nvSpPr>
        <p:spPr bwMode="auto">
          <a:xfrm>
            <a:off x="7907337" y="2647407"/>
            <a:ext cx="17781086"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7" name="Rectangle 2">
            <a:extLst>
              <a:ext uri="{FF2B5EF4-FFF2-40B4-BE49-F238E27FC236}">
                <a16:creationId xmlns:a16="http://schemas.microsoft.com/office/drawing/2014/main" id="{A465F0DA-8D6A-478F-B57D-7ED3D25FEC60}"/>
              </a:ext>
            </a:extLst>
          </p:cNvPr>
          <p:cNvSpPr>
            <a:spLocks noChangeArrowheads="1"/>
          </p:cNvSpPr>
          <p:nvPr/>
        </p:nvSpPr>
        <p:spPr bwMode="auto">
          <a:xfrm>
            <a:off x="105852" y="3865069"/>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11" name="Rectangle 5">
            <a:extLst>
              <a:ext uri="{FF2B5EF4-FFF2-40B4-BE49-F238E27FC236}">
                <a16:creationId xmlns:a16="http://schemas.microsoft.com/office/drawing/2014/main" id="{66B1E977-1F91-4D60-AF5B-80025E43333C}"/>
              </a:ext>
            </a:extLst>
          </p:cNvPr>
          <p:cNvSpPr>
            <a:spLocks noChangeArrowheads="1"/>
          </p:cNvSpPr>
          <p:nvPr/>
        </p:nvSpPr>
        <p:spPr bwMode="auto">
          <a:xfrm>
            <a:off x="6191733" y="395768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2" name="Rectangle 7">
            <a:extLst>
              <a:ext uri="{FF2B5EF4-FFF2-40B4-BE49-F238E27FC236}">
                <a16:creationId xmlns:a16="http://schemas.microsoft.com/office/drawing/2014/main" id="{FE6EEBCE-3435-4E8B-B6D4-D97F296F340C}"/>
              </a:ext>
            </a:extLst>
          </p:cNvPr>
          <p:cNvSpPr>
            <a:spLocks noChangeArrowheads="1"/>
          </p:cNvSpPr>
          <p:nvPr/>
        </p:nvSpPr>
        <p:spPr bwMode="auto">
          <a:xfrm>
            <a:off x="214802" y="381445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23" name="Object 22">
            <a:extLst>
              <a:ext uri="{FF2B5EF4-FFF2-40B4-BE49-F238E27FC236}">
                <a16:creationId xmlns:a16="http://schemas.microsoft.com/office/drawing/2014/main" id="{69D2FBFE-27BA-432A-B63A-A5DF22EFBA12}"/>
              </a:ext>
            </a:extLst>
          </p:cNvPr>
          <p:cNvGraphicFramePr>
            <a:graphicFrameLocks noChangeAspect="1"/>
          </p:cNvGraphicFramePr>
          <p:nvPr>
            <p:extLst>
              <p:ext uri="{D42A27DB-BD31-4B8C-83A1-F6EECF244321}">
                <p14:modId xmlns:p14="http://schemas.microsoft.com/office/powerpoint/2010/main" val="1311155919"/>
              </p:ext>
            </p:extLst>
          </p:nvPr>
        </p:nvGraphicFramePr>
        <p:xfrm>
          <a:off x="193011" y="4525214"/>
          <a:ext cx="5572125" cy="428625"/>
        </p:xfrm>
        <a:graphic>
          <a:graphicData uri="http://schemas.openxmlformats.org/presentationml/2006/ole">
            <mc:AlternateContent xmlns:mc="http://schemas.openxmlformats.org/markup-compatibility/2006">
              <mc:Choice xmlns:v="urn:schemas-microsoft-com:vml" Requires="v">
                <p:oleObj spid="_x0000_s10253" r:id="rId3" imgW="5575300" imgH="431800" progId="Equation.3">
                  <p:embed/>
                </p:oleObj>
              </mc:Choice>
              <mc:Fallback>
                <p:oleObj r:id="rId3" imgW="5575300" imgH="4318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3011" y="4525214"/>
                        <a:ext cx="5572125" cy="428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4864726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Basic Concepts and Definitions</a:t>
            </a:r>
            <a:endParaRPr lang="en-US" dirty="0">
              <a:solidFill>
                <a:srgbClr val="002060"/>
              </a:solidFill>
              <a:latin typeface="Georgia" panose="02040502050405020303" pitchFamily="18" charset="0"/>
            </a:endParaRPr>
          </a:p>
        </p:txBody>
      </p:sp>
      <p:sp>
        <p:nvSpPr>
          <p:cNvPr id="3" name="Content Placeholder 2"/>
          <p:cNvSpPr>
            <a:spLocks noGrp="1"/>
          </p:cNvSpPr>
          <p:nvPr>
            <p:ph sz="half" idx="1"/>
          </p:nvPr>
        </p:nvSpPr>
        <p:spPr>
          <a:xfrm>
            <a:off x="514601" y="1008529"/>
            <a:ext cx="5836894" cy="4935071"/>
          </a:xfrm>
        </p:spPr>
        <p:txBody>
          <a:bodyPr>
            <a:noAutofit/>
          </a:bodyPr>
          <a:lstStyle/>
          <a:p>
            <a:pPr marL="0" indent="0">
              <a:buNone/>
            </a:pPr>
            <a:r>
              <a:rPr lang="en-US" sz="3600" b="1" dirty="0">
                <a:solidFill>
                  <a:srgbClr val="C00000"/>
                </a:solidFill>
              </a:rPr>
              <a:t>Thermodynamic State</a:t>
            </a:r>
          </a:p>
          <a:p>
            <a:pPr>
              <a:buFont typeface="Wingdings" panose="05000000000000000000" pitchFamily="2" charset="2"/>
              <a:buChar char="v"/>
            </a:pPr>
            <a:r>
              <a:rPr lang="en-US" sz="2400" dirty="0"/>
              <a:t>The word </a:t>
            </a:r>
            <a:r>
              <a:rPr lang="en-US" sz="2400" b="1" dirty="0">
                <a:solidFill>
                  <a:srgbClr val="002060"/>
                </a:solidFill>
              </a:rPr>
              <a:t>state</a:t>
            </a:r>
            <a:r>
              <a:rPr lang="en-US" sz="2400" dirty="0"/>
              <a:t> refers to the condition of a system as described by its properties. </a:t>
            </a:r>
          </a:p>
          <a:p>
            <a:pPr>
              <a:buFont typeface="Wingdings" panose="05000000000000000000" pitchFamily="2" charset="2"/>
              <a:buChar char="v"/>
            </a:pPr>
            <a:r>
              <a:rPr lang="en-US" sz="2400" dirty="0"/>
              <a:t>The state can be specified by at least two thermodynamic properties. </a:t>
            </a:r>
            <a:endParaRPr lang="en-US" b="1" dirty="0">
              <a:solidFill>
                <a:srgbClr val="C00000"/>
              </a:solidFill>
            </a:endParaRPr>
          </a:p>
          <a:p>
            <a:pPr marL="0" indent="0">
              <a:buNone/>
            </a:pPr>
            <a:r>
              <a:rPr lang="en-US" sz="3600" b="1" dirty="0">
                <a:solidFill>
                  <a:srgbClr val="C00000"/>
                </a:solidFill>
              </a:rPr>
              <a:t>Thermodynamic Process</a:t>
            </a:r>
          </a:p>
          <a:p>
            <a:pPr>
              <a:buFont typeface="Wingdings" panose="05000000000000000000" pitchFamily="2" charset="2"/>
              <a:buChar char="v"/>
            </a:pPr>
            <a:r>
              <a:rPr lang="en-US" sz="2400" dirty="0"/>
              <a:t>When any of the properties of a system change the state changes and the system is said to have undergone a process.  </a:t>
            </a:r>
          </a:p>
          <a:p>
            <a:pPr>
              <a:buFont typeface="Wingdings" panose="05000000000000000000" pitchFamily="2" charset="2"/>
              <a:buChar char="v"/>
            </a:pPr>
            <a:r>
              <a:rPr lang="en-US" sz="2400" dirty="0"/>
              <a:t>A process is a transformation from one thermodynamic state to another. </a:t>
            </a:r>
          </a:p>
        </p:txBody>
      </p:sp>
      <p:sp>
        <p:nvSpPr>
          <p:cNvPr id="4" name="Slide Number Placeholder 3"/>
          <p:cNvSpPr>
            <a:spLocks noGrp="1"/>
          </p:cNvSpPr>
          <p:nvPr>
            <p:ph type="sldNum" sz="quarter" idx="12"/>
          </p:nvPr>
        </p:nvSpPr>
        <p:spPr/>
        <p:txBody>
          <a:bodyPr/>
          <a:lstStyle/>
          <a:p>
            <a:fld id="{F4801FD5-11B4-DE43-ACA2-E85EEB9A6F9C}" type="slidenum">
              <a:rPr lang="en-US" smtClean="0"/>
              <a:pPr/>
              <a:t>27</a:t>
            </a:fld>
            <a:endParaRPr lang="en-US" dirty="0"/>
          </a:p>
        </p:txBody>
      </p:sp>
      <p:sp>
        <p:nvSpPr>
          <p:cNvPr id="5" name="Content Placeholder 2"/>
          <p:cNvSpPr txBox="1">
            <a:spLocks/>
          </p:cNvSpPr>
          <p:nvPr/>
        </p:nvSpPr>
        <p:spPr>
          <a:xfrm>
            <a:off x="6351495" y="1013011"/>
            <a:ext cx="5684494" cy="2106707"/>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a:buFont typeface="Wingdings" panose="05000000000000000000" pitchFamily="2" charset="2"/>
              <a:buChar char="v"/>
            </a:pPr>
            <a:r>
              <a:rPr lang="en-US" sz="2400" dirty="0"/>
              <a:t>If a system exhibits the same values of its properties at two different times, it is in the same state at those times.  </a:t>
            </a:r>
          </a:p>
          <a:p>
            <a:pPr>
              <a:buFont typeface="Wingdings" panose="05000000000000000000" pitchFamily="2" charset="2"/>
              <a:buChar char="v"/>
            </a:pPr>
            <a:r>
              <a:rPr lang="en-US" sz="2400" dirty="0">
                <a:solidFill>
                  <a:srgbClr val="002060"/>
                </a:solidFill>
              </a:rPr>
              <a:t>A system is said to be at steady state if none of its properties change with time.</a:t>
            </a:r>
          </a:p>
          <a:p>
            <a:pPr>
              <a:buFont typeface="Wingdings" panose="05000000000000000000" pitchFamily="2" charset="2"/>
              <a:buChar char="v"/>
            </a:pPr>
            <a:endParaRPr lang="en-US" sz="2400" dirty="0"/>
          </a:p>
          <a:p>
            <a:pPr>
              <a:buFont typeface="Wingdings" panose="05000000000000000000" pitchFamily="2" charset="2"/>
              <a:buChar char="v"/>
            </a:pPr>
            <a:endParaRPr lang="en-US" sz="2400" dirty="0"/>
          </a:p>
          <a:p>
            <a:pPr>
              <a:buFont typeface="Wingdings" panose="05000000000000000000" pitchFamily="2" charset="2"/>
              <a:buChar char="v"/>
            </a:pPr>
            <a:endParaRPr lang="en-US" sz="2400" dirty="0"/>
          </a:p>
          <a:p>
            <a:pPr>
              <a:buFont typeface="Wingdings" panose="05000000000000000000" pitchFamily="2" charset="2"/>
              <a:buChar char="v"/>
            </a:pPr>
            <a:endParaRPr lang="en-US" sz="2400" dirty="0"/>
          </a:p>
        </p:txBody>
      </p:sp>
      <p:pic>
        <p:nvPicPr>
          <p:cNvPr id="6" name="Picture 5"/>
          <p:cNvPicPr>
            <a:picLocks noChangeAspect="1"/>
          </p:cNvPicPr>
          <p:nvPr/>
        </p:nvPicPr>
        <p:blipFill>
          <a:blip r:embed="rId2"/>
          <a:stretch>
            <a:fillRect/>
          </a:stretch>
        </p:blipFill>
        <p:spPr>
          <a:xfrm>
            <a:off x="6106448" y="3628378"/>
            <a:ext cx="5929541" cy="2315222"/>
          </a:xfrm>
          <a:prstGeom prst="rect">
            <a:avLst/>
          </a:prstGeom>
        </p:spPr>
      </p:pic>
    </p:spTree>
    <p:extLst>
      <p:ext uri="{BB962C8B-B14F-4D97-AF65-F5344CB8AC3E}">
        <p14:creationId xmlns:p14="http://schemas.microsoft.com/office/powerpoint/2010/main" val="27697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Basic Concepts and Definitions</a:t>
            </a:r>
            <a:endParaRPr lang="en-US" dirty="0">
              <a:solidFill>
                <a:srgbClr val="002060"/>
              </a:solidFill>
              <a:latin typeface="Georgia" panose="02040502050405020303" pitchFamily="18" charset="0"/>
            </a:endParaRPr>
          </a:p>
        </p:txBody>
      </p:sp>
      <p:sp>
        <p:nvSpPr>
          <p:cNvPr id="3" name="Content Placeholder 2"/>
          <p:cNvSpPr>
            <a:spLocks noGrp="1"/>
          </p:cNvSpPr>
          <p:nvPr>
            <p:ph sz="half" idx="1"/>
          </p:nvPr>
        </p:nvSpPr>
        <p:spPr>
          <a:xfrm>
            <a:off x="514601" y="1008529"/>
            <a:ext cx="5836894" cy="5270076"/>
          </a:xfrm>
        </p:spPr>
        <p:txBody>
          <a:bodyPr>
            <a:noAutofit/>
          </a:bodyPr>
          <a:lstStyle/>
          <a:p>
            <a:pPr marL="0" indent="0">
              <a:buNone/>
            </a:pPr>
            <a:r>
              <a:rPr lang="en-US" sz="3600" b="1" dirty="0">
                <a:solidFill>
                  <a:srgbClr val="C00000"/>
                </a:solidFill>
              </a:rPr>
              <a:t>Path of a process</a:t>
            </a:r>
          </a:p>
          <a:p>
            <a:pPr>
              <a:buFont typeface="Wingdings" panose="05000000000000000000" pitchFamily="2" charset="2"/>
              <a:buChar char="v"/>
            </a:pPr>
            <a:r>
              <a:rPr lang="en-US" sz="2400" dirty="0"/>
              <a:t>The series of states through which a system passes during a process is called the path of the process. </a:t>
            </a:r>
          </a:p>
          <a:p>
            <a:pPr>
              <a:buFont typeface="Wingdings" panose="05000000000000000000" pitchFamily="2" charset="2"/>
              <a:buChar char="v"/>
            </a:pPr>
            <a:r>
              <a:rPr lang="en-US" sz="2400" dirty="0"/>
              <a:t>To describe a process completely, one should specify the initial and final states of the process, as well as the path it follows, and the interaction with the surroundings.</a:t>
            </a:r>
          </a:p>
          <a:p>
            <a:pPr>
              <a:buFont typeface="Wingdings" panose="05000000000000000000" pitchFamily="2" charset="2"/>
              <a:buChar char="v"/>
            </a:pPr>
            <a:r>
              <a:rPr lang="en-US" sz="2400" dirty="0"/>
              <a:t>An isothermal process occurs at constant temperature.</a:t>
            </a:r>
          </a:p>
          <a:p>
            <a:pPr>
              <a:buFont typeface="Wingdings" panose="05000000000000000000" pitchFamily="2" charset="2"/>
              <a:buChar char="v"/>
            </a:pPr>
            <a:r>
              <a:rPr lang="en-US" sz="2400" dirty="0"/>
              <a:t>An isobaric process is at constant pressure.</a:t>
            </a:r>
          </a:p>
          <a:p>
            <a:pPr>
              <a:buFont typeface="Wingdings" panose="05000000000000000000" pitchFamily="2" charset="2"/>
              <a:buChar char="v"/>
            </a:pPr>
            <a:r>
              <a:rPr lang="en-US" sz="2400" dirty="0"/>
              <a:t>An isochoric process is at constant volume.</a:t>
            </a:r>
          </a:p>
        </p:txBody>
      </p:sp>
      <p:sp>
        <p:nvSpPr>
          <p:cNvPr id="4" name="Slide Number Placeholder 3"/>
          <p:cNvSpPr>
            <a:spLocks noGrp="1"/>
          </p:cNvSpPr>
          <p:nvPr>
            <p:ph type="sldNum" sz="quarter" idx="12"/>
          </p:nvPr>
        </p:nvSpPr>
        <p:spPr/>
        <p:txBody>
          <a:bodyPr/>
          <a:lstStyle/>
          <a:p>
            <a:fld id="{F4801FD5-11B4-DE43-ACA2-E85EEB9A6F9C}" type="slidenum">
              <a:rPr lang="en-US" smtClean="0"/>
              <a:pPr/>
              <a:t>28</a:t>
            </a:fld>
            <a:endParaRPr lang="en-US" dirty="0"/>
          </a:p>
        </p:txBody>
      </p:sp>
      <p:pic>
        <p:nvPicPr>
          <p:cNvPr id="6" name="Picture 5"/>
          <p:cNvPicPr>
            <a:picLocks noChangeAspect="1"/>
          </p:cNvPicPr>
          <p:nvPr/>
        </p:nvPicPr>
        <p:blipFill>
          <a:blip r:embed="rId2"/>
          <a:stretch>
            <a:fillRect/>
          </a:stretch>
        </p:blipFill>
        <p:spPr>
          <a:xfrm>
            <a:off x="6608670" y="1268226"/>
            <a:ext cx="2454648" cy="2472435"/>
          </a:xfrm>
          <a:prstGeom prst="rect">
            <a:avLst/>
          </a:prstGeom>
        </p:spPr>
      </p:pic>
      <p:pic>
        <p:nvPicPr>
          <p:cNvPr id="7" name="Picture 6"/>
          <p:cNvPicPr>
            <a:picLocks noChangeAspect="1"/>
          </p:cNvPicPr>
          <p:nvPr/>
        </p:nvPicPr>
        <p:blipFill>
          <a:blip r:embed="rId3"/>
          <a:stretch>
            <a:fillRect/>
          </a:stretch>
        </p:blipFill>
        <p:spPr>
          <a:xfrm>
            <a:off x="7775253" y="3863509"/>
            <a:ext cx="2576129" cy="2311911"/>
          </a:xfrm>
          <a:prstGeom prst="rect">
            <a:avLst/>
          </a:prstGeom>
        </p:spPr>
      </p:pic>
      <p:pic>
        <p:nvPicPr>
          <p:cNvPr id="8" name="Picture 7"/>
          <p:cNvPicPr>
            <a:picLocks noChangeAspect="1"/>
          </p:cNvPicPr>
          <p:nvPr/>
        </p:nvPicPr>
        <p:blipFill>
          <a:blip r:embed="rId4"/>
          <a:stretch>
            <a:fillRect/>
          </a:stretch>
        </p:blipFill>
        <p:spPr>
          <a:xfrm>
            <a:off x="9404331" y="1268226"/>
            <a:ext cx="2403356" cy="2438699"/>
          </a:xfrm>
          <a:prstGeom prst="rect">
            <a:avLst/>
          </a:prstGeom>
        </p:spPr>
      </p:pic>
    </p:spTree>
    <p:extLst>
      <p:ext uri="{BB962C8B-B14F-4D97-AF65-F5344CB8AC3E}">
        <p14:creationId xmlns:p14="http://schemas.microsoft.com/office/powerpoint/2010/main" val="168962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Basic Concepts and Definitions</a:t>
            </a:r>
            <a:endParaRPr lang="en-US" dirty="0">
              <a:solidFill>
                <a:srgbClr val="002060"/>
              </a:solidFill>
              <a:latin typeface="Georgia" panose="02040502050405020303" pitchFamily="18" charset="0"/>
            </a:endParaRPr>
          </a:p>
        </p:txBody>
      </p:sp>
      <p:sp>
        <p:nvSpPr>
          <p:cNvPr id="3" name="Content Placeholder 2"/>
          <p:cNvSpPr>
            <a:spLocks noGrp="1"/>
          </p:cNvSpPr>
          <p:nvPr>
            <p:ph sz="half" idx="1"/>
          </p:nvPr>
        </p:nvSpPr>
        <p:spPr>
          <a:xfrm>
            <a:off x="514601" y="1008529"/>
            <a:ext cx="5836894" cy="5270076"/>
          </a:xfrm>
        </p:spPr>
        <p:txBody>
          <a:bodyPr>
            <a:noAutofit/>
          </a:bodyPr>
          <a:lstStyle/>
          <a:p>
            <a:pPr marL="0" indent="0">
              <a:buNone/>
            </a:pPr>
            <a:r>
              <a:rPr lang="en-US" sz="3600" b="1" dirty="0">
                <a:solidFill>
                  <a:srgbClr val="C00000"/>
                </a:solidFill>
              </a:rPr>
              <a:t>Point Functions</a:t>
            </a:r>
          </a:p>
          <a:p>
            <a:pPr>
              <a:buFont typeface="Wingdings" panose="05000000000000000000" pitchFamily="2" charset="2"/>
              <a:buChar char="v"/>
            </a:pPr>
            <a:r>
              <a:rPr lang="en-US" sz="2400" dirty="0"/>
              <a:t>The value of a property of a system is independent of the path of the process undergone by the system. </a:t>
            </a:r>
          </a:p>
          <a:p>
            <a:pPr>
              <a:buFont typeface="Wingdings" panose="05000000000000000000" pitchFamily="2" charset="2"/>
              <a:buChar char="v"/>
            </a:pPr>
            <a:r>
              <a:rPr lang="en-US" sz="2400" dirty="0">
                <a:solidFill>
                  <a:srgbClr val="002060"/>
                </a:solidFill>
              </a:rPr>
              <a:t>It is therefore referred to as a point or state function</a:t>
            </a:r>
            <a:r>
              <a:rPr lang="en-US" sz="2400" dirty="0"/>
              <a:t>.</a:t>
            </a:r>
          </a:p>
          <a:p>
            <a:pPr>
              <a:buFont typeface="Wingdings" panose="05000000000000000000" pitchFamily="2" charset="2"/>
              <a:buChar char="v"/>
            </a:pPr>
            <a:r>
              <a:rPr lang="en-US" sz="2400" dirty="0"/>
              <a:t>The change in  the value of a state function depends solely on its values at the initial and final states and not on the path.</a:t>
            </a:r>
          </a:p>
        </p:txBody>
      </p:sp>
      <p:sp>
        <p:nvSpPr>
          <p:cNvPr id="4" name="Slide Number Placeholder 3"/>
          <p:cNvSpPr>
            <a:spLocks noGrp="1"/>
          </p:cNvSpPr>
          <p:nvPr>
            <p:ph type="sldNum" sz="quarter" idx="12"/>
          </p:nvPr>
        </p:nvSpPr>
        <p:spPr/>
        <p:txBody>
          <a:bodyPr/>
          <a:lstStyle/>
          <a:p>
            <a:fld id="{F4801FD5-11B4-DE43-ACA2-E85EEB9A6F9C}" type="slidenum">
              <a:rPr lang="en-US" smtClean="0"/>
              <a:pPr/>
              <a:t>29</a:t>
            </a:fld>
            <a:endParaRPr lang="en-US" dirty="0"/>
          </a:p>
        </p:txBody>
      </p:sp>
      <p:sp>
        <p:nvSpPr>
          <p:cNvPr id="5" name="Content Placeholder 2"/>
          <p:cNvSpPr txBox="1">
            <a:spLocks/>
          </p:cNvSpPr>
          <p:nvPr/>
        </p:nvSpPr>
        <p:spPr>
          <a:xfrm>
            <a:off x="6531087" y="1008529"/>
            <a:ext cx="5276600" cy="5270076"/>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marL="0" indent="0">
              <a:buFont typeface="Arial"/>
              <a:buNone/>
            </a:pPr>
            <a:r>
              <a:rPr lang="en-US" sz="3600" b="1" dirty="0">
                <a:solidFill>
                  <a:srgbClr val="C00000"/>
                </a:solidFill>
              </a:rPr>
              <a:t>Path Functions</a:t>
            </a:r>
          </a:p>
          <a:p>
            <a:pPr>
              <a:buFont typeface="Wingdings" panose="05000000000000000000" pitchFamily="2" charset="2"/>
              <a:buChar char="v"/>
            </a:pPr>
            <a:r>
              <a:rPr lang="en-US" sz="2400" dirty="0"/>
              <a:t>Quantities such as heat and work are not properties of the system and therefore depends on the path of the process undergone by the system.</a:t>
            </a:r>
          </a:p>
          <a:p>
            <a:pPr>
              <a:buFont typeface="Wingdings" panose="05000000000000000000" pitchFamily="2" charset="2"/>
              <a:buChar char="v"/>
            </a:pPr>
            <a:r>
              <a:rPr lang="en-US" sz="2400" dirty="0">
                <a:solidFill>
                  <a:srgbClr val="002060"/>
                </a:solidFill>
              </a:rPr>
              <a:t>Hence, they are referred to as path functions. </a:t>
            </a:r>
          </a:p>
          <a:p>
            <a:pPr>
              <a:buFont typeface="Wingdings" panose="05000000000000000000" pitchFamily="2" charset="2"/>
              <a:buChar char="v"/>
            </a:pPr>
            <a:r>
              <a:rPr lang="en-US" sz="2400" dirty="0"/>
              <a:t>The change in value of a path function depends on the path of the process. </a:t>
            </a:r>
          </a:p>
          <a:p>
            <a:pPr>
              <a:buFont typeface="Wingdings" panose="05000000000000000000" pitchFamily="2" charset="2"/>
              <a:buChar char="v"/>
            </a:pPr>
            <a:r>
              <a:rPr lang="en-US" sz="2400" dirty="0"/>
              <a:t>They are symbolized using inexact differential such as </a:t>
            </a:r>
            <a:r>
              <a:rPr lang="el-GR" sz="2400" dirty="0"/>
              <a:t>δ</a:t>
            </a:r>
            <a:r>
              <a:rPr lang="en-US" sz="2400" dirty="0"/>
              <a:t>Q (for heat) and </a:t>
            </a:r>
            <a:r>
              <a:rPr lang="el-GR" sz="2400" dirty="0"/>
              <a:t>δ</a:t>
            </a:r>
            <a:r>
              <a:rPr lang="en-US" sz="2400" dirty="0"/>
              <a:t>W (for work) </a:t>
            </a:r>
          </a:p>
        </p:txBody>
      </p:sp>
      <p:graphicFrame>
        <p:nvGraphicFramePr>
          <p:cNvPr id="6" name="Object 2"/>
          <p:cNvGraphicFramePr>
            <a:graphicFrameLocks noChangeAspect="1"/>
          </p:cNvGraphicFramePr>
          <p:nvPr>
            <p:extLst>
              <p:ext uri="{D42A27DB-BD31-4B8C-83A1-F6EECF244321}">
                <p14:modId xmlns:p14="http://schemas.microsoft.com/office/powerpoint/2010/main" val="657224296"/>
              </p:ext>
            </p:extLst>
          </p:nvPr>
        </p:nvGraphicFramePr>
        <p:xfrm>
          <a:off x="1059905" y="4798643"/>
          <a:ext cx="4558028" cy="1288138"/>
        </p:xfrm>
        <a:graphic>
          <a:graphicData uri="http://schemas.openxmlformats.org/presentationml/2006/ole">
            <mc:AlternateContent xmlns:mc="http://schemas.openxmlformats.org/markup-compatibility/2006">
              <mc:Choice xmlns:v="urn:schemas-microsoft-com:vml" Requires="v">
                <p:oleObj spid="_x0000_s1108" name="Equation" r:id="rId3" imgW="1168200" imgH="330120" progId="Equation.DSMT4">
                  <p:embed/>
                </p:oleObj>
              </mc:Choice>
              <mc:Fallback>
                <p:oleObj name="Equation" r:id="rId3" imgW="1168200" imgH="330120" progId="Equation.DSMT4">
                  <p:embed/>
                  <p:pic>
                    <p:nvPicPr>
                      <p:cNvPr id="0" name=""/>
                      <p:cNvPicPr>
                        <a:picLocks noChangeAspect="1" noChangeArrowheads="1"/>
                      </p:cNvPicPr>
                      <p:nvPr/>
                    </p:nvPicPr>
                    <p:blipFill>
                      <a:blip r:embed="rId4"/>
                      <a:srcRect/>
                      <a:stretch>
                        <a:fillRect/>
                      </a:stretch>
                    </p:blipFill>
                    <p:spPr bwMode="auto">
                      <a:xfrm>
                        <a:off x="1059905" y="4798643"/>
                        <a:ext cx="4558028" cy="1288138"/>
                      </a:xfrm>
                      <a:prstGeom prst="rect">
                        <a:avLst/>
                      </a:prstGeom>
                      <a:solidFill>
                        <a:schemeClr val="accent1"/>
                      </a:solidFill>
                      <a:ln>
                        <a:noFill/>
                      </a:ln>
                      <a:effectLst/>
                    </p:spPr>
                  </p:pic>
                </p:oleObj>
              </mc:Fallback>
            </mc:AlternateContent>
          </a:graphicData>
        </a:graphic>
      </p:graphicFrame>
    </p:spTree>
    <p:extLst>
      <p:ext uri="{BB962C8B-B14F-4D97-AF65-F5344CB8AC3E}">
        <p14:creationId xmlns:p14="http://schemas.microsoft.com/office/powerpoint/2010/main" val="2909058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Basic Concepts and Definitions</a:t>
            </a:r>
            <a:endParaRPr lang="en-US" dirty="0">
              <a:solidFill>
                <a:srgbClr val="002060"/>
              </a:solidFill>
              <a:latin typeface="Georgia" panose="02040502050405020303" pitchFamily="18" charset="0"/>
            </a:endParaRPr>
          </a:p>
        </p:txBody>
      </p:sp>
      <p:sp>
        <p:nvSpPr>
          <p:cNvPr id="3" name="Content Placeholder 2"/>
          <p:cNvSpPr>
            <a:spLocks noGrp="1"/>
          </p:cNvSpPr>
          <p:nvPr>
            <p:ph sz="half" idx="1"/>
          </p:nvPr>
        </p:nvSpPr>
        <p:spPr>
          <a:xfrm>
            <a:off x="514601" y="1008529"/>
            <a:ext cx="5836894" cy="4827495"/>
          </a:xfrm>
        </p:spPr>
        <p:txBody>
          <a:bodyPr>
            <a:noAutofit/>
          </a:bodyPr>
          <a:lstStyle/>
          <a:p>
            <a:pPr marL="0" indent="0">
              <a:buNone/>
            </a:pPr>
            <a:r>
              <a:rPr lang="en-US" sz="3000" b="1" dirty="0">
                <a:solidFill>
                  <a:srgbClr val="C00000"/>
                </a:solidFill>
              </a:rPr>
              <a:t>Thermodynamic cycle</a:t>
            </a:r>
          </a:p>
          <a:p>
            <a:pPr>
              <a:buFont typeface="Wingdings" panose="05000000000000000000" pitchFamily="2" charset="2"/>
              <a:buChar char="v"/>
            </a:pPr>
            <a:r>
              <a:rPr lang="en-US" sz="2400" dirty="0"/>
              <a:t>A thermodynamic cycle is a sequence of processes that begins and ends at the same state. </a:t>
            </a:r>
          </a:p>
          <a:p>
            <a:pPr>
              <a:buFont typeface="Wingdings" panose="05000000000000000000" pitchFamily="2" charset="2"/>
              <a:buChar char="v"/>
            </a:pPr>
            <a:r>
              <a:rPr lang="en-US" sz="2400" dirty="0">
                <a:solidFill>
                  <a:srgbClr val="002060"/>
                </a:solidFill>
              </a:rPr>
              <a:t>In a cycle, the net change in value of any property is equal to zero. </a:t>
            </a:r>
          </a:p>
          <a:p>
            <a:pPr>
              <a:buFont typeface="Wingdings" panose="05000000000000000000" pitchFamily="2" charset="2"/>
              <a:buChar char="v"/>
            </a:pPr>
            <a:r>
              <a:rPr lang="en-US" sz="2400" dirty="0"/>
              <a:t>Cycles that are repeated periodically play prominent roles in many areas of application.  For example, steam circulating through an electrical power plant executes a cycle.</a:t>
            </a:r>
          </a:p>
          <a:p>
            <a:pPr>
              <a:buFont typeface="Wingdings" panose="05000000000000000000" pitchFamily="2" charset="2"/>
              <a:buChar char="v"/>
            </a:pPr>
            <a:endParaRPr lang="en-US" sz="2400" dirty="0"/>
          </a:p>
        </p:txBody>
      </p:sp>
      <p:sp>
        <p:nvSpPr>
          <p:cNvPr id="4" name="Slide Number Placeholder 3"/>
          <p:cNvSpPr>
            <a:spLocks noGrp="1"/>
          </p:cNvSpPr>
          <p:nvPr>
            <p:ph type="sldNum" sz="quarter" idx="12"/>
          </p:nvPr>
        </p:nvSpPr>
        <p:spPr/>
        <p:txBody>
          <a:bodyPr/>
          <a:lstStyle/>
          <a:p>
            <a:fld id="{F4801FD5-11B4-DE43-ACA2-E85EEB9A6F9C}" type="slidenum">
              <a:rPr lang="en-US" smtClean="0"/>
              <a:pPr/>
              <a:t>30</a:t>
            </a:fld>
            <a:endParaRPr lang="en-US" dirty="0"/>
          </a:p>
        </p:txBody>
      </p:sp>
      <p:sp>
        <p:nvSpPr>
          <p:cNvPr id="5" name="Content Placeholder 2"/>
          <p:cNvSpPr txBox="1">
            <a:spLocks/>
          </p:cNvSpPr>
          <p:nvPr/>
        </p:nvSpPr>
        <p:spPr>
          <a:xfrm>
            <a:off x="6531087" y="1008529"/>
            <a:ext cx="5276600" cy="482749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marL="0" indent="0">
              <a:buFont typeface="Arial"/>
              <a:buNone/>
            </a:pPr>
            <a:r>
              <a:rPr lang="en-US" sz="3000" b="1" dirty="0">
                <a:solidFill>
                  <a:srgbClr val="C00000"/>
                </a:solidFill>
              </a:rPr>
              <a:t>Thermodynamic Equilibrium</a:t>
            </a:r>
          </a:p>
          <a:p>
            <a:pPr>
              <a:buFont typeface="Wingdings" panose="05000000000000000000" pitchFamily="2" charset="2"/>
              <a:buChar char="v"/>
            </a:pPr>
            <a:r>
              <a:rPr lang="en-US" sz="2400" dirty="0"/>
              <a:t>A system is in thermodynamic equilibrium with its surroundings if no further changes occur in its properties: </a:t>
            </a:r>
          </a:p>
          <a:p>
            <a:pPr>
              <a:buFont typeface="Wingdings" panose="05000000000000000000" pitchFamily="2" charset="2"/>
              <a:buChar char="v"/>
            </a:pPr>
            <a:r>
              <a:rPr lang="en-US" sz="2400" dirty="0"/>
              <a:t>3 conditions are satisfied: </a:t>
            </a:r>
          </a:p>
          <a:p>
            <a:pPr>
              <a:buFont typeface="Wingdings" panose="05000000000000000000" pitchFamily="2" charset="2"/>
              <a:buChar char="ü"/>
            </a:pPr>
            <a:r>
              <a:rPr lang="en-US" sz="2400" dirty="0"/>
              <a:t>mechanical equilibrium: forces are balanced.</a:t>
            </a:r>
          </a:p>
          <a:p>
            <a:pPr>
              <a:buFont typeface="Wingdings" panose="05000000000000000000" pitchFamily="2" charset="2"/>
              <a:buChar char="ü"/>
            </a:pPr>
            <a:r>
              <a:rPr lang="en-US" sz="2400" dirty="0"/>
              <a:t>thermal equilibrium: temperature is uniform.</a:t>
            </a:r>
          </a:p>
          <a:p>
            <a:pPr>
              <a:buFont typeface="Wingdings" panose="05000000000000000000" pitchFamily="2" charset="2"/>
              <a:buChar char="ü"/>
            </a:pPr>
            <a:r>
              <a:rPr lang="en-US" sz="2400" dirty="0"/>
              <a:t>chemical equilibrium: no change in composition and no transfer of matter.</a:t>
            </a:r>
          </a:p>
        </p:txBody>
      </p:sp>
    </p:spTree>
    <p:extLst>
      <p:ext uri="{BB962C8B-B14F-4D97-AF65-F5344CB8AC3E}">
        <p14:creationId xmlns:p14="http://schemas.microsoft.com/office/powerpoint/2010/main" val="2214258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xEl>
                                              <p:pRg st="2" end="2"/>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
                                            <p:txEl>
                                              <p:pRg st="4" end="4"/>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Basic Concepts and Definitions</a:t>
            </a:r>
            <a:endParaRPr lang="en-US" dirty="0">
              <a:solidFill>
                <a:srgbClr val="002060"/>
              </a:solidFill>
              <a:latin typeface="Georgia" panose="02040502050405020303" pitchFamily="18" charset="0"/>
            </a:endParaRPr>
          </a:p>
        </p:txBody>
      </p:sp>
      <p:sp>
        <p:nvSpPr>
          <p:cNvPr id="3" name="Content Placeholder 2"/>
          <p:cNvSpPr>
            <a:spLocks noGrp="1"/>
          </p:cNvSpPr>
          <p:nvPr>
            <p:ph sz="half" idx="1"/>
          </p:nvPr>
        </p:nvSpPr>
        <p:spPr>
          <a:xfrm>
            <a:off x="514601" y="1008530"/>
            <a:ext cx="11560858" cy="2232212"/>
          </a:xfrm>
        </p:spPr>
        <p:txBody>
          <a:bodyPr>
            <a:noAutofit/>
          </a:bodyPr>
          <a:lstStyle/>
          <a:p>
            <a:pPr marL="0" indent="0">
              <a:buNone/>
            </a:pPr>
            <a:r>
              <a:rPr lang="en-US" sz="3000" b="1" dirty="0">
                <a:solidFill>
                  <a:srgbClr val="C00000"/>
                </a:solidFill>
              </a:rPr>
              <a:t>Quasi-Static Process</a:t>
            </a:r>
          </a:p>
          <a:p>
            <a:pPr>
              <a:buFont typeface="Wingdings" panose="05000000000000000000" pitchFamily="2" charset="2"/>
              <a:buChar char="v"/>
            </a:pPr>
            <a:r>
              <a:rPr lang="en-US" sz="2400" dirty="0"/>
              <a:t>A process is said to be </a:t>
            </a:r>
            <a:r>
              <a:rPr lang="en-US" sz="2400" u="sng" dirty="0">
                <a:solidFill>
                  <a:srgbClr val="002060"/>
                </a:solidFill>
              </a:rPr>
              <a:t>quasi-static</a:t>
            </a:r>
            <a:r>
              <a:rPr lang="en-US" sz="2400" dirty="0"/>
              <a:t> if it proceeds in such a manner that, at any instance, the system is only infinitesimally displaced from the equilibrium with the surroundings. </a:t>
            </a:r>
          </a:p>
          <a:p>
            <a:pPr>
              <a:buFont typeface="Wingdings" panose="05000000000000000000" pitchFamily="2" charset="2"/>
              <a:buChar char="v"/>
            </a:pPr>
            <a:r>
              <a:rPr lang="en-US" sz="2400" dirty="0"/>
              <a:t>A quasi-static process implies the system is essentially in internal equilibrium so that the properties are uniform. </a:t>
            </a:r>
          </a:p>
        </p:txBody>
      </p:sp>
      <p:sp>
        <p:nvSpPr>
          <p:cNvPr id="4" name="Slide Number Placeholder 3"/>
          <p:cNvSpPr>
            <a:spLocks noGrp="1"/>
          </p:cNvSpPr>
          <p:nvPr>
            <p:ph type="sldNum" sz="quarter" idx="12"/>
          </p:nvPr>
        </p:nvSpPr>
        <p:spPr/>
        <p:txBody>
          <a:bodyPr/>
          <a:lstStyle/>
          <a:p>
            <a:fld id="{F4801FD5-11B4-DE43-ACA2-E85EEB9A6F9C}" type="slidenum">
              <a:rPr lang="en-US" smtClean="0"/>
              <a:pPr/>
              <a:t>31</a:t>
            </a:fld>
            <a:endParaRPr lang="en-US" dirty="0"/>
          </a:p>
        </p:txBody>
      </p:sp>
      <p:pic>
        <p:nvPicPr>
          <p:cNvPr id="6" name="Picture 5"/>
          <p:cNvPicPr>
            <a:picLocks noChangeAspect="1"/>
          </p:cNvPicPr>
          <p:nvPr/>
        </p:nvPicPr>
        <p:blipFill>
          <a:blip r:embed="rId2"/>
          <a:stretch>
            <a:fillRect/>
          </a:stretch>
        </p:blipFill>
        <p:spPr>
          <a:xfrm>
            <a:off x="609601" y="3119718"/>
            <a:ext cx="6678145" cy="3055683"/>
          </a:xfrm>
          <a:prstGeom prst="rect">
            <a:avLst/>
          </a:prstGeom>
        </p:spPr>
      </p:pic>
      <p:sp>
        <p:nvSpPr>
          <p:cNvPr id="7" name="Content Placeholder 2"/>
          <p:cNvSpPr txBox="1">
            <a:spLocks/>
          </p:cNvSpPr>
          <p:nvPr/>
        </p:nvSpPr>
        <p:spPr>
          <a:xfrm>
            <a:off x="7382746" y="3119717"/>
            <a:ext cx="4692713" cy="3055683"/>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marL="0" indent="0">
              <a:buFont typeface="Arial"/>
              <a:buNone/>
            </a:pPr>
            <a:r>
              <a:rPr lang="en-US" b="1" dirty="0">
                <a:solidFill>
                  <a:srgbClr val="C00000"/>
                </a:solidFill>
              </a:rPr>
              <a:t>Adiabatic Process</a:t>
            </a:r>
          </a:p>
          <a:p>
            <a:pPr>
              <a:buFont typeface="Wingdings" panose="05000000000000000000" pitchFamily="2" charset="2"/>
              <a:buChar char="v"/>
            </a:pPr>
            <a:r>
              <a:rPr lang="en-US" sz="2200" dirty="0"/>
              <a:t>A process during which there is no heat transfer is called an adiabatic process. </a:t>
            </a:r>
          </a:p>
          <a:p>
            <a:pPr>
              <a:buFont typeface="Wingdings" panose="05000000000000000000" pitchFamily="2" charset="2"/>
              <a:buChar char="v"/>
            </a:pPr>
            <a:r>
              <a:rPr lang="en-US" sz="2200" dirty="0"/>
              <a:t>There are two ways a process can be adiabatic.</a:t>
            </a:r>
          </a:p>
          <a:p>
            <a:pPr>
              <a:buFont typeface="Wingdings" panose="05000000000000000000" pitchFamily="2" charset="2"/>
              <a:buChar char="v"/>
            </a:pPr>
            <a:r>
              <a:rPr lang="en-US" sz="2200" dirty="0"/>
              <a:t>Thermal insulation or system having same temperature with surroundings.</a:t>
            </a:r>
          </a:p>
        </p:txBody>
      </p:sp>
    </p:spTree>
    <p:extLst>
      <p:ext uri="{BB962C8B-B14F-4D97-AF65-F5344CB8AC3E}">
        <p14:creationId xmlns:p14="http://schemas.microsoft.com/office/powerpoint/2010/main" val="2581836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Basic Concepts and Definitions</a:t>
            </a:r>
            <a:endParaRPr lang="en-US" dirty="0">
              <a:solidFill>
                <a:srgbClr val="002060"/>
              </a:solidFill>
              <a:latin typeface="Georgia" panose="02040502050405020303" pitchFamily="18" charset="0"/>
            </a:endParaRPr>
          </a:p>
        </p:txBody>
      </p:sp>
      <p:sp>
        <p:nvSpPr>
          <p:cNvPr id="3" name="Content Placeholder 2"/>
          <p:cNvSpPr>
            <a:spLocks noGrp="1"/>
          </p:cNvSpPr>
          <p:nvPr>
            <p:ph sz="half" idx="1"/>
          </p:nvPr>
        </p:nvSpPr>
        <p:spPr>
          <a:xfrm>
            <a:off x="514600" y="1008529"/>
            <a:ext cx="6868145" cy="5270076"/>
          </a:xfrm>
        </p:spPr>
        <p:txBody>
          <a:bodyPr>
            <a:noAutofit/>
          </a:bodyPr>
          <a:lstStyle/>
          <a:p>
            <a:pPr marL="0" indent="0">
              <a:buNone/>
            </a:pPr>
            <a:r>
              <a:rPr lang="en-US" sz="3000" b="1" dirty="0">
                <a:solidFill>
                  <a:srgbClr val="C00000"/>
                </a:solidFill>
              </a:rPr>
              <a:t>Reversible Process</a:t>
            </a:r>
          </a:p>
          <a:p>
            <a:pPr>
              <a:buFont typeface="Wingdings" panose="05000000000000000000" pitchFamily="2" charset="2"/>
              <a:buChar char="v"/>
            </a:pPr>
            <a:r>
              <a:rPr lang="en-US" sz="2200" dirty="0"/>
              <a:t>A process is said to be reversible if after it has been carried out it is possible by any means whatsoever to restore the system and surroundings to exactly the same initial states as before.  </a:t>
            </a:r>
          </a:p>
          <a:p>
            <a:pPr>
              <a:buFont typeface="Wingdings" panose="05000000000000000000" pitchFamily="2" charset="2"/>
              <a:buChar char="v"/>
            </a:pPr>
            <a:r>
              <a:rPr lang="en-US" sz="2200" dirty="0"/>
              <a:t>Since thermodynamics deals only with systems in equilibrium, it follows that it deals necessarily with reversible processes.</a:t>
            </a:r>
          </a:p>
          <a:p>
            <a:pPr>
              <a:buFont typeface="Wingdings" panose="05000000000000000000" pitchFamily="2" charset="2"/>
              <a:buChar char="v"/>
            </a:pPr>
            <a:r>
              <a:rPr lang="en-US" sz="2200" b="1" dirty="0">
                <a:solidFill>
                  <a:srgbClr val="C00000"/>
                </a:solidFill>
              </a:rPr>
              <a:t>In practice, the reversible process represents the optimum path for all energy conversion processes.</a:t>
            </a:r>
          </a:p>
          <a:p>
            <a:pPr>
              <a:buFont typeface="Wingdings" panose="05000000000000000000" pitchFamily="2" charset="2"/>
              <a:buChar char="v"/>
            </a:pPr>
            <a:r>
              <a:rPr lang="en-US" sz="2200" dirty="0"/>
              <a:t>A good example of reversible processes is the evaporation of liquid in which temperature and pressure remains essentially the same throughout the processes.  </a:t>
            </a:r>
          </a:p>
          <a:p>
            <a:pPr>
              <a:buFont typeface="Wingdings" panose="05000000000000000000" pitchFamily="2" charset="2"/>
              <a:buChar char="v"/>
            </a:pPr>
            <a:r>
              <a:rPr lang="en-US" sz="2200" dirty="0"/>
              <a:t>The process path is indicated by a solid line.</a:t>
            </a:r>
          </a:p>
        </p:txBody>
      </p:sp>
      <p:sp>
        <p:nvSpPr>
          <p:cNvPr id="4" name="Slide Number Placeholder 3"/>
          <p:cNvSpPr>
            <a:spLocks noGrp="1"/>
          </p:cNvSpPr>
          <p:nvPr>
            <p:ph type="sldNum" sz="quarter" idx="12"/>
          </p:nvPr>
        </p:nvSpPr>
        <p:spPr/>
        <p:txBody>
          <a:bodyPr/>
          <a:lstStyle/>
          <a:p>
            <a:fld id="{F4801FD5-11B4-DE43-ACA2-E85EEB9A6F9C}" type="slidenum">
              <a:rPr lang="en-US" smtClean="0"/>
              <a:pPr/>
              <a:t>32</a:t>
            </a:fld>
            <a:endParaRPr lang="en-US" dirty="0"/>
          </a:p>
        </p:txBody>
      </p:sp>
      <p:pic>
        <p:nvPicPr>
          <p:cNvPr id="8" name="Picture 7"/>
          <p:cNvPicPr>
            <a:picLocks noChangeAspect="1"/>
          </p:cNvPicPr>
          <p:nvPr/>
        </p:nvPicPr>
        <p:blipFill>
          <a:blip r:embed="rId2"/>
          <a:stretch>
            <a:fillRect/>
          </a:stretch>
        </p:blipFill>
        <p:spPr>
          <a:xfrm>
            <a:off x="7402774" y="1735625"/>
            <a:ext cx="4404913" cy="3815884"/>
          </a:xfrm>
          <a:prstGeom prst="rect">
            <a:avLst/>
          </a:prstGeom>
        </p:spPr>
      </p:pic>
    </p:spTree>
    <p:extLst>
      <p:ext uri="{BB962C8B-B14F-4D97-AF65-F5344CB8AC3E}">
        <p14:creationId xmlns:p14="http://schemas.microsoft.com/office/powerpoint/2010/main" val="1395020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Basic Concepts and Definitions</a:t>
            </a:r>
            <a:endParaRPr lang="en-US" dirty="0">
              <a:solidFill>
                <a:srgbClr val="002060"/>
              </a:solidFill>
              <a:latin typeface="Georgia" panose="02040502050405020303" pitchFamily="18" charset="0"/>
            </a:endParaRPr>
          </a:p>
        </p:txBody>
      </p:sp>
      <p:sp>
        <p:nvSpPr>
          <p:cNvPr id="3" name="Content Placeholder 2"/>
          <p:cNvSpPr>
            <a:spLocks noGrp="1"/>
          </p:cNvSpPr>
          <p:nvPr>
            <p:ph sz="half" idx="1"/>
          </p:nvPr>
        </p:nvSpPr>
        <p:spPr>
          <a:xfrm>
            <a:off x="514601" y="1008529"/>
            <a:ext cx="6625788" cy="5270076"/>
          </a:xfrm>
        </p:spPr>
        <p:txBody>
          <a:bodyPr>
            <a:noAutofit/>
          </a:bodyPr>
          <a:lstStyle/>
          <a:p>
            <a:pPr marL="0" indent="0">
              <a:buNone/>
            </a:pPr>
            <a:r>
              <a:rPr lang="en-US" sz="3000" b="1" dirty="0">
                <a:solidFill>
                  <a:srgbClr val="C00000"/>
                </a:solidFill>
              </a:rPr>
              <a:t>Irreversible Process</a:t>
            </a:r>
          </a:p>
          <a:p>
            <a:pPr>
              <a:buFont typeface="Wingdings" panose="05000000000000000000" pitchFamily="2" charset="2"/>
              <a:buChar char="v"/>
            </a:pPr>
            <a:r>
              <a:rPr lang="en-US" sz="2200" dirty="0"/>
              <a:t>If the system departs significantly from equilibrium during the process, both internally and externally, the process is irreversible.  </a:t>
            </a:r>
          </a:p>
          <a:p>
            <a:pPr>
              <a:buFont typeface="Wingdings" panose="05000000000000000000" pitchFamily="2" charset="2"/>
              <a:buChar char="v"/>
            </a:pPr>
            <a:r>
              <a:rPr lang="en-US" sz="2200" dirty="0"/>
              <a:t>The direction of such a process cannot be interchanged because of the differences in the values of properties within the system and also between the system and surroundings.</a:t>
            </a:r>
          </a:p>
          <a:p>
            <a:pPr>
              <a:buFont typeface="Wingdings" panose="05000000000000000000" pitchFamily="2" charset="2"/>
              <a:buChar char="v"/>
            </a:pPr>
            <a:r>
              <a:rPr lang="en-US" sz="2200" dirty="0"/>
              <a:t>Irreversible processes include doing </a:t>
            </a:r>
            <a:r>
              <a:rPr lang="en-US" sz="2200" u="sng" dirty="0">
                <a:solidFill>
                  <a:srgbClr val="C00000"/>
                </a:solidFill>
              </a:rPr>
              <a:t>work against friction</a:t>
            </a:r>
            <a:r>
              <a:rPr lang="en-US" sz="2200" dirty="0"/>
              <a:t>, </a:t>
            </a:r>
            <a:r>
              <a:rPr lang="en-US" sz="2200" dirty="0">
                <a:solidFill>
                  <a:srgbClr val="C00000"/>
                </a:solidFill>
              </a:rPr>
              <a:t>unrestrained expansion</a:t>
            </a:r>
            <a:r>
              <a:rPr lang="en-US" sz="2200" dirty="0"/>
              <a:t>, mixing of two fluids, </a:t>
            </a:r>
            <a:r>
              <a:rPr lang="en-US" sz="2200" dirty="0">
                <a:solidFill>
                  <a:srgbClr val="002060"/>
                </a:solidFill>
              </a:rPr>
              <a:t>heat transfer across a finite temperature difference</a:t>
            </a:r>
            <a:r>
              <a:rPr lang="en-US" sz="2200" dirty="0"/>
              <a:t>, inelastic deformation of solids, chemical reactions and </a:t>
            </a:r>
            <a:r>
              <a:rPr lang="en-US" sz="2200" dirty="0">
                <a:solidFill>
                  <a:srgbClr val="C00000"/>
                </a:solidFill>
              </a:rPr>
              <a:t>the transfer of current against electrical resistance</a:t>
            </a:r>
            <a:r>
              <a:rPr lang="en-US" sz="2200" dirty="0"/>
              <a:t>.</a:t>
            </a:r>
          </a:p>
          <a:p>
            <a:pPr>
              <a:buFont typeface="Wingdings" panose="05000000000000000000" pitchFamily="2" charset="2"/>
              <a:buChar char="v"/>
            </a:pPr>
            <a:r>
              <a:rPr lang="en-US" sz="2200" dirty="0"/>
              <a:t>Process path is represented by broken lines.</a:t>
            </a:r>
          </a:p>
          <a:p>
            <a:pPr>
              <a:buFont typeface="Wingdings" panose="05000000000000000000" pitchFamily="2" charset="2"/>
              <a:buChar char="v"/>
            </a:pPr>
            <a:endParaRPr lang="en-US" sz="2200" dirty="0"/>
          </a:p>
        </p:txBody>
      </p:sp>
      <p:sp>
        <p:nvSpPr>
          <p:cNvPr id="4" name="Slide Number Placeholder 3"/>
          <p:cNvSpPr>
            <a:spLocks noGrp="1"/>
          </p:cNvSpPr>
          <p:nvPr>
            <p:ph type="sldNum" sz="quarter" idx="12"/>
          </p:nvPr>
        </p:nvSpPr>
        <p:spPr/>
        <p:txBody>
          <a:bodyPr/>
          <a:lstStyle/>
          <a:p>
            <a:fld id="{F4801FD5-11B4-DE43-ACA2-E85EEB9A6F9C}" type="slidenum">
              <a:rPr lang="en-US" smtClean="0"/>
              <a:pPr/>
              <a:t>33</a:t>
            </a:fld>
            <a:endParaRPr lang="en-US" dirty="0"/>
          </a:p>
        </p:txBody>
      </p:sp>
      <p:pic>
        <p:nvPicPr>
          <p:cNvPr id="6" name="Picture 3"/>
          <p:cNvPicPr>
            <a:picLocks noChangeAspect="1" noChangeArrowheads="1"/>
          </p:cNvPicPr>
          <p:nvPr/>
        </p:nvPicPr>
        <p:blipFill>
          <a:blip r:embed="rId2"/>
          <a:srcRect/>
          <a:stretch>
            <a:fillRect/>
          </a:stretch>
        </p:blipFill>
        <p:spPr bwMode="auto">
          <a:xfrm>
            <a:off x="7568282" y="3411070"/>
            <a:ext cx="3910602" cy="2707341"/>
          </a:xfrm>
          <a:prstGeom prst="rect">
            <a:avLst/>
          </a:prstGeom>
          <a:noFill/>
          <a:ln w="9525">
            <a:noFill/>
            <a:miter lim="800000"/>
            <a:headEnd/>
            <a:tailEnd/>
          </a:ln>
          <a:effectLst/>
        </p:spPr>
      </p:pic>
      <p:pic>
        <p:nvPicPr>
          <p:cNvPr id="5" name="Picture 4"/>
          <p:cNvPicPr>
            <a:picLocks noChangeAspect="1"/>
          </p:cNvPicPr>
          <p:nvPr/>
        </p:nvPicPr>
        <p:blipFill>
          <a:blip r:embed="rId3"/>
          <a:stretch>
            <a:fillRect/>
          </a:stretch>
        </p:blipFill>
        <p:spPr>
          <a:xfrm>
            <a:off x="7406356" y="1160650"/>
            <a:ext cx="4447659" cy="1743915"/>
          </a:xfrm>
          <a:prstGeom prst="rect">
            <a:avLst/>
          </a:prstGeom>
        </p:spPr>
      </p:pic>
      <p:sp>
        <p:nvSpPr>
          <p:cNvPr id="9" name="Content Placeholder 2"/>
          <p:cNvSpPr txBox="1">
            <a:spLocks/>
          </p:cNvSpPr>
          <p:nvPr/>
        </p:nvSpPr>
        <p:spPr>
          <a:xfrm>
            <a:off x="7406356" y="2904565"/>
            <a:ext cx="4561526" cy="372834"/>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a:buFont typeface="Wingdings" panose="05000000000000000000" pitchFamily="2" charset="2"/>
              <a:buChar char="v"/>
            </a:pPr>
            <a:r>
              <a:rPr lang="en-US" sz="2000" b="1" dirty="0">
                <a:solidFill>
                  <a:srgbClr val="C00000"/>
                </a:solidFill>
              </a:rPr>
              <a:t>Unrestrained expansion of a gas </a:t>
            </a:r>
          </a:p>
          <a:p>
            <a:pPr>
              <a:buFont typeface="Wingdings" panose="05000000000000000000" pitchFamily="2" charset="2"/>
              <a:buChar char="v"/>
            </a:pPr>
            <a:endParaRPr lang="en-US" sz="2200" dirty="0"/>
          </a:p>
        </p:txBody>
      </p:sp>
    </p:spTree>
    <p:extLst>
      <p:ext uri="{BB962C8B-B14F-4D97-AF65-F5344CB8AC3E}">
        <p14:creationId xmlns:p14="http://schemas.microsoft.com/office/powerpoint/2010/main" val="3244882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22" presetClass="entr" presetSubtype="4"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down)">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Basic Concepts and Definitions</a:t>
            </a:r>
            <a:endParaRPr lang="en-US" dirty="0">
              <a:solidFill>
                <a:srgbClr val="002060"/>
              </a:solidFill>
              <a:latin typeface="Georgia" panose="02040502050405020303" pitchFamily="18" charset="0"/>
            </a:endParaRPr>
          </a:p>
        </p:txBody>
      </p:sp>
      <p:sp>
        <p:nvSpPr>
          <p:cNvPr id="3" name="Content Placeholder 2"/>
          <p:cNvSpPr>
            <a:spLocks noGrp="1"/>
          </p:cNvSpPr>
          <p:nvPr>
            <p:ph sz="half" idx="1"/>
          </p:nvPr>
        </p:nvSpPr>
        <p:spPr>
          <a:xfrm>
            <a:off x="218765" y="1008529"/>
            <a:ext cx="6625787" cy="653210"/>
          </a:xfrm>
        </p:spPr>
        <p:txBody>
          <a:bodyPr>
            <a:noAutofit/>
          </a:bodyPr>
          <a:lstStyle/>
          <a:p>
            <a:pPr marL="0" indent="0">
              <a:buNone/>
            </a:pPr>
            <a:r>
              <a:rPr lang="en-US" sz="3000" b="1" dirty="0">
                <a:solidFill>
                  <a:srgbClr val="C00000"/>
                </a:solidFill>
              </a:rPr>
              <a:t>Energy, Heat and Work</a:t>
            </a:r>
          </a:p>
        </p:txBody>
      </p:sp>
      <p:sp>
        <p:nvSpPr>
          <p:cNvPr id="4" name="Slide Number Placeholder 3"/>
          <p:cNvSpPr>
            <a:spLocks noGrp="1"/>
          </p:cNvSpPr>
          <p:nvPr>
            <p:ph type="sldNum" sz="quarter" idx="12"/>
          </p:nvPr>
        </p:nvSpPr>
        <p:spPr/>
        <p:txBody>
          <a:bodyPr/>
          <a:lstStyle/>
          <a:p>
            <a:fld id="{F4801FD5-11B4-DE43-ACA2-E85EEB9A6F9C}" type="slidenum">
              <a:rPr lang="en-US" smtClean="0"/>
              <a:pPr/>
              <a:t>34</a:t>
            </a:fld>
            <a:endParaRPr lang="en-US" dirty="0"/>
          </a:p>
        </p:txBody>
      </p:sp>
      <p:sp>
        <p:nvSpPr>
          <p:cNvPr id="8" name="Content Placeholder 2"/>
          <p:cNvSpPr txBox="1">
            <a:spLocks/>
          </p:cNvSpPr>
          <p:nvPr/>
        </p:nvSpPr>
        <p:spPr>
          <a:xfrm>
            <a:off x="218764" y="1682937"/>
            <a:ext cx="6356848" cy="4429780"/>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a:buFont typeface="Wingdings" panose="05000000000000000000" pitchFamily="2" charset="2"/>
              <a:buChar char="v"/>
            </a:pPr>
            <a:r>
              <a:rPr lang="en-US" sz="2400" b="1" dirty="0">
                <a:solidFill>
                  <a:srgbClr val="002060"/>
                </a:solidFill>
              </a:rPr>
              <a:t>Energy</a:t>
            </a:r>
            <a:r>
              <a:rPr lang="en-US" sz="2400" dirty="0"/>
              <a:t> is simply defined as the capacity to do work or supply heat.</a:t>
            </a:r>
          </a:p>
          <a:p>
            <a:pPr>
              <a:buFont typeface="Wingdings" panose="05000000000000000000" pitchFamily="2" charset="2"/>
              <a:buChar char="v"/>
            </a:pPr>
            <a:r>
              <a:rPr lang="en-US" sz="2400" b="1" dirty="0">
                <a:solidFill>
                  <a:srgbClr val="002060"/>
                </a:solidFill>
              </a:rPr>
              <a:t>Heat </a:t>
            </a:r>
            <a:r>
              <a:rPr lang="en-US" sz="2400" dirty="0"/>
              <a:t>and </a:t>
            </a:r>
            <a:r>
              <a:rPr lang="en-US" sz="2400" b="1" dirty="0">
                <a:solidFill>
                  <a:srgbClr val="002060"/>
                </a:solidFill>
              </a:rPr>
              <a:t>work</a:t>
            </a:r>
            <a:r>
              <a:rPr lang="en-US" sz="2400" dirty="0"/>
              <a:t> are </a:t>
            </a:r>
            <a:r>
              <a:rPr lang="en-US" sz="2400" u="sng" dirty="0">
                <a:solidFill>
                  <a:srgbClr val="C00000"/>
                </a:solidFill>
              </a:rPr>
              <a:t>transient forms </a:t>
            </a:r>
            <a:r>
              <a:rPr lang="en-US" sz="2400" dirty="0"/>
              <a:t>of energy which appear only at the boundary of systems.</a:t>
            </a:r>
          </a:p>
          <a:p>
            <a:pPr>
              <a:buFont typeface="Wingdings" panose="05000000000000000000" pitchFamily="2" charset="2"/>
              <a:buChar char="v"/>
            </a:pPr>
            <a:r>
              <a:rPr lang="en-US" sz="2400" b="1" dirty="0">
                <a:solidFill>
                  <a:srgbClr val="002060"/>
                </a:solidFill>
              </a:rPr>
              <a:t>Heat</a:t>
            </a:r>
            <a:r>
              <a:rPr lang="en-US" sz="2400" dirty="0"/>
              <a:t> is </a:t>
            </a:r>
            <a:r>
              <a:rPr lang="en-US" sz="2400" b="1" dirty="0">
                <a:solidFill>
                  <a:srgbClr val="C00000"/>
                </a:solidFill>
              </a:rPr>
              <a:t>energy flow </a:t>
            </a:r>
            <a:r>
              <a:rPr lang="en-US" sz="2400" dirty="0"/>
              <a:t>by virtue of a </a:t>
            </a:r>
            <a:r>
              <a:rPr lang="en-US" sz="2400" u="sng" dirty="0"/>
              <a:t>temperature difference</a:t>
            </a:r>
            <a:r>
              <a:rPr lang="en-US" sz="2400" dirty="0"/>
              <a:t>. Heat is not contained in a system. Heat only exists as energy crossing the boundary.</a:t>
            </a:r>
          </a:p>
          <a:p>
            <a:pPr>
              <a:buFont typeface="Wingdings" panose="05000000000000000000" pitchFamily="2" charset="2"/>
              <a:buChar char="v"/>
            </a:pPr>
            <a:r>
              <a:rPr lang="en-US" sz="2400" dirty="0"/>
              <a:t>A distinction is made between thermal energy and heat. Thermal energy is part of the internal energy, hence contained in the system. Heat is thermal energy crossing the boundary.</a:t>
            </a:r>
          </a:p>
          <a:p>
            <a:pPr>
              <a:buFont typeface="Wingdings" panose="05000000000000000000" pitchFamily="2" charset="2"/>
              <a:buChar char="v"/>
            </a:pPr>
            <a:endParaRPr lang="en-US" sz="2200" dirty="0"/>
          </a:p>
          <a:p>
            <a:pPr>
              <a:buFont typeface="Wingdings" panose="05000000000000000000" pitchFamily="2" charset="2"/>
              <a:buChar char="v"/>
            </a:pPr>
            <a:endParaRPr lang="en-US" sz="2200" dirty="0"/>
          </a:p>
        </p:txBody>
      </p:sp>
      <p:sp>
        <p:nvSpPr>
          <p:cNvPr id="10" name="Content Placeholder 2"/>
          <p:cNvSpPr txBox="1">
            <a:spLocks/>
          </p:cNvSpPr>
          <p:nvPr/>
        </p:nvSpPr>
        <p:spPr>
          <a:xfrm>
            <a:off x="6575612" y="1021976"/>
            <a:ext cx="5459507" cy="5090741"/>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a:buFont typeface="Wingdings" panose="05000000000000000000" pitchFamily="2" charset="2"/>
              <a:buChar char="v"/>
            </a:pPr>
            <a:r>
              <a:rPr lang="en-US" sz="2400" b="1" dirty="0">
                <a:solidFill>
                  <a:srgbClr val="002060"/>
                </a:solidFill>
              </a:rPr>
              <a:t>Work</a:t>
            </a:r>
            <a:r>
              <a:rPr lang="en-US" sz="2400" dirty="0"/>
              <a:t> is defined in mechanics as </a:t>
            </a:r>
            <a:r>
              <a:rPr lang="en-US" sz="2400" dirty="0">
                <a:solidFill>
                  <a:srgbClr val="C00000"/>
                </a:solidFill>
              </a:rPr>
              <a:t>the product of force and distance</a:t>
            </a:r>
            <a:r>
              <a:rPr lang="en-US" sz="2400" dirty="0"/>
              <a:t>, </a:t>
            </a:r>
            <a:r>
              <a:rPr lang="en-US" sz="2400" u="sng" dirty="0"/>
              <a:t>measured in the direction of application of the force. </a:t>
            </a:r>
          </a:p>
          <a:p>
            <a:pPr>
              <a:buFont typeface="Wingdings" panose="05000000000000000000" pitchFamily="2" charset="2"/>
              <a:buChar char="v"/>
            </a:pPr>
            <a:r>
              <a:rPr lang="en-US" sz="2400" b="1" dirty="0">
                <a:solidFill>
                  <a:srgbClr val="002060"/>
                </a:solidFill>
              </a:rPr>
              <a:t>Note: Work, like heat, is energy in transit and not a property of a system.</a:t>
            </a:r>
          </a:p>
          <a:p>
            <a:pPr>
              <a:buFont typeface="Wingdings" panose="05000000000000000000" pitchFamily="2" charset="2"/>
              <a:buChar char="v"/>
            </a:pPr>
            <a:r>
              <a:rPr lang="en-US" sz="2400" dirty="0"/>
              <a:t>There are many forms: electrical, magnetic, chemical and mechanical work (including work due to expansion and compression).</a:t>
            </a:r>
          </a:p>
          <a:p>
            <a:pPr>
              <a:buFont typeface="Wingdings" panose="05000000000000000000" pitchFamily="2" charset="2"/>
              <a:buChar char="v"/>
            </a:pPr>
            <a:endParaRPr lang="en-US" sz="2400" dirty="0"/>
          </a:p>
          <a:p>
            <a:pPr>
              <a:buFont typeface="Wingdings" panose="05000000000000000000" pitchFamily="2" charset="2"/>
              <a:buChar char="v"/>
            </a:pPr>
            <a:endParaRPr lang="en-US" sz="2200" dirty="0"/>
          </a:p>
          <a:p>
            <a:pPr>
              <a:buFont typeface="Wingdings" panose="05000000000000000000" pitchFamily="2" charset="2"/>
              <a:buChar char="v"/>
            </a:pPr>
            <a:endParaRPr lang="en-US" sz="2200" dirty="0"/>
          </a:p>
        </p:txBody>
      </p:sp>
    </p:spTree>
    <p:extLst>
      <p:ext uri="{BB962C8B-B14F-4D97-AF65-F5344CB8AC3E}">
        <p14:creationId xmlns:p14="http://schemas.microsoft.com/office/powerpoint/2010/main" val="373394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Basic Concepts and Definitions</a:t>
            </a:r>
            <a:endParaRPr lang="en-US" dirty="0">
              <a:solidFill>
                <a:srgbClr val="002060"/>
              </a:solidFill>
              <a:latin typeface="Georgia" panose="02040502050405020303" pitchFamily="18" charset="0"/>
            </a:endParaRPr>
          </a:p>
        </p:txBody>
      </p:sp>
      <p:sp>
        <p:nvSpPr>
          <p:cNvPr id="3" name="Content Placeholder 2"/>
          <p:cNvSpPr>
            <a:spLocks noGrp="1"/>
          </p:cNvSpPr>
          <p:nvPr>
            <p:ph sz="half" idx="1"/>
          </p:nvPr>
        </p:nvSpPr>
        <p:spPr>
          <a:xfrm>
            <a:off x="218765" y="1008529"/>
            <a:ext cx="6356847" cy="508520"/>
          </a:xfrm>
        </p:spPr>
        <p:txBody>
          <a:bodyPr>
            <a:noAutofit/>
          </a:bodyPr>
          <a:lstStyle/>
          <a:p>
            <a:pPr marL="0" indent="0">
              <a:buNone/>
            </a:pPr>
            <a:r>
              <a:rPr lang="en-US" sz="3000" b="1" dirty="0">
                <a:solidFill>
                  <a:srgbClr val="C00000"/>
                </a:solidFill>
              </a:rPr>
              <a:t>Internal Energy, U</a:t>
            </a:r>
          </a:p>
        </p:txBody>
      </p:sp>
      <p:sp>
        <p:nvSpPr>
          <p:cNvPr id="4" name="Slide Number Placeholder 3"/>
          <p:cNvSpPr>
            <a:spLocks noGrp="1"/>
          </p:cNvSpPr>
          <p:nvPr>
            <p:ph type="sldNum" sz="quarter" idx="12"/>
          </p:nvPr>
        </p:nvSpPr>
        <p:spPr/>
        <p:txBody>
          <a:bodyPr/>
          <a:lstStyle/>
          <a:p>
            <a:fld id="{F4801FD5-11B4-DE43-ACA2-E85EEB9A6F9C}" type="slidenum">
              <a:rPr lang="en-US" smtClean="0"/>
              <a:pPr/>
              <a:t>35</a:t>
            </a:fld>
            <a:endParaRPr lang="en-US" dirty="0"/>
          </a:p>
        </p:txBody>
      </p:sp>
      <p:sp>
        <p:nvSpPr>
          <p:cNvPr id="8" name="Content Placeholder 2"/>
          <p:cNvSpPr txBox="1">
            <a:spLocks/>
          </p:cNvSpPr>
          <p:nvPr/>
        </p:nvSpPr>
        <p:spPr>
          <a:xfrm>
            <a:off x="218764" y="1517049"/>
            <a:ext cx="5469342" cy="4761556"/>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a:buFont typeface="Wingdings" panose="05000000000000000000" pitchFamily="2" charset="2"/>
              <a:buChar char="v"/>
            </a:pPr>
            <a:r>
              <a:rPr lang="en-US" sz="2200" b="1" dirty="0">
                <a:solidFill>
                  <a:srgbClr val="002060"/>
                </a:solidFill>
              </a:rPr>
              <a:t>Internal Energy</a:t>
            </a:r>
            <a:r>
              <a:rPr lang="en-US" sz="2200" dirty="0"/>
              <a:t> is the  energy associated with the microscopic components of the system.</a:t>
            </a:r>
          </a:p>
          <a:p>
            <a:pPr>
              <a:buFont typeface="Wingdings" panose="05000000000000000000" pitchFamily="2" charset="2"/>
              <a:buChar char="v"/>
            </a:pPr>
            <a:r>
              <a:rPr lang="en-US" sz="2200" dirty="0"/>
              <a:t>It includes the kinetic and potential energy associated with the random motion (rotational, vibration and translation) of the atoms and molecules.</a:t>
            </a:r>
          </a:p>
          <a:p>
            <a:pPr>
              <a:buFont typeface="Wingdings" panose="05000000000000000000" pitchFamily="2" charset="2"/>
              <a:buChar char="v"/>
            </a:pPr>
            <a:r>
              <a:rPr lang="en-US" sz="2200" dirty="0"/>
              <a:t>Also includes potential energy bonding the particles together. </a:t>
            </a:r>
          </a:p>
          <a:p>
            <a:pPr marL="0" indent="0">
              <a:buNone/>
            </a:pPr>
            <a:r>
              <a:rPr lang="en-US" sz="2200" b="1" dirty="0">
                <a:solidFill>
                  <a:srgbClr val="002060"/>
                </a:solidFill>
              </a:rPr>
              <a:t>Note</a:t>
            </a:r>
          </a:p>
          <a:p>
            <a:pPr>
              <a:buFont typeface="Wingdings" panose="05000000000000000000" pitchFamily="2" charset="2"/>
              <a:buChar char="v"/>
            </a:pPr>
            <a:r>
              <a:rPr lang="en-US" sz="2200" b="1" dirty="0">
                <a:solidFill>
                  <a:srgbClr val="C00000"/>
                </a:solidFill>
              </a:rPr>
              <a:t>It does not include the macroscopic kinetic energy or external potential energy.</a:t>
            </a:r>
          </a:p>
          <a:p>
            <a:pPr>
              <a:buFont typeface="Wingdings" panose="05000000000000000000" pitchFamily="2" charset="2"/>
              <a:buChar char="v"/>
            </a:pPr>
            <a:endParaRPr lang="en-US" sz="2200" dirty="0"/>
          </a:p>
          <a:p>
            <a:pPr>
              <a:buFont typeface="Wingdings" panose="05000000000000000000" pitchFamily="2" charset="2"/>
              <a:buChar char="v"/>
            </a:pPr>
            <a:endParaRPr lang="en-US" sz="2200" dirty="0"/>
          </a:p>
        </p:txBody>
      </p:sp>
      <p:pic>
        <p:nvPicPr>
          <p:cNvPr id="5" name="Picture 4"/>
          <p:cNvPicPr>
            <a:picLocks noChangeAspect="1"/>
          </p:cNvPicPr>
          <p:nvPr/>
        </p:nvPicPr>
        <p:blipFill>
          <a:blip r:embed="rId2"/>
          <a:stretch>
            <a:fillRect/>
          </a:stretch>
        </p:blipFill>
        <p:spPr>
          <a:xfrm>
            <a:off x="5820162" y="1640541"/>
            <a:ext cx="6124575" cy="3684494"/>
          </a:xfrm>
          <a:prstGeom prst="rect">
            <a:avLst/>
          </a:prstGeom>
        </p:spPr>
      </p:pic>
    </p:spTree>
    <p:extLst>
      <p:ext uri="{BB962C8B-B14F-4D97-AF65-F5344CB8AC3E}">
        <p14:creationId xmlns:p14="http://schemas.microsoft.com/office/powerpoint/2010/main" val="2143823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Basic Concepts and Definitions</a:t>
            </a:r>
            <a:endParaRPr lang="en-US" dirty="0">
              <a:solidFill>
                <a:srgbClr val="002060"/>
              </a:solidFill>
              <a:latin typeface="Georgia" panose="02040502050405020303" pitchFamily="18" charset="0"/>
            </a:endParaRPr>
          </a:p>
        </p:txBody>
      </p:sp>
      <p:sp>
        <p:nvSpPr>
          <p:cNvPr id="3" name="Content Placeholder 2"/>
          <p:cNvSpPr>
            <a:spLocks noGrp="1"/>
          </p:cNvSpPr>
          <p:nvPr>
            <p:ph sz="half" idx="1"/>
          </p:nvPr>
        </p:nvSpPr>
        <p:spPr>
          <a:xfrm>
            <a:off x="218766" y="1008529"/>
            <a:ext cx="4568388" cy="508520"/>
          </a:xfrm>
        </p:spPr>
        <p:txBody>
          <a:bodyPr>
            <a:noAutofit/>
          </a:bodyPr>
          <a:lstStyle/>
          <a:p>
            <a:pPr marL="0" indent="0">
              <a:buNone/>
            </a:pPr>
            <a:r>
              <a:rPr lang="en-US" sz="3000" b="1" dirty="0">
                <a:solidFill>
                  <a:srgbClr val="C00000"/>
                </a:solidFill>
              </a:rPr>
              <a:t>Flow Energy</a:t>
            </a:r>
          </a:p>
        </p:txBody>
      </p:sp>
      <p:sp>
        <p:nvSpPr>
          <p:cNvPr id="4" name="Slide Number Placeholder 3"/>
          <p:cNvSpPr>
            <a:spLocks noGrp="1"/>
          </p:cNvSpPr>
          <p:nvPr>
            <p:ph type="sldNum" sz="quarter" idx="12"/>
          </p:nvPr>
        </p:nvSpPr>
        <p:spPr/>
        <p:txBody>
          <a:bodyPr/>
          <a:lstStyle/>
          <a:p>
            <a:fld id="{F4801FD5-11B4-DE43-ACA2-E85EEB9A6F9C}" type="slidenum">
              <a:rPr lang="en-US" smtClean="0"/>
              <a:pPr/>
              <a:t>36</a:t>
            </a:fld>
            <a:endParaRPr lang="en-US" dirty="0"/>
          </a:p>
        </p:txBody>
      </p:sp>
      <p:sp>
        <p:nvSpPr>
          <p:cNvPr id="8" name="Content Placeholder 2"/>
          <p:cNvSpPr txBox="1">
            <a:spLocks/>
          </p:cNvSpPr>
          <p:nvPr/>
        </p:nvSpPr>
        <p:spPr>
          <a:xfrm>
            <a:off x="218764" y="1517049"/>
            <a:ext cx="5469342" cy="4761556"/>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a:buFont typeface="Wingdings" panose="05000000000000000000" pitchFamily="2" charset="2"/>
              <a:buChar char="v"/>
            </a:pPr>
            <a:r>
              <a:rPr lang="en-US" sz="2400" b="1" dirty="0">
                <a:solidFill>
                  <a:srgbClr val="002060"/>
                </a:solidFill>
              </a:rPr>
              <a:t>Flow energy </a:t>
            </a:r>
            <a:r>
              <a:rPr lang="en-US" sz="2400" dirty="0"/>
              <a:t>is considered the energy contained in the flowing fluid. </a:t>
            </a:r>
          </a:p>
          <a:p>
            <a:pPr>
              <a:buFont typeface="Wingdings" panose="05000000000000000000" pitchFamily="2" charset="2"/>
              <a:buChar char="v"/>
            </a:pPr>
            <a:r>
              <a:rPr lang="en-US" sz="2400" dirty="0"/>
              <a:t>This is considered to be different from internal energy in thermodynamics.</a:t>
            </a:r>
          </a:p>
          <a:p>
            <a:pPr>
              <a:buFont typeface="Wingdings" panose="05000000000000000000" pitchFamily="2" charset="2"/>
              <a:buChar char="v"/>
            </a:pPr>
            <a:r>
              <a:rPr lang="en-US" sz="2400" dirty="0"/>
              <a:t>It is expressed as product of pressure and volume of the fluid.</a:t>
            </a:r>
          </a:p>
          <a:p>
            <a:pPr>
              <a:buFont typeface="Wingdings" panose="05000000000000000000" pitchFamily="2" charset="2"/>
              <a:buChar char="v"/>
            </a:pPr>
            <a:r>
              <a:rPr lang="en-US" sz="2400" dirty="0"/>
              <a:t>The </a:t>
            </a:r>
            <a:r>
              <a:rPr lang="en-US" sz="2400" b="1" dirty="0">
                <a:solidFill>
                  <a:srgbClr val="002060"/>
                </a:solidFill>
              </a:rPr>
              <a:t>total energy </a:t>
            </a:r>
            <a:r>
              <a:rPr lang="en-US" sz="2400" dirty="0"/>
              <a:t>associated with any thermodynamic system is equal to its internal energy plus macroscopic kinetic energy, external potential energy and the flow energy of the fluid. </a:t>
            </a:r>
          </a:p>
          <a:p>
            <a:pPr>
              <a:buFont typeface="Wingdings" panose="05000000000000000000" pitchFamily="2" charset="2"/>
              <a:buChar char="v"/>
            </a:pPr>
            <a:r>
              <a:rPr lang="en-US" sz="2400" b="1" dirty="0">
                <a:solidFill>
                  <a:srgbClr val="C00000"/>
                </a:solidFill>
              </a:rPr>
              <a:t>E = U + KE + PE + (PV)</a:t>
            </a:r>
            <a:r>
              <a:rPr lang="en-US" sz="2400" b="1" baseline="-25000" dirty="0">
                <a:solidFill>
                  <a:srgbClr val="C00000"/>
                </a:solidFill>
              </a:rPr>
              <a:t>FE</a:t>
            </a:r>
          </a:p>
        </p:txBody>
      </p:sp>
      <p:pic>
        <p:nvPicPr>
          <p:cNvPr id="9" name="Picture 8"/>
          <p:cNvPicPr>
            <a:picLocks noChangeAspect="1"/>
          </p:cNvPicPr>
          <p:nvPr/>
        </p:nvPicPr>
        <p:blipFill>
          <a:blip r:embed="rId2"/>
          <a:stretch>
            <a:fillRect/>
          </a:stretch>
        </p:blipFill>
        <p:spPr>
          <a:xfrm>
            <a:off x="5820162" y="1652754"/>
            <a:ext cx="6208355" cy="3645387"/>
          </a:xfrm>
          <a:prstGeom prst="rect">
            <a:avLst/>
          </a:prstGeom>
        </p:spPr>
      </p:pic>
    </p:spTree>
    <p:extLst>
      <p:ext uri="{BB962C8B-B14F-4D97-AF65-F5344CB8AC3E}">
        <p14:creationId xmlns:p14="http://schemas.microsoft.com/office/powerpoint/2010/main" val="3840855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Basic Concepts and Definitions</a:t>
            </a:r>
            <a:endParaRPr lang="en-US" dirty="0">
              <a:solidFill>
                <a:srgbClr val="002060"/>
              </a:solidFill>
              <a:latin typeface="Georgia" panose="02040502050405020303" pitchFamily="18" charset="0"/>
            </a:endParaRPr>
          </a:p>
        </p:txBody>
      </p:sp>
      <p:sp>
        <p:nvSpPr>
          <p:cNvPr id="3" name="Content Placeholder 2"/>
          <p:cNvSpPr>
            <a:spLocks noGrp="1"/>
          </p:cNvSpPr>
          <p:nvPr>
            <p:ph sz="half" idx="1"/>
          </p:nvPr>
        </p:nvSpPr>
        <p:spPr>
          <a:xfrm>
            <a:off x="218766" y="1008529"/>
            <a:ext cx="5697940" cy="508520"/>
          </a:xfrm>
        </p:spPr>
        <p:txBody>
          <a:bodyPr>
            <a:noAutofit/>
          </a:bodyPr>
          <a:lstStyle/>
          <a:p>
            <a:pPr marL="0" indent="0">
              <a:buNone/>
            </a:pPr>
            <a:r>
              <a:rPr lang="en-US" sz="3000" b="1" dirty="0">
                <a:solidFill>
                  <a:srgbClr val="C00000"/>
                </a:solidFill>
              </a:rPr>
              <a:t>Simple Compressible System</a:t>
            </a:r>
          </a:p>
        </p:txBody>
      </p:sp>
      <p:sp>
        <p:nvSpPr>
          <p:cNvPr id="4" name="Slide Number Placeholder 3"/>
          <p:cNvSpPr>
            <a:spLocks noGrp="1"/>
          </p:cNvSpPr>
          <p:nvPr>
            <p:ph type="sldNum" sz="quarter" idx="12"/>
          </p:nvPr>
        </p:nvSpPr>
        <p:spPr/>
        <p:txBody>
          <a:bodyPr/>
          <a:lstStyle/>
          <a:p>
            <a:fld id="{F4801FD5-11B4-DE43-ACA2-E85EEB9A6F9C}" type="slidenum">
              <a:rPr lang="en-US" smtClean="0"/>
              <a:pPr/>
              <a:t>37</a:t>
            </a:fld>
            <a:endParaRPr lang="en-US" dirty="0"/>
          </a:p>
        </p:txBody>
      </p:sp>
      <p:sp>
        <p:nvSpPr>
          <p:cNvPr id="8" name="Content Placeholder 2"/>
          <p:cNvSpPr txBox="1">
            <a:spLocks/>
          </p:cNvSpPr>
          <p:nvPr/>
        </p:nvSpPr>
        <p:spPr>
          <a:xfrm>
            <a:off x="218764" y="1517049"/>
            <a:ext cx="5469342" cy="4761556"/>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a:buFont typeface="Wingdings" panose="05000000000000000000" pitchFamily="2" charset="2"/>
              <a:buChar char="v"/>
            </a:pPr>
            <a:r>
              <a:rPr lang="en-US" sz="2400" dirty="0"/>
              <a:t>The term </a:t>
            </a:r>
            <a:r>
              <a:rPr lang="en-US" sz="2400" b="1" dirty="0">
                <a:solidFill>
                  <a:srgbClr val="002060"/>
                </a:solidFill>
              </a:rPr>
              <a:t>simple system </a:t>
            </a:r>
            <a:r>
              <a:rPr lang="en-US" sz="2400" dirty="0"/>
              <a:t>is applied when there is only one form of work (either mechanical, or electrical, or magnetic, or chemical) as the system undergoes a quasi-static process. </a:t>
            </a:r>
          </a:p>
          <a:p>
            <a:pPr>
              <a:buFont typeface="Wingdings" panose="05000000000000000000" pitchFamily="2" charset="2"/>
              <a:buChar char="v"/>
            </a:pPr>
            <a:r>
              <a:rPr lang="en-US" sz="2400" dirty="0"/>
              <a:t>When </a:t>
            </a:r>
            <a:r>
              <a:rPr lang="en-US" sz="2400" b="1" dirty="0"/>
              <a:t>expansion</a:t>
            </a:r>
            <a:r>
              <a:rPr lang="en-US" sz="2400" dirty="0"/>
              <a:t> or </a:t>
            </a:r>
            <a:r>
              <a:rPr lang="en-US" sz="2400" b="1" dirty="0"/>
              <a:t>compression</a:t>
            </a:r>
            <a:r>
              <a:rPr lang="en-US" sz="2400" dirty="0"/>
              <a:t> is the only mode of work transfer, the system is said to be a </a:t>
            </a:r>
            <a:r>
              <a:rPr lang="en-US" sz="2400" u="sng" dirty="0">
                <a:solidFill>
                  <a:srgbClr val="002060"/>
                </a:solidFill>
              </a:rPr>
              <a:t>simple compressible system</a:t>
            </a:r>
            <a:r>
              <a:rPr lang="en-US" sz="2400" dirty="0"/>
              <a:t>.</a:t>
            </a:r>
          </a:p>
          <a:p>
            <a:pPr>
              <a:buFont typeface="Wingdings" panose="05000000000000000000" pitchFamily="2" charset="2"/>
              <a:buChar char="v"/>
            </a:pPr>
            <a:r>
              <a:rPr lang="en-US" sz="2400" dirty="0"/>
              <a:t>The boundary work due to expansion or compression is expressed as;</a:t>
            </a:r>
          </a:p>
          <a:p>
            <a:pPr marL="0" indent="0">
              <a:buNone/>
            </a:pPr>
            <a:r>
              <a:rPr lang="en-US" sz="2400" b="1" dirty="0"/>
              <a:t>			</a:t>
            </a:r>
            <a:r>
              <a:rPr lang="en-US" sz="2400" b="1" dirty="0" err="1">
                <a:solidFill>
                  <a:srgbClr val="C00000"/>
                </a:solidFill>
              </a:rPr>
              <a:t>δW</a:t>
            </a:r>
            <a:r>
              <a:rPr lang="en-US" sz="2400" b="1" dirty="0">
                <a:solidFill>
                  <a:srgbClr val="C00000"/>
                </a:solidFill>
              </a:rPr>
              <a:t> = </a:t>
            </a:r>
            <a:r>
              <a:rPr lang="en-US" sz="2400" b="1" dirty="0" err="1">
                <a:solidFill>
                  <a:srgbClr val="C00000"/>
                </a:solidFill>
              </a:rPr>
              <a:t>PdV</a:t>
            </a:r>
            <a:endParaRPr lang="en-US" sz="2400" b="1" dirty="0">
              <a:solidFill>
                <a:srgbClr val="C00000"/>
              </a:solidFill>
            </a:endParaRPr>
          </a:p>
          <a:p>
            <a:pPr>
              <a:buFont typeface="Wingdings" panose="05000000000000000000" pitchFamily="2" charset="2"/>
              <a:buChar char="v"/>
            </a:pPr>
            <a:endParaRPr lang="en-US" sz="2400" dirty="0"/>
          </a:p>
        </p:txBody>
      </p:sp>
      <p:pic>
        <p:nvPicPr>
          <p:cNvPr id="5" name="Picture 4"/>
          <p:cNvPicPr>
            <a:picLocks noChangeAspect="1"/>
          </p:cNvPicPr>
          <p:nvPr/>
        </p:nvPicPr>
        <p:blipFill>
          <a:blip r:embed="rId2"/>
          <a:stretch>
            <a:fillRect/>
          </a:stretch>
        </p:blipFill>
        <p:spPr>
          <a:xfrm>
            <a:off x="5916706" y="1517049"/>
            <a:ext cx="5968834" cy="3848327"/>
          </a:xfrm>
          <a:prstGeom prst="rect">
            <a:avLst/>
          </a:prstGeom>
        </p:spPr>
      </p:pic>
    </p:spTree>
    <p:extLst>
      <p:ext uri="{BB962C8B-B14F-4D97-AF65-F5344CB8AC3E}">
        <p14:creationId xmlns:p14="http://schemas.microsoft.com/office/powerpoint/2010/main" val="1815821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Basic Concepts and Definitions</a:t>
            </a:r>
            <a:endParaRPr lang="en-US" dirty="0">
              <a:solidFill>
                <a:srgbClr val="002060"/>
              </a:solidFill>
              <a:latin typeface="Georgia" panose="02040502050405020303" pitchFamily="18" charset="0"/>
            </a:endParaRPr>
          </a:p>
        </p:txBody>
      </p:sp>
      <p:sp>
        <p:nvSpPr>
          <p:cNvPr id="3" name="Content Placeholder 2"/>
          <p:cNvSpPr>
            <a:spLocks noGrp="1"/>
          </p:cNvSpPr>
          <p:nvPr>
            <p:ph sz="half" idx="1"/>
          </p:nvPr>
        </p:nvSpPr>
        <p:spPr>
          <a:xfrm>
            <a:off x="218766" y="1008529"/>
            <a:ext cx="5697940" cy="508520"/>
          </a:xfrm>
        </p:spPr>
        <p:txBody>
          <a:bodyPr>
            <a:noAutofit/>
          </a:bodyPr>
          <a:lstStyle/>
          <a:p>
            <a:pPr marL="0" indent="0">
              <a:buNone/>
            </a:pPr>
            <a:r>
              <a:rPr lang="en-US" sz="3000" b="1" dirty="0">
                <a:solidFill>
                  <a:srgbClr val="C00000"/>
                </a:solidFill>
              </a:rPr>
              <a:t>Simple Compressible System</a:t>
            </a:r>
          </a:p>
        </p:txBody>
      </p:sp>
      <p:sp>
        <p:nvSpPr>
          <p:cNvPr id="4" name="Slide Number Placeholder 3"/>
          <p:cNvSpPr>
            <a:spLocks noGrp="1"/>
          </p:cNvSpPr>
          <p:nvPr>
            <p:ph type="sldNum" sz="quarter" idx="12"/>
          </p:nvPr>
        </p:nvSpPr>
        <p:spPr/>
        <p:txBody>
          <a:bodyPr/>
          <a:lstStyle/>
          <a:p>
            <a:fld id="{F4801FD5-11B4-DE43-ACA2-E85EEB9A6F9C}" type="slidenum">
              <a:rPr lang="en-US" smtClean="0"/>
              <a:pPr/>
              <a:t>38</a:t>
            </a:fld>
            <a:endParaRPr lang="en-US" dirty="0"/>
          </a:p>
        </p:txBody>
      </p:sp>
      <p:sp>
        <p:nvSpPr>
          <p:cNvPr id="8" name="Content Placeholder 2"/>
          <p:cNvSpPr txBox="1">
            <a:spLocks/>
          </p:cNvSpPr>
          <p:nvPr/>
        </p:nvSpPr>
        <p:spPr>
          <a:xfrm>
            <a:off x="218763" y="1517049"/>
            <a:ext cx="6343401" cy="1881376"/>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a:buFont typeface="Wingdings" panose="05000000000000000000" pitchFamily="2" charset="2"/>
              <a:buChar char="v"/>
            </a:pPr>
            <a:r>
              <a:rPr lang="en-US" sz="2200" dirty="0"/>
              <a:t>The boundary work due to expansion or compression is expressed as;</a:t>
            </a:r>
          </a:p>
          <a:p>
            <a:pPr marL="0" indent="0">
              <a:buNone/>
            </a:pPr>
            <a:r>
              <a:rPr lang="en-US" sz="2200" b="1" dirty="0"/>
              <a:t>			</a:t>
            </a:r>
            <a:r>
              <a:rPr lang="en-US" sz="2200" b="1" dirty="0" err="1">
                <a:solidFill>
                  <a:srgbClr val="C00000"/>
                </a:solidFill>
              </a:rPr>
              <a:t>δW</a:t>
            </a:r>
            <a:r>
              <a:rPr lang="en-US" sz="2200" b="1" dirty="0">
                <a:solidFill>
                  <a:srgbClr val="C00000"/>
                </a:solidFill>
              </a:rPr>
              <a:t> = </a:t>
            </a:r>
            <a:r>
              <a:rPr lang="en-US" sz="2200" b="1" dirty="0" err="1">
                <a:solidFill>
                  <a:srgbClr val="C00000"/>
                </a:solidFill>
              </a:rPr>
              <a:t>PdV</a:t>
            </a:r>
            <a:endParaRPr lang="en-US" sz="2200" b="1" dirty="0">
              <a:solidFill>
                <a:srgbClr val="C00000"/>
              </a:solidFill>
            </a:endParaRPr>
          </a:p>
          <a:p>
            <a:pPr>
              <a:buFont typeface="Wingdings" panose="05000000000000000000" pitchFamily="2" charset="2"/>
              <a:buChar char="v"/>
            </a:pPr>
            <a:r>
              <a:rPr lang="en-US" sz="2200" dirty="0"/>
              <a:t>PdV work is commonly encountered in reciprocating devices such as automotive engines and compressors.</a:t>
            </a:r>
          </a:p>
          <a:p>
            <a:pPr>
              <a:buFont typeface="Wingdings" panose="05000000000000000000" pitchFamily="2" charset="2"/>
              <a:buChar char="v"/>
            </a:pPr>
            <a:endParaRPr lang="en-US" sz="2400" dirty="0"/>
          </a:p>
        </p:txBody>
      </p:sp>
      <p:pic>
        <p:nvPicPr>
          <p:cNvPr id="7" name="Content Placeholder 5"/>
          <p:cNvPicPr>
            <a:picLocks noChangeArrowheads="1"/>
          </p:cNvPicPr>
          <p:nvPr/>
        </p:nvPicPr>
        <p:blipFill>
          <a:blip r:embed="rId2" cstate="print"/>
          <a:srcRect/>
          <a:stretch>
            <a:fillRect/>
          </a:stretch>
        </p:blipFill>
        <p:spPr bwMode="auto">
          <a:xfrm>
            <a:off x="757518" y="3550023"/>
            <a:ext cx="3142128" cy="2608729"/>
          </a:xfrm>
          <a:prstGeom prst="rect">
            <a:avLst/>
          </a:prstGeom>
          <a:noFill/>
          <a:ln w="12700">
            <a:noFill/>
            <a:miter lim="800000"/>
            <a:headEnd/>
            <a:tailEnd/>
          </a:ln>
          <a:effectLst/>
        </p:spPr>
      </p:pic>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36976" y="1008529"/>
            <a:ext cx="3470065" cy="2610608"/>
          </a:xfrm>
          <a:prstGeom prst="rect">
            <a:avLst/>
          </a:prstGeom>
        </p:spPr>
      </p:pic>
      <p:pic>
        <p:nvPicPr>
          <p:cNvPr id="10" name="Picture 9"/>
          <p:cNvPicPr>
            <a:picLocks noChangeAspect="1"/>
          </p:cNvPicPr>
          <p:nvPr/>
        </p:nvPicPr>
        <p:blipFill>
          <a:blip r:embed="rId4"/>
          <a:stretch>
            <a:fillRect/>
          </a:stretch>
        </p:blipFill>
        <p:spPr>
          <a:xfrm>
            <a:off x="8716308" y="3757107"/>
            <a:ext cx="3291840" cy="2194560"/>
          </a:xfrm>
          <a:prstGeom prst="rect">
            <a:avLst/>
          </a:prstGeom>
        </p:spPr>
      </p:pic>
      <p:pic>
        <p:nvPicPr>
          <p:cNvPr id="11" name="Picture 2" descr="https://s1.cdn.autoevolution.com/images/news/gallery/3-more-harley-davidson-bikes-to-be-made-in-india_1.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368991" y="3574227"/>
            <a:ext cx="4347317" cy="23774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2732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F4801FD5-11B4-DE43-ACA2-E85EEB9A6F9C}" type="slidenum">
              <a:rPr lang="en-US" smtClean="0"/>
              <a:pPr/>
              <a:t>39</a:t>
            </a:fld>
            <a:endParaRPr lang="en-US" dirty="0"/>
          </a:p>
        </p:txBody>
      </p:sp>
      <p:sp>
        <p:nvSpPr>
          <p:cNvPr id="6" name="Title 1"/>
          <p:cNvSpPr txBox="1">
            <a:spLocks/>
          </p:cNvSpPr>
          <p:nvPr/>
        </p:nvSpPr>
        <p:spPr>
          <a:xfrm>
            <a:off x="301337" y="283087"/>
            <a:ext cx="11198086" cy="592690"/>
          </a:xfrm>
          <a:prstGeom prst="rect">
            <a:avLst/>
          </a:prstGeom>
        </p:spPr>
        <p:txBody>
          <a:bodyPr/>
          <a:lstStyle>
            <a:lvl1pPr algn="ctr" defTabSz="457200" rtl="0" eaLnBrk="1" latinLnBrk="0" hangingPunct="1">
              <a:spcBef>
                <a:spcPct val="0"/>
              </a:spcBef>
              <a:buNone/>
              <a:defRPr sz="4000" kern="1200">
                <a:solidFill>
                  <a:schemeClr val="tx1"/>
                </a:solidFill>
                <a:latin typeface="Garamond" panose="02020404030301010803" pitchFamily="18" charset="0"/>
                <a:ea typeface="+mj-ea"/>
                <a:cs typeface="+mj-cs"/>
              </a:defRPr>
            </a:lvl1pPr>
          </a:lstStyle>
          <a:p>
            <a:endParaRPr lang="en-GB" sz="2000" dirty="0">
              <a:solidFill>
                <a:srgbClr val="FF0000"/>
              </a:solidFill>
            </a:endParaRPr>
          </a:p>
        </p:txBody>
      </p:sp>
      <p:sp>
        <p:nvSpPr>
          <p:cNvPr id="10" name="Footer Placeholder 5"/>
          <p:cNvSpPr txBox="1">
            <a:spLocks/>
          </p:cNvSpPr>
          <p:nvPr/>
        </p:nvSpPr>
        <p:spPr>
          <a:xfrm>
            <a:off x="770964" y="6281915"/>
            <a:ext cx="1210236" cy="365125"/>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solidFill>
                  <a:schemeClr val="tx1"/>
                </a:solidFill>
              </a:rPr>
              <a:t>KNUST-SESC</a:t>
            </a:r>
          </a:p>
        </p:txBody>
      </p:sp>
      <p:pic>
        <p:nvPicPr>
          <p:cNvPr id="8" name="Picture 2" descr="7,473 Thank You Business Stock Photos, Pictures &amp; Royalty-Free Images -  iStoc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198" y="1988579"/>
            <a:ext cx="7532942" cy="3503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38646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41364</TotalTime>
  <Words>4036</Words>
  <Application>Microsoft Office PowerPoint</Application>
  <PresentationFormat>Widescreen</PresentationFormat>
  <Paragraphs>371</Paragraphs>
  <Slides>39</Slides>
  <Notes>0</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4</vt:i4>
      </vt:variant>
      <vt:variant>
        <vt:lpstr>Slide Titles</vt:lpstr>
      </vt:variant>
      <vt:variant>
        <vt:i4>39</vt:i4>
      </vt:variant>
    </vt:vector>
  </HeadingPairs>
  <TitlesOfParts>
    <vt:vector size="52" baseType="lpstr">
      <vt:lpstr>Arial</vt:lpstr>
      <vt:lpstr>Calibri</vt:lpstr>
      <vt:lpstr>Eras Demi ITC</vt:lpstr>
      <vt:lpstr>Garamond</vt:lpstr>
      <vt:lpstr>Georgia</vt:lpstr>
      <vt:lpstr>Helvetica</vt:lpstr>
      <vt:lpstr>Times New Roman</vt:lpstr>
      <vt:lpstr>Wingdings</vt:lpstr>
      <vt:lpstr>Office Theme</vt:lpstr>
      <vt:lpstr>Equation</vt:lpstr>
      <vt:lpstr>Equation.3</vt:lpstr>
      <vt:lpstr>Equation.DSMT4</vt:lpstr>
      <vt:lpstr>Paintbrush Picture</vt:lpstr>
      <vt:lpstr>PowerPoint Presentation</vt:lpstr>
      <vt:lpstr>Course Content</vt:lpstr>
      <vt:lpstr>References/Reading List /Recommended Textbooks</vt:lpstr>
      <vt:lpstr>ASSESSMENT</vt:lpstr>
      <vt:lpstr>THERMODYNAMICS I (ME 265) </vt:lpstr>
      <vt:lpstr>Introduction</vt:lpstr>
      <vt:lpstr>Introduction</vt:lpstr>
      <vt:lpstr>Introduction</vt:lpstr>
      <vt:lpstr>Zeroth Law of Thermodynamics</vt:lpstr>
      <vt:lpstr>First Law of Thermodynamics</vt:lpstr>
      <vt:lpstr>Second Law of Thermodynamics</vt:lpstr>
      <vt:lpstr>Third Law of Thermodynamics</vt:lpstr>
      <vt:lpstr>Applications of Thermodynamics</vt:lpstr>
      <vt:lpstr>Basic Concepts and Definitions</vt:lpstr>
      <vt:lpstr>Basic Concepts and Definitions</vt:lpstr>
      <vt:lpstr>Basic Concepts and Definitions</vt:lpstr>
      <vt:lpstr>Basic Concepts and Definitions</vt:lpstr>
      <vt:lpstr>Basic Concepts and Definitions</vt:lpstr>
      <vt:lpstr>Basic Concepts and Definitions</vt:lpstr>
      <vt:lpstr>Basic Concepts and Definitions</vt:lpstr>
      <vt:lpstr>Pressure Measurement in a Column of Static Fluid</vt:lpstr>
      <vt:lpstr>Basic Concepts and Definitions</vt:lpstr>
      <vt:lpstr>Basic Concepts and Definitions</vt:lpstr>
      <vt:lpstr>Basic Concepts and Definitions</vt:lpstr>
      <vt:lpstr>Basic Concepts and Definitions</vt:lpstr>
      <vt:lpstr>Basic Concepts and Definitions</vt:lpstr>
      <vt:lpstr>Basic Concepts and Definitions</vt:lpstr>
      <vt:lpstr>Basic Concepts and Definitions</vt:lpstr>
      <vt:lpstr>Basic Concepts and Definitions</vt:lpstr>
      <vt:lpstr>Basic Concepts and Definitions</vt:lpstr>
      <vt:lpstr>Basic Concepts and Definitions</vt:lpstr>
      <vt:lpstr>Basic Concepts and Definitions</vt:lpstr>
      <vt:lpstr>Basic Concepts and Definitions</vt:lpstr>
      <vt:lpstr>Basic Concepts and Definitions</vt:lpstr>
      <vt:lpstr>Basic Concepts and Definitions</vt:lpstr>
      <vt:lpstr>Basic Concepts and Definitions</vt:lpstr>
      <vt:lpstr>Basic Concepts and Definitions</vt:lpstr>
      <vt:lpstr>Basic Concepts and Definitions</vt:lpstr>
      <vt:lpstr>PowerPoint Presentation</vt:lpstr>
    </vt:vector>
  </TitlesOfParts>
  <Company>UPK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KNUST Press</dc:creator>
  <cp:lastModifiedBy>HP</cp:lastModifiedBy>
  <cp:revision>691</cp:revision>
  <dcterms:created xsi:type="dcterms:W3CDTF">2016-11-07T15:28:41Z</dcterms:created>
  <dcterms:modified xsi:type="dcterms:W3CDTF">2021-12-01T13:49:11Z</dcterms:modified>
</cp:coreProperties>
</file>