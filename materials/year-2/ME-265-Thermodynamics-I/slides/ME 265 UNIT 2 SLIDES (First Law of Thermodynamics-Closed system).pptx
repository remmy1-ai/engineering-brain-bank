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4"/>
  </p:notesMasterIdLst>
  <p:handoutMasterIdLst>
    <p:handoutMasterId r:id="rId35"/>
  </p:handoutMasterIdLst>
  <p:sldIdLst>
    <p:sldId id="503" r:id="rId2"/>
    <p:sldId id="548" r:id="rId3"/>
    <p:sldId id="669" r:id="rId4"/>
    <p:sldId id="670" r:id="rId5"/>
    <p:sldId id="671" r:id="rId6"/>
    <p:sldId id="680" r:id="rId7"/>
    <p:sldId id="672" r:id="rId8"/>
    <p:sldId id="674" r:id="rId9"/>
    <p:sldId id="675" r:id="rId10"/>
    <p:sldId id="676" r:id="rId11"/>
    <p:sldId id="677" r:id="rId12"/>
    <p:sldId id="695" r:id="rId13"/>
    <p:sldId id="696" r:id="rId14"/>
    <p:sldId id="678" r:id="rId15"/>
    <p:sldId id="697" r:id="rId16"/>
    <p:sldId id="694" r:id="rId17"/>
    <p:sldId id="699" r:id="rId18"/>
    <p:sldId id="700" r:id="rId19"/>
    <p:sldId id="701" r:id="rId20"/>
    <p:sldId id="702" r:id="rId21"/>
    <p:sldId id="703" r:id="rId22"/>
    <p:sldId id="704" r:id="rId23"/>
    <p:sldId id="705" r:id="rId24"/>
    <p:sldId id="706" r:id="rId25"/>
    <p:sldId id="707" r:id="rId26"/>
    <p:sldId id="708" r:id="rId27"/>
    <p:sldId id="709" r:id="rId28"/>
    <p:sldId id="710" r:id="rId29"/>
    <p:sldId id="711" r:id="rId30"/>
    <p:sldId id="712" r:id="rId31"/>
    <p:sldId id="713" r:id="rId32"/>
    <p:sldId id="543"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8DF"/>
    <a:srgbClr val="F6C702"/>
    <a:srgbClr val="00800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221" autoAdjust="0"/>
    <p:restoredTop sz="94660"/>
  </p:normalViewPr>
  <p:slideViewPr>
    <p:cSldViewPr snapToGrid="0" snapToObjects="1">
      <p:cViewPr varScale="1">
        <p:scale>
          <a:sx n="73" d="100"/>
          <a:sy n="73" d="100"/>
        </p:scale>
        <p:origin x="204" y="5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jpe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6.jpe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47608-6ABE-4504-86B5-76DC66B615AB}" type="datetimeFigureOut">
              <a:rPr lang="en-US" smtClean="0"/>
              <a:t>3/15/2022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7764DC-64CD-49E5-9D34-444ECD2251CF}" type="slidenum">
              <a:rPr lang="en-US" smtClean="0"/>
              <a:t>‹#›</a:t>
            </a:fld>
            <a:endParaRPr lang="en-US"/>
          </a:p>
        </p:txBody>
      </p:sp>
    </p:spTree>
    <p:extLst>
      <p:ext uri="{BB962C8B-B14F-4D97-AF65-F5344CB8AC3E}">
        <p14:creationId xmlns:p14="http://schemas.microsoft.com/office/powerpoint/2010/main" val="21554370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070D9-CE4C-4523-84E5-2BCC360EF90C}" type="datetimeFigureOut">
              <a:rPr lang="en-US" smtClean="0"/>
              <a:t>3/15/2022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DD320-4E3A-4CB5-A0BC-F8EFFE6E1B53}" type="slidenum">
              <a:rPr lang="en-US" smtClean="0"/>
              <a:t>‹#›</a:t>
            </a:fld>
            <a:endParaRPr lang="en-US"/>
          </a:p>
        </p:txBody>
      </p:sp>
    </p:spTree>
    <p:extLst>
      <p:ext uri="{BB962C8B-B14F-4D97-AF65-F5344CB8AC3E}">
        <p14:creationId xmlns:p14="http://schemas.microsoft.com/office/powerpoint/2010/main" val="56206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3.jpe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A2076DD-8797-46B9-BAA0-1118061A3B20}" type="datetime1">
              <a:rPr lang="en-US" smtClean="0"/>
              <a:t>3/15/2022</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12192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TextBox 8"/>
            <p:cNvSpPr txBox="1"/>
            <p:nvPr/>
          </p:nvSpPr>
          <p:spPr>
            <a:xfrm>
              <a:off x="6413360" y="241270"/>
              <a:ext cx="2519624"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850123" y="68970"/>
              <a:ext cx="563237" cy="716809"/>
            </a:xfrm>
            <a:prstGeom prst="rect">
              <a:avLst/>
            </a:prstGeom>
          </p:spPr>
        </p:pic>
      </p:grpSp>
      <p:sp>
        <p:nvSpPr>
          <p:cNvPr id="11" name="Title 1"/>
          <p:cNvSpPr>
            <a:spLocks noGrp="1"/>
          </p:cNvSpPr>
          <p:nvPr>
            <p:ph type="ctrTitle"/>
          </p:nvPr>
        </p:nvSpPr>
        <p:spPr>
          <a:xfrm>
            <a:off x="914400" y="1096019"/>
            <a:ext cx="10363200" cy="2541745"/>
          </a:xfrm>
          <a:prstGeom prst="rect">
            <a:avLst/>
          </a:prstGeom>
        </p:spPr>
        <p:txBody>
          <a:bodyPr>
            <a:normAutofit/>
          </a:bodyPr>
          <a:lstStyle>
            <a:lvl1pPr>
              <a:defRPr>
                <a:latin typeface="Garamond" panose="02020404030301010803" pitchFamily="18" charset="0"/>
              </a:defRPr>
            </a:lvl1pPr>
          </a:lstStyle>
          <a:p>
            <a:pPr algn="l"/>
            <a:r>
              <a:rPr lang="en-US" dirty="0">
                <a:latin typeface="Helvetica"/>
                <a:cs typeface="Helvetica"/>
              </a:rPr>
              <a:t>Title</a:t>
            </a:r>
          </a:p>
        </p:txBody>
      </p:sp>
      <p:sp>
        <p:nvSpPr>
          <p:cNvPr id="12" name="Subtitle 2"/>
          <p:cNvSpPr>
            <a:spLocks noGrp="1"/>
          </p:cNvSpPr>
          <p:nvPr>
            <p:ph type="subTitle" idx="1"/>
          </p:nvPr>
        </p:nvSpPr>
        <p:spPr>
          <a:xfrm>
            <a:off x="914400" y="4666761"/>
            <a:ext cx="10363200" cy="1599330"/>
          </a:xfrm>
        </p:spPr>
        <p:txBody>
          <a:bodyPr>
            <a:normAutofit/>
          </a:bodyPr>
          <a:lstStyle>
            <a:lvl1pPr marL="0" indent="0" algn="ctr">
              <a:buNone/>
              <a:defRPr>
                <a:solidFill>
                  <a:schemeClr val="bg1">
                    <a:lumMod val="50000"/>
                  </a:schemeClr>
                </a:solidFill>
                <a:latin typeface="Garamond" panose="02020404030301010803" pitchFamily="18" charset="0"/>
              </a:defRPr>
            </a:lvl1pPr>
          </a:lstStyle>
          <a:p>
            <a:pPr algn="l"/>
            <a:endParaRPr lang="en-US" b="1" dirty="0">
              <a:solidFill>
                <a:schemeClr val="tx1"/>
              </a:solidFill>
              <a:latin typeface="Helvetica"/>
              <a:cs typeface="Helvetica"/>
            </a:endParaRP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7CC460-5DEC-4F9C-AE86-3A65EBEA6D5D}" type="datetime1">
              <a:rPr lang="en-US" smtClean="0"/>
              <a:t>3/15/2022</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0" y="6271235"/>
            <a:ext cx="12191997" cy="586764"/>
            <a:chOff x="0" y="6271235"/>
            <a:chExt cx="9144000" cy="586764"/>
          </a:xfrm>
        </p:grpSpPr>
        <p:sp>
          <p:nvSpPr>
            <p:cNvPr id="8" name="Rectangle 7"/>
            <p:cNvSpPr/>
            <p:nvPr/>
          </p:nvSpPr>
          <p:spPr>
            <a:xfrm>
              <a:off x="0" y="6668022"/>
              <a:ext cx="9144000" cy="189977"/>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9" name="Rectangle 8"/>
            <p:cNvSpPr/>
            <p:nvPr/>
          </p:nvSpPr>
          <p:spPr>
            <a:xfrm>
              <a:off x="0" y="6271235"/>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10" name="Picture 9" descr="KNUST_logo Vector.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36489" y="6299719"/>
              <a:ext cx="205238" cy="283189"/>
            </a:xfrm>
            <a:prstGeom prst="rect">
              <a:avLst/>
            </a:prstGeom>
          </p:spPr>
        </p:pic>
        <p:sp>
          <p:nvSpPr>
            <p:cNvPr id="11" name="TextBox 10">
              <a:hlinkClick r:id="rId3"/>
            </p:cNvPr>
            <p:cNvSpPr txBox="1"/>
            <p:nvPr/>
          </p:nvSpPr>
          <p:spPr>
            <a:xfrm>
              <a:off x="8027214" y="6314438"/>
              <a:ext cx="1091658" cy="276999"/>
            </a:xfrm>
            <a:prstGeom prst="rect">
              <a:avLst/>
            </a:prstGeom>
            <a:noFill/>
          </p:spPr>
          <p:txBody>
            <a:bodyPr wrap="square" rtlCol="0">
              <a:spAutoFit/>
            </a:bodyPr>
            <a:lstStyle/>
            <a:p>
              <a:r>
                <a:rPr lang="en-US" sz="1200" dirty="0">
                  <a:solidFill>
                    <a:schemeClr val="bg1"/>
                  </a:solidFill>
                  <a:latin typeface="Helvetica"/>
                  <a:cs typeface="Helvetica"/>
                </a:rPr>
                <a:t>www.knust.edu.gh</a:t>
              </a:r>
            </a:p>
          </p:txBody>
        </p:sp>
        <p:pic>
          <p:nvPicPr>
            <p:cNvPr id="12" name="Picture 11">
              <a:hlinkClick r:id="rId4"/>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50538" y="6320348"/>
              <a:ext cx="268162" cy="268162"/>
            </a:xfrm>
            <a:prstGeom prst="rect">
              <a:avLst/>
            </a:prstGeom>
          </p:spPr>
        </p:pic>
        <p:pic>
          <p:nvPicPr>
            <p:cNvPr id="13" name="Picture 12">
              <a:hlinkClick r:id="rId6"/>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87070" y="6308011"/>
              <a:ext cx="292217" cy="292217"/>
            </a:xfrm>
            <a:prstGeom prst="rect">
              <a:avLst/>
            </a:prstGeom>
          </p:spPr>
        </p:pic>
      </p:grpSp>
      <p:sp>
        <p:nvSpPr>
          <p:cNvPr id="16" name="Title 1">
            <a:extLst>
              <a:ext uri="{FF2B5EF4-FFF2-40B4-BE49-F238E27FC236}">
                <a16:creationId xmlns:a16="http://schemas.microsoft.com/office/drawing/2014/main" id="{33D96D2C-39D2-D146-949D-A56FF129CBA3}"/>
              </a:ext>
            </a:extLst>
          </p:cNvPr>
          <p:cNvSpPr>
            <a:spLocks noGrp="1"/>
          </p:cNvSpPr>
          <p:nvPr>
            <p:ph type="title"/>
          </p:nvPr>
        </p:nvSpPr>
        <p:spPr>
          <a:xfrm>
            <a:off x="609601" y="195127"/>
            <a:ext cx="11198086" cy="592690"/>
          </a:xfrm>
          <a:prstGeom prst="rect">
            <a:avLst/>
          </a:prstGeom>
        </p:spPr>
        <p:txBody>
          <a:bodyPr/>
          <a:lstStyle>
            <a:lvl1pPr>
              <a:defRPr sz="4000">
                <a:latin typeface="Garamond" panose="02020404030301010803" pitchFamily="18" charset="0"/>
              </a:defRPr>
            </a:lvl1pPr>
          </a:lstStyle>
          <a:p>
            <a:r>
              <a:rPr lang="en-US"/>
              <a:t>Click to edit Master title style</a:t>
            </a:r>
          </a:p>
        </p:txBody>
      </p:sp>
      <p:cxnSp>
        <p:nvCxnSpPr>
          <p:cNvPr id="3" name="Straight Connector 2">
            <a:extLst>
              <a:ext uri="{FF2B5EF4-FFF2-40B4-BE49-F238E27FC236}">
                <a16:creationId xmlns:a16="http://schemas.microsoft.com/office/drawing/2014/main" id="{0F8A6806-0C47-8F41-8CB1-123A74FCD28F}"/>
              </a:ext>
            </a:extLst>
          </p:cNvPr>
          <p:cNvCxnSpPr/>
          <p:nvPr userDrawn="1"/>
        </p:nvCxnSpPr>
        <p:spPr>
          <a:xfrm>
            <a:off x="1" y="924340"/>
            <a:ext cx="12207161" cy="0"/>
          </a:xfrm>
          <a:prstGeom prst="line">
            <a:avLst/>
          </a:prstGeom>
          <a:ln w="12700">
            <a:solidFill>
              <a:srgbClr val="008001"/>
            </a:solidFill>
          </a:ln>
        </p:spPr>
        <p:style>
          <a:lnRef idx="1">
            <a:schemeClr val="accent3"/>
          </a:lnRef>
          <a:fillRef idx="0">
            <a:schemeClr val="accent3"/>
          </a:fillRef>
          <a:effectRef idx="0">
            <a:schemeClr val="accent3"/>
          </a:effectRef>
          <a:fontRef idx="minor">
            <a:schemeClr val="tx1"/>
          </a:fontRef>
        </p:style>
      </p:cxnSp>
      <p:sp>
        <p:nvSpPr>
          <p:cNvPr id="17" name="Content Placeholder 2">
            <a:extLst>
              <a:ext uri="{FF2B5EF4-FFF2-40B4-BE49-F238E27FC236}">
                <a16:creationId xmlns:a16="http://schemas.microsoft.com/office/drawing/2014/main" id="{B14474AE-41FC-854B-B962-6E0C929C52C0}"/>
              </a:ext>
            </a:extLst>
          </p:cNvPr>
          <p:cNvSpPr>
            <a:spLocks noGrp="1"/>
          </p:cNvSpPr>
          <p:nvPr>
            <p:ph sz="half" idx="1"/>
          </p:nvPr>
        </p:nvSpPr>
        <p:spPr>
          <a:xfrm>
            <a:off x="609600" y="1002088"/>
            <a:ext cx="11198085" cy="51758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708" y="6278605"/>
            <a:ext cx="855784" cy="365125"/>
          </a:xfrm>
        </p:spPr>
        <p:txBody>
          <a:bodyPr/>
          <a:lstStyle>
            <a:lvl1pPr>
              <a:defRPr sz="2400" b="1">
                <a:solidFill>
                  <a:schemeClr val="bg1"/>
                </a:solidFill>
                <a:latin typeface="Garamond" panose="02020404030301010803" pitchFamily="18" charset="0"/>
              </a:defRPr>
            </a:lvl1pPr>
          </a:lstStyle>
          <a:p>
            <a:fld id="{F4801FD5-11B4-DE43-ACA2-E85EEB9A6F9C}" type="slidenum">
              <a:rPr lang="en-US" smtClean="0"/>
              <a:pPr/>
              <a:t>‹#›</a:t>
            </a:fld>
            <a:endParaRPr lang="en-US" dirty="0"/>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Garamond" panose="02020404030301010803"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D7EC4-0FAA-4E2B-9A38-6D09C67DA3A1}" type="datetime1">
              <a:rPr lang="en-US" smtClean="0"/>
              <a:t>3/15/2022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B8C2406-8828-418B-8809-38D0A9920C77}" type="datetime1">
              <a:rPr lang="en-US" smtClean="0"/>
              <a:t>3/15/2022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8115C99-0020-4D01-8567-E31F48D46E49}" type="datetime1">
              <a:rPr lang="en-US" smtClean="0"/>
              <a:t>3/15/2022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BD30C0AC-B421-4F27-B629-B4BF5EA43D28}" type="datetime1">
              <a:rPr lang="en-US" smtClean="0"/>
              <a:t>3/15/2022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468E7F-7F5B-4B1A-A083-B461A23AA8FA}" type="datetime1">
              <a:rPr lang="en-US" smtClean="0"/>
              <a:t>3/15/2022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82FB52-87DB-4D57-8A37-3B02874B479C}" type="datetime1">
              <a:rPr lang="en-US" smtClean="0"/>
              <a:t>3/15/2022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32A186-4EFB-4B8E-AB2B-86BDDA713B27}" type="datetime1">
              <a:rPr lang="en-US" smtClean="0"/>
              <a:t>3/15/2022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EFC1A-4AC2-4AAF-A501-06099FF0D626}" type="datetime1">
              <a:rPr lang="en-US" smtClean="0"/>
              <a:t>3/15/2022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873F44-2E53-4BAA-A8EA-A81B2EB64AD8}" type="datetime1">
              <a:rPr lang="en-US" smtClean="0"/>
              <a:t>3/15/2022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488C0D-608D-44E2-B7D7-7A7555FE1132}" type="datetime1">
              <a:rPr lang="en-US" smtClean="0"/>
              <a:t>3/15/2022</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jpeg"/><Relationship Id="rId5" Type="http://schemas.openxmlformats.org/officeDocument/2006/relationships/image" Target="../media/image7.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20.png"/><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jpeg"/><Relationship Id="rId5" Type="http://schemas.openxmlformats.org/officeDocument/2006/relationships/image" Target="../media/image13.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8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3.jp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8B02BC7-9B65-A649-A6AA-B9A015F5977F}"/>
              </a:ext>
            </a:extLst>
          </p:cNvPr>
          <p:cNvSpPr>
            <a:spLocks noGrp="1"/>
          </p:cNvSpPr>
          <p:nvPr>
            <p:ph type="ctrTitle"/>
          </p:nvPr>
        </p:nvSpPr>
        <p:spPr>
          <a:xfrm>
            <a:off x="352540" y="949448"/>
            <a:ext cx="11149069" cy="1031752"/>
          </a:xfrm>
        </p:spPr>
        <p:txBody>
          <a:bodyPr vert="horz" lIns="68580" tIns="34290" rIns="68580" bIns="34290" rtlCol="0" anchor="b">
            <a:noAutofit/>
          </a:bodyPr>
          <a:lstStyle/>
          <a:p>
            <a:r>
              <a:rPr lang="en-GB" sz="3200" b="1" dirty="0">
                <a:solidFill>
                  <a:srgbClr val="0070C0"/>
                </a:solidFill>
                <a:latin typeface="Georgia" panose="02040502050405020303" pitchFamily="18" charset="0"/>
              </a:rPr>
              <a:t>THERMODYNAMICS I (ME 265)</a:t>
            </a:r>
            <a:r>
              <a:rPr lang="en-GB" sz="3200" b="1" dirty="0">
                <a:solidFill>
                  <a:srgbClr val="0070C0"/>
                </a:solidFill>
                <a:latin typeface="Eras Demi ITC" panose="020B0805030504020804" pitchFamily="34" charset="0"/>
              </a:rPr>
              <a:t/>
            </a:r>
            <a:br>
              <a:rPr lang="en-GB" sz="3200" b="1" dirty="0">
                <a:solidFill>
                  <a:srgbClr val="0070C0"/>
                </a:solidFill>
                <a:latin typeface="Eras Demi ITC" panose="020B0805030504020804" pitchFamily="34" charset="0"/>
              </a:rPr>
            </a:br>
            <a:endParaRPr lang="en-GB" sz="3200" dirty="0">
              <a:latin typeface="Eras Demi ITC" panose="020B0805030504020804" pitchFamily="34" charset="0"/>
            </a:endParaRPr>
          </a:p>
        </p:txBody>
      </p:sp>
      <p:sp>
        <p:nvSpPr>
          <p:cNvPr id="11" name="Subtitle 2"/>
          <p:cNvSpPr txBox="1">
            <a:spLocks/>
          </p:cNvSpPr>
          <p:nvPr/>
        </p:nvSpPr>
        <p:spPr>
          <a:xfrm>
            <a:off x="1809245" y="5405717"/>
            <a:ext cx="8432872" cy="1211287"/>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bg1">
                    <a:lumMod val="50000"/>
                  </a:schemeClr>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b="1" dirty="0">
                <a:solidFill>
                  <a:schemeClr val="tx1"/>
                </a:solidFill>
                <a:latin typeface="Helvetica"/>
                <a:cs typeface="Helvetica"/>
              </a:rPr>
              <a:t>Francis Kofi Forson </a:t>
            </a:r>
            <a:r>
              <a:rPr lang="en-US" sz="2400" b="1">
                <a:solidFill>
                  <a:schemeClr val="tx1"/>
                </a:solidFill>
                <a:latin typeface="Helvetica"/>
                <a:cs typeface="Helvetica"/>
              </a:rPr>
              <a:t>(Professor)</a:t>
            </a:r>
            <a:endParaRPr lang="en-US" sz="2400" b="1" dirty="0">
              <a:solidFill>
                <a:schemeClr val="tx1"/>
              </a:solidFill>
              <a:latin typeface="Helvetica"/>
              <a:cs typeface="Helvetica"/>
            </a:endParaRPr>
          </a:p>
          <a:p>
            <a:r>
              <a:rPr lang="en-US" sz="1800" b="1" dirty="0">
                <a:latin typeface="Helvetica"/>
                <a:cs typeface="Helvetica"/>
              </a:rPr>
              <a:t>Department of Mechanical Engineering</a:t>
            </a:r>
          </a:p>
          <a:p>
            <a:r>
              <a:rPr lang="en-US" sz="1800" b="1" dirty="0">
                <a:latin typeface="Helvetica"/>
                <a:cs typeface="Helvetica"/>
              </a:rPr>
              <a:t>Kwame Nkrumah University of Science and Technology, Kumasi, Ghana</a:t>
            </a:r>
          </a:p>
        </p:txBody>
      </p:sp>
      <p:sp>
        <p:nvSpPr>
          <p:cNvPr id="6" name="Text Placeholder 3">
            <a:extLst>
              <a:ext uri="{FF2B5EF4-FFF2-40B4-BE49-F238E27FC236}">
                <a16:creationId xmlns:a16="http://schemas.microsoft.com/office/drawing/2014/main" id="{E81EFB1F-8D7C-2F44-8B60-6C24E97F6990}"/>
              </a:ext>
            </a:extLst>
          </p:cNvPr>
          <p:cNvSpPr txBox="1">
            <a:spLocks/>
          </p:cNvSpPr>
          <p:nvPr/>
        </p:nvSpPr>
        <p:spPr>
          <a:xfrm>
            <a:off x="1377927" y="4048599"/>
            <a:ext cx="9814635" cy="1115054"/>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GB" sz="3600" b="1" dirty="0">
                <a:solidFill>
                  <a:srgbClr val="C00000"/>
                </a:solidFill>
                <a:latin typeface="Georgia" panose="02040502050405020303" pitchFamily="18" charset="0"/>
              </a:rPr>
              <a:t>FIRST LAW OF THERMODYNAMICS</a:t>
            </a:r>
          </a:p>
          <a:p>
            <a:pPr algn="ctr"/>
            <a:r>
              <a:rPr lang="en-GB" sz="3600" b="1" dirty="0">
                <a:solidFill>
                  <a:srgbClr val="C00000"/>
                </a:solidFill>
                <a:latin typeface="Georgia" panose="02040502050405020303" pitchFamily="18" charset="0"/>
              </a:rPr>
              <a:t>APPLIED TO CLOSED </a:t>
            </a:r>
            <a:r>
              <a:rPr lang="en-GB" sz="3600" b="1" dirty="0" smtClean="0">
                <a:solidFill>
                  <a:srgbClr val="C00000"/>
                </a:solidFill>
                <a:latin typeface="Georgia" panose="02040502050405020303" pitchFamily="18" charset="0"/>
              </a:rPr>
              <a:t>AND OPENED  SYSTEMS</a:t>
            </a:r>
            <a:endParaRPr lang="en-GB" sz="3600" b="1" dirty="0">
              <a:solidFill>
                <a:srgbClr val="C00000"/>
              </a:solidFill>
              <a:latin typeface="Georgia" panose="02040502050405020303" pitchFamily="18" charset="0"/>
            </a:endParaRPr>
          </a:p>
        </p:txBody>
      </p:sp>
      <p:pic>
        <p:nvPicPr>
          <p:cNvPr id="1026" name="Picture 2" descr="The Emblem | Kwame Nkrumah University of Science and Techn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253" y="1577247"/>
            <a:ext cx="1969135" cy="2229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8710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300109" y="1035424"/>
                <a:ext cx="6302190" cy="5243181"/>
              </a:xfrm>
            </p:spPr>
            <p:txBody>
              <a:bodyPr>
                <a:noAutofit/>
              </a:bodyPr>
              <a:lstStyle/>
              <a:p>
                <a:pPr>
                  <a:buFont typeface="Wingdings" panose="05000000000000000000" pitchFamily="2" charset="2"/>
                  <a:buChar char="v"/>
                </a:pPr>
                <a:r>
                  <a:rPr lang="en-US" sz="2600" dirty="0"/>
                  <a:t>There exists a </a:t>
                </a:r>
                <a:r>
                  <a:rPr lang="en-US" sz="2600" b="1" dirty="0">
                    <a:solidFill>
                      <a:srgbClr val="C00000"/>
                    </a:solidFill>
                  </a:rPr>
                  <a:t>property of a (closed) system </a:t>
                </a:r>
                <a:r>
                  <a:rPr lang="en-US" sz="2600" dirty="0"/>
                  <a:t>such that a </a:t>
                </a:r>
                <a:r>
                  <a:rPr lang="en-US" sz="2600" b="1" dirty="0">
                    <a:solidFill>
                      <a:srgbClr val="002060"/>
                    </a:solidFill>
                  </a:rPr>
                  <a:t>change in its value is equal to the difference between the net heat supplied and the net work done during any change of state</a:t>
                </a:r>
                <a:r>
                  <a:rPr lang="en-US" sz="2600" dirty="0"/>
                  <a:t>.</a:t>
                </a:r>
              </a:p>
              <a:p>
                <a:pPr>
                  <a:buFont typeface="Wingdings" panose="05000000000000000000" pitchFamily="2" charset="2"/>
                  <a:buChar char="v"/>
                </a:pPr>
                <a:r>
                  <a:rPr lang="en-US" sz="2600" b="1" dirty="0">
                    <a:solidFill>
                      <a:srgbClr val="C00000"/>
                    </a:solidFill>
                  </a:rPr>
                  <a:t>This property is the energy, E, of the system.</a:t>
                </a:r>
              </a:p>
              <a:p>
                <a:pPr>
                  <a:buFont typeface="Wingdings" panose="05000000000000000000" pitchFamily="2" charset="2"/>
                  <a:buChar char="v"/>
                </a:pPr>
                <a:r>
                  <a:rPr lang="en-US" sz="2600" dirty="0"/>
                  <a:t>The law is expressed mathematically as,</a:t>
                </a:r>
              </a:p>
              <a:p>
                <a:pPr>
                  <a:buFont typeface="Wingdings" panose="05000000000000000000" pitchFamily="2" charset="2"/>
                  <a:buChar char="v"/>
                </a:pPr>
                <a:endParaRPr lang="en-US" sz="900" dirty="0"/>
              </a:p>
              <a:p>
                <a:pPr marL="0" indent="0">
                  <a:buNone/>
                </a:pPr>
                <a14:m>
                  <m:oMathPara xmlns:m="http://schemas.openxmlformats.org/officeDocument/2006/math">
                    <m:oMathParaPr>
                      <m:jc m:val="centerGroup"/>
                    </m:oMathParaPr>
                    <m:oMath xmlns:m="http://schemas.openxmlformats.org/officeDocument/2006/math">
                      <m:sSub>
                        <m:sSubPr>
                          <m:ctrlPr>
                            <a:rPr lang="en-US" sz="4400" i="1" smtClean="0">
                              <a:latin typeface="Cambria Math" panose="02040503050406030204" pitchFamily="18" charset="0"/>
                            </a:rPr>
                          </m:ctrlPr>
                        </m:sSubPr>
                        <m:e>
                          <m:r>
                            <m:rPr>
                              <m:sty m:val="p"/>
                            </m:rPr>
                            <a:rPr lang="en-US" sz="4400" i="0" smtClean="0">
                              <a:latin typeface="Cambria Math" panose="02040503050406030204" pitchFamily="18" charset="0"/>
                              <a:ea typeface="Cambria Math" panose="02040503050406030204" pitchFamily="18" charset="0"/>
                            </a:rPr>
                            <m:t>δ</m:t>
                          </m:r>
                          <m:r>
                            <m:rPr>
                              <m:sty m:val="p"/>
                            </m:rPr>
                            <a:rPr lang="en-US" sz="4400" b="0" i="0" smtClean="0">
                              <a:latin typeface="Cambria Math" panose="02040503050406030204" pitchFamily="18" charset="0"/>
                              <a:ea typeface="Cambria Math" panose="02040503050406030204" pitchFamily="18" charset="0"/>
                            </a:rPr>
                            <m:t>Q</m:t>
                          </m:r>
                        </m:e>
                        <m:sub>
                          <m:r>
                            <m:rPr>
                              <m:sty m:val="p"/>
                            </m:rPr>
                            <a:rPr lang="en-US" sz="4400" b="0" i="0" smtClean="0">
                              <a:latin typeface="Cambria Math" panose="02040503050406030204" pitchFamily="18" charset="0"/>
                            </a:rPr>
                            <m:t>net</m:t>
                          </m:r>
                        </m:sub>
                      </m:sSub>
                      <m:r>
                        <a:rPr lang="en-US" sz="4400" b="0" i="0" smtClean="0">
                          <a:latin typeface="Cambria Math" panose="02040503050406030204" pitchFamily="18" charset="0"/>
                        </a:rPr>
                        <m:t>−</m:t>
                      </m:r>
                      <m:sSub>
                        <m:sSubPr>
                          <m:ctrlPr>
                            <a:rPr lang="en-US" sz="4400" b="0" i="1" smtClean="0">
                              <a:latin typeface="Cambria Math" panose="02040503050406030204" pitchFamily="18" charset="0"/>
                            </a:rPr>
                          </m:ctrlPr>
                        </m:sSubPr>
                        <m:e>
                          <m:r>
                            <m:rPr>
                              <m:sty m:val="p"/>
                            </m:rPr>
                            <a:rPr lang="en-US" sz="4400" b="0" i="0" smtClean="0">
                              <a:latin typeface="Cambria Math" panose="02040503050406030204" pitchFamily="18" charset="0"/>
                              <a:ea typeface="Cambria Math" panose="02040503050406030204" pitchFamily="18" charset="0"/>
                            </a:rPr>
                            <m:t>δW</m:t>
                          </m:r>
                        </m:e>
                        <m:sub>
                          <m:r>
                            <m:rPr>
                              <m:sty m:val="p"/>
                            </m:rPr>
                            <a:rPr lang="en-US" sz="4400" b="0" i="0" smtClean="0">
                              <a:latin typeface="Cambria Math" panose="02040503050406030204" pitchFamily="18" charset="0"/>
                            </a:rPr>
                            <m:t>net</m:t>
                          </m:r>
                        </m:sub>
                      </m:sSub>
                      <m:r>
                        <a:rPr lang="en-US" sz="4400" b="0" i="0" smtClean="0">
                          <a:latin typeface="Cambria Math" panose="02040503050406030204" pitchFamily="18" charset="0"/>
                        </a:rPr>
                        <m:t>=</m:t>
                      </m:r>
                      <m:r>
                        <m:rPr>
                          <m:sty m:val="p"/>
                        </m:rPr>
                        <a:rPr lang="en-US" sz="4400" b="0" i="0" smtClean="0">
                          <a:latin typeface="Cambria Math" panose="02040503050406030204" pitchFamily="18" charset="0"/>
                          <a:ea typeface="Cambria Math" panose="02040503050406030204" pitchFamily="18" charset="0"/>
                        </a:rPr>
                        <m:t>dE</m:t>
                      </m:r>
                    </m:oMath>
                  </m:oMathPara>
                </a14:m>
                <a:endParaRPr lang="en-US" sz="4400" dirty="0"/>
              </a:p>
              <a:p>
                <a:pPr marL="0" indent="0">
                  <a:buNone/>
                </a:pPr>
                <a:endParaRPr lang="en-US" sz="800" dirty="0"/>
              </a:p>
              <a:p>
                <a:pPr marL="0" indent="0">
                  <a:buNone/>
                </a:pPr>
                <a14:m>
                  <m:oMathPara xmlns:m="http://schemas.openxmlformats.org/officeDocument/2006/math">
                    <m:oMathParaPr>
                      <m:jc m:val="centerGroup"/>
                    </m:oMathParaPr>
                    <m:oMath xmlns:m="http://schemas.openxmlformats.org/officeDocument/2006/math">
                      <m:sSub>
                        <m:sSubPr>
                          <m:ctrlPr>
                            <a:rPr lang="en-US" sz="4400" i="1" smtClean="0">
                              <a:solidFill>
                                <a:srgbClr val="C00000"/>
                              </a:solidFill>
                              <a:latin typeface="Cambria Math" panose="02040503050406030204" pitchFamily="18" charset="0"/>
                            </a:rPr>
                          </m:ctrlPr>
                        </m:sSubPr>
                        <m:e>
                          <m:r>
                            <m:rPr>
                              <m:sty m:val="p"/>
                            </m:rPr>
                            <a:rPr lang="en-US" sz="4400" i="0">
                              <a:solidFill>
                                <a:srgbClr val="C00000"/>
                              </a:solidFill>
                              <a:latin typeface="Cambria Math" panose="02040503050406030204" pitchFamily="18" charset="0"/>
                              <a:ea typeface="Cambria Math" panose="02040503050406030204" pitchFamily="18" charset="0"/>
                            </a:rPr>
                            <m:t>Q</m:t>
                          </m:r>
                        </m:e>
                        <m:sub>
                          <m:r>
                            <m:rPr>
                              <m:sty m:val="p"/>
                            </m:rPr>
                            <a:rPr lang="en-US" sz="4400" i="0">
                              <a:solidFill>
                                <a:srgbClr val="C00000"/>
                              </a:solidFill>
                              <a:latin typeface="Cambria Math" panose="02040503050406030204" pitchFamily="18" charset="0"/>
                            </a:rPr>
                            <m:t>net</m:t>
                          </m:r>
                        </m:sub>
                      </m:sSub>
                      <m:r>
                        <a:rPr lang="en-US" sz="4400" i="0">
                          <a:solidFill>
                            <a:srgbClr val="C00000"/>
                          </a:solidFill>
                          <a:latin typeface="Cambria Math" panose="02040503050406030204" pitchFamily="18" charset="0"/>
                        </a:rPr>
                        <m:t>−</m:t>
                      </m:r>
                      <m:sSub>
                        <m:sSubPr>
                          <m:ctrlPr>
                            <a:rPr lang="en-US" sz="4400" i="1">
                              <a:solidFill>
                                <a:srgbClr val="C00000"/>
                              </a:solidFill>
                              <a:latin typeface="Cambria Math" panose="02040503050406030204" pitchFamily="18" charset="0"/>
                            </a:rPr>
                          </m:ctrlPr>
                        </m:sSubPr>
                        <m:e>
                          <m:r>
                            <m:rPr>
                              <m:sty m:val="p"/>
                            </m:rPr>
                            <a:rPr lang="en-US" sz="4400" i="0">
                              <a:solidFill>
                                <a:srgbClr val="C00000"/>
                              </a:solidFill>
                              <a:latin typeface="Cambria Math" panose="02040503050406030204" pitchFamily="18" charset="0"/>
                              <a:ea typeface="Cambria Math" panose="02040503050406030204" pitchFamily="18" charset="0"/>
                            </a:rPr>
                            <m:t>W</m:t>
                          </m:r>
                        </m:e>
                        <m:sub>
                          <m:r>
                            <m:rPr>
                              <m:sty m:val="p"/>
                            </m:rPr>
                            <a:rPr lang="en-US" sz="4400" i="0">
                              <a:solidFill>
                                <a:srgbClr val="C00000"/>
                              </a:solidFill>
                              <a:latin typeface="Cambria Math" panose="02040503050406030204" pitchFamily="18" charset="0"/>
                            </a:rPr>
                            <m:t>net</m:t>
                          </m:r>
                        </m:sub>
                      </m:sSub>
                      <m:r>
                        <a:rPr lang="en-US" sz="4400" i="0">
                          <a:solidFill>
                            <a:srgbClr val="C00000"/>
                          </a:solidFill>
                          <a:latin typeface="Cambria Math" panose="02040503050406030204" pitchFamily="18" charset="0"/>
                        </a:rPr>
                        <m:t>=</m:t>
                      </m:r>
                      <m:r>
                        <a:rPr lang="en-US" sz="4400" i="0" smtClean="0">
                          <a:solidFill>
                            <a:srgbClr val="C00000"/>
                          </a:solidFill>
                          <a:latin typeface="Cambria Math" panose="02040503050406030204" pitchFamily="18" charset="0"/>
                          <a:ea typeface="Cambria Math" panose="02040503050406030204" pitchFamily="18" charset="0"/>
                        </a:rPr>
                        <m:t>∆</m:t>
                      </m:r>
                      <m:r>
                        <m:rPr>
                          <m:sty m:val="p"/>
                        </m:rPr>
                        <a:rPr lang="en-US" sz="4400" i="0">
                          <a:solidFill>
                            <a:srgbClr val="C00000"/>
                          </a:solidFill>
                          <a:latin typeface="Cambria Math" panose="02040503050406030204" pitchFamily="18" charset="0"/>
                          <a:ea typeface="Cambria Math" panose="02040503050406030204" pitchFamily="18" charset="0"/>
                        </a:rPr>
                        <m:t>E</m:t>
                      </m:r>
                    </m:oMath>
                  </m:oMathPara>
                </a14:m>
                <a:endParaRPr lang="en-US" sz="4400" dirty="0">
                  <a:solidFill>
                    <a:srgbClr val="C00000"/>
                  </a:solidFill>
                </a:endParaRPr>
              </a:p>
              <a:p>
                <a:pPr marL="0" indent="0">
                  <a:buNone/>
                </a:pPr>
                <a:endParaRPr lang="en-US" sz="4400"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300109" y="1035424"/>
                <a:ext cx="6302190" cy="5243181"/>
              </a:xfrm>
              <a:blipFill>
                <a:blip r:embed="rId2"/>
                <a:stretch>
                  <a:fillRect l="-1451" t="-104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2</a:t>
            </a:fld>
            <a:endParaRPr lang="en-US" dirty="0"/>
          </a:p>
        </p:txBody>
      </p:sp>
      <mc:AlternateContent xmlns:mc="http://schemas.openxmlformats.org/markup-compatibility/2006" xmlns:a14="http://schemas.microsoft.com/office/drawing/2010/main">
        <mc:Choice Requires="a14">
          <p:sp>
            <p:nvSpPr>
              <p:cNvPr id="8" name="Content Placeholder 2"/>
              <p:cNvSpPr txBox="1">
                <a:spLocks/>
              </p:cNvSpPr>
              <p:nvPr/>
            </p:nvSpPr>
            <p:spPr>
              <a:xfrm>
                <a:off x="6911788" y="1035423"/>
                <a:ext cx="5158292" cy="524318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600" b="1" dirty="0">
                    <a:solidFill>
                      <a:srgbClr val="C00000"/>
                    </a:solidFill>
                  </a:rPr>
                  <a:t>For a closed system,</a:t>
                </a:r>
              </a:p>
              <a:p>
                <a:pPr marL="0" indent="0">
                  <a:buNone/>
                </a:pPr>
                <a14:m>
                  <m:oMathPara xmlns:m="http://schemas.openxmlformats.org/officeDocument/2006/math">
                    <m:oMathParaPr>
                      <m:jc m:val="centerGroup"/>
                    </m:oMathParaPr>
                    <m:oMath xmlns:m="http://schemas.openxmlformats.org/officeDocument/2006/math">
                      <m:r>
                        <a:rPr lang="en-US" sz="3200" b="1" i="0" smtClean="0">
                          <a:solidFill>
                            <a:srgbClr val="002060"/>
                          </a:solidFill>
                          <a:latin typeface="Cambria Math" panose="02040503050406030204" pitchFamily="18" charset="0"/>
                        </a:rPr>
                        <m:t>𝐄</m:t>
                      </m:r>
                      <m:r>
                        <a:rPr lang="en-US" sz="3200" b="1" i="0" smtClean="0">
                          <a:solidFill>
                            <a:srgbClr val="002060"/>
                          </a:solidFill>
                          <a:latin typeface="Cambria Math" panose="02040503050406030204" pitchFamily="18" charset="0"/>
                        </a:rPr>
                        <m:t>=</m:t>
                      </m:r>
                      <m:r>
                        <a:rPr lang="en-US" sz="3200" b="1" i="0" smtClean="0">
                          <a:solidFill>
                            <a:srgbClr val="002060"/>
                          </a:solidFill>
                          <a:latin typeface="Cambria Math" panose="02040503050406030204" pitchFamily="18" charset="0"/>
                        </a:rPr>
                        <m:t>𝐔</m:t>
                      </m:r>
                      <m:r>
                        <a:rPr lang="en-US" sz="3200" b="1" i="0" smtClean="0">
                          <a:solidFill>
                            <a:srgbClr val="002060"/>
                          </a:solidFill>
                          <a:latin typeface="Cambria Math" panose="02040503050406030204" pitchFamily="18" charset="0"/>
                        </a:rPr>
                        <m:t>+</m:t>
                      </m:r>
                      <m:r>
                        <a:rPr lang="en-US" sz="3200" b="1" i="0" smtClean="0">
                          <a:solidFill>
                            <a:srgbClr val="002060"/>
                          </a:solidFill>
                          <a:latin typeface="Cambria Math" panose="02040503050406030204" pitchFamily="18" charset="0"/>
                        </a:rPr>
                        <m:t>𝐊𝐄</m:t>
                      </m:r>
                      <m:r>
                        <a:rPr lang="en-US" sz="3200" b="1" i="0" smtClean="0">
                          <a:solidFill>
                            <a:srgbClr val="002060"/>
                          </a:solidFill>
                          <a:latin typeface="Cambria Math" panose="02040503050406030204" pitchFamily="18" charset="0"/>
                        </a:rPr>
                        <m:t>+</m:t>
                      </m:r>
                      <m:r>
                        <a:rPr lang="en-US" sz="3200" b="1" i="0" smtClean="0">
                          <a:solidFill>
                            <a:srgbClr val="002060"/>
                          </a:solidFill>
                          <a:latin typeface="Cambria Math" panose="02040503050406030204" pitchFamily="18" charset="0"/>
                        </a:rPr>
                        <m:t>𝐏𝐄</m:t>
                      </m:r>
                    </m:oMath>
                  </m:oMathPara>
                </a14:m>
                <a:endParaRPr lang="en-US" sz="3200" b="1" dirty="0">
                  <a:solidFill>
                    <a:srgbClr val="002060"/>
                  </a:solidFill>
                </a:endParaRPr>
              </a:p>
              <a:p>
                <a:pPr>
                  <a:buFont typeface="Wingdings" panose="05000000000000000000" pitchFamily="2" charset="2"/>
                  <a:buChar char="v"/>
                </a:pPr>
                <a:r>
                  <a:rPr lang="en-US" sz="2600" dirty="0"/>
                  <a:t>The first law equation for a closed system becomes;</a:t>
                </a:r>
              </a:p>
              <a:p>
                <a:pPr marL="0" lv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C00000"/>
                              </a:solidFill>
                              <a:latin typeface="Cambria Math" panose="02040503050406030204" pitchFamily="18" charset="0"/>
                            </a:rPr>
                          </m:ctrlPr>
                        </m:sSubPr>
                        <m:e>
                          <m:r>
                            <a:rPr lang="en-US" sz="2400" b="1" i="0">
                              <a:solidFill>
                                <a:srgbClr val="C00000"/>
                              </a:solidFill>
                              <a:latin typeface="Cambria Math" panose="02040503050406030204" pitchFamily="18" charset="0"/>
                              <a:ea typeface="Cambria Math" panose="02040503050406030204" pitchFamily="18" charset="0"/>
                            </a:rPr>
                            <m:t>𝐐</m:t>
                          </m:r>
                        </m:e>
                        <m:sub>
                          <m:r>
                            <a:rPr lang="en-US" sz="2400" b="1" i="0">
                              <a:solidFill>
                                <a:srgbClr val="C00000"/>
                              </a:solidFill>
                              <a:latin typeface="Cambria Math" panose="02040503050406030204" pitchFamily="18" charset="0"/>
                            </a:rPr>
                            <m:t>𝐧𝐞𝐭</m:t>
                          </m:r>
                        </m:sub>
                      </m:sSub>
                      <m:r>
                        <a:rPr lang="en-US" sz="2400" b="1" i="0">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0">
                              <a:solidFill>
                                <a:srgbClr val="C00000"/>
                              </a:solidFill>
                              <a:latin typeface="Cambria Math" panose="02040503050406030204" pitchFamily="18" charset="0"/>
                              <a:ea typeface="Cambria Math" panose="02040503050406030204" pitchFamily="18" charset="0"/>
                            </a:rPr>
                            <m:t>𝐖</m:t>
                          </m:r>
                        </m:e>
                        <m:sub>
                          <m:r>
                            <a:rPr lang="en-US" sz="2400" b="1" i="0">
                              <a:solidFill>
                                <a:srgbClr val="C00000"/>
                              </a:solidFill>
                              <a:latin typeface="Cambria Math" panose="02040503050406030204" pitchFamily="18" charset="0"/>
                            </a:rPr>
                            <m:t>𝐧𝐞𝐭</m:t>
                          </m:r>
                        </m:sub>
                      </m:sSub>
                      <m:r>
                        <a:rPr lang="en-US" sz="2400" b="1" i="0">
                          <a:solidFill>
                            <a:srgbClr val="C00000"/>
                          </a:solidFill>
                          <a:latin typeface="Cambria Math" panose="02040503050406030204" pitchFamily="18" charset="0"/>
                        </a:rPr>
                        <m:t>=</m:t>
                      </m:r>
                      <m:r>
                        <a:rPr lang="en-US" sz="2400" b="1" i="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𝐔</m:t>
                      </m:r>
                      <m:r>
                        <a:rPr lang="en-US" sz="2400" b="1" i="0" smtClean="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𝐊𝐄</m:t>
                      </m:r>
                      <m:r>
                        <a:rPr lang="en-US" sz="2400" b="1" i="0" smtClean="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𝐏𝐄</m:t>
                      </m:r>
                    </m:oMath>
                  </m:oMathPara>
                </a14:m>
                <a:endParaRPr lang="en-US" sz="2400" b="1" dirty="0">
                  <a:solidFill>
                    <a:srgbClr val="C00000"/>
                  </a:solidFill>
                </a:endParaRPr>
              </a:p>
              <a:p>
                <a:pPr>
                  <a:buFont typeface="Wingdings" panose="05000000000000000000" pitchFamily="2" charset="2"/>
                  <a:buChar char="v"/>
                </a:pPr>
                <a:r>
                  <a:rPr lang="en-US" sz="2600" dirty="0"/>
                  <a:t>If the closed system is stationary, </a:t>
                </a:r>
              </a:p>
              <a:p>
                <a:pPr marL="0" indent="0">
                  <a:buNone/>
                </a:pPr>
                <a14:m>
                  <m:oMathPara xmlns:m="http://schemas.openxmlformats.org/officeDocument/2006/math">
                    <m:oMathParaPr>
                      <m:jc m:val="centerGroup"/>
                    </m:oMathParaPr>
                    <m:oMath xmlns:m="http://schemas.openxmlformats.org/officeDocument/2006/math">
                      <m:r>
                        <a:rPr lang="en-US" sz="2600" b="1" i="0" smtClean="0">
                          <a:solidFill>
                            <a:srgbClr val="002060"/>
                          </a:solidFill>
                          <a:latin typeface="Cambria Math" panose="02040503050406030204" pitchFamily="18" charset="0"/>
                          <a:ea typeface="Cambria Math" panose="02040503050406030204" pitchFamily="18" charset="0"/>
                        </a:rPr>
                        <m:t>∆</m:t>
                      </m:r>
                      <m:r>
                        <a:rPr lang="en-US" sz="2600" b="1" i="0" smtClean="0">
                          <a:solidFill>
                            <a:srgbClr val="002060"/>
                          </a:solidFill>
                          <a:latin typeface="Cambria Math" panose="02040503050406030204" pitchFamily="18" charset="0"/>
                          <a:ea typeface="Cambria Math" panose="02040503050406030204" pitchFamily="18" charset="0"/>
                        </a:rPr>
                        <m:t>𝐊𝐄</m:t>
                      </m:r>
                      <m:r>
                        <a:rPr lang="en-US" sz="2600" b="1" i="0" smtClean="0">
                          <a:solidFill>
                            <a:srgbClr val="002060"/>
                          </a:solidFill>
                          <a:latin typeface="Cambria Math" panose="02040503050406030204" pitchFamily="18" charset="0"/>
                          <a:ea typeface="Cambria Math" panose="02040503050406030204" pitchFamily="18" charset="0"/>
                        </a:rPr>
                        <m:t>=∆</m:t>
                      </m:r>
                      <m:r>
                        <a:rPr lang="en-US" sz="2600" b="1" i="0" smtClean="0">
                          <a:solidFill>
                            <a:srgbClr val="002060"/>
                          </a:solidFill>
                          <a:latin typeface="Cambria Math" panose="02040503050406030204" pitchFamily="18" charset="0"/>
                          <a:ea typeface="Cambria Math" panose="02040503050406030204" pitchFamily="18" charset="0"/>
                        </a:rPr>
                        <m:t>𝐏𝐄</m:t>
                      </m:r>
                      <m:r>
                        <a:rPr lang="en-US" sz="2600" b="1" i="0" smtClean="0">
                          <a:solidFill>
                            <a:srgbClr val="002060"/>
                          </a:solidFill>
                          <a:latin typeface="Cambria Math" panose="02040503050406030204" pitchFamily="18" charset="0"/>
                          <a:ea typeface="Cambria Math" panose="02040503050406030204" pitchFamily="18" charset="0"/>
                        </a:rPr>
                        <m:t>=</m:t>
                      </m:r>
                      <m:r>
                        <a:rPr lang="en-US" sz="2600" b="1" i="0" smtClean="0">
                          <a:solidFill>
                            <a:srgbClr val="002060"/>
                          </a:solidFill>
                          <a:latin typeface="Cambria Math" panose="02040503050406030204" pitchFamily="18" charset="0"/>
                          <a:ea typeface="Cambria Math" panose="02040503050406030204" pitchFamily="18" charset="0"/>
                        </a:rPr>
                        <m:t>𝟎</m:t>
                      </m:r>
                    </m:oMath>
                  </m:oMathPara>
                </a14:m>
                <a:endParaRPr lang="en-US" sz="2600" b="1" dirty="0">
                  <a:solidFill>
                    <a:srgbClr val="002060"/>
                  </a:solidFill>
                </a:endParaRPr>
              </a:p>
              <a:p>
                <a:pPr>
                  <a:buFont typeface="Wingdings" panose="05000000000000000000" pitchFamily="2" charset="2"/>
                  <a:buChar char="v"/>
                </a:pPr>
                <a:r>
                  <a:rPr lang="en-US" sz="2600" dirty="0"/>
                  <a:t>The first law equation for a closed system reduces to;</a:t>
                </a:r>
              </a:p>
              <a:p>
                <a:pPr marL="0" indent="0">
                  <a:buNone/>
                </a:pPr>
                <a14:m>
                  <m:oMathPara xmlns:m="http://schemas.openxmlformats.org/officeDocument/2006/math">
                    <m:oMathParaPr>
                      <m:jc m:val="centerGroup"/>
                    </m:oMathParaPr>
                    <m:oMath xmlns:m="http://schemas.openxmlformats.org/officeDocument/2006/math">
                      <m:sSub>
                        <m:sSubPr>
                          <m:ctrlPr>
                            <a:rPr lang="en-US" sz="2400" b="1" i="1">
                              <a:solidFill>
                                <a:srgbClr val="C00000"/>
                              </a:solidFill>
                              <a:latin typeface="Cambria Math" panose="02040503050406030204" pitchFamily="18" charset="0"/>
                            </a:rPr>
                          </m:ctrlPr>
                        </m:sSubPr>
                        <m:e>
                          <m:r>
                            <a:rPr lang="en-US" sz="2400" b="1" i="0">
                              <a:solidFill>
                                <a:srgbClr val="C00000"/>
                              </a:solidFill>
                              <a:latin typeface="Cambria Math" panose="02040503050406030204" pitchFamily="18" charset="0"/>
                              <a:ea typeface="Cambria Math" panose="02040503050406030204" pitchFamily="18" charset="0"/>
                            </a:rPr>
                            <m:t>𝐐</m:t>
                          </m:r>
                        </m:e>
                        <m:sub>
                          <m:r>
                            <a:rPr lang="en-US" sz="2400" b="1" i="0">
                              <a:solidFill>
                                <a:srgbClr val="C00000"/>
                              </a:solidFill>
                              <a:latin typeface="Cambria Math" panose="02040503050406030204" pitchFamily="18" charset="0"/>
                            </a:rPr>
                            <m:t>𝐧𝐞𝐭</m:t>
                          </m:r>
                        </m:sub>
                      </m:sSub>
                      <m:r>
                        <a:rPr lang="en-US" sz="2400" b="1" i="0">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i="0">
                              <a:solidFill>
                                <a:srgbClr val="C00000"/>
                              </a:solidFill>
                              <a:latin typeface="Cambria Math" panose="02040503050406030204" pitchFamily="18" charset="0"/>
                              <a:ea typeface="Cambria Math" panose="02040503050406030204" pitchFamily="18" charset="0"/>
                            </a:rPr>
                            <m:t>𝐖</m:t>
                          </m:r>
                        </m:e>
                        <m:sub>
                          <m:r>
                            <a:rPr lang="en-US" sz="2400" b="1" i="0">
                              <a:solidFill>
                                <a:srgbClr val="C00000"/>
                              </a:solidFill>
                              <a:latin typeface="Cambria Math" panose="02040503050406030204" pitchFamily="18" charset="0"/>
                            </a:rPr>
                            <m:t>𝐧𝐞𝐭</m:t>
                          </m:r>
                        </m:sub>
                      </m:sSub>
                      <m:r>
                        <a:rPr lang="en-US" sz="2400" b="1" i="0">
                          <a:solidFill>
                            <a:srgbClr val="C00000"/>
                          </a:solidFill>
                          <a:latin typeface="Cambria Math" panose="02040503050406030204" pitchFamily="18" charset="0"/>
                        </a:rPr>
                        <m:t>=</m:t>
                      </m:r>
                      <m:r>
                        <a:rPr lang="en-US" sz="2400" b="1" i="0">
                          <a:solidFill>
                            <a:srgbClr val="C00000"/>
                          </a:solidFill>
                          <a:latin typeface="Cambria Math" panose="02040503050406030204" pitchFamily="18" charset="0"/>
                          <a:ea typeface="Cambria Math" panose="02040503050406030204" pitchFamily="18" charset="0"/>
                        </a:rPr>
                        <m:t>∆</m:t>
                      </m:r>
                      <m:r>
                        <a:rPr lang="en-US" sz="2400" b="1" i="0">
                          <a:solidFill>
                            <a:srgbClr val="C00000"/>
                          </a:solidFill>
                          <a:latin typeface="Cambria Math" panose="02040503050406030204" pitchFamily="18" charset="0"/>
                          <a:ea typeface="Cambria Math" panose="02040503050406030204" pitchFamily="18" charset="0"/>
                        </a:rPr>
                        <m:t>𝐔</m:t>
                      </m:r>
                    </m:oMath>
                  </m:oMathPara>
                </a14:m>
                <a:endParaRPr lang="en-US" sz="2400" b="1" dirty="0">
                  <a:solidFill>
                    <a:srgbClr val="C00000"/>
                  </a:solidFill>
                </a:endParaRPr>
              </a:p>
              <a:p>
                <a:pPr>
                  <a:buFont typeface="Wingdings" panose="05000000000000000000" pitchFamily="2" charset="2"/>
                  <a:buChar char="v"/>
                </a:pPr>
                <a:r>
                  <a:rPr lang="en-US" sz="2600" b="1" dirty="0">
                    <a:solidFill>
                      <a:srgbClr val="002060"/>
                    </a:solidFill>
                  </a:rPr>
                  <a:t>This is referred to as the non-flow energy equation (NFEE).</a:t>
                </a: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6911788" y="1035423"/>
                <a:ext cx="5158292" cy="5243181"/>
              </a:xfrm>
              <a:prstGeom prst="rect">
                <a:avLst/>
              </a:prstGeom>
              <a:blipFill rotWithShape="0">
                <a:blip r:embed="rId3"/>
                <a:stretch>
                  <a:fillRect l="-1891" t="-1047" b="-1977"/>
                </a:stretch>
              </a:blipFill>
            </p:spPr>
            <p:txBody>
              <a:bodyPr/>
              <a:lstStyle/>
              <a:p>
                <a:r>
                  <a:rPr lang="en-US">
                    <a:noFill/>
                  </a:rPr>
                  <a:t> </a:t>
                </a:r>
              </a:p>
            </p:txBody>
          </p:sp>
        </mc:Fallback>
      </mc:AlternateContent>
    </p:spTree>
    <p:extLst>
      <p:ext uri="{BB962C8B-B14F-4D97-AF65-F5344CB8AC3E}">
        <p14:creationId xmlns:p14="http://schemas.microsoft.com/office/powerpoint/2010/main" val="5320842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300109" y="1035424"/>
                <a:ext cx="4820531" cy="5243181"/>
              </a:xfrm>
            </p:spPr>
            <p:txBody>
              <a:bodyPr>
                <a:noAutofit/>
              </a:bodyPr>
              <a:lstStyle/>
              <a:p>
                <a:pPr>
                  <a:buFont typeface="Wingdings" panose="05000000000000000000" pitchFamily="2" charset="2"/>
                  <a:buChar char="v"/>
                </a:pPr>
                <a:r>
                  <a:rPr lang="en-US" b="1" dirty="0">
                    <a:solidFill>
                      <a:srgbClr val="002060"/>
                    </a:solidFill>
                  </a:rPr>
                  <a:t>An</a:t>
                </a:r>
                <a:r>
                  <a:rPr lang="en-US" b="1" dirty="0">
                    <a:solidFill>
                      <a:srgbClr val="C00000"/>
                    </a:solidFill>
                  </a:rPr>
                  <a:t> isolated system </a:t>
                </a:r>
                <a:r>
                  <a:rPr lang="en-US" dirty="0"/>
                  <a:t>is a special case of a closed system.</a:t>
                </a:r>
              </a:p>
              <a:p>
                <a:pPr>
                  <a:buFont typeface="Wingdings" panose="05000000000000000000" pitchFamily="2" charset="2"/>
                  <a:buChar char="v"/>
                </a:pPr>
                <a:r>
                  <a:rPr lang="en-US" dirty="0"/>
                  <a:t>For an isolated system,</a:t>
                </a:r>
              </a:p>
              <a:p>
                <a:pPr marL="0" indent="0">
                  <a:buNone/>
                </a:pPr>
                <a14:m>
                  <m:oMathPara xmlns:m="http://schemas.openxmlformats.org/officeDocument/2006/math">
                    <m:oMathParaPr>
                      <m:jc m:val="centerGroup"/>
                    </m:oMathParaPr>
                    <m:oMath xmlns:m="http://schemas.openxmlformats.org/officeDocument/2006/math">
                      <m:r>
                        <a:rPr lang="en-US" b="1" i="1" smtClean="0">
                          <a:solidFill>
                            <a:srgbClr val="002060"/>
                          </a:solidFill>
                          <a:latin typeface="Cambria Math" panose="02040503050406030204" pitchFamily="18" charset="0"/>
                        </a:rPr>
                        <m:t>𝑸</m:t>
                      </m:r>
                      <m:r>
                        <a:rPr lang="en-US" b="1" i="1" smtClean="0">
                          <a:solidFill>
                            <a:srgbClr val="002060"/>
                          </a:solidFill>
                          <a:latin typeface="Cambria Math" panose="02040503050406030204" pitchFamily="18" charset="0"/>
                        </a:rPr>
                        <m:t>=</m:t>
                      </m:r>
                      <m:r>
                        <a:rPr lang="en-US" b="1" i="1" smtClean="0">
                          <a:solidFill>
                            <a:srgbClr val="002060"/>
                          </a:solidFill>
                          <a:latin typeface="Cambria Math" panose="02040503050406030204" pitchFamily="18" charset="0"/>
                        </a:rPr>
                        <m:t>𝑾</m:t>
                      </m:r>
                      <m:r>
                        <a:rPr lang="en-US" b="1" i="1" smtClean="0">
                          <a:solidFill>
                            <a:srgbClr val="002060"/>
                          </a:solidFill>
                          <a:latin typeface="Cambria Math" panose="02040503050406030204" pitchFamily="18" charset="0"/>
                        </a:rPr>
                        <m:t>=</m:t>
                      </m:r>
                      <m:r>
                        <a:rPr lang="en-US" b="1" i="1" smtClean="0">
                          <a:solidFill>
                            <a:srgbClr val="002060"/>
                          </a:solidFill>
                          <a:latin typeface="Cambria Math" panose="02040503050406030204" pitchFamily="18" charset="0"/>
                        </a:rPr>
                        <m:t>𝟎</m:t>
                      </m:r>
                    </m:oMath>
                  </m:oMathPara>
                </a14:m>
                <a:endParaRPr lang="en-US" b="1" dirty="0">
                  <a:solidFill>
                    <a:srgbClr val="002060"/>
                  </a:solidFill>
                </a:endParaRPr>
              </a:p>
              <a:p>
                <a:pPr>
                  <a:buFont typeface="Wingdings" panose="05000000000000000000" pitchFamily="2" charset="2"/>
                  <a:buChar char="v"/>
                </a:pPr>
                <a:r>
                  <a:rPr lang="en-US" dirty="0"/>
                  <a:t>The non flow energy equation becomes;</a:t>
                </a:r>
              </a:p>
              <a:p>
                <a:pPr marL="0" lvl="0" indent="0">
                  <a:buNone/>
                </a:pPr>
                <a14:m>
                  <m:oMathPara xmlns:m="http://schemas.openxmlformats.org/officeDocument/2006/math">
                    <m:oMathParaPr>
                      <m:jc m:val="centerGroup"/>
                    </m:oMathParaPr>
                    <m:oMath xmlns:m="http://schemas.openxmlformats.org/officeDocument/2006/math">
                      <m:r>
                        <a:rPr lang="en-US" b="1" i="1" smtClean="0">
                          <a:solidFill>
                            <a:srgbClr val="C00000"/>
                          </a:solidFill>
                          <a:latin typeface="Cambria Math" panose="02040503050406030204" pitchFamily="18" charset="0"/>
                        </a:rPr>
                        <m:t>𝟎</m:t>
                      </m:r>
                      <m:r>
                        <a:rPr lang="en-US" b="1">
                          <a:solidFill>
                            <a:srgbClr val="C00000"/>
                          </a:solidFill>
                          <a:latin typeface="Cambria Math" panose="02040503050406030204" pitchFamily="18" charset="0"/>
                        </a:rPr>
                        <m:t>=</m:t>
                      </m:r>
                      <m:r>
                        <a:rPr lang="en-US" b="1">
                          <a:solidFill>
                            <a:srgbClr val="C00000"/>
                          </a:solidFill>
                          <a:latin typeface="Cambria Math" panose="02040503050406030204" pitchFamily="18" charset="0"/>
                          <a:ea typeface="Cambria Math" panose="02040503050406030204" pitchFamily="18" charset="0"/>
                        </a:rPr>
                        <m:t>∆</m:t>
                      </m:r>
                      <m:r>
                        <a:rPr lang="en-US" b="1">
                          <a:solidFill>
                            <a:srgbClr val="C00000"/>
                          </a:solidFill>
                          <a:latin typeface="Cambria Math" panose="02040503050406030204" pitchFamily="18" charset="0"/>
                          <a:ea typeface="Cambria Math" panose="02040503050406030204" pitchFamily="18" charset="0"/>
                        </a:rPr>
                        <m:t>𝐔</m:t>
                      </m:r>
                    </m:oMath>
                  </m:oMathPara>
                </a14:m>
                <a:endParaRPr lang="en-US" b="1" dirty="0">
                  <a:solidFill>
                    <a:srgbClr val="C00000"/>
                  </a:solidFill>
                </a:endParaRPr>
              </a:p>
              <a:p>
                <a:pPr>
                  <a:buFont typeface="Wingdings" panose="05000000000000000000" pitchFamily="2" charset="2"/>
                  <a:buChar char="v"/>
                </a:pPr>
                <a:r>
                  <a:rPr lang="en-US" b="1" dirty="0">
                    <a:solidFill>
                      <a:srgbClr val="002060"/>
                    </a:solidFill>
                  </a:rPr>
                  <a:t>This means that the internal energy of an isolated system remains unchanged.</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300109" y="1035424"/>
                <a:ext cx="4820531" cy="5243181"/>
              </a:xfrm>
              <a:blipFill rotWithShape="0">
                <a:blip r:embed="rId2"/>
                <a:stretch>
                  <a:fillRect l="-2149" t="-1279" r="-379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3</a:t>
            </a:fld>
            <a:endParaRPr lang="en-US" dirty="0"/>
          </a:p>
        </p:txBody>
      </p:sp>
      <mc:AlternateContent xmlns:mc="http://schemas.openxmlformats.org/markup-compatibility/2006" xmlns:a14="http://schemas.microsoft.com/office/drawing/2010/main">
        <mc:Choice Requires="a14">
          <p:sp>
            <p:nvSpPr>
              <p:cNvPr id="8" name="Content Placeholder 2"/>
              <p:cNvSpPr txBox="1">
                <a:spLocks/>
              </p:cNvSpPr>
              <p:nvPr/>
            </p:nvSpPr>
            <p:spPr>
              <a:xfrm>
                <a:off x="5786612" y="1035424"/>
                <a:ext cx="6199061" cy="524318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dirty="0"/>
                  <a:t>For a closed system undergoing a cycle, </a:t>
                </a:r>
              </a:p>
              <a:p>
                <a:pPr marL="0" indent="0">
                  <a:buNone/>
                </a:pPr>
                <a14:m>
                  <m:oMathPara xmlns:m="http://schemas.openxmlformats.org/officeDocument/2006/math">
                    <m:oMathParaPr>
                      <m:jc m:val="centerGroup"/>
                    </m:oMathParaPr>
                    <m:oMath xmlns:m="http://schemas.openxmlformats.org/officeDocument/2006/math">
                      <m:r>
                        <a:rPr lang="en-US" sz="3200" b="1" smtClean="0">
                          <a:solidFill>
                            <a:srgbClr val="002060"/>
                          </a:solidFill>
                          <a:latin typeface="Cambria Math" panose="02040503050406030204" pitchFamily="18" charset="0"/>
                          <a:ea typeface="Cambria Math" panose="02040503050406030204" pitchFamily="18" charset="0"/>
                        </a:rPr>
                        <m:t>∆</m:t>
                      </m:r>
                      <m:r>
                        <a:rPr lang="en-US" sz="3200" b="1" smtClean="0">
                          <a:solidFill>
                            <a:srgbClr val="002060"/>
                          </a:solidFill>
                          <a:latin typeface="Cambria Math" panose="02040503050406030204" pitchFamily="18" charset="0"/>
                          <a:ea typeface="Cambria Math" panose="02040503050406030204" pitchFamily="18" charset="0"/>
                        </a:rPr>
                        <m:t>𝐔</m:t>
                      </m:r>
                      <m:r>
                        <a:rPr lang="en-US" sz="3200" b="1" i="0" smtClean="0">
                          <a:solidFill>
                            <a:srgbClr val="002060"/>
                          </a:solidFill>
                          <a:latin typeface="Cambria Math" panose="02040503050406030204" pitchFamily="18" charset="0"/>
                          <a:ea typeface="Cambria Math" panose="02040503050406030204" pitchFamily="18" charset="0"/>
                        </a:rPr>
                        <m:t>=</m:t>
                      </m:r>
                      <m:r>
                        <a:rPr lang="en-US" sz="3200" b="1" i="0" smtClean="0">
                          <a:solidFill>
                            <a:srgbClr val="002060"/>
                          </a:solidFill>
                          <a:latin typeface="Cambria Math" panose="02040503050406030204" pitchFamily="18" charset="0"/>
                          <a:ea typeface="Cambria Math" panose="02040503050406030204" pitchFamily="18" charset="0"/>
                        </a:rPr>
                        <m:t>𝟎</m:t>
                      </m:r>
                    </m:oMath>
                  </m:oMathPara>
                </a14:m>
                <a:endParaRPr lang="en-US" sz="3200" b="1" dirty="0">
                  <a:solidFill>
                    <a:srgbClr val="002060"/>
                  </a:solidFill>
                </a:endParaRPr>
              </a:p>
              <a:p>
                <a:pPr>
                  <a:buFont typeface="Wingdings" panose="05000000000000000000" pitchFamily="2" charset="2"/>
                  <a:buChar char="v"/>
                </a:pPr>
                <a:r>
                  <a:rPr lang="en-US" dirty="0"/>
                  <a:t>The first law equation for a closed system then becomes;</a:t>
                </a:r>
              </a:p>
              <a:p>
                <a:pPr marL="0" lvl="0" indent="0">
                  <a:buNone/>
                </a:pPr>
                <a14:m>
                  <m:oMathPara xmlns:m="http://schemas.openxmlformats.org/officeDocument/2006/math">
                    <m:oMathParaPr>
                      <m:jc m:val="centerGroup"/>
                    </m:oMathParaPr>
                    <m:oMath xmlns:m="http://schemas.openxmlformats.org/officeDocument/2006/math">
                      <m:sSub>
                        <m:sSubPr>
                          <m:ctrlPr>
                            <a:rPr lang="en-US" sz="4000" b="1" i="1" smtClean="0">
                              <a:solidFill>
                                <a:srgbClr val="C00000"/>
                              </a:solidFill>
                              <a:latin typeface="Cambria Math" panose="02040503050406030204" pitchFamily="18" charset="0"/>
                            </a:rPr>
                          </m:ctrlPr>
                        </m:sSubPr>
                        <m:e>
                          <m:r>
                            <a:rPr lang="en-US" sz="4000" b="1" i="0">
                              <a:solidFill>
                                <a:srgbClr val="C00000"/>
                              </a:solidFill>
                              <a:latin typeface="Cambria Math" panose="02040503050406030204" pitchFamily="18" charset="0"/>
                              <a:ea typeface="Cambria Math" panose="02040503050406030204" pitchFamily="18" charset="0"/>
                            </a:rPr>
                            <m:t>𝐐</m:t>
                          </m:r>
                        </m:e>
                        <m:sub>
                          <m:r>
                            <a:rPr lang="en-US" sz="4000" b="1" i="0">
                              <a:solidFill>
                                <a:srgbClr val="C00000"/>
                              </a:solidFill>
                              <a:latin typeface="Cambria Math" panose="02040503050406030204" pitchFamily="18" charset="0"/>
                            </a:rPr>
                            <m:t>𝐧𝐞𝐭</m:t>
                          </m:r>
                        </m:sub>
                      </m:sSub>
                      <m:r>
                        <a:rPr lang="en-US" sz="4000" b="1" i="0">
                          <a:solidFill>
                            <a:srgbClr val="C00000"/>
                          </a:solidFill>
                          <a:latin typeface="Cambria Math" panose="02040503050406030204" pitchFamily="18" charset="0"/>
                        </a:rPr>
                        <m:t>−</m:t>
                      </m:r>
                      <m:sSub>
                        <m:sSubPr>
                          <m:ctrlPr>
                            <a:rPr lang="en-US" sz="4000" b="1" i="1">
                              <a:solidFill>
                                <a:srgbClr val="C00000"/>
                              </a:solidFill>
                              <a:latin typeface="Cambria Math" panose="02040503050406030204" pitchFamily="18" charset="0"/>
                            </a:rPr>
                          </m:ctrlPr>
                        </m:sSubPr>
                        <m:e>
                          <m:r>
                            <a:rPr lang="en-US" sz="4000" b="1" i="0">
                              <a:solidFill>
                                <a:srgbClr val="C00000"/>
                              </a:solidFill>
                              <a:latin typeface="Cambria Math" panose="02040503050406030204" pitchFamily="18" charset="0"/>
                              <a:ea typeface="Cambria Math" panose="02040503050406030204" pitchFamily="18" charset="0"/>
                            </a:rPr>
                            <m:t>𝐖</m:t>
                          </m:r>
                        </m:e>
                        <m:sub>
                          <m:r>
                            <a:rPr lang="en-US" sz="4000" b="1" i="0">
                              <a:solidFill>
                                <a:srgbClr val="C00000"/>
                              </a:solidFill>
                              <a:latin typeface="Cambria Math" panose="02040503050406030204" pitchFamily="18" charset="0"/>
                            </a:rPr>
                            <m:t>𝐧𝐞𝐭</m:t>
                          </m:r>
                        </m:sub>
                      </m:sSub>
                      <m:r>
                        <a:rPr lang="en-US" sz="4000" b="1" i="0">
                          <a:solidFill>
                            <a:srgbClr val="C00000"/>
                          </a:solidFill>
                          <a:latin typeface="Cambria Math" panose="02040503050406030204" pitchFamily="18" charset="0"/>
                        </a:rPr>
                        <m:t>=</m:t>
                      </m:r>
                      <m:r>
                        <a:rPr lang="en-US" sz="4000" b="1" i="0" smtClean="0">
                          <a:solidFill>
                            <a:srgbClr val="C00000"/>
                          </a:solidFill>
                          <a:latin typeface="Cambria Math" panose="02040503050406030204" pitchFamily="18" charset="0"/>
                          <a:ea typeface="Cambria Math" panose="02040503050406030204" pitchFamily="18" charset="0"/>
                        </a:rPr>
                        <m:t>𝟎</m:t>
                      </m:r>
                    </m:oMath>
                  </m:oMathPara>
                </a14:m>
                <a:endParaRPr lang="en-US" sz="4000" b="1" dirty="0">
                  <a:solidFill>
                    <a:srgbClr val="C00000"/>
                  </a:solidFill>
                </a:endParaRPr>
              </a:p>
              <a:p>
                <a:pPr marL="0" lvl="0" indent="0">
                  <a:buNone/>
                </a:pPr>
                <a:endParaRPr lang="en-US" sz="1000" b="1"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4000" b="1" i="1" smtClean="0">
                              <a:solidFill>
                                <a:srgbClr val="002060"/>
                              </a:solidFill>
                              <a:latin typeface="Cambria Math" panose="02040503050406030204" pitchFamily="18" charset="0"/>
                            </a:rPr>
                          </m:ctrlPr>
                        </m:sSubPr>
                        <m:e>
                          <m:r>
                            <a:rPr lang="en-US" sz="4000" b="1">
                              <a:solidFill>
                                <a:srgbClr val="002060"/>
                              </a:solidFill>
                              <a:latin typeface="Cambria Math" panose="02040503050406030204" pitchFamily="18" charset="0"/>
                              <a:ea typeface="Cambria Math" panose="02040503050406030204" pitchFamily="18" charset="0"/>
                            </a:rPr>
                            <m:t>𝐐</m:t>
                          </m:r>
                        </m:e>
                        <m:sub>
                          <m:r>
                            <a:rPr lang="en-US" sz="4000" b="1">
                              <a:solidFill>
                                <a:srgbClr val="002060"/>
                              </a:solidFill>
                              <a:latin typeface="Cambria Math" panose="02040503050406030204" pitchFamily="18" charset="0"/>
                            </a:rPr>
                            <m:t>𝐧𝐞𝐭</m:t>
                          </m:r>
                        </m:sub>
                      </m:sSub>
                      <m:r>
                        <a:rPr lang="en-US" sz="4000" b="1" i="0" smtClean="0">
                          <a:solidFill>
                            <a:srgbClr val="002060"/>
                          </a:solidFill>
                          <a:latin typeface="Cambria Math" panose="02040503050406030204" pitchFamily="18" charset="0"/>
                        </a:rPr>
                        <m:t>=</m:t>
                      </m:r>
                      <m:sSub>
                        <m:sSubPr>
                          <m:ctrlPr>
                            <a:rPr lang="en-US" sz="4000" b="1" i="1">
                              <a:solidFill>
                                <a:srgbClr val="002060"/>
                              </a:solidFill>
                              <a:latin typeface="Cambria Math" panose="02040503050406030204" pitchFamily="18" charset="0"/>
                            </a:rPr>
                          </m:ctrlPr>
                        </m:sSubPr>
                        <m:e>
                          <m:r>
                            <a:rPr lang="en-US" sz="4000" b="1">
                              <a:solidFill>
                                <a:srgbClr val="002060"/>
                              </a:solidFill>
                              <a:latin typeface="Cambria Math" panose="02040503050406030204" pitchFamily="18" charset="0"/>
                              <a:ea typeface="Cambria Math" panose="02040503050406030204" pitchFamily="18" charset="0"/>
                            </a:rPr>
                            <m:t>𝐖</m:t>
                          </m:r>
                        </m:e>
                        <m:sub>
                          <m:r>
                            <a:rPr lang="en-US" sz="4000" b="1">
                              <a:solidFill>
                                <a:srgbClr val="002060"/>
                              </a:solidFill>
                              <a:latin typeface="Cambria Math" panose="02040503050406030204" pitchFamily="18" charset="0"/>
                            </a:rPr>
                            <m:t>𝐧𝐞𝐭</m:t>
                          </m:r>
                        </m:sub>
                      </m:sSub>
                    </m:oMath>
                  </m:oMathPara>
                </a14:m>
                <a:endParaRPr lang="en-US" sz="4000" b="1" dirty="0">
                  <a:solidFill>
                    <a:srgbClr val="C00000"/>
                  </a:solidFill>
                </a:endParaRPr>
              </a:p>
              <a:p>
                <a:pPr marL="0" lvl="0" indent="0">
                  <a:buNone/>
                </a:pPr>
                <a:endParaRPr lang="en-US" sz="4000" b="1" dirty="0">
                  <a:solidFill>
                    <a:srgbClr val="C00000"/>
                  </a:solidFill>
                </a:endParaRPr>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5786612" y="1035424"/>
                <a:ext cx="6199061" cy="5243181"/>
              </a:xfrm>
              <a:prstGeom prst="rect">
                <a:avLst/>
              </a:prstGeom>
              <a:blipFill rotWithShape="0">
                <a:blip r:embed="rId3"/>
                <a:stretch>
                  <a:fillRect l="-1672" t="-1279"/>
                </a:stretch>
              </a:blipFill>
            </p:spPr>
            <p:txBody>
              <a:bodyPr/>
              <a:lstStyle/>
              <a:p>
                <a:r>
                  <a:rPr lang="en-US">
                    <a:noFill/>
                  </a:rPr>
                  <a:t> </a:t>
                </a:r>
              </a:p>
            </p:txBody>
          </p:sp>
        </mc:Fallback>
      </mc:AlternateContent>
    </p:spTree>
    <p:extLst>
      <p:ext uri="{BB962C8B-B14F-4D97-AF65-F5344CB8AC3E}">
        <p14:creationId xmlns:p14="http://schemas.microsoft.com/office/powerpoint/2010/main" val="1545921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7260468" y="1234291"/>
            <a:ext cx="3766924" cy="561364"/>
          </a:xfrm>
        </p:spPr>
        <p:txBody>
          <a:bodyPr>
            <a:noAutofit/>
          </a:bodyPr>
          <a:lstStyle/>
          <a:p>
            <a:pPr>
              <a:buFont typeface="Wingdings" panose="05000000000000000000" pitchFamily="2" charset="2"/>
              <a:buChar char="v"/>
            </a:pPr>
            <a:r>
              <a:rPr lang="en-US" b="1" dirty="0">
                <a:solidFill>
                  <a:srgbClr val="C00000"/>
                </a:solidFill>
              </a:rPr>
              <a:t>Solution</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4</a:t>
            </a:fld>
            <a:endParaRPr lang="en-US" dirty="0"/>
          </a:p>
        </p:txBody>
      </p:sp>
      <p:pic>
        <p:nvPicPr>
          <p:cNvPr id="5" name="Picture 4"/>
          <p:cNvPicPr>
            <a:picLocks noChangeAspect="1"/>
          </p:cNvPicPr>
          <p:nvPr/>
        </p:nvPicPr>
        <p:blipFill>
          <a:blip r:embed="rId3"/>
          <a:stretch>
            <a:fillRect/>
          </a:stretch>
        </p:blipFill>
        <p:spPr>
          <a:xfrm>
            <a:off x="300110" y="1844397"/>
            <a:ext cx="4318332" cy="4372994"/>
          </a:xfrm>
          <a:prstGeom prst="rect">
            <a:avLst/>
          </a:prstGeom>
        </p:spPr>
      </p:pic>
      <p:graphicFrame>
        <p:nvGraphicFramePr>
          <p:cNvPr id="9" name="Object 4" descr="Canvas"/>
          <p:cNvGraphicFramePr>
            <a:graphicFrameLocks noChangeAspect="1"/>
          </p:cNvGraphicFramePr>
          <p:nvPr>
            <p:extLst>
              <p:ext uri="{D42A27DB-BD31-4B8C-83A1-F6EECF244321}">
                <p14:modId xmlns:p14="http://schemas.microsoft.com/office/powerpoint/2010/main" val="3424496283"/>
              </p:ext>
            </p:extLst>
          </p:nvPr>
        </p:nvGraphicFramePr>
        <p:xfrm>
          <a:off x="4367285" y="2803494"/>
          <a:ext cx="2031617" cy="813162"/>
        </p:xfrm>
        <a:graphic>
          <a:graphicData uri="http://schemas.openxmlformats.org/presentationml/2006/ole">
            <mc:AlternateContent xmlns:mc="http://schemas.openxmlformats.org/markup-compatibility/2006">
              <mc:Choice xmlns:v="urn:schemas-microsoft-com:vml" Requires="v">
                <p:oleObj spid="_x0000_s2199" name="Equation" r:id="rId4" imgW="507960" imgH="203040" progId="Equation.DSMT4">
                  <p:embed/>
                </p:oleObj>
              </mc:Choice>
              <mc:Fallback>
                <p:oleObj name="Equation" r:id="rId4" imgW="50796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7285" y="2803494"/>
                        <a:ext cx="2031617" cy="813162"/>
                      </a:xfrm>
                      <a:prstGeom prst="rect">
                        <a:avLst/>
                      </a:prstGeom>
                      <a:blipFill dpi="0" rotWithShape="0">
                        <a:blip r:embed="rId6"/>
                        <a:srcRect/>
                        <a:tile tx="0" ty="0" sx="100000" sy="100000" flip="none" algn="tl"/>
                      </a:blipFill>
                      <a:ln>
                        <a:noFill/>
                      </a:ln>
                      <a:effectLst/>
                    </p:spPr>
                  </p:pic>
                </p:oleObj>
              </mc:Fallback>
            </mc:AlternateContent>
          </a:graphicData>
        </a:graphic>
      </p:graphicFrame>
      <p:sp>
        <p:nvSpPr>
          <p:cNvPr id="10" name="Content Placeholder 2"/>
          <p:cNvSpPr txBox="1">
            <a:spLocks/>
          </p:cNvSpPr>
          <p:nvPr/>
        </p:nvSpPr>
        <p:spPr>
          <a:xfrm>
            <a:off x="452510" y="1187825"/>
            <a:ext cx="2866172" cy="56136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b="1" dirty="0">
                <a:solidFill>
                  <a:srgbClr val="002060"/>
                </a:solidFill>
              </a:rPr>
              <a:t>Example 1</a:t>
            </a:r>
            <a:endParaRPr lang="en-US" dirty="0"/>
          </a:p>
        </p:txBody>
      </p:sp>
      <p:pic>
        <p:nvPicPr>
          <p:cNvPr id="11" name="Picture 5"/>
          <p:cNvPicPr>
            <a:picLocks noChangeArrowheads="1"/>
          </p:cNvPicPr>
          <p:nvPr/>
        </p:nvPicPr>
        <p:blipFill>
          <a:blip r:embed="rId7" cstate="print"/>
          <a:srcRect/>
          <a:stretch>
            <a:fillRect/>
          </a:stretch>
        </p:blipFill>
        <p:spPr bwMode="auto">
          <a:xfrm>
            <a:off x="7260468" y="1844397"/>
            <a:ext cx="3987800" cy="4116388"/>
          </a:xfrm>
          <a:prstGeom prst="rect">
            <a:avLst/>
          </a:prstGeom>
          <a:noFill/>
          <a:ln w="12700">
            <a:noFill/>
            <a:miter lim="800000"/>
            <a:headEnd/>
            <a:tailEnd/>
          </a:ln>
          <a:effectLst/>
        </p:spPr>
      </p:pic>
    </p:spTree>
    <p:extLst>
      <p:ext uri="{BB962C8B-B14F-4D97-AF65-F5344CB8AC3E}">
        <p14:creationId xmlns:p14="http://schemas.microsoft.com/office/powerpoint/2010/main" val="39518838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7260468" y="1234291"/>
                <a:ext cx="4654028" cy="4845640"/>
              </a:xfrm>
            </p:spPr>
            <p:txBody>
              <a:bodyPr>
                <a:noAutofit/>
              </a:bodyPr>
              <a:lstStyle/>
              <a:p>
                <a:pPr>
                  <a:buFont typeface="Wingdings" panose="05000000000000000000" pitchFamily="2" charset="2"/>
                  <a:buChar char="v"/>
                </a:pPr>
                <a:r>
                  <a:rPr lang="en-US" b="1" dirty="0">
                    <a:solidFill>
                      <a:srgbClr val="C00000"/>
                    </a:solidFill>
                  </a:rPr>
                  <a:t>Solution</a:t>
                </a:r>
              </a:p>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𝐐</m:t>
                          </m:r>
                        </m:e>
                        <m:sub>
                          <m:r>
                            <a:rPr lang="en-US" sz="2400" b="1" i="0" smtClean="0">
                              <a:solidFill>
                                <a:srgbClr val="002060"/>
                              </a:solidFill>
                              <a:latin typeface="Cambria Math" panose="02040503050406030204" pitchFamily="18" charset="0"/>
                            </a:rPr>
                            <m:t>𝐧𝐞𝐭</m:t>
                          </m:r>
                        </m:sub>
                      </m:sSub>
                      <m:r>
                        <a:rPr lang="en-US" sz="2400" b="1" i="0" smtClean="0">
                          <a:solidFill>
                            <a:srgbClr val="002060"/>
                          </a:solidFill>
                          <a:latin typeface="Cambria Math" panose="02040503050406030204" pitchFamily="18" charset="0"/>
                        </a:rPr>
                        <m:t>=</m:t>
                      </m:r>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𝐐</m:t>
                          </m:r>
                        </m:e>
                        <m:sub>
                          <m:r>
                            <a:rPr lang="en-US" sz="2400" b="1" i="0" smtClean="0">
                              <a:solidFill>
                                <a:srgbClr val="002060"/>
                              </a:solidFill>
                              <a:latin typeface="Cambria Math" panose="02040503050406030204" pitchFamily="18" charset="0"/>
                            </a:rPr>
                            <m:t>𝐢𝐧</m:t>
                          </m:r>
                        </m:sub>
                      </m:sSub>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𝟐𝟎</m:t>
                      </m:r>
                      <m:r>
                        <a:rPr lang="en-US" sz="2400" b="1" i="0" smtClean="0">
                          <a:solidFill>
                            <a:srgbClr val="002060"/>
                          </a:solidFill>
                          <a:latin typeface="Cambria Math" panose="02040503050406030204" pitchFamily="18" charset="0"/>
                        </a:rPr>
                        <m:t> </m:t>
                      </m:r>
                      <m:r>
                        <a:rPr lang="en-US" sz="2400" b="1" i="0" smtClean="0">
                          <a:solidFill>
                            <a:srgbClr val="002060"/>
                          </a:solidFill>
                          <a:latin typeface="Cambria Math" panose="02040503050406030204" pitchFamily="18" charset="0"/>
                        </a:rPr>
                        <m:t>𝐤𝐉</m:t>
                      </m:r>
                    </m:oMath>
                  </m:oMathPara>
                </a14:m>
                <a:endParaRPr lang="en-US" sz="2400" b="1"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b</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out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e</m:t>
                          </m:r>
                          <m:r>
                            <a:rPr lang="en-US" sz="2400" b="0" i="0" smtClean="0">
                              <a:latin typeface="Cambria Math" panose="02040503050406030204" pitchFamily="18" charset="0"/>
                            </a:rPr>
                            <m:t>,</m:t>
                          </m:r>
                          <m:r>
                            <m:rPr>
                              <m:sty m:val="p"/>
                            </m:rPr>
                            <a:rPr lang="en-US" sz="2400" b="0" i="0" smtClean="0">
                              <a:latin typeface="Cambria Math" panose="02040503050406030204" pitchFamily="18" charset="0"/>
                            </a:rPr>
                            <m:t>in</m:t>
                          </m:r>
                        </m:sub>
                      </m:sSub>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002060"/>
                              </a:solidFill>
                              <a:latin typeface="Cambria Math" panose="02040503050406030204" pitchFamily="18" charset="0"/>
                            </a:rPr>
                          </m:ctrlPr>
                        </m:sSubPr>
                        <m:e>
                          <m:r>
                            <a:rPr lang="en-US" sz="2400" b="1" i="0">
                              <a:solidFill>
                                <a:srgbClr val="002060"/>
                              </a:solidFill>
                              <a:latin typeface="Cambria Math" panose="02040503050406030204" pitchFamily="18" charset="0"/>
                            </a:rPr>
                            <m:t>𝐖</m:t>
                          </m:r>
                        </m:e>
                        <m:sub>
                          <m:r>
                            <a:rPr lang="en-US" sz="2400" b="1" i="0">
                              <a:solidFill>
                                <a:srgbClr val="002060"/>
                              </a:solidFill>
                              <a:latin typeface="Cambria Math" panose="02040503050406030204" pitchFamily="18" charset="0"/>
                            </a:rPr>
                            <m:t>𝐧𝐞𝐭</m:t>
                          </m:r>
                        </m:sub>
                      </m:sSub>
                      <m:r>
                        <a:rPr lang="en-US" sz="2400" b="1" i="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𝟓</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𝟏𝟎</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𝟓</m:t>
                      </m:r>
                      <m:r>
                        <a:rPr lang="en-US" sz="2400" b="1" i="0" smtClean="0">
                          <a:solidFill>
                            <a:srgbClr val="002060"/>
                          </a:solidFill>
                          <a:latin typeface="Cambria Math" panose="02040503050406030204" pitchFamily="18" charset="0"/>
                        </a:rPr>
                        <m:t> </m:t>
                      </m:r>
                      <m:r>
                        <a:rPr lang="en-US" sz="2400" b="1" i="0" smtClean="0">
                          <a:solidFill>
                            <a:srgbClr val="002060"/>
                          </a:solidFill>
                          <a:latin typeface="Cambria Math" panose="02040503050406030204" pitchFamily="18" charset="0"/>
                        </a:rPr>
                        <m:t>𝐤𝐉</m:t>
                      </m:r>
                    </m:oMath>
                  </m:oMathPara>
                </a14:m>
                <a:endParaRPr lang="en-US" sz="2400" b="1" dirty="0">
                  <a:solidFill>
                    <a:srgbClr val="002060"/>
                  </a:solidFill>
                </a:endParaRPr>
              </a:p>
              <a:p>
                <a:pPr>
                  <a:buFont typeface="Wingdings" panose="05000000000000000000" pitchFamily="2" charset="2"/>
                  <a:buChar char="v"/>
                </a:pPr>
                <a:endParaRPr lang="en-US" sz="2400" dirty="0"/>
              </a:p>
              <a:p>
                <a:pPr>
                  <a:buFont typeface="Wingdings" panose="05000000000000000000" pitchFamily="2" charset="2"/>
                  <a:buChar char="v"/>
                </a:pPr>
                <a:r>
                  <a:rPr lang="en-US" sz="2400" dirty="0"/>
                  <a:t>From the first law equation for a stationary closed system,</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Q</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rPr>
                        <m:t>=</m:t>
                      </m:r>
                      <m:r>
                        <a:rPr lang="en-US" sz="2400" b="0" i="0" smtClean="0">
                          <a:latin typeface="Cambria Math" panose="02040503050406030204" pitchFamily="18" charset="0"/>
                          <a:ea typeface="Cambria Math" panose="02040503050406030204" pitchFamily="18" charset="0"/>
                        </a:rPr>
                        <m:t>∆</m:t>
                      </m:r>
                      <m:r>
                        <m:rPr>
                          <m:sty m:val="p"/>
                        </m:rPr>
                        <a:rPr lang="en-US" sz="2400" b="0" i="0" smtClean="0">
                          <a:latin typeface="Cambria Math" panose="02040503050406030204" pitchFamily="18" charset="0"/>
                          <a:ea typeface="Cambria Math" panose="02040503050406030204" pitchFamily="18" charset="0"/>
                        </a:rPr>
                        <m:t>U</m:t>
                      </m:r>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+20</m:t>
                      </m:r>
                      <m:r>
                        <a:rPr lang="en-US" sz="2400" i="0">
                          <a:latin typeface="Cambria Math" panose="02040503050406030204" pitchFamily="18" charset="0"/>
                        </a:rPr>
                        <m:t>−</m:t>
                      </m:r>
                      <m:r>
                        <a:rPr lang="en-US" sz="2400" b="0" i="0" smtClean="0">
                          <a:latin typeface="Cambria Math" panose="02040503050406030204" pitchFamily="18" charset="0"/>
                        </a:rPr>
                        <m:t>(−5)</m:t>
                      </m:r>
                      <m:r>
                        <a:rPr lang="en-US" sz="2400" i="0">
                          <a:latin typeface="Cambria Math" panose="02040503050406030204" pitchFamily="18" charset="0"/>
                        </a:rPr>
                        <m:t>=</m:t>
                      </m:r>
                      <m:r>
                        <a:rPr lang="en-US" sz="2400" i="0">
                          <a:latin typeface="Cambria Math" panose="02040503050406030204" pitchFamily="18" charset="0"/>
                          <a:ea typeface="Cambria Math" panose="02040503050406030204" pitchFamily="18" charset="0"/>
                        </a:rPr>
                        <m:t>∆</m:t>
                      </m:r>
                      <m:r>
                        <m:rPr>
                          <m:sty m:val="p"/>
                        </m:rPr>
                        <a:rPr lang="en-US" sz="2400" i="0">
                          <a:latin typeface="Cambria Math" panose="02040503050406030204" pitchFamily="18" charset="0"/>
                          <a:ea typeface="Cambria Math" panose="02040503050406030204" pitchFamily="18" charset="0"/>
                        </a:rPr>
                        <m:t>U</m:t>
                      </m:r>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i="0">
                          <a:latin typeface="Cambria Math" panose="02040503050406030204" pitchFamily="18" charset="0"/>
                          <a:ea typeface="Cambria Math" panose="02040503050406030204" pitchFamily="18" charset="0"/>
                        </a:rPr>
                        <m:t>∆</m:t>
                      </m:r>
                      <m:r>
                        <m:rPr>
                          <m:sty m:val="p"/>
                        </m:rPr>
                        <a:rPr lang="en-US" sz="2400" i="0">
                          <a:latin typeface="Cambria Math" panose="02040503050406030204" pitchFamily="18" charset="0"/>
                          <a:ea typeface="Cambria Math" panose="02040503050406030204" pitchFamily="18" charset="0"/>
                        </a:rPr>
                        <m:t>U</m:t>
                      </m:r>
                      <m:r>
                        <a:rPr lang="en-US" sz="2400" b="0" i="0" smtClean="0">
                          <a:latin typeface="Cambria Math" panose="02040503050406030204" pitchFamily="18" charset="0"/>
                          <a:ea typeface="Cambria Math" panose="02040503050406030204" pitchFamily="18" charset="0"/>
                        </a:rPr>
                        <m:t>=+25 </m:t>
                      </m:r>
                      <m:r>
                        <m:rPr>
                          <m:sty m:val="p"/>
                        </m:rPr>
                        <a:rPr lang="en-US" sz="2400" b="0" i="0" smtClean="0">
                          <a:latin typeface="Cambria Math" panose="02040503050406030204" pitchFamily="18" charset="0"/>
                          <a:ea typeface="Cambria Math" panose="02040503050406030204" pitchFamily="18" charset="0"/>
                        </a:rPr>
                        <m:t>kJ</m:t>
                      </m:r>
                    </m:oMath>
                  </m:oMathPara>
                </a14:m>
                <a:endParaRPr lang="en-US" sz="2400" dirty="0"/>
              </a:p>
              <a:p>
                <a:pPr>
                  <a:buFont typeface="Wingdings" panose="05000000000000000000" pitchFamily="2" charset="2"/>
                  <a:buChar char="v"/>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7260468" y="1234291"/>
                <a:ext cx="4654028" cy="4845640"/>
              </a:xfrm>
              <a:blipFill rotWithShape="0">
                <a:blip r:embed="rId2"/>
                <a:stretch>
                  <a:fillRect l="-2228" t="-125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5</a:t>
            </a:fld>
            <a:endParaRPr lang="en-US" dirty="0"/>
          </a:p>
        </p:txBody>
      </p:sp>
      <p:sp>
        <p:nvSpPr>
          <p:cNvPr id="10" name="Content Placeholder 2"/>
          <p:cNvSpPr txBox="1">
            <a:spLocks/>
          </p:cNvSpPr>
          <p:nvPr/>
        </p:nvSpPr>
        <p:spPr>
          <a:xfrm>
            <a:off x="452509" y="1187825"/>
            <a:ext cx="6807959" cy="24424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Example 2</a:t>
            </a:r>
          </a:p>
          <a:p>
            <a:pPr>
              <a:buFont typeface="Wingdings" panose="05000000000000000000" pitchFamily="2" charset="2"/>
              <a:buChar char="v"/>
            </a:pPr>
            <a:r>
              <a:rPr lang="en-US" sz="2400" dirty="0"/>
              <a:t>A gas trapped inside a piston-cylinder device receives 20 kJ of heat while it expands performing a boundary work of 5 kJ. At the same time, 10 kJ of electrical work is transferred into the system. Evaluate  Q, W and ΔU with appropriate signs.</a:t>
            </a:r>
          </a:p>
          <a:p>
            <a:pPr>
              <a:buFont typeface="Wingdings" panose="05000000000000000000" pitchFamily="2" charset="2"/>
              <a:buChar char="v"/>
            </a:pPr>
            <a:endParaRPr lang="en-US" dirty="0"/>
          </a:p>
        </p:txBody>
      </p:sp>
      <p:pic>
        <p:nvPicPr>
          <p:cNvPr id="12" name="Picture 1"/>
          <p:cNvPicPr>
            <a:picLocks noChangeAspect="1" noChangeArrowheads="1"/>
          </p:cNvPicPr>
          <p:nvPr/>
        </p:nvPicPr>
        <p:blipFill>
          <a:blip r:embed="rId3" cstate="print"/>
          <a:srcRect/>
          <a:stretch>
            <a:fillRect/>
          </a:stretch>
        </p:blipFill>
        <p:spPr bwMode="auto">
          <a:xfrm>
            <a:off x="1417093" y="3828979"/>
            <a:ext cx="2358998" cy="22509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7" name="Content Placeholder 2"/>
              <p:cNvSpPr txBox="1">
                <a:spLocks/>
              </p:cNvSpPr>
              <p:nvPr/>
            </p:nvSpPr>
            <p:spPr>
              <a:xfrm>
                <a:off x="3776091" y="3924571"/>
                <a:ext cx="3484377" cy="215536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b="1" dirty="0">
                    <a:solidFill>
                      <a:srgbClr val="C00000"/>
                    </a:solidFill>
                  </a:rPr>
                  <a:t>Solution</a:t>
                </a:r>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Q</m:t>
                          </m:r>
                        </m:e>
                        <m:sub>
                          <m:r>
                            <m:rPr>
                              <m:sty m:val="p"/>
                            </m:rPr>
                            <a:rPr lang="en-US" i="0" smtClean="0">
                              <a:latin typeface="Cambria Math" panose="02040503050406030204" pitchFamily="18" charset="0"/>
                            </a:rPr>
                            <m:t>in</m:t>
                          </m:r>
                          <m:r>
                            <a:rPr lang="en-US" i="0" smtClean="0">
                              <a:latin typeface="Cambria Math" panose="02040503050406030204" pitchFamily="18" charset="0"/>
                            </a:rPr>
                            <m:t> </m:t>
                          </m:r>
                        </m:sub>
                      </m:sSub>
                      <m:r>
                        <a:rPr lang="en-US" i="0" smtClean="0">
                          <a:latin typeface="Cambria Math" panose="02040503050406030204" pitchFamily="18" charset="0"/>
                        </a:rPr>
                        <m:t>=+20 </m:t>
                      </m:r>
                      <m:r>
                        <m:rPr>
                          <m:sty m:val="p"/>
                        </m:rPr>
                        <a:rPr lang="en-US" i="0" smtClean="0">
                          <a:latin typeface="Cambria Math" panose="02040503050406030204" pitchFamily="18" charset="0"/>
                        </a:rPr>
                        <m:t>kJ</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W</m:t>
                          </m:r>
                        </m:e>
                        <m:sub>
                          <m:r>
                            <m:rPr>
                              <m:sty m:val="p"/>
                            </m:rPr>
                            <a:rPr lang="en-US" i="0" smtClean="0">
                              <a:latin typeface="Cambria Math" panose="02040503050406030204" pitchFamily="18" charset="0"/>
                            </a:rPr>
                            <m:t>b</m:t>
                          </m:r>
                          <m:r>
                            <a:rPr lang="en-US" i="0" smtClean="0">
                              <a:latin typeface="Cambria Math" panose="02040503050406030204" pitchFamily="18" charset="0"/>
                            </a:rPr>
                            <m:t>, </m:t>
                          </m:r>
                          <m:r>
                            <m:rPr>
                              <m:sty m:val="p"/>
                            </m:rPr>
                            <a:rPr lang="en-US" i="0" smtClean="0">
                              <a:latin typeface="Cambria Math" panose="02040503050406030204" pitchFamily="18" charset="0"/>
                            </a:rPr>
                            <m:t>out</m:t>
                          </m:r>
                        </m:sub>
                      </m:sSub>
                      <m:r>
                        <a:rPr lang="en-US" i="0" smtClean="0">
                          <a:latin typeface="Cambria Math" panose="02040503050406030204" pitchFamily="18" charset="0"/>
                        </a:rPr>
                        <m:t>=+5 </m:t>
                      </m:r>
                      <m:r>
                        <m:rPr>
                          <m:sty m:val="p"/>
                        </m:rPr>
                        <a:rPr lang="en-US" i="0" smtClean="0">
                          <a:latin typeface="Cambria Math" panose="02040503050406030204" pitchFamily="18" charset="0"/>
                        </a:rPr>
                        <m:t>kJ</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i="0" smtClean="0">
                              <a:latin typeface="Cambria Math" panose="02040503050406030204" pitchFamily="18" charset="0"/>
                            </a:rPr>
                            <m:t>W</m:t>
                          </m:r>
                        </m:e>
                        <m:sub>
                          <m:r>
                            <m:rPr>
                              <m:sty m:val="p"/>
                            </m:rPr>
                            <a:rPr lang="en-US" i="0" smtClean="0">
                              <a:latin typeface="Cambria Math" panose="02040503050406030204" pitchFamily="18" charset="0"/>
                            </a:rPr>
                            <m:t>e</m:t>
                          </m:r>
                          <m:r>
                            <a:rPr lang="en-US" i="0" smtClean="0">
                              <a:latin typeface="Cambria Math" panose="02040503050406030204" pitchFamily="18" charset="0"/>
                            </a:rPr>
                            <m:t>, </m:t>
                          </m:r>
                          <m:r>
                            <m:rPr>
                              <m:sty m:val="p"/>
                            </m:rPr>
                            <a:rPr lang="en-US" i="0" smtClean="0">
                              <a:latin typeface="Cambria Math" panose="02040503050406030204" pitchFamily="18" charset="0"/>
                            </a:rPr>
                            <m:t>in</m:t>
                          </m:r>
                        </m:sub>
                      </m:sSub>
                      <m:r>
                        <a:rPr lang="en-US" i="0" smtClean="0">
                          <a:latin typeface="Cambria Math" panose="02040503050406030204" pitchFamily="18" charset="0"/>
                        </a:rPr>
                        <m:t>=−10 </m:t>
                      </m:r>
                      <m:r>
                        <m:rPr>
                          <m:sty m:val="p"/>
                        </m:rPr>
                        <a:rPr lang="en-US" i="0" smtClean="0">
                          <a:latin typeface="Cambria Math" panose="02040503050406030204" pitchFamily="18" charset="0"/>
                        </a:rPr>
                        <m:t>kJ</m:t>
                      </m:r>
                    </m:oMath>
                  </m:oMathPara>
                </a14:m>
                <a:endParaRPr lang="en-US"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3776091" y="3924571"/>
                <a:ext cx="3484377" cy="2155360"/>
              </a:xfrm>
              <a:prstGeom prst="rect">
                <a:avLst/>
              </a:prstGeom>
              <a:blipFill rotWithShape="0">
                <a:blip r:embed="rId4"/>
                <a:stretch>
                  <a:fillRect l="-2972" t="-3116"/>
                </a:stretch>
              </a:blipFill>
            </p:spPr>
            <p:txBody>
              <a:bodyPr/>
              <a:lstStyle/>
              <a:p>
                <a:r>
                  <a:rPr lang="en-US">
                    <a:noFill/>
                  </a:rPr>
                  <a:t> </a:t>
                </a:r>
              </a:p>
            </p:txBody>
          </p:sp>
        </mc:Fallback>
      </mc:AlternateContent>
    </p:spTree>
    <p:extLst>
      <p:ext uri="{BB962C8B-B14F-4D97-AF65-F5344CB8AC3E}">
        <p14:creationId xmlns:p14="http://schemas.microsoft.com/office/powerpoint/2010/main" val="29455190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6</a:t>
            </a:fld>
            <a:endParaRPr lang="en-US" dirty="0"/>
          </a:p>
        </p:txBody>
      </p:sp>
      <p:sp>
        <p:nvSpPr>
          <p:cNvPr id="10" name="Content Placeholder 2"/>
          <p:cNvSpPr txBox="1">
            <a:spLocks/>
          </p:cNvSpPr>
          <p:nvPr/>
        </p:nvSpPr>
        <p:spPr>
          <a:xfrm>
            <a:off x="452510" y="1187825"/>
            <a:ext cx="5033890" cy="489210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Example 3</a:t>
            </a:r>
          </a:p>
          <a:p>
            <a:pPr>
              <a:buFont typeface="Wingdings" panose="05000000000000000000" pitchFamily="2" charset="2"/>
              <a:buChar char="v"/>
            </a:pPr>
            <a:r>
              <a:rPr lang="en-US" sz="2400" dirty="0"/>
              <a:t>During a complete cycle of operations, a system is subjected to the following heat transfers; 800 kJ supplied and 550 kJ rejected. At two points, work is done by the system to the extent of 96 </a:t>
            </a:r>
            <a:r>
              <a:rPr lang="en-US" sz="2400" dirty="0" err="1"/>
              <a:t>kNm</a:t>
            </a:r>
            <a:r>
              <a:rPr lang="en-US" sz="2400" dirty="0"/>
              <a:t> and 20 </a:t>
            </a:r>
            <a:r>
              <a:rPr lang="en-US" sz="2400" dirty="0" err="1"/>
              <a:t>kNm</a:t>
            </a:r>
            <a:r>
              <a:rPr lang="en-US" sz="2400" dirty="0"/>
              <a:t>. At a third point, there is a further work transfer. </a:t>
            </a:r>
          </a:p>
          <a:p>
            <a:pPr>
              <a:buFont typeface="Wingdings" panose="05000000000000000000" pitchFamily="2" charset="2"/>
              <a:buChar char="v"/>
            </a:pPr>
            <a:r>
              <a:rPr lang="en-US" sz="2400" dirty="0"/>
              <a:t>Determine its amount and state whether it is work done by or on the system.</a:t>
            </a:r>
          </a:p>
        </p:txBody>
      </p:sp>
      <mc:AlternateContent xmlns:mc="http://schemas.openxmlformats.org/markup-compatibility/2006" xmlns:a14="http://schemas.microsoft.com/office/drawing/2010/main">
        <mc:Choice Requires="a14">
          <p:sp>
            <p:nvSpPr>
              <p:cNvPr id="9" name="Content Placeholder 2"/>
              <p:cNvSpPr>
                <a:spLocks noGrp="1"/>
              </p:cNvSpPr>
              <p:nvPr>
                <p:ph sz="half" idx="1"/>
              </p:nvPr>
            </p:nvSpPr>
            <p:spPr>
              <a:xfrm>
                <a:off x="5997388" y="1048871"/>
                <a:ext cx="5634720" cy="5017613"/>
              </a:xfrm>
            </p:spPr>
            <p:txBody>
              <a:bodyPr>
                <a:noAutofit/>
              </a:bodyPr>
              <a:lstStyle/>
              <a:p>
                <a:pPr>
                  <a:buFont typeface="Wingdings" panose="05000000000000000000" pitchFamily="2" charset="2"/>
                  <a:buChar char="v"/>
                </a:pPr>
                <a:r>
                  <a:rPr lang="en-US" b="1" dirty="0">
                    <a:solidFill>
                      <a:srgbClr val="C00000"/>
                    </a:solidFill>
                  </a:rPr>
                  <a:t>Solution</a:t>
                </a:r>
              </a:p>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𝐐</m:t>
                          </m:r>
                        </m:e>
                        <m:sub>
                          <m:r>
                            <a:rPr lang="en-US" sz="2400" b="1" i="0" smtClean="0">
                              <a:solidFill>
                                <a:srgbClr val="002060"/>
                              </a:solidFill>
                              <a:latin typeface="Cambria Math" panose="02040503050406030204" pitchFamily="18" charset="0"/>
                            </a:rPr>
                            <m:t>𝐧𝐞𝐭</m:t>
                          </m:r>
                        </m:sub>
                      </m:sSub>
                      <m:r>
                        <a:rPr lang="en-US" sz="2400" b="1" i="0" smtClean="0">
                          <a:solidFill>
                            <a:srgbClr val="002060"/>
                          </a:solidFill>
                          <a:latin typeface="Cambria Math" panose="02040503050406030204" pitchFamily="18" charset="0"/>
                        </a:rPr>
                        <m:t>=</m:t>
                      </m:r>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𝐐</m:t>
                          </m:r>
                        </m:e>
                        <m:sub>
                          <m:r>
                            <a:rPr lang="en-US" sz="2400" b="1" i="0" smtClean="0">
                              <a:solidFill>
                                <a:srgbClr val="002060"/>
                              </a:solidFill>
                              <a:latin typeface="Cambria Math" panose="02040503050406030204" pitchFamily="18" charset="0"/>
                            </a:rPr>
                            <m:t>𝐢𝐧</m:t>
                          </m:r>
                        </m:sub>
                      </m:sSub>
                      <m:r>
                        <a:rPr lang="en-US" sz="2400" b="1" i="0" smtClean="0">
                          <a:solidFill>
                            <a:srgbClr val="002060"/>
                          </a:solidFill>
                          <a:latin typeface="Cambria Math" panose="02040503050406030204" pitchFamily="18" charset="0"/>
                        </a:rPr>
                        <m:t>+</m:t>
                      </m:r>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𝐐</m:t>
                          </m:r>
                        </m:e>
                        <m:sub>
                          <m:r>
                            <a:rPr lang="en-US" sz="2400" b="1" i="0" smtClean="0">
                              <a:solidFill>
                                <a:srgbClr val="002060"/>
                              </a:solidFill>
                              <a:latin typeface="Cambria Math" panose="02040503050406030204" pitchFamily="18" charset="0"/>
                            </a:rPr>
                            <m:t>𝐨𝐮𝐭</m:t>
                          </m:r>
                        </m:sub>
                      </m:sSub>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𝟐𝟓𝟎</m:t>
                      </m:r>
                      <m:r>
                        <a:rPr lang="en-US" sz="2400" b="1" i="0" smtClean="0">
                          <a:solidFill>
                            <a:srgbClr val="002060"/>
                          </a:solidFill>
                          <a:latin typeface="Cambria Math" panose="02040503050406030204" pitchFamily="18" charset="0"/>
                        </a:rPr>
                        <m:t> </m:t>
                      </m:r>
                      <m:r>
                        <a:rPr lang="en-US" sz="2400" b="1" i="0" smtClean="0">
                          <a:solidFill>
                            <a:srgbClr val="002060"/>
                          </a:solidFill>
                          <a:latin typeface="Cambria Math" panose="02040503050406030204" pitchFamily="18" charset="0"/>
                        </a:rPr>
                        <m:t>𝐤𝐉</m:t>
                      </m:r>
                    </m:oMath>
                  </m:oMathPara>
                </a14:m>
                <a:endParaRPr lang="en-US" sz="2400" b="1"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out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out</m:t>
                          </m:r>
                        </m:sub>
                      </m:sSub>
                      <m:r>
                        <a:rPr lang="en-US" sz="2400" b="0" i="0" smtClean="0">
                          <a:latin typeface="Cambria Math" panose="02040503050406030204" pitchFamily="18" charset="0"/>
                        </a:rPr>
                        <m:t>+</m:t>
                      </m:r>
                      <m:r>
                        <m:rPr>
                          <m:sty m:val="p"/>
                        </m:rPr>
                        <a:rPr lang="en-US" sz="2400" b="0" i="0" smtClean="0">
                          <a:latin typeface="Cambria Math" panose="02040503050406030204" pitchFamily="18" charset="0"/>
                        </a:rPr>
                        <m:t>W</m:t>
                      </m:r>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002060"/>
                              </a:solidFill>
                              <a:latin typeface="Cambria Math" panose="02040503050406030204" pitchFamily="18" charset="0"/>
                            </a:rPr>
                          </m:ctrlPr>
                        </m:sSubPr>
                        <m:e>
                          <m:r>
                            <a:rPr lang="en-US" sz="2400" b="1" i="0">
                              <a:solidFill>
                                <a:srgbClr val="002060"/>
                              </a:solidFill>
                              <a:latin typeface="Cambria Math" panose="02040503050406030204" pitchFamily="18" charset="0"/>
                            </a:rPr>
                            <m:t>𝐖</m:t>
                          </m:r>
                        </m:e>
                        <m:sub>
                          <m:r>
                            <a:rPr lang="en-US" sz="2400" b="1" i="0">
                              <a:solidFill>
                                <a:srgbClr val="002060"/>
                              </a:solidFill>
                              <a:latin typeface="Cambria Math" panose="02040503050406030204" pitchFamily="18" charset="0"/>
                            </a:rPr>
                            <m:t>𝐧𝐞𝐭</m:t>
                          </m:r>
                        </m:sub>
                      </m:sSub>
                      <m:r>
                        <a:rPr lang="en-US" sz="2400" b="1" i="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𝟗𝟔</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𝟐𝟎</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𝐖</m:t>
                      </m:r>
                    </m:oMath>
                  </m:oMathPara>
                </a14:m>
                <a:endParaRPr lang="en-US" sz="2400" b="1" dirty="0">
                  <a:solidFill>
                    <a:srgbClr val="00206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𝟏𝟏𝟔</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𝐖</m:t>
                      </m:r>
                      <m:r>
                        <a:rPr lang="en-US" sz="2400" b="1" i="0" smtClean="0">
                          <a:solidFill>
                            <a:srgbClr val="002060"/>
                          </a:solidFill>
                          <a:latin typeface="Cambria Math" panose="02040503050406030204" pitchFamily="18" charset="0"/>
                        </a:rPr>
                        <m:t>) </m:t>
                      </m:r>
                      <m:r>
                        <a:rPr lang="en-US" sz="2400" b="1" i="0" smtClean="0">
                          <a:solidFill>
                            <a:srgbClr val="002060"/>
                          </a:solidFill>
                          <a:latin typeface="Cambria Math" panose="02040503050406030204" pitchFamily="18" charset="0"/>
                        </a:rPr>
                        <m:t>𝐤𝐉</m:t>
                      </m:r>
                    </m:oMath>
                  </m:oMathPara>
                </a14:m>
                <a:endParaRPr lang="en-US" sz="2400" b="1" dirty="0">
                  <a:solidFill>
                    <a:srgbClr val="002060"/>
                  </a:solidFill>
                </a:endParaRPr>
              </a:p>
              <a:p>
                <a:pPr>
                  <a:buFont typeface="Wingdings" panose="05000000000000000000" pitchFamily="2" charset="2"/>
                  <a:buChar char="v"/>
                </a:pPr>
                <a:endParaRPr lang="en-US" sz="2400" dirty="0"/>
              </a:p>
              <a:p>
                <a:pPr>
                  <a:buFont typeface="Wingdings" panose="05000000000000000000" pitchFamily="2" charset="2"/>
                  <a:buChar char="v"/>
                </a:pPr>
                <a:r>
                  <a:rPr lang="en-US" sz="2400" dirty="0"/>
                  <a:t>From the first law equation for a stationary closed system undergoing a cycle,</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Q</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W</m:t>
                          </m:r>
                        </m:e>
                        <m:sub>
                          <m:r>
                            <m:rPr>
                              <m:sty m:val="p"/>
                            </m:rPr>
                            <a:rPr lang="en-US" sz="2400" b="0" i="0" smtClean="0">
                              <a:latin typeface="Cambria Math" panose="02040503050406030204" pitchFamily="18" charset="0"/>
                            </a:rPr>
                            <m:t>net</m:t>
                          </m:r>
                        </m:sub>
                      </m:sSub>
                      <m:r>
                        <a:rPr lang="en-US" sz="2400" b="0" i="0" smtClean="0">
                          <a:latin typeface="Cambria Math" panose="02040503050406030204" pitchFamily="18" charset="0"/>
                          <a:ea typeface="Cambria Math" panose="02040503050406030204" pitchFamily="18" charset="0"/>
                        </a:rPr>
                        <m:t>=0</m:t>
                      </m:r>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r>
                        <a:rPr lang="en-US" sz="2400" b="0" i="0" smtClean="0">
                          <a:latin typeface="Cambria Math" panose="02040503050406030204" pitchFamily="18" charset="0"/>
                        </a:rPr>
                        <m:t>+250</m:t>
                      </m:r>
                      <m:r>
                        <a:rPr lang="en-US" sz="2400" i="0">
                          <a:latin typeface="Cambria Math" panose="02040503050406030204" pitchFamily="18" charset="0"/>
                        </a:rPr>
                        <m:t>−</m:t>
                      </m:r>
                      <m:r>
                        <a:rPr lang="en-US" sz="2400" b="0" i="0" smtClean="0">
                          <a:latin typeface="Cambria Math" panose="02040503050406030204" pitchFamily="18" charset="0"/>
                        </a:rPr>
                        <m:t>(116+</m:t>
                      </m:r>
                      <m:r>
                        <m:rPr>
                          <m:sty m:val="p"/>
                        </m:rPr>
                        <a:rPr lang="en-US" sz="2400" b="0" i="0" smtClean="0">
                          <a:latin typeface="Cambria Math" panose="02040503050406030204" pitchFamily="18" charset="0"/>
                        </a:rPr>
                        <m:t>W</m:t>
                      </m:r>
                      <m:r>
                        <a:rPr lang="en-US" sz="2400" b="0" i="0" smtClean="0">
                          <a:latin typeface="Cambria Math" panose="02040503050406030204" pitchFamily="18" charset="0"/>
                        </a:rPr>
                        <m:t>)=0</m:t>
                      </m:r>
                    </m:oMath>
                  </m:oMathPara>
                </a14:m>
                <a:endParaRPr lang="en-US" sz="2400" dirty="0"/>
              </a:p>
              <a:p>
                <a:pPr marL="0" indent="0">
                  <a:buNone/>
                </a:pPr>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ea typeface="Cambria Math" panose="02040503050406030204" pitchFamily="18" charset="0"/>
                        </a:rPr>
                        <m:t>W</m:t>
                      </m:r>
                      <m:r>
                        <a:rPr lang="en-US" sz="2400" b="0" i="0" smtClean="0">
                          <a:latin typeface="Cambria Math" panose="02040503050406030204" pitchFamily="18" charset="0"/>
                          <a:ea typeface="Cambria Math" panose="02040503050406030204" pitchFamily="18" charset="0"/>
                        </a:rPr>
                        <m:t>=+134 </m:t>
                      </m:r>
                      <m:r>
                        <m:rPr>
                          <m:sty m:val="p"/>
                        </m:rPr>
                        <a:rPr lang="en-US" sz="2400" b="0" i="0" smtClean="0">
                          <a:latin typeface="Cambria Math" panose="02040503050406030204" pitchFamily="18" charset="0"/>
                          <a:ea typeface="Cambria Math" panose="02040503050406030204" pitchFamily="18" charset="0"/>
                        </a:rPr>
                        <m:t>kJ</m:t>
                      </m:r>
                    </m:oMath>
                  </m:oMathPara>
                </a14:m>
                <a:endParaRPr lang="en-US" sz="2400" dirty="0"/>
              </a:p>
              <a:p>
                <a:pPr>
                  <a:buFont typeface="Wingdings" panose="05000000000000000000" pitchFamily="2" charset="2"/>
                  <a:buChar char="v"/>
                </a:pPr>
                <a:r>
                  <a:rPr lang="en-US" dirty="0"/>
                  <a:t>Hence work is done by the system.</a:t>
                </a:r>
              </a:p>
            </p:txBody>
          </p:sp>
        </mc:Choice>
        <mc:Fallback xmlns="">
          <p:sp>
            <p:nvSpPr>
              <p:cNvPr id="9" name="Content Placeholder 2"/>
              <p:cNvSpPr>
                <a:spLocks noGrp="1" noRot="1" noChangeAspect="1" noMove="1" noResize="1" noEditPoints="1" noAdjustHandles="1" noChangeArrowheads="1" noChangeShapeType="1" noTextEdit="1"/>
              </p:cNvSpPr>
              <p:nvPr>
                <p:ph sz="half" idx="1"/>
              </p:nvPr>
            </p:nvSpPr>
            <p:spPr>
              <a:xfrm>
                <a:off x="5997388" y="1048871"/>
                <a:ext cx="5634720" cy="5017613"/>
              </a:xfrm>
              <a:blipFill rotWithShape="0">
                <a:blip r:embed="rId2"/>
                <a:stretch>
                  <a:fillRect l="-1948" t="-1215" r="-2489"/>
                </a:stretch>
              </a:blipFill>
            </p:spPr>
            <p:txBody>
              <a:bodyPr/>
              <a:lstStyle/>
              <a:p>
                <a:r>
                  <a:rPr lang="en-US">
                    <a:noFill/>
                  </a:rPr>
                  <a:t> </a:t>
                </a:r>
              </a:p>
            </p:txBody>
          </p:sp>
        </mc:Fallback>
      </mc:AlternateContent>
    </p:spTree>
    <p:extLst>
      <p:ext uri="{BB962C8B-B14F-4D97-AF65-F5344CB8AC3E}">
        <p14:creationId xmlns:p14="http://schemas.microsoft.com/office/powerpoint/2010/main" val="2128422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150224" y="1021976"/>
                <a:ext cx="6764272" cy="5109883"/>
              </a:xfrm>
            </p:spPr>
            <p:txBody>
              <a:bodyPr>
                <a:noAutofit/>
              </a:bodyPr>
              <a:lstStyle/>
              <a:p>
                <a:pPr>
                  <a:buFont typeface="Wingdings" panose="05000000000000000000" pitchFamily="2" charset="2"/>
                  <a:buChar char="v"/>
                </a:pPr>
                <a:r>
                  <a:rPr lang="en-US" sz="2400" dirty="0">
                    <a:solidFill>
                      <a:srgbClr val="C00000"/>
                    </a:solidFill>
                  </a:rPr>
                  <a:t>The boundary work due to expansion of a fluid in a thermodynamic system is given by,</a:t>
                </a:r>
              </a:p>
              <a:p>
                <a:pPr marL="0" indent="0">
                  <a:buNone/>
                </a:pPr>
                <a14:m>
                  <m:oMathPara xmlns:m="http://schemas.openxmlformats.org/officeDocument/2006/math">
                    <m:oMathParaPr>
                      <m:jc m:val="centerGroup"/>
                    </m:oMathParaPr>
                    <m:oMath xmlns:m="http://schemas.openxmlformats.org/officeDocument/2006/math">
                      <m:r>
                        <a:rPr lang="el-GR" sz="2400" b="1" i="0">
                          <a:solidFill>
                            <a:srgbClr val="002060"/>
                          </a:solidFill>
                          <a:latin typeface="Cambria Math" panose="02040503050406030204" pitchFamily="18" charset="0"/>
                          <a:ea typeface="Cambria Math" panose="02040503050406030204" pitchFamily="18" charset="0"/>
                        </a:rPr>
                        <m:t>𝛅</m:t>
                      </m:r>
                      <m:r>
                        <a:rPr lang="en-US" sz="2400" b="1" i="0">
                          <a:solidFill>
                            <a:srgbClr val="002060"/>
                          </a:solidFill>
                          <a:latin typeface="Cambria Math" panose="02040503050406030204" pitchFamily="18" charset="0"/>
                          <a:ea typeface="Cambria Math" panose="02040503050406030204" pitchFamily="18" charset="0"/>
                        </a:rPr>
                        <m:t>𝐖</m:t>
                      </m:r>
                      <m:r>
                        <a:rPr lang="en-US" sz="2400" b="1" i="0">
                          <a:solidFill>
                            <a:srgbClr val="002060"/>
                          </a:solidFill>
                          <a:latin typeface="Cambria Math" panose="02040503050406030204" pitchFamily="18" charset="0"/>
                          <a:ea typeface="Cambria Math" panose="02040503050406030204" pitchFamily="18" charset="0"/>
                        </a:rPr>
                        <m:t>=</m:t>
                      </m:r>
                      <m:r>
                        <a:rPr lang="en-US" sz="2400" b="1" i="0">
                          <a:solidFill>
                            <a:srgbClr val="002060"/>
                          </a:solidFill>
                          <a:latin typeface="Cambria Math" panose="02040503050406030204" pitchFamily="18" charset="0"/>
                          <a:ea typeface="Cambria Math" panose="02040503050406030204" pitchFamily="18" charset="0"/>
                        </a:rPr>
                        <m:t>𝐏𝐝𝐕</m:t>
                      </m:r>
                    </m:oMath>
                  </m:oMathPara>
                </a14:m>
                <a:endParaRPr lang="en-US" sz="2400" b="1" dirty="0">
                  <a:solidFill>
                    <a:srgbClr val="002060"/>
                  </a:solidFill>
                </a:endParaRPr>
              </a:p>
              <a:p>
                <a:pPr>
                  <a:buFont typeface="Wingdings" panose="05000000000000000000" pitchFamily="2" charset="2"/>
                  <a:buChar char="v"/>
                </a:pPr>
                <a:r>
                  <a:rPr lang="en-US" sz="2000" dirty="0"/>
                  <a:t>If the volume of the fluid is to remain constant, </a:t>
                </a: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𝑑𝑉</m:t>
                      </m:r>
                      <m:r>
                        <a:rPr lang="en-US" sz="2000" b="0" i="1" smtClean="0">
                          <a:latin typeface="Cambria Math" panose="02040503050406030204" pitchFamily="18" charset="0"/>
                        </a:rPr>
                        <m:t>=0 ⇒</m:t>
                      </m:r>
                      <m:r>
                        <a:rPr lang="en-US" sz="2000" b="0" i="1" smtClean="0">
                          <a:latin typeface="Cambria Math" panose="02040503050406030204" pitchFamily="18" charset="0"/>
                          <a:ea typeface="Cambria Math" panose="02040503050406030204" pitchFamily="18" charset="0"/>
                        </a:rPr>
                        <m:t>𝛿</m:t>
                      </m:r>
                      <m:r>
                        <a:rPr lang="en-US" sz="2000" b="0" i="1" smtClean="0">
                          <a:latin typeface="Cambria Math" panose="02040503050406030204" pitchFamily="18" charset="0"/>
                          <a:ea typeface="Cambria Math" panose="02040503050406030204" pitchFamily="18" charset="0"/>
                        </a:rPr>
                        <m:t>𝑊</m:t>
                      </m:r>
                      <m:r>
                        <a:rPr lang="en-US" sz="2000" b="0" i="1" smtClean="0">
                          <a:latin typeface="Cambria Math" panose="02040503050406030204" pitchFamily="18" charset="0"/>
                          <a:ea typeface="Cambria Math" panose="02040503050406030204" pitchFamily="18" charset="0"/>
                        </a:rPr>
                        <m:t>=0.</m:t>
                      </m:r>
                    </m:oMath>
                  </m:oMathPara>
                </a14:m>
                <a:endParaRPr lang="en-US" sz="2000" dirty="0"/>
              </a:p>
              <a:p>
                <a:pPr>
                  <a:buFont typeface="Wingdings" panose="05000000000000000000" pitchFamily="2" charset="2"/>
                  <a:buChar char="v"/>
                </a:pPr>
                <a:r>
                  <a:rPr lang="en-US" sz="2000" dirty="0">
                    <a:solidFill>
                      <a:srgbClr val="002060"/>
                    </a:solidFill>
                  </a:rPr>
                  <a:t>Hence no energy transfer in the form of work can take place during a constant volume process.</a:t>
                </a:r>
              </a:p>
              <a:p>
                <a:pPr>
                  <a:buFont typeface="Wingdings" panose="05000000000000000000" pitchFamily="2" charset="2"/>
                  <a:buChar char="v"/>
                </a:pPr>
                <a:r>
                  <a:rPr lang="en-US" sz="2000" dirty="0">
                    <a:solidFill>
                      <a:srgbClr val="C00000"/>
                    </a:solidFill>
                  </a:rPr>
                  <a:t>Therefore, for a constant volume process of a fluid, the NFEE becomes</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Q</m:t>
                          </m:r>
                        </m:e>
                        <m:sub>
                          <m:r>
                            <m:rPr>
                              <m:sty m:val="p"/>
                            </m:rPr>
                            <a:rPr lang="en-US" sz="2400" b="0" i="0" smtClean="0">
                              <a:latin typeface="Cambria Math" panose="02040503050406030204" pitchFamily="18" charset="0"/>
                            </a:rPr>
                            <m:t>if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U</m:t>
                          </m:r>
                        </m:e>
                        <m:sub>
                          <m:r>
                            <m:rPr>
                              <m:sty m:val="p"/>
                            </m:rPr>
                            <a:rPr lang="en-US" sz="2400" b="0" i="0" smtClean="0">
                              <a:latin typeface="Cambria Math" panose="02040503050406030204" pitchFamily="18" charset="0"/>
                            </a:rPr>
                            <m:t>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U</m:t>
                          </m:r>
                        </m:e>
                        <m:sub>
                          <m:r>
                            <m:rPr>
                              <m:sty m:val="p"/>
                            </m:rPr>
                            <a:rPr lang="en-US" sz="2400" b="0" i="0" smtClean="0">
                              <a:latin typeface="Cambria Math" panose="02040503050406030204" pitchFamily="18" charset="0"/>
                            </a:rPr>
                            <m:t>i</m:t>
                          </m:r>
                        </m:sub>
                      </m:sSub>
                    </m:oMath>
                  </m:oMathPara>
                </a14:m>
                <a:endParaRPr lang="en-US" sz="2400" dirty="0"/>
              </a:p>
              <a:p>
                <a:pPr>
                  <a:lnSpc>
                    <a:spcPct val="50000"/>
                  </a:lnSpc>
                  <a:buFont typeface="Wingdings" panose="05000000000000000000" pitchFamily="2" charset="2"/>
                  <a:buChar char="v"/>
                </a:pPr>
                <a:endParaRPr lang="en-US" sz="2000" b="1" dirty="0">
                  <a:solidFill>
                    <a:srgbClr val="002060"/>
                  </a:solidFill>
                </a:endParaRPr>
              </a:p>
              <a:p>
                <a:pPr>
                  <a:buFont typeface="Wingdings" panose="05000000000000000000" pitchFamily="2" charset="2"/>
                  <a:buChar char="v"/>
                </a:pPr>
                <a:r>
                  <a:rPr lang="en-US" sz="2000" dirty="0">
                    <a:solidFill>
                      <a:srgbClr val="002060"/>
                    </a:solidFill>
                  </a:rPr>
                  <a:t>The above equation shows that during a constant volume process of a fluid, the net amount of heat energy transfer is equal to the change in internal energy of the fluid.</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150224" y="1021976"/>
                <a:ext cx="6764272" cy="5109883"/>
              </a:xfrm>
              <a:blipFill rotWithShape="0">
                <a:blip r:embed="rId2"/>
                <a:stretch>
                  <a:fillRect l="-1262" t="-955" r="-171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7</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452509" y="1021976"/>
                <a:ext cx="4469115" cy="498885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For a </a:t>
                </a:r>
                <a:r>
                  <a:rPr lang="en-US" sz="2400" b="1" dirty="0">
                    <a:solidFill>
                      <a:srgbClr val="C00000"/>
                    </a:solidFill>
                  </a:rPr>
                  <a:t>stationary closed system </a:t>
                </a:r>
                <a:r>
                  <a:rPr lang="en-US" sz="2400" dirty="0"/>
                  <a:t>undergoing a process from initial state (</a:t>
                </a:r>
                <a:r>
                  <a:rPr lang="en-US" sz="2400" dirty="0" err="1"/>
                  <a:t>i</a:t>
                </a:r>
                <a:r>
                  <a:rPr lang="en-US" sz="2400" dirty="0"/>
                  <a:t>) to a final state (f); the first law equation becomes;</a:t>
                </a:r>
              </a:p>
              <a:p>
                <a:pPr marL="0" indent="0">
                  <a:lnSpc>
                    <a:spcPct val="50000"/>
                  </a:lnSpc>
                  <a:buNone/>
                </a:pPr>
                <a:r>
                  <a:rPr lang="en-US" sz="2400" dirty="0"/>
                  <a:t> </a:t>
                </a:r>
              </a:p>
              <a:p>
                <a:pPr marL="0" indent="0">
                  <a:buNone/>
                </a:pPr>
                <a14:m>
                  <m:oMathPara xmlns:m="http://schemas.openxmlformats.org/officeDocument/2006/math">
                    <m:oMathParaPr>
                      <m:jc m:val="centerGroup"/>
                    </m:oMathParaPr>
                    <m:oMath xmlns:m="http://schemas.openxmlformats.org/officeDocument/2006/math">
                      <m:nary>
                        <m:naryPr>
                          <m:limLoc m:val="undOvr"/>
                          <m:ctrlPr>
                            <a:rPr lang="en-US" sz="2000" b="1" i="1" smtClean="0">
                              <a:latin typeface="Cambria Math" panose="02040503050406030204" pitchFamily="18" charset="0"/>
                            </a:rPr>
                          </m:ctrlPr>
                        </m:naryPr>
                        <m:sub>
                          <m:r>
                            <m:rPr>
                              <m:brk m:alnAt="24"/>
                            </m:rPr>
                            <a:rPr lang="en-US" sz="2000" b="1" i="0" smtClean="0">
                              <a:latin typeface="Cambria Math" panose="02040503050406030204" pitchFamily="18" charset="0"/>
                            </a:rPr>
                            <m:t>𝐢</m:t>
                          </m:r>
                        </m:sub>
                        <m:sup>
                          <m:r>
                            <a:rPr lang="en-US" sz="2000" b="1" i="0" smtClean="0">
                              <a:latin typeface="Cambria Math" panose="02040503050406030204" pitchFamily="18" charset="0"/>
                            </a:rPr>
                            <m:t>𝐟</m:t>
                          </m:r>
                        </m:sup>
                        <m:e>
                          <m:r>
                            <a:rPr lang="en-US" sz="2000" b="1" i="0" smtClean="0">
                              <a:latin typeface="Cambria Math" panose="02040503050406030204" pitchFamily="18" charset="0"/>
                              <a:ea typeface="Cambria Math" panose="02040503050406030204" pitchFamily="18" charset="0"/>
                            </a:rPr>
                            <m:t>𝛅</m:t>
                          </m:r>
                          <m:r>
                            <a:rPr lang="en-US" sz="2000" b="1" i="0" smtClean="0">
                              <a:latin typeface="Cambria Math" panose="02040503050406030204" pitchFamily="18" charset="0"/>
                              <a:ea typeface="Cambria Math" panose="02040503050406030204" pitchFamily="18" charset="0"/>
                            </a:rPr>
                            <m:t>𝐐</m:t>
                          </m:r>
                          <m:r>
                            <a:rPr lang="en-US" sz="2000" b="1" i="0" smtClean="0">
                              <a:latin typeface="Cambria Math" panose="02040503050406030204" pitchFamily="18" charset="0"/>
                              <a:ea typeface="Cambria Math" panose="02040503050406030204" pitchFamily="18" charset="0"/>
                            </a:rPr>
                            <m:t>−</m:t>
                          </m:r>
                          <m:nary>
                            <m:naryPr>
                              <m:limLoc m:val="undOvr"/>
                              <m:ctrlPr>
                                <a:rPr lang="en-US" sz="2000" b="1" i="1" smtClean="0">
                                  <a:latin typeface="Cambria Math" panose="02040503050406030204" pitchFamily="18" charset="0"/>
                                  <a:ea typeface="Cambria Math" panose="02040503050406030204" pitchFamily="18" charset="0"/>
                                </a:rPr>
                              </m:ctrlPr>
                            </m:naryPr>
                            <m:sub>
                              <m:r>
                                <m:rPr>
                                  <m:brk m:alnAt="24"/>
                                </m:rPr>
                                <a:rPr lang="en-US" sz="2000" b="1" i="0" smtClean="0">
                                  <a:latin typeface="Cambria Math" panose="02040503050406030204" pitchFamily="18" charset="0"/>
                                  <a:ea typeface="Cambria Math" panose="02040503050406030204" pitchFamily="18" charset="0"/>
                                </a:rPr>
                                <m:t>𝐢</m:t>
                              </m:r>
                            </m:sub>
                            <m:sup>
                              <m:r>
                                <a:rPr lang="en-US" sz="2000" b="1" i="0" smtClean="0">
                                  <a:latin typeface="Cambria Math" panose="02040503050406030204" pitchFamily="18" charset="0"/>
                                  <a:ea typeface="Cambria Math" panose="02040503050406030204" pitchFamily="18" charset="0"/>
                                </a:rPr>
                                <m:t>𝐟</m:t>
                              </m:r>
                            </m:sup>
                            <m:e>
                              <m:r>
                                <a:rPr lang="en-US" sz="2000" b="1" i="0" smtClean="0">
                                  <a:latin typeface="Cambria Math" panose="02040503050406030204" pitchFamily="18" charset="0"/>
                                  <a:ea typeface="Cambria Math" panose="02040503050406030204" pitchFamily="18" charset="0"/>
                                </a:rPr>
                                <m:t>𝛅</m:t>
                              </m:r>
                              <m:r>
                                <a:rPr lang="en-US" sz="2000" b="1" i="0" smtClean="0">
                                  <a:latin typeface="Cambria Math" panose="02040503050406030204" pitchFamily="18" charset="0"/>
                                  <a:ea typeface="Cambria Math" panose="02040503050406030204" pitchFamily="18" charset="0"/>
                                </a:rPr>
                                <m:t>𝐖</m:t>
                              </m:r>
                              <m:r>
                                <a:rPr lang="en-US" sz="2000" b="1" i="0" smtClean="0">
                                  <a:latin typeface="Cambria Math" panose="02040503050406030204" pitchFamily="18" charset="0"/>
                                  <a:ea typeface="Cambria Math" panose="02040503050406030204" pitchFamily="18" charset="0"/>
                                </a:rPr>
                                <m:t>=</m:t>
                              </m:r>
                              <m:nary>
                                <m:naryPr>
                                  <m:limLoc m:val="undOvr"/>
                                  <m:ctrlPr>
                                    <a:rPr lang="en-US" sz="2000" b="1" i="1" smtClean="0">
                                      <a:latin typeface="Cambria Math" panose="02040503050406030204" pitchFamily="18" charset="0"/>
                                      <a:ea typeface="Cambria Math" panose="02040503050406030204" pitchFamily="18" charset="0"/>
                                    </a:rPr>
                                  </m:ctrlPr>
                                </m:naryPr>
                                <m:sub>
                                  <m:r>
                                    <m:rPr>
                                      <m:brk m:alnAt="24"/>
                                    </m:rPr>
                                    <a:rPr lang="en-US" sz="2000" b="1" i="0" smtClean="0">
                                      <a:latin typeface="Cambria Math" panose="02040503050406030204" pitchFamily="18" charset="0"/>
                                      <a:ea typeface="Cambria Math" panose="02040503050406030204" pitchFamily="18" charset="0"/>
                                    </a:rPr>
                                    <m:t>𝐢</m:t>
                                  </m:r>
                                </m:sub>
                                <m:sup>
                                  <m:r>
                                    <a:rPr lang="en-US" sz="2000" b="1" i="0" smtClean="0">
                                      <a:latin typeface="Cambria Math" panose="02040503050406030204" pitchFamily="18" charset="0"/>
                                      <a:ea typeface="Cambria Math" panose="02040503050406030204" pitchFamily="18" charset="0"/>
                                    </a:rPr>
                                    <m:t>𝐟</m:t>
                                  </m:r>
                                </m:sup>
                                <m:e>
                                  <m:r>
                                    <a:rPr lang="en-US" sz="2000" b="1" i="0" smtClean="0">
                                      <a:latin typeface="Cambria Math" panose="02040503050406030204" pitchFamily="18" charset="0"/>
                                      <a:ea typeface="Cambria Math" panose="02040503050406030204" pitchFamily="18" charset="0"/>
                                    </a:rPr>
                                    <m:t>𝐝𝐔</m:t>
                                  </m:r>
                                </m:e>
                              </m:nary>
                            </m:e>
                          </m:nary>
                        </m:e>
                      </m:nary>
                    </m:oMath>
                  </m:oMathPara>
                </a14:m>
                <a:endParaRPr lang="en-US" sz="2000" b="1" dirty="0"/>
              </a:p>
              <a:p>
                <a:pPr marL="0" indent="0">
                  <a:lnSpc>
                    <a:spcPct val="50000"/>
                  </a:lnSpc>
                  <a:buNone/>
                </a:pPr>
                <a:endParaRPr lang="en-US" sz="2000" dirty="0"/>
              </a:p>
              <a:p>
                <a:pPr marL="0" indent="0">
                  <a:buNone/>
                </a:pPr>
                <a:r>
                  <a:rPr lang="en-US" sz="2000" b="1" dirty="0">
                    <a:solidFill>
                      <a:srgbClr val="002060"/>
                    </a:solidFill>
                  </a:rPr>
                  <a:t>		</a:t>
                </a:r>
                <a14:m>
                  <m:oMath xmlns:m="http://schemas.openxmlformats.org/officeDocument/2006/math">
                    <m:sSub>
                      <m:sSubPr>
                        <m:ctrlPr>
                          <a:rPr lang="en-US" sz="2000" b="1" i="1" smtClean="0">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𝐐</m:t>
                        </m:r>
                      </m:e>
                      <m:sub>
                        <m:r>
                          <a:rPr lang="en-US" sz="2000" b="1" i="0" smtClean="0">
                            <a:solidFill>
                              <a:srgbClr val="002060"/>
                            </a:solidFill>
                            <a:latin typeface="Cambria Math" panose="02040503050406030204" pitchFamily="18" charset="0"/>
                          </a:rPr>
                          <m:t>𝐢𝐟</m:t>
                        </m:r>
                      </m:sub>
                    </m:sSub>
                    <m:r>
                      <a:rPr lang="en-US" sz="2000" b="1" i="0" smtClean="0">
                        <a:solidFill>
                          <a:srgbClr val="002060"/>
                        </a:solidFill>
                        <a:latin typeface="Cambria Math" panose="02040503050406030204" pitchFamily="18" charset="0"/>
                      </a:rPr>
                      <m:t>−</m:t>
                    </m:r>
                    <m:sSub>
                      <m:sSubPr>
                        <m:ctrlPr>
                          <a:rPr lang="en-US" sz="2000" b="1" i="1" smtClean="0">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𝐖</m:t>
                        </m:r>
                      </m:e>
                      <m:sub>
                        <m:r>
                          <a:rPr lang="en-US" sz="2000" b="1" i="0" smtClean="0">
                            <a:solidFill>
                              <a:srgbClr val="002060"/>
                            </a:solidFill>
                            <a:latin typeface="Cambria Math" panose="02040503050406030204" pitchFamily="18" charset="0"/>
                          </a:rPr>
                          <m:t>𝐢𝐟</m:t>
                        </m:r>
                      </m:sub>
                    </m:sSub>
                    <m:r>
                      <a:rPr lang="en-US" sz="2000" b="1" i="0" smtClean="0">
                        <a:solidFill>
                          <a:srgbClr val="002060"/>
                        </a:solidFill>
                        <a:latin typeface="Cambria Math" panose="02040503050406030204" pitchFamily="18" charset="0"/>
                      </a:rPr>
                      <m:t>=</m:t>
                    </m:r>
                    <m:sSub>
                      <m:sSubPr>
                        <m:ctrlPr>
                          <a:rPr lang="en-US" sz="2000" b="1" i="1" smtClean="0">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𝐔</m:t>
                        </m:r>
                      </m:e>
                      <m:sub>
                        <m:r>
                          <a:rPr lang="en-US" sz="2000" b="1" i="0" smtClean="0">
                            <a:solidFill>
                              <a:srgbClr val="002060"/>
                            </a:solidFill>
                            <a:latin typeface="Cambria Math" panose="02040503050406030204" pitchFamily="18" charset="0"/>
                          </a:rPr>
                          <m:t>𝐟</m:t>
                        </m:r>
                      </m:sub>
                    </m:sSub>
                    <m:r>
                      <a:rPr lang="en-US" sz="2000" b="1" i="0" smtClean="0">
                        <a:solidFill>
                          <a:srgbClr val="002060"/>
                        </a:solidFill>
                        <a:latin typeface="Cambria Math" panose="02040503050406030204" pitchFamily="18" charset="0"/>
                      </a:rPr>
                      <m:t>−</m:t>
                    </m:r>
                    <m:sSub>
                      <m:sSubPr>
                        <m:ctrlPr>
                          <a:rPr lang="en-US" sz="2000" b="1" i="1" smtClean="0">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𝐔</m:t>
                        </m:r>
                      </m:e>
                      <m:sub>
                        <m:r>
                          <a:rPr lang="en-US" sz="2000" b="1" i="0" smtClean="0">
                            <a:solidFill>
                              <a:srgbClr val="002060"/>
                            </a:solidFill>
                            <a:latin typeface="Cambria Math" panose="02040503050406030204" pitchFamily="18" charset="0"/>
                          </a:rPr>
                          <m:t>𝐢</m:t>
                        </m:r>
                      </m:sub>
                    </m:sSub>
                  </m:oMath>
                </a14:m>
                <a:r>
                  <a:rPr lang="en-US" sz="2000" b="1" dirty="0">
                    <a:solidFill>
                      <a:srgbClr val="002060"/>
                    </a:solidFill>
                  </a:rPr>
                  <a:t>     </a:t>
                </a:r>
                <a:r>
                  <a:rPr lang="en-US" sz="2000" b="1" dirty="0"/>
                  <a:t>(J)</a:t>
                </a:r>
              </a:p>
              <a:p>
                <a:pPr>
                  <a:buFont typeface="Wingdings" panose="05000000000000000000" pitchFamily="2" charset="2"/>
                  <a:buChar char="v"/>
                </a:pPr>
                <a:endParaRPr lang="en-US" sz="2000" b="1" dirty="0"/>
              </a:p>
              <a:p>
                <a:pPr>
                  <a:buFont typeface="Wingdings" panose="05000000000000000000" pitchFamily="2" charset="2"/>
                  <a:buChar char="v"/>
                </a:pPr>
                <a:r>
                  <a:rPr lang="en-US" sz="2400" dirty="0"/>
                  <a:t>On a unit mass basis, </a:t>
                </a:r>
              </a:p>
              <a:p>
                <a:pPr>
                  <a:lnSpc>
                    <a:spcPct val="50000"/>
                  </a:lnSpc>
                  <a:buFont typeface="Wingdings" panose="05000000000000000000" pitchFamily="2" charset="2"/>
                  <a:buChar char="v"/>
                </a:pPr>
                <a:endParaRPr lang="en-US" sz="2000" b="1" dirty="0"/>
              </a:p>
              <a:p>
                <a:pPr marL="0" indent="0">
                  <a:buNone/>
                </a:pPr>
                <a:r>
                  <a:rPr lang="en-US" sz="2000" b="1" dirty="0">
                    <a:solidFill>
                      <a:srgbClr val="002060"/>
                    </a:solidFill>
                  </a:rPr>
                  <a:t>		</a:t>
                </a:r>
                <a14:m>
                  <m:oMath xmlns:m="http://schemas.openxmlformats.org/officeDocument/2006/math">
                    <m:sSub>
                      <m:sSubPr>
                        <m:ctrlPr>
                          <a:rPr lang="en-US" sz="2000" b="1" i="1">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𝐪</m:t>
                        </m:r>
                      </m:e>
                      <m:sub>
                        <m:r>
                          <a:rPr lang="en-US" sz="2000" b="1" i="0">
                            <a:solidFill>
                              <a:srgbClr val="002060"/>
                            </a:solidFill>
                            <a:latin typeface="Cambria Math" panose="02040503050406030204" pitchFamily="18" charset="0"/>
                          </a:rPr>
                          <m:t>𝐢𝐟</m:t>
                        </m:r>
                      </m:sub>
                    </m:sSub>
                    <m:r>
                      <a:rPr lang="en-US" sz="2000" b="1" i="0">
                        <a:solidFill>
                          <a:srgbClr val="002060"/>
                        </a:solidFill>
                        <a:latin typeface="Cambria Math" panose="02040503050406030204" pitchFamily="18" charset="0"/>
                      </a:rPr>
                      <m:t>−</m:t>
                    </m:r>
                    <m:sSub>
                      <m:sSubPr>
                        <m:ctrlPr>
                          <a:rPr lang="en-US" sz="2000" b="1" i="1">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𝐰</m:t>
                        </m:r>
                      </m:e>
                      <m:sub>
                        <m:r>
                          <a:rPr lang="en-US" sz="2000" b="1" i="0">
                            <a:solidFill>
                              <a:srgbClr val="002060"/>
                            </a:solidFill>
                            <a:latin typeface="Cambria Math" panose="02040503050406030204" pitchFamily="18" charset="0"/>
                          </a:rPr>
                          <m:t>𝐢𝐟</m:t>
                        </m:r>
                      </m:sub>
                    </m:sSub>
                    <m:r>
                      <a:rPr lang="en-US" sz="2000" b="1" i="0">
                        <a:solidFill>
                          <a:srgbClr val="002060"/>
                        </a:solidFill>
                        <a:latin typeface="Cambria Math" panose="02040503050406030204" pitchFamily="18" charset="0"/>
                      </a:rPr>
                      <m:t>=</m:t>
                    </m:r>
                    <m:sSub>
                      <m:sSubPr>
                        <m:ctrlPr>
                          <a:rPr lang="en-US" sz="2000" b="1" i="1">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𝐮</m:t>
                        </m:r>
                      </m:e>
                      <m:sub>
                        <m:r>
                          <a:rPr lang="en-US" sz="2000" b="1" i="0">
                            <a:solidFill>
                              <a:srgbClr val="002060"/>
                            </a:solidFill>
                            <a:latin typeface="Cambria Math" panose="02040503050406030204" pitchFamily="18" charset="0"/>
                          </a:rPr>
                          <m:t>𝐟</m:t>
                        </m:r>
                      </m:sub>
                    </m:sSub>
                    <m:r>
                      <a:rPr lang="en-US" sz="2000" b="1" i="0">
                        <a:solidFill>
                          <a:srgbClr val="002060"/>
                        </a:solidFill>
                        <a:latin typeface="Cambria Math" panose="02040503050406030204" pitchFamily="18" charset="0"/>
                      </a:rPr>
                      <m:t>−</m:t>
                    </m:r>
                    <m:sSub>
                      <m:sSubPr>
                        <m:ctrlPr>
                          <a:rPr lang="en-US" sz="2000" b="1" i="1">
                            <a:solidFill>
                              <a:srgbClr val="002060"/>
                            </a:solidFill>
                            <a:latin typeface="Cambria Math" panose="02040503050406030204" pitchFamily="18" charset="0"/>
                          </a:rPr>
                        </m:ctrlPr>
                      </m:sSubPr>
                      <m:e>
                        <m:r>
                          <a:rPr lang="en-US" sz="2000" b="1" i="0" smtClean="0">
                            <a:solidFill>
                              <a:srgbClr val="002060"/>
                            </a:solidFill>
                            <a:latin typeface="Cambria Math" panose="02040503050406030204" pitchFamily="18" charset="0"/>
                          </a:rPr>
                          <m:t>𝐮</m:t>
                        </m:r>
                      </m:e>
                      <m:sub>
                        <m:r>
                          <a:rPr lang="en-US" sz="2000" b="1" i="0">
                            <a:solidFill>
                              <a:srgbClr val="002060"/>
                            </a:solidFill>
                            <a:latin typeface="Cambria Math" panose="02040503050406030204" pitchFamily="18" charset="0"/>
                          </a:rPr>
                          <m:t>𝐢</m:t>
                        </m:r>
                      </m:sub>
                    </m:sSub>
                  </m:oMath>
                </a14:m>
                <a:r>
                  <a:rPr lang="en-US" sz="2000" b="1" dirty="0"/>
                  <a:t>    (J/kg)</a:t>
                </a:r>
              </a:p>
              <a:p>
                <a:pPr>
                  <a:buFont typeface="Wingdings" panose="05000000000000000000" pitchFamily="2" charset="2"/>
                  <a:buChar char="v"/>
                </a:pPr>
                <a:endParaRPr lang="en-US" sz="2000" dirty="0">
                  <a:solidFill>
                    <a:srgbClr val="C00000"/>
                  </a:solidFill>
                </a:endParaRP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452509" y="1021976"/>
                <a:ext cx="4469115" cy="4988859"/>
              </a:xfrm>
              <a:prstGeom prst="rect">
                <a:avLst/>
              </a:prstGeom>
              <a:blipFill rotWithShape="0">
                <a:blip r:embed="rId3"/>
                <a:stretch>
                  <a:fillRect l="-1774" t="-978" r="-3001"/>
                </a:stretch>
              </a:blipFill>
            </p:spPr>
            <p:txBody>
              <a:bodyPr/>
              <a:lstStyle/>
              <a:p>
                <a:r>
                  <a:rPr lang="en-US">
                    <a:noFill/>
                  </a:rPr>
                  <a:t> </a:t>
                </a:r>
              </a:p>
            </p:txBody>
          </p:sp>
        </mc:Fallback>
      </mc:AlternateContent>
    </p:spTree>
    <p:extLst>
      <p:ext uri="{BB962C8B-B14F-4D97-AF65-F5344CB8AC3E}">
        <p14:creationId xmlns:p14="http://schemas.microsoft.com/office/powerpoint/2010/main" val="16622040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150224" y="1021976"/>
                <a:ext cx="6764272" cy="5256629"/>
              </a:xfrm>
            </p:spPr>
            <p:txBody>
              <a:bodyPr>
                <a:noAutofit/>
              </a:bodyPr>
              <a:lstStyle/>
              <a:p>
                <a:pPr>
                  <a:buFont typeface="Wingdings" panose="05000000000000000000" pitchFamily="2" charset="2"/>
                  <a:buChar char="v"/>
                </a:pPr>
                <a:r>
                  <a:rPr lang="en-US" sz="2400" dirty="0">
                    <a:solidFill>
                      <a:srgbClr val="C00000"/>
                    </a:solidFill>
                  </a:rPr>
                  <a:t>The boundary work due to expansion of a fluid in a thermodynamic system is given by,</a:t>
                </a:r>
              </a:p>
              <a:p>
                <a:pPr marL="0" indent="0">
                  <a:buNone/>
                </a:pPr>
                <a14:m>
                  <m:oMathPara xmlns:m="http://schemas.openxmlformats.org/officeDocument/2006/math">
                    <m:oMathParaPr>
                      <m:jc m:val="centerGroup"/>
                    </m:oMathParaPr>
                    <m:oMath xmlns:m="http://schemas.openxmlformats.org/officeDocument/2006/math">
                      <m:r>
                        <a:rPr lang="el-GR" sz="2400" b="1" i="1">
                          <a:solidFill>
                            <a:srgbClr val="002060"/>
                          </a:solidFill>
                          <a:latin typeface="Cambria Math" panose="02040503050406030204" pitchFamily="18" charset="0"/>
                          <a:ea typeface="Cambria Math" panose="02040503050406030204" pitchFamily="18" charset="0"/>
                        </a:rPr>
                        <m:t>𝜹</m:t>
                      </m:r>
                      <m:r>
                        <a:rPr lang="en-US" sz="2400" b="1" i="1">
                          <a:solidFill>
                            <a:srgbClr val="002060"/>
                          </a:solidFill>
                          <a:latin typeface="Cambria Math" panose="02040503050406030204" pitchFamily="18" charset="0"/>
                          <a:ea typeface="Cambria Math" panose="02040503050406030204" pitchFamily="18" charset="0"/>
                        </a:rPr>
                        <m:t>𝑾</m:t>
                      </m:r>
                      <m:r>
                        <a:rPr lang="en-US" sz="2400" b="1" i="1">
                          <a:solidFill>
                            <a:srgbClr val="002060"/>
                          </a:solidFill>
                          <a:latin typeface="Cambria Math" panose="02040503050406030204" pitchFamily="18" charset="0"/>
                          <a:ea typeface="Cambria Math" panose="02040503050406030204" pitchFamily="18" charset="0"/>
                        </a:rPr>
                        <m:t>=</m:t>
                      </m:r>
                      <m:r>
                        <a:rPr lang="en-US" sz="2400" b="1" i="1">
                          <a:solidFill>
                            <a:srgbClr val="002060"/>
                          </a:solidFill>
                          <a:latin typeface="Cambria Math" panose="02040503050406030204" pitchFamily="18" charset="0"/>
                          <a:ea typeface="Cambria Math" panose="02040503050406030204" pitchFamily="18" charset="0"/>
                        </a:rPr>
                        <m:t>𝑷𝒅𝑽</m:t>
                      </m:r>
                    </m:oMath>
                  </m:oMathPara>
                </a14:m>
                <a:endParaRPr lang="en-US" sz="2400" b="1" dirty="0">
                  <a:solidFill>
                    <a:srgbClr val="002060"/>
                  </a:solidFill>
                </a:endParaRPr>
              </a:p>
              <a:p>
                <a:pPr>
                  <a:buFont typeface="Wingdings" panose="05000000000000000000" pitchFamily="2" charset="2"/>
                  <a:buChar char="v"/>
                </a:pPr>
                <a:r>
                  <a:rPr lang="en-US" sz="2000" dirty="0"/>
                  <a:t>If the pressure of the fluid is to remain constant during a process from an initial state (</a:t>
                </a:r>
                <a:r>
                  <a:rPr lang="en-US" sz="2000" dirty="0" err="1"/>
                  <a:t>i</a:t>
                </a:r>
                <a:r>
                  <a:rPr lang="en-US" sz="2000" dirty="0"/>
                  <a:t>) to a final state (f), the work transfer becomes;</a:t>
                </a:r>
                <a:endParaRPr 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ea typeface="Cambria Math" panose="02040503050406030204" pitchFamily="18" charset="0"/>
                        </a:rPr>
                        <m:t>𝜹</m:t>
                      </m:r>
                      <m:r>
                        <a:rPr lang="en-US" sz="2000" b="1" i="1" smtClean="0">
                          <a:solidFill>
                            <a:srgbClr val="C00000"/>
                          </a:solidFill>
                          <a:latin typeface="Cambria Math" panose="02040503050406030204" pitchFamily="18" charset="0"/>
                          <a:ea typeface="Cambria Math" panose="02040503050406030204" pitchFamily="18" charset="0"/>
                        </a:rPr>
                        <m:t>𝑾</m:t>
                      </m:r>
                      <m:r>
                        <a:rPr lang="en-US" sz="2000" b="1" i="1" smtClean="0">
                          <a:solidFill>
                            <a:srgbClr val="C00000"/>
                          </a:solidFill>
                          <a:latin typeface="Cambria Math" panose="02040503050406030204" pitchFamily="18" charset="0"/>
                          <a:ea typeface="Cambria Math" panose="02040503050406030204" pitchFamily="18" charset="0"/>
                        </a:rPr>
                        <m:t>=</m:t>
                      </m:r>
                      <m:r>
                        <a:rPr lang="en-US" sz="2000" b="1" i="1" smtClean="0">
                          <a:solidFill>
                            <a:srgbClr val="C00000"/>
                          </a:solidFill>
                          <a:latin typeface="Cambria Math" panose="02040503050406030204" pitchFamily="18" charset="0"/>
                          <a:ea typeface="Cambria Math" panose="02040503050406030204" pitchFamily="18" charset="0"/>
                        </a:rPr>
                        <m:t>𝑷</m:t>
                      </m:r>
                      <m:r>
                        <a:rPr lang="en-US" sz="2000" b="1" i="1" smtClean="0">
                          <a:solidFill>
                            <a:srgbClr val="C00000"/>
                          </a:solidFill>
                          <a:latin typeface="Cambria Math" panose="02040503050406030204" pitchFamily="18" charset="0"/>
                          <a:ea typeface="Cambria Math" panose="02040503050406030204" pitchFamily="18" charset="0"/>
                        </a:rPr>
                        <m:t> (</m:t>
                      </m:r>
                      <m:sSub>
                        <m:sSubPr>
                          <m:ctrlPr>
                            <a:rPr lang="en-US" sz="2000" b="1" i="1" smtClean="0">
                              <a:solidFill>
                                <a:srgbClr val="C00000"/>
                              </a:solidFill>
                              <a:latin typeface="Cambria Math" panose="02040503050406030204" pitchFamily="18" charset="0"/>
                              <a:ea typeface="Cambria Math" panose="02040503050406030204" pitchFamily="18" charset="0"/>
                            </a:rPr>
                          </m:ctrlPr>
                        </m:sSubPr>
                        <m:e>
                          <m:r>
                            <a:rPr lang="en-US" sz="2000" b="1" i="1" smtClean="0">
                              <a:solidFill>
                                <a:srgbClr val="C00000"/>
                              </a:solidFill>
                              <a:latin typeface="Cambria Math" panose="02040503050406030204" pitchFamily="18" charset="0"/>
                              <a:ea typeface="Cambria Math" panose="02040503050406030204" pitchFamily="18" charset="0"/>
                            </a:rPr>
                            <m:t>𝑽</m:t>
                          </m:r>
                        </m:e>
                        <m:sub>
                          <m:r>
                            <a:rPr lang="en-US" sz="2000" b="1" i="1" smtClean="0">
                              <a:solidFill>
                                <a:srgbClr val="C00000"/>
                              </a:solidFill>
                              <a:latin typeface="Cambria Math" panose="02040503050406030204" pitchFamily="18" charset="0"/>
                              <a:ea typeface="Cambria Math" panose="02040503050406030204" pitchFamily="18" charset="0"/>
                            </a:rPr>
                            <m:t>𝒇</m:t>
                          </m:r>
                        </m:sub>
                      </m:sSub>
                      <m:r>
                        <a:rPr lang="en-US" sz="2000" b="1" i="1" smtClean="0">
                          <a:solidFill>
                            <a:srgbClr val="C00000"/>
                          </a:solidFill>
                          <a:latin typeface="Cambria Math" panose="02040503050406030204" pitchFamily="18" charset="0"/>
                          <a:ea typeface="Cambria Math" panose="02040503050406030204" pitchFamily="18" charset="0"/>
                        </a:rPr>
                        <m:t>−</m:t>
                      </m:r>
                      <m:sSub>
                        <m:sSubPr>
                          <m:ctrlPr>
                            <a:rPr lang="en-US" sz="2000" b="1" i="1" smtClean="0">
                              <a:solidFill>
                                <a:srgbClr val="C00000"/>
                              </a:solidFill>
                              <a:latin typeface="Cambria Math" panose="02040503050406030204" pitchFamily="18" charset="0"/>
                              <a:ea typeface="Cambria Math" panose="02040503050406030204" pitchFamily="18" charset="0"/>
                            </a:rPr>
                          </m:ctrlPr>
                        </m:sSubPr>
                        <m:e>
                          <m:r>
                            <a:rPr lang="en-US" sz="2000" b="1" i="1" smtClean="0">
                              <a:solidFill>
                                <a:srgbClr val="C00000"/>
                              </a:solidFill>
                              <a:latin typeface="Cambria Math" panose="02040503050406030204" pitchFamily="18" charset="0"/>
                              <a:ea typeface="Cambria Math" panose="02040503050406030204" pitchFamily="18" charset="0"/>
                            </a:rPr>
                            <m:t>𝑽</m:t>
                          </m:r>
                        </m:e>
                        <m:sub>
                          <m:r>
                            <a:rPr lang="en-US" sz="2000" b="1" i="1" smtClean="0">
                              <a:solidFill>
                                <a:srgbClr val="C00000"/>
                              </a:solidFill>
                              <a:latin typeface="Cambria Math" panose="02040503050406030204" pitchFamily="18" charset="0"/>
                              <a:ea typeface="Cambria Math" panose="02040503050406030204" pitchFamily="18" charset="0"/>
                            </a:rPr>
                            <m:t>𝒊</m:t>
                          </m:r>
                        </m:sub>
                      </m:sSub>
                      <m:r>
                        <a:rPr lang="en-US" sz="2000" b="1" i="1" smtClean="0">
                          <a:solidFill>
                            <a:srgbClr val="C00000"/>
                          </a:solidFill>
                          <a:latin typeface="Cambria Math" panose="02040503050406030204" pitchFamily="18" charset="0"/>
                          <a:ea typeface="Cambria Math" panose="02040503050406030204" pitchFamily="18" charset="0"/>
                        </a:rPr>
                        <m:t>)</m:t>
                      </m:r>
                    </m:oMath>
                  </m:oMathPara>
                </a14:m>
                <a:endParaRPr lang="en-US" sz="2000" b="1" dirty="0">
                  <a:solidFill>
                    <a:srgbClr val="C00000"/>
                  </a:solidFill>
                </a:endParaRPr>
              </a:p>
              <a:p>
                <a:pPr>
                  <a:buFont typeface="Wingdings" panose="05000000000000000000" pitchFamily="2" charset="2"/>
                  <a:buChar char="v"/>
                </a:pPr>
                <a:r>
                  <a:rPr lang="en-US" sz="2000" dirty="0">
                    <a:solidFill>
                      <a:srgbClr val="002060"/>
                    </a:solidFill>
                  </a:rPr>
                  <a:t>Therefore, for a constant pressure process of a fluid, the NFEE becomes</a:t>
                </a:r>
              </a:p>
              <a:p>
                <a:pPr marL="0" indent="0">
                  <a:buNone/>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m:rPr>
                              <m:sty m:val="p"/>
                            </m:rPr>
                            <a:rPr lang="en-US" sz="2400" b="0" i="0" smtClean="0">
                              <a:latin typeface="Cambria Math" panose="02040503050406030204" pitchFamily="18" charset="0"/>
                            </a:rPr>
                            <m:t>Q</m:t>
                          </m:r>
                        </m:e>
                        <m:sub>
                          <m:r>
                            <m:rPr>
                              <m:sty m:val="p"/>
                            </m:rPr>
                            <a:rPr lang="en-US" sz="2400" b="0" i="0" smtClean="0">
                              <a:latin typeface="Cambria Math" panose="02040503050406030204" pitchFamily="18" charset="0"/>
                            </a:rPr>
                            <m:t>if</m:t>
                          </m:r>
                        </m:sub>
                      </m:sSub>
                      <m:r>
                        <a:rPr lang="en-US" sz="2400" b="0" i="0" smtClean="0">
                          <a:latin typeface="Cambria Math" panose="02040503050406030204" pitchFamily="18" charset="0"/>
                        </a:rPr>
                        <m:t>−</m:t>
                      </m:r>
                      <m:r>
                        <m:rPr>
                          <m:sty m:val="p"/>
                        </m:rPr>
                        <a:rPr lang="en-US" sz="2400" b="0" i="0" smtClean="0">
                          <a:latin typeface="Cambria Math" panose="02040503050406030204" pitchFamily="18" charset="0"/>
                        </a:rPr>
                        <m:t>P</m:t>
                      </m:r>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V</m:t>
                          </m:r>
                        </m:e>
                        <m:sub>
                          <m:r>
                            <m:rPr>
                              <m:sty m:val="p"/>
                            </m:rPr>
                            <a:rPr lang="en-US" sz="2400" b="0" i="0" smtClean="0">
                              <a:latin typeface="Cambria Math" panose="02040503050406030204" pitchFamily="18" charset="0"/>
                            </a:rPr>
                            <m:t>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V</m:t>
                          </m:r>
                        </m:e>
                        <m:sub>
                          <m:r>
                            <m:rPr>
                              <m:sty m:val="p"/>
                            </m:rPr>
                            <a:rPr lang="en-US" sz="2400" b="0" i="0" smtClean="0">
                              <a:latin typeface="Cambria Math" panose="02040503050406030204" pitchFamily="18" charset="0"/>
                            </a:rPr>
                            <m:t>i</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U</m:t>
                          </m:r>
                        </m:e>
                        <m:sub>
                          <m:r>
                            <m:rPr>
                              <m:sty m:val="p"/>
                            </m:rPr>
                            <a:rPr lang="en-US" sz="2400" b="0" i="0" smtClean="0">
                              <a:latin typeface="Cambria Math" panose="02040503050406030204" pitchFamily="18" charset="0"/>
                            </a:rPr>
                            <m:t>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U</m:t>
                          </m:r>
                        </m:e>
                        <m:sub>
                          <m:r>
                            <m:rPr>
                              <m:sty m:val="p"/>
                            </m:rPr>
                            <a:rPr lang="en-US" sz="2400" b="0" i="0" smtClean="0">
                              <a:latin typeface="Cambria Math" panose="02040503050406030204" pitchFamily="18" charset="0"/>
                            </a:rPr>
                            <m:t>i</m:t>
                          </m:r>
                        </m:sub>
                      </m:sSub>
                    </m:oMath>
                  </m:oMathPara>
                </a14:m>
                <a:endParaRPr lang="en-US" sz="2400" dirty="0"/>
              </a:p>
              <a:p>
                <a:pPr marL="0" indent="0">
                  <a:lnSpc>
                    <a:spcPct val="50000"/>
                  </a:lnSpc>
                  <a:buNone/>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m:rPr>
                              <m:sty m:val="p"/>
                            </m:rPr>
                            <a:rPr lang="en-US" sz="2400" i="0">
                              <a:latin typeface="Cambria Math" panose="02040503050406030204" pitchFamily="18" charset="0"/>
                            </a:rPr>
                            <m:t>Q</m:t>
                          </m:r>
                        </m:e>
                        <m:sub>
                          <m:r>
                            <m:rPr>
                              <m:sty m:val="p"/>
                            </m:rPr>
                            <a:rPr lang="en-US" sz="2400" i="0">
                              <a:latin typeface="Cambria Math" panose="02040503050406030204" pitchFamily="18" charset="0"/>
                            </a:rPr>
                            <m:t>if</m:t>
                          </m:r>
                        </m:sub>
                      </m:sSub>
                      <m:r>
                        <a:rPr lang="en-US" sz="2400" i="0">
                          <a:latin typeface="Cambria Math" panose="02040503050406030204" pitchFamily="18" charset="0"/>
                        </a:rPr>
                        <m:t>=</m:t>
                      </m:r>
                      <m:d>
                        <m:dPr>
                          <m:ctrlPr>
                            <a:rPr lang="en-US" sz="2400" b="0" i="1" smtClean="0">
                              <a:latin typeface="Cambria Math" panose="02040503050406030204" pitchFamily="18" charset="0"/>
                            </a:rPr>
                          </m:ctrlPr>
                        </m:dPr>
                        <m:e>
                          <m:sSub>
                            <m:sSubPr>
                              <m:ctrlPr>
                                <a:rPr lang="en-US" sz="2400" i="1" smtClean="0">
                                  <a:latin typeface="Cambria Math" panose="02040503050406030204" pitchFamily="18" charset="0"/>
                                </a:rPr>
                              </m:ctrlPr>
                            </m:sSubPr>
                            <m:e>
                              <m:r>
                                <m:rPr>
                                  <m:sty m:val="p"/>
                                </m:rPr>
                                <a:rPr lang="en-US" sz="2400" i="0">
                                  <a:latin typeface="Cambria Math" panose="02040503050406030204" pitchFamily="18" charset="0"/>
                                </a:rPr>
                                <m:t>U</m:t>
                              </m:r>
                            </m:e>
                            <m:sub>
                              <m:r>
                                <m:rPr>
                                  <m:sty m:val="p"/>
                                </m:rPr>
                                <a:rPr lang="en-US" sz="2400" i="0">
                                  <a:latin typeface="Cambria Math" panose="02040503050406030204" pitchFamily="18" charset="0"/>
                                </a:rPr>
                                <m:t>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P</m:t>
                              </m:r>
                            </m:e>
                            <m:sub>
                              <m:r>
                                <m:rPr>
                                  <m:sty m:val="p"/>
                                </m:rPr>
                                <a:rPr lang="en-US" sz="2400" b="0" i="0" smtClean="0">
                                  <a:latin typeface="Cambria Math" panose="02040503050406030204" pitchFamily="18" charset="0"/>
                                </a:rPr>
                                <m:t>f</m:t>
                              </m:r>
                            </m:sub>
                          </m:sSub>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V</m:t>
                              </m:r>
                            </m:e>
                            <m:sub>
                              <m:r>
                                <m:rPr>
                                  <m:sty m:val="p"/>
                                </m:rPr>
                                <a:rPr lang="en-US" sz="2400" b="0" i="0" smtClean="0">
                                  <a:latin typeface="Cambria Math" panose="02040503050406030204" pitchFamily="18" charset="0"/>
                                </a:rPr>
                                <m:t>f</m:t>
                              </m:r>
                            </m:sub>
                          </m:sSub>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b="0" i="0" smtClean="0">
                              <a:latin typeface="Cambria Math" panose="02040503050406030204" pitchFamily="18" charset="0"/>
                            </a:rPr>
                            <m:t>(</m:t>
                          </m:r>
                          <m:r>
                            <m:rPr>
                              <m:sty m:val="p"/>
                            </m:rPr>
                            <a:rPr lang="en-US" sz="2400" i="0">
                              <a:latin typeface="Cambria Math" panose="02040503050406030204" pitchFamily="18" charset="0"/>
                            </a:rPr>
                            <m:t>U</m:t>
                          </m:r>
                        </m:e>
                        <m:sub>
                          <m:r>
                            <m:rPr>
                              <m:sty m:val="p"/>
                            </m:rPr>
                            <a:rPr lang="en-US" sz="2400" i="0">
                              <a:latin typeface="Cambria Math" panose="02040503050406030204" pitchFamily="18" charset="0"/>
                            </a:rPr>
                            <m:t>i</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P</m:t>
                          </m:r>
                        </m:e>
                        <m:sub>
                          <m:r>
                            <m:rPr>
                              <m:sty m:val="p"/>
                            </m:rPr>
                            <a:rPr lang="en-US" sz="2400" b="0" i="0" smtClean="0">
                              <a:latin typeface="Cambria Math" panose="02040503050406030204" pitchFamily="18" charset="0"/>
                            </a:rPr>
                            <m:t>i</m:t>
                          </m:r>
                        </m:sub>
                      </m:sSub>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V</m:t>
                          </m:r>
                        </m:e>
                        <m:sub>
                          <m:r>
                            <m:rPr>
                              <m:sty m:val="p"/>
                            </m:rPr>
                            <a:rPr lang="en-US" sz="2400" b="0" i="0" smtClean="0">
                              <a:latin typeface="Cambria Math" panose="02040503050406030204" pitchFamily="18" charset="0"/>
                            </a:rPr>
                            <m:t>i</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H</m:t>
                          </m:r>
                        </m:e>
                        <m:sub>
                          <m:r>
                            <m:rPr>
                              <m:sty m:val="p"/>
                            </m:rPr>
                            <a:rPr lang="en-US" sz="2400" b="0" i="0" smtClean="0">
                              <a:latin typeface="Cambria Math" panose="02040503050406030204" pitchFamily="18" charset="0"/>
                            </a:rPr>
                            <m:t>f</m:t>
                          </m:r>
                        </m:sub>
                      </m:sSub>
                      <m:r>
                        <a:rPr lang="en-US" sz="2400" b="0" i="0"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H</m:t>
                          </m:r>
                        </m:e>
                        <m:sub>
                          <m:r>
                            <m:rPr>
                              <m:sty m:val="p"/>
                            </m:rPr>
                            <a:rPr lang="en-US" sz="2400" b="0" i="0" smtClean="0">
                              <a:latin typeface="Cambria Math" panose="02040503050406030204" pitchFamily="18" charset="0"/>
                            </a:rPr>
                            <m:t>i</m:t>
                          </m:r>
                        </m:sub>
                      </m:sSub>
                    </m:oMath>
                  </m:oMathPara>
                </a14:m>
                <a:endParaRPr lang="en-US" sz="2400" dirty="0"/>
              </a:p>
              <a:p>
                <a:pPr>
                  <a:lnSpc>
                    <a:spcPct val="50000"/>
                  </a:lnSpc>
                  <a:buFont typeface="Wingdings" panose="05000000000000000000" pitchFamily="2" charset="2"/>
                  <a:buChar char="v"/>
                </a:pPr>
                <a:endParaRPr lang="en-US" sz="2000" b="1" dirty="0">
                  <a:solidFill>
                    <a:srgbClr val="002060"/>
                  </a:solidFill>
                </a:endParaRPr>
              </a:p>
              <a:p>
                <a:pPr>
                  <a:buFont typeface="Wingdings" panose="05000000000000000000" pitchFamily="2" charset="2"/>
                  <a:buChar char="v"/>
                </a:pPr>
                <a:r>
                  <a:rPr lang="en-US" sz="2000" dirty="0">
                    <a:solidFill>
                      <a:srgbClr val="002060"/>
                    </a:solidFill>
                  </a:rPr>
                  <a:t>The above equation shows that during a constant pressure process of a fluid, the net amount of heat energy transfer is equal to the change in the enthalpy of the fluid.</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150224" y="1021976"/>
                <a:ext cx="6764272" cy="5256629"/>
              </a:xfrm>
              <a:blipFill rotWithShape="0">
                <a:blip r:embed="rId3"/>
                <a:stretch>
                  <a:fillRect l="-1262" t="-928" r="-1082" b="-3828"/>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8</a:t>
            </a:fld>
            <a:endParaRPr lang="en-US" dirty="0"/>
          </a:p>
        </p:txBody>
      </p:sp>
      <p:sp>
        <p:nvSpPr>
          <p:cNvPr id="10" name="Content Placeholder 2"/>
          <p:cNvSpPr txBox="1">
            <a:spLocks/>
          </p:cNvSpPr>
          <p:nvPr/>
        </p:nvSpPr>
        <p:spPr>
          <a:xfrm>
            <a:off x="452509" y="1021976"/>
            <a:ext cx="4697715" cy="498885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In thermodynamics, it is common to group properties when they appear consistently. A name is then given to the group. </a:t>
            </a:r>
          </a:p>
          <a:p>
            <a:pPr>
              <a:buFont typeface="Wingdings" panose="05000000000000000000" pitchFamily="2" charset="2"/>
              <a:buChar char="v"/>
            </a:pPr>
            <a:r>
              <a:rPr lang="en-US" sz="2400" b="1" dirty="0">
                <a:solidFill>
                  <a:srgbClr val="002060"/>
                </a:solidFill>
              </a:rPr>
              <a:t>One of such group is a property called enthalpy (H)</a:t>
            </a:r>
            <a:r>
              <a:rPr lang="en-US" sz="2400" dirty="0"/>
              <a:t>.</a:t>
            </a:r>
          </a:p>
          <a:p>
            <a:pPr marL="0" indent="0">
              <a:buNone/>
            </a:pPr>
            <a:endParaRPr lang="en-US" sz="2200" dirty="0"/>
          </a:p>
          <a:p>
            <a:pPr>
              <a:buFont typeface="Wingdings" panose="05000000000000000000" pitchFamily="2" charset="2"/>
              <a:buChar char="v"/>
            </a:pPr>
            <a:endParaRPr lang="en-US" sz="2200" dirty="0"/>
          </a:p>
          <a:p>
            <a:pPr>
              <a:buFont typeface="Wingdings" panose="05000000000000000000" pitchFamily="2" charset="2"/>
              <a:buChar char="v"/>
            </a:pPr>
            <a:r>
              <a:rPr lang="en-US" sz="2400" dirty="0">
                <a:solidFill>
                  <a:srgbClr val="C00000"/>
                </a:solidFill>
              </a:rPr>
              <a:t>For specific enthalpy (enthalpy per unit mass), </a:t>
            </a:r>
          </a:p>
          <a:p>
            <a:pPr>
              <a:buFont typeface="Wingdings" panose="05000000000000000000" pitchFamily="2" charset="2"/>
              <a:buChar char="v"/>
            </a:pPr>
            <a:endParaRPr lang="en-US" sz="2200" dirty="0"/>
          </a:p>
          <a:p>
            <a:pPr>
              <a:buFont typeface="Wingdings" panose="05000000000000000000" pitchFamily="2" charset="2"/>
              <a:buChar char="v"/>
            </a:pPr>
            <a:endParaRPr lang="en-US" sz="2000" dirty="0">
              <a:solidFill>
                <a:srgbClr val="C00000"/>
              </a:solidFill>
            </a:endParaRPr>
          </a:p>
        </p:txBody>
      </p:sp>
      <p:graphicFrame>
        <p:nvGraphicFramePr>
          <p:cNvPr id="6" name="Object 1" descr="Canvas"/>
          <p:cNvGraphicFramePr>
            <a:graphicFrameLocks noChangeAspect="1"/>
          </p:cNvGraphicFramePr>
          <p:nvPr>
            <p:extLst>
              <p:ext uri="{D42A27DB-BD31-4B8C-83A1-F6EECF244321}">
                <p14:modId xmlns:p14="http://schemas.microsoft.com/office/powerpoint/2010/main" val="3500607424"/>
              </p:ext>
            </p:extLst>
          </p:nvPr>
        </p:nvGraphicFramePr>
        <p:xfrm>
          <a:off x="942492" y="3516404"/>
          <a:ext cx="3023452" cy="652225"/>
        </p:xfrm>
        <a:graphic>
          <a:graphicData uri="http://schemas.openxmlformats.org/presentationml/2006/ole">
            <mc:AlternateContent xmlns:mc="http://schemas.openxmlformats.org/markup-compatibility/2006">
              <mc:Choice xmlns:v="urn:schemas-microsoft-com:vml" Requires="v">
                <p:oleObj spid="_x0000_s3330" name="Equation" r:id="rId4" imgW="876240" imgH="203040" progId="">
                  <p:embed/>
                </p:oleObj>
              </mc:Choice>
              <mc:Fallback>
                <p:oleObj name="Equation" r:id="rId4" imgW="876240" imgH="2030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2492" y="3516404"/>
                        <a:ext cx="3023452" cy="652225"/>
                      </a:xfrm>
                      <a:prstGeom prst="rect">
                        <a:avLst/>
                      </a:prstGeom>
                      <a:blipFill dpi="0" rotWithShape="0">
                        <a:blip r:embed="rId6"/>
                        <a:srcRect/>
                        <a:tile tx="0" ty="0" sx="100000" sy="100000" flip="none" algn="tl"/>
                      </a:blipFill>
                      <a:ln>
                        <a:noFill/>
                      </a:ln>
                      <a:effectLst/>
                    </p:spPr>
                  </p:pic>
                </p:oleObj>
              </mc:Fallback>
            </mc:AlternateContent>
          </a:graphicData>
        </a:graphic>
      </p:graphicFrame>
      <p:graphicFrame>
        <p:nvGraphicFramePr>
          <p:cNvPr id="7" name="Object 2" descr="Canvas"/>
          <p:cNvGraphicFramePr>
            <a:graphicFrameLocks noChangeAspect="1"/>
          </p:cNvGraphicFramePr>
          <p:nvPr>
            <p:extLst>
              <p:ext uri="{D42A27DB-BD31-4B8C-83A1-F6EECF244321}">
                <p14:modId xmlns:p14="http://schemas.microsoft.com/office/powerpoint/2010/main" val="4011144398"/>
              </p:ext>
            </p:extLst>
          </p:nvPr>
        </p:nvGraphicFramePr>
        <p:xfrm>
          <a:off x="869368" y="5104090"/>
          <a:ext cx="1981200" cy="520315"/>
        </p:xfrm>
        <a:graphic>
          <a:graphicData uri="http://schemas.openxmlformats.org/presentationml/2006/ole">
            <mc:AlternateContent xmlns:mc="http://schemas.openxmlformats.org/markup-compatibility/2006">
              <mc:Choice xmlns:v="urn:schemas-microsoft-com:vml" Requires="v">
                <p:oleObj spid="_x0000_s3331" name="Equation" r:id="rId7" imgW="774360" imgH="203040" progId="">
                  <p:embed/>
                </p:oleObj>
              </mc:Choice>
              <mc:Fallback>
                <p:oleObj name="Equation" r:id="rId7" imgW="774360" imgH="20304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9368" y="5104090"/>
                        <a:ext cx="1981200" cy="520315"/>
                      </a:xfrm>
                      <a:prstGeom prst="rect">
                        <a:avLst/>
                      </a:prstGeom>
                      <a:blipFill dpi="0" rotWithShape="0">
                        <a:blip r:embed="rId6"/>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755380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150224" y="1021976"/>
                <a:ext cx="6764272" cy="5256629"/>
              </a:xfrm>
            </p:spPr>
            <p:txBody>
              <a:bodyPr>
                <a:noAutofit/>
              </a:bodyPr>
              <a:lstStyle/>
              <a:p>
                <a:pPr marL="0" indent="0">
                  <a:buNone/>
                </a:pPr>
                <a:r>
                  <a:rPr lang="en-US" sz="2400" b="1" dirty="0">
                    <a:solidFill>
                      <a:srgbClr val="C00000"/>
                    </a:solidFill>
                  </a:rPr>
                  <a:t>Polytropic process</a:t>
                </a:r>
              </a:p>
              <a:p>
                <a:pPr>
                  <a:buFont typeface="Wingdings" panose="05000000000000000000" pitchFamily="2" charset="2"/>
                  <a:buChar char="v"/>
                </a:pPr>
                <a:r>
                  <a:rPr lang="en-US" sz="2000" dirty="0"/>
                  <a:t>This is the most general type of process, in which both heat energy and work energy cross the boundary of the system.</a:t>
                </a:r>
              </a:p>
              <a:p>
                <a:pPr>
                  <a:buFont typeface="Wingdings" panose="05000000000000000000" pitchFamily="2" charset="2"/>
                  <a:buChar char="v"/>
                </a:pPr>
                <a:r>
                  <a:rPr lang="en-US" sz="2000" b="0" dirty="0"/>
                  <a:t>It is represented by an equation of the form</a:t>
                </a:r>
              </a:p>
              <a:p>
                <a:pPr marL="0" indent="0">
                  <a:buNone/>
                </a:pPr>
                <a14:m>
                  <m:oMathPara xmlns:m="http://schemas.openxmlformats.org/officeDocument/2006/math">
                    <m:oMathParaPr>
                      <m:jc m:val="centerGroup"/>
                    </m:oMathParaPr>
                    <m:oMath xmlns:m="http://schemas.openxmlformats.org/officeDocument/2006/math">
                      <m:sSup>
                        <m:sSupPr>
                          <m:ctrlPr>
                            <a:rPr lang="en-US" sz="2400" b="1" i="1" smtClean="0">
                              <a:solidFill>
                                <a:srgbClr val="002060"/>
                              </a:solidFill>
                              <a:latin typeface="Cambria Math" panose="02040503050406030204" pitchFamily="18" charset="0"/>
                            </a:rPr>
                          </m:ctrlPr>
                        </m:sSupPr>
                        <m:e>
                          <m:r>
                            <a:rPr lang="en-US" sz="2400" b="1" i="0" smtClean="0">
                              <a:solidFill>
                                <a:srgbClr val="002060"/>
                              </a:solidFill>
                              <a:latin typeface="Cambria Math" panose="02040503050406030204" pitchFamily="18" charset="0"/>
                            </a:rPr>
                            <m:t>𝐏𝐕</m:t>
                          </m:r>
                        </m:e>
                        <m:sup>
                          <m:r>
                            <a:rPr lang="en-US" sz="2400" b="1" i="0" smtClean="0">
                              <a:solidFill>
                                <a:srgbClr val="002060"/>
                              </a:solidFill>
                              <a:latin typeface="Cambria Math" panose="02040503050406030204" pitchFamily="18" charset="0"/>
                            </a:rPr>
                            <m:t>𝐧</m:t>
                          </m:r>
                        </m:sup>
                      </m:sSup>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𝐜𝐨𝐧𝐬𝐭𝐚𝐧𝐭</m:t>
                      </m:r>
                    </m:oMath>
                  </m:oMathPara>
                </a14:m>
                <a:endParaRPr lang="en-US" sz="2400" b="1" dirty="0">
                  <a:solidFill>
                    <a:srgbClr val="002060"/>
                  </a:solidFill>
                </a:endParaRPr>
              </a:p>
              <a:p>
                <a:pPr>
                  <a:buFont typeface="Wingdings" panose="05000000000000000000" pitchFamily="2" charset="2"/>
                  <a:buChar char="v"/>
                </a:pPr>
                <a:r>
                  <a:rPr lang="en-US" sz="2000" b="0" dirty="0"/>
                  <a:t>Where n, is a constant known as the index of expansion (or compression).</a:t>
                </a:r>
              </a:p>
              <a:p>
                <a:pPr>
                  <a:buFont typeface="Wingdings" panose="05000000000000000000" pitchFamily="2" charset="2"/>
                  <a:buChar char="v"/>
                </a:pPr>
                <a:r>
                  <a:rPr lang="en-US" sz="2000" dirty="0"/>
                  <a:t>If a fluid changes from an initial state (</a:t>
                </a:r>
                <a:r>
                  <a:rPr lang="en-US" sz="2000" dirty="0" err="1"/>
                  <a:t>i</a:t>
                </a:r>
                <a:r>
                  <a:rPr lang="en-US" sz="2000" dirty="0"/>
                  <a:t>) to a final state (f) during a polytropic process, the amount of work energy crossing the boundary is given by</a:t>
                </a:r>
              </a:p>
              <a:p>
                <a:pPr>
                  <a:lnSpc>
                    <a:spcPct val="50000"/>
                  </a:lnSpc>
                  <a:buFont typeface="Wingdings" panose="05000000000000000000" pitchFamily="2" charset="2"/>
                  <a:buChar char="v"/>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𝐖</m:t>
                          </m:r>
                        </m:e>
                        <m:sub>
                          <m:r>
                            <a:rPr lang="en-US" sz="2400" b="1" i="0" smtClean="0">
                              <a:solidFill>
                                <a:srgbClr val="002060"/>
                              </a:solidFill>
                              <a:latin typeface="Cambria Math" panose="02040503050406030204" pitchFamily="18" charset="0"/>
                            </a:rPr>
                            <m:t>𝐢𝐟</m:t>
                          </m:r>
                        </m:sub>
                      </m:sSub>
                      <m:r>
                        <a:rPr lang="en-US" sz="2400" b="1" i="0" smtClean="0">
                          <a:solidFill>
                            <a:srgbClr val="002060"/>
                          </a:solidFill>
                          <a:latin typeface="Cambria Math" panose="02040503050406030204" pitchFamily="18" charset="0"/>
                        </a:rPr>
                        <m:t>=</m:t>
                      </m:r>
                      <m:f>
                        <m:fPr>
                          <m:ctrlPr>
                            <a:rPr lang="en-US" sz="2400" b="1" i="1" smtClean="0">
                              <a:solidFill>
                                <a:srgbClr val="002060"/>
                              </a:solidFill>
                              <a:latin typeface="Cambria Math" panose="02040503050406030204" pitchFamily="18" charset="0"/>
                            </a:rPr>
                          </m:ctrlPr>
                        </m:fPr>
                        <m:num>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𝐏</m:t>
                              </m:r>
                            </m:e>
                            <m:sub>
                              <m:r>
                                <a:rPr lang="en-US" sz="2400" b="1" i="0" smtClean="0">
                                  <a:solidFill>
                                    <a:srgbClr val="002060"/>
                                  </a:solidFill>
                                  <a:latin typeface="Cambria Math" panose="02040503050406030204" pitchFamily="18" charset="0"/>
                                </a:rPr>
                                <m:t>𝐟</m:t>
                              </m:r>
                            </m:sub>
                          </m:sSub>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𝐕</m:t>
                              </m:r>
                            </m:e>
                            <m:sub>
                              <m:r>
                                <a:rPr lang="en-US" sz="2400" b="1" i="0" smtClean="0">
                                  <a:solidFill>
                                    <a:srgbClr val="002060"/>
                                  </a:solidFill>
                                  <a:latin typeface="Cambria Math" panose="02040503050406030204" pitchFamily="18" charset="0"/>
                                </a:rPr>
                                <m:t>𝐟</m:t>
                              </m:r>
                            </m:sub>
                          </m:sSub>
                          <m:r>
                            <a:rPr lang="en-US" sz="2400" b="1" i="0" smtClean="0">
                              <a:solidFill>
                                <a:srgbClr val="002060"/>
                              </a:solidFill>
                              <a:latin typeface="Cambria Math" panose="02040503050406030204" pitchFamily="18" charset="0"/>
                            </a:rPr>
                            <m:t>−</m:t>
                          </m:r>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𝐏</m:t>
                              </m:r>
                            </m:e>
                            <m:sub>
                              <m:r>
                                <a:rPr lang="en-US" sz="2400" b="1" i="0" smtClean="0">
                                  <a:solidFill>
                                    <a:srgbClr val="002060"/>
                                  </a:solidFill>
                                  <a:latin typeface="Cambria Math" panose="02040503050406030204" pitchFamily="18" charset="0"/>
                                </a:rPr>
                                <m:t>𝐢</m:t>
                              </m:r>
                            </m:sub>
                          </m:sSub>
                          <m:sSub>
                            <m:sSubPr>
                              <m:ctrlPr>
                                <a:rPr lang="en-US" sz="2400" b="1" i="1" smtClean="0">
                                  <a:solidFill>
                                    <a:srgbClr val="002060"/>
                                  </a:solidFill>
                                  <a:latin typeface="Cambria Math" panose="02040503050406030204" pitchFamily="18" charset="0"/>
                                </a:rPr>
                              </m:ctrlPr>
                            </m:sSubPr>
                            <m:e>
                              <m:r>
                                <a:rPr lang="en-US" sz="2400" b="1" i="0" smtClean="0">
                                  <a:solidFill>
                                    <a:srgbClr val="002060"/>
                                  </a:solidFill>
                                  <a:latin typeface="Cambria Math" panose="02040503050406030204" pitchFamily="18" charset="0"/>
                                </a:rPr>
                                <m:t>𝐕</m:t>
                              </m:r>
                            </m:e>
                            <m:sub>
                              <m:r>
                                <a:rPr lang="en-US" sz="2400" b="1" i="0" smtClean="0">
                                  <a:solidFill>
                                    <a:srgbClr val="002060"/>
                                  </a:solidFill>
                                  <a:latin typeface="Cambria Math" panose="02040503050406030204" pitchFamily="18" charset="0"/>
                                </a:rPr>
                                <m:t>𝐢</m:t>
                              </m:r>
                            </m:sub>
                          </m:sSub>
                        </m:num>
                        <m:den>
                          <m:r>
                            <a:rPr lang="en-US" sz="2400" b="1" i="0" smtClean="0">
                              <a:solidFill>
                                <a:srgbClr val="002060"/>
                              </a:solidFill>
                              <a:latin typeface="Cambria Math" panose="02040503050406030204" pitchFamily="18" charset="0"/>
                            </a:rPr>
                            <m:t>𝟏</m:t>
                          </m:r>
                          <m:r>
                            <a:rPr lang="en-US" sz="2400" b="1" i="0" smtClean="0">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𝐧</m:t>
                          </m:r>
                        </m:den>
                      </m:f>
                    </m:oMath>
                  </m:oMathPara>
                </a14:m>
                <a:endParaRPr lang="en-US" sz="2400" b="1" dirty="0"/>
              </a:p>
              <a:p>
                <a:pPr>
                  <a:lnSpc>
                    <a:spcPct val="50000"/>
                  </a:lnSpc>
                  <a:buFont typeface="Wingdings" panose="05000000000000000000" pitchFamily="2" charset="2"/>
                  <a:buChar char="v"/>
                </a:pPr>
                <a:endParaRPr lang="en-US" sz="2000" b="1" dirty="0"/>
              </a:p>
              <a:p>
                <a:pPr>
                  <a:buFont typeface="Wingdings" panose="05000000000000000000" pitchFamily="2" charset="2"/>
                  <a:buChar char="v"/>
                </a:pPr>
                <a:r>
                  <a:rPr lang="en-US" sz="2000" b="1" dirty="0">
                    <a:solidFill>
                      <a:srgbClr val="C00000"/>
                    </a:solidFill>
                  </a:rPr>
                  <a:t>The above equation is valid for all values of n, except n=1.</a:t>
                </a:r>
              </a:p>
              <a:p>
                <a:pPr marL="0" indent="0">
                  <a:buNone/>
                </a:pPr>
                <a:endParaRPr lang="en-US" sz="2000" b="0"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150224" y="1021976"/>
                <a:ext cx="6764272" cy="5256629"/>
              </a:xfrm>
              <a:blipFill rotWithShape="0">
                <a:blip r:embed="rId2"/>
                <a:stretch>
                  <a:fillRect l="-1443" t="-928" r="-81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9</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452509" y="1021976"/>
                <a:ext cx="4697715" cy="52566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400" b="1" dirty="0">
                    <a:solidFill>
                      <a:srgbClr val="C00000"/>
                    </a:solidFill>
                  </a:rPr>
                  <a:t>Adiabatic process</a:t>
                </a:r>
              </a:p>
              <a:p>
                <a:pPr>
                  <a:buFont typeface="Wingdings" panose="05000000000000000000" pitchFamily="2" charset="2"/>
                  <a:buChar char="v"/>
                </a:pPr>
                <a:r>
                  <a:rPr lang="en-US" sz="2000" dirty="0"/>
                  <a:t>If there is no heat transfer to or from the system during a process from an initial state (</a:t>
                </a:r>
                <a:r>
                  <a:rPr lang="en-US" sz="2000" dirty="0" err="1"/>
                  <a:t>i</a:t>
                </a:r>
                <a:r>
                  <a:rPr lang="en-US" sz="2000" dirty="0"/>
                  <a:t>) to a final state (f), the heat transfer becomes zero</a:t>
                </a:r>
              </a:p>
              <a:p>
                <a:pPr marL="0" indent="0">
                  <a:buNone/>
                </a:pPr>
                <a14:m>
                  <m:oMathPara xmlns:m="http://schemas.openxmlformats.org/officeDocument/2006/math">
                    <m:oMathParaPr>
                      <m:jc m:val="centerGroup"/>
                    </m:oMathParaPr>
                    <m:oMath xmlns:m="http://schemas.openxmlformats.org/officeDocument/2006/math">
                      <m:r>
                        <a:rPr lang="en-US" sz="2000" i="0" smtClean="0">
                          <a:latin typeface="Cambria Math" panose="02040503050406030204" pitchFamily="18" charset="0"/>
                          <a:ea typeface="Cambria Math" panose="02040503050406030204" pitchFamily="18" charset="0"/>
                        </a:rPr>
                        <m:t>⇒</m:t>
                      </m:r>
                      <m:r>
                        <m:rPr>
                          <m:sty m:val="p"/>
                        </m:rPr>
                        <a:rPr lang="en-US" sz="2000" i="0">
                          <a:latin typeface="Cambria Math" panose="02040503050406030204" pitchFamily="18" charset="0"/>
                          <a:ea typeface="Cambria Math" panose="02040503050406030204" pitchFamily="18" charset="0"/>
                        </a:rPr>
                        <m:t>δ</m:t>
                      </m:r>
                      <m:r>
                        <m:rPr>
                          <m:sty m:val="p"/>
                        </m:rPr>
                        <a:rPr lang="en-US" sz="2000" i="0" smtClean="0">
                          <a:latin typeface="Cambria Math" panose="02040503050406030204" pitchFamily="18" charset="0"/>
                          <a:ea typeface="Cambria Math" panose="02040503050406030204" pitchFamily="18" charset="0"/>
                        </a:rPr>
                        <m:t>Q</m:t>
                      </m:r>
                      <m:r>
                        <a:rPr lang="en-US" sz="2000" i="0">
                          <a:latin typeface="Cambria Math" panose="02040503050406030204" pitchFamily="18" charset="0"/>
                          <a:ea typeface="Cambria Math" panose="02040503050406030204" pitchFamily="18" charset="0"/>
                        </a:rPr>
                        <m:t>=0</m:t>
                      </m:r>
                    </m:oMath>
                  </m:oMathPara>
                </a14:m>
                <a:endParaRPr lang="en-US" sz="2000" dirty="0"/>
              </a:p>
              <a:p>
                <a:pPr>
                  <a:lnSpc>
                    <a:spcPct val="50000"/>
                  </a:lnSpc>
                  <a:buFont typeface="Wingdings" panose="05000000000000000000" pitchFamily="2" charset="2"/>
                  <a:buChar char="v"/>
                </a:pPr>
                <a:endParaRPr lang="en-US" sz="2000" dirty="0">
                  <a:solidFill>
                    <a:srgbClr val="002060"/>
                  </a:solidFill>
                </a:endParaRPr>
              </a:p>
              <a:p>
                <a:pPr>
                  <a:buFont typeface="Wingdings" panose="05000000000000000000" pitchFamily="2" charset="2"/>
                  <a:buChar char="v"/>
                </a:pPr>
                <a:r>
                  <a:rPr lang="en-US" sz="2000" dirty="0">
                    <a:solidFill>
                      <a:srgbClr val="002060"/>
                    </a:solidFill>
                  </a:rPr>
                  <a:t>Therefore, for an adiabatic process of a fluid, the NFEE becomes</a:t>
                </a:r>
              </a:p>
              <a:p>
                <a:pPr>
                  <a:lnSpc>
                    <a:spcPct val="50000"/>
                  </a:lnSpc>
                  <a:buFont typeface="Wingdings" panose="05000000000000000000" pitchFamily="2" charset="2"/>
                  <a:buChar char="v"/>
                </a:pPr>
                <a:endParaRPr lang="en-US" sz="2000"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b="1" i="1" smtClean="0">
                              <a:solidFill>
                                <a:srgbClr val="C00000"/>
                              </a:solidFill>
                              <a:latin typeface="Cambria Math" panose="02040503050406030204" pitchFamily="18" charset="0"/>
                            </a:rPr>
                          </m:ctrlPr>
                        </m:sSubPr>
                        <m:e>
                          <m:r>
                            <a:rPr lang="en-US" sz="2000" b="1" i="0" smtClean="0">
                              <a:solidFill>
                                <a:srgbClr val="C00000"/>
                              </a:solidFill>
                              <a:latin typeface="Cambria Math" panose="02040503050406030204" pitchFamily="18" charset="0"/>
                            </a:rPr>
                            <m:t>−</m:t>
                          </m:r>
                          <m:r>
                            <a:rPr lang="en-US" sz="2000" b="1" i="0" smtClean="0">
                              <a:solidFill>
                                <a:srgbClr val="C00000"/>
                              </a:solidFill>
                              <a:latin typeface="Cambria Math" panose="02040503050406030204" pitchFamily="18" charset="0"/>
                            </a:rPr>
                            <m:t>𝐖</m:t>
                          </m:r>
                        </m:e>
                        <m:sub>
                          <m:r>
                            <a:rPr lang="en-US" sz="2000" b="1" i="0">
                              <a:solidFill>
                                <a:srgbClr val="C00000"/>
                              </a:solidFill>
                              <a:latin typeface="Cambria Math" panose="02040503050406030204" pitchFamily="18" charset="0"/>
                            </a:rPr>
                            <m:t>𝐢𝐟</m:t>
                          </m:r>
                        </m:sub>
                      </m:sSub>
                      <m:r>
                        <a:rPr lang="en-US" sz="2000" b="1" i="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0">
                              <a:solidFill>
                                <a:srgbClr val="C00000"/>
                              </a:solidFill>
                              <a:latin typeface="Cambria Math" panose="02040503050406030204" pitchFamily="18" charset="0"/>
                            </a:rPr>
                            <m:t>𝐔</m:t>
                          </m:r>
                        </m:e>
                        <m:sub>
                          <m:r>
                            <a:rPr lang="en-US" sz="2000" b="1" i="0">
                              <a:solidFill>
                                <a:srgbClr val="C00000"/>
                              </a:solidFill>
                              <a:latin typeface="Cambria Math" panose="02040503050406030204" pitchFamily="18" charset="0"/>
                            </a:rPr>
                            <m:t>𝐟</m:t>
                          </m:r>
                        </m:sub>
                      </m:sSub>
                      <m:r>
                        <a:rPr lang="en-US" sz="2000" b="1" i="0">
                          <a:solidFill>
                            <a:srgbClr val="C00000"/>
                          </a:solidFill>
                          <a:latin typeface="Cambria Math" panose="02040503050406030204" pitchFamily="18" charset="0"/>
                        </a:rPr>
                        <m:t>−</m:t>
                      </m:r>
                      <m:sSub>
                        <m:sSubPr>
                          <m:ctrlPr>
                            <a:rPr lang="en-US" sz="2000" b="1" i="1">
                              <a:solidFill>
                                <a:srgbClr val="C00000"/>
                              </a:solidFill>
                              <a:latin typeface="Cambria Math" panose="02040503050406030204" pitchFamily="18" charset="0"/>
                            </a:rPr>
                          </m:ctrlPr>
                        </m:sSubPr>
                        <m:e>
                          <m:r>
                            <a:rPr lang="en-US" sz="2000" b="1" i="0">
                              <a:solidFill>
                                <a:srgbClr val="C00000"/>
                              </a:solidFill>
                              <a:latin typeface="Cambria Math" panose="02040503050406030204" pitchFamily="18" charset="0"/>
                            </a:rPr>
                            <m:t>𝐔</m:t>
                          </m:r>
                        </m:e>
                        <m:sub>
                          <m:r>
                            <a:rPr lang="en-US" sz="2000" b="1" i="0">
                              <a:solidFill>
                                <a:srgbClr val="C00000"/>
                              </a:solidFill>
                              <a:latin typeface="Cambria Math" panose="02040503050406030204" pitchFamily="18" charset="0"/>
                            </a:rPr>
                            <m:t>𝐢</m:t>
                          </m:r>
                        </m:sub>
                      </m:sSub>
                      <m:r>
                        <a:rPr lang="en-US" sz="2000" b="1" i="0" smtClean="0">
                          <a:solidFill>
                            <a:srgbClr val="C00000"/>
                          </a:solidFill>
                          <a:latin typeface="Cambria Math" panose="02040503050406030204" pitchFamily="18" charset="0"/>
                          <a:ea typeface="Cambria Math" panose="02040503050406030204" pitchFamily="18" charset="0"/>
                        </a:rPr>
                        <m:t>⇒</m:t>
                      </m:r>
                      <m:sSub>
                        <m:sSubPr>
                          <m:ctrlPr>
                            <a:rPr lang="en-US" sz="2000" b="1" i="1" smtClean="0">
                              <a:solidFill>
                                <a:srgbClr val="C00000"/>
                              </a:solidFill>
                              <a:latin typeface="Cambria Math" panose="02040503050406030204" pitchFamily="18" charset="0"/>
                              <a:ea typeface="Cambria Math" panose="02040503050406030204" pitchFamily="18" charset="0"/>
                            </a:rPr>
                          </m:ctrlPr>
                        </m:sSubPr>
                        <m:e>
                          <m:r>
                            <a:rPr lang="en-US" sz="2000" b="1" i="0" smtClean="0">
                              <a:solidFill>
                                <a:srgbClr val="C00000"/>
                              </a:solidFill>
                              <a:latin typeface="Cambria Math" panose="02040503050406030204" pitchFamily="18" charset="0"/>
                              <a:ea typeface="Cambria Math" panose="02040503050406030204" pitchFamily="18" charset="0"/>
                            </a:rPr>
                            <m:t>𝐖</m:t>
                          </m:r>
                        </m:e>
                        <m:sub>
                          <m:r>
                            <a:rPr lang="en-US" sz="2000" b="1" i="0" smtClean="0">
                              <a:solidFill>
                                <a:srgbClr val="C00000"/>
                              </a:solidFill>
                              <a:latin typeface="Cambria Math" panose="02040503050406030204" pitchFamily="18" charset="0"/>
                              <a:ea typeface="Cambria Math" panose="02040503050406030204" pitchFamily="18" charset="0"/>
                            </a:rPr>
                            <m:t>𝐢𝐟</m:t>
                          </m:r>
                        </m:sub>
                      </m:sSub>
                      <m:r>
                        <a:rPr lang="en-US" sz="2000" b="1" i="0" smtClean="0">
                          <a:solidFill>
                            <a:srgbClr val="C00000"/>
                          </a:solidFill>
                          <a:latin typeface="Cambria Math" panose="02040503050406030204" pitchFamily="18" charset="0"/>
                          <a:ea typeface="Cambria Math" panose="02040503050406030204" pitchFamily="18" charset="0"/>
                        </a:rPr>
                        <m:t>=</m:t>
                      </m:r>
                      <m:sSub>
                        <m:sSubPr>
                          <m:ctrlPr>
                            <a:rPr lang="en-US" sz="2000" b="1" i="1" smtClean="0">
                              <a:solidFill>
                                <a:srgbClr val="C00000"/>
                              </a:solidFill>
                              <a:latin typeface="Cambria Math" panose="02040503050406030204" pitchFamily="18" charset="0"/>
                              <a:ea typeface="Cambria Math" panose="02040503050406030204" pitchFamily="18" charset="0"/>
                            </a:rPr>
                          </m:ctrlPr>
                        </m:sSubPr>
                        <m:e>
                          <m:r>
                            <a:rPr lang="en-US" sz="2000" b="1" i="0" smtClean="0">
                              <a:solidFill>
                                <a:srgbClr val="C00000"/>
                              </a:solidFill>
                              <a:latin typeface="Cambria Math" panose="02040503050406030204" pitchFamily="18" charset="0"/>
                              <a:ea typeface="Cambria Math" panose="02040503050406030204" pitchFamily="18" charset="0"/>
                            </a:rPr>
                            <m:t>𝐔</m:t>
                          </m:r>
                        </m:e>
                        <m:sub>
                          <m:r>
                            <a:rPr lang="en-US" sz="2000" b="1" i="0" smtClean="0">
                              <a:solidFill>
                                <a:srgbClr val="C00000"/>
                              </a:solidFill>
                              <a:latin typeface="Cambria Math" panose="02040503050406030204" pitchFamily="18" charset="0"/>
                              <a:ea typeface="Cambria Math" panose="02040503050406030204" pitchFamily="18" charset="0"/>
                            </a:rPr>
                            <m:t>𝐢</m:t>
                          </m:r>
                        </m:sub>
                      </m:sSub>
                      <m:r>
                        <a:rPr lang="en-US" sz="2000" b="1" i="0" smtClean="0">
                          <a:solidFill>
                            <a:srgbClr val="C00000"/>
                          </a:solidFill>
                          <a:latin typeface="Cambria Math" panose="02040503050406030204" pitchFamily="18" charset="0"/>
                          <a:ea typeface="Cambria Math" panose="02040503050406030204" pitchFamily="18" charset="0"/>
                        </a:rPr>
                        <m:t>−</m:t>
                      </m:r>
                      <m:sSub>
                        <m:sSubPr>
                          <m:ctrlPr>
                            <a:rPr lang="en-US" sz="2000" b="1" i="1" smtClean="0">
                              <a:solidFill>
                                <a:srgbClr val="C00000"/>
                              </a:solidFill>
                              <a:latin typeface="Cambria Math" panose="02040503050406030204" pitchFamily="18" charset="0"/>
                              <a:ea typeface="Cambria Math" panose="02040503050406030204" pitchFamily="18" charset="0"/>
                            </a:rPr>
                          </m:ctrlPr>
                        </m:sSubPr>
                        <m:e>
                          <m:r>
                            <a:rPr lang="en-US" sz="2000" b="1" i="0" smtClean="0">
                              <a:solidFill>
                                <a:srgbClr val="C00000"/>
                              </a:solidFill>
                              <a:latin typeface="Cambria Math" panose="02040503050406030204" pitchFamily="18" charset="0"/>
                              <a:ea typeface="Cambria Math" panose="02040503050406030204" pitchFamily="18" charset="0"/>
                            </a:rPr>
                            <m:t>𝐔</m:t>
                          </m:r>
                        </m:e>
                        <m:sub>
                          <m:r>
                            <a:rPr lang="en-US" sz="2000" b="1" i="0" smtClean="0">
                              <a:solidFill>
                                <a:srgbClr val="C00000"/>
                              </a:solidFill>
                              <a:latin typeface="Cambria Math" panose="02040503050406030204" pitchFamily="18" charset="0"/>
                              <a:ea typeface="Cambria Math" panose="02040503050406030204" pitchFamily="18" charset="0"/>
                            </a:rPr>
                            <m:t>𝐟</m:t>
                          </m:r>
                        </m:sub>
                      </m:sSub>
                    </m:oMath>
                  </m:oMathPara>
                </a14:m>
                <a:endParaRPr lang="en-US" sz="2200" b="1" dirty="0"/>
              </a:p>
              <a:p>
                <a:pPr>
                  <a:lnSpc>
                    <a:spcPct val="50000"/>
                  </a:lnSpc>
                  <a:buFont typeface="Wingdings" panose="05000000000000000000" pitchFamily="2" charset="2"/>
                  <a:buChar char="v"/>
                </a:pPr>
                <a:endParaRPr lang="en-US" sz="2000" dirty="0"/>
              </a:p>
              <a:p>
                <a:pPr>
                  <a:buFont typeface="Wingdings" panose="05000000000000000000" pitchFamily="2" charset="2"/>
                  <a:buChar char="v"/>
                </a:pPr>
                <a:r>
                  <a:rPr lang="en-US" sz="2000" dirty="0"/>
                  <a:t>The above equation indicates that during an adiabatic process of a fluid, the net amount of work energy transfer is equal to the change in the internal energy of the fluid.</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solidFill>
                    <a:srgbClr val="C00000"/>
                  </a:solidFill>
                </a:endParaRP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452509" y="1021976"/>
                <a:ext cx="4697715" cy="5256629"/>
              </a:xfrm>
              <a:prstGeom prst="rect">
                <a:avLst/>
              </a:prstGeom>
              <a:blipFill rotWithShape="0">
                <a:blip r:embed="rId3"/>
                <a:stretch>
                  <a:fillRect l="-1946" t="-928" r="-778" b="-1856"/>
                </a:stretch>
              </a:blipFill>
            </p:spPr>
            <p:txBody>
              <a:bodyPr/>
              <a:lstStyle/>
              <a:p>
                <a:r>
                  <a:rPr lang="en-US">
                    <a:noFill/>
                  </a:rPr>
                  <a:t> </a:t>
                </a:r>
              </a:p>
            </p:txBody>
          </p:sp>
        </mc:Fallback>
      </mc:AlternateContent>
    </p:spTree>
    <p:extLst>
      <p:ext uri="{BB962C8B-B14F-4D97-AF65-F5344CB8AC3E}">
        <p14:creationId xmlns:p14="http://schemas.microsoft.com/office/powerpoint/2010/main" val="12994347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of Thermodynamics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150224" y="1021976"/>
                <a:ext cx="6764272" cy="5256629"/>
              </a:xfrm>
            </p:spPr>
            <p:txBody>
              <a:bodyPr>
                <a:noAutofit/>
              </a:bodyPr>
              <a:lstStyle/>
              <a:p>
                <a:pPr>
                  <a:buFont typeface="Wingdings" panose="05000000000000000000" pitchFamily="2" charset="2"/>
                  <a:buChar char="v"/>
                </a:pPr>
                <a:r>
                  <a:rPr lang="en-US" sz="2400" dirty="0"/>
                  <a:t>For the case of n = 1, the polytropic relation becomes</a:t>
                </a:r>
              </a:p>
              <a:p>
                <a:pPr marL="0" indent="0">
                  <a:buNone/>
                </a:pPr>
                <a14:m>
                  <m:oMathPara xmlns:m="http://schemas.openxmlformats.org/officeDocument/2006/math">
                    <m:oMathParaPr>
                      <m:jc m:val="centerGroup"/>
                    </m:oMathParaPr>
                    <m:oMath xmlns:m="http://schemas.openxmlformats.org/officeDocument/2006/math">
                      <m:r>
                        <a:rPr lang="en-US" b="1" i="0" smtClean="0">
                          <a:solidFill>
                            <a:srgbClr val="002060"/>
                          </a:solidFill>
                          <a:latin typeface="Cambria Math" panose="02040503050406030204" pitchFamily="18" charset="0"/>
                        </a:rPr>
                        <m:t>𝐏𝐕</m:t>
                      </m:r>
                      <m:r>
                        <a:rPr lang="en-US" b="1" i="0" smtClean="0">
                          <a:solidFill>
                            <a:srgbClr val="002060"/>
                          </a:solidFill>
                          <a:latin typeface="Cambria Math" panose="02040503050406030204" pitchFamily="18" charset="0"/>
                        </a:rPr>
                        <m:t>=</m:t>
                      </m:r>
                      <m:r>
                        <a:rPr lang="en-US" b="1" i="0" smtClean="0">
                          <a:solidFill>
                            <a:srgbClr val="002060"/>
                          </a:solidFill>
                          <a:latin typeface="Cambria Math" panose="02040503050406030204" pitchFamily="18" charset="0"/>
                        </a:rPr>
                        <m:t>𝐜𝐨𝐧𝐬𝐭𝐚𝐧𝐭</m:t>
                      </m:r>
                    </m:oMath>
                  </m:oMathPara>
                </a14:m>
                <a:endParaRPr lang="en-US" b="1" dirty="0">
                  <a:solidFill>
                    <a:srgbClr val="002060"/>
                  </a:solidFill>
                </a:endParaRPr>
              </a:p>
              <a:p>
                <a:pPr>
                  <a:lnSpc>
                    <a:spcPct val="50000"/>
                  </a:lnSpc>
                  <a:buFont typeface="Wingdings" panose="05000000000000000000" pitchFamily="2" charset="2"/>
                  <a:buChar char="v"/>
                </a:pPr>
                <a:endParaRPr lang="en-US" sz="2400" dirty="0"/>
              </a:p>
              <a:p>
                <a:pPr>
                  <a:buFont typeface="Wingdings" panose="05000000000000000000" pitchFamily="2" charset="2"/>
                  <a:buChar char="v"/>
                </a:pPr>
                <a:r>
                  <a:rPr lang="en-US" sz="2400" dirty="0"/>
                  <a:t>If a fluid changes from an initial state (</a:t>
                </a:r>
                <a:r>
                  <a:rPr lang="en-US" sz="2400" dirty="0" err="1"/>
                  <a:t>i</a:t>
                </a:r>
                <a:r>
                  <a:rPr lang="en-US" sz="2400" dirty="0"/>
                  <a:t>) to a final state (f) during a polytropic process where n = 1, the amount of work energy crossing the boundary is given by</a:t>
                </a:r>
              </a:p>
              <a:p>
                <a:pPr>
                  <a:lnSpc>
                    <a:spcPct val="50000"/>
                  </a:lnSpc>
                  <a:buFont typeface="Wingdings" panose="05000000000000000000" pitchFamily="2" charset="2"/>
                  <a:buChar char="v"/>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b="1" i="1" smtClean="0">
                              <a:solidFill>
                                <a:srgbClr val="002060"/>
                              </a:solidFill>
                              <a:latin typeface="Cambria Math" panose="02040503050406030204" pitchFamily="18" charset="0"/>
                            </a:rPr>
                          </m:ctrlPr>
                        </m:sSubPr>
                        <m:e>
                          <m:r>
                            <a:rPr lang="en-US" b="1" i="0" smtClean="0">
                              <a:solidFill>
                                <a:srgbClr val="002060"/>
                              </a:solidFill>
                              <a:latin typeface="Cambria Math" panose="02040503050406030204" pitchFamily="18" charset="0"/>
                            </a:rPr>
                            <m:t>𝐖</m:t>
                          </m:r>
                        </m:e>
                        <m:sub>
                          <m:r>
                            <a:rPr lang="en-US" b="1" i="0" smtClean="0">
                              <a:solidFill>
                                <a:srgbClr val="002060"/>
                              </a:solidFill>
                              <a:latin typeface="Cambria Math" panose="02040503050406030204" pitchFamily="18" charset="0"/>
                            </a:rPr>
                            <m:t>𝐢𝐟</m:t>
                          </m:r>
                        </m:sub>
                      </m:sSub>
                      <m:r>
                        <a:rPr lang="en-US" b="1" i="0" smtClean="0">
                          <a:solidFill>
                            <a:srgbClr val="002060"/>
                          </a:solidFill>
                          <a:latin typeface="Cambria Math" panose="02040503050406030204" pitchFamily="18" charset="0"/>
                        </a:rPr>
                        <m:t>=</m:t>
                      </m:r>
                      <m:sSub>
                        <m:sSubPr>
                          <m:ctrlPr>
                            <a:rPr lang="en-US" b="1" i="1" smtClean="0">
                              <a:solidFill>
                                <a:srgbClr val="002060"/>
                              </a:solidFill>
                              <a:latin typeface="Cambria Math" panose="02040503050406030204" pitchFamily="18" charset="0"/>
                            </a:rPr>
                          </m:ctrlPr>
                        </m:sSubPr>
                        <m:e>
                          <m:r>
                            <a:rPr lang="en-US" b="1" i="0" smtClean="0">
                              <a:solidFill>
                                <a:srgbClr val="002060"/>
                              </a:solidFill>
                              <a:latin typeface="Cambria Math" panose="02040503050406030204" pitchFamily="18" charset="0"/>
                            </a:rPr>
                            <m:t>𝐏</m:t>
                          </m:r>
                        </m:e>
                        <m:sub>
                          <m:r>
                            <a:rPr lang="en-US" b="1" i="0" smtClean="0">
                              <a:solidFill>
                                <a:srgbClr val="002060"/>
                              </a:solidFill>
                              <a:latin typeface="Cambria Math" panose="02040503050406030204" pitchFamily="18" charset="0"/>
                            </a:rPr>
                            <m:t>𝐢</m:t>
                          </m:r>
                        </m:sub>
                      </m:sSub>
                      <m:sSub>
                        <m:sSubPr>
                          <m:ctrlPr>
                            <a:rPr lang="en-US" b="1" i="1" smtClean="0">
                              <a:solidFill>
                                <a:srgbClr val="002060"/>
                              </a:solidFill>
                              <a:latin typeface="Cambria Math" panose="02040503050406030204" pitchFamily="18" charset="0"/>
                            </a:rPr>
                          </m:ctrlPr>
                        </m:sSubPr>
                        <m:e>
                          <m:r>
                            <a:rPr lang="en-US" b="1" i="0" smtClean="0">
                              <a:solidFill>
                                <a:srgbClr val="002060"/>
                              </a:solidFill>
                              <a:latin typeface="Cambria Math" panose="02040503050406030204" pitchFamily="18" charset="0"/>
                            </a:rPr>
                            <m:t>𝐕</m:t>
                          </m:r>
                        </m:e>
                        <m:sub>
                          <m:r>
                            <a:rPr lang="en-US" b="1" i="0" smtClean="0">
                              <a:solidFill>
                                <a:srgbClr val="002060"/>
                              </a:solidFill>
                              <a:latin typeface="Cambria Math" panose="02040503050406030204" pitchFamily="18" charset="0"/>
                            </a:rPr>
                            <m:t>𝐢</m:t>
                          </m:r>
                        </m:sub>
                      </m:sSub>
                      <m:r>
                        <a:rPr lang="en-US" b="1" i="0" smtClean="0">
                          <a:solidFill>
                            <a:srgbClr val="002060"/>
                          </a:solidFill>
                          <a:latin typeface="Cambria Math" panose="02040503050406030204" pitchFamily="18" charset="0"/>
                        </a:rPr>
                        <m:t>𝐥𝐧</m:t>
                      </m:r>
                      <m:f>
                        <m:fPr>
                          <m:ctrlPr>
                            <a:rPr lang="en-US" b="1" i="1" smtClean="0">
                              <a:solidFill>
                                <a:srgbClr val="002060"/>
                              </a:solidFill>
                              <a:latin typeface="Cambria Math" panose="02040503050406030204" pitchFamily="18" charset="0"/>
                            </a:rPr>
                          </m:ctrlPr>
                        </m:fPr>
                        <m:num>
                          <m:sSub>
                            <m:sSubPr>
                              <m:ctrlPr>
                                <a:rPr lang="en-US" b="1" i="1" smtClean="0">
                                  <a:solidFill>
                                    <a:srgbClr val="002060"/>
                                  </a:solidFill>
                                  <a:latin typeface="Cambria Math" panose="02040503050406030204" pitchFamily="18" charset="0"/>
                                </a:rPr>
                              </m:ctrlPr>
                            </m:sSubPr>
                            <m:e>
                              <m:r>
                                <a:rPr lang="en-US" b="1" i="0" smtClean="0">
                                  <a:solidFill>
                                    <a:srgbClr val="002060"/>
                                  </a:solidFill>
                                  <a:latin typeface="Cambria Math" panose="02040503050406030204" pitchFamily="18" charset="0"/>
                                </a:rPr>
                                <m:t>𝐕</m:t>
                              </m:r>
                            </m:e>
                            <m:sub>
                              <m:r>
                                <a:rPr lang="en-US" b="1" i="0" smtClean="0">
                                  <a:solidFill>
                                    <a:srgbClr val="002060"/>
                                  </a:solidFill>
                                  <a:latin typeface="Cambria Math" panose="02040503050406030204" pitchFamily="18" charset="0"/>
                                </a:rPr>
                                <m:t>𝐟</m:t>
                              </m:r>
                            </m:sub>
                          </m:sSub>
                        </m:num>
                        <m:den>
                          <m:sSub>
                            <m:sSubPr>
                              <m:ctrlPr>
                                <a:rPr lang="en-US" b="1" i="1" smtClean="0">
                                  <a:solidFill>
                                    <a:srgbClr val="002060"/>
                                  </a:solidFill>
                                  <a:latin typeface="Cambria Math" panose="02040503050406030204" pitchFamily="18" charset="0"/>
                                </a:rPr>
                              </m:ctrlPr>
                            </m:sSubPr>
                            <m:e>
                              <m:r>
                                <a:rPr lang="en-US" b="1" i="0" smtClean="0">
                                  <a:solidFill>
                                    <a:srgbClr val="002060"/>
                                  </a:solidFill>
                                  <a:latin typeface="Cambria Math" panose="02040503050406030204" pitchFamily="18" charset="0"/>
                                </a:rPr>
                                <m:t>𝐕</m:t>
                              </m:r>
                            </m:e>
                            <m:sub>
                              <m:r>
                                <a:rPr lang="en-US" b="1" i="0" smtClean="0">
                                  <a:solidFill>
                                    <a:srgbClr val="002060"/>
                                  </a:solidFill>
                                  <a:latin typeface="Cambria Math" panose="02040503050406030204" pitchFamily="18" charset="0"/>
                                </a:rPr>
                                <m:t>𝐢</m:t>
                              </m:r>
                            </m:sub>
                          </m:sSub>
                        </m:den>
                      </m:f>
                      <m:r>
                        <a:rPr lang="en-US" b="1" i="0" smtClean="0">
                          <a:solidFill>
                            <a:srgbClr val="002060"/>
                          </a:solidFill>
                          <a:latin typeface="Cambria Math" panose="02040503050406030204" pitchFamily="18" charset="0"/>
                        </a:rPr>
                        <m:t>=</m:t>
                      </m:r>
                      <m:sSub>
                        <m:sSubPr>
                          <m:ctrlPr>
                            <a:rPr lang="en-US" b="1" i="1">
                              <a:solidFill>
                                <a:srgbClr val="002060"/>
                              </a:solidFill>
                              <a:latin typeface="Cambria Math" panose="02040503050406030204" pitchFamily="18" charset="0"/>
                            </a:rPr>
                          </m:ctrlPr>
                        </m:sSubPr>
                        <m:e>
                          <m:r>
                            <a:rPr lang="en-US" b="1" i="0">
                              <a:solidFill>
                                <a:srgbClr val="002060"/>
                              </a:solidFill>
                              <a:latin typeface="Cambria Math" panose="02040503050406030204" pitchFamily="18" charset="0"/>
                            </a:rPr>
                            <m:t>𝐏</m:t>
                          </m:r>
                        </m:e>
                        <m:sub>
                          <m:r>
                            <a:rPr lang="en-US" b="1" i="0" smtClean="0">
                              <a:solidFill>
                                <a:srgbClr val="002060"/>
                              </a:solidFill>
                              <a:latin typeface="Cambria Math" panose="02040503050406030204" pitchFamily="18" charset="0"/>
                            </a:rPr>
                            <m:t>𝐟</m:t>
                          </m:r>
                        </m:sub>
                      </m:sSub>
                      <m:sSub>
                        <m:sSubPr>
                          <m:ctrlPr>
                            <a:rPr lang="en-US" b="1" i="1">
                              <a:solidFill>
                                <a:srgbClr val="002060"/>
                              </a:solidFill>
                              <a:latin typeface="Cambria Math" panose="02040503050406030204" pitchFamily="18" charset="0"/>
                            </a:rPr>
                          </m:ctrlPr>
                        </m:sSubPr>
                        <m:e>
                          <m:r>
                            <a:rPr lang="en-US" b="1" i="0">
                              <a:solidFill>
                                <a:srgbClr val="002060"/>
                              </a:solidFill>
                              <a:latin typeface="Cambria Math" panose="02040503050406030204" pitchFamily="18" charset="0"/>
                            </a:rPr>
                            <m:t>𝐕</m:t>
                          </m:r>
                        </m:e>
                        <m:sub>
                          <m:r>
                            <a:rPr lang="en-US" b="1" i="0" smtClean="0">
                              <a:solidFill>
                                <a:srgbClr val="002060"/>
                              </a:solidFill>
                              <a:latin typeface="Cambria Math" panose="02040503050406030204" pitchFamily="18" charset="0"/>
                            </a:rPr>
                            <m:t>𝐟</m:t>
                          </m:r>
                        </m:sub>
                      </m:sSub>
                      <m:r>
                        <a:rPr lang="en-US" b="1" i="0">
                          <a:solidFill>
                            <a:srgbClr val="002060"/>
                          </a:solidFill>
                          <a:latin typeface="Cambria Math" panose="02040503050406030204" pitchFamily="18" charset="0"/>
                        </a:rPr>
                        <m:t>𝐥𝐧</m:t>
                      </m:r>
                      <m:f>
                        <m:fPr>
                          <m:ctrlPr>
                            <a:rPr lang="en-US" b="1" i="1">
                              <a:solidFill>
                                <a:srgbClr val="002060"/>
                              </a:solidFill>
                              <a:latin typeface="Cambria Math" panose="02040503050406030204" pitchFamily="18" charset="0"/>
                            </a:rPr>
                          </m:ctrlPr>
                        </m:fPr>
                        <m:num>
                          <m:sSub>
                            <m:sSubPr>
                              <m:ctrlPr>
                                <a:rPr lang="en-US" b="1" i="1">
                                  <a:solidFill>
                                    <a:srgbClr val="002060"/>
                                  </a:solidFill>
                                  <a:latin typeface="Cambria Math" panose="02040503050406030204" pitchFamily="18" charset="0"/>
                                </a:rPr>
                              </m:ctrlPr>
                            </m:sSubPr>
                            <m:e>
                              <m:r>
                                <a:rPr lang="en-US" b="1" i="0">
                                  <a:solidFill>
                                    <a:srgbClr val="002060"/>
                                  </a:solidFill>
                                  <a:latin typeface="Cambria Math" panose="02040503050406030204" pitchFamily="18" charset="0"/>
                                </a:rPr>
                                <m:t>𝐕</m:t>
                              </m:r>
                            </m:e>
                            <m:sub>
                              <m:r>
                                <a:rPr lang="en-US" b="1" i="0">
                                  <a:solidFill>
                                    <a:srgbClr val="002060"/>
                                  </a:solidFill>
                                  <a:latin typeface="Cambria Math" panose="02040503050406030204" pitchFamily="18" charset="0"/>
                                </a:rPr>
                                <m:t>𝐟</m:t>
                              </m:r>
                            </m:sub>
                          </m:sSub>
                        </m:num>
                        <m:den>
                          <m:sSub>
                            <m:sSubPr>
                              <m:ctrlPr>
                                <a:rPr lang="en-US" b="1" i="1">
                                  <a:solidFill>
                                    <a:srgbClr val="002060"/>
                                  </a:solidFill>
                                  <a:latin typeface="Cambria Math" panose="02040503050406030204" pitchFamily="18" charset="0"/>
                                </a:rPr>
                              </m:ctrlPr>
                            </m:sSubPr>
                            <m:e>
                              <m:r>
                                <a:rPr lang="en-US" b="1" i="0">
                                  <a:solidFill>
                                    <a:srgbClr val="002060"/>
                                  </a:solidFill>
                                  <a:latin typeface="Cambria Math" panose="02040503050406030204" pitchFamily="18" charset="0"/>
                                </a:rPr>
                                <m:t>𝐕</m:t>
                              </m:r>
                            </m:e>
                            <m:sub>
                              <m:r>
                                <a:rPr lang="en-US" b="1" i="0">
                                  <a:solidFill>
                                    <a:srgbClr val="002060"/>
                                  </a:solidFill>
                                  <a:latin typeface="Cambria Math" panose="02040503050406030204" pitchFamily="18" charset="0"/>
                                </a:rPr>
                                <m:t>𝐢</m:t>
                              </m:r>
                            </m:sub>
                          </m:sSub>
                        </m:den>
                      </m:f>
                    </m:oMath>
                  </m:oMathPara>
                </a14:m>
                <a:endParaRPr lang="en-US" b="1" dirty="0"/>
              </a:p>
              <a:p>
                <a:pPr>
                  <a:buFont typeface="Wingdings" panose="05000000000000000000" pitchFamily="2" charset="2"/>
                  <a:buChar char="v"/>
                </a:pPr>
                <a:endParaRPr lang="en-US" sz="2000" b="1" dirty="0"/>
              </a:p>
              <a:p>
                <a:pPr marL="0" indent="0">
                  <a:buNone/>
                </a:pPr>
                <a:endParaRPr lang="en-US" sz="2000" b="0" dirty="0"/>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150224" y="1021976"/>
                <a:ext cx="6764272" cy="5256629"/>
              </a:xfrm>
              <a:blipFill rotWithShape="0">
                <a:blip r:embed="rId2"/>
                <a:stretch>
                  <a:fillRect l="-1262" t="-928" r="-216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10</a:t>
            </a:fld>
            <a:endParaRPr lang="en-US" dirty="0"/>
          </a:p>
        </p:txBody>
      </p:sp>
      <p:sp>
        <p:nvSpPr>
          <p:cNvPr id="10" name="Content Placeholder 2"/>
          <p:cNvSpPr txBox="1">
            <a:spLocks/>
          </p:cNvSpPr>
          <p:nvPr/>
        </p:nvSpPr>
        <p:spPr>
          <a:xfrm>
            <a:off x="452509" y="1021976"/>
            <a:ext cx="4697715" cy="52566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sz="2400" b="1" dirty="0">
                <a:solidFill>
                  <a:srgbClr val="C00000"/>
                </a:solidFill>
              </a:rPr>
              <a:t>Polytropic process</a:t>
            </a:r>
          </a:p>
          <a:p>
            <a:pPr>
              <a:buFont typeface="Wingdings" panose="05000000000000000000" pitchFamily="2" charset="2"/>
              <a:buChar char="v"/>
            </a:pPr>
            <a:r>
              <a:rPr lang="en-US" sz="2000" dirty="0"/>
              <a:t>A plot of pressure against volume for a polytropic process.</a:t>
            </a:r>
          </a:p>
          <a:p>
            <a:pPr>
              <a:buFont typeface="Wingdings" panose="05000000000000000000" pitchFamily="2" charset="2"/>
              <a:buChar char="v"/>
            </a:pPr>
            <a:endParaRPr lang="en-US" sz="2000" dirty="0">
              <a:solidFill>
                <a:srgbClr val="C00000"/>
              </a:solidFill>
            </a:endParaRPr>
          </a:p>
        </p:txBody>
      </p:sp>
      <p:pic>
        <p:nvPicPr>
          <p:cNvPr id="5" name="Picture 4"/>
          <p:cNvPicPr>
            <a:picLocks noChangeAspect="1"/>
          </p:cNvPicPr>
          <p:nvPr/>
        </p:nvPicPr>
        <p:blipFill>
          <a:blip r:embed="rId3"/>
          <a:stretch>
            <a:fillRect/>
          </a:stretch>
        </p:blipFill>
        <p:spPr>
          <a:xfrm>
            <a:off x="452509" y="2257280"/>
            <a:ext cx="4635420" cy="4021325"/>
          </a:xfrm>
          <a:prstGeom prst="rect">
            <a:avLst/>
          </a:prstGeom>
        </p:spPr>
      </p:pic>
    </p:spTree>
    <p:extLst>
      <p:ext uri="{BB962C8B-B14F-4D97-AF65-F5344CB8AC3E}">
        <p14:creationId xmlns:p14="http://schemas.microsoft.com/office/powerpoint/2010/main" val="4836184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244353" y="1021976"/>
                <a:ext cx="6670143" cy="4988859"/>
              </a:xfrm>
            </p:spPr>
            <p:txBody>
              <a:bodyPr>
                <a:noAutofit/>
              </a:bodyPr>
              <a:lstStyle/>
              <a:p>
                <a:pPr marL="0" indent="0">
                  <a:buNone/>
                </a:pPr>
                <a:r>
                  <a:rPr lang="en-US" b="1" dirty="0">
                    <a:solidFill>
                      <a:srgbClr val="C00000"/>
                    </a:solidFill>
                  </a:rPr>
                  <a:t>Solution</a:t>
                </a:r>
              </a:p>
              <a:p>
                <a:pPr>
                  <a:buFont typeface="Wingdings" panose="05000000000000000000" pitchFamily="2" charset="2"/>
                  <a:buChar char="v"/>
                </a:pPr>
                <a:r>
                  <a:rPr lang="en-US" sz="2000" dirty="0"/>
                  <a:t>From the non-flow energy equation for a closed system undergoing a process from initial state, </a:t>
                </a:r>
                <a:r>
                  <a:rPr lang="en-US" sz="2000" dirty="0" err="1"/>
                  <a:t>i</a:t>
                </a:r>
                <a:r>
                  <a:rPr lang="en-US" sz="2000" dirty="0"/>
                  <a:t> to a final state, f;</a:t>
                </a:r>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Q</m:t>
                          </m:r>
                        </m:e>
                        <m:sub>
                          <m:r>
                            <m:rPr>
                              <m:sty m:val="p"/>
                            </m:rPr>
                            <a:rPr lang="en-US" sz="2000" b="0" i="0" smtClean="0">
                              <a:solidFill>
                                <a:schemeClr val="tx1"/>
                              </a:solidFill>
                              <a:latin typeface="Cambria Math" panose="02040503050406030204" pitchFamily="18" charset="0"/>
                            </a:rPr>
                            <m:t>if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W</m:t>
                          </m:r>
                        </m:e>
                        <m:sub>
                          <m:r>
                            <m:rPr>
                              <m:sty m:val="p"/>
                            </m:rPr>
                            <a:rPr lang="en-US" sz="2000" b="0" i="0" smtClean="0">
                              <a:solidFill>
                                <a:schemeClr val="tx1"/>
                              </a:solidFill>
                              <a:latin typeface="Cambria Math" panose="02040503050406030204" pitchFamily="18" charset="0"/>
                            </a:rPr>
                            <m:t>if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i</m:t>
                          </m:r>
                        </m:sub>
                      </m:sSub>
                      <m:r>
                        <a:rPr lang="en-US" sz="2000" b="0" i="0" smtClean="0">
                          <a:solidFill>
                            <a:schemeClr val="tx1"/>
                          </a:solidFill>
                          <a:latin typeface="Cambria Math" panose="02040503050406030204" pitchFamily="18" charset="0"/>
                        </a:rPr>
                        <m:t>=</m:t>
                      </m:r>
                      <m:r>
                        <m:rPr>
                          <m:sty m:val="p"/>
                        </m:rPr>
                        <a:rPr lang="en-US" sz="2000" b="0" i="0" smtClean="0">
                          <a:solidFill>
                            <a:schemeClr val="tx1"/>
                          </a:solidFill>
                          <a:latin typeface="Cambria Math" panose="02040503050406030204" pitchFamily="18" charset="0"/>
                        </a:rPr>
                        <m:t>m</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i</m:t>
                              </m:r>
                            </m:sub>
                          </m:sSub>
                        </m:e>
                      </m:d>
                    </m:oMath>
                  </m:oMathPara>
                </a14:m>
                <a:endParaRPr lang="en-US" sz="2000" dirty="0">
                  <a:solidFill>
                    <a:srgbClr val="002060"/>
                  </a:solidFill>
                </a:endParaRPr>
              </a:p>
              <a:p>
                <a:pPr>
                  <a:buFont typeface="Wingdings" panose="05000000000000000000" pitchFamily="2" charset="2"/>
                  <a:buChar char="v"/>
                </a:pPr>
                <a:r>
                  <a:rPr lang="en-US" sz="2000" dirty="0"/>
                  <a:t>Since volume is constant during the process, it implies that the work energy crossing the boundary of the system is zero. Thus;</a:t>
                </a:r>
              </a:p>
              <a:p>
                <a:pPr marL="0" indent="0">
                  <a:buNone/>
                </a:pPr>
                <a:r>
                  <a:rPr lang="en-US" sz="2000" i="1" dirty="0"/>
                  <a:t>               </a:t>
                </a:r>
                <a14:m>
                  <m:oMath xmlns:m="http://schemas.openxmlformats.org/officeDocument/2006/math">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W</m:t>
                        </m:r>
                      </m:e>
                      <m:sub>
                        <m:r>
                          <m:rPr>
                            <m:sty m:val="p"/>
                          </m:rPr>
                          <a:rPr lang="en-US" sz="2000" b="0" i="0" smtClean="0">
                            <a:latin typeface="Cambria Math" panose="02040503050406030204" pitchFamily="18" charset="0"/>
                          </a:rPr>
                          <m:t>if</m:t>
                        </m:r>
                      </m:sub>
                    </m:sSub>
                    <m:r>
                      <a:rPr lang="en-US" sz="2000" b="0" i="0" smtClean="0">
                        <a:latin typeface="Cambria Math" panose="02040503050406030204" pitchFamily="18" charset="0"/>
                      </a:rPr>
                      <m:t>=</m:t>
                    </m:r>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V</m:t>
                            </m:r>
                          </m:e>
                          <m:sub>
                            <m:r>
                              <m:rPr>
                                <m:sty m:val="p"/>
                              </m:rPr>
                              <a:rPr lang="en-US" sz="2000" b="0" i="0" smtClean="0">
                                <a:latin typeface="Cambria Math" panose="02040503050406030204" pitchFamily="18" charset="0"/>
                              </a:rPr>
                              <m:t>f</m:t>
                            </m:r>
                          </m:sub>
                        </m:sSub>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V</m:t>
                            </m:r>
                          </m:e>
                          <m:sub>
                            <m:r>
                              <m:rPr>
                                <m:sty m:val="p"/>
                              </m:rPr>
                              <a:rPr lang="en-US" sz="2000" b="0" i="0" smtClean="0">
                                <a:latin typeface="Cambria Math" panose="02040503050406030204" pitchFamily="18" charset="0"/>
                              </a:rPr>
                              <m:t>i</m:t>
                            </m:r>
                          </m:sub>
                        </m:sSub>
                      </m:e>
                    </m:d>
                  </m:oMath>
                </a14:m>
                <a:r>
                  <a:rPr lang="en-US" sz="2000" dirty="0"/>
                  <a:t>=0</a:t>
                </a:r>
              </a:p>
              <a:p>
                <a:pPr>
                  <a:lnSpc>
                    <a:spcPct val="50000"/>
                  </a:lnSpc>
                  <a:buFont typeface="Wingdings" panose="05000000000000000000" pitchFamily="2" charset="2"/>
                  <a:buChar char="v"/>
                </a:pPr>
                <a:endParaRPr lang="en-US" sz="2000" dirty="0"/>
              </a:p>
              <a:p>
                <a:pPr>
                  <a:buFont typeface="Wingdings" panose="05000000000000000000" pitchFamily="2" charset="2"/>
                  <a:buChar char="v"/>
                </a:pPr>
                <a:r>
                  <a:rPr lang="en-US" sz="2000" dirty="0"/>
                  <a:t>Hence, the NFEE reduces to</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Q</m:t>
                          </m:r>
                        </m:e>
                        <m:sub>
                          <m:r>
                            <m:rPr>
                              <m:sty m:val="p"/>
                            </m:rPr>
                            <a:rPr lang="en-US" sz="2000" i="0">
                              <a:latin typeface="Cambria Math" panose="02040503050406030204" pitchFamily="18" charset="0"/>
                            </a:rPr>
                            <m:t>if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i</m:t>
                          </m:r>
                        </m:sub>
                      </m:sSub>
                      <m:r>
                        <a:rPr lang="en-US" sz="2000" i="0">
                          <a:latin typeface="Cambria Math" panose="02040503050406030204" pitchFamily="18" charset="0"/>
                        </a:rPr>
                        <m:t>=</m:t>
                      </m:r>
                      <m:r>
                        <m:rPr>
                          <m:sty m:val="p"/>
                        </m:rPr>
                        <a:rPr lang="en-US" sz="2000" i="0">
                          <a:latin typeface="Cambria Math" panose="02040503050406030204" pitchFamily="18" charset="0"/>
                        </a:rPr>
                        <m:t>m</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i</m:t>
                              </m:r>
                            </m:sub>
                          </m:sSub>
                        </m:e>
                      </m:d>
                    </m:oMath>
                  </m:oMathPara>
                </a14:m>
                <a:endParaRPr lang="en-US" sz="2000" dirty="0"/>
              </a:p>
              <a:p>
                <a:pPr marL="0" indent="0">
                  <a:lnSpc>
                    <a:spcPct val="50000"/>
                  </a:lnSpc>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n-US" sz="2000" b="0" i="0">
                              <a:latin typeface="Cambria Math" panose="02040503050406030204" pitchFamily="18" charset="0"/>
                            </a:rPr>
                            <m:t>Q</m:t>
                          </m:r>
                        </m:e>
                        <m:sub>
                          <m:r>
                            <m:rPr>
                              <m:sty m:val="p"/>
                            </m:rPr>
                            <a:rPr lang="en-US" sz="2000" b="0" i="0">
                              <a:latin typeface="Cambria Math" panose="02040503050406030204" pitchFamily="18" charset="0"/>
                            </a:rPr>
                            <m:t>if</m:t>
                          </m:r>
                        </m:sub>
                      </m:sSub>
                      <m:r>
                        <a:rPr lang="en-US" sz="2000" b="0" i="0">
                          <a:latin typeface="Cambria Math" panose="02040503050406030204" pitchFamily="18" charset="0"/>
                        </a:rPr>
                        <m:t>=</m:t>
                      </m:r>
                      <m:r>
                        <a:rPr lang="en-US" sz="2000" b="0" i="0" smtClean="0">
                          <a:latin typeface="Cambria Math" panose="02040503050406030204" pitchFamily="18" charset="0"/>
                        </a:rPr>
                        <m:t>2 </m:t>
                      </m:r>
                      <m:r>
                        <m:rPr>
                          <m:sty m:val="p"/>
                        </m:rPr>
                        <a:rPr lang="en-US" sz="2000" b="0" i="0" smtClean="0">
                          <a:latin typeface="Cambria Math" panose="02040503050406030204" pitchFamily="18" charset="0"/>
                        </a:rPr>
                        <m:t>kg</m:t>
                      </m:r>
                      <m:r>
                        <a:rPr lang="en-US" sz="2000" b="0" i="0"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r>
                            <a:rPr lang="en-US" sz="2000" b="0" i="0" smtClean="0">
                              <a:latin typeface="Cambria Math" panose="02040503050406030204" pitchFamily="18" charset="0"/>
                            </a:rPr>
                            <m:t>180</m:t>
                          </m:r>
                          <m:r>
                            <a:rPr lang="en-US" sz="2000" b="0" i="0">
                              <a:latin typeface="Cambria Math" panose="02040503050406030204" pitchFamily="18" charset="0"/>
                            </a:rPr>
                            <m:t>−</m:t>
                          </m:r>
                          <m:r>
                            <a:rPr lang="en-US" sz="2000" b="0" i="0" smtClean="0">
                              <a:latin typeface="Cambria Math" panose="02040503050406030204" pitchFamily="18" charset="0"/>
                            </a:rPr>
                            <m:t>120</m:t>
                          </m:r>
                        </m:e>
                      </m:d>
                      <m:f>
                        <m:fPr>
                          <m:ctrlPr>
                            <a:rPr lang="en-US" sz="2000" i="1" smtClean="0">
                              <a:latin typeface="Cambria Math" panose="02040503050406030204" pitchFamily="18" charset="0"/>
                            </a:rPr>
                          </m:ctrlPr>
                        </m:fPr>
                        <m:num>
                          <m:r>
                            <m:rPr>
                              <m:sty m:val="p"/>
                            </m:rPr>
                            <a:rPr lang="en-US" sz="2000" b="0" i="0" smtClean="0">
                              <a:latin typeface="Cambria Math" panose="02040503050406030204" pitchFamily="18" charset="0"/>
                            </a:rPr>
                            <m:t>kJ</m:t>
                          </m:r>
                        </m:num>
                        <m:den>
                          <m:r>
                            <m:rPr>
                              <m:sty m:val="p"/>
                            </m:rPr>
                            <a:rPr lang="en-US" sz="2000" b="0" i="0" smtClean="0">
                              <a:latin typeface="Cambria Math" panose="02040503050406030204" pitchFamily="18" charset="0"/>
                            </a:rPr>
                            <m:t>kg</m:t>
                          </m:r>
                        </m:den>
                      </m:f>
                      <m:r>
                        <a:rPr lang="en-US" sz="2000" b="0" i="0" smtClean="0">
                          <a:latin typeface="Cambria Math" panose="02040503050406030204" pitchFamily="18" charset="0"/>
                        </a:rPr>
                        <m:t>=</m:t>
                      </m:r>
                      <m:r>
                        <a:rPr lang="en-US" sz="2000" b="1" i="0" smtClean="0">
                          <a:solidFill>
                            <a:srgbClr val="FF0000"/>
                          </a:solidFill>
                          <a:latin typeface="Cambria Math" panose="02040503050406030204" pitchFamily="18" charset="0"/>
                        </a:rPr>
                        <m:t>𝟏𝟐𝟎</m:t>
                      </m:r>
                      <m:r>
                        <a:rPr lang="en-US" sz="2000" b="1" i="0" smtClean="0">
                          <a:solidFill>
                            <a:srgbClr val="FF0000"/>
                          </a:solidFill>
                          <a:latin typeface="Cambria Math" panose="02040503050406030204" pitchFamily="18" charset="0"/>
                        </a:rPr>
                        <m:t> </m:t>
                      </m:r>
                      <m:r>
                        <a:rPr lang="en-US" sz="2000" b="1" i="0" smtClean="0">
                          <a:solidFill>
                            <a:srgbClr val="FF0000"/>
                          </a:solidFill>
                          <a:latin typeface="Cambria Math" panose="02040503050406030204" pitchFamily="18" charset="0"/>
                        </a:rPr>
                        <m:t>𝐤𝐉</m:t>
                      </m:r>
                    </m:oMath>
                  </m:oMathPara>
                </a14:m>
                <a:endParaRPr lang="en-US" sz="2000" b="1"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244353" y="1021976"/>
                <a:ext cx="6670143" cy="4988859"/>
              </a:xfrm>
              <a:blipFill rotWithShape="0">
                <a:blip r:embed="rId2"/>
                <a:stretch>
                  <a:fillRect l="-1828" t="-134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11</a:t>
            </a:fld>
            <a:endParaRPr lang="en-US" dirty="0"/>
          </a:p>
        </p:txBody>
      </p:sp>
      <p:sp>
        <p:nvSpPr>
          <p:cNvPr id="10" name="Content Placeholder 2"/>
          <p:cNvSpPr txBox="1">
            <a:spLocks/>
          </p:cNvSpPr>
          <p:nvPr/>
        </p:nvSpPr>
        <p:spPr>
          <a:xfrm>
            <a:off x="452510" y="1021976"/>
            <a:ext cx="4496008" cy="498885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1</a:t>
            </a:r>
          </a:p>
          <a:p>
            <a:pPr>
              <a:buFont typeface="Wingdings" panose="05000000000000000000" pitchFamily="2" charset="2"/>
              <a:buChar char="v"/>
            </a:pPr>
            <a:r>
              <a:rPr lang="en-US" sz="2400" dirty="0"/>
              <a:t>The specific internal energy of a fluid is increased from 120 kJ/kg to 180 kJ/kg during a constant volume process. Determine the amount of heat energy required to bring about this increase for 2 kg of the fluid.</a:t>
            </a:r>
          </a:p>
          <a:p>
            <a:pPr>
              <a:buFont typeface="Wingdings" panose="05000000000000000000" pitchFamily="2" charset="2"/>
              <a:buChar char="v"/>
            </a:pPr>
            <a:r>
              <a:rPr lang="en-US" sz="2400" b="1" dirty="0">
                <a:solidFill>
                  <a:srgbClr val="002060"/>
                </a:solidFill>
              </a:rPr>
              <a:t>Suggested Answer: [120 kJ]</a:t>
            </a:r>
          </a:p>
        </p:txBody>
      </p:sp>
    </p:spTree>
    <p:extLst>
      <p:ext uri="{BB962C8B-B14F-4D97-AF65-F5344CB8AC3E}">
        <p14:creationId xmlns:p14="http://schemas.microsoft.com/office/powerpoint/2010/main" val="32637331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514600" y="1206868"/>
            <a:ext cx="11466729" cy="4625789"/>
          </a:xfrm>
        </p:spPr>
        <p:txBody>
          <a:bodyPr>
            <a:noAutofit/>
          </a:bodyPr>
          <a:lstStyle/>
          <a:p>
            <a:pPr marL="0" indent="0">
              <a:buNone/>
            </a:pPr>
            <a:r>
              <a:rPr lang="en-US" b="1" dirty="0">
                <a:solidFill>
                  <a:srgbClr val="C00000"/>
                </a:solidFill>
              </a:rPr>
              <a:t>Problem 2</a:t>
            </a:r>
          </a:p>
          <a:p>
            <a:pPr>
              <a:buFont typeface="Wingdings" panose="05000000000000000000" pitchFamily="2" charset="2"/>
              <a:buChar char="v"/>
            </a:pPr>
            <a:r>
              <a:rPr lang="en-US" dirty="0"/>
              <a:t>2.25 kg of a fluid having a volume of 0.1 m</a:t>
            </a:r>
            <a:r>
              <a:rPr lang="en-US" baseline="30000" dirty="0"/>
              <a:t>3</a:t>
            </a:r>
            <a:r>
              <a:rPr lang="en-US" dirty="0"/>
              <a:t> are contained in a cylinder at a constant pressure of 7 bar. Heat energy is supplied to the fluid until the volume becomes 0.2 m</a:t>
            </a:r>
            <a:r>
              <a:rPr lang="en-US" baseline="30000" dirty="0"/>
              <a:t>3</a:t>
            </a:r>
            <a:r>
              <a:rPr lang="en-US" dirty="0"/>
              <a:t>. If the initial and final specific enthalpies of the fluid are 210 kJ/kg and 280 kJ/kg, respectively, determine,</a:t>
            </a:r>
          </a:p>
          <a:p>
            <a:pPr marL="0" indent="0">
              <a:buNone/>
            </a:pPr>
            <a:r>
              <a:rPr lang="en-US" b="0" dirty="0"/>
              <a:t>(a) the quantity of heat energy supplied to the fluid</a:t>
            </a:r>
          </a:p>
          <a:p>
            <a:pPr marL="0" indent="0">
              <a:buNone/>
            </a:pPr>
            <a:r>
              <a:rPr lang="en-US" dirty="0"/>
              <a:t>(b) the change in internal energy of the fluid.</a:t>
            </a:r>
          </a:p>
          <a:p>
            <a:pPr>
              <a:buFont typeface="Wingdings" panose="05000000000000000000" pitchFamily="2" charset="2"/>
              <a:buChar char="v"/>
            </a:pPr>
            <a:r>
              <a:rPr lang="en-US" b="1" dirty="0">
                <a:solidFill>
                  <a:srgbClr val="002060"/>
                </a:solidFill>
              </a:rPr>
              <a:t>Suggested Answer: [(a) 157.5 kJ; (b) 87.5 kJ]</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12</a:t>
            </a:fld>
            <a:endParaRPr lang="en-US" dirty="0"/>
          </a:p>
        </p:txBody>
      </p:sp>
    </p:spTree>
    <p:extLst>
      <p:ext uri="{BB962C8B-B14F-4D97-AF65-F5344CB8AC3E}">
        <p14:creationId xmlns:p14="http://schemas.microsoft.com/office/powerpoint/2010/main" val="376115172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13</a:t>
            </a:fld>
            <a:endParaRPr lang="en-US" dirty="0"/>
          </a:p>
        </p:txBody>
      </p:sp>
      <mc:AlternateContent xmlns:mc="http://schemas.openxmlformats.org/markup-compatibility/2006" xmlns:a14="http://schemas.microsoft.com/office/drawing/2010/main">
        <mc:Choice Requires="a14">
          <p:sp>
            <p:nvSpPr>
              <p:cNvPr id="6" name="Content Placeholder 2"/>
              <p:cNvSpPr>
                <a:spLocks noGrp="1"/>
              </p:cNvSpPr>
              <p:nvPr>
                <p:ph sz="half" idx="1"/>
              </p:nvPr>
            </p:nvSpPr>
            <p:spPr>
              <a:xfrm>
                <a:off x="820271" y="1021976"/>
                <a:ext cx="10448364" cy="4988859"/>
              </a:xfrm>
            </p:spPr>
            <p:txBody>
              <a:bodyPr>
                <a:noAutofit/>
              </a:bodyPr>
              <a:lstStyle/>
              <a:p>
                <a:pPr marL="0" indent="0">
                  <a:buNone/>
                </a:pPr>
                <a:r>
                  <a:rPr lang="en-US" b="1" dirty="0">
                    <a:solidFill>
                      <a:srgbClr val="C00000"/>
                    </a:solidFill>
                  </a:rPr>
                  <a:t>Solution</a:t>
                </a:r>
              </a:p>
              <a:p>
                <a:pPr>
                  <a:buFont typeface="Wingdings" panose="05000000000000000000" pitchFamily="2" charset="2"/>
                  <a:buChar char="v"/>
                </a:pPr>
                <a:r>
                  <a:rPr lang="en-US" sz="2000" dirty="0"/>
                  <a:t>For a closed system undergoing a constant pressure process from initial state, </a:t>
                </a:r>
                <a:r>
                  <a:rPr lang="en-US" sz="2000" dirty="0" err="1"/>
                  <a:t>i</a:t>
                </a:r>
                <a:r>
                  <a:rPr lang="en-US" sz="2000" dirty="0"/>
                  <a:t> to a final state, f, the heat energy crossing the boundary of the system is given by;</a:t>
                </a:r>
              </a:p>
              <a:p>
                <a:pPr>
                  <a:lnSpc>
                    <a:spcPct val="50000"/>
                  </a:lnSpc>
                  <a:buFont typeface="Wingdings" panose="05000000000000000000" pitchFamily="2" charset="2"/>
                  <a:buChar char="v"/>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Q</m:t>
                          </m:r>
                        </m:e>
                        <m:sub>
                          <m:r>
                            <m:rPr>
                              <m:sty m:val="p"/>
                            </m:rPr>
                            <a:rPr lang="en-US" sz="2000" b="0" i="0" smtClean="0">
                              <a:solidFill>
                                <a:schemeClr val="tx1"/>
                              </a:solidFill>
                              <a:latin typeface="Cambria Math" panose="02040503050406030204" pitchFamily="18" charset="0"/>
                            </a:rPr>
                            <m:t>if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H</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H</m:t>
                          </m:r>
                        </m:e>
                        <m:sub>
                          <m:r>
                            <m:rPr>
                              <m:sty m:val="p"/>
                            </m:rPr>
                            <a:rPr lang="en-US" sz="2000" b="0" i="0" smtClean="0">
                              <a:solidFill>
                                <a:schemeClr val="tx1"/>
                              </a:solidFill>
                              <a:latin typeface="Cambria Math" panose="02040503050406030204" pitchFamily="18" charset="0"/>
                            </a:rPr>
                            <m:t>i</m:t>
                          </m:r>
                        </m:sub>
                      </m:sSub>
                      <m:r>
                        <a:rPr lang="en-US" sz="2000" b="0" i="0" smtClean="0">
                          <a:solidFill>
                            <a:schemeClr val="tx1"/>
                          </a:solidFill>
                          <a:latin typeface="Cambria Math" panose="02040503050406030204" pitchFamily="18" charset="0"/>
                        </a:rPr>
                        <m:t>=</m:t>
                      </m:r>
                      <m:r>
                        <m:rPr>
                          <m:sty m:val="p"/>
                        </m:rPr>
                        <a:rPr lang="en-US" sz="2000" b="0" i="0" smtClean="0">
                          <a:solidFill>
                            <a:schemeClr val="tx1"/>
                          </a:solidFill>
                          <a:latin typeface="Cambria Math" panose="02040503050406030204" pitchFamily="18" charset="0"/>
                        </a:rPr>
                        <m:t>m</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h</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h</m:t>
                              </m:r>
                            </m:e>
                            <m:sub>
                              <m:r>
                                <m:rPr>
                                  <m:sty m:val="p"/>
                                </m:rPr>
                                <a:rPr lang="en-US" sz="2000" b="0" i="0" smtClean="0">
                                  <a:solidFill>
                                    <a:schemeClr val="tx1"/>
                                  </a:solidFill>
                                  <a:latin typeface="Cambria Math" panose="02040503050406030204" pitchFamily="18" charset="0"/>
                                </a:rPr>
                                <m:t>i</m:t>
                              </m:r>
                            </m:sub>
                          </m:sSub>
                        </m:e>
                      </m:d>
                    </m:oMath>
                  </m:oMathPara>
                </a14:m>
                <a:endParaRPr lang="en-US" sz="2000"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Q</m:t>
                          </m:r>
                        </m:e>
                        <m:sub>
                          <m:r>
                            <m:rPr>
                              <m:sty m:val="p"/>
                            </m:rPr>
                            <a:rPr lang="en-US" sz="2000" i="0">
                              <a:latin typeface="Cambria Math" panose="02040503050406030204" pitchFamily="18" charset="0"/>
                            </a:rPr>
                            <m:t>if</m:t>
                          </m:r>
                        </m:sub>
                      </m:sSub>
                      <m:r>
                        <a:rPr lang="en-US" sz="2000" i="0">
                          <a:latin typeface="Cambria Math" panose="02040503050406030204" pitchFamily="18" charset="0"/>
                        </a:rPr>
                        <m:t>=</m:t>
                      </m:r>
                      <m:r>
                        <a:rPr lang="en-US" sz="2000" b="0" i="0" smtClean="0">
                          <a:latin typeface="Cambria Math" panose="02040503050406030204" pitchFamily="18" charset="0"/>
                        </a:rPr>
                        <m:t>2.25</m:t>
                      </m:r>
                      <m:r>
                        <a:rPr lang="en-US" sz="2000" i="0">
                          <a:latin typeface="Cambria Math" panose="02040503050406030204" pitchFamily="18" charset="0"/>
                        </a:rPr>
                        <m:t> </m:t>
                      </m:r>
                      <m:r>
                        <m:rPr>
                          <m:sty m:val="p"/>
                        </m:rPr>
                        <a:rPr lang="en-US" sz="2000" i="0">
                          <a:latin typeface="Cambria Math" panose="02040503050406030204" pitchFamily="18" charset="0"/>
                        </a:rPr>
                        <m:t>kg</m:t>
                      </m:r>
                      <m:r>
                        <a:rPr lang="en-US" sz="2000" i="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r>
                            <a:rPr lang="en-US" sz="2000" b="0" i="0" smtClean="0">
                              <a:latin typeface="Cambria Math" panose="02040503050406030204" pitchFamily="18" charset="0"/>
                            </a:rPr>
                            <m:t>280</m:t>
                          </m:r>
                          <m:r>
                            <a:rPr lang="en-US" sz="2000" i="0">
                              <a:latin typeface="Cambria Math" panose="02040503050406030204" pitchFamily="18" charset="0"/>
                            </a:rPr>
                            <m:t>−</m:t>
                          </m:r>
                          <m:r>
                            <a:rPr lang="en-US" sz="2000" b="0" i="0" smtClean="0">
                              <a:latin typeface="Cambria Math" panose="02040503050406030204" pitchFamily="18" charset="0"/>
                            </a:rPr>
                            <m:t>210</m:t>
                          </m:r>
                        </m:e>
                      </m:d>
                      <m:f>
                        <m:fPr>
                          <m:ctrlPr>
                            <a:rPr lang="en-US" sz="2000" i="1">
                              <a:latin typeface="Cambria Math" panose="02040503050406030204" pitchFamily="18" charset="0"/>
                            </a:rPr>
                          </m:ctrlPr>
                        </m:fPr>
                        <m:num>
                          <m:r>
                            <m:rPr>
                              <m:sty m:val="p"/>
                            </m:rPr>
                            <a:rPr lang="en-US" sz="2000" i="0">
                              <a:latin typeface="Cambria Math" panose="02040503050406030204" pitchFamily="18" charset="0"/>
                            </a:rPr>
                            <m:t>kJ</m:t>
                          </m:r>
                        </m:num>
                        <m:den>
                          <m:r>
                            <m:rPr>
                              <m:sty m:val="p"/>
                            </m:rPr>
                            <a:rPr lang="en-US" sz="2000" i="0">
                              <a:latin typeface="Cambria Math" panose="02040503050406030204" pitchFamily="18" charset="0"/>
                            </a:rPr>
                            <m:t>kg</m:t>
                          </m:r>
                        </m:den>
                      </m:f>
                      <m:r>
                        <a:rPr lang="en-US" sz="2000" i="0">
                          <a:latin typeface="Cambria Math" panose="02040503050406030204" pitchFamily="18" charset="0"/>
                        </a:rPr>
                        <m:t>=</m:t>
                      </m:r>
                      <m:r>
                        <a:rPr lang="en-US" sz="2000" b="1" i="0">
                          <a:solidFill>
                            <a:srgbClr val="FF0000"/>
                          </a:solidFill>
                          <a:latin typeface="Cambria Math" panose="02040503050406030204" pitchFamily="18" charset="0"/>
                        </a:rPr>
                        <m:t>𝟏</m:t>
                      </m:r>
                      <m:r>
                        <a:rPr lang="en-US" sz="2000" b="1" i="0" smtClean="0">
                          <a:solidFill>
                            <a:srgbClr val="FF0000"/>
                          </a:solidFill>
                          <a:latin typeface="Cambria Math" panose="02040503050406030204" pitchFamily="18" charset="0"/>
                        </a:rPr>
                        <m:t>𝟓𝟕</m:t>
                      </m:r>
                      <m:r>
                        <a:rPr lang="en-US" sz="2000" b="1" i="0" smtClean="0">
                          <a:solidFill>
                            <a:srgbClr val="FF0000"/>
                          </a:solidFill>
                          <a:latin typeface="Cambria Math" panose="02040503050406030204" pitchFamily="18" charset="0"/>
                        </a:rPr>
                        <m:t>.</m:t>
                      </m:r>
                      <m:r>
                        <a:rPr lang="en-US" sz="2000" b="1" i="0" smtClean="0">
                          <a:solidFill>
                            <a:srgbClr val="FF0000"/>
                          </a:solidFill>
                          <a:latin typeface="Cambria Math" panose="02040503050406030204" pitchFamily="18" charset="0"/>
                        </a:rPr>
                        <m:t>𝟓</m:t>
                      </m:r>
                      <m:r>
                        <a:rPr lang="en-US" sz="2000" b="1" i="0">
                          <a:solidFill>
                            <a:srgbClr val="FF0000"/>
                          </a:solidFill>
                          <a:latin typeface="Cambria Math" panose="02040503050406030204" pitchFamily="18" charset="0"/>
                        </a:rPr>
                        <m:t> </m:t>
                      </m:r>
                      <m:r>
                        <a:rPr lang="en-US" sz="2000" b="1" i="0">
                          <a:solidFill>
                            <a:srgbClr val="FF0000"/>
                          </a:solidFill>
                          <a:latin typeface="Cambria Math" panose="02040503050406030204" pitchFamily="18" charset="0"/>
                        </a:rPr>
                        <m:t>𝐤𝐉</m:t>
                      </m:r>
                    </m:oMath>
                  </m:oMathPara>
                </a14:m>
                <a:endParaRPr lang="en-US" sz="2000" b="1" dirty="0">
                  <a:solidFill>
                    <a:srgbClr val="FF0000"/>
                  </a:solidFill>
                </a:endParaRPr>
              </a:p>
              <a:p>
                <a:pPr>
                  <a:lnSpc>
                    <a:spcPct val="50000"/>
                  </a:lnSpc>
                  <a:buFont typeface="Wingdings" panose="05000000000000000000" pitchFamily="2" charset="2"/>
                  <a:buChar char="v"/>
                </a:pPr>
                <a:endParaRPr lang="en-US" sz="2000" dirty="0"/>
              </a:p>
              <a:p>
                <a:pPr>
                  <a:buFont typeface="Wingdings" panose="05000000000000000000" pitchFamily="2" charset="2"/>
                  <a:buChar char="v"/>
                </a:pPr>
                <a:r>
                  <a:rPr lang="en-US" sz="2000" dirty="0"/>
                  <a:t>Since pressure is constant during the process, it implies that the work energy crossing the boundary of the system is given by</a:t>
                </a:r>
              </a:p>
              <a:p>
                <a:pPr marL="0" indent="0">
                  <a:buNone/>
                </a:pPr>
                <a:r>
                  <a:rPr lang="en-US" sz="2000" dirty="0"/>
                  <a:t>                                                </a:t>
                </a:r>
                <a14:m>
                  <m:oMath xmlns:m="http://schemas.openxmlformats.org/officeDocument/2006/math">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W</m:t>
                        </m:r>
                      </m:e>
                      <m:sub>
                        <m:r>
                          <m:rPr>
                            <m:sty m:val="p"/>
                          </m:rPr>
                          <a:rPr lang="en-US" sz="2000" b="0" i="0" smtClean="0">
                            <a:latin typeface="Cambria Math" panose="02040503050406030204" pitchFamily="18" charset="0"/>
                          </a:rPr>
                          <m:t>if</m:t>
                        </m:r>
                      </m:sub>
                    </m:sSub>
                    <m:r>
                      <a:rPr lang="en-US" sz="2000" b="0" i="0" smtClean="0">
                        <a:latin typeface="Cambria Math" panose="02040503050406030204" pitchFamily="18" charset="0"/>
                      </a:rPr>
                      <m:t>=</m:t>
                    </m:r>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V</m:t>
                            </m:r>
                          </m:e>
                          <m:sub>
                            <m:r>
                              <m:rPr>
                                <m:sty m:val="p"/>
                              </m:rPr>
                              <a:rPr lang="en-US" sz="2000" b="0" i="0" smtClean="0">
                                <a:latin typeface="Cambria Math" panose="02040503050406030204" pitchFamily="18" charset="0"/>
                              </a:rPr>
                              <m:t>f</m:t>
                            </m:r>
                          </m:sub>
                        </m:sSub>
                        <m:r>
                          <a:rPr lang="en-US" sz="2000" b="0" i="0"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V</m:t>
                            </m:r>
                          </m:e>
                          <m:sub>
                            <m:r>
                              <m:rPr>
                                <m:sty m:val="p"/>
                              </m:rPr>
                              <a:rPr lang="en-US" sz="2000" b="0" i="0" smtClean="0">
                                <a:latin typeface="Cambria Math" panose="02040503050406030204" pitchFamily="18" charset="0"/>
                              </a:rPr>
                              <m:t>i</m:t>
                            </m:r>
                          </m:sub>
                        </m:sSub>
                      </m:e>
                    </m:d>
                    <m:r>
                      <a:rPr lang="en-US" sz="2000" b="0" i="0" smtClean="0">
                        <a:latin typeface="Cambria Math" panose="02040503050406030204" pitchFamily="18" charset="0"/>
                      </a:rPr>
                      <m:t>=700 </m:t>
                    </m:r>
                    <m:r>
                      <m:rPr>
                        <m:sty m:val="p"/>
                      </m:rPr>
                      <a:rPr lang="en-US" sz="2000" b="0" i="0" smtClean="0">
                        <a:latin typeface="Cambria Math" panose="02040503050406030204" pitchFamily="18" charset="0"/>
                      </a:rPr>
                      <m:t>kPa</m:t>
                    </m:r>
                    <m:r>
                      <a:rPr lang="en-US" sz="2000" b="0" i="0"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0" smtClean="0">
                            <a:latin typeface="Cambria Math" panose="02040503050406030204" pitchFamily="18" charset="0"/>
                            <a:ea typeface="Cambria Math" panose="02040503050406030204" pitchFamily="18" charset="0"/>
                          </a:rPr>
                          <m:t>0.2−0.1</m:t>
                        </m:r>
                      </m:e>
                    </m:d>
                    <m:sSup>
                      <m:sSupPr>
                        <m:ctrlPr>
                          <a:rPr lang="en-US" sz="2000" b="0" i="1" smtClean="0">
                            <a:latin typeface="Cambria Math" panose="02040503050406030204" pitchFamily="18" charset="0"/>
                            <a:ea typeface="Cambria Math" panose="02040503050406030204" pitchFamily="18" charset="0"/>
                          </a:rPr>
                        </m:ctrlPr>
                      </m:sSupPr>
                      <m:e>
                        <m:r>
                          <m:rPr>
                            <m:sty m:val="p"/>
                          </m:rPr>
                          <a:rPr lang="en-US" sz="2000" b="0" i="0" smtClean="0">
                            <a:latin typeface="Cambria Math" panose="02040503050406030204" pitchFamily="18" charset="0"/>
                            <a:ea typeface="Cambria Math" panose="02040503050406030204" pitchFamily="18" charset="0"/>
                          </a:rPr>
                          <m:t>m</m:t>
                        </m:r>
                      </m:e>
                      <m:sup>
                        <m:r>
                          <a:rPr lang="en-US" sz="2000" b="0" i="0" smtClean="0">
                            <a:latin typeface="Cambria Math" panose="02040503050406030204" pitchFamily="18" charset="0"/>
                            <a:ea typeface="Cambria Math" panose="02040503050406030204" pitchFamily="18" charset="0"/>
                          </a:rPr>
                          <m:t>3</m:t>
                        </m:r>
                      </m:sup>
                    </m:sSup>
                    <m:r>
                      <a:rPr lang="en-US" sz="2000" b="0" i="0" smtClean="0">
                        <a:latin typeface="Cambria Math" panose="02040503050406030204" pitchFamily="18" charset="0"/>
                        <a:ea typeface="Cambria Math" panose="02040503050406030204" pitchFamily="18" charset="0"/>
                      </a:rPr>
                      <m:t>=</m:t>
                    </m:r>
                    <m:r>
                      <a:rPr lang="en-US" sz="2000" b="1" i="0" smtClean="0">
                        <a:solidFill>
                          <a:srgbClr val="002060"/>
                        </a:solidFill>
                        <a:latin typeface="Cambria Math" panose="02040503050406030204" pitchFamily="18" charset="0"/>
                        <a:ea typeface="Cambria Math" panose="02040503050406030204" pitchFamily="18" charset="0"/>
                      </a:rPr>
                      <m:t>𝟕𝟎</m:t>
                    </m:r>
                    <m:r>
                      <a:rPr lang="en-US" sz="2000" b="1" i="0" smtClean="0">
                        <a:solidFill>
                          <a:srgbClr val="002060"/>
                        </a:solidFill>
                        <a:latin typeface="Cambria Math" panose="02040503050406030204" pitchFamily="18" charset="0"/>
                        <a:ea typeface="Cambria Math" panose="02040503050406030204" pitchFamily="18" charset="0"/>
                      </a:rPr>
                      <m:t> </m:t>
                    </m:r>
                    <m:r>
                      <a:rPr lang="en-US" sz="2000" b="1" i="0" smtClean="0">
                        <a:solidFill>
                          <a:srgbClr val="002060"/>
                        </a:solidFill>
                        <a:latin typeface="Cambria Math" panose="02040503050406030204" pitchFamily="18" charset="0"/>
                        <a:ea typeface="Cambria Math" panose="02040503050406030204" pitchFamily="18" charset="0"/>
                      </a:rPr>
                      <m:t>𝐤𝐉</m:t>
                    </m:r>
                  </m:oMath>
                </a14:m>
                <a:endParaRPr lang="en-US" sz="2000" b="1" dirty="0">
                  <a:solidFill>
                    <a:srgbClr val="FF0000"/>
                  </a:solidFill>
                </a:endParaRPr>
              </a:p>
              <a:p>
                <a:pPr>
                  <a:lnSpc>
                    <a:spcPct val="50000"/>
                  </a:lnSpc>
                  <a:buFont typeface="Wingdings" panose="05000000000000000000" pitchFamily="2" charset="2"/>
                  <a:buChar char="v"/>
                </a:pPr>
                <a:endParaRPr lang="en-US" sz="2000" dirty="0"/>
              </a:p>
              <a:p>
                <a:pPr>
                  <a:buFont typeface="Wingdings" panose="05000000000000000000" pitchFamily="2" charset="2"/>
                  <a:buChar char="v"/>
                </a:pPr>
                <a:r>
                  <a:rPr lang="en-US" sz="2000" dirty="0"/>
                  <a:t>Hence, from the non-flow energy equation,</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Q</m:t>
                          </m:r>
                        </m:e>
                        <m:sub>
                          <m:r>
                            <m:rPr>
                              <m:sty m:val="p"/>
                            </m:rPr>
                            <a:rPr lang="en-US" sz="2000" i="0">
                              <a:latin typeface="Cambria Math" panose="02040503050406030204" pitchFamily="18" charset="0"/>
                            </a:rPr>
                            <m:t>if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W</m:t>
                          </m:r>
                        </m:e>
                        <m:sub>
                          <m:r>
                            <m:rPr>
                              <m:sty m:val="p"/>
                            </m:rPr>
                            <a:rPr lang="en-US" sz="2000" i="0">
                              <a:latin typeface="Cambria Math" panose="02040503050406030204" pitchFamily="18" charset="0"/>
                            </a:rPr>
                            <m:t>if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i</m:t>
                          </m:r>
                        </m:sub>
                      </m:sSub>
                      <m:r>
                        <a:rPr lang="en-US" sz="2000" i="0">
                          <a:latin typeface="Cambria Math" panose="02040503050406030204" pitchFamily="18" charset="0"/>
                          <a:ea typeface="Cambria Math" panose="02040503050406030204" pitchFamily="18" charset="0"/>
                        </a:rPr>
                        <m:t>⇒</m:t>
                      </m:r>
                      <m:r>
                        <a:rPr lang="en-US" sz="2000" i="0" smtClean="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U</m:t>
                      </m:r>
                      <m:r>
                        <a:rPr lang="en-US" sz="2000" b="0" i="0" smtClean="0">
                          <a:latin typeface="Cambria Math" panose="02040503050406030204" pitchFamily="18" charset="0"/>
                          <a:ea typeface="Cambria Math" panose="02040503050406030204" pitchFamily="18" charset="0"/>
                        </a:rPr>
                        <m:t>=157.5−70=</m:t>
                      </m:r>
                      <m:r>
                        <a:rPr lang="en-US" sz="2000" b="1" i="0" smtClean="0">
                          <a:solidFill>
                            <a:srgbClr val="FF0000"/>
                          </a:solidFill>
                          <a:latin typeface="Cambria Math" panose="02040503050406030204" pitchFamily="18" charset="0"/>
                          <a:ea typeface="Cambria Math" panose="02040503050406030204" pitchFamily="18" charset="0"/>
                        </a:rPr>
                        <m:t>𝟖𝟕</m:t>
                      </m:r>
                      <m:r>
                        <a:rPr lang="en-US" sz="2000" b="1" i="0" smtClean="0">
                          <a:solidFill>
                            <a:srgbClr val="FF0000"/>
                          </a:solidFill>
                          <a:latin typeface="Cambria Math" panose="02040503050406030204" pitchFamily="18" charset="0"/>
                          <a:ea typeface="Cambria Math" panose="02040503050406030204" pitchFamily="18" charset="0"/>
                        </a:rPr>
                        <m:t>.</m:t>
                      </m:r>
                      <m:r>
                        <a:rPr lang="en-US" sz="2000" b="1" i="0" smtClean="0">
                          <a:solidFill>
                            <a:srgbClr val="FF0000"/>
                          </a:solidFill>
                          <a:latin typeface="Cambria Math" panose="02040503050406030204" pitchFamily="18" charset="0"/>
                          <a:ea typeface="Cambria Math" panose="02040503050406030204" pitchFamily="18" charset="0"/>
                        </a:rPr>
                        <m:t>𝟓</m:t>
                      </m:r>
                      <m:r>
                        <a:rPr lang="en-US" sz="2000" b="1" i="0" smtClean="0">
                          <a:solidFill>
                            <a:srgbClr val="FF0000"/>
                          </a:solidFill>
                          <a:latin typeface="Cambria Math" panose="02040503050406030204" pitchFamily="18" charset="0"/>
                          <a:ea typeface="Cambria Math" panose="02040503050406030204" pitchFamily="18" charset="0"/>
                        </a:rPr>
                        <m:t> </m:t>
                      </m:r>
                      <m:r>
                        <a:rPr lang="en-US" sz="2000" b="1" i="0" smtClean="0">
                          <a:solidFill>
                            <a:srgbClr val="FF0000"/>
                          </a:solidFill>
                          <a:latin typeface="Cambria Math" panose="02040503050406030204" pitchFamily="18" charset="0"/>
                          <a:ea typeface="Cambria Math" panose="02040503050406030204" pitchFamily="18" charset="0"/>
                        </a:rPr>
                        <m:t>𝐤𝐉</m:t>
                      </m:r>
                    </m:oMath>
                  </m:oMathPara>
                </a14:m>
                <a:endParaRPr lang="en-US" sz="2000" b="1" dirty="0">
                  <a:solidFill>
                    <a:srgbClr val="FF0000"/>
                  </a:solidFill>
                </a:endParaRPr>
              </a:p>
            </p:txBody>
          </p:sp>
        </mc:Choice>
        <mc:Fallback xmlns="">
          <p:sp>
            <p:nvSpPr>
              <p:cNvPr id="6" name="Content Placeholder 2"/>
              <p:cNvSpPr>
                <a:spLocks noGrp="1" noRot="1" noChangeAspect="1" noMove="1" noResize="1" noEditPoints="1" noAdjustHandles="1" noChangeArrowheads="1" noChangeShapeType="1" noTextEdit="1"/>
              </p:cNvSpPr>
              <p:nvPr>
                <p:ph sz="half" idx="1"/>
              </p:nvPr>
            </p:nvSpPr>
            <p:spPr>
              <a:xfrm>
                <a:off x="820271" y="1021976"/>
                <a:ext cx="10448364" cy="4988859"/>
              </a:xfrm>
              <a:blipFill rotWithShape="0">
                <a:blip r:embed="rId2"/>
                <a:stretch>
                  <a:fillRect l="-1225" t="-1345"/>
                </a:stretch>
              </a:blipFill>
            </p:spPr>
            <p:txBody>
              <a:bodyPr/>
              <a:lstStyle/>
              <a:p>
                <a:r>
                  <a:rPr lang="en-US">
                    <a:noFill/>
                  </a:rPr>
                  <a:t> </a:t>
                </a:r>
              </a:p>
            </p:txBody>
          </p:sp>
        </mc:Fallback>
      </mc:AlternateContent>
    </p:spTree>
    <p:extLst>
      <p:ext uri="{BB962C8B-B14F-4D97-AF65-F5344CB8AC3E}">
        <p14:creationId xmlns:p14="http://schemas.microsoft.com/office/powerpoint/2010/main" val="32046777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14</a:t>
            </a:fld>
            <a:endParaRPr lang="en-US" dirty="0"/>
          </a:p>
        </p:txBody>
      </p:sp>
      <p:sp>
        <p:nvSpPr>
          <p:cNvPr id="10" name="Content Placeholder 2"/>
          <p:cNvSpPr txBox="1">
            <a:spLocks/>
          </p:cNvSpPr>
          <p:nvPr/>
        </p:nvSpPr>
        <p:spPr>
          <a:xfrm>
            <a:off x="452510" y="1021976"/>
            <a:ext cx="4496008" cy="498885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3</a:t>
            </a:r>
          </a:p>
          <a:p>
            <a:pPr>
              <a:buFont typeface="Wingdings" panose="05000000000000000000" pitchFamily="2" charset="2"/>
              <a:buChar char="v"/>
            </a:pPr>
            <a:r>
              <a:rPr lang="en-US" sz="2400" dirty="0"/>
              <a:t>During an adiabatic expansion process, 0.5 kg of fluid transfers 43.5 kJ of work energy. Determine the change in specific internal energy of the fluid during the process.</a:t>
            </a:r>
          </a:p>
          <a:p>
            <a:pPr>
              <a:buFont typeface="Wingdings" panose="05000000000000000000" pitchFamily="2" charset="2"/>
              <a:buChar char="v"/>
            </a:pPr>
            <a:r>
              <a:rPr lang="en-US" sz="2400" b="1" dirty="0">
                <a:solidFill>
                  <a:srgbClr val="002060"/>
                </a:solidFill>
              </a:rPr>
              <a:t>Suggested Answer: [-87 kJ/kg; The internal energy decreases during the process]</a:t>
            </a:r>
          </a:p>
        </p:txBody>
      </p:sp>
      <mc:AlternateContent xmlns:mc="http://schemas.openxmlformats.org/markup-compatibility/2006" xmlns:a14="http://schemas.microsoft.com/office/drawing/2010/main">
        <mc:Choice Requires="a14">
          <p:sp>
            <p:nvSpPr>
              <p:cNvPr id="8" name="Content Placeholder 2"/>
              <p:cNvSpPr>
                <a:spLocks noGrp="1"/>
              </p:cNvSpPr>
              <p:nvPr>
                <p:ph sz="half" idx="1"/>
              </p:nvPr>
            </p:nvSpPr>
            <p:spPr>
              <a:xfrm>
                <a:off x="5244353" y="1021976"/>
                <a:ext cx="6670143" cy="4988859"/>
              </a:xfrm>
            </p:spPr>
            <p:txBody>
              <a:bodyPr>
                <a:noAutofit/>
              </a:bodyPr>
              <a:lstStyle/>
              <a:p>
                <a:pPr marL="0" indent="0">
                  <a:buNone/>
                </a:pPr>
                <a:r>
                  <a:rPr lang="en-US" b="1" dirty="0">
                    <a:solidFill>
                      <a:srgbClr val="C00000"/>
                    </a:solidFill>
                  </a:rPr>
                  <a:t>Solution</a:t>
                </a:r>
              </a:p>
              <a:p>
                <a:pPr>
                  <a:buFont typeface="Wingdings" panose="05000000000000000000" pitchFamily="2" charset="2"/>
                  <a:buChar char="v"/>
                </a:pPr>
                <a:r>
                  <a:rPr lang="en-US" sz="2000" dirty="0"/>
                  <a:t>From the non-flow energy equation for a closed system undergoing a process from initial state, </a:t>
                </a:r>
                <a:r>
                  <a:rPr lang="en-US" sz="2000" dirty="0" err="1"/>
                  <a:t>i</a:t>
                </a:r>
                <a:r>
                  <a:rPr lang="en-US" sz="2000" dirty="0"/>
                  <a:t> to a final state, f;</a:t>
                </a:r>
              </a:p>
              <a:p>
                <a:pPr marL="0" indent="0">
                  <a:buNone/>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Q</m:t>
                          </m:r>
                        </m:e>
                        <m:sub>
                          <m:r>
                            <m:rPr>
                              <m:sty m:val="p"/>
                            </m:rPr>
                            <a:rPr lang="en-US" sz="2000" b="0" i="0" smtClean="0">
                              <a:solidFill>
                                <a:schemeClr val="tx1"/>
                              </a:solidFill>
                              <a:latin typeface="Cambria Math" panose="02040503050406030204" pitchFamily="18" charset="0"/>
                            </a:rPr>
                            <m:t>if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W</m:t>
                          </m:r>
                        </m:e>
                        <m:sub>
                          <m:r>
                            <m:rPr>
                              <m:sty m:val="p"/>
                            </m:rPr>
                            <a:rPr lang="en-US" sz="2000" b="0" i="0" smtClean="0">
                              <a:solidFill>
                                <a:schemeClr val="tx1"/>
                              </a:solidFill>
                              <a:latin typeface="Cambria Math" panose="02040503050406030204" pitchFamily="18" charset="0"/>
                            </a:rPr>
                            <m:t>if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i</m:t>
                          </m:r>
                        </m:sub>
                      </m:sSub>
                      <m:r>
                        <a:rPr lang="en-US" sz="2000" b="0" i="0" smtClean="0">
                          <a:solidFill>
                            <a:schemeClr val="tx1"/>
                          </a:solidFill>
                          <a:latin typeface="Cambria Math" panose="02040503050406030204" pitchFamily="18" charset="0"/>
                        </a:rPr>
                        <m:t>=</m:t>
                      </m:r>
                      <m:r>
                        <m:rPr>
                          <m:sty m:val="p"/>
                        </m:rPr>
                        <a:rPr lang="en-US" sz="2000" b="0" i="0" smtClean="0">
                          <a:solidFill>
                            <a:schemeClr val="tx1"/>
                          </a:solidFill>
                          <a:latin typeface="Cambria Math" panose="02040503050406030204" pitchFamily="18" charset="0"/>
                        </a:rPr>
                        <m:t>m</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f</m:t>
                              </m:r>
                            </m:sub>
                          </m:sSub>
                          <m:r>
                            <a:rPr lang="en-US" sz="2000" b="0" i="0"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m:rPr>
                                  <m:sty m:val="p"/>
                                </m:rPr>
                                <a:rPr lang="en-US" sz="2000" b="0" i="0" smtClean="0">
                                  <a:solidFill>
                                    <a:schemeClr val="tx1"/>
                                  </a:solidFill>
                                  <a:latin typeface="Cambria Math" panose="02040503050406030204" pitchFamily="18" charset="0"/>
                                </a:rPr>
                                <m:t>u</m:t>
                              </m:r>
                            </m:e>
                            <m:sub>
                              <m:r>
                                <m:rPr>
                                  <m:sty m:val="p"/>
                                </m:rPr>
                                <a:rPr lang="en-US" sz="2000" b="0" i="0" smtClean="0">
                                  <a:solidFill>
                                    <a:schemeClr val="tx1"/>
                                  </a:solidFill>
                                  <a:latin typeface="Cambria Math" panose="02040503050406030204" pitchFamily="18" charset="0"/>
                                </a:rPr>
                                <m:t>i</m:t>
                              </m:r>
                            </m:sub>
                          </m:sSub>
                        </m:e>
                      </m:d>
                    </m:oMath>
                  </m:oMathPara>
                </a14:m>
                <a:endParaRPr lang="en-US" sz="2000" dirty="0">
                  <a:solidFill>
                    <a:srgbClr val="002060"/>
                  </a:solidFill>
                </a:endParaRPr>
              </a:p>
              <a:p>
                <a:pPr>
                  <a:buFont typeface="Wingdings" panose="05000000000000000000" pitchFamily="2" charset="2"/>
                  <a:buChar char="v"/>
                </a:pPr>
                <a:r>
                  <a:rPr lang="en-US" sz="2000" dirty="0"/>
                  <a:t>Since the process is adiabatic , it implies that the heat energy crossing the boundary of the system is zero. Thus;</a:t>
                </a:r>
              </a:p>
              <a:p>
                <a:pPr marL="0" indent="0">
                  <a:buNone/>
                </a:pPr>
                <a:r>
                  <a:rPr lang="en-US" sz="2000" i="1" dirty="0"/>
                  <a:t>               </a:t>
                </a:r>
                <a14:m>
                  <m:oMath xmlns:m="http://schemas.openxmlformats.org/officeDocument/2006/math">
                    <m:sSub>
                      <m:sSubPr>
                        <m:ctrlPr>
                          <a:rPr lang="en-US" sz="2000" i="1" smtClean="0">
                            <a:latin typeface="Cambria Math" panose="02040503050406030204" pitchFamily="18" charset="0"/>
                          </a:rPr>
                        </m:ctrlPr>
                      </m:sSubPr>
                      <m:e>
                        <m:r>
                          <m:rPr>
                            <m:sty m:val="p"/>
                          </m:rPr>
                          <a:rPr lang="en-US" sz="2000" b="0" i="0" smtClean="0">
                            <a:latin typeface="Cambria Math" panose="02040503050406030204" pitchFamily="18" charset="0"/>
                          </a:rPr>
                          <m:t>Q</m:t>
                        </m:r>
                      </m:e>
                      <m:sub>
                        <m:r>
                          <m:rPr>
                            <m:sty m:val="p"/>
                          </m:rPr>
                          <a:rPr lang="en-US" sz="2000" b="0" i="0" smtClean="0">
                            <a:latin typeface="Cambria Math" panose="02040503050406030204" pitchFamily="18" charset="0"/>
                          </a:rPr>
                          <m:t>if</m:t>
                        </m:r>
                      </m:sub>
                    </m:sSub>
                    <m:r>
                      <a:rPr lang="en-US" sz="2000" b="0" i="0" smtClean="0">
                        <a:latin typeface="Cambria Math" panose="02040503050406030204" pitchFamily="18" charset="0"/>
                      </a:rPr>
                      <m:t>=</m:t>
                    </m:r>
                  </m:oMath>
                </a14:m>
                <a:r>
                  <a:rPr lang="en-US" sz="2000" dirty="0"/>
                  <a:t> 0</a:t>
                </a:r>
              </a:p>
              <a:p>
                <a:pPr>
                  <a:lnSpc>
                    <a:spcPct val="50000"/>
                  </a:lnSpc>
                  <a:buFont typeface="Wingdings" panose="05000000000000000000" pitchFamily="2" charset="2"/>
                  <a:buChar char="v"/>
                </a:pPr>
                <a:endParaRPr lang="en-US" sz="2000" dirty="0"/>
              </a:p>
              <a:p>
                <a:pPr>
                  <a:buFont typeface="Wingdings" panose="05000000000000000000" pitchFamily="2" charset="2"/>
                  <a:buChar char="v"/>
                </a:pPr>
                <a:r>
                  <a:rPr lang="en-US" sz="2000" dirty="0"/>
                  <a:t>Hence, the NFEE reduces to</a:t>
                </a:r>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b="0" i="0" smtClean="0">
                              <a:latin typeface="Cambria Math" panose="02040503050406030204" pitchFamily="18" charset="0"/>
                            </a:rPr>
                            <m:t>−</m:t>
                          </m:r>
                          <m:r>
                            <m:rPr>
                              <m:sty m:val="p"/>
                            </m:rPr>
                            <a:rPr lang="en-US" sz="2000" b="0" i="0" smtClean="0">
                              <a:latin typeface="Cambria Math" panose="02040503050406030204" pitchFamily="18" charset="0"/>
                            </a:rPr>
                            <m:t>W</m:t>
                          </m:r>
                        </m:e>
                        <m:sub>
                          <m:r>
                            <m:rPr>
                              <m:sty m:val="p"/>
                            </m:rPr>
                            <a:rPr lang="en-US" sz="2000" i="0">
                              <a:latin typeface="Cambria Math" panose="02040503050406030204" pitchFamily="18" charset="0"/>
                            </a:rPr>
                            <m:t>if</m:t>
                          </m:r>
                        </m:sub>
                      </m:sSub>
                      <m:r>
                        <a:rPr lang="en-US" sz="2000" b="0" i="0" smtClean="0">
                          <a:latin typeface="Cambria Math" panose="02040503050406030204" pitchFamily="18" charset="0"/>
                        </a:rPr>
                        <m:t> </m:t>
                      </m:r>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i</m:t>
                          </m:r>
                        </m:sub>
                      </m:sSub>
                      <m:r>
                        <a:rPr lang="en-US" sz="2000" i="0">
                          <a:latin typeface="Cambria Math" panose="02040503050406030204" pitchFamily="18" charset="0"/>
                        </a:rPr>
                        <m:t>=</m:t>
                      </m:r>
                      <m:r>
                        <m:rPr>
                          <m:sty m:val="p"/>
                        </m:rPr>
                        <a:rPr lang="en-US" sz="2000" i="0">
                          <a:latin typeface="Cambria Math" panose="02040503050406030204" pitchFamily="18" charset="0"/>
                        </a:rPr>
                        <m:t>m</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f</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m:rPr>
                                  <m:sty m:val="p"/>
                                </m:rPr>
                                <a:rPr lang="en-US" sz="2000" i="0">
                                  <a:latin typeface="Cambria Math" panose="02040503050406030204" pitchFamily="18" charset="0"/>
                                </a:rPr>
                                <m:t>u</m:t>
                              </m:r>
                            </m:e>
                            <m:sub>
                              <m:r>
                                <m:rPr>
                                  <m:sty m:val="p"/>
                                </m:rPr>
                                <a:rPr lang="en-US" sz="2000" i="0">
                                  <a:latin typeface="Cambria Math" panose="02040503050406030204" pitchFamily="18" charset="0"/>
                                </a:rPr>
                                <m:t>i</m:t>
                              </m:r>
                            </m:sub>
                          </m:sSub>
                        </m:e>
                      </m:d>
                    </m:oMath>
                  </m:oMathPara>
                </a14:m>
                <a:endParaRPr lang="en-US" sz="2000" dirty="0"/>
              </a:p>
              <a:p>
                <a:pPr marL="0" indent="0">
                  <a:lnSpc>
                    <a:spcPct val="50000"/>
                  </a:lnSpc>
                  <a:buNone/>
                </a:pPr>
                <a:endParaRPr lang="en-US" sz="2000" dirty="0"/>
              </a:p>
              <a:p>
                <a:pPr marL="0" indent="0">
                  <a:buNone/>
                </a:pPr>
                <a14:m>
                  <m:oMathPara xmlns:m="http://schemas.openxmlformats.org/officeDocument/2006/math">
                    <m:oMathParaPr>
                      <m:jc m:val="centerGroup"/>
                    </m:oMathParaPr>
                    <m:oMath xmlns:m="http://schemas.openxmlformats.org/officeDocument/2006/math">
                      <m:r>
                        <a:rPr lang="en-US" sz="2000" i="0" smtClean="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u</m:t>
                      </m:r>
                      <m:r>
                        <a:rPr lang="en-US" sz="2000" b="0" i="0"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b="0" i="0" smtClean="0">
                                  <a:latin typeface="Cambria Math" panose="02040503050406030204" pitchFamily="18" charset="0"/>
                                </a:rPr>
                                <m:t>−</m:t>
                              </m:r>
                              <m:r>
                                <m:rPr>
                                  <m:sty m:val="p"/>
                                </m:rPr>
                                <a:rPr lang="en-US" sz="2000" b="0" i="0" smtClean="0">
                                  <a:latin typeface="Cambria Math" panose="02040503050406030204" pitchFamily="18" charset="0"/>
                                </a:rPr>
                                <m:t>W</m:t>
                              </m:r>
                            </m:e>
                            <m:sub>
                              <m:r>
                                <m:rPr>
                                  <m:sty m:val="p"/>
                                </m:rPr>
                                <a:rPr lang="en-US" sz="2000" b="0" i="0" smtClean="0">
                                  <a:latin typeface="Cambria Math" panose="02040503050406030204" pitchFamily="18" charset="0"/>
                                </a:rPr>
                                <m:t>if</m:t>
                              </m:r>
                            </m:sub>
                          </m:sSub>
                        </m:num>
                        <m:den>
                          <m:r>
                            <m:rPr>
                              <m:sty m:val="p"/>
                            </m:rPr>
                            <a:rPr lang="en-US" sz="2000" b="0" i="0" smtClean="0">
                              <a:latin typeface="Cambria Math" panose="02040503050406030204" pitchFamily="18" charset="0"/>
                            </a:rPr>
                            <m:t>m</m:t>
                          </m:r>
                        </m:den>
                      </m:f>
                      <m:r>
                        <a:rPr lang="en-US" sz="2000" b="0" i="0">
                          <a:latin typeface="Cambria Math" panose="02040503050406030204" pitchFamily="18" charset="0"/>
                        </a:rPr>
                        <m:t>=</m:t>
                      </m:r>
                      <m:f>
                        <m:fPr>
                          <m:ctrlPr>
                            <a:rPr lang="en-US" sz="2000" b="0" i="1" smtClean="0">
                              <a:latin typeface="Cambria Math" panose="02040503050406030204" pitchFamily="18" charset="0"/>
                            </a:rPr>
                          </m:ctrlPr>
                        </m:fPr>
                        <m:num>
                          <m:r>
                            <a:rPr lang="en-US" sz="2000" b="0" i="0" smtClean="0">
                              <a:latin typeface="Cambria Math" panose="02040503050406030204" pitchFamily="18" charset="0"/>
                            </a:rPr>
                            <m:t>−43.5</m:t>
                          </m:r>
                        </m:num>
                        <m:den>
                          <m:r>
                            <a:rPr lang="en-US" sz="2000" b="0" i="0" smtClean="0">
                              <a:latin typeface="Cambria Math" panose="02040503050406030204" pitchFamily="18" charset="0"/>
                            </a:rPr>
                            <m:t>0.5</m:t>
                          </m:r>
                        </m:den>
                      </m:f>
                      <m:r>
                        <a:rPr lang="en-US" sz="2000" b="0" i="0" smtClean="0">
                          <a:latin typeface="Cambria Math" panose="02040503050406030204" pitchFamily="18" charset="0"/>
                        </a:rPr>
                        <m:t>=</m:t>
                      </m:r>
                      <m:r>
                        <a:rPr lang="en-US" sz="2000" b="1" i="0" smtClean="0">
                          <a:solidFill>
                            <a:srgbClr val="FF0000"/>
                          </a:solidFill>
                          <a:latin typeface="Cambria Math" panose="02040503050406030204" pitchFamily="18" charset="0"/>
                        </a:rPr>
                        <m:t>−</m:t>
                      </m:r>
                      <m:r>
                        <a:rPr lang="en-US" sz="2000" b="1" i="0" smtClean="0">
                          <a:solidFill>
                            <a:srgbClr val="FF0000"/>
                          </a:solidFill>
                          <a:latin typeface="Cambria Math" panose="02040503050406030204" pitchFamily="18" charset="0"/>
                        </a:rPr>
                        <m:t>𝟖𝟕</m:t>
                      </m:r>
                      <m:r>
                        <a:rPr lang="en-US" sz="2000" b="1" i="0" smtClean="0">
                          <a:solidFill>
                            <a:srgbClr val="FF0000"/>
                          </a:solidFill>
                          <a:latin typeface="Cambria Math" panose="02040503050406030204" pitchFamily="18" charset="0"/>
                        </a:rPr>
                        <m:t> </m:t>
                      </m:r>
                      <m:r>
                        <a:rPr lang="en-US" sz="2000" b="1" i="0" smtClean="0">
                          <a:solidFill>
                            <a:srgbClr val="FF0000"/>
                          </a:solidFill>
                          <a:latin typeface="Cambria Math" panose="02040503050406030204" pitchFamily="18" charset="0"/>
                        </a:rPr>
                        <m:t>𝐤𝐉</m:t>
                      </m:r>
                      <m:r>
                        <a:rPr lang="en-US" sz="2000" b="1" i="0" smtClean="0">
                          <a:solidFill>
                            <a:srgbClr val="FF0000"/>
                          </a:solidFill>
                          <a:latin typeface="Cambria Math" panose="02040503050406030204" pitchFamily="18" charset="0"/>
                        </a:rPr>
                        <m:t>/</m:t>
                      </m:r>
                      <m:r>
                        <a:rPr lang="en-US" sz="2000" b="1" i="0" smtClean="0">
                          <a:solidFill>
                            <a:srgbClr val="FF0000"/>
                          </a:solidFill>
                          <a:latin typeface="Cambria Math" panose="02040503050406030204" pitchFamily="18" charset="0"/>
                        </a:rPr>
                        <m:t>𝐤𝐠</m:t>
                      </m:r>
                    </m:oMath>
                  </m:oMathPara>
                </a14:m>
                <a:endParaRPr lang="en-US" sz="2000" b="1" dirty="0">
                  <a:solidFill>
                    <a:srgbClr val="FF0000"/>
                  </a:solidFill>
                </a:endParaRPr>
              </a:p>
            </p:txBody>
          </p:sp>
        </mc:Choice>
        <mc:Fallback xmlns="">
          <p:sp>
            <p:nvSpPr>
              <p:cNvPr id="8" name="Content Placeholder 2"/>
              <p:cNvSpPr>
                <a:spLocks noGrp="1" noRot="1" noChangeAspect="1" noMove="1" noResize="1" noEditPoints="1" noAdjustHandles="1" noChangeArrowheads="1" noChangeShapeType="1" noTextEdit="1"/>
              </p:cNvSpPr>
              <p:nvPr>
                <p:ph sz="half" idx="1"/>
              </p:nvPr>
            </p:nvSpPr>
            <p:spPr>
              <a:xfrm>
                <a:off x="5244353" y="1021976"/>
                <a:ext cx="6670143" cy="4988859"/>
              </a:xfrm>
              <a:blipFill rotWithShape="0">
                <a:blip r:embed="rId2"/>
                <a:stretch>
                  <a:fillRect l="-1828" t="-1345"/>
                </a:stretch>
              </a:blipFill>
            </p:spPr>
            <p:txBody>
              <a:bodyPr/>
              <a:lstStyle/>
              <a:p>
                <a:r>
                  <a:rPr lang="en-US">
                    <a:noFill/>
                  </a:rPr>
                  <a:t> </a:t>
                </a:r>
              </a:p>
            </p:txBody>
          </p:sp>
        </mc:Fallback>
      </mc:AlternateContent>
    </p:spTree>
    <p:extLst>
      <p:ext uri="{BB962C8B-B14F-4D97-AF65-F5344CB8AC3E}">
        <p14:creationId xmlns:p14="http://schemas.microsoft.com/office/powerpoint/2010/main" val="3893637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336176" y="1048870"/>
            <a:ext cx="11308977" cy="5256629"/>
          </a:xfrm>
        </p:spPr>
        <p:txBody>
          <a:bodyPr>
            <a:noAutofit/>
          </a:bodyPr>
          <a:lstStyle/>
          <a:p>
            <a:pPr marL="0" indent="0">
              <a:buNone/>
            </a:pPr>
            <a:r>
              <a:rPr lang="en-US" b="1" dirty="0">
                <a:solidFill>
                  <a:srgbClr val="C00000"/>
                </a:solidFill>
              </a:rPr>
              <a:t>Problem 4</a:t>
            </a:r>
          </a:p>
          <a:p>
            <a:pPr>
              <a:buFont typeface="Wingdings" panose="05000000000000000000" pitchFamily="2" charset="2"/>
              <a:buChar char="v"/>
            </a:pPr>
            <a:r>
              <a:rPr lang="en-US" dirty="0"/>
              <a:t>A cylinder contains 0.07 kg of fluid having a pressure of 1 bar, a volume of 0.06 m</a:t>
            </a:r>
            <a:r>
              <a:rPr lang="en-US" baseline="30000" dirty="0"/>
              <a:t>3</a:t>
            </a:r>
            <a:r>
              <a:rPr lang="en-US" dirty="0"/>
              <a:t> and a specific internal energy of 200 kJ/kg. After polytropic compression, the pressure and volume of the fluid  are 9 bar and 0.0111 m</a:t>
            </a:r>
            <a:r>
              <a:rPr lang="en-US" baseline="30000" dirty="0"/>
              <a:t>3</a:t>
            </a:r>
            <a:r>
              <a:rPr lang="en-US" dirty="0"/>
              <a:t>, respectively, and the specific internal energy is 370 kJ/kg. Determine,</a:t>
            </a:r>
          </a:p>
          <a:p>
            <a:pPr marL="0" indent="0">
              <a:buNone/>
            </a:pPr>
            <a:r>
              <a:rPr lang="en-US" b="0" dirty="0"/>
              <a:t>(a) the amount of work energy required for the compression</a:t>
            </a:r>
          </a:p>
          <a:p>
            <a:pPr marL="0" indent="0">
              <a:buNone/>
            </a:pPr>
            <a:r>
              <a:rPr lang="en-US" dirty="0"/>
              <a:t>(b) the quantity and direction of heat energy flow during the compression.</a:t>
            </a:r>
          </a:p>
          <a:p>
            <a:pPr>
              <a:buFont typeface="Wingdings" panose="05000000000000000000" pitchFamily="2" charset="2"/>
              <a:buChar char="v"/>
            </a:pPr>
            <a:r>
              <a:rPr lang="en-US" b="1" dirty="0">
                <a:solidFill>
                  <a:srgbClr val="002060"/>
                </a:solidFill>
              </a:rPr>
              <a:t>Suggested Answers: [(a) -13.2 kJ; (b) -1.3 kJ]</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15</a:t>
            </a:fld>
            <a:endParaRPr lang="en-US" dirty="0"/>
          </a:p>
        </p:txBody>
      </p:sp>
    </p:spTree>
    <p:extLst>
      <p:ext uri="{BB962C8B-B14F-4D97-AF65-F5344CB8AC3E}">
        <p14:creationId xmlns:p14="http://schemas.microsoft.com/office/powerpoint/2010/main" val="5344450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2060"/>
                </a:solidFill>
                <a:latin typeface="Georgia" panose="02040502050405020303" pitchFamily="18" charset="0"/>
              </a:rPr>
              <a:t>First Law for Closed Systems: Problems</a:t>
            </a:r>
            <a:endParaRPr lang="en-US" dirty="0">
              <a:solidFill>
                <a:srgbClr val="002060"/>
              </a:solidFill>
              <a:latin typeface="Georgia" panose="02040502050405020303" pitchFamily="18" charset="0"/>
            </a:endParaRPr>
          </a:p>
        </p:txBody>
      </p:sp>
      <p:sp>
        <p:nvSpPr>
          <p:cNvPr id="3" name="Content Placeholder 2"/>
          <p:cNvSpPr>
            <a:spLocks noGrp="1"/>
          </p:cNvSpPr>
          <p:nvPr>
            <p:ph sz="half" idx="1"/>
          </p:nvPr>
        </p:nvSpPr>
        <p:spPr>
          <a:xfrm>
            <a:off x="6414246" y="1048869"/>
            <a:ext cx="5580529" cy="5256629"/>
          </a:xfrm>
        </p:spPr>
        <p:txBody>
          <a:bodyPr>
            <a:noAutofit/>
          </a:bodyPr>
          <a:lstStyle/>
          <a:p>
            <a:pPr marL="0" indent="0">
              <a:buNone/>
            </a:pPr>
            <a:r>
              <a:rPr lang="en-US" b="1" dirty="0">
                <a:solidFill>
                  <a:srgbClr val="C00000"/>
                </a:solidFill>
              </a:rPr>
              <a:t>Problem 6</a:t>
            </a:r>
          </a:p>
          <a:p>
            <a:pPr>
              <a:buFont typeface="Wingdings" panose="05000000000000000000" pitchFamily="2" charset="2"/>
              <a:buChar char="v"/>
            </a:pPr>
            <a:r>
              <a:rPr lang="en-US" sz="2400" dirty="0"/>
              <a:t>A quantity of fluid occupies 0.56 m</a:t>
            </a:r>
            <a:r>
              <a:rPr lang="en-US" sz="2400" baseline="30000" dirty="0"/>
              <a:t>3</a:t>
            </a:r>
            <a:r>
              <a:rPr lang="en-US" sz="2400" dirty="0"/>
              <a:t> at 1 bar. After a compression which follows the law 	</a:t>
            </a:r>
            <a:r>
              <a:rPr lang="en-US" sz="2400" i="1" dirty="0" err="1"/>
              <a:t>PV</a:t>
            </a:r>
            <a:r>
              <a:rPr lang="en-US" sz="2400" i="1" baseline="30000" dirty="0" err="1"/>
              <a:t>n</a:t>
            </a:r>
            <a:r>
              <a:rPr lang="en-US" sz="2400" i="1" dirty="0"/>
              <a:t> = </a:t>
            </a:r>
            <a:r>
              <a:rPr lang="en-US" sz="2400" dirty="0"/>
              <a:t>constant, the pressure and the volume are 6.3 bar and 0.14 m</a:t>
            </a:r>
            <a:r>
              <a:rPr lang="en-US" sz="2400" baseline="30000" dirty="0"/>
              <a:t>3 </a:t>
            </a:r>
            <a:r>
              <a:rPr lang="en-US" sz="2400" dirty="0"/>
              <a:t>respectively. Calculate the value of the index, n and the work energy transfer. </a:t>
            </a:r>
          </a:p>
          <a:p>
            <a:pPr>
              <a:buFont typeface="Wingdings" panose="05000000000000000000" pitchFamily="2" charset="2"/>
              <a:buChar char="v"/>
            </a:pPr>
            <a:r>
              <a:rPr lang="en-US" sz="2400" dirty="0"/>
              <a:t>If the internal energy of the fluid increases by 85 kJ during the process, calculate the heat energy transfer.</a:t>
            </a:r>
          </a:p>
          <a:p>
            <a:pPr>
              <a:buFont typeface="Wingdings" panose="05000000000000000000" pitchFamily="2" charset="2"/>
              <a:buChar char="v"/>
            </a:pPr>
            <a:r>
              <a:rPr lang="en-US" sz="2400" b="1" dirty="0">
                <a:solidFill>
                  <a:srgbClr val="002060"/>
                </a:solidFill>
              </a:rPr>
              <a:t>Suggested Answers: [(a)1.328; -98.2 kJ; (b) -13.2 kJ]</a:t>
            </a:r>
          </a:p>
        </p:txBody>
      </p:sp>
      <p:sp>
        <p:nvSpPr>
          <p:cNvPr id="4" name="Slide Number Placeholder 3"/>
          <p:cNvSpPr>
            <a:spLocks noGrp="1"/>
          </p:cNvSpPr>
          <p:nvPr>
            <p:ph type="sldNum" sz="quarter" idx="12"/>
          </p:nvPr>
        </p:nvSpPr>
        <p:spPr/>
        <p:txBody>
          <a:bodyPr/>
          <a:lstStyle/>
          <a:p>
            <a:fld id="{F4801FD5-11B4-DE43-ACA2-E85EEB9A6F9C}" type="slidenum">
              <a:rPr lang="en-US" smtClean="0"/>
              <a:pPr/>
              <a:t>16</a:t>
            </a:fld>
            <a:endParaRPr lang="en-US" dirty="0"/>
          </a:p>
        </p:txBody>
      </p:sp>
      <p:sp>
        <p:nvSpPr>
          <p:cNvPr id="10" name="Content Placeholder 2"/>
          <p:cNvSpPr txBox="1">
            <a:spLocks/>
          </p:cNvSpPr>
          <p:nvPr/>
        </p:nvSpPr>
        <p:spPr>
          <a:xfrm>
            <a:off x="452508" y="1021975"/>
            <a:ext cx="5356621" cy="52566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5</a:t>
            </a:r>
          </a:p>
          <a:p>
            <a:pPr>
              <a:buFont typeface="Wingdings" panose="05000000000000000000" pitchFamily="2" charset="2"/>
              <a:buChar char="v"/>
            </a:pPr>
            <a:r>
              <a:rPr lang="en-US" sz="2400" dirty="0"/>
              <a:t>A piston–cylinder device containing 25 g of fluid expands at a constant pressure of 300 </a:t>
            </a:r>
            <a:r>
              <a:rPr lang="en-US" sz="2400" dirty="0" err="1"/>
              <a:t>kPa</a:t>
            </a:r>
            <a:r>
              <a:rPr lang="en-US" sz="2400" dirty="0"/>
              <a:t>. The initial specific enthalpy of the fluid is 2725kJ/kg. A resistance heater within the cylinder is turned on and passes a current of 0.2 A for 5 min from a 120-V source. At the same time, a heat loss of 3.7 kJ occurs. Determine the final specific enthalpy of the fluid. </a:t>
            </a:r>
          </a:p>
          <a:p>
            <a:pPr>
              <a:buFont typeface="Wingdings" panose="05000000000000000000" pitchFamily="2" charset="2"/>
              <a:buChar char="v"/>
            </a:pPr>
            <a:r>
              <a:rPr lang="en-US" sz="2400" b="1" dirty="0">
                <a:solidFill>
                  <a:srgbClr val="002060"/>
                </a:solidFill>
              </a:rPr>
              <a:t>Suggested Answer: [2865 kJ/kg]</a:t>
            </a:r>
          </a:p>
        </p:txBody>
      </p:sp>
    </p:spTree>
    <p:extLst>
      <p:ext uri="{BB962C8B-B14F-4D97-AF65-F5344CB8AC3E}">
        <p14:creationId xmlns:p14="http://schemas.microsoft.com/office/powerpoint/2010/main" val="34706032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17</a:t>
            </a:fld>
            <a:endParaRPr lang="en-US" dirty="0"/>
          </a:p>
        </p:txBody>
      </p:sp>
      <p:sp>
        <p:nvSpPr>
          <p:cNvPr id="10" name="Content Placeholder 2"/>
          <p:cNvSpPr txBox="1">
            <a:spLocks/>
          </p:cNvSpPr>
          <p:nvPr/>
        </p:nvSpPr>
        <p:spPr>
          <a:xfrm>
            <a:off x="452509" y="1062319"/>
            <a:ext cx="11313667" cy="127746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600" dirty="0"/>
              <a:t>An </a:t>
            </a:r>
            <a:r>
              <a:rPr lang="en-US" sz="2600" b="1" dirty="0">
                <a:solidFill>
                  <a:srgbClr val="C00000"/>
                </a:solidFill>
              </a:rPr>
              <a:t>open system </a:t>
            </a:r>
            <a:r>
              <a:rPr lang="en-US" sz="2600" dirty="0"/>
              <a:t>(control volume) differs from a closed system in that it involves mass flow. Mass carries energy with it, and thus the mass and energy content of a system change when mass enters or leaves.</a:t>
            </a:r>
          </a:p>
          <a:p>
            <a:pPr>
              <a:buFont typeface="Wingdings" panose="05000000000000000000" pitchFamily="2" charset="2"/>
              <a:buChar char="v"/>
            </a:pPr>
            <a:endParaRPr lang="en-US" dirty="0"/>
          </a:p>
        </p:txBody>
      </p:sp>
      <p:pic>
        <p:nvPicPr>
          <p:cNvPr id="6146" name="Picture 2" descr="Chapter 4a: First Law - Control Volumes - Energy Equation (Updated 10/12/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861" y="2510169"/>
            <a:ext cx="9009528" cy="3598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4049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6252882" y="1062318"/>
                <a:ext cx="5661614" cy="5216287"/>
              </a:xfrm>
            </p:spPr>
            <p:txBody>
              <a:bodyPr>
                <a:noAutofit/>
              </a:bodyPr>
              <a:lstStyle/>
              <a:p>
                <a:pPr>
                  <a:buFont typeface="Wingdings" panose="05000000000000000000" pitchFamily="2" charset="2"/>
                  <a:buChar char="v"/>
                </a:pPr>
                <a:r>
                  <a:rPr lang="en-US" sz="2400" dirty="0"/>
                  <a:t>Applying the first law of thermodynamics to open systems, the equation becomes;</a:t>
                </a:r>
              </a:p>
              <a:p>
                <a:pPr>
                  <a:lnSpc>
                    <a:spcPct val="50000"/>
                  </a:lnSpc>
                  <a:buFont typeface="Wingdings" panose="05000000000000000000" pitchFamily="2" charset="2"/>
                  <a:buChar char="v"/>
                </a:pPr>
                <a:endParaRPr lang="en-US" sz="2400" dirty="0"/>
              </a:p>
              <a:p>
                <a:pPr marL="0" indent="0">
                  <a:buNone/>
                </a:pPr>
                <a14:m>
                  <m:oMathPara xmlns:m="http://schemas.openxmlformats.org/officeDocument/2006/math">
                    <m:oMathParaPr>
                      <m:jc m:val="centerGroup"/>
                    </m:oMathParaPr>
                    <m:oMath xmlns:m="http://schemas.openxmlformats.org/officeDocument/2006/math">
                      <m:sSub>
                        <m:sSubPr>
                          <m:ctrlPr>
                            <a:rPr lang="en-US" sz="2400" b="1" i="1">
                              <a:solidFill>
                                <a:srgbClr val="C00000"/>
                              </a:solidFill>
                              <a:latin typeface="Cambria Math" panose="02040503050406030204" pitchFamily="18" charset="0"/>
                            </a:rPr>
                          </m:ctrlPr>
                        </m:sSubPr>
                        <m:e>
                          <m:r>
                            <a:rPr lang="en-US" sz="2400" b="1">
                              <a:solidFill>
                                <a:srgbClr val="C00000"/>
                              </a:solidFill>
                              <a:latin typeface="Cambria Math" panose="02040503050406030204" pitchFamily="18" charset="0"/>
                              <a:ea typeface="Cambria Math" panose="02040503050406030204" pitchFamily="18" charset="0"/>
                            </a:rPr>
                            <m:t>𝐐</m:t>
                          </m:r>
                        </m:e>
                        <m:sub>
                          <m:r>
                            <a:rPr lang="en-US" sz="2400" b="1">
                              <a:solidFill>
                                <a:srgbClr val="C00000"/>
                              </a:solidFill>
                              <a:latin typeface="Cambria Math" panose="02040503050406030204" pitchFamily="18" charset="0"/>
                            </a:rPr>
                            <m:t>𝐧𝐞𝐭</m:t>
                          </m:r>
                        </m:sub>
                      </m:sSub>
                      <m:r>
                        <a:rPr lang="en-US" sz="2400" b="1">
                          <a:solidFill>
                            <a:srgbClr val="C00000"/>
                          </a:solidFill>
                          <a:latin typeface="Cambria Math" panose="02040503050406030204" pitchFamily="18" charset="0"/>
                        </a:rPr>
                        <m:t>−</m:t>
                      </m:r>
                      <m:sSub>
                        <m:sSubPr>
                          <m:ctrlPr>
                            <a:rPr lang="en-US" sz="2400" b="1" i="1">
                              <a:solidFill>
                                <a:srgbClr val="C00000"/>
                              </a:solidFill>
                              <a:latin typeface="Cambria Math" panose="02040503050406030204" pitchFamily="18" charset="0"/>
                            </a:rPr>
                          </m:ctrlPr>
                        </m:sSubPr>
                        <m:e>
                          <m:r>
                            <a:rPr lang="en-US" sz="2400" b="1">
                              <a:solidFill>
                                <a:srgbClr val="C00000"/>
                              </a:solidFill>
                              <a:latin typeface="Cambria Math" panose="02040503050406030204" pitchFamily="18" charset="0"/>
                              <a:ea typeface="Cambria Math" panose="02040503050406030204" pitchFamily="18" charset="0"/>
                            </a:rPr>
                            <m:t>𝐖</m:t>
                          </m:r>
                        </m:e>
                        <m:sub>
                          <m:r>
                            <a:rPr lang="en-US" sz="2400" b="1">
                              <a:solidFill>
                                <a:srgbClr val="C00000"/>
                              </a:solidFill>
                              <a:latin typeface="Cambria Math" panose="02040503050406030204" pitchFamily="18" charset="0"/>
                            </a:rPr>
                            <m:t>𝐧𝐞𝐭</m:t>
                          </m:r>
                        </m:sub>
                      </m:sSub>
                      <m:r>
                        <a:rPr lang="en-US" sz="2400" b="1">
                          <a:solidFill>
                            <a:srgbClr val="C00000"/>
                          </a:solidFill>
                          <a:latin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𝐇</m:t>
                      </m:r>
                      <m:r>
                        <a:rPr lang="en-US" sz="2400" b="1">
                          <a:solidFill>
                            <a:srgbClr val="C00000"/>
                          </a:solidFill>
                          <a:latin typeface="Cambria Math" panose="02040503050406030204" pitchFamily="18" charset="0"/>
                          <a:ea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𝐊𝐄</m:t>
                      </m:r>
                      <m:r>
                        <a:rPr lang="en-US" sz="2400" b="1">
                          <a:solidFill>
                            <a:srgbClr val="C00000"/>
                          </a:solidFill>
                          <a:latin typeface="Cambria Math" panose="02040503050406030204" pitchFamily="18" charset="0"/>
                          <a:ea typeface="Cambria Math" panose="02040503050406030204" pitchFamily="18" charset="0"/>
                        </a:rPr>
                        <m:t>+∆</m:t>
                      </m:r>
                      <m:r>
                        <a:rPr lang="en-US" sz="2400" b="1">
                          <a:solidFill>
                            <a:srgbClr val="C00000"/>
                          </a:solidFill>
                          <a:latin typeface="Cambria Math" panose="02040503050406030204" pitchFamily="18" charset="0"/>
                          <a:ea typeface="Cambria Math" panose="02040503050406030204" pitchFamily="18" charset="0"/>
                        </a:rPr>
                        <m:t>𝐏𝐄</m:t>
                      </m:r>
                    </m:oMath>
                  </m:oMathPara>
                </a14:m>
                <a:endParaRPr lang="en-US" sz="2400" dirty="0">
                  <a:solidFill>
                    <a:srgbClr val="C00000"/>
                  </a:solidFill>
                </a:endParaRPr>
              </a:p>
              <a:p>
                <a:pPr>
                  <a:buFont typeface="Wingdings" panose="05000000000000000000" pitchFamily="2" charset="2"/>
                  <a:buChar char="v"/>
                </a:pPr>
                <a:r>
                  <a:rPr lang="en-US" sz="2400" dirty="0"/>
                  <a:t>For an open system undergoing a steady flow process from an initial state (</a:t>
                </a:r>
                <a:r>
                  <a:rPr lang="en-US" sz="2400" dirty="0" err="1"/>
                  <a:t>i</a:t>
                </a:r>
                <a:r>
                  <a:rPr lang="en-US" sz="2400" dirty="0"/>
                  <a:t>) to a final state (f), the  first law equation becomes;</a:t>
                </a:r>
              </a:p>
              <a:p>
                <a:pPr marL="0" indent="0">
                  <a:buNone/>
                </a:pPr>
                <a14:m>
                  <m:oMathPara xmlns:m="http://schemas.openxmlformats.org/officeDocument/2006/math">
                    <m:oMathParaPr>
                      <m:jc m:val="centerGroup"/>
                    </m:oMathParaPr>
                    <m:oMath xmlns:m="http://schemas.openxmlformats.org/officeDocument/2006/math">
                      <m:r>
                        <a:rPr lang="en-US" sz="2400" b="1" i="0" smtClean="0">
                          <a:solidFill>
                            <a:srgbClr val="C00000"/>
                          </a:solidFill>
                          <a:latin typeface="Cambria Math" panose="02040503050406030204" pitchFamily="18" charset="0"/>
                          <a:ea typeface="Cambria Math" panose="02040503050406030204" pitchFamily="18" charset="0"/>
                        </a:rPr>
                        <m:t>𝛅</m:t>
                      </m:r>
                      <m:r>
                        <a:rPr lang="en-US" sz="2400" b="1" i="0" smtClean="0">
                          <a:solidFill>
                            <a:srgbClr val="C00000"/>
                          </a:solidFill>
                          <a:latin typeface="Cambria Math" panose="02040503050406030204" pitchFamily="18" charset="0"/>
                          <a:ea typeface="Cambria Math" panose="02040503050406030204" pitchFamily="18" charset="0"/>
                        </a:rPr>
                        <m:t>𝐐</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𝛅</m:t>
                      </m:r>
                      <m:r>
                        <a:rPr lang="en-US" sz="2400" b="1" i="0" smtClean="0">
                          <a:solidFill>
                            <a:srgbClr val="C00000"/>
                          </a:solidFill>
                          <a:latin typeface="Cambria Math" panose="02040503050406030204" pitchFamily="18" charset="0"/>
                        </a:rPr>
                        <m:t>𝐖</m:t>
                      </m:r>
                      <m:r>
                        <a:rPr lang="en-US" sz="2400" b="1" i="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rPr>
                        <m:t>𝐦</m:t>
                      </m:r>
                      <m:r>
                        <a:rPr lang="en-US" sz="2400" b="1" i="0" smtClean="0">
                          <a:solidFill>
                            <a:srgbClr val="C00000"/>
                          </a:solidFill>
                          <a:latin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𝐡</m:t>
                      </m:r>
                      <m:r>
                        <a:rPr lang="en-US" sz="2400" b="1" i="0">
                          <a:solidFill>
                            <a:srgbClr val="C00000"/>
                          </a:solidFill>
                          <a:latin typeface="Cambria Math" panose="02040503050406030204" pitchFamily="18" charset="0"/>
                          <a:ea typeface="Cambria Math" panose="02040503050406030204" pitchFamily="18" charset="0"/>
                        </a:rPr>
                        <m:t>+</m:t>
                      </m:r>
                      <m:f>
                        <m:fPr>
                          <m:ctrlPr>
                            <a:rPr lang="en-US" sz="2400" b="1" i="1" smtClean="0">
                              <a:solidFill>
                                <a:srgbClr val="C00000"/>
                              </a:solidFill>
                              <a:latin typeface="Cambria Math" panose="02040503050406030204" pitchFamily="18" charset="0"/>
                              <a:ea typeface="Cambria Math" panose="02040503050406030204" pitchFamily="18" charset="0"/>
                            </a:rPr>
                          </m:ctrlPr>
                        </m:fPr>
                        <m:num>
                          <m:r>
                            <a:rPr lang="en-US" sz="2400" b="1" i="0" smtClean="0">
                              <a:solidFill>
                                <a:srgbClr val="C00000"/>
                              </a:solidFill>
                              <a:latin typeface="Cambria Math" panose="02040503050406030204" pitchFamily="18" charset="0"/>
                              <a:ea typeface="Cambria Math" panose="02040503050406030204" pitchFamily="18" charset="0"/>
                            </a:rPr>
                            <m:t>𝟏</m:t>
                          </m:r>
                        </m:num>
                        <m:den>
                          <m:r>
                            <a:rPr lang="en-US" sz="2400" b="1" i="0" smtClean="0">
                              <a:solidFill>
                                <a:srgbClr val="C00000"/>
                              </a:solidFill>
                              <a:latin typeface="Cambria Math" panose="02040503050406030204" pitchFamily="18" charset="0"/>
                              <a:ea typeface="Cambria Math" panose="02040503050406030204" pitchFamily="18" charset="0"/>
                            </a:rPr>
                            <m:t>𝟐</m:t>
                          </m:r>
                        </m:den>
                      </m:f>
                      <m:r>
                        <a:rPr lang="en-US" sz="2400" b="1" i="0">
                          <a:solidFill>
                            <a:srgbClr val="C00000"/>
                          </a:solidFill>
                          <a:latin typeface="Cambria Math" panose="02040503050406030204" pitchFamily="18" charset="0"/>
                          <a:ea typeface="Cambria Math" panose="02040503050406030204" pitchFamily="18" charset="0"/>
                        </a:rPr>
                        <m:t>∆</m:t>
                      </m:r>
                      <m:sSup>
                        <m:sSupPr>
                          <m:ctrlPr>
                            <a:rPr lang="en-US" sz="2400" b="1" i="1" smtClean="0">
                              <a:solidFill>
                                <a:srgbClr val="C00000"/>
                              </a:solidFill>
                              <a:latin typeface="Cambria Math" panose="02040503050406030204" pitchFamily="18" charset="0"/>
                              <a:ea typeface="Cambria Math" panose="02040503050406030204" pitchFamily="18" charset="0"/>
                            </a:rPr>
                          </m:ctrlPr>
                        </m:sSupPr>
                        <m:e>
                          <m:r>
                            <a:rPr lang="en-US" sz="2400" b="1" i="0" smtClean="0">
                              <a:solidFill>
                                <a:srgbClr val="C00000"/>
                              </a:solidFill>
                              <a:latin typeface="Cambria Math" panose="02040503050406030204" pitchFamily="18" charset="0"/>
                              <a:ea typeface="Cambria Math" panose="02040503050406030204" pitchFamily="18" charset="0"/>
                            </a:rPr>
                            <m:t>𝐂</m:t>
                          </m:r>
                        </m:e>
                        <m:sup>
                          <m:r>
                            <a:rPr lang="en-US" sz="2400" b="1" i="0" smtClean="0">
                              <a:solidFill>
                                <a:srgbClr val="C00000"/>
                              </a:solidFill>
                              <a:latin typeface="Cambria Math" panose="02040503050406030204" pitchFamily="18" charset="0"/>
                              <a:ea typeface="Cambria Math" panose="02040503050406030204" pitchFamily="18" charset="0"/>
                            </a:rPr>
                            <m:t>𝟐</m:t>
                          </m:r>
                        </m:sup>
                      </m:sSup>
                      <m:r>
                        <a:rPr lang="en-US" sz="2400" b="1" i="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𝐠</m:t>
                      </m:r>
                      <m:r>
                        <a:rPr lang="en-US" sz="2400" b="1" i="0">
                          <a:solidFill>
                            <a:srgbClr val="C00000"/>
                          </a:solidFill>
                          <a:latin typeface="Cambria Math" panose="02040503050406030204" pitchFamily="18" charset="0"/>
                          <a:ea typeface="Cambria Math" panose="02040503050406030204" pitchFamily="18" charset="0"/>
                        </a:rPr>
                        <m:t>∆</m:t>
                      </m:r>
                      <m:r>
                        <a:rPr lang="en-US" sz="2400" b="1" i="0" smtClean="0">
                          <a:solidFill>
                            <a:srgbClr val="C00000"/>
                          </a:solidFill>
                          <a:latin typeface="Cambria Math" panose="02040503050406030204" pitchFamily="18" charset="0"/>
                          <a:ea typeface="Cambria Math" panose="02040503050406030204" pitchFamily="18" charset="0"/>
                        </a:rPr>
                        <m:t>𝐙</m:t>
                      </m:r>
                      <m:r>
                        <a:rPr lang="en-US" sz="2400" b="1" i="0" smtClean="0">
                          <a:solidFill>
                            <a:srgbClr val="C00000"/>
                          </a:solidFill>
                          <a:latin typeface="Cambria Math" panose="02040503050406030204" pitchFamily="18" charset="0"/>
                          <a:ea typeface="Cambria Math" panose="02040503050406030204" pitchFamily="18" charset="0"/>
                        </a:rPr>
                        <m:t>]</m:t>
                      </m:r>
                    </m:oMath>
                  </m:oMathPara>
                </a14:m>
                <a:endParaRPr lang="en-US" sz="2400"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1800" b="1" i="1" smtClean="0">
                              <a:solidFill>
                                <a:srgbClr val="002060"/>
                              </a:solidFill>
                              <a:latin typeface="Cambria Math" panose="02040503050406030204" pitchFamily="18" charset="0"/>
                            </a:rPr>
                          </m:ctrlPr>
                        </m:sSubPr>
                        <m:e>
                          <m:r>
                            <a:rPr lang="en-US" sz="1800" b="1">
                              <a:solidFill>
                                <a:srgbClr val="002060"/>
                              </a:solidFill>
                              <a:latin typeface="Cambria Math" panose="02040503050406030204" pitchFamily="18" charset="0"/>
                              <a:ea typeface="Cambria Math" panose="02040503050406030204" pitchFamily="18" charset="0"/>
                            </a:rPr>
                            <m:t>𝐐</m:t>
                          </m:r>
                        </m:e>
                        <m:sub>
                          <m:r>
                            <a:rPr lang="en-US" sz="1800" b="1" i="0" smtClean="0">
                              <a:solidFill>
                                <a:srgbClr val="002060"/>
                              </a:solidFill>
                              <a:latin typeface="Cambria Math" panose="02040503050406030204" pitchFamily="18" charset="0"/>
                              <a:ea typeface="Cambria Math" panose="02040503050406030204" pitchFamily="18" charset="0"/>
                            </a:rPr>
                            <m:t>𝐢𝐟</m:t>
                          </m:r>
                        </m:sub>
                      </m:sSub>
                      <m:r>
                        <a:rPr lang="en-US" sz="1800" b="1">
                          <a:solidFill>
                            <a:srgbClr val="002060"/>
                          </a:solidFill>
                          <a:latin typeface="Cambria Math" panose="02040503050406030204" pitchFamily="18" charset="0"/>
                        </a:rPr>
                        <m:t>−</m:t>
                      </m:r>
                      <m:sSub>
                        <m:sSubPr>
                          <m:ctrlPr>
                            <a:rPr lang="en-US" sz="1800" b="1" i="1">
                              <a:solidFill>
                                <a:srgbClr val="002060"/>
                              </a:solidFill>
                              <a:latin typeface="Cambria Math" panose="02040503050406030204" pitchFamily="18" charset="0"/>
                            </a:rPr>
                          </m:ctrlPr>
                        </m:sSubPr>
                        <m:e>
                          <m:r>
                            <a:rPr lang="en-US" sz="1800" b="1">
                              <a:solidFill>
                                <a:srgbClr val="002060"/>
                              </a:solidFill>
                              <a:latin typeface="Cambria Math" panose="02040503050406030204" pitchFamily="18" charset="0"/>
                              <a:ea typeface="Cambria Math" panose="02040503050406030204" pitchFamily="18" charset="0"/>
                            </a:rPr>
                            <m:t>𝐖</m:t>
                          </m:r>
                        </m:e>
                        <m:sub>
                          <m:r>
                            <a:rPr lang="en-US" sz="1800" b="1" i="0" smtClean="0">
                              <a:solidFill>
                                <a:srgbClr val="002060"/>
                              </a:solidFill>
                              <a:latin typeface="Cambria Math" panose="02040503050406030204" pitchFamily="18" charset="0"/>
                              <a:ea typeface="Cambria Math" panose="02040503050406030204" pitchFamily="18" charset="0"/>
                            </a:rPr>
                            <m:t>𝐢𝐟</m:t>
                          </m:r>
                        </m:sub>
                      </m:sSub>
                      <m:r>
                        <a:rPr lang="en-US" sz="1800" b="1">
                          <a:solidFill>
                            <a:srgbClr val="002060"/>
                          </a:solidFill>
                          <a:latin typeface="Cambria Math" panose="02040503050406030204" pitchFamily="18" charset="0"/>
                        </a:rPr>
                        <m:t>=</m:t>
                      </m:r>
                      <m:r>
                        <a:rPr lang="en-US" sz="1800" b="1">
                          <a:solidFill>
                            <a:srgbClr val="002060"/>
                          </a:solidFill>
                          <a:latin typeface="Cambria Math" panose="02040503050406030204" pitchFamily="18" charset="0"/>
                        </a:rPr>
                        <m:t>𝐦</m:t>
                      </m:r>
                      <m:r>
                        <a:rPr lang="en-US" sz="1800" b="1">
                          <a:solidFill>
                            <a:srgbClr val="002060"/>
                          </a:solidFill>
                          <a:latin typeface="Cambria Math" panose="02040503050406030204" pitchFamily="18" charset="0"/>
                        </a:rPr>
                        <m:t>[(</m:t>
                      </m:r>
                      <m:sSub>
                        <m:sSubPr>
                          <m:ctrlPr>
                            <a:rPr lang="en-US" sz="1800" b="1" i="1" smtClean="0">
                              <a:solidFill>
                                <a:srgbClr val="002060"/>
                              </a:solidFill>
                              <a:latin typeface="Cambria Math" panose="02040503050406030204" pitchFamily="18" charset="0"/>
                            </a:rPr>
                          </m:ctrlPr>
                        </m:sSubPr>
                        <m:e>
                          <m:r>
                            <a:rPr lang="en-US" sz="1800" b="1" i="1" smtClean="0">
                              <a:solidFill>
                                <a:srgbClr val="002060"/>
                              </a:solidFill>
                              <a:latin typeface="Cambria Math" panose="02040503050406030204" pitchFamily="18" charset="0"/>
                            </a:rPr>
                            <m:t>𝒉</m:t>
                          </m:r>
                        </m:e>
                        <m:sub>
                          <m:r>
                            <a:rPr lang="en-US" sz="1800" b="1" i="1" smtClean="0">
                              <a:solidFill>
                                <a:srgbClr val="002060"/>
                              </a:solidFill>
                              <a:latin typeface="Cambria Math" panose="02040503050406030204" pitchFamily="18" charset="0"/>
                            </a:rPr>
                            <m:t>𝒇</m:t>
                          </m:r>
                        </m:sub>
                      </m:sSub>
                      <m:r>
                        <a:rPr lang="en-US" sz="1800" b="1" i="0" smtClean="0">
                          <a:solidFill>
                            <a:srgbClr val="002060"/>
                          </a:solidFill>
                          <a:latin typeface="Cambria Math" panose="02040503050406030204" pitchFamily="18" charset="0"/>
                        </a:rPr>
                        <m:t>−</m:t>
                      </m:r>
                      <m:sSub>
                        <m:sSubPr>
                          <m:ctrlPr>
                            <a:rPr lang="en-US" sz="1800" b="1" i="1" smtClean="0">
                              <a:solidFill>
                                <a:srgbClr val="002060"/>
                              </a:solidFill>
                              <a:latin typeface="Cambria Math" panose="02040503050406030204" pitchFamily="18" charset="0"/>
                            </a:rPr>
                          </m:ctrlPr>
                        </m:sSubPr>
                        <m:e>
                          <m:r>
                            <a:rPr lang="en-US" sz="1800" b="1" i="1" smtClean="0">
                              <a:solidFill>
                                <a:srgbClr val="002060"/>
                              </a:solidFill>
                              <a:latin typeface="Cambria Math" panose="02040503050406030204" pitchFamily="18" charset="0"/>
                            </a:rPr>
                            <m:t>𝒉</m:t>
                          </m:r>
                        </m:e>
                        <m:sub>
                          <m:r>
                            <a:rPr lang="en-US" sz="1800" b="1" i="1" smtClean="0">
                              <a:solidFill>
                                <a:srgbClr val="002060"/>
                              </a:solidFill>
                              <a:latin typeface="Cambria Math" panose="02040503050406030204" pitchFamily="18" charset="0"/>
                            </a:rPr>
                            <m:t>𝒊</m:t>
                          </m:r>
                        </m:sub>
                      </m:sSub>
                      <m:r>
                        <a:rPr lang="en-US" sz="1800" b="1" i="0" smtClean="0">
                          <a:solidFill>
                            <a:srgbClr val="002060"/>
                          </a:solidFill>
                          <a:latin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f>
                        <m:fPr>
                          <m:ctrlPr>
                            <a:rPr lang="en-US" sz="1800" b="1" i="1">
                              <a:solidFill>
                                <a:srgbClr val="002060"/>
                              </a:solidFill>
                              <a:latin typeface="Cambria Math" panose="02040503050406030204" pitchFamily="18" charset="0"/>
                              <a:ea typeface="Cambria Math" panose="02040503050406030204" pitchFamily="18" charset="0"/>
                            </a:rPr>
                          </m:ctrlPr>
                        </m:fPr>
                        <m:num>
                          <m:r>
                            <a:rPr lang="en-US" sz="1800" b="1" i="1">
                              <a:solidFill>
                                <a:srgbClr val="002060"/>
                              </a:solidFill>
                              <a:latin typeface="Cambria Math" panose="02040503050406030204" pitchFamily="18" charset="0"/>
                              <a:ea typeface="Cambria Math" panose="02040503050406030204" pitchFamily="18" charset="0"/>
                            </a:rPr>
                            <m:t>𝟏</m:t>
                          </m:r>
                        </m:num>
                        <m:den>
                          <m:r>
                            <a:rPr lang="en-US" sz="1800" b="1" i="1">
                              <a:solidFill>
                                <a:srgbClr val="002060"/>
                              </a:solidFill>
                              <a:latin typeface="Cambria Math" panose="02040503050406030204" pitchFamily="18" charset="0"/>
                              <a:ea typeface="Cambria Math" panose="02040503050406030204" pitchFamily="18" charset="0"/>
                            </a:rPr>
                            <m:t>𝟐</m:t>
                          </m:r>
                        </m:den>
                      </m:f>
                      <m:r>
                        <a:rPr lang="en-US" sz="1800" b="1" i="0" smtClean="0">
                          <a:solidFill>
                            <a:srgbClr val="002060"/>
                          </a:solidFill>
                          <a:latin typeface="Cambria Math" panose="02040503050406030204" pitchFamily="18" charset="0"/>
                          <a:ea typeface="Cambria Math" panose="02040503050406030204" pitchFamily="18" charset="0"/>
                        </a:rPr>
                        <m:t>(</m:t>
                      </m:r>
                      <m:sSubSup>
                        <m:sSubSupPr>
                          <m:ctrlPr>
                            <a:rPr lang="en-US" sz="1800" b="1" i="1" smtClean="0">
                              <a:solidFill>
                                <a:srgbClr val="002060"/>
                              </a:solidFill>
                              <a:latin typeface="Cambria Math" panose="02040503050406030204" pitchFamily="18" charset="0"/>
                              <a:ea typeface="Cambria Math" panose="02040503050406030204" pitchFamily="18" charset="0"/>
                            </a:rPr>
                          </m:ctrlPr>
                        </m:sSubSupPr>
                        <m:e>
                          <m:r>
                            <a:rPr lang="en-US" sz="1800" b="1" i="1" smtClean="0">
                              <a:solidFill>
                                <a:srgbClr val="002060"/>
                              </a:solidFill>
                              <a:latin typeface="Cambria Math" panose="02040503050406030204" pitchFamily="18" charset="0"/>
                              <a:ea typeface="Cambria Math" panose="02040503050406030204" pitchFamily="18" charset="0"/>
                            </a:rPr>
                            <m:t>𝑪</m:t>
                          </m:r>
                        </m:e>
                        <m:sub>
                          <m:r>
                            <a:rPr lang="en-US" sz="1800" b="1" i="1" smtClean="0">
                              <a:solidFill>
                                <a:srgbClr val="002060"/>
                              </a:solidFill>
                              <a:latin typeface="Cambria Math" panose="02040503050406030204" pitchFamily="18" charset="0"/>
                              <a:ea typeface="Cambria Math" panose="02040503050406030204" pitchFamily="18" charset="0"/>
                            </a:rPr>
                            <m:t>𝒇</m:t>
                          </m:r>
                        </m:sub>
                        <m:sup>
                          <m:r>
                            <a:rPr lang="en-US" sz="1800" b="1" i="1" smtClean="0">
                              <a:solidFill>
                                <a:srgbClr val="002060"/>
                              </a:solidFill>
                              <a:latin typeface="Cambria Math" panose="02040503050406030204" pitchFamily="18" charset="0"/>
                              <a:ea typeface="Cambria Math" panose="02040503050406030204" pitchFamily="18" charset="0"/>
                            </a:rPr>
                            <m:t>𝟐</m:t>
                          </m:r>
                        </m:sup>
                      </m:sSubSup>
                      <m:r>
                        <a:rPr lang="en-US" sz="1800" b="1" i="1" smtClean="0">
                          <a:solidFill>
                            <a:srgbClr val="002060"/>
                          </a:solidFill>
                          <a:latin typeface="Cambria Math" panose="02040503050406030204" pitchFamily="18" charset="0"/>
                          <a:ea typeface="Cambria Math" panose="02040503050406030204" pitchFamily="18" charset="0"/>
                        </a:rPr>
                        <m:t>−</m:t>
                      </m:r>
                      <m:sSubSup>
                        <m:sSubSupPr>
                          <m:ctrlPr>
                            <a:rPr lang="en-US" sz="1800" b="1" i="1" smtClean="0">
                              <a:solidFill>
                                <a:srgbClr val="002060"/>
                              </a:solidFill>
                              <a:latin typeface="Cambria Math" panose="02040503050406030204" pitchFamily="18" charset="0"/>
                              <a:ea typeface="Cambria Math" panose="02040503050406030204" pitchFamily="18" charset="0"/>
                            </a:rPr>
                          </m:ctrlPr>
                        </m:sSubSupPr>
                        <m:e>
                          <m:r>
                            <a:rPr lang="en-US" sz="1800" b="1" i="1" smtClean="0">
                              <a:solidFill>
                                <a:srgbClr val="002060"/>
                              </a:solidFill>
                              <a:latin typeface="Cambria Math" panose="02040503050406030204" pitchFamily="18" charset="0"/>
                              <a:ea typeface="Cambria Math" panose="02040503050406030204" pitchFamily="18" charset="0"/>
                            </a:rPr>
                            <m:t>𝑪</m:t>
                          </m:r>
                        </m:e>
                        <m:sub>
                          <m:r>
                            <a:rPr lang="en-US" sz="1800" b="1" i="1" smtClean="0">
                              <a:solidFill>
                                <a:srgbClr val="002060"/>
                              </a:solidFill>
                              <a:latin typeface="Cambria Math" panose="02040503050406030204" pitchFamily="18" charset="0"/>
                              <a:ea typeface="Cambria Math" panose="02040503050406030204" pitchFamily="18" charset="0"/>
                            </a:rPr>
                            <m:t>𝒊</m:t>
                          </m:r>
                        </m:sub>
                        <m:sup>
                          <m:r>
                            <a:rPr lang="en-US" sz="1800" b="1" i="1" smtClean="0">
                              <a:solidFill>
                                <a:srgbClr val="002060"/>
                              </a:solidFill>
                              <a:latin typeface="Cambria Math" panose="02040503050406030204" pitchFamily="18" charset="0"/>
                              <a:ea typeface="Cambria Math" panose="02040503050406030204" pitchFamily="18" charset="0"/>
                            </a:rPr>
                            <m:t>𝟐</m:t>
                          </m:r>
                        </m:sup>
                      </m:sSubSup>
                      <m:r>
                        <a:rPr lang="en-US" sz="1800" b="1" i="1" smtClean="0">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𝐠</m:t>
                      </m:r>
                      <m:r>
                        <a:rPr lang="en-US" sz="1800" b="1" i="0" smtClean="0">
                          <a:solidFill>
                            <a:srgbClr val="002060"/>
                          </a:solidFill>
                          <a:latin typeface="Cambria Math" panose="02040503050406030204" pitchFamily="18" charset="0"/>
                          <a:ea typeface="Cambria Math" panose="02040503050406030204" pitchFamily="18" charset="0"/>
                        </a:rPr>
                        <m:t>(</m:t>
                      </m:r>
                      <m:sSub>
                        <m:sSubPr>
                          <m:ctrlPr>
                            <a:rPr lang="en-US" sz="1800" b="1" i="1" smtClean="0">
                              <a:solidFill>
                                <a:srgbClr val="002060"/>
                              </a:solidFill>
                              <a:latin typeface="Cambria Math" panose="02040503050406030204" pitchFamily="18" charset="0"/>
                              <a:ea typeface="Cambria Math" panose="02040503050406030204" pitchFamily="18" charset="0"/>
                            </a:rPr>
                          </m:ctrlPr>
                        </m:sSubPr>
                        <m:e>
                          <m:r>
                            <a:rPr lang="en-US" sz="1800" b="1" i="1" smtClean="0">
                              <a:solidFill>
                                <a:srgbClr val="002060"/>
                              </a:solidFill>
                              <a:latin typeface="Cambria Math" panose="02040503050406030204" pitchFamily="18" charset="0"/>
                              <a:ea typeface="Cambria Math" panose="02040503050406030204" pitchFamily="18" charset="0"/>
                            </a:rPr>
                            <m:t>𝒁</m:t>
                          </m:r>
                        </m:e>
                        <m:sub>
                          <m:r>
                            <a:rPr lang="en-US" sz="1800" b="1" i="1" smtClean="0">
                              <a:solidFill>
                                <a:srgbClr val="002060"/>
                              </a:solidFill>
                              <a:latin typeface="Cambria Math" panose="02040503050406030204" pitchFamily="18" charset="0"/>
                              <a:ea typeface="Cambria Math" panose="02040503050406030204" pitchFamily="18" charset="0"/>
                            </a:rPr>
                            <m:t>𝒇</m:t>
                          </m:r>
                        </m:sub>
                      </m:sSub>
                      <m:r>
                        <a:rPr lang="en-US" sz="1800" b="1" i="0" smtClean="0">
                          <a:solidFill>
                            <a:srgbClr val="002060"/>
                          </a:solidFill>
                          <a:latin typeface="Cambria Math" panose="02040503050406030204" pitchFamily="18" charset="0"/>
                          <a:ea typeface="Cambria Math" panose="02040503050406030204" pitchFamily="18" charset="0"/>
                        </a:rPr>
                        <m:t>−</m:t>
                      </m:r>
                      <m:sSub>
                        <m:sSubPr>
                          <m:ctrlPr>
                            <a:rPr lang="en-US" sz="1800" b="1" i="1" smtClean="0">
                              <a:solidFill>
                                <a:srgbClr val="002060"/>
                              </a:solidFill>
                              <a:latin typeface="Cambria Math" panose="02040503050406030204" pitchFamily="18" charset="0"/>
                              <a:ea typeface="Cambria Math" panose="02040503050406030204" pitchFamily="18" charset="0"/>
                            </a:rPr>
                          </m:ctrlPr>
                        </m:sSubPr>
                        <m:e>
                          <m:r>
                            <a:rPr lang="en-US" sz="1800" b="1" i="1" smtClean="0">
                              <a:solidFill>
                                <a:srgbClr val="002060"/>
                              </a:solidFill>
                              <a:latin typeface="Cambria Math" panose="02040503050406030204" pitchFamily="18" charset="0"/>
                              <a:ea typeface="Cambria Math" panose="02040503050406030204" pitchFamily="18" charset="0"/>
                            </a:rPr>
                            <m:t>𝒁</m:t>
                          </m:r>
                        </m:e>
                        <m:sub>
                          <m:r>
                            <a:rPr lang="en-US" sz="1800" b="1" i="1" smtClean="0">
                              <a:solidFill>
                                <a:srgbClr val="002060"/>
                              </a:solidFill>
                              <a:latin typeface="Cambria Math" panose="02040503050406030204" pitchFamily="18" charset="0"/>
                              <a:ea typeface="Cambria Math" panose="02040503050406030204" pitchFamily="18" charset="0"/>
                            </a:rPr>
                            <m:t>𝒊</m:t>
                          </m:r>
                        </m:sub>
                      </m:sSub>
                      <m:r>
                        <a:rPr lang="en-US" sz="1800" b="1" i="0" smtClean="0">
                          <a:solidFill>
                            <a:srgbClr val="002060"/>
                          </a:solidFill>
                          <a:latin typeface="Cambria Math" panose="02040503050406030204" pitchFamily="18" charset="0"/>
                          <a:ea typeface="Cambria Math" panose="02040503050406030204" pitchFamily="18" charset="0"/>
                        </a:rPr>
                        <m:t>)</m:t>
                      </m:r>
                      <m:r>
                        <a:rPr lang="en-US" sz="1800" b="1">
                          <a:solidFill>
                            <a:srgbClr val="002060"/>
                          </a:solidFill>
                          <a:latin typeface="Cambria Math" panose="02040503050406030204" pitchFamily="18" charset="0"/>
                          <a:ea typeface="Cambria Math" panose="02040503050406030204" pitchFamily="18" charset="0"/>
                        </a:rPr>
                        <m:t>]</m:t>
                      </m:r>
                    </m:oMath>
                  </m:oMathPara>
                </a14:m>
                <a:endParaRPr lang="en-US" sz="1800" dirty="0">
                  <a:solidFill>
                    <a:srgbClr val="002060"/>
                  </a:solidFill>
                </a:endParaRPr>
              </a:p>
              <a:p>
                <a:pPr marL="0" indent="0">
                  <a:buNone/>
                </a:pPr>
                <a:endParaRPr lang="en-US" sz="2000" b="1" dirty="0"/>
              </a:p>
              <a:p>
                <a:pPr>
                  <a:buFont typeface="Wingdings" panose="05000000000000000000" pitchFamily="2" charset="2"/>
                  <a:buChar char="v"/>
                </a:pPr>
                <a:r>
                  <a:rPr lang="en-US" sz="2000" b="1" dirty="0"/>
                  <a:t>The above equation is known as the steady flow energy equation (SFEE).</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6252882" y="1062318"/>
                <a:ext cx="5661614" cy="5216287"/>
              </a:xfrm>
              <a:blipFill rotWithShape="0">
                <a:blip r:embed="rId2"/>
                <a:stretch>
                  <a:fillRect l="-1509" t="-935" r="-1940" b="-210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4801FD5-11B4-DE43-ACA2-E85EEB9A6F9C}" type="slidenum">
              <a:rPr lang="en-US" smtClean="0"/>
              <a:pPr/>
              <a:t>18</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b="1" dirty="0">
                    <a:solidFill>
                      <a:srgbClr val="C00000"/>
                    </a:solidFill>
                  </a:rPr>
                  <a:t>For an open system, total energy becomes;</a:t>
                </a:r>
              </a:p>
              <a:p>
                <a:pPr marL="0" indent="0">
                  <a:buNone/>
                </a:pPr>
                <a14:m>
                  <m:oMathPara xmlns:m="http://schemas.openxmlformats.org/officeDocument/2006/math">
                    <m:oMathParaPr>
                      <m:jc m:val="centerGroup"/>
                    </m:oMathParaPr>
                    <m:oMath xmlns:m="http://schemas.openxmlformats.org/officeDocument/2006/math">
                      <m:r>
                        <a:rPr lang="en-US" sz="2400" b="1">
                          <a:solidFill>
                            <a:srgbClr val="002060"/>
                          </a:solidFill>
                          <a:latin typeface="Cambria Math" panose="02040503050406030204" pitchFamily="18" charset="0"/>
                        </a:rPr>
                        <m:t>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𝐔</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𝐊𝐄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𝐏𝐄</m:t>
                      </m:r>
                      <m:r>
                        <a:rPr lang="en-US" sz="2400" b="1" i="0" smtClean="0">
                          <a:solidFill>
                            <a:srgbClr val="002060"/>
                          </a:solidFill>
                          <a:latin typeface="Cambria Math" panose="02040503050406030204" pitchFamily="18" charset="0"/>
                        </a:rPr>
                        <m:t>+</m:t>
                      </m:r>
                      <m:d>
                        <m:dPr>
                          <m:ctrlPr>
                            <a:rPr lang="en-US" sz="2400" b="1" i="1" smtClean="0">
                              <a:solidFill>
                                <a:srgbClr val="002060"/>
                              </a:solidFill>
                              <a:latin typeface="Cambria Math" panose="02040503050406030204" pitchFamily="18" charset="0"/>
                            </a:rPr>
                          </m:ctrlPr>
                        </m:dPr>
                        <m:e>
                          <m:r>
                            <a:rPr lang="en-US" sz="2400" b="1" i="0" smtClean="0">
                              <a:solidFill>
                                <a:srgbClr val="002060"/>
                              </a:solidFill>
                              <a:latin typeface="Cambria Math" panose="02040503050406030204" pitchFamily="18" charset="0"/>
                            </a:rPr>
                            <m:t>𝐏𝐕</m:t>
                          </m:r>
                        </m:e>
                      </m:d>
                      <m:r>
                        <a:rPr lang="en-US" sz="2400" b="1" i="0" baseline="-25000" smtClean="0">
                          <a:solidFill>
                            <a:srgbClr val="002060"/>
                          </a:solidFill>
                          <a:latin typeface="Cambria Math" panose="02040503050406030204" pitchFamily="18" charset="0"/>
                        </a:rPr>
                        <m:t>𝐅𝐄</m:t>
                      </m:r>
                    </m:oMath>
                  </m:oMathPara>
                </a14:m>
                <a:endParaRPr lang="en-US" sz="2400" b="1" baseline="-25000" dirty="0">
                  <a:solidFill>
                    <a:srgbClr val="002060"/>
                  </a:solidFill>
                </a:endParaRPr>
              </a:p>
              <a:p>
                <a:pPr marL="0" indent="0">
                  <a:lnSpc>
                    <a:spcPct val="50000"/>
                  </a:lnSpc>
                  <a:buNone/>
                </a:pPr>
                <a:endParaRPr lang="en-US" sz="2400" b="1" baseline="-25000" dirty="0">
                  <a:solidFill>
                    <a:srgbClr val="002060"/>
                  </a:solidFill>
                </a:endParaRPr>
              </a:p>
              <a:p>
                <a:pPr marL="0" indent="0">
                  <a:buNone/>
                </a:pPr>
                <a14:m>
                  <m:oMathPara xmlns:m="http://schemas.openxmlformats.org/officeDocument/2006/math">
                    <m:oMathParaPr>
                      <m:jc m:val="centerGroup"/>
                    </m:oMathParaPr>
                    <m:oMath xmlns:m="http://schemas.openxmlformats.org/officeDocument/2006/math">
                      <m:r>
                        <a:rPr lang="en-US" sz="2400" b="1">
                          <a:solidFill>
                            <a:srgbClr val="002060"/>
                          </a:solidFill>
                          <a:latin typeface="Cambria Math" panose="02040503050406030204" pitchFamily="18" charset="0"/>
                        </a:rPr>
                        <m:t>𝐄</m:t>
                      </m:r>
                      <m:r>
                        <a:rPr lang="en-US" sz="2400" b="1">
                          <a:solidFill>
                            <a:srgbClr val="002060"/>
                          </a:solidFill>
                          <a:latin typeface="Cambria Math" panose="02040503050406030204" pitchFamily="18" charset="0"/>
                        </a:rPr>
                        <m:t>=</m:t>
                      </m:r>
                      <m:r>
                        <a:rPr lang="en-US" sz="2400" b="1" i="0" smtClean="0">
                          <a:solidFill>
                            <a:srgbClr val="002060"/>
                          </a:solidFill>
                          <a:latin typeface="Cambria Math" panose="02040503050406030204" pitchFamily="18" charset="0"/>
                        </a:rPr>
                        <m:t>𝐇</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𝐊𝐄</m:t>
                      </m:r>
                      <m:r>
                        <a:rPr lang="en-US" sz="2400" b="1">
                          <a:solidFill>
                            <a:srgbClr val="002060"/>
                          </a:solidFill>
                          <a:latin typeface="Cambria Math" panose="02040503050406030204" pitchFamily="18" charset="0"/>
                        </a:rPr>
                        <m:t>+</m:t>
                      </m:r>
                      <m:r>
                        <a:rPr lang="en-US" sz="2400" b="1">
                          <a:solidFill>
                            <a:srgbClr val="002060"/>
                          </a:solidFill>
                          <a:latin typeface="Cambria Math" panose="02040503050406030204" pitchFamily="18" charset="0"/>
                        </a:rPr>
                        <m:t>𝐏𝐄</m:t>
                      </m:r>
                    </m:oMath>
                  </m:oMathPara>
                </a14:m>
                <a:endParaRPr lang="en-US" sz="2400" b="1" baseline="-25000" dirty="0">
                  <a:solidFill>
                    <a:srgbClr val="002060"/>
                  </a:solidFill>
                </a:endParaRPr>
              </a:p>
              <a:p>
                <a:pPr>
                  <a:buFont typeface="Wingdings" panose="05000000000000000000" pitchFamily="2" charset="2"/>
                  <a:buChar char="v"/>
                </a:pPr>
                <a:r>
                  <a:rPr lang="en-US" sz="2400" dirty="0"/>
                  <a:t>Considering a steady flow system, mass transfer does not change with time. </a:t>
                </a:r>
              </a:p>
              <a:p>
                <a:pPr marL="0" indent="0">
                  <a:buNone/>
                </a:pPr>
                <a:r>
                  <a:rPr lang="en-US" sz="2400" dirty="0"/>
                  <a:t>                   Thus, m</a:t>
                </a:r>
                <a:r>
                  <a:rPr lang="en-US" sz="2400" baseline="-25000" dirty="0"/>
                  <a:t>in</a:t>
                </a:r>
                <a:r>
                  <a:rPr lang="en-US" sz="2400" dirty="0"/>
                  <a:t> = </a:t>
                </a:r>
                <a:r>
                  <a:rPr lang="en-US" sz="2400" dirty="0" err="1"/>
                  <a:t>m</a:t>
                </a:r>
                <a:r>
                  <a:rPr lang="en-US" sz="2400" baseline="-25000" dirty="0" err="1"/>
                  <a:t>out</a:t>
                </a:r>
                <a:r>
                  <a:rPr lang="en-US" sz="2400" dirty="0"/>
                  <a:t> = m </a:t>
                </a:r>
              </a:p>
              <a:p>
                <a:pPr>
                  <a:buFont typeface="Wingdings" panose="05000000000000000000" pitchFamily="2" charset="2"/>
                  <a:buChar char="v"/>
                </a:pPr>
                <a:r>
                  <a:rPr lang="en-US" sz="2400" b="1" dirty="0">
                    <a:solidFill>
                      <a:srgbClr val="002060"/>
                    </a:solidFill>
                  </a:rPr>
                  <a:t>The total energy can be expressed as;</a:t>
                </a:r>
              </a:p>
              <a:p>
                <a:pPr marL="0" indent="0">
                  <a:buNone/>
                </a:pPr>
                <a14:m>
                  <m:oMathPara xmlns:m="http://schemas.openxmlformats.org/officeDocument/2006/math">
                    <m:oMathParaPr>
                      <m:jc m:val="centerGroup"/>
                    </m:oMathParaPr>
                    <m:oMath xmlns:m="http://schemas.openxmlformats.org/officeDocument/2006/math">
                      <m:r>
                        <a:rPr lang="en-US" sz="2400" b="1" i="1" smtClean="0">
                          <a:solidFill>
                            <a:srgbClr val="C00000"/>
                          </a:solidFill>
                          <a:latin typeface="Cambria Math" panose="02040503050406030204" pitchFamily="18" charset="0"/>
                        </a:rPr>
                        <m:t>𝑬</m:t>
                      </m:r>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𝒎𝒉</m:t>
                      </m:r>
                      <m:r>
                        <a:rPr lang="en-US" sz="2400" b="1" i="1" smtClean="0">
                          <a:solidFill>
                            <a:srgbClr val="C00000"/>
                          </a:solidFill>
                          <a:latin typeface="Cambria Math" panose="02040503050406030204" pitchFamily="18" charset="0"/>
                        </a:rPr>
                        <m:t>+</m:t>
                      </m:r>
                      <m:f>
                        <m:fPr>
                          <m:ctrlPr>
                            <a:rPr lang="en-US" sz="2400" b="1" i="1" smtClean="0">
                              <a:solidFill>
                                <a:srgbClr val="C00000"/>
                              </a:solidFill>
                              <a:latin typeface="Cambria Math" panose="02040503050406030204" pitchFamily="18" charset="0"/>
                            </a:rPr>
                          </m:ctrlPr>
                        </m:fPr>
                        <m:num>
                          <m:r>
                            <a:rPr lang="en-US" sz="2400" b="1" i="1" smtClean="0">
                              <a:solidFill>
                                <a:srgbClr val="C00000"/>
                              </a:solidFill>
                              <a:latin typeface="Cambria Math" panose="02040503050406030204" pitchFamily="18" charset="0"/>
                            </a:rPr>
                            <m:t>𝟏</m:t>
                          </m:r>
                        </m:num>
                        <m:den>
                          <m:r>
                            <a:rPr lang="en-US" sz="2400" b="1" i="1" smtClean="0">
                              <a:solidFill>
                                <a:srgbClr val="C00000"/>
                              </a:solidFill>
                              <a:latin typeface="Cambria Math" panose="02040503050406030204" pitchFamily="18" charset="0"/>
                            </a:rPr>
                            <m:t>𝟐</m:t>
                          </m:r>
                        </m:den>
                      </m:f>
                      <m:r>
                        <a:rPr lang="en-US" sz="2400" b="1" i="1" smtClean="0">
                          <a:solidFill>
                            <a:srgbClr val="C00000"/>
                          </a:solidFill>
                          <a:latin typeface="Cambria Math" panose="02040503050406030204" pitchFamily="18" charset="0"/>
                        </a:rPr>
                        <m:t>𝒎</m:t>
                      </m:r>
                      <m:sSup>
                        <m:sSupPr>
                          <m:ctrlPr>
                            <a:rPr lang="en-US" sz="2400" b="1" i="1" smtClean="0">
                              <a:solidFill>
                                <a:srgbClr val="C00000"/>
                              </a:solidFill>
                              <a:latin typeface="Cambria Math" panose="02040503050406030204" pitchFamily="18" charset="0"/>
                            </a:rPr>
                          </m:ctrlPr>
                        </m:sSupPr>
                        <m:e>
                          <m:r>
                            <a:rPr lang="en-US" sz="2400" b="1" i="1" smtClean="0">
                              <a:solidFill>
                                <a:srgbClr val="C00000"/>
                              </a:solidFill>
                              <a:latin typeface="Cambria Math" panose="02040503050406030204" pitchFamily="18" charset="0"/>
                            </a:rPr>
                            <m:t>𝑪</m:t>
                          </m:r>
                        </m:e>
                        <m:sup>
                          <m:r>
                            <a:rPr lang="en-US" sz="2400" b="1" i="1" smtClean="0">
                              <a:solidFill>
                                <a:srgbClr val="C00000"/>
                              </a:solidFill>
                              <a:latin typeface="Cambria Math" panose="02040503050406030204" pitchFamily="18" charset="0"/>
                            </a:rPr>
                            <m:t>𝟐</m:t>
                          </m:r>
                        </m:sup>
                      </m:sSup>
                      <m:r>
                        <a:rPr lang="en-US" sz="2400" b="1" i="1" smtClean="0">
                          <a:solidFill>
                            <a:srgbClr val="C00000"/>
                          </a:solidFill>
                          <a:latin typeface="Cambria Math" panose="02040503050406030204" pitchFamily="18" charset="0"/>
                        </a:rPr>
                        <m:t>+</m:t>
                      </m:r>
                      <m:r>
                        <a:rPr lang="en-US" sz="2400" b="1" i="1" smtClean="0">
                          <a:solidFill>
                            <a:srgbClr val="C00000"/>
                          </a:solidFill>
                          <a:latin typeface="Cambria Math" panose="02040503050406030204" pitchFamily="18" charset="0"/>
                        </a:rPr>
                        <m:t>𝒎𝒈𝒛</m:t>
                      </m:r>
                    </m:oMath>
                  </m:oMathPara>
                </a14:m>
                <a:endParaRPr lang="en-US" sz="2400" b="1" dirty="0">
                  <a:solidFill>
                    <a:srgbClr val="C00000"/>
                  </a:solidFill>
                </a:endParaRPr>
              </a:p>
              <a:p>
                <a:pPr>
                  <a:buFont typeface="Wingdings" panose="05000000000000000000" pitchFamily="2" charset="2"/>
                  <a:buChar char="v"/>
                </a:pPr>
                <a:r>
                  <a:rPr lang="en-US" sz="2400" dirty="0"/>
                  <a:t>The total change in energy of an open system becomes;</a:t>
                </a:r>
              </a:p>
              <a:p>
                <a:pPr marL="0" indent="0">
                  <a:buNone/>
                </a:pPr>
                <a14:m>
                  <m:oMathPara xmlns:m="http://schemas.openxmlformats.org/officeDocument/2006/math">
                    <m:oMathParaPr>
                      <m:jc m:val="centerGroup"/>
                    </m:oMathParaPr>
                    <m:oMath xmlns:m="http://schemas.openxmlformats.org/officeDocument/2006/math">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𝐄</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𝐇</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𝐊𝐄</m:t>
                      </m:r>
                      <m:r>
                        <a:rPr lang="en-US" b="1">
                          <a:solidFill>
                            <a:srgbClr val="002060"/>
                          </a:solidFill>
                          <a:latin typeface="Cambria Math" panose="02040503050406030204" pitchFamily="18" charset="0"/>
                        </a:rPr>
                        <m:t>+</m:t>
                      </m:r>
                      <m:r>
                        <a:rPr lang="en-US" b="1" i="1">
                          <a:solidFill>
                            <a:srgbClr val="002060"/>
                          </a:solidFill>
                          <a:latin typeface="Cambria Math" panose="02040503050406030204" pitchFamily="18" charset="0"/>
                          <a:ea typeface="Cambria Math" panose="02040503050406030204" pitchFamily="18" charset="0"/>
                        </a:rPr>
                        <m:t>∆</m:t>
                      </m:r>
                      <m:r>
                        <a:rPr lang="en-US" b="1">
                          <a:solidFill>
                            <a:srgbClr val="002060"/>
                          </a:solidFill>
                          <a:latin typeface="Cambria Math" panose="02040503050406030204" pitchFamily="18" charset="0"/>
                        </a:rPr>
                        <m:t>𝐏𝐄</m:t>
                      </m:r>
                    </m:oMath>
                  </m:oMathPara>
                </a14:m>
                <a:endParaRPr lang="en-US" b="1" baseline="-25000" dirty="0">
                  <a:solidFill>
                    <a:srgbClr val="002060"/>
                  </a:solidFill>
                </a:endParaRPr>
              </a:p>
              <a:p>
                <a:pPr>
                  <a:buFont typeface="Wingdings" panose="05000000000000000000" pitchFamily="2" charset="2"/>
                  <a:buChar char="v"/>
                </a:pPr>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62318"/>
                <a:ext cx="5800373" cy="5216287"/>
              </a:xfrm>
              <a:prstGeom prst="rect">
                <a:avLst/>
              </a:prstGeom>
              <a:blipFill rotWithShape="0">
                <a:blip r:embed="rId3"/>
                <a:stretch>
                  <a:fillRect l="-1366" t="-935"/>
                </a:stretch>
              </a:blipFill>
            </p:spPr>
            <p:txBody>
              <a:bodyPr/>
              <a:lstStyle/>
              <a:p>
                <a:r>
                  <a:rPr lang="en-US">
                    <a:noFill/>
                  </a:rPr>
                  <a:t> </a:t>
                </a:r>
              </a:p>
            </p:txBody>
          </p:sp>
        </mc:Fallback>
      </mc:AlternateContent>
    </p:spTree>
    <p:extLst>
      <p:ext uri="{BB962C8B-B14F-4D97-AF65-F5344CB8AC3E}">
        <p14:creationId xmlns:p14="http://schemas.microsoft.com/office/powerpoint/2010/main" val="533380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19</a:t>
            </a:fld>
            <a:endParaRPr lang="en-US" dirty="0"/>
          </a:p>
        </p:txBody>
      </p:sp>
      <p:sp>
        <p:nvSpPr>
          <p:cNvPr id="10" name="Content Placeholder 2"/>
          <p:cNvSpPr txBox="1">
            <a:spLocks/>
          </p:cNvSpPr>
          <p:nvPr/>
        </p:nvSpPr>
        <p:spPr>
          <a:xfrm>
            <a:off x="331485" y="1062318"/>
            <a:ext cx="11515374" cy="83818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t>Most engineering devices such as turbines, compressors and nozzles operate for long periods of time under the same conditions, and they are classified as steady-flow devices.</a:t>
            </a:r>
          </a:p>
          <a:p>
            <a:pPr>
              <a:buFont typeface="Wingdings" panose="05000000000000000000" pitchFamily="2" charset="2"/>
              <a:buChar char="v"/>
            </a:pPr>
            <a:endParaRPr lang="en-US" sz="2400" dirty="0"/>
          </a:p>
          <a:p>
            <a:pPr>
              <a:buFont typeface="Wingdings" panose="05000000000000000000" pitchFamily="2" charset="2"/>
              <a:buChar char="v"/>
            </a:pPr>
            <a:endParaRPr lang="en-US" dirty="0"/>
          </a:p>
        </p:txBody>
      </p:sp>
      <p:pic>
        <p:nvPicPr>
          <p:cNvPr id="6" name="Picture 6" descr="04025 copy"/>
          <p:cNvPicPr>
            <a:picLocks noChangeAspect="1" noChangeArrowheads="1"/>
          </p:cNvPicPr>
          <p:nvPr/>
        </p:nvPicPr>
        <p:blipFill>
          <a:blip r:embed="rId2" cstate="print"/>
          <a:srcRect/>
          <a:stretch>
            <a:fillRect/>
          </a:stretch>
        </p:blipFill>
        <p:spPr bwMode="auto">
          <a:xfrm>
            <a:off x="2683288" y="1900507"/>
            <a:ext cx="7153836" cy="4256532"/>
          </a:xfrm>
          <a:prstGeom prst="rect">
            <a:avLst/>
          </a:prstGeom>
          <a:noFill/>
        </p:spPr>
      </p:pic>
    </p:spTree>
    <p:extLst>
      <p:ext uri="{BB962C8B-B14F-4D97-AF65-F5344CB8AC3E}">
        <p14:creationId xmlns:p14="http://schemas.microsoft.com/office/powerpoint/2010/main" val="16273583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20</a:t>
            </a:fld>
            <a:endParaRPr lang="en-US" dirty="0"/>
          </a:p>
        </p:txBody>
      </p:sp>
      <p:sp>
        <p:nvSpPr>
          <p:cNvPr id="10" name="Content Placeholder 2"/>
          <p:cNvSpPr txBox="1">
            <a:spLocks/>
          </p:cNvSpPr>
          <p:nvPr/>
        </p:nvSpPr>
        <p:spPr>
          <a:xfrm>
            <a:off x="331486" y="1062319"/>
            <a:ext cx="6862690" cy="510988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Boilers and Condensers</a:t>
            </a:r>
          </a:p>
          <a:p>
            <a:pPr>
              <a:buFont typeface="Wingdings" panose="05000000000000000000" pitchFamily="2" charset="2"/>
              <a:buChar char="v"/>
            </a:pPr>
            <a:r>
              <a:rPr lang="en-US" sz="2400" dirty="0"/>
              <a:t>In a </a:t>
            </a:r>
            <a:r>
              <a:rPr lang="en-US" sz="2400" b="1" dirty="0">
                <a:solidFill>
                  <a:srgbClr val="002060"/>
                </a:solidFill>
              </a:rPr>
              <a:t>boiler</a:t>
            </a:r>
            <a:r>
              <a:rPr lang="en-US" sz="2400" dirty="0"/>
              <a:t> operating under steady conditions, water is pumped into the boiler along the feed line at the same rate at which steam leaves the boiler along the steam main, and heat energy is supplied from the furnace at steady rate.  </a:t>
            </a:r>
          </a:p>
          <a:p>
            <a:pPr>
              <a:buFont typeface="Wingdings" panose="05000000000000000000" pitchFamily="2" charset="2"/>
              <a:buChar char="v"/>
            </a:pPr>
            <a:r>
              <a:rPr lang="en-US" sz="2400" dirty="0"/>
              <a:t>In principle, a </a:t>
            </a:r>
            <a:r>
              <a:rPr lang="en-US" sz="2400" b="1" dirty="0">
                <a:solidFill>
                  <a:srgbClr val="002060"/>
                </a:solidFill>
              </a:rPr>
              <a:t>condenser</a:t>
            </a:r>
            <a:r>
              <a:rPr lang="en-US" sz="2400" dirty="0"/>
              <a:t> is a boiler in reverse. Heat energy is removed in order to condense the vapour into a liquid. </a:t>
            </a:r>
          </a:p>
          <a:p>
            <a:pPr>
              <a:buFont typeface="Wingdings" panose="05000000000000000000" pitchFamily="2" charset="2"/>
              <a:buChar char="v"/>
            </a:pPr>
            <a:r>
              <a:rPr lang="en-US" sz="2400" dirty="0"/>
              <a:t>If the condenser is in steady state, then the amount of liquid (condensate) must be equal to the amount of vapour entering the condenser.</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1543" y="1062319"/>
            <a:ext cx="3514522" cy="266251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6224" y="3818964"/>
            <a:ext cx="4249270" cy="2301430"/>
          </a:xfrm>
          <a:prstGeom prst="rect">
            <a:avLst/>
          </a:prstGeom>
        </p:spPr>
      </p:pic>
    </p:spTree>
    <p:extLst>
      <p:ext uri="{BB962C8B-B14F-4D97-AF65-F5344CB8AC3E}">
        <p14:creationId xmlns:p14="http://schemas.microsoft.com/office/powerpoint/2010/main" val="13853942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21</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7185421"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Boilers and Condensers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Q</m:t>
                          </m:r>
                        </m:e>
                        <m:sub>
                          <m:r>
                            <a:rPr lang="en-US" sz="2200" b="0" i="0" dirty="0" smtClean="0">
                              <a:latin typeface="Cambria Math" panose="02040503050406030204" pitchFamily="18" charset="0"/>
                            </a:rPr>
                            <m:t>12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W</m:t>
                          </m:r>
                        </m:e>
                        <m:sub>
                          <m:r>
                            <a:rPr lang="en-US" sz="2200" b="0" i="0" dirty="0" smtClean="0">
                              <a:latin typeface="Cambria Math" panose="02040503050406030204" pitchFamily="18" charset="0"/>
                            </a:rPr>
                            <m:t>12</m:t>
                          </m:r>
                        </m:sub>
                      </m:sSub>
                      <m:r>
                        <a:rPr lang="en-US" sz="2200" b="0" i="0" dirty="0" smtClean="0">
                          <a:latin typeface="Cambria Math" panose="02040503050406030204" pitchFamily="18" charset="0"/>
                        </a:rPr>
                        <m:t>=</m:t>
                      </m:r>
                      <m:r>
                        <m:rPr>
                          <m:sty m:val="p"/>
                        </m:rPr>
                        <a:rPr lang="en-US" sz="2200" b="0" i="0" dirty="0" smtClean="0">
                          <a:latin typeface="Cambria Math" panose="02040503050406030204" pitchFamily="18" charset="0"/>
                        </a:rPr>
                        <m:t>m</m:t>
                      </m:r>
                      <m:d>
                        <m:dPr>
                          <m:begChr m:val="["/>
                          <m:endChr m:val="]"/>
                          <m:ctrlPr>
                            <a:rPr lang="en-US" sz="2200" b="0" i="1" dirty="0" smtClean="0">
                              <a:latin typeface="Cambria Math" panose="02040503050406030204" pitchFamily="18" charset="0"/>
                            </a:rPr>
                          </m:ctrlPr>
                        </m:dPr>
                        <m:e>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h</m:t>
                                  </m:r>
                                </m:e>
                                <m:sub>
                                  <m:r>
                                    <a:rPr lang="en-US" sz="2200" b="0" i="0" dirty="0" smtClean="0">
                                      <a:latin typeface="Cambria Math" panose="02040503050406030204" pitchFamily="18" charset="0"/>
                                    </a:rPr>
                                    <m:t>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h</m:t>
                                  </m:r>
                                </m:e>
                                <m:sub>
                                  <m:r>
                                    <a:rPr lang="en-US" sz="2200" b="0" i="0" dirty="0" smtClean="0">
                                      <a:latin typeface="Cambria Math" panose="02040503050406030204" pitchFamily="18" charset="0"/>
                                    </a:rPr>
                                    <m:t>1</m:t>
                                  </m:r>
                                </m:sub>
                              </m:sSub>
                            </m:e>
                          </m:d>
                          <m:r>
                            <a:rPr lang="en-US" sz="2200" b="0" i="0" dirty="0" smtClean="0">
                              <a:latin typeface="Cambria Math" panose="02040503050406030204" pitchFamily="18" charset="0"/>
                            </a:rPr>
                            <m:t>+</m:t>
                          </m:r>
                          <m:f>
                            <m:fPr>
                              <m:ctrlPr>
                                <a:rPr lang="en-US" sz="2200" b="0" i="1" dirty="0" smtClean="0">
                                  <a:latin typeface="Cambria Math" panose="02040503050406030204" pitchFamily="18" charset="0"/>
                                </a:rPr>
                              </m:ctrlPr>
                            </m:fPr>
                            <m:num>
                              <m:sSubSup>
                                <m:sSubSupPr>
                                  <m:ctrlPr>
                                    <a:rPr lang="en-US" sz="2200" b="0" i="1" dirty="0" smtClean="0">
                                      <a:latin typeface="Cambria Math" panose="02040503050406030204" pitchFamily="18" charset="0"/>
                                    </a:rPr>
                                  </m:ctrlPr>
                                </m:sSubSupPr>
                                <m:e>
                                  <m:r>
                                    <m:rPr>
                                      <m:sty m:val="p"/>
                                    </m:rPr>
                                    <a:rPr lang="en-US" sz="2200" b="0" i="0" dirty="0" smtClean="0">
                                      <a:latin typeface="Cambria Math" panose="02040503050406030204" pitchFamily="18" charset="0"/>
                                    </a:rPr>
                                    <m:t>C</m:t>
                                  </m:r>
                                </m:e>
                                <m:sub>
                                  <m:r>
                                    <a:rPr lang="en-US" sz="2200" b="0" i="0" dirty="0" smtClean="0">
                                      <a:latin typeface="Cambria Math" panose="02040503050406030204" pitchFamily="18" charset="0"/>
                                    </a:rPr>
                                    <m:t>2</m:t>
                                  </m:r>
                                </m:sub>
                                <m:sup>
                                  <m:r>
                                    <a:rPr lang="en-US" sz="2200" b="0" i="0" dirty="0" smtClean="0">
                                      <a:latin typeface="Cambria Math" panose="02040503050406030204" pitchFamily="18" charset="0"/>
                                    </a:rPr>
                                    <m:t>2</m:t>
                                  </m:r>
                                </m:sup>
                              </m:sSubSup>
                              <m:r>
                                <a:rPr lang="en-US" sz="2200" b="0" i="0" dirty="0" smtClean="0">
                                  <a:latin typeface="Cambria Math" panose="02040503050406030204" pitchFamily="18" charset="0"/>
                                </a:rPr>
                                <m:t>−</m:t>
                              </m:r>
                              <m:sSubSup>
                                <m:sSubSupPr>
                                  <m:ctrlPr>
                                    <a:rPr lang="en-US" sz="2200" b="0" i="1" dirty="0" smtClean="0">
                                      <a:latin typeface="Cambria Math" panose="02040503050406030204" pitchFamily="18" charset="0"/>
                                    </a:rPr>
                                  </m:ctrlPr>
                                </m:sSubSupPr>
                                <m:e>
                                  <m:r>
                                    <m:rPr>
                                      <m:sty m:val="p"/>
                                    </m:rPr>
                                    <a:rPr lang="en-US" sz="2200" b="0" i="0" dirty="0" smtClean="0">
                                      <a:latin typeface="Cambria Math" panose="02040503050406030204" pitchFamily="18" charset="0"/>
                                    </a:rPr>
                                    <m:t>C</m:t>
                                  </m:r>
                                </m:e>
                                <m:sub>
                                  <m:r>
                                    <a:rPr lang="en-US" sz="2200" b="0" i="0" dirty="0" smtClean="0">
                                      <a:latin typeface="Cambria Math" panose="02040503050406030204" pitchFamily="18" charset="0"/>
                                    </a:rPr>
                                    <m:t>1</m:t>
                                  </m:r>
                                </m:sub>
                                <m:sup>
                                  <m:r>
                                    <a:rPr lang="en-US" sz="2200" b="0" i="0" dirty="0" smtClean="0">
                                      <a:latin typeface="Cambria Math" panose="02040503050406030204" pitchFamily="18" charset="0"/>
                                    </a:rPr>
                                    <m:t>2</m:t>
                                  </m:r>
                                </m:sup>
                              </m:sSubSup>
                            </m:num>
                            <m:den>
                              <m:r>
                                <a:rPr lang="en-US" sz="2200" b="0" i="0" dirty="0" smtClean="0">
                                  <a:latin typeface="Cambria Math" panose="02040503050406030204" pitchFamily="18" charset="0"/>
                                </a:rPr>
                                <m:t>2</m:t>
                              </m:r>
                            </m:den>
                          </m:f>
                          <m:r>
                            <a:rPr lang="en-US" sz="2200" b="0" i="0" dirty="0" smtClean="0">
                              <a:latin typeface="Cambria Math" panose="02040503050406030204" pitchFamily="18" charset="0"/>
                            </a:rPr>
                            <m:t>+</m:t>
                          </m:r>
                          <m:r>
                            <m:rPr>
                              <m:sty m:val="p"/>
                            </m:rPr>
                            <a:rPr lang="en-US" sz="2200" b="0" i="0" dirty="0" smtClean="0">
                              <a:latin typeface="Cambria Math" panose="02040503050406030204" pitchFamily="18" charset="0"/>
                            </a:rPr>
                            <m:t>g</m:t>
                          </m:r>
                          <m:d>
                            <m:dPr>
                              <m:ctrlPr>
                                <a:rPr lang="en-US" sz="2200" b="0" i="1" dirty="0" smtClean="0">
                                  <a:latin typeface="Cambria Math" panose="02040503050406030204" pitchFamily="18" charset="0"/>
                                </a:rPr>
                              </m:ctrlPr>
                            </m:dPr>
                            <m:e>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Z</m:t>
                                  </m:r>
                                </m:e>
                                <m:sub>
                                  <m:r>
                                    <a:rPr lang="en-US" sz="2200" b="0" i="0" dirty="0" smtClean="0">
                                      <a:latin typeface="Cambria Math" panose="02040503050406030204" pitchFamily="18" charset="0"/>
                                    </a:rPr>
                                    <m:t>2</m:t>
                                  </m:r>
                                </m:sub>
                              </m:sSub>
                              <m:r>
                                <a:rPr lang="en-US" sz="2200" b="0" i="0"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m:rPr>
                                      <m:sty m:val="p"/>
                                    </m:rPr>
                                    <a:rPr lang="en-US" sz="2200" b="0" i="0" dirty="0" smtClean="0">
                                      <a:latin typeface="Cambria Math" panose="02040503050406030204" pitchFamily="18" charset="0"/>
                                    </a:rPr>
                                    <m:t>Z</m:t>
                                  </m:r>
                                </m:e>
                                <m:sub>
                                  <m:r>
                                    <a:rPr lang="en-US" sz="2200" b="0" i="0" dirty="0" smtClean="0">
                                      <a:latin typeface="Cambria Math" panose="02040503050406030204" pitchFamily="18" charset="0"/>
                                    </a:rPr>
                                    <m:t>1</m:t>
                                  </m:r>
                                </m:sub>
                              </m:sSub>
                            </m:e>
                          </m:d>
                        </m:e>
                      </m:d>
                    </m:oMath>
                  </m:oMathPara>
                </a14:m>
                <a:endParaRPr lang="en-US" sz="2200" dirty="0"/>
              </a:p>
              <a:p>
                <a:pPr>
                  <a:buFont typeface="Wingdings" panose="05000000000000000000" pitchFamily="2" charset="2"/>
                  <a:buChar char="v"/>
                </a:pPr>
                <a:r>
                  <a:rPr lang="en-US" sz="2200" dirty="0">
                    <a:solidFill>
                      <a:srgbClr val="002060"/>
                    </a:solidFill>
                  </a:rPr>
                  <a:t>In applying the above equation to the boiler or condenser, the following points should be noted:</a:t>
                </a:r>
              </a:p>
              <a:p>
                <a:pPr>
                  <a:buFont typeface="Wingdings" panose="05000000000000000000" pitchFamily="2" charset="2"/>
                  <a:buChar char="ü"/>
                </a:pPr>
                <a:r>
                  <a:rPr lang="en-US" sz="2200" dirty="0"/>
                  <a:t>Q is the amount of heat energy transferred to the fluid per second.</a:t>
                </a:r>
              </a:p>
              <a:p>
                <a:pPr>
                  <a:buFont typeface="Wingdings" panose="05000000000000000000" pitchFamily="2" charset="2"/>
                  <a:buChar char="ü"/>
                </a:pPr>
                <a:r>
                  <a:rPr lang="en-US" sz="2200" dirty="0"/>
                  <a:t>W will be zero, since a boiler has no moving parts capable of effecting a work transfer.</a:t>
                </a:r>
              </a:p>
              <a:p>
                <a:pPr>
                  <a:buFont typeface="Wingdings" panose="05000000000000000000" pitchFamily="2" charset="2"/>
                  <a:buChar char="ü"/>
                </a:pPr>
                <a:r>
                  <a:rPr lang="en-US" sz="2200" dirty="0"/>
                  <a:t>The changes in kinetic and potential energies are small compared with the other terms and may be neglected.</a:t>
                </a:r>
              </a:p>
              <a:p>
                <a:pPr>
                  <a:buFont typeface="Wingdings" panose="05000000000000000000" pitchFamily="2" charset="2"/>
                  <a:buChar char="ü"/>
                </a:pPr>
                <a:r>
                  <a:rPr lang="en-US" sz="2200" dirty="0"/>
                  <a:t>m is the rate of flow of the fluid.</a:t>
                </a:r>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7185421" cy="5364205"/>
              </a:xfrm>
              <a:prstGeom prst="rect">
                <a:avLst/>
              </a:prstGeom>
              <a:blipFill rotWithShape="0">
                <a:blip r:embed="rId2"/>
                <a:stretch>
                  <a:fillRect l="-1696" t="-1136" r="-1187" b="-2386"/>
                </a:stretch>
              </a:blipFill>
            </p:spPr>
            <p:txBody>
              <a:bodyPr/>
              <a:lstStyle/>
              <a:p>
                <a:r>
                  <a:rPr lang="en-US">
                    <a:noFill/>
                  </a:rPr>
                  <a:t> </a:t>
                </a:r>
              </a:p>
            </p:txBody>
          </p:sp>
        </mc:Fallback>
      </mc:AlternateContent>
      <p:pic>
        <p:nvPicPr>
          <p:cNvPr id="4098" name="Picture 2" descr="THERMOFLUIDS: APPLICATION OF STEADY FLOW EQU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7434" y="1062318"/>
            <a:ext cx="4236413" cy="295835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Content Placeholder 2"/>
              <p:cNvSpPr txBox="1">
                <a:spLocks/>
              </p:cNvSpPr>
              <p:nvPr/>
            </p:nvSpPr>
            <p:spPr>
              <a:xfrm>
                <a:off x="7516906" y="4350123"/>
                <a:ext cx="4216941" cy="1599029"/>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200" dirty="0">
                    <a:solidFill>
                      <a:srgbClr val="C00000"/>
                    </a:solidFill>
                  </a:rPr>
                  <a:t>Hence the steady flow energy equation reduces to</a:t>
                </a:r>
              </a:p>
              <a:p>
                <a:pPr>
                  <a:lnSpc>
                    <a:spcPct val="50000"/>
                  </a:lnSpc>
                  <a:buFont typeface="Wingdings" panose="05000000000000000000" pitchFamily="2" charset="2"/>
                  <a:buChar char="v"/>
                </a:pPr>
                <a:endParaRPr lang="en-US" sz="2200" dirty="0">
                  <a:solidFill>
                    <a:srgbClr val="C0000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𝑄</m:t>
                          </m:r>
                        </m:e>
                        <m:sub>
                          <m:r>
                            <a:rPr lang="en-US" sz="2200" b="0" i="1" smtClean="0">
                              <a:latin typeface="Cambria Math" panose="02040503050406030204" pitchFamily="18" charset="0"/>
                            </a:rPr>
                            <m:t>12</m:t>
                          </m:r>
                        </m:sub>
                      </m:sSub>
                      <m:r>
                        <a:rPr lang="en-US" sz="2200" b="0" i="1" smtClean="0">
                          <a:latin typeface="Cambria Math" panose="02040503050406030204" pitchFamily="18" charset="0"/>
                        </a:rPr>
                        <m:t>=</m:t>
                      </m:r>
                      <m:r>
                        <a:rPr lang="en-US" sz="2200" b="0" i="1" smtClean="0">
                          <a:latin typeface="Cambria Math" panose="02040503050406030204" pitchFamily="18" charset="0"/>
                        </a:rPr>
                        <m:t>𝑚</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Sub>
                        </m:e>
                      </m:d>
                    </m:oMath>
                  </m:oMathPara>
                </a14:m>
                <a:endParaRPr lang="en-US" sz="2200" dirty="0"/>
              </a:p>
              <a:p>
                <a:pPr>
                  <a:buFont typeface="Wingdings" panose="05000000000000000000" pitchFamily="2" charset="2"/>
                  <a:buChar char="v"/>
                </a:pPr>
                <a:endParaRPr lang="en-US" sz="2000" dirty="0"/>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7516906" y="4350123"/>
                <a:ext cx="4216941" cy="1599029"/>
              </a:xfrm>
              <a:prstGeom prst="rect">
                <a:avLst/>
              </a:prstGeom>
              <a:blipFill rotWithShape="0">
                <a:blip r:embed="rId4"/>
                <a:stretch>
                  <a:fillRect l="-1590" t="-2672"/>
                </a:stretch>
              </a:blipFill>
            </p:spPr>
            <p:txBody>
              <a:bodyPr/>
              <a:lstStyle/>
              <a:p>
                <a:r>
                  <a:rPr lang="en-US">
                    <a:noFill/>
                  </a:rPr>
                  <a:t> </a:t>
                </a:r>
              </a:p>
            </p:txBody>
          </p:sp>
        </mc:Fallback>
      </mc:AlternateContent>
    </p:spTree>
    <p:extLst>
      <p:ext uri="{BB962C8B-B14F-4D97-AF65-F5344CB8AC3E}">
        <p14:creationId xmlns:p14="http://schemas.microsoft.com/office/powerpoint/2010/main" val="22996098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22</a:t>
            </a:fld>
            <a:endParaRPr lang="en-US" dirty="0"/>
          </a:p>
        </p:txBody>
      </p:sp>
      <p:sp>
        <p:nvSpPr>
          <p:cNvPr id="10" name="Content Placeholder 2"/>
          <p:cNvSpPr txBox="1">
            <a:spLocks/>
          </p:cNvSpPr>
          <p:nvPr/>
        </p:nvSpPr>
        <p:spPr>
          <a:xfrm>
            <a:off x="331486" y="1089212"/>
            <a:ext cx="4307749" cy="424927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Turbines and Compressors</a:t>
            </a:r>
          </a:p>
          <a:p>
            <a:pPr>
              <a:buFont typeface="Wingdings" panose="05000000000000000000" pitchFamily="2" charset="2"/>
              <a:buChar char="v"/>
            </a:pPr>
            <a:r>
              <a:rPr lang="en-US" sz="2600" dirty="0"/>
              <a:t>A </a:t>
            </a:r>
            <a:r>
              <a:rPr lang="en-US" sz="2600" b="1" dirty="0">
                <a:solidFill>
                  <a:srgbClr val="002060"/>
                </a:solidFill>
              </a:rPr>
              <a:t>turbine</a:t>
            </a:r>
            <a:r>
              <a:rPr lang="en-US" sz="2600" dirty="0"/>
              <a:t> is a device which uses a pressure drop to produce work energy which is used to drive an external load.</a:t>
            </a:r>
          </a:p>
          <a:p>
            <a:pPr>
              <a:buFont typeface="Wingdings" panose="05000000000000000000" pitchFamily="2" charset="2"/>
              <a:buChar char="v"/>
            </a:pPr>
            <a:r>
              <a:rPr lang="en-US" sz="2600" dirty="0"/>
              <a:t>The action of a </a:t>
            </a:r>
            <a:r>
              <a:rPr lang="en-US" sz="2600" b="1" dirty="0">
                <a:solidFill>
                  <a:srgbClr val="002060"/>
                </a:solidFill>
              </a:rPr>
              <a:t>compressor</a:t>
            </a:r>
            <a:r>
              <a:rPr lang="en-US" sz="2600" dirty="0"/>
              <a:t> is the reverse of a turbine. It uses external work energy to produce a pressure rise.</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7" name="Picture 6"/>
          <p:cNvPicPr>
            <a:picLocks noChangeAspect="1"/>
          </p:cNvPicPr>
          <p:nvPr/>
        </p:nvPicPr>
        <p:blipFill>
          <a:blip r:embed="rId2"/>
          <a:stretch>
            <a:fillRect/>
          </a:stretch>
        </p:blipFill>
        <p:spPr>
          <a:xfrm>
            <a:off x="5132018" y="1062318"/>
            <a:ext cx="4522970" cy="2724531"/>
          </a:xfrm>
          <a:prstGeom prst="rect">
            <a:avLst/>
          </a:prstGeom>
        </p:spPr>
      </p:pic>
      <p:pic>
        <p:nvPicPr>
          <p:cNvPr id="9" name="Picture 6" descr="04025 copy"/>
          <p:cNvPicPr>
            <a:picLocks noChangeAspect="1" noChangeArrowheads="1"/>
          </p:cNvPicPr>
          <p:nvPr/>
        </p:nvPicPr>
        <p:blipFill rotWithShape="1">
          <a:blip r:embed="rId3" cstate="print"/>
          <a:srcRect l="30606" t="49586" r="46995"/>
          <a:stretch/>
        </p:blipFill>
        <p:spPr bwMode="auto">
          <a:xfrm>
            <a:off x="9822252" y="3658795"/>
            <a:ext cx="1872208" cy="2507164"/>
          </a:xfrm>
          <a:prstGeom prst="rect">
            <a:avLst/>
          </a:prstGeom>
          <a:noFill/>
        </p:spPr>
      </p:pic>
      <p:pic>
        <p:nvPicPr>
          <p:cNvPr id="11" name="Picture 6" descr="04025 copy"/>
          <p:cNvPicPr>
            <a:picLocks noChangeAspect="1" noChangeArrowheads="1"/>
          </p:cNvPicPr>
          <p:nvPr/>
        </p:nvPicPr>
        <p:blipFill rotWithShape="1">
          <a:blip r:embed="rId3" cstate="print"/>
          <a:srcRect l="30606" r="46995" b="53310"/>
          <a:stretch/>
        </p:blipFill>
        <p:spPr bwMode="auto">
          <a:xfrm>
            <a:off x="9822252" y="1062318"/>
            <a:ext cx="1872208" cy="2321976"/>
          </a:xfrm>
          <a:prstGeom prst="rect">
            <a:avLst/>
          </a:prstGeom>
          <a:noFill/>
        </p:spPr>
      </p:pic>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2018" y="3797777"/>
            <a:ext cx="4522970" cy="2480828"/>
          </a:xfrm>
          <a:prstGeom prst="rect">
            <a:avLst/>
          </a:prstGeom>
        </p:spPr>
      </p:pic>
    </p:spTree>
    <p:extLst>
      <p:ext uri="{BB962C8B-B14F-4D97-AF65-F5344CB8AC3E}">
        <p14:creationId xmlns:p14="http://schemas.microsoft.com/office/powerpoint/2010/main" val="25008223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23</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48871"/>
                <a:ext cx="11461586" cy="505609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Turbines and Compressors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the turbine or compressor, the following points should be noted:</a:t>
                </a:r>
              </a:p>
              <a:p>
                <a:pPr>
                  <a:buFont typeface="Wingdings" panose="05000000000000000000" pitchFamily="2" charset="2"/>
                  <a:buChar char="ü"/>
                </a:pPr>
                <a:r>
                  <a:rPr lang="en-US" sz="2200" dirty="0"/>
                  <a:t>The average velocity of fluid flowing through a turbine is normally high, and the fluid passes quickly through the turbine. Because of this, it may be assumed that heat energy does not have time to flow into or out of the fluid during the passage of the turbine and hence, Q = 0.</a:t>
                </a:r>
              </a:p>
              <a:p>
                <a:pPr>
                  <a:buFont typeface="Wingdings" panose="05000000000000000000" pitchFamily="2" charset="2"/>
                  <a:buChar char="ü"/>
                </a:pPr>
                <a:r>
                  <a:rPr lang="en-US" sz="2200" dirty="0"/>
                  <a:t>W is the amount of external work energy produced.</a:t>
                </a:r>
              </a:p>
              <a:p>
                <a:pPr>
                  <a:buFont typeface="Wingdings" panose="05000000000000000000" pitchFamily="2" charset="2"/>
                  <a:buChar char="ü"/>
                </a:pPr>
                <a:r>
                  <a:rPr lang="en-US" sz="2200" dirty="0"/>
                  <a:t>The changes in kinetic and potential energies are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𝑊</m:t>
                          </m:r>
                        </m:e>
                        <m:sub>
                          <m:r>
                            <a:rPr lang="en-US" sz="2200" b="0" i="1" smtClean="0">
                              <a:latin typeface="Cambria Math" panose="02040503050406030204" pitchFamily="18" charset="0"/>
                            </a:rPr>
                            <m:t>12</m:t>
                          </m:r>
                        </m:sub>
                      </m:sSub>
                      <m:r>
                        <a:rPr lang="en-US" sz="2200" b="0" i="1" smtClean="0">
                          <a:latin typeface="Cambria Math" panose="02040503050406030204" pitchFamily="18" charset="0"/>
                        </a:rPr>
                        <m:t>=</m:t>
                      </m:r>
                      <m:r>
                        <a:rPr lang="en-US" sz="2200" b="0" i="1" smtClean="0">
                          <a:latin typeface="Cambria Math" panose="02040503050406030204" pitchFamily="18" charset="0"/>
                        </a:rPr>
                        <m:t>𝑚</m:t>
                      </m:r>
                      <m:d>
                        <m:dPr>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h</m:t>
                              </m:r>
                            </m:e>
                            <m:sub>
                              <m:r>
                                <a:rPr lang="en-US" sz="2200" b="0" i="1" smtClean="0">
                                  <a:latin typeface="Cambria Math" panose="02040503050406030204" pitchFamily="18" charset="0"/>
                                </a:rPr>
                                <m:t>1</m:t>
                              </m:r>
                            </m:sub>
                          </m:sSub>
                        </m:e>
                      </m:d>
                    </m:oMath>
                  </m:oMathPara>
                </a14:m>
                <a:endParaRPr lang="en-US" sz="2200" dirty="0"/>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48871"/>
                <a:ext cx="11461586" cy="5056094"/>
              </a:xfrm>
              <a:prstGeom prst="rect">
                <a:avLst/>
              </a:prstGeom>
              <a:blipFill rotWithShape="0">
                <a:blip r:embed="rId2"/>
                <a:stretch>
                  <a:fillRect l="-1063" t="-1206" r="-585"/>
                </a:stretch>
              </a:blipFill>
            </p:spPr>
            <p:txBody>
              <a:bodyPr/>
              <a:lstStyle/>
              <a:p>
                <a:r>
                  <a:rPr lang="en-US">
                    <a:noFill/>
                  </a:rPr>
                  <a:t> </a:t>
                </a:r>
              </a:p>
            </p:txBody>
          </p:sp>
        </mc:Fallback>
      </mc:AlternateContent>
    </p:spTree>
    <p:extLst>
      <p:ext uri="{BB962C8B-B14F-4D97-AF65-F5344CB8AC3E}">
        <p14:creationId xmlns:p14="http://schemas.microsoft.com/office/powerpoint/2010/main" val="12481123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24</a:t>
            </a:fld>
            <a:endParaRPr lang="en-US" dirty="0"/>
          </a:p>
        </p:txBody>
      </p:sp>
      <p:sp>
        <p:nvSpPr>
          <p:cNvPr id="10" name="Content Placeholder 2"/>
          <p:cNvSpPr txBox="1">
            <a:spLocks/>
          </p:cNvSpPr>
          <p:nvPr/>
        </p:nvSpPr>
        <p:spPr>
          <a:xfrm>
            <a:off x="331486" y="1089212"/>
            <a:ext cx="5076982" cy="2438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Nozzles and Diffusers</a:t>
            </a:r>
          </a:p>
          <a:p>
            <a:pPr>
              <a:buFont typeface="Wingdings" panose="05000000000000000000" pitchFamily="2" charset="2"/>
              <a:buChar char="v"/>
            </a:pPr>
            <a:r>
              <a:rPr lang="en-US" sz="2000" dirty="0"/>
              <a:t>A </a:t>
            </a:r>
            <a:r>
              <a:rPr lang="en-US" sz="2000" b="1" dirty="0">
                <a:solidFill>
                  <a:srgbClr val="002060"/>
                </a:solidFill>
              </a:rPr>
              <a:t>nozzle</a:t>
            </a:r>
            <a:r>
              <a:rPr lang="en-US" sz="2000" dirty="0"/>
              <a:t> is a device which utilizes a pressure drop to produce an increase in the velocity (kinetic energy) of the fluid.</a:t>
            </a:r>
          </a:p>
          <a:p>
            <a:pPr lvl="0"/>
            <a:r>
              <a:rPr lang="en-US" sz="2000" dirty="0"/>
              <a:t>The action of a </a:t>
            </a:r>
            <a:r>
              <a:rPr lang="en-US" sz="2000" b="1" dirty="0">
                <a:solidFill>
                  <a:srgbClr val="002060"/>
                </a:solidFill>
              </a:rPr>
              <a:t>diffuser</a:t>
            </a:r>
            <a:r>
              <a:rPr lang="en-US" sz="2000" dirty="0"/>
              <a:t> is the reverse of a turbine. It </a:t>
            </a:r>
            <a:r>
              <a:rPr lang="en-GB" sz="2000" dirty="0"/>
              <a:t>increases the pressure of the fluid at the expense of its velocity</a:t>
            </a:r>
            <a:endParaRPr lang="en-US" sz="2000" dirty="0"/>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3689" y="1089212"/>
            <a:ext cx="3636829" cy="2545781"/>
          </a:xfrm>
          <a:prstGeom prst="rect">
            <a:avLst/>
          </a:prstGeom>
        </p:spPr>
      </p:pic>
      <p:sp>
        <p:nvSpPr>
          <p:cNvPr id="15" name="Oval 14"/>
          <p:cNvSpPr/>
          <p:nvPr/>
        </p:nvSpPr>
        <p:spPr>
          <a:xfrm>
            <a:off x="6151236" y="2031836"/>
            <a:ext cx="1231776" cy="648072"/>
          </a:xfrm>
          <a:prstGeom prst="ellipse">
            <a:avLst/>
          </a:prstGeom>
          <a:no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6" descr="04025 copy"/>
          <p:cNvPicPr>
            <a:picLocks noChangeAspect="1" noChangeArrowheads="1"/>
          </p:cNvPicPr>
          <p:nvPr/>
        </p:nvPicPr>
        <p:blipFill rotWithShape="1">
          <a:blip r:embed="rId3" cstate="print"/>
          <a:srcRect r="76287" b="64191"/>
          <a:stretch/>
        </p:blipFill>
        <p:spPr bwMode="auto">
          <a:xfrm>
            <a:off x="9788065" y="1141426"/>
            <a:ext cx="1982024" cy="1780820"/>
          </a:xfrm>
          <a:prstGeom prst="rect">
            <a:avLst/>
          </a:prstGeom>
          <a:noFill/>
        </p:spPr>
      </p:pic>
      <p:pic>
        <p:nvPicPr>
          <p:cNvPr id="3" name="Picture 2"/>
          <p:cNvPicPr>
            <a:picLocks noChangeAspect="1"/>
          </p:cNvPicPr>
          <p:nvPr/>
        </p:nvPicPr>
        <p:blipFill>
          <a:blip r:embed="rId4"/>
          <a:stretch>
            <a:fillRect/>
          </a:stretch>
        </p:blipFill>
        <p:spPr>
          <a:xfrm>
            <a:off x="86708" y="3634993"/>
            <a:ext cx="4668948" cy="2481555"/>
          </a:xfrm>
          <a:prstGeom prst="rect">
            <a:avLst/>
          </a:prstGeom>
        </p:spPr>
      </p:pic>
      <p:pic>
        <p:nvPicPr>
          <p:cNvPr id="5" name="Picture 4"/>
          <p:cNvPicPr>
            <a:picLocks noChangeAspect="1"/>
          </p:cNvPicPr>
          <p:nvPr/>
        </p:nvPicPr>
        <p:blipFill>
          <a:blip r:embed="rId5"/>
          <a:stretch>
            <a:fillRect/>
          </a:stretch>
        </p:blipFill>
        <p:spPr>
          <a:xfrm>
            <a:off x="9995739" y="3527417"/>
            <a:ext cx="1968772" cy="1554294"/>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5651" y="4021541"/>
            <a:ext cx="5440088" cy="2176035"/>
          </a:xfrm>
          <a:prstGeom prst="rect">
            <a:avLst/>
          </a:prstGeom>
        </p:spPr>
      </p:pic>
    </p:spTree>
    <p:extLst>
      <p:ext uri="{BB962C8B-B14F-4D97-AF65-F5344CB8AC3E}">
        <p14:creationId xmlns:p14="http://schemas.microsoft.com/office/powerpoint/2010/main" val="95319845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25</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11461586"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Nozzles and Diffusers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the nozzle or diffuser, the following points should be noted:</a:t>
                </a:r>
              </a:p>
              <a:p>
                <a:pPr>
                  <a:buFont typeface="Wingdings" panose="05000000000000000000" pitchFamily="2" charset="2"/>
                  <a:buChar char="ü"/>
                </a:pPr>
                <a:r>
                  <a:rPr lang="en-US" sz="2200" dirty="0"/>
                  <a:t>The average velocity of fluid flowing through a nozzle is high, hence the fluid passes quickly through the nozzle. For this reason, it may be assumed that heat energy does not have time to flow into or out of the fluid during the passage of the nozzle and hence, Q = 0.</a:t>
                </a:r>
              </a:p>
              <a:p>
                <a:pPr>
                  <a:buFont typeface="Wingdings" panose="05000000000000000000" pitchFamily="2" charset="2"/>
                  <a:buChar char="ü"/>
                </a:pPr>
                <a:r>
                  <a:rPr lang="en-US" sz="2200" dirty="0"/>
                  <a:t>Since a nozzle has no moving parts, no work energy is transferred and hence, W = 0.</a:t>
                </a:r>
              </a:p>
              <a:p>
                <a:pPr>
                  <a:buFont typeface="Wingdings" panose="05000000000000000000" pitchFamily="2" charset="2"/>
                  <a:buChar char="ü"/>
                </a:pPr>
                <a:r>
                  <a:rPr lang="en-US" sz="2200" dirty="0"/>
                  <a:t>The changes potential energy is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0</m:t>
                      </m:r>
                      <m:r>
                        <a:rPr lang="en-US" sz="2000" dirty="0">
                          <a:latin typeface="Cambria Math" panose="02040503050406030204" pitchFamily="18" charset="0"/>
                        </a:rPr>
                        <m:t>=</m:t>
                      </m:r>
                      <m:r>
                        <m:rPr>
                          <m:sty m:val="p"/>
                        </m:rPr>
                        <a:rPr lang="en-US" sz="2000" dirty="0">
                          <a:latin typeface="Cambria Math" panose="02040503050406030204" pitchFamily="18" charset="0"/>
                        </a:rPr>
                        <m:t>m</m:t>
                      </m:r>
                      <m:d>
                        <m:dPr>
                          <m:begChr m:val="["/>
                          <m:endChr m:val="]"/>
                          <m:ctrlPr>
                            <a:rPr lang="en-US" sz="2000" i="1" dirty="0">
                              <a:latin typeface="Cambria Math" panose="02040503050406030204" pitchFamily="18" charset="0"/>
                            </a:rPr>
                          </m:ctrlPr>
                        </m:dPr>
                        <m:e>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h</m:t>
                                  </m:r>
                                </m:e>
                                <m:sub>
                                  <m:r>
                                    <a:rPr lang="en-US" sz="2000" dirty="0">
                                      <a:latin typeface="Cambria Math" panose="02040503050406030204" pitchFamily="18" charset="0"/>
                                    </a:rPr>
                                    <m:t>2</m:t>
                                  </m:r>
                                </m:sub>
                              </m:sSub>
                              <m:r>
                                <a:rPr lang="en-US" sz="2000" dirty="0">
                                  <a:latin typeface="Cambria Math" panose="02040503050406030204" pitchFamily="18" charset="0"/>
                                </a:rPr>
                                <m:t>−</m:t>
                              </m:r>
                              <m:sSub>
                                <m:sSubPr>
                                  <m:ctrlPr>
                                    <a:rPr lang="en-US" sz="2000" i="1" dirty="0">
                                      <a:latin typeface="Cambria Math" panose="02040503050406030204" pitchFamily="18" charset="0"/>
                                    </a:rPr>
                                  </m:ctrlPr>
                                </m:sSubPr>
                                <m:e>
                                  <m:r>
                                    <m:rPr>
                                      <m:sty m:val="p"/>
                                    </m:rPr>
                                    <a:rPr lang="en-US" sz="2000" dirty="0">
                                      <a:latin typeface="Cambria Math" panose="02040503050406030204" pitchFamily="18" charset="0"/>
                                    </a:rPr>
                                    <m:t>h</m:t>
                                  </m:r>
                                </m:e>
                                <m:sub>
                                  <m:r>
                                    <a:rPr lang="en-US" sz="2000" dirty="0">
                                      <a:latin typeface="Cambria Math" panose="02040503050406030204" pitchFamily="18" charset="0"/>
                                    </a:rPr>
                                    <m:t>1</m:t>
                                  </m:r>
                                </m:sub>
                              </m:sSub>
                            </m:e>
                          </m:d>
                          <m:r>
                            <a:rPr lang="en-US" sz="2000" dirty="0">
                              <a:latin typeface="Cambria Math" panose="02040503050406030204" pitchFamily="18" charset="0"/>
                            </a:rPr>
                            <m:t>+</m:t>
                          </m:r>
                          <m:f>
                            <m:fPr>
                              <m:ctrlPr>
                                <a:rPr lang="en-US" sz="2000" i="1" dirty="0">
                                  <a:latin typeface="Cambria Math" panose="02040503050406030204" pitchFamily="18" charset="0"/>
                                </a:rPr>
                              </m:ctrlPr>
                            </m:fPr>
                            <m:num>
                              <m:sSubSup>
                                <m:sSubSupPr>
                                  <m:ctrlPr>
                                    <a:rPr lang="en-US" sz="2000" i="1" dirty="0">
                                      <a:latin typeface="Cambria Math" panose="02040503050406030204" pitchFamily="18" charset="0"/>
                                    </a:rPr>
                                  </m:ctrlPr>
                                </m:sSubSupPr>
                                <m:e>
                                  <m:r>
                                    <m:rPr>
                                      <m:sty m:val="p"/>
                                    </m:rPr>
                                    <a:rPr lang="en-US" sz="2000" dirty="0">
                                      <a:latin typeface="Cambria Math" panose="02040503050406030204" pitchFamily="18" charset="0"/>
                                    </a:rPr>
                                    <m:t>C</m:t>
                                  </m:r>
                                </m:e>
                                <m:sub>
                                  <m:r>
                                    <a:rPr lang="en-US" sz="2000" dirty="0">
                                      <a:latin typeface="Cambria Math" panose="02040503050406030204" pitchFamily="18" charset="0"/>
                                    </a:rPr>
                                    <m:t>2</m:t>
                                  </m:r>
                                </m:sub>
                                <m:sup>
                                  <m:r>
                                    <a:rPr lang="en-US" sz="2000" dirty="0">
                                      <a:latin typeface="Cambria Math" panose="02040503050406030204" pitchFamily="18" charset="0"/>
                                    </a:rPr>
                                    <m:t>2</m:t>
                                  </m:r>
                                </m:sup>
                              </m:sSubSup>
                              <m:r>
                                <a:rPr lang="en-US" sz="2000" dirty="0">
                                  <a:latin typeface="Cambria Math" panose="02040503050406030204" pitchFamily="18" charset="0"/>
                                </a:rPr>
                                <m:t>−</m:t>
                              </m:r>
                              <m:sSubSup>
                                <m:sSubSupPr>
                                  <m:ctrlPr>
                                    <a:rPr lang="en-US" sz="2000" i="1" dirty="0">
                                      <a:latin typeface="Cambria Math" panose="02040503050406030204" pitchFamily="18" charset="0"/>
                                    </a:rPr>
                                  </m:ctrlPr>
                                </m:sSubSupPr>
                                <m:e>
                                  <m:r>
                                    <m:rPr>
                                      <m:sty m:val="p"/>
                                    </m:rPr>
                                    <a:rPr lang="en-US" sz="2000" dirty="0">
                                      <a:latin typeface="Cambria Math" panose="02040503050406030204" pitchFamily="18" charset="0"/>
                                    </a:rPr>
                                    <m:t>C</m:t>
                                  </m:r>
                                </m:e>
                                <m:sub>
                                  <m:r>
                                    <a:rPr lang="en-US" sz="2000" dirty="0">
                                      <a:latin typeface="Cambria Math" panose="02040503050406030204" pitchFamily="18" charset="0"/>
                                    </a:rPr>
                                    <m:t>1</m:t>
                                  </m:r>
                                </m:sub>
                                <m:sup>
                                  <m:r>
                                    <a:rPr lang="en-US" sz="2000" dirty="0">
                                      <a:latin typeface="Cambria Math" panose="02040503050406030204" pitchFamily="18" charset="0"/>
                                    </a:rPr>
                                    <m:t>2</m:t>
                                  </m:r>
                                </m:sup>
                              </m:sSubSup>
                            </m:num>
                            <m:den>
                              <m:r>
                                <a:rPr lang="en-US" sz="2000" dirty="0">
                                  <a:latin typeface="Cambria Math" panose="02040503050406030204" pitchFamily="18" charset="0"/>
                                </a:rPr>
                                <m:t>2</m:t>
                              </m:r>
                            </m:den>
                          </m:f>
                        </m:e>
                      </m:d>
                    </m:oMath>
                  </m:oMathPara>
                </a14:m>
                <a:endParaRPr lang="en-US" sz="2000" dirty="0"/>
              </a:p>
              <a:p>
                <a:pPr>
                  <a:buFont typeface="Wingdings" panose="05000000000000000000" pitchFamily="2" charset="2"/>
                  <a:buChar char="v"/>
                </a:pPr>
                <a:endParaRPr lang="en-US" sz="2000"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11461586" cy="5364205"/>
              </a:xfrm>
              <a:prstGeom prst="rect">
                <a:avLst/>
              </a:prstGeom>
              <a:blipFill rotWithShape="0">
                <a:blip r:embed="rId2"/>
                <a:stretch>
                  <a:fillRect l="-1063" t="-1136" r="-1170"/>
                </a:stretch>
              </a:blipFill>
            </p:spPr>
            <p:txBody>
              <a:bodyPr/>
              <a:lstStyle/>
              <a:p>
                <a:r>
                  <a:rPr lang="en-US">
                    <a:noFill/>
                  </a:rPr>
                  <a:t> </a:t>
                </a:r>
              </a:p>
            </p:txBody>
          </p:sp>
        </mc:Fallback>
      </mc:AlternateContent>
    </p:spTree>
    <p:extLst>
      <p:ext uri="{BB962C8B-B14F-4D97-AF65-F5344CB8AC3E}">
        <p14:creationId xmlns:p14="http://schemas.microsoft.com/office/powerpoint/2010/main" val="287290916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26</a:t>
            </a:fld>
            <a:endParaRPr lang="en-US" dirty="0"/>
          </a:p>
        </p:txBody>
      </p:sp>
      <p:sp>
        <p:nvSpPr>
          <p:cNvPr id="10" name="Content Placeholder 2"/>
          <p:cNvSpPr txBox="1">
            <a:spLocks/>
          </p:cNvSpPr>
          <p:nvPr/>
        </p:nvSpPr>
        <p:spPr>
          <a:xfrm>
            <a:off x="331484" y="1089212"/>
            <a:ext cx="7152739" cy="248770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Throttling Devices</a:t>
            </a:r>
          </a:p>
          <a:p>
            <a:pPr>
              <a:buFont typeface="Wingdings" panose="05000000000000000000" pitchFamily="2" charset="2"/>
              <a:buChar char="v"/>
            </a:pPr>
            <a:r>
              <a:rPr lang="en-US" sz="2200" dirty="0"/>
              <a:t>A </a:t>
            </a:r>
            <a:r>
              <a:rPr lang="en-US" sz="2200" b="1" dirty="0">
                <a:solidFill>
                  <a:srgbClr val="002060"/>
                </a:solidFill>
              </a:rPr>
              <a:t>throttling device</a:t>
            </a:r>
            <a:r>
              <a:rPr lang="en-US" sz="2200" dirty="0"/>
              <a:t> is a device that achieves a significant reduction in pressure by introducing a restriction into a line through which a gas or liquid flows.</a:t>
            </a:r>
          </a:p>
          <a:p>
            <a:pPr lvl="0">
              <a:buFont typeface="Wingdings" panose="05000000000000000000" pitchFamily="2" charset="2"/>
              <a:buChar char="v"/>
            </a:pPr>
            <a:r>
              <a:rPr lang="en-US" sz="2200" dirty="0"/>
              <a:t>The means to introduce the restriction  include a partially opened valve or a porous plug.</a:t>
            </a:r>
          </a:p>
          <a:p>
            <a:pPr>
              <a:buFont typeface="Wingdings" panose="05000000000000000000" pitchFamily="2" charset="2"/>
              <a:buChar char="v"/>
            </a:pPr>
            <a:endParaRPr lang="en-US" sz="2000" dirty="0"/>
          </a:p>
          <a:p>
            <a:pPr>
              <a:buFont typeface="Wingdings" panose="05000000000000000000" pitchFamily="2" charset="2"/>
              <a:buChar char="v"/>
            </a:pPr>
            <a:endParaRPr lang="en-US" sz="2000" dirty="0"/>
          </a:p>
        </p:txBody>
      </p:sp>
      <p:pic>
        <p:nvPicPr>
          <p:cNvPr id="5122" name="Picture 2" descr="What is throttling valves and why is it used in air-conditioning and  refrigeration?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4224" y="1089211"/>
            <a:ext cx="4281954" cy="49316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331484" y="3576918"/>
            <a:ext cx="6531659" cy="2483643"/>
          </a:xfrm>
          <a:prstGeom prst="rect">
            <a:avLst/>
          </a:prstGeom>
        </p:spPr>
      </p:pic>
    </p:spTree>
    <p:extLst>
      <p:ext uri="{BB962C8B-B14F-4D97-AF65-F5344CB8AC3E}">
        <p14:creationId xmlns:p14="http://schemas.microsoft.com/office/powerpoint/2010/main" val="37833113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Applications of steady flow energy equation</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27</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914400"/>
                <a:ext cx="11461586" cy="536420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Throttling Devices</a:t>
                </a:r>
              </a:p>
              <a:p>
                <a:pPr>
                  <a:buFont typeface="Wingdings" panose="05000000000000000000" pitchFamily="2" charset="2"/>
                  <a:buChar char="v"/>
                </a:pPr>
                <a:r>
                  <a:rPr lang="en-US" sz="2200" dirty="0"/>
                  <a:t>The steady flow energy equation for an open system from an initial state, 1 to a final state 2, is given by</a:t>
                </a:r>
              </a:p>
              <a:p>
                <a:pPr marL="0" indent="0">
                  <a:buNone/>
                </a:pPr>
                <a14:m>
                  <m:oMathPara xmlns:m="http://schemas.openxmlformats.org/officeDocument/2006/math">
                    <m:oMathParaPr>
                      <m:jc m:val="centerGroup"/>
                    </m:oMathParaPr>
                    <m:oMath xmlns:m="http://schemas.openxmlformats.org/officeDocument/2006/math">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Q</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W</m:t>
                          </m:r>
                        </m:e>
                        <m:sub>
                          <m:r>
                            <a:rPr lang="en-US" sz="2000" b="0" i="0" dirty="0" smtClean="0">
                              <a:latin typeface="Cambria Math" panose="02040503050406030204" pitchFamily="18" charset="0"/>
                            </a:rPr>
                            <m:t>12</m:t>
                          </m:r>
                        </m:sub>
                      </m:sSub>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m</m:t>
                      </m:r>
                      <m:d>
                        <m:dPr>
                          <m:begChr m:val="["/>
                          <m:endChr m:val="]"/>
                          <m:ctrlPr>
                            <a:rPr lang="en-US" sz="2000" b="0" i="1" dirty="0" smtClean="0">
                              <a:latin typeface="Cambria Math" panose="02040503050406030204" pitchFamily="18" charset="0"/>
                            </a:rPr>
                          </m:ctrlPr>
                        </m:dPr>
                        <m:e>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h</m:t>
                                  </m:r>
                                </m:e>
                                <m:sub>
                                  <m:r>
                                    <a:rPr lang="en-US" sz="2000" b="0" i="0" dirty="0" smtClean="0">
                                      <a:latin typeface="Cambria Math" panose="02040503050406030204" pitchFamily="18" charset="0"/>
                                    </a:rPr>
                                    <m:t>1</m:t>
                                  </m:r>
                                </m:sub>
                              </m:sSub>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2</m:t>
                                  </m:r>
                                </m:sub>
                                <m:sup>
                                  <m:r>
                                    <a:rPr lang="en-US" sz="2000" b="0" i="0" dirty="0" smtClean="0">
                                      <a:latin typeface="Cambria Math" panose="02040503050406030204" pitchFamily="18" charset="0"/>
                                    </a:rPr>
                                    <m:t>2</m:t>
                                  </m:r>
                                </m:sup>
                              </m:sSubSup>
                              <m:r>
                                <a:rPr lang="en-US" sz="2000" b="0" i="0" dirty="0" smtClean="0">
                                  <a:latin typeface="Cambria Math" panose="02040503050406030204" pitchFamily="18" charset="0"/>
                                </a:rPr>
                                <m:t>−</m:t>
                              </m:r>
                              <m:sSubSup>
                                <m:sSubSupPr>
                                  <m:ctrlPr>
                                    <a:rPr lang="en-US" sz="2000" b="0" i="1" dirty="0" smtClean="0">
                                      <a:latin typeface="Cambria Math" panose="02040503050406030204" pitchFamily="18" charset="0"/>
                                    </a:rPr>
                                  </m:ctrlPr>
                                </m:sSubSupPr>
                                <m:e>
                                  <m:r>
                                    <m:rPr>
                                      <m:sty m:val="p"/>
                                    </m:rPr>
                                    <a:rPr lang="en-US" sz="2000" b="0" i="0" dirty="0" smtClean="0">
                                      <a:latin typeface="Cambria Math" panose="02040503050406030204" pitchFamily="18" charset="0"/>
                                    </a:rPr>
                                    <m:t>C</m:t>
                                  </m:r>
                                </m:e>
                                <m:sub>
                                  <m:r>
                                    <a:rPr lang="en-US" sz="2000" b="0" i="0" dirty="0" smtClean="0">
                                      <a:latin typeface="Cambria Math" panose="02040503050406030204" pitchFamily="18" charset="0"/>
                                    </a:rPr>
                                    <m:t>1</m:t>
                                  </m:r>
                                </m:sub>
                                <m:sup>
                                  <m:r>
                                    <a:rPr lang="en-US" sz="2000" b="0" i="0" dirty="0" smtClean="0">
                                      <a:latin typeface="Cambria Math" panose="02040503050406030204" pitchFamily="18" charset="0"/>
                                    </a:rPr>
                                    <m:t>2</m:t>
                                  </m:r>
                                </m:sup>
                              </m:sSubSup>
                            </m:num>
                            <m:den>
                              <m:r>
                                <a:rPr lang="en-US" sz="2000" b="0" i="0" dirty="0" smtClean="0">
                                  <a:latin typeface="Cambria Math" panose="02040503050406030204" pitchFamily="18" charset="0"/>
                                </a:rPr>
                                <m:t>2</m:t>
                              </m:r>
                            </m:den>
                          </m:f>
                          <m:r>
                            <a:rPr lang="en-US" sz="2000" b="0" i="0" dirty="0" smtClean="0">
                              <a:latin typeface="Cambria Math" panose="02040503050406030204" pitchFamily="18" charset="0"/>
                            </a:rPr>
                            <m:t>+</m:t>
                          </m:r>
                          <m:r>
                            <m:rPr>
                              <m:sty m:val="p"/>
                            </m:rPr>
                            <a:rPr lang="en-US" sz="2000" b="0" i="0" dirty="0" smtClean="0">
                              <a:latin typeface="Cambria Math" panose="02040503050406030204" pitchFamily="18" charset="0"/>
                            </a:rPr>
                            <m:t>g</m:t>
                          </m:r>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2</m:t>
                                  </m:r>
                                </m:sub>
                              </m:sSub>
                              <m:r>
                                <a:rPr lang="en-US" sz="2000" b="0" i="0"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m:rPr>
                                      <m:sty m:val="p"/>
                                    </m:rPr>
                                    <a:rPr lang="en-US" sz="2000" b="0" i="0" dirty="0" smtClean="0">
                                      <a:latin typeface="Cambria Math" panose="02040503050406030204" pitchFamily="18" charset="0"/>
                                    </a:rPr>
                                    <m:t>Z</m:t>
                                  </m:r>
                                </m:e>
                                <m:sub>
                                  <m:r>
                                    <a:rPr lang="en-US" sz="2000" b="0" i="0" dirty="0" smtClean="0">
                                      <a:latin typeface="Cambria Math" panose="02040503050406030204" pitchFamily="18" charset="0"/>
                                    </a:rPr>
                                    <m:t>1</m:t>
                                  </m:r>
                                </m:sub>
                              </m:sSub>
                            </m:e>
                          </m:d>
                        </m:e>
                      </m:d>
                    </m:oMath>
                  </m:oMathPara>
                </a14:m>
                <a:endParaRPr lang="en-US" sz="2000" dirty="0"/>
              </a:p>
              <a:p>
                <a:pPr>
                  <a:buFont typeface="Wingdings" panose="05000000000000000000" pitchFamily="2" charset="2"/>
                  <a:buChar char="v"/>
                </a:pPr>
                <a:r>
                  <a:rPr lang="en-US" sz="2200" dirty="0">
                    <a:solidFill>
                      <a:srgbClr val="002060"/>
                    </a:solidFill>
                  </a:rPr>
                  <a:t>In applying the above equation to throttling devices, the following points should be noted:</a:t>
                </a:r>
              </a:p>
              <a:p>
                <a:pPr>
                  <a:buFont typeface="Wingdings" panose="05000000000000000000" pitchFamily="2" charset="2"/>
                  <a:buChar char="ü"/>
                </a:pPr>
                <a:r>
                  <a:rPr lang="en-US" sz="2200" dirty="0"/>
                  <a:t>Since the throttling takes place over a very small distance, the available area through which heat energy can flow is very small, and it is normally assumed that no energy is lost by heat transfer and hence, Q = 0.</a:t>
                </a:r>
              </a:p>
              <a:p>
                <a:pPr>
                  <a:buFont typeface="Wingdings" panose="05000000000000000000" pitchFamily="2" charset="2"/>
                  <a:buChar char="ü"/>
                </a:pPr>
                <a:r>
                  <a:rPr lang="en-US" sz="2200" dirty="0"/>
                  <a:t>Since there are no moving parts, no work energy is transferred and hence, W = 0.</a:t>
                </a:r>
              </a:p>
              <a:p>
                <a:pPr>
                  <a:buFont typeface="Wingdings" panose="05000000000000000000" pitchFamily="2" charset="2"/>
                  <a:buChar char="ü"/>
                </a:pPr>
                <a:r>
                  <a:rPr lang="en-US" sz="2200" dirty="0"/>
                  <a:t>The changes in kinetic and potential energies are small and may be neglected.</a:t>
                </a:r>
              </a:p>
              <a:p>
                <a:pPr>
                  <a:buFont typeface="Wingdings" panose="05000000000000000000" pitchFamily="2" charset="2"/>
                  <a:buChar char="v"/>
                </a:pPr>
                <a:r>
                  <a:rPr lang="en-US" sz="2200" dirty="0">
                    <a:solidFill>
                      <a:srgbClr val="C00000"/>
                    </a:solidFill>
                  </a:rPr>
                  <a:t>The steady flow energy equation reduces to;</a:t>
                </a:r>
              </a:p>
              <a:p>
                <a:pPr marL="0" indent="0">
                  <a:buNone/>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0</m:t>
                      </m:r>
                      <m:r>
                        <a:rPr lang="en-US" sz="2200" dirty="0">
                          <a:latin typeface="Cambria Math" panose="02040503050406030204" pitchFamily="18" charset="0"/>
                        </a:rPr>
                        <m:t>=</m:t>
                      </m:r>
                      <m:r>
                        <m:rPr>
                          <m:sty m:val="p"/>
                        </m:rPr>
                        <a:rPr lang="en-US" sz="2200" dirty="0">
                          <a:latin typeface="Cambria Math" panose="02040503050406030204" pitchFamily="18" charset="0"/>
                        </a:rPr>
                        <m:t>m</m:t>
                      </m:r>
                      <m:d>
                        <m:dPr>
                          <m:ctrlPr>
                            <a:rPr lang="en-US" sz="2200" i="1" dirty="0" smtClean="0">
                              <a:latin typeface="Cambria Math" panose="02040503050406030204" pitchFamily="18" charset="0"/>
                            </a:rPr>
                          </m:ctrlPr>
                        </m:dPr>
                        <m:e>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2</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1</m:t>
                              </m:r>
                            </m:sub>
                          </m:sSub>
                        </m:e>
                      </m:d>
                      <m:r>
                        <a:rPr lang="en-US" sz="2200" b="0" i="1" dirty="0" smtClean="0">
                          <a:latin typeface="Cambria Math" panose="02040503050406030204" pitchFamily="18" charset="0"/>
                        </a:rPr>
                        <m:t> </m:t>
                      </m:r>
                      <m:r>
                        <a:rPr lang="en-US" sz="2200" b="0" i="1" dirty="0" smtClean="0">
                          <a:latin typeface="Cambria Math" panose="02040503050406030204" pitchFamily="18" charset="0"/>
                        </a:rPr>
                        <m:t>𝑜𝑟</m:t>
                      </m:r>
                      <m:r>
                        <a:rPr lang="en-US" sz="2200" b="0" i="1" dirty="0" smtClean="0">
                          <a:latin typeface="Cambria Math" panose="02040503050406030204" pitchFamily="18" charset="0"/>
                        </a:rPr>
                        <m:t> </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h</m:t>
                          </m:r>
                        </m:e>
                        <m:sub>
                          <m:r>
                            <a:rPr lang="en-US" sz="2200" b="0" i="1" dirty="0" smtClean="0">
                              <a:latin typeface="Cambria Math" panose="02040503050406030204" pitchFamily="18" charset="0"/>
                            </a:rPr>
                            <m:t>2</m:t>
                          </m:r>
                        </m:sub>
                      </m:sSub>
                    </m:oMath>
                  </m:oMathPara>
                </a14:m>
                <a:endParaRPr lang="en-US" sz="2200" dirty="0"/>
              </a:p>
              <a:p>
                <a:pPr>
                  <a:buFont typeface="Wingdings" panose="05000000000000000000" pitchFamily="2" charset="2"/>
                  <a:buChar char="v"/>
                </a:pPr>
                <a:r>
                  <a:rPr lang="en-US" sz="2000" b="1" dirty="0">
                    <a:solidFill>
                      <a:srgbClr val="002060"/>
                    </a:solidFill>
                  </a:rPr>
                  <a:t>During a throttling process, the enthalpy of the fluid remains constant.</a:t>
                </a:r>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914400"/>
                <a:ext cx="11461586" cy="5364205"/>
              </a:xfrm>
              <a:prstGeom prst="rect">
                <a:avLst/>
              </a:prstGeom>
              <a:blipFill rotWithShape="0">
                <a:blip r:embed="rId2"/>
                <a:stretch>
                  <a:fillRect l="-1063" t="-1136" r="-159" b="-1477"/>
                </a:stretch>
              </a:blipFill>
            </p:spPr>
            <p:txBody>
              <a:bodyPr/>
              <a:lstStyle/>
              <a:p>
                <a:r>
                  <a:rPr lang="en-US">
                    <a:noFill/>
                  </a:rPr>
                  <a:t> </a:t>
                </a:r>
              </a:p>
            </p:txBody>
          </p:sp>
        </mc:Fallback>
      </mc:AlternateContent>
    </p:spTree>
    <p:extLst>
      <p:ext uri="{BB962C8B-B14F-4D97-AF65-F5344CB8AC3E}">
        <p14:creationId xmlns:p14="http://schemas.microsoft.com/office/powerpoint/2010/main" val="30604194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of Thermodynamics: Open system</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28</a:t>
            </a:fld>
            <a:endParaRPr lang="en-US" dirty="0"/>
          </a:p>
        </p:txBody>
      </p:sp>
      <mc:AlternateContent xmlns:mc="http://schemas.openxmlformats.org/markup-compatibility/2006" xmlns:a14="http://schemas.microsoft.com/office/drawing/2010/main">
        <mc:Choice Requires="a14">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Equation of continuity</a:t>
                </a:r>
              </a:p>
              <a:p>
                <a:pPr>
                  <a:buFont typeface="Wingdings" panose="05000000000000000000" pitchFamily="2" charset="2"/>
                  <a:buChar char="v"/>
                </a:pPr>
                <a:r>
                  <a:rPr lang="en-US" sz="2400" dirty="0"/>
                  <a:t>This is an equation which is often used in conjunction with the steady flow energy equation.</a:t>
                </a:r>
              </a:p>
              <a:p>
                <a:pPr>
                  <a:buFont typeface="Wingdings" panose="05000000000000000000" pitchFamily="2" charset="2"/>
                  <a:buChar char="v"/>
                </a:pPr>
                <a:r>
                  <a:rPr lang="en-US" sz="2400" dirty="0"/>
                  <a:t>Consider a fluid of mass, m flowing through a system in which all conditions are steady as shown.</a:t>
                </a:r>
              </a:p>
              <a:p>
                <a:pPr>
                  <a:buFont typeface="Wingdings" panose="05000000000000000000" pitchFamily="2" charset="2"/>
                  <a:buChar char="v"/>
                </a:pPr>
                <a:r>
                  <a:rPr lang="en-US" sz="2400" dirty="0"/>
                  <a:t>The mass flow per second is given by</a:t>
                </a:r>
              </a:p>
              <a:p>
                <a:pPr marL="0" indent="0">
                  <a:buNone/>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𝑚</m:t>
                          </m:r>
                        </m:e>
                      </m:acc>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𝜌</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𝑉</m:t>
                          </m:r>
                        </m:e>
                      </m:ac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𝜌</m:t>
                      </m:r>
                      <m:r>
                        <a:rPr lang="en-US" sz="2400" b="0" i="1" smtClean="0">
                          <a:latin typeface="Cambria Math" panose="02040503050406030204" pitchFamily="18" charset="0"/>
                          <a:ea typeface="Cambria Math" panose="02040503050406030204" pitchFamily="18" charset="0"/>
                        </a:rPr>
                        <m:t>𝐴𝐶</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𝐴𝐶</m:t>
                          </m:r>
                        </m:num>
                        <m:den>
                          <m:r>
                            <a:rPr lang="en-US" sz="2400" b="0" i="1" smtClean="0">
                              <a:latin typeface="Cambria Math" panose="02040503050406030204" pitchFamily="18" charset="0"/>
                              <a:ea typeface="Cambria Math" panose="02040503050406030204" pitchFamily="18" charset="0"/>
                            </a:rPr>
                            <m:t>𝑣</m:t>
                          </m:r>
                        </m:den>
                      </m:f>
                    </m:oMath>
                  </m:oMathPara>
                </a14:m>
                <a:endParaRPr lang="en-US" sz="2400" dirty="0"/>
              </a:p>
              <a:p>
                <a:pPr marL="0" indent="0">
                  <a:buNone/>
                </a:pPr>
                <a:r>
                  <a:rPr lang="en-US" sz="2400" dirty="0"/>
                  <a:t>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𝑚</m:t>
                        </m:r>
                      </m:e>
                    </m:acc>
                    <m:r>
                      <a:rPr lang="en-US" i="1">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1</m:t>
                            </m:r>
                          </m:sub>
                        </m:sSub>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1</m:t>
                            </m:r>
                          </m:sub>
                        </m:sSub>
                      </m:num>
                      <m:den>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1</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2</m:t>
                            </m:r>
                          </m:sub>
                        </m:s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2</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2</m:t>
                            </m:r>
                          </m:sub>
                        </m:sSub>
                      </m:den>
                    </m:f>
                  </m:oMath>
                </a14:m>
                <a:endParaRPr lang="en-US" dirty="0"/>
              </a:p>
            </p:txBody>
          </p:sp>
        </mc:Choice>
        <mc:Fallback xmlns="">
          <p:sp>
            <p:nvSpPr>
              <p:cNvPr id="10" name="Content Placeholder 2"/>
              <p:cNvSpPr txBox="1">
                <a:spLocks noRot="1" noChangeAspect="1" noMove="1" noResize="1" noEditPoints="1" noAdjustHandles="1" noChangeArrowheads="1" noChangeShapeType="1" noTextEdit="1"/>
              </p:cNvSpPr>
              <p:nvPr/>
            </p:nvSpPr>
            <p:spPr>
              <a:xfrm>
                <a:off x="331485" y="1062318"/>
                <a:ext cx="5800373" cy="5216287"/>
              </a:xfrm>
              <a:prstGeom prst="rect">
                <a:avLst/>
              </a:prstGeom>
              <a:blipFill rotWithShape="0">
                <a:blip r:embed="rId2"/>
                <a:stretch>
                  <a:fillRect l="-2101" t="-1168" r="-2731"/>
                </a:stretch>
              </a:blipFill>
            </p:spPr>
            <p:txBody>
              <a:bodyPr/>
              <a:lstStyle/>
              <a:p>
                <a:r>
                  <a:rPr lang="en-US">
                    <a:noFill/>
                  </a:rPr>
                  <a:t> </a:t>
                </a:r>
              </a:p>
            </p:txBody>
          </p:sp>
        </mc:Fallback>
      </mc:AlternateContent>
      <p:pic>
        <p:nvPicPr>
          <p:cNvPr id="9218" name="Picture 2" descr="Continuity Equ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4963" y="1687791"/>
            <a:ext cx="5918061" cy="3381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6660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29</a:t>
            </a:fld>
            <a:endParaRPr lang="en-US" dirty="0"/>
          </a:p>
        </p:txBody>
      </p:sp>
      <p:sp>
        <p:nvSpPr>
          <p:cNvPr id="10" name="Content Placeholder 2"/>
          <p:cNvSpPr txBox="1">
            <a:spLocks/>
          </p:cNvSpPr>
          <p:nvPr/>
        </p:nvSpPr>
        <p:spPr>
          <a:xfrm>
            <a:off x="331485" y="1062318"/>
            <a:ext cx="5800373" cy="521628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1</a:t>
            </a:r>
          </a:p>
          <a:p>
            <a:pPr>
              <a:buFont typeface="Wingdings" panose="05000000000000000000" pitchFamily="2" charset="2"/>
              <a:buChar char="v"/>
            </a:pPr>
            <a:r>
              <a:rPr lang="en-US" sz="2400" dirty="0"/>
              <a:t>A boiler operates at a constant pressure of 15 bar, and evaporates fluid at the rate of 1000 kg/h. At entry to the boiler, the fluid has an enthalpy of 165 kJ/kg, and on leaving the boiler, the enthalpy of the fluid is 2200 kJ/kg. the outlet pipe from the boiler is at a height of 16 m above the inlet pipe, and the inlet and outlet velocities of the fluid are 13 m/s and 33 m/s respectively. Determine the rate of heat energy transferred to the boiler.</a:t>
            </a:r>
          </a:p>
          <a:p>
            <a:pPr>
              <a:buFont typeface="Wingdings" panose="05000000000000000000" pitchFamily="2" charset="2"/>
              <a:buChar char="v"/>
            </a:pPr>
            <a:r>
              <a:rPr lang="en-US" sz="2400" b="1" dirty="0">
                <a:solidFill>
                  <a:srgbClr val="002060"/>
                </a:solidFill>
              </a:rPr>
              <a:t>Suggested answer: [565.3 kW]</a:t>
            </a:r>
            <a:endParaRPr lang="en-US" b="1" dirty="0">
              <a:solidFill>
                <a:srgbClr val="002060"/>
              </a:solidFill>
            </a:endParaRPr>
          </a:p>
        </p:txBody>
      </p:sp>
      <p:sp>
        <p:nvSpPr>
          <p:cNvPr id="5" name="Content Placeholder 2"/>
          <p:cNvSpPr txBox="1">
            <a:spLocks/>
          </p:cNvSpPr>
          <p:nvPr/>
        </p:nvSpPr>
        <p:spPr>
          <a:xfrm>
            <a:off x="6260206" y="1066801"/>
            <a:ext cx="5800373" cy="505161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2</a:t>
            </a:r>
          </a:p>
          <a:p>
            <a:pPr>
              <a:buFont typeface="Wingdings" panose="05000000000000000000" pitchFamily="2" charset="2"/>
              <a:buChar char="v"/>
            </a:pPr>
            <a:r>
              <a:rPr lang="en-US" sz="2400" dirty="0"/>
              <a:t>A fluid flows through a turbine at the rate of 45 kg/min. Across the turbine, the specific enthalpy drop of the fluid is 580 kJ/kg and the turbine loses 2100 kJ/min in the form of heat energy. Determine the power produced by the turbine, assuming that changes in kinetic energy and potential energy may be neglected.</a:t>
            </a:r>
          </a:p>
          <a:p>
            <a:pPr>
              <a:buFont typeface="Wingdings" panose="05000000000000000000" pitchFamily="2" charset="2"/>
              <a:buChar char="v"/>
            </a:pPr>
            <a:r>
              <a:rPr lang="en-US" sz="2400" b="1" dirty="0">
                <a:solidFill>
                  <a:srgbClr val="002060"/>
                </a:solidFill>
              </a:rPr>
              <a:t>Suggested answer: [400 kW]</a:t>
            </a:r>
            <a:endParaRPr lang="en-US" b="1" dirty="0">
              <a:solidFill>
                <a:srgbClr val="002060"/>
              </a:solidFill>
            </a:endParaRPr>
          </a:p>
        </p:txBody>
      </p:sp>
    </p:spTree>
    <p:extLst>
      <p:ext uri="{BB962C8B-B14F-4D97-AF65-F5344CB8AC3E}">
        <p14:creationId xmlns:p14="http://schemas.microsoft.com/office/powerpoint/2010/main" val="36831093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30</a:t>
            </a:fld>
            <a:endParaRPr lang="en-US" dirty="0"/>
          </a:p>
        </p:txBody>
      </p:sp>
      <p:sp>
        <p:nvSpPr>
          <p:cNvPr id="10" name="Content Placeholder 2"/>
          <p:cNvSpPr txBox="1">
            <a:spLocks/>
          </p:cNvSpPr>
          <p:nvPr/>
        </p:nvSpPr>
        <p:spPr>
          <a:xfrm>
            <a:off x="331485" y="1062318"/>
            <a:ext cx="5800373" cy="481404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3</a:t>
            </a:r>
          </a:p>
          <a:p>
            <a:pPr>
              <a:buFont typeface="Wingdings" panose="05000000000000000000" pitchFamily="2" charset="2"/>
              <a:buChar char="v"/>
            </a:pPr>
            <a:r>
              <a:rPr lang="en-US" sz="2400" dirty="0"/>
              <a:t>A compressor delivers fluid at a rate of 45 kg/min. At the inlet to the compressor, the specific enthalpy of the fluid is 46 kJ/kg, and at outlet from the compressor, the specific enthalpy of the fluid is 175 kJ/kg. If 105 kJ/min of heat energy are lost to the surroundings by the compressor, determine the power required to drive the compressor.</a:t>
            </a:r>
          </a:p>
          <a:p>
            <a:pPr>
              <a:buFont typeface="Wingdings" panose="05000000000000000000" pitchFamily="2" charset="2"/>
              <a:buChar char="v"/>
            </a:pPr>
            <a:r>
              <a:rPr lang="en-US" sz="2400" b="1" dirty="0">
                <a:solidFill>
                  <a:srgbClr val="002060"/>
                </a:solidFill>
              </a:rPr>
              <a:t>Suggested answer: [98.5 kW]</a:t>
            </a:r>
            <a:endParaRPr lang="en-US" b="1" dirty="0">
              <a:solidFill>
                <a:srgbClr val="002060"/>
              </a:solidFill>
            </a:endParaRPr>
          </a:p>
        </p:txBody>
      </p:sp>
      <p:sp>
        <p:nvSpPr>
          <p:cNvPr id="5" name="Content Placeholder 2"/>
          <p:cNvSpPr txBox="1">
            <a:spLocks/>
          </p:cNvSpPr>
          <p:nvPr/>
        </p:nvSpPr>
        <p:spPr>
          <a:xfrm>
            <a:off x="6260207" y="1066801"/>
            <a:ext cx="5626994" cy="5051611"/>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4</a:t>
            </a:r>
          </a:p>
          <a:p>
            <a:pPr>
              <a:buFont typeface="Wingdings" panose="05000000000000000000" pitchFamily="2" charset="2"/>
              <a:buChar char="v"/>
            </a:pPr>
            <a:r>
              <a:rPr lang="en-US" sz="2400" dirty="0"/>
              <a:t>Fluid with a specific enthalpy of 2800 kJ/kg enters a horizontal nozzle with negligible velocity at a rate of 14 kg/s. At the outlet from the nozzle, the specific enthalpy and specific volume of the fluid are 2250 kJ/kg and 1.25 m</a:t>
            </a:r>
            <a:r>
              <a:rPr lang="en-US" sz="2400" baseline="30000" dirty="0"/>
              <a:t>3</a:t>
            </a:r>
            <a:r>
              <a:rPr lang="en-US" sz="2400" dirty="0"/>
              <a:t>/kg respectively. Assuming adiabatic flow, determine the required outlet area of the nozzle.</a:t>
            </a:r>
          </a:p>
          <a:p>
            <a:pPr>
              <a:buFont typeface="Wingdings" panose="05000000000000000000" pitchFamily="2" charset="2"/>
              <a:buChar char="v"/>
            </a:pPr>
            <a:r>
              <a:rPr lang="en-US" sz="2400" b="1" dirty="0">
                <a:solidFill>
                  <a:srgbClr val="002060"/>
                </a:solidFill>
              </a:rPr>
              <a:t>Suggested answer: [0.01668 m</a:t>
            </a:r>
            <a:r>
              <a:rPr lang="en-US" sz="2400" b="1" baseline="30000" dirty="0">
                <a:solidFill>
                  <a:srgbClr val="002060"/>
                </a:solidFill>
              </a:rPr>
              <a:t>2</a:t>
            </a:r>
            <a:r>
              <a:rPr lang="en-US" sz="2400" b="1" dirty="0">
                <a:solidFill>
                  <a:srgbClr val="002060"/>
                </a:solidFill>
              </a:rPr>
              <a:t>]</a:t>
            </a:r>
            <a:endParaRPr lang="en-US" b="1" dirty="0">
              <a:solidFill>
                <a:srgbClr val="002060"/>
              </a:solidFill>
            </a:endParaRPr>
          </a:p>
        </p:txBody>
      </p:sp>
    </p:spTree>
    <p:extLst>
      <p:ext uri="{BB962C8B-B14F-4D97-AF65-F5344CB8AC3E}">
        <p14:creationId xmlns:p14="http://schemas.microsoft.com/office/powerpoint/2010/main" val="38196789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493" y="195127"/>
            <a:ext cx="10635426" cy="592690"/>
          </a:xfrm>
        </p:spPr>
        <p:txBody>
          <a:bodyPr/>
          <a:lstStyle/>
          <a:p>
            <a:r>
              <a:rPr lang="en-US" sz="3600" b="1" dirty="0">
                <a:solidFill>
                  <a:srgbClr val="002060"/>
                </a:solidFill>
                <a:latin typeface="Georgia" panose="02040502050405020303" pitchFamily="18" charset="0"/>
              </a:rPr>
              <a:t>First Law for Open Systems: Problems</a:t>
            </a:r>
            <a:endParaRPr lang="en-US" sz="3600" dirty="0">
              <a:solidFill>
                <a:srgbClr val="002060"/>
              </a:solidFill>
              <a:latin typeface="Georgia" panose="02040502050405020303" pitchFamily="18" charset="0"/>
            </a:endParaRPr>
          </a:p>
        </p:txBody>
      </p:sp>
      <p:sp>
        <p:nvSpPr>
          <p:cNvPr id="4" name="Slide Number Placeholder 3"/>
          <p:cNvSpPr>
            <a:spLocks noGrp="1"/>
          </p:cNvSpPr>
          <p:nvPr>
            <p:ph type="sldNum" sz="quarter" idx="12"/>
          </p:nvPr>
        </p:nvSpPr>
        <p:spPr/>
        <p:txBody>
          <a:bodyPr/>
          <a:lstStyle/>
          <a:p>
            <a:fld id="{F4801FD5-11B4-DE43-ACA2-E85EEB9A6F9C}" type="slidenum">
              <a:rPr lang="en-US" smtClean="0"/>
              <a:pPr/>
              <a:t>31</a:t>
            </a:fld>
            <a:endParaRPr lang="en-US" dirty="0"/>
          </a:p>
        </p:txBody>
      </p:sp>
      <p:sp>
        <p:nvSpPr>
          <p:cNvPr id="10" name="Content Placeholder 2"/>
          <p:cNvSpPr txBox="1">
            <a:spLocks/>
          </p:cNvSpPr>
          <p:nvPr/>
        </p:nvSpPr>
        <p:spPr>
          <a:xfrm>
            <a:off x="1124861" y="1112740"/>
            <a:ext cx="9471421" cy="4814047"/>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800" kern="1200">
                <a:solidFill>
                  <a:schemeClr val="tx1"/>
                </a:solidFill>
                <a:latin typeface="Garamond" panose="02020404030301010803" pitchFamily="18"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aramond" panose="02020404030301010803" pitchFamily="18" charset="0"/>
                <a:ea typeface="+mn-ea"/>
                <a:cs typeface="+mn-cs"/>
              </a:defRPr>
            </a:lvl2pPr>
            <a:lvl3pPr marL="1143000" indent="-228600" algn="l" defTabSz="457200" rtl="0" eaLnBrk="1" latinLnBrk="0" hangingPunct="1">
              <a:spcBef>
                <a:spcPct val="20000"/>
              </a:spcBef>
              <a:buFont typeface="Arial"/>
              <a:buChar char="•"/>
              <a:defRPr sz="2000" kern="1200">
                <a:solidFill>
                  <a:schemeClr val="tx1"/>
                </a:solidFill>
                <a:latin typeface="Garamond" panose="02020404030301010803" pitchFamily="18"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aramond" panose="02020404030301010803" pitchFamily="18" charset="0"/>
                <a:ea typeface="+mn-ea"/>
                <a:cs typeface="+mn-cs"/>
              </a:defRPr>
            </a:lvl5pPr>
            <a:lvl6pPr marL="2514600" indent="-228600" algn="l" defTabSz="457200" rtl="0" eaLnBrk="1" latinLnBrk="0" hangingPunct="1">
              <a:spcBef>
                <a:spcPct val="20000"/>
              </a:spcBef>
              <a:buFont typeface="Arial"/>
              <a:buChar char="•"/>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800" kern="1200">
                <a:solidFill>
                  <a:schemeClr val="tx1"/>
                </a:solidFill>
                <a:latin typeface="+mn-lt"/>
                <a:ea typeface="+mn-ea"/>
                <a:cs typeface="+mn-cs"/>
              </a:defRPr>
            </a:lvl9pPr>
          </a:lstStyle>
          <a:p>
            <a:pPr marL="0" indent="0">
              <a:buNone/>
            </a:pPr>
            <a:r>
              <a:rPr lang="en-US" b="1" dirty="0">
                <a:solidFill>
                  <a:srgbClr val="C00000"/>
                </a:solidFill>
              </a:rPr>
              <a:t>Problem 5</a:t>
            </a:r>
          </a:p>
          <a:p>
            <a:pPr>
              <a:buFont typeface="Wingdings" panose="05000000000000000000" pitchFamily="2" charset="2"/>
              <a:buChar char="v"/>
            </a:pPr>
            <a:r>
              <a:rPr lang="en-US" sz="2400" dirty="0"/>
              <a:t>A fluid flowing along a pipe line undergoes a throttling process from 10 bar to 1 bar in passing through a partially open valve. Before throttling, the specific enthalpy of the fluid is 0.3 m</a:t>
            </a:r>
            <a:r>
              <a:rPr lang="en-US" sz="2400" baseline="30000" dirty="0"/>
              <a:t>3</a:t>
            </a:r>
            <a:r>
              <a:rPr lang="en-US" sz="2400" dirty="0"/>
              <a:t>/kg and after throttling is 1.8 m</a:t>
            </a:r>
            <a:r>
              <a:rPr lang="en-US" sz="2400" baseline="30000" dirty="0"/>
              <a:t>3</a:t>
            </a:r>
            <a:r>
              <a:rPr lang="en-US" sz="2400" dirty="0"/>
              <a:t>/kg. determine the change in specific internal energy of the fluid during the throttling process.</a:t>
            </a:r>
          </a:p>
          <a:p>
            <a:pPr>
              <a:buFont typeface="Wingdings" panose="05000000000000000000" pitchFamily="2" charset="2"/>
              <a:buChar char="v"/>
            </a:pPr>
            <a:r>
              <a:rPr lang="en-US" sz="2400" b="1" dirty="0">
                <a:solidFill>
                  <a:srgbClr val="002060"/>
                </a:solidFill>
              </a:rPr>
              <a:t>Suggested answer: [120 kJ/kg]</a:t>
            </a:r>
            <a:endParaRPr lang="en-US" b="1" dirty="0">
              <a:solidFill>
                <a:srgbClr val="002060"/>
              </a:solidFill>
            </a:endParaRPr>
          </a:p>
        </p:txBody>
      </p:sp>
    </p:spTree>
    <p:extLst>
      <p:ext uri="{BB962C8B-B14F-4D97-AF65-F5344CB8AC3E}">
        <p14:creationId xmlns:p14="http://schemas.microsoft.com/office/powerpoint/2010/main" val="33510225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4801FD5-11B4-DE43-ACA2-E85EEB9A6F9C}" type="slidenum">
              <a:rPr lang="en-US" smtClean="0"/>
              <a:pPr/>
              <a:t>32</a:t>
            </a:fld>
            <a:endParaRPr lang="en-US" dirty="0"/>
          </a:p>
        </p:txBody>
      </p:sp>
      <p:sp>
        <p:nvSpPr>
          <p:cNvPr id="6" name="Title 1"/>
          <p:cNvSpPr txBox="1">
            <a:spLocks/>
          </p:cNvSpPr>
          <p:nvPr/>
        </p:nvSpPr>
        <p:spPr>
          <a:xfrm>
            <a:off x="301337" y="283087"/>
            <a:ext cx="11198086" cy="592690"/>
          </a:xfrm>
          <a:prstGeom prst="rect">
            <a:avLst/>
          </a:prstGeom>
        </p:spPr>
        <p:txBody>
          <a:bodyPr/>
          <a:lstStyle>
            <a:lvl1pPr algn="ctr" defTabSz="457200" rtl="0" eaLnBrk="1" latinLnBrk="0" hangingPunct="1">
              <a:spcBef>
                <a:spcPct val="0"/>
              </a:spcBef>
              <a:buNone/>
              <a:defRPr sz="4000" kern="1200">
                <a:solidFill>
                  <a:schemeClr val="tx1"/>
                </a:solidFill>
                <a:latin typeface="Garamond" panose="02020404030301010803" pitchFamily="18" charset="0"/>
                <a:ea typeface="+mj-ea"/>
                <a:cs typeface="+mj-cs"/>
              </a:defRPr>
            </a:lvl1pPr>
          </a:lstStyle>
          <a:p>
            <a:endParaRPr lang="en-GB" sz="2000" dirty="0">
              <a:solidFill>
                <a:srgbClr val="FF0000"/>
              </a:solidFill>
            </a:endParaRPr>
          </a:p>
        </p:txBody>
      </p:sp>
      <p:sp>
        <p:nvSpPr>
          <p:cNvPr id="10" name="Footer Placeholder 5"/>
          <p:cNvSpPr txBox="1">
            <a:spLocks/>
          </p:cNvSpPr>
          <p:nvPr/>
        </p:nvSpPr>
        <p:spPr>
          <a:xfrm>
            <a:off x="770964" y="6281915"/>
            <a:ext cx="1210236"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tx1"/>
                </a:solidFill>
              </a:rPr>
              <a:t>KNUST-SESC</a:t>
            </a:r>
          </a:p>
        </p:txBody>
      </p:sp>
      <p:pic>
        <p:nvPicPr>
          <p:cNvPr id="8" name="Picture 2" descr="7,473 Thank You Business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198" y="1988579"/>
            <a:ext cx="7532942" cy="350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64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42241</TotalTime>
  <Words>4690</Words>
  <Application>Microsoft Office PowerPoint</Application>
  <PresentationFormat>Widescreen</PresentationFormat>
  <Paragraphs>334</Paragraphs>
  <Slides>32</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2" baseType="lpstr">
      <vt:lpstr>Arial</vt:lpstr>
      <vt:lpstr>Calibri</vt:lpstr>
      <vt:lpstr>Cambria Math</vt:lpstr>
      <vt:lpstr>Eras Demi ITC</vt:lpstr>
      <vt:lpstr>Garamond</vt:lpstr>
      <vt:lpstr>Georgia</vt:lpstr>
      <vt:lpstr>Helvetica</vt:lpstr>
      <vt:lpstr>Wingdings</vt:lpstr>
      <vt:lpstr>Office Theme</vt:lpstr>
      <vt:lpstr>Equation</vt:lpstr>
      <vt:lpstr>THERMODYNAMICS I (ME 265) </vt:lpstr>
      <vt:lpstr>First Law of Thermodynamics</vt:lpstr>
      <vt:lpstr>First Law of Thermodynamics</vt:lpstr>
      <vt:lpstr>First Law of Thermodynamics</vt:lpstr>
      <vt:lpstr>First Law of Thermodynamics</vt:lpstr>
      <vt:lpstr>First Law of Thermodynamics</vt:lpstr>
      <vt:lpstr>First Law of Thermodynamics</vt:lpstr>
      <vt:lpstr>First Law of Thermodynamics</vt:lpstr>
      <vt:lpstr>First Law of Thermodynamics</vt:lpstr>
      <vt:lpstr>First Law of Thermodynamics</vt:lpstr>
      <vt:lpstr>First Law for Closed Systems: Problems</vt:lpstr>
      <vt:lpstr>First Law for Closed Systems: Problems</vt:lpstr>
      <vt:lpstr>First Law for Closed Systems: Problems</vt:lpstr>
      <vt:lpstr>First Law for Closed Systems: Problems</vt:lpstr>
      <vt:lpstr>First Law for Closed Systems: Problems</vt:lpstr>
      <vt:lpstr>First Law for Closed Systems: Problems</vt:lpstr>
      <vt:lpstr>First Law of Thermodynamics: Open system</vt:lpstr>
      <vt:lpstr>First Law of Thermodynamics: Open system</vt:lpstr>
      <vt:lpstr>First Law of Thermodynamics: Open system</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Applications of steady flow energy equation</vt:lpstr>
      <vt:lpstr>First Law of Thermodynamics: Open system</vt:lpstr>
      <vt:lpstr>First Law for Open Systems: Problems</vt:lpstr>
      <vt:lpstr>First Law for Open Systems: Problems</vt:lpstr>
      <vt:lpstr>First Law for Open Systems: Problems</vt:lpstr>
      <vt:lpstr>PowerPoint Presentation</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HP</cp:lastModifiedBy>
  <cp:revision>814</cp:revision>
  <dcterms:created xsi:type="dcterms:W3CDTF">2016-11-07T15:28:41Z</dcterms:created>
  <dcterms:modified xsi:type="dcterms:W3CDTF">2022-03-15T13:47:22Z</dcterms:modified>
</cp:coreProperties>
</file>