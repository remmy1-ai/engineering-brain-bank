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sldIdLst>
    <p:sldId id="257" r:id="rId3"/>
    <p:sldId id="290" r:id="rId4"/>
    <p:sldId id="291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2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86" d="100"/>
          <a:sy n="86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7C2CC-51C1-4384-B038-7CCB4FB1CFDE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A61C4-F15F-44CB-91B0-558CE374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1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7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16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75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1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6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32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6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97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49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93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8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41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208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07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687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669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208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933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512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844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413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472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492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59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8" y="6464741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558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8" y="6464741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40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kwakuantoh@yahoo.com//0208201565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410" y="2521981"/>
            <a:ext cx="6516161" cy="658726"/>
          </a:xfrm>
        </p:spPr>
        <p:txBody>
          <a:bodyPr>
            <a:normAutofit/>
          </a:bodyPr>
          <a:lstStyle/>
          <a:p>
            <a:r>
              <a:rPr lang="en-GB" sz="3000" b="1" dirty="0"/>
              <a:t>EE 252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95318" y="5705805"/>
            <a:ext cx="932864" cy="273844"/>
          </a:xfrm>
        </p:spPr>
        <p:txBody>
          <a:bodyPr/>
          <a:lstStyle/>
          <a:p>
            <a:r>
              <a:rPr lang="en-GB" sz="1050" b="1" dirty="0">
                <a:solidFill>
                  <a:prstClr val="white"/>
                </a:solidFill>
                <a:latin typeface="Century Gothic" panose="020B0502020202020204" pitchFamily="34" charset="0"/>
              </a:rPr>
              <a:t>Jan 2014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98784" y="3339374"/>
            <a:ext cx="8261252" cy="49809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rgbClr val="FFC551"/>
                </a:solidFill>
              </a:rPr>
              <a:t>Electrical Engineering Machines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700409" y="5107214"/>
            <a:ext cx="6824589" cy="4496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prstClr val="black"/>
                </a:solidFill>
              </a:rPr>
              <a:t>EMMANUEL ADDO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700410" y="5705805"/>
            <a:ext cx="6824588" cy="665966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solidFill>
                <a:prstClr val="black"/>
              </a:solidFill>
            </a:endParaRPr>
          </a:p>
          <a:p>
            <a:r>
              <a:rPr lang="en-GB">
                <a:solidFill>
                  <a:prstClr val="black"/>
                </a:solidFill>
                <a:hlinkClick r:id="rId4"/>
              </a:rPr>
              <a:t>kwakuantoh@yahoo.com//0208201565</a:t>
            </a:r>
            <a:r>
              <a:rPr lang="en-GB">
                <a:solidFill>
                  <a:prstClr val="black"/>
                </a:solidFill>
              </a:rPr>
              <a:t>; 0243225858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524000" y="3965721"/>
            <a:ext cx="9144000" cy="992551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3 – Intro to Polyphase Machines </a:t>
            </a:r>
          </a:p>
        </p:txBody>
      </p:sp>
    </p:spTree>
    <p:extLst>
      <p:ext uri="{BB962C8B-B14F-4D97-AF65-F5344CB8AC3E}">
        <p14:creationId xmlns:p14="http://schemas.microsoft.com/office/powerpoint/2010/main" val="32279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Unit 3 – 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300" b="1" dirty="0"/>
              <a:t>Types of three-phase AC machines (synchronous, induction, commutator)</a:t>
            </a:r>
            <a:endParaRPr lang="en-US" sz="2300" dirty="0"/>
          </a:p>
          <a:p>
            <a:pPr algn="just"/>
            <a:endParaRPr lang="en-US" sz="2300" dirty="0"/>
          </a:p>
          <a:p>
            <a:pPr algn="just"/>
            <a:r>
              <a:rPr lang="en-US" sz="2300" b="1" dirty="0"/>
              <a:t>Constructional features of 3-phase induction motors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b="1" dirty="0"/>
              <a:t>Two types of 3-phase induction motors (squirrel cage, wound-rotor)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b="1" dirty="0"/>
              <a:t>Principle of operation of induction motors</a:t>
            </a:r>
          </a:p>
          <a:p>
            <a:pPr algn="just"/>
            <a:endParaRPr lang="en-US" sz="2300" b="1" dirty="0"/>
          </a:p>
          <a:p>
            <a:pPr algn="just"/>
            <a:r>
              <a:rPr lang="en-US" sz="2300" b="1" dirty="0"/>
              <a:t>Speed and slip of induction motors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0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81964"/>
            <a:ext cx="10515599" cy="4547432"/>
          </a:xfrm>
        </p:spPr>
        <p:txBody>
          <a:bodyPr>
            <a:noAutofit/>
          </a:bodyPr>
          <a:lstStyle/>
          <a:p>
            <a:pPr algn="just"/>
            <a:r>
              <a:rPr lang="en-GB" sz="2400" b="1" dirty="0"/>
              <a:t>AC machines</a:t>
            </a:r>
            <a:r>
              <a:rPr lang="en-GB" sz="2400" dirty="0"/>
              <a:t> may be </a:t>
            </a:r>
            <a:r>
              <a:rPr lang="en-GB" sz="2400" b="1" dirty="0"/>
              <a:t>either generators or motors</a:t>
            </a:r>
            <a:r>
              <a:rPr lang="en-GB" sz="2400" dirty="0"/>
              <a:t>.  </a:t>
            </a:r>
          </a:p>
          <a:p>
            <a:pPr algn="just"/>
            <a:r>
              <a:rPr lang="en-GB" sz="2400" dirty="0"/>
              <a:t>Most of the </a:t>
            </a:r>
            <a:r>
              <a:rPr lang="en-GB" sz="2400" b="1" dirty="0"/>
              <a:t>motors</a:t>
            </a:r>
            <a:r>
              <a:rPr lang="en-GB" sz="2400" dirty="0"/>
              <a:t> used in industry and the home </a:t>
            </a:r>
            <a:r>
              <a:rPr lang="en-GB" sz="2400" b="1" dirty="0"/>
              <a:t>are of the alternating-current type</a:t>
            </a:r>
            <a:r>
              <a:rPr lang="en-GB" sz="2400" dirty="0"/>
              <a:t>.</a:t>
            </a:r>
          </a:p>
          <a:p>
            <a:pPr algn="just"/>
            <a:r>
              <a:rPr lang="en-GB" sz="2400" b="1" dirty="0">
                <a:solidFill>
                  <a:srgbClr val="FF0000"/>
                </a:solidFill>
              </a:rPr>
              <a:t>Industrial motors </a:t>
            </a:r>
            <a:r>
              <a:rPr lang="en-GB" sz="2400" dirty="0"/>
              <a:t>are usually designed for </a:t>
            </a:r>
            <a:r>
              <a:rPr lang="en-GB" sz="2400" b="1" dirty="0">
                <a:solidFill>
                  <a:srgbClr val="FF0000"/>
                </a:solidFill>
              </a:rPr>
              <a:t>three-phase operation </a:t>
            </a:r>
            <a:r>
              <a:rPr lang="en-GB" sz="2400" dirty="0"/>
              <a:t>and</a:t>
            </a:r>
          </a:p>
          <a:p>
            <a:pPr algn="just"/>
            <a:r>
              <a:rPr lang="en-GB" sz="2400" b="1" dirty="0">
                <a:solidFill>
                  <a:srgbClr val="0070C0"/>
                </a:solidFill>
              </a:rPr>
              <a:t>Domestic motors </a:t>
            </a:r>
            <a:r>
              <a:rPr lang="en-GB" sz="2400" dirty="0"/>
              <a:t>are designed for the </a:t>
            </a:r>
            <a:r>
              <a:rPr lang="en-GB" sz="2400" b="1" dirty="0">
                <a:solidFill>
                  <a:srgbClr val="0070C0"/>
                </a:solidFill>
              </a:rPr>
              <a:t>single-phase</a:t>
            </a:r>
            <a:r>
              <a:rPr lang="en-GB" sz="2400" dirty="0"/>
              <a:t> systems used in the home.</a:t>
            </a:r>
          </a:p>
          <a:p>
            <a:pPr algn="just"/>
            <a:r>
              <a:rPr lang="en-GB" sz="2400" dirty="0"/>
              <a:t>Unlike </a:t>
            </a:r>
            <a:r>
              <a:rPr lang="en-GB" sz="2400" b="1" dirty="0">
                <a:solidFill>
                  <a:srgbClr val="FF0000"/>
                </a:solidFill>
              </a:rPr>
              <a:t>three-phase motors being self-starting</a:t>
            </a:r>
            <a:r>
              <a:rPr lang="en-GB" sz="2400" dirty="0"/>
              <a:t>, the </a:t>
            </a:r>
            <a:r>
              <a:rPr lang="en-GB" sz="2400" b="1" dirty="0">
                <a:solidFill>
                  <a:srgbClr val="0070C0"/>
                </a:solidFill>
              </a:rPr>
              <a:t>single-phase motors</a:t>
            </a:r>
            <a:r>
              <a:rPr lang="en-GB" sz="2400" b="1" dirty="0"/>
              <a:t> </a:t>
            </a:r>
            <a:r>
              <a:rPr lang="en-GB" sz="2400" i="1" dirty="0"/>
              <a:t>are </a:t>
            </a:r>
            <a:r>
              <a:rPr lang="en-GB" sz="2400" b="1" dirty="0">
                <a:solidFill>
                  <a:srgbClr val="0070C0"/>
                </a:solidFill>
              </a:rPr>
              <a:t>not self-starting </a:t>
            </a:r>
            <a:r>
              <a:rPr lang="en-GB" sz="2400" dirty="0"/>
              <a:t>and </a:t>
            </a:r>
            <a:r>
              <a:rPr lang="en-GB" sz="2400" b="1" dirty="0">
                <a:solidFill>
                  <a:srgbClr val="0070C0"/>
                </a:solidFill>
              </a:rPr>
              <a:t>require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b="1" dirty="0">
                <a:solidFill>
                  <a:srgbClr val="0070C0"/>
                </a:solidFill>
              </a:rPr>
              <a:t>to be</a:t>
            </a:r>
            <a:r>
              <a:rPr lang="en-GB" sz="2400" dirty="0">
                <a:solidFill>
                  <a:srgbClr val="0070C0"/>
                </a:solidFill>
              </a:rPr>
              <a:t> </a:t>
            </a:r>
            <a:r>
              <a:rPr lang="en-GB" sz="2400" dirty="0"/>
              <a:t>wound in a special way and be </a:t>
            </a:r>
            <a:r>
              <a:rPr lang="en-GB" sz="2400" b="1" dirty="0">
                <a:solidFill>
                  <a:srgbClr val="0070C0"/>
                </a:solidFill>
              </a:rPr>
              <a:t>fitted with special starting arrangements</a:t>
            </a:r>
            <a:r>
              <a:rPr lang="en-GB" sz="2400" dirty="0"/>
              <a:t>.</a:t>
            </a:r>
          </a:p>
          <a:p>
            <a:endParaRPr lang="en-GB" sz="2300" dirty="0"/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3.1:	Introduction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06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41721"/>
            <a:ext cx="10515599" cy="5061097"/>
          </a:xfrm>
        </p:spPr>
        <p:txBody>
          <a:bodyPr>
            <a:noAutofit/>
          </a:bodyPr>
          <a:lstStyle/>
          <a:p>
            <a:pPr algn="just"/>
            <a:r>
              <a:rPr lang="en-GB" sz="2300" b="1" dirty="0"/>
              <a:t>AC machines</a:t>
            </a:r>
            <a:r>
              <a:rPr lang="en-GB" sz="2300" dirty="0"/>
              <a:t> may be </a:t>
            </a:r>
            <a:r>
              <a:rPr lang="en-GB" sz="2300" b="1" dirty="0"/>
              <a:t>either generators or motors</a:t>
            </a:r>
            <a:r>
              <a:rPr lang="en-GB" sz="2300" dirty="0"/>
              <a:t>.  </a:t>
            </a:r>
          </a:p>
          <a:p>
            <a:pPr algn="just"/>
            <a:r>
              <a:rPr lang="en-GB" sz="2300" dirty="0"/>
              <a:t>Most of the </a:t>
            </a:r>
            <a:r>
              <a:rPr lang="en-GB" sz="2300" b="1" dirty="0"/>
              <a:t>motors</a:t>
            </a:r>
            <a:r>
              <a:rPr lang="en-GB" sz="2300" dirty="0"/>
              <a:t> used in industry and the home </a:t>
            </a:r>
            <a:r>
              <a:rPr lang="en-GB" sz="2300" b="1" dirty="0"/>
              <a:t>are of the alternating-current type</a:t>
            </a:r>
            <a:r>
              <a:rPr lang="en-GB" sz="2300" dirty="0"/>
              <a:t>.</a:t>
            </a:r>
          </a:p>
          <a:p>
            <a:pPr algn="just"/>
            <a:r>
              <a:rPr lang="en-GB" sz="2300" b="1" dirty="0">
                <a:solidFill>
                  <a:srgbClr val="FF0000"/>
                </a:solidFill>
              </a:rPr>
              <a:t>Industrial motors </a:t>
            </a:r>
            <a:r>
              <a:rPr lang="en-GB" sz="2300" dirty="0"/>
              <a:t>are usually designed for </a:t>
            </a:r>
            <a:r>
              <a:rPr lang="en-GB" sz="2300" b="1" dirty="0">
                <a:solidFill>
                  <a:srgbClr val="FF0000"/>
                </a:solidFill>
              </a:rPr>
              <a:t>three-phase operation </a:t>
            </a:r>
            <a:r>
              <a:rPr lang="en-GB" sz="2300" dirty="0"/>
              <a:t>and</a:t>
            </a:r>
          </a:p>
          <a:p>
            <a:pPr algn="just"/>
            <a:r>
              <a:rPr lang="en-GB" sz="2300" b="1" dirty="0">
                <a:solidFill>
                  <a:srgbClr val="0070C0"/>
                </a:solidFill>
              </a:rPr>
              <a:t>Domestic motors </a:t>
            </a:r>
            <a:r>
              <a:rPr lang="en-GB" sz="2300" dirty="0"/>
              <a:t>are designed for the </a:t>
            </a:r>
            <a:r>
              <a:rPr lang="en-GB" sz="2300" b="1" dirty="0">
                <a:solidFill>
                  <a:srgbClr val="0070C0"/>
                </a:solidFill>
              </a:rPr>
              <a:t>single-phase</a:t>
            </a:r>
            <a:r>
              <a:rPr lang="en-GB" sz="2300" dirty="0"/>
              <a:t> systems used in the home.</a:t>
            </a:r>
          </a:p>
          <a:p>
            <a:pPr algn="just"/>
            <a:r>
              <a:rPr lang="en-GB" sz="2300" dirty="0"/>
              <a:t>Unlike </a:t>
            </a:r>
            <a:r>
              <a:rPr lang="en-GB" sz="2300" b="1" dirty="0">
                <a:solidFill>
                  <a:srgbClr val="FF0000"/>
                </a:solidFill>
              </a:rPr>
              <a:t>three-phase motors being self-starting</a:t>
            </a:r>
            <a:r>
              <a:rPr lang="en-GB" sz="2300" dirty="0"/>
              <a:t>, the </a:t>
            </a:r>
            <a:r>
              <a:rPr lang="en-GB" sz="2300" b="1" dirty="0">
                <a:solidFill>
                  <a:srgbClr val="0070C0"/>
                </a:solidFill>
              </a:rPr>
              <a:t>single-phase motors</a:t>
            </a:r>
            <a:r>
              <a:rPr lang="en-GB" sz="2300" b="1" dirty="0"/>
              <a:t> </a:t>
            </a:r>
            <a:r>
              <a:rPr lang="en-GB" sz="2300" i="1" dirty="0"/>
              <a:t>are </a:t>
            </a:r>
            <a:r>
              <a:rPr lang="en-GB" sz="2300" b="1" dirty="0">
                <a:solidFill>
                  <a:srgbClr val="0070C0"/>
                </a:solidFill>
              </a:rPr>
              <a:t>not self-starting </a:t>
            </a:r>
            <a:r>
              <a:rPr lang="en-GB" sz="2300" dirty="0"/>
              <a:t>and </a:t>
            </a:r>
            <a:r>
              <a:rPr lang="en-GB" sz="2300" b="1" dirty="0">
                <a:solidFill>
                  <a:srgbClr val="0070C0"/>
                </a:solidFill>
              </a:rPr>
              <a:t>require</a:t>
            </a:r>
            <a:r>
              <a:rPr lang="en-GB" sz="2300" dirty="0">
                <a:solidFill>
                  <a:srgbClr val="0070C0"/>
                </a:solidFill>
              </a:rPr>
              <a:t> </a:t>
            </a:r>
            <a:r>
              <a:rPr lang="en-GB" sz="2300" b="1" dirty="0">
                <a:solidFill>
                  <a:srgbClr val="0070C0"/>
                </a:solidFill>
              </a:rPr>
              <a:t>to be</a:t>
            </a:r>
            <a:r>
              <a:rPr lang="en-GB" sz="2300" dirty="0">
                <a:solidFill>
                  <a:srgbClr val="0070C0"/>
                </a:solidFill>
              </a:rPr>
              <a:t> </a:t>
            </a:r>
            <a:r>
              <a:rPr lang="en-GB" sz="2300" dirty="0"/>
              <a:t>wound in a special way and be </a:t>
            </a:r>
            <a:r>
              <a:rPr lang="en-GB" sz="2300" b="1" dirty="0">
                <a:solidFill>
                  <a:srgbClr val="0070C0"/>
                </a:solidFill>
              </a:rPr>
              <a:t>fitted with special starting arrangements</a:t>
            </a:r>
            <a:r>
              <a:rPr lang="en-GB" sz="2300" dirty="0"/>
              <a:t>.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speed an AC motor depends on</a:t>
            </a:r>
            <a:r>
              <a:rPr lang="en-GB" sz="2300" dirty="0"/>
              <a:t> the </a:t>
            </a:r>
            <a:r>
              <a:rPr lang="en-GB" sz="2300" b="1" dirty="0"/>
              <a:t>number of poles </a:t>
            </a:r>
            <a:r>
              <a:rPr lang="en-GB" sz="2300" dirty="0"/>
              <a:t>and the </a:t>
            </a:r>
            <a:r>
              <a:rPr lang="en-GB" sz="2300" b="1" dirty="0"/>
              <a:t>frequency</a:t>
            </a:r>
            <a:r>
              <a:rPr lang="en-GB" sz="2300" dirty="0"/>
              <a:t> of the supply system. </a:t>
            </a:r>
          </a:p>
          <a:p>
            <a:pPr algn="just"/>
            <a:r>
              <a:rPr lang="en-GB" sz="2300" dirty="0"/>
              <a:t>The relationship between speed, number of poles  and frequency  is given by </a:t>
            </a:r>
          </a:p>
          <a:p>
            <a:endParaRPr lang="en-GB" sz="2300" dirty="0"/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3.1:	Introduction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3EEE9-ED66-4E12-9251-9A2AD798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801" y="5894672"/>
            <a:ext cx="1359526" cy="6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0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speed of some industrial motors</a:t>
            </a:r>
            <a:r>
              <a:rPr lang="en-GB" sz="2300" dirty="0"/>
              <a:t> is </a:t>
            </a:r>
            <a:r>
              <a:rPr lang="en-GB" sz="2300" b="1" dirty="0"/>
              <a:t>changed</a:t>
            </a:r>
            <a:r>
              <a:rPr lang="en-GB" sz="2300" dirty="0"/>
              <a:t> either by</a:t>
            </a:r>
          </a:p>
          <a:p>
            <a:pPr lvl="1" algn="just">
              <a:buNone/>
            </a:pPr>
            <a:r>
              <a:rPr lang="en-GB" sz="2000" dirty="0"/>
              <a:t>	</a:t>
            </a:r>
            <a:r>
              <a:rPr lang="en-GB" sz="2200" dirty="0"/>
              <a:t>a)</a:t>
            </a:r>
            <a:r>
              <a:rPr lang="en-GB" sz="2200" b="1" dirty="0"/>
              <a:t>pole-changing </a:t>
            </a:r>
            <a:r>
              <a:rPr lang="en-GB" sz="2200" dirty="0"/>
              <a:t>in which the motor stator windings are switched to give  different number of poles. </a:t>
            </a:r>
          </a:p>
          <a:p>
            <a:pPr lvl="1" algn="just">
              <a:buNone/>
            </a:pPr>
            <a:r>
              <a:rPr lang="en-GB" sz="2200" dirty="0"/>
              <a:t>	b)</a:t>
            </a:r>
            <a:r>
              <a:rPr lang="en-GB" sz="2200" b="1" dirty="0"/>
              <a:t>frequency change </a:t>
            </a:r>
            <a:r>
              <a:rPr lang="en-GB" sz="2200" dirty="0"/>
              <a:t>through frequency changers</a:t>
            </a:r>
            <a:r>
              <a:rPr lang="en-GB" sz="2100" dirty="0"/>
              <a:t>.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AC motor, like DC motors</a:t>
            </a:r>
            <a:r>
              <a:rPr lang="en-GB" sz="2300" dirty="0"/>
              <a:t>, consists of a stationary part (the stator), and a rotating part (the rotor), on which are wound a set of current-carrying coils that are both excited.</a:t>
            </a:r>
          </a:p>
          <a:p>
            <a:pPr algn="just"/>
            <a:r>
              <a:rPr lang="en-GB" sz="2300" dirty="0"/>
              <a:t>The stator is built up of laminated steel plates. </a:t>
            </a:r>
          </a:p>
          <a:p>
            <a:pPr algn="just"/>
            <a:r>
              <a:rPr lang="en-GB" sz="2300" b="1" dirty="0"/>
              <a:t>Laminations</a:t>
            </a:r>
            <a:r>
              <a:rPr lang="en-GB" sz="2300" dirty="0"/>
              <a:t> are used, rather than a solid core, to </a:t>
            </a:r>
            <a:r>
              <a:rPr lang="en-GB" sz="2300" b="1" dirty="0"/>
              <a:t>minimize the eddy-current losses associated with AC magnetic circuits</a:t>
            </a:r>
            <a:r>
              <a:rPr lang="en-GB" sz="2300" dirty="0"/>
              <a:t>. </a:t>
            </a:r>
          </a:p>
          <a:p>
            <a:pPr algn="just"/>
            <a:r>
              <a:rPr lang="en-US" sz="2300" dirty="0"/>
              <a:t>The </a:t>
            </a:r>
            <a:r>
              <a:rPr lang="en-US" sz="2300" b="1" dirty="0"/>
              <a:t>rotating part</a:t>
            </a:r>
            <a:r>
              <a:rPr lang="en-US" sz="2300" dirty="0"/>
              <a:t>, the rotor, is </a:t>
            </a:r>
            <a:r>
              <a:rPr lang="en-US" sz="2300" b="1" dirty="0"/>
              <a:t>also made up of laminated plates </a:t>
            </a:r>
            <a:r>
              <a:rPr lang="en-US" sz="2300" dirty="0"/>
              <a:t>mounted on the motor shaft</a:t>
            </a:r>
          </a:p>
          <a:p>
            <a:r>
              <a:rPr lang="en-US" sz="2300" dirty="0"/>
              <a:t>The </a:t>
            </a:r>
            <a:r>
              <a:rPr lang="en-US" sz="2300" b="1" dirty="0"/>
              <a:t>rotor can be </a:t>
            </a:r>
            <a:r>
              <a:rPr lang="en-US" sz="2300" dirty="0"/>
              <a:t>of the </a:t>
            </a:r>
            <a:r>
              <a:rPr lang="en-US" sz="2300" b="1" dirty="0"/>
              <a:t>squirrel cage </a:t>
            </a:r>
            <a:r>
              <a:rPr lang="en-US" sz="2300" dirty="0"/>
              <a:t>or </a:t>
            </a:r>
            <a:r>
              <a:rPr lang="en-US" sz="2300" b="1" dirty="0"/>
              <a:t>wound-rotor</a:t>
            </a:r>
            <a:r>
              <a:rPr lang="en-US" sz="2300" dirty="0"/>
              <a:t> design. </a:t>
            </a:r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3.1:	Introduction (3)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7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81964"/>
            <a:ext cx="10515599" cy="4547432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By construction, AC motors may be of the synchronous, induction or commutator type. </a:t>
            </a:r>
            <a:endParaRPr lang="en-GB" sz="2300" dirty="0"/>
          </a:p>
          <a:p>
            <a:pPr algn="just"/>
            <a:r>
              <a:rPr lang="en-US" sz="2300" b="1" dirty="0"/>
              <a:t>(1) </a:t>
            </a:r>
            <a:r>
              <a:rPr lang="en-US" sz="2300" b="1" dirty="0">
                <a:solidFill>
                  <a:srgbClr val="0070C0"/>
                </a:solidFill>
              </a:rPr>
              <a:t>Synchronous</a:t>
            </a:r>
            <a:r>
              <a:rPr lang="en-US" sz="2300" dirty="0"/>
              <a:t>: If </a:t>
            </a:r>
            <a:r>
              <a:rPr lang="en-US" sz="2300" b="1" dirty="0"/>
              <a:t>one winding is made to carry a steady direct current </a:t>
            </a:r>
            <a:r>
              <a:rPr lang="en-US" sz="2300" dirty="0"/>
              <a:t>(DC) and </a:t>
            </a:r>
            <a:r>
              <a:rPr lang="en-US" sz="2300" b="1" dirty="0"/>
              <a:t>the other an alternating current (AC) </a:t>
            </a:r>
            <a:r>
              <a:rPr lang="en-US" sz="2300" dirty="0"/>
              <a:t>whose frequency equals the angular velocity of the rotating part, the device is a synchronous machine.</a:t>
            </a:r>
            <a:r>
              <a:rPr lang="en-GB" sz="2300" dirty="0"/>
              <a:t> </a:t>
            </a:r>
          </a:p>
          <a:p>
            <a:pPr algn="just"/>
            <a:r>
              <a:rPr lang="en-GB" sz="2300" b="1" dirty="0"/>
              <a:t>(2) </a:t>
            </a:r>
            <a:r>
              <a:rPr lang="en-GB" sz="2300" b="1" dirty="0">
                <a:solidFill>
                  <a:srgbClr val="FF0000"/>
                </a:solidFill>
              </a:rPr>
              <a:t>Induction</a:t>
            </a:r>
            <a:r>
              <a:rPr lang="en-GB" sz="2300" b="1" dirty="0"/>
              <a:t>:</a:t>
            </a:r>
            <a:r>
              <a:rPr lang="en-GB" sz="2300" dirty="0"/>
              <a:t> </a:t>
            </a:r>
            <a:r>
              <a:rPr lang="en-US" sz="2300" dirty="0"/>
              <a:t>If </a:t>
            </a:r>
            <a:r>
              <a:rPr lang="en-US" sz="2300" b="1" dirty="0"/>
              <a:t>one winding is </a:t>
            </a:r>
            <a:r>
              <a:rPr lang="en-US" sz="2300" b="1" dirty="0" err="1"/>
              <a:t>energised</a:t>
            </a:r>
            <a:r>
              <a:rPr lang="en-US" sz="2300" b="1" dirty="0"/>
              <a:t> by an AC</a:t>
            </a:r>
            <a:r>
              <a:rPr lang="en-US" sz="2300" dirty="0"/>
              <a:t>, and the </a:t>
            </a:r>
            <a:r>
              <a:rPr lang="en-US" sz="2300" b="1" dirty="0"/>
              <a:t>other is short-circuited</a:t>
            </a:r>
            <a:r>
              <a:rPr lang="en-US" sz="2300" dirty="0"/>
              <a:t>, the device is called an induction machine. </a:t>
            </a:r>
            <a:endParaRPr lang="en-GB" sz="2300" dirty="0"/>
          </a:p>
          <a:p>
            <a:pPr algn="just"/>
            <a:r>
              <a:rPr lang="en-US" sz="2300" b="1" dirty="0"/>
              <a:t>(3) </a:t>
            </a:r>
            <a:r>
              <a:rPr lang="en-US" sz="2300" b="1" dirty="0">
                <a:solidFill>
                  <a:srgbClr val="00B050"/>
                </a:solidFill>
              </a:rPr>
              <a:t>Commutator</a:t>
            </a:r>
            <a:r>
              <a:rPr lang="en-US" sz="2300" b="1" dirty="0"/>
              <a:t>:</a:t>
            </a:r>
            <a:r>
              <a:rPr lang="en-US" sz="2300" dirty="0"/>
              <a:t> If </a:t>
            </a:r>
            <a:r>
              <a:rPr lang="en-US" sz="2300" b="1" dirty="0"/>
              <a:t>one winding carries a steady DC</a:t>
            </a:r>
            <a:r>
              <a:rPr lang="en-US" sz="2300" dirty="0"/>
              <a:t>, and </a:t>
            </a:r>
            <a:r>
              <a:rPr lang="en-US" sz="2300" b="1" dirty="0"/>
              <a:t>the other carries a current that reverses each half revolution of the rotor</a:t>
            </a:r>
            <a:r>
              <a:rPr lang="en-US" sz="2300" dirty="0"/>
              <a:t>, a non-zero average torque will result. The reversal is accompanied by a commutator</a:t>
            </a:r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3.2:	Types of 3-phase motors by construction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858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81964"/>
            <a:ext cx="10515599" cy="4547432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Because of its (</a:t>
            </a:r>
            <a:r>
              <a:rPr lang="en-GB" sz="2300" dirty="0" err="1"/>
              <a:t>i</a:t>
            </a:r>
            <a:r>
              <a:rPr lang="en-GB" sz="2300" dirty="0"/>
              <a:t>) simple, (ii) rugged and (iii) cheap construction as well as (iv) good operating characteristics, induction motors </a:t>
            </a:r>
            <a:r>
              <a:rPr lang="en-US" sz="2300" dirty="0"/>
              <a:t>suit most industrial requirements and applications</a:t>
            </a:r>
            <a:r>
              <a:rPr lang="en-GB" sz="2300" dirty="0"/>
              <a:t>.</a:t>
            </a:r>
          </a:p>
          <a:p>
            <a:pPr algn="just"/>
            <a:r>
              <a:rPr lang="en-GB" sz="2300" dirty="0"/>
              <a:t>In conventional </a:t>
            </a:r>
            <a:r>
              <a:rPr lang="en-GB" sz="2300" b="1" dirty="0"/>
              <a:t>induction motors</a:t>
            </a:r>
            <a:r>
              <a:rPr lang="en-GB" sz="2300" dirty="0"/>
              <a:t>, the </a:t>
            </a:r>
            <a:r>
              <a:rPr lang="en-GB" sz="2300" b="1" dirty="0"/>
              <a:t>stator is connected to AC supply</a:t>
            </a:r>
            <a:r>
              <a:rPr lang="en-GB" sz="2300" dirty="0"/>
              <a:t>, and the </a:t>
            </a:r>
            <a:r>
              <a:rPr lang="en-GB" sz="2300" b="1" dirty="0"/>
              <a:t>rotor winding is short-circuited</a:t>
            </a:r>
            <a:r>
              <a:rPr lang="en-GB" sz="2300" dirty="0"/>
              <a:t> for many applications, or it may be closed through external resistances.</a:t>
            </a:r>
          </a:p>
          <a:p>
            <a:pPr algn="just"/>
            <a:r>
              <a:rPr lang="en-GB" sz="2300" b="1" dirty="0"/>
              <a:t>Current is induced in the rotor winding</a:t>
            </a:r>
            <a:r>
              <a:rPr lang="en-GB" sz="2300" dirty="0"/>
              <a:t> by </a:t>
            </a:r>
            <a:r>
              <a:rPr lang="en-GB" sz="2300" b="1" dirty="0"/>
              <a:t>transformer action or electromagnetic induction </a:t>
            </a:r>
            <a:r>
              <a:rPr lang="en-GB" sz="2300" dirty="0"/>
              <a:t>from the stator. </a:t>
            </a:r>
          </a:p>
          <a:p>
            <a:pPr algn="just"/>
            <a:r>
              <a:rPr lang="en-GB" sz="2300" dirty="0"/>
              <a:t>Because of this, the </a:t>
            </a:r>
            <a:r>
              <a:rPr lang="en-GB" sz="2300" b="1" dirty="0"/>
              <a:t>stator is sometimes referred to as the primary </a:t>
            </a:r>
            <a:r>
              <a:rPr lang="en-GB" sz="2300" dirty="0"/>
              <a:t>and the </a:t>
            </a:r>
            <a:r>
              <a:rPr lang="en-GB" sz="2300" b="1" dirty="0"/>
              <a:t>rotor referred to as the secondary </a:t>
            </a:r>
            <a:r>
              <a:rPr lang="en-GB" sz="2300" dirty="0"/>
              <a:t>of the induction motor. </a:t>
            </a:r>
          </a:p>
          <a:p>
            <a:pPr algn="just"/>
            <a:r>
              <a:rPr lang="en-GB" sz="2300" dirty="0"/>
              <a:t>The poly-phase induction motor requires no means for its excitation other than the AC line.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3.3:	Constructional features of 3-phase induction motors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67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81964"/>
            <a:ext cx="10515599" cy="4547432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induction motor </a:t>
            </a:r>
            <a:r>
              <a:rPr lang="en-GB" sz="2300" b="1" u="sng" dirty="0"/>
              <a:t>runs below synchronous speed </a:t>
            </a:r>
            <a:r>
              <a:rPr lang="en-GB" sz="2300" dirty="0"/>
              <a:t>and is known as an </a:t>
            </a:r>
            <a:r>
              <a:rPr lang="en-GB" sz="2300" b="1" dirty="0"/>
              <a:t>asynchronous machine</a:t>
            </a:r>
            <a:endParaRPr lang="en-GB" sz="2300" dirty="0"/>
          </a:p>
          <a:p>
            <a:pPr algn="just"/>
            <a:r>
              <a:rPr lang="en-US" sz="2300" dirty="0"/>
              <a:t>The stator core has no salient or projecting poles, and is built of slotted laminations that are supported in a stator frame of cast iron or fabricated steel plate. </a:t>
            </a:r>
            <a:endParaRPr lang="en-GB" sz="2300" dirty="0"/>
          </a:p>
          <a:p>
            <a:pPr algn="just"/>
            <a:r>
              <a:rPr lang="en-US" sz="2300" b="1" dirty="0"/>
              <a:t>Laminations</a:t>
            </a:r>
            <a:r>
              <a:rPr lang="en-US" sz="2300" dirty="0"/>
              <a:t> are used rather than a solid core, to </a:t>
            </a:r>
            <a:r>
              <a:rPr lang="en-US" sz="2300" b="1" dirty="0"/>
              <a:t>minimize the eddy current losses </a:t>
            </a:r>
            <a:r>
              <a:rPr lang="en-US" sz="2300" dirty="0"/>
              <a:t>associated with AC magnetic circuits.  </a:t>
            </a:r>
          </a:p>
          <a:p>
            <a:pPr algn="just"/>
            <a:r>
              <a:rPr lang="en-GB" sz="2300" dirty="0"/>
              <a:t>The poly-phase induction motor falls into two general categories, depending on the kind of rotor used: </a:t>
            </a:r>
          </a:p>
          <a:p>
            <a:pPr lvl="1" algn="just">
              <a:buNone/>
            </a:pPr>
            <a:r>
              <a:rPr lang="en-GB" sz="2000" dirty="0"/>
              <a:t>	</a:t>
            </a:r>
            <a:r>
              <a:rPr lang="en-GB" sz="2200" dirty="0"/>
              <a:t>a)</a:t>
            </a:r>
            <a:r>
              <a:rPr lang="en-GB" sz="2200" b="1" dirty="0">
                <a:solidFill>
                  <a:srgbClr val="00B050"/>
                </a:solidFill>
              </a:rPr>
              <a:t>squirrel-cage rotor </a:t>
            </a:r>
          </a:p>
          <a:p>
            <a:pPr lvl="1" algn="just">
              <a:buNone/>
            </a:pPr>
            <a:r>
              <a:rPr lang="en-GB" sz="2200" dirty="0"/>
              <a:t>	b)</a:t>
            </a:r>
            <a:r>
              <a:rPr lang="en-GB" sz="2200" b="1" dirty="0">
                <a:solidFill>
                  <a:srgbClr val="0070C0"/>
                </a:solidFill>
              </a:rPr>
              <a:t>the wound-rotor</a:t>
            </a:r>
            <a:r>
              <a:rPr lang="en-GB" sz="2000" dirty="0"/>
              <a:t>.  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3.3:	Constructional features of 3-phase induction motors (2)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68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81964"/>
            <a:ext cx="10515599" cy="4547432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rotor of a squirrel-cage induction motor is also laminated and slotted to contain the rotor windings.  </a:t>
            </a:r>
          </a:p>
          <a:p>
            <a:pPr algn="just"/>
            <a:r>
              <a:rPr lang="en-GB" sz="2300" dirty="0"/>
              <a:t>At each end of the rotor, the </a:t>
            </a:r>
            <a:r>
              <a:rPr lang="en-GB" sz="2300" b="1" dirty="0"/>
              <a:t>rotor conductors</a:t>
            </a:r>
            <a:r>
              <a:rPr lang="en-GB" sz="2300" dirty="0"/>
              <a:t> are all </a:t>
            </a:r>
            <a:r>
              <a:rPr lang="en-GB" sz="2300" b="1" dirty="0"/>
              <a:t>short-circuited</a:t>
            </a:r>
            <a:r>
              <a:rPr lang="en-GB" sz="2300" dirty="0"/>
              <a:t> by continuous end rings. </a:t>
            </a:r>
          </a:p>
          <a:p>
            <a:pPr algn="just"/>
            <a:r>
              <a:rPr lang="en-GB" sz="2300" dirty="0"/>
              <a:t>In the larger motors, </a:t>
            </a:r>
            <a:r>
              <a:rPr lang="en-GB" sz="2300" b="1" dirty="0"/>
              <a:t>the rotor bars</a:t>
            </a:r>
            <a:r>
              <a:rPr lang="en-GB" sz="2300" dirty="0"/>
              <a:t>, instead of being cast, are wedged into the rotor slots and are then </a:t>
            </a:r>
            <a:r>
              <a:rPr lang="en-GB" sz="2300" b="1" dirty="0"/>
              <a:t>welded securely to the end rings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3.3.1:	</a:t>
            </a:r>
            <a:r>
              <a:rPr lang="en-US" sz="3000" b="1" dirty="0">
                <a:solidFill>
                  <a:srgbClr val="C00000"/>
                </a:solidFill>
              </a:rPr>
              <a:t>Squirrel cage </a:t>
            </a:r>
            <a:r>
              <a:rPr lang="en-US" sz="3000" b="1" dirty="0"/>
              <a:t>induction motors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7FB0A-E86F-4B5E-A69A-AF1DC8A5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570" y="4119320"/>
            <a:ext cx="5612536" cy="22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6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81964"/>
            <a:ext cx="10515599" cy="4547432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Squirrel-cage rotor bars are not always placed parallel to the motor shaft but are sometimes skewed. </a:t>
            </a:r>
          </a:p>
          <a:p>
            <a:pPr algn="just"/>
            <a:r>
              <a:rPr lang="en-GB" sz="2300" dirty="0"/>
              <a:t>This results in a </a:t>
            </a:r>
            <a:r>
              <a:rPr lang="en-GB" sz="2300" b="1" dirty="0"/>
              <a:t>more uniform torque </a:t>
            </a:r>
            <a:r>
              <a:rPr lang="en-GB" sz="2300" dirty="0"/>
              <a:t>and also </a:t>
            </a:r>
            <a:r>
              <a:rPr lang="en-GB" sz="2300" b="1" dirty="0"/>
              <a:t>reduces the magnetic humming noise when the motor is running</a:t>
            </a:r>
            <a:r>
              <a:rPr lang="en-GB" sz="2300" dirty="0"/>
              <a:t>.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3.3.1:	</a:t>
            </a:r>
            <a:r>
              <a:rPr lang="en-US" sz="3000" b="1" dirty="0">
                <a:solidFill>
                  <a:srgbClr val="C00000"/>
                </a:solidFill>
              </a:rPr>
              <a:t>Squirrel cage </a:t>
            </a:r>
            <a:r>
              <a:rPr lang="en-US" sz="3000" b="1" dirty="0"/>
              <a:t>induction motors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7FB0A-E86F-4B5E-A69A-AF1DC8A5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570" y="3300612"/>
            <a:ext cx="5612536" cy="22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75637"/>
            <a:ext cx="10515599" cy="4848447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wound-rotor or slip-ring motor </a:t>
            </a:r>
            <a:r>
              <a:rPr lang="en-GB" sz="2300" dirty="0"/>
              <a:t>has a three-phase </a:t>
            </a:r>
            <a:r>
              <a:rPr lang="en-GB" sz="2300" b="1" dirty="0"/>
              <a:t>stator winding similar to that of the squirrel-cage motor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wound-rotor motors differ from the squirrel-cage motor </a:t>
            </a:r>
            <a:r>
              <a:rPr lang="en-GB" sz="2300" b="1" u="sng" dirty="0"/>
              <a:t>in the rotor construction</a:t>
            </a:r>
            <a:r>
              <a:rPr lang="en-GB" sz="2300" dirty="0"/>
              <a:t>.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>
                <a:solidFill>
                  <a:srgbClr val="0070C0"/>
                </a:solidFill>
              </a:rPr>
              <a:t>rotor phase windings are star-connected </a:t>
            </a:r>
            <a:r>
              <a:rPr lang="en-GB" sz="2300" dirty="0"/>
              <a:t>and terminate in </a:t>
            </a:r>
            <a:r>
              <a:rPr lang="en-GB" sz="2300" b="1" dirty="0"/>
              <a:t>slip-rings</a:t>
            </a:r>
            <a:r>
              <a:rPr lang="en-GB" sz="2300" dirty="0"/>
              <a:t> mounted on the rotor shaft.  </a:t>
            </a:r>
          </a:p>
          <a:p>
            <a:pPr algn="just"/>
            <a:r>
              <a:rPr lang="en-US" sz="2300" dirty="0"/>
              <a:t>Wound-rotor induction motors are thus called </a:t>
            </a:r>
            <a:r>
              <a:rPr lang="en-US" sz="2300" b="1" dirty="0"/>
              <a:t>slip-ring motors</a:t>
            </a:r>
            <a:r>
              <a:rPr lang="en-US" sz="2300" dirty="0"/>
              <a:t>. </a:t>
            </a:r>
            <a:endParaRPr lang="en-GB" sz="2300" dirty="0"/>
          </a:p>
          <a:p>
            <a:pPr algn="just"/>
            <a:r>
              <a:rPr lang="en-GB" sz="2300" dirty="0"/>
              <a:t>The rotor winding is not connected to a supply, </a:t>
            </a:r>
            <a:r>
              <a:rPr lang="en-GB" sz="2300" b="1" dirty="0"/>
              <a:t>the slip rings and brushes merely providing a means of connecting an </a:t>
            </a:r>
            <a:r>
              <a:rPr lang="en-GB" sz="2300" b="1" u="sng" dirty="0"/>
              <a:t>external variable-speed-control resistance</a:t>
            </a:r>
            <a:r>
              <a:rPr lang="en-GB" sz="2300" b="1" dirty="0"/>
              <a:t> </a:t>
            </a:r>
            <a:r>
              <a:rPr lang="en-GB" sz="2300" dirty="0"/>
              <a:t>into the rotor circuit, </a:t>
            </a:r>
            <a:r>
              <a:rPr lang="en-GB" sz="2300" b="1" u="sng" dirty="0"/>
              <a:t>particularly for starting</a:t>
            </a:r>
            <a:r>
              <a:rPr lang="en-GB" sz="2300" dirty="0"/>
              <a:t>.</a:t>
            </a:r>
          </a:p>
          <a:p>
            <a:pPr algn="just"/>
            <a:r>
              <a:rPr lang="en-GB" sz="2300" dirty="0"/>
              <a:t>During </a:t>
            </a:r>
            <a:r>
              <a:rPr lang="en-GB" sz="2300" b="1" dirty="0"/>
              <a:t>normal running, the slip rings are short-circuited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Thus the </a:t>
            </a:r>
            <a:r>
              <a:rPr lang="en-GB" sz="2300" b="1" u="sng" dirty="0"/>
              <a:t>principle of operation is the same for both squirrel-cage and wound-rotor</a:t>
            </a:r>
            <a:r>
              <a:rPr lang="en-GB" sz="2300" dirty="0"/>
              <a:t> types of induction machine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3.3.2:	</a:t>
            </a:r>
            <a:r>
              <a:rPr lang="en-US" sz="3000" b="1" dirty="0">
                <a:solidFill>
                  <a:srgbClr val="0070C0"/>
                </a:solidFill>
              </a:rPr>
              <a:t>Wound-rotor</a:t>
            </a:r>
            <a:r>
              <a:rPr lang="en-US" sz="3000" b="1" dirty="0">
                <a:solidFill>
                  <a:srgbClr val="C00000"/>
                </a:solidFill>
              </a:rPr>
              <a:t> </a:t>
            </a:r>
            <a:r>
              <a:rPr lang="en-US" sz="3000" b="1" dirty="0">
                <a:solidFill>
                  <a:srgbClr val="0070C0"/>
                </a:solidFill>
              </a:rPr>
              <a:t>(or slip ring) </a:t>
            </a:r>
            <a:r>
              <a:rPr lang="en-US" sz="3000" b="1" dirty="0"/>
              <a:t>induction motors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135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7" y="1690688"/>
            <a:ext cx="11100391" cy="4880234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When the stator winding is energized from a three-phase supply, </a:t>
            </a:r>
            <a:r>
              <a:rPr lang="en-US" sz="2400" b="1" dirty="0"/>
              <a:t>a rotating magnetic field </a:t>
            </a:r>
            <a:r>
              <a:rPr lang="en-US" sz="2400" dirty="0"/>
              <a:t>is established which </a:t>
            </a:r>
            <a:r>
              <a:rPr lang="en-US" sz="2400" b="1" dirty="0"/>
              <a:t>rotates at synchronous speed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As the </a:t>
            </a:r>
            <a:r>
              <a:rPr lang="en-US" sz="2400" b="1" dirty="0"/>
              <a:t>rotating field sweeps across the shorted rotor conductors</a:t>
            </a:r>
            <a:r>
              <a:rPr lang="en-US" sz="2400" dirty="0"/>
              <a:t>, an </a:t>
            </a:r>
            <a:r>
              <a:rPr lang="en-US" sz="2400" b="1" dirty="0" err="1"/>
              <a:t>emf</a:t>
            </a:r>
            <a:r>
              <a:rPr lang="en-US" sz="2400" b="1" dirty="0"/>
              <a:t> is induced in these rotor conductors</a:t>
            </a:r>
            <a:r>
              <a:rPr lang="en-US" sz="2400" dirty="0"/>
              <a:t> , and </a:t>
            </a:r>
            <a:r>
              <a:rPr lang="en-US" sz="2400" b="1" dirty="0"/>
              <a:t>current flows</a:t>
            </a:r>
            <a:r>
              <a:rPr lang="en-US" sz="2400" dirty="0"/>
              <a:t> in the shorted rotor windings, and thus flux is produced in the rotor windings.</a:t>
            </a:r>
            <a:endParaRPr lang="en-GB" sz="2400" dirty="0"/>
          </a:p>
          <a:p>
            <a:pPr algn="just"/>
            <a:r>
              <a:rPr lang="en-US" sz="2400" dirty="0"/>
              <a:t>The </a:t>
            </a:r>
            <a:r>
              <a:rPr lang="en-US" sz="2400" b="1" dirty="0"/>
              <a:t>induced flux in the rotor </a:t>
            </a:r>
            <a:r>
              <a:rPr lang="en-US" sz="2400" b="1" dirty="0">
                <a:solidFill>
                  <a:srgbClr val="0070C0"/>
                </a:solidFill>
              </a:rPr>
              <a:t>interacts</a:t>
            </a:r>
            <a:r>
              <a:rPr lang="en-US" sz="2400" dirty="0"/>
              <a:t> with  the </a:t>
            </a:r>
            <a:r>
              <a:rPr lang="en-US" sz="2400" b="1" dirty="0"/>
              <a:t>inducing stator magnetic field , </a:t>
            </a:r>
            <a:r>
              <a:rPr lang="en-US" sz="2400" dirty="0"/>
              <a:t>and </a:t>
            </a:r>
            <a:r>
              <a:rPr lang="en-US" sz="2400" b="1" dirty="0"/>
              <a:t>thus force and hence torque is exerted upon the rotor</a:t>
            </a:r>
            <a:r>
              <a:rPr lang="en-US" sz="2400" dirty="0"/>
              <a:t>.</a:t>
            </a:r>
            <a:endParaRPr lang="en-GB" sz="2400" dirty="0"/>
          </a:p>
          <a:p>
            <a:pPr algn="just"/>
            <a:r>
              <a:rPr lang="en-US" sz="2400" dirty="0"/>
              <a:t>There is no electrical connection between the stator and the rotor. </a:t>
            </a:r>
            <a:r>
              <a:rPr lang="en-US" sz="2400" b="1" dirty="0"/>
              <a:t>The motor action is </a:t>
            </a:r>
            <a:r>
              <a:rPr lang="en-US" sz="2400" b="1" u="sng" dirty="0"/>
              <a:t>due to rotor induced voltages</a:t>
            </a:r>
            <a:r>
              <a:rPr lang="en-US" sz="2400" dirty="0"/>
              <a:t>, and so the </a:t>
            </a:r>
            <a:r>
              <a:rPr lang="en-US" sz="2400" b="1" dirty="0">
                <a:solidFill>
                  <a:srgbClr val="0070C0"/>
                </a:solidFill>
              </a:rPr>
              <a:t>motor is often referred to as induction motor</a:t>
            </a:r>
            <a:r>
              <a:rPr lang="en-US" sz="2400" dirty="0"/>
              <a:t>.   </a:t>
            </a:r>
            <a:endParaRPr lang="en-GB" sz="2400" dirty="0"/>
          </a:p>
          <a:p>
            <a:pPr algn="just"/>
            <a:r>
              <a:rPr lang="en-US" sz="2300" dirty="0"/>
              <a:t>If the developed torque is great enough to overcome the resisting torque of the load, the motor will accelerate. </a:t>
            </a:r>
          </a:p>
          <a:p>
            <a:endParaRPr lang="en-US" sz="24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3.4:	Principle of operation of 3-phase induction motors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0179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7" y="1690688"/>
            <a:ext cx="11100391" cy="4880234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An </a:t>
            </a:r>
            <a:r>
              <a:rPr lang="en-US" sz="2300" b="1" dirty="0"/>
              <a:t>induction motor </a:t>
            </a:r>
            <a:r>
              <a:rPr lang="en-US" sz="2300" b="1" u="sng" dirty="0"/>
              <a:t>cannot</a:t>
            </a:r>
            <a:r>
              <a:rPr lang="en-US" sz="2300" b="1" dirty="0"/>
              <a:t> run at </a:t>
            </a:r>
            <a:r>
              <a:rPr lang="en-US" sz="2300" b="1" dirty="0">
                <a:solidFill>
                  <a:srgbClr val="0070C0"/>
                </a:solidFill>
              </a:rPr>
              <a:t>synchronous speed</a:t>
            </a:r>
            <a:r>
              <a:rPr lang="en-US" sz="2300" dirty="0"/>
              <a:t>, that is, </a:t>
            </a:r>
            <a:r>
              <a:rPr lang="en-US" sz="2300" b="1" dirty="0">
                <a:solidFill>
                  <a:srgbClr val="0070C0"/>
                </a:solidFill>
              </a:rPr>
              <a:t>the speed at which the stator magnetic field rotates</a:t>
            </a:r>
            <a:r>
              <a:rPr lang="en-US" sz="2300" dirty="0"/>
              <a:t>. </a:t>
            </a:r>
          </a:p>
          <a:p>
            <a:pPr algn="just"/>
            <a:r>
              <a:rPr lang="en-US" sz="2300" b="1" dirty="0"/>
              <a:t>If it were</a:t>
            </a:r>
            <a:r>
              <a:rPr lang="en-US" sz="2300" dirty="0"/>
              <a:t>, there would be </a:t>
            </a:r>
            <a:r>
              <a:rPr lang="en-US" sz="2300" b="1" dirty="0"/>
              <a:t>no relative movement between the rotor conductors and the field</a:t>
            </a:r>
            <a:r>
              <a:rPr lang="en-US" sz="2300" dirty="0"/>
              <a:t>, and </a:t>
            </a:r>
            <a:r>
              <a:rPr lang="en-US" sz="2300" b="1" dirty="0"/>
              <a:t>hence no </a:t>
            </a:r>
            <a:r>
              <a:rPr lang="en-US" sz="2300" b="1" dirty="0" err="1"/>
              <a:t>emf</a:t>
            </a:r>
            <a:r>
              <a:rPr lang="en-US" sz="2300" b="1" dirty="0"/>
              <a:t> </a:t>
            </a:r>
            <a:r>
              <a:rPr lang="en-US" sz="2300" dirty="0"/>
              <a:t>would be induced in the rotor winding, </a:t>
            </a:r>
            <a:r>
              <a:rPr lang="en-US" sz="2300" b="1" dirty="0"/>
              <a:t>no rotor current would flow </a:t>
            </a:r>
            <a:r>
              <a:rPr lang="en-US" sz="2300" dirty="0"/>
              <a:t>and </a:t>
            </a:r>
            <a:r>
              <a:rPr lang="en-US" sz="2300" b="1" dirty="0"/>
              <a:t>therefore there would be no torque developed</a:t>
            </a:r>
            <a:r>
              <a:rPr lang="en-US" sz="2300" dirty="0"/>
              <a:t>. </a:t>
            </a:r>
          </a:p>
          <a:p>
            <a:pPr algn="just"/>
            <a:r>
              <a:rPr lang="en-US" sz="2300" dirty="0"/>
              <a:t>As such, </a:t>
            </a:r>
            <a:r>
              <a:rPr lang="en-US" sz="2300" b="1" dirty="0"/>
              <a:t>the rotor speed even at no-load must be slightly less than synchronous speed</a:t>
            </a:r>
            <a:r>
              <a:rPr lang="en-US" sz="2300" dirty="0"/>
              <a:t> in order that current may be induced in the rotor, thereby producing a torque. </a:t>
            </a:r>
            <a:endParaRPr lang="en-GB" sz="2300" dirty="0"/>
          </a:p>
          <a:p>
            <a:pPr algn="just"/>
            <a:r>
              <a:rPr lang="en-US" sz="2300" dirty="0"/>
              <a:t>This </a:t>
            </a:r>
            <a:r>
              <a:rPr lang="en-US" sz="2300" b="1" dirty="0"/>
              <a:t>difference between the actual rotor speed and the synchronous speed </a:t>
            </a:r>
            <a:r>
              <a:rPr lang="en-US" sz="2300" dirty="0"/>
              <a:t>is called the </a:t>
            </a:r>
            <a:r>
              <a:rPr lang="en-US" sz="2300" b="1" dirty="0"/>
              <a:t>slip</a:t>
            </a:r>
            <a:r>
              <a:rPr lang="en-US" sz="2300" dirty="0"/>
              <a:t> of the motor, and is of the order of 5% of the synchronous speed of standard motors at full-load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3.5:	Speed and slip of 3-phase induction motors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61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7" y="1690688"/>
            <a:ext cx="11100391" cy="4880234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Thus:</a:t>
            </a:r>
          </a:p>
          <a:p>
            <a:pPr algn="just"/>
            <a:endParaRPr lang="en-GB" sz="2300" dirty="0"/>
          </a:p>
          <a:p>
            <a:pPr algn="just"/>
            <a:r>
              <a:rPr lang="en-US" sz="2300" dirty="0"/>
              <a:t>The </a:t>
            </a:r>
            <a:r>
              <a:rPr lang="en-US" sz="2300" b="1" dirty="0"/>
              <a:t>slip</a:t>
            </a:r>
            <a:r>
              <a:rPr lang="en-US" sz="2300" dirty="0"/>
              <a:t> is more </a:t>
            </a:r>
            <a:r>
              <a:rPr lang="en-US" sz="2300" b="1" dirty="0"/>
              <a:t>commonly expressed as percent of the synchronous speed</a:t>
            </a:r>
            <a:r>
              <a:rPr lang="en-US" sz="2300" dirty="0"/>
              <a:t>.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The per unit or percent slip is calculated as follows: </a:t>
            </a:r>
            <a:endParaRPr lang="en-GB" sz="2300" dirty="0"/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3.5:	Speed and slip of 3-phase induction motors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F80F9-A015-4851-8FF3-1BEBF2981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00" y="1802940"/>
            <a:ext cx="6257161" cy="445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4CDBA-7C04-41E7-8523-C27580556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234" y="3871120"/>
            <a:ext cx="7288561" cy="14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28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809" y="1828800"/>
            <a:ext cx="10760149" cy="4743472"/>
          </a:xfrm>
        </p:spPr>
        <p:txBody>
          <a:bodyPr>
            <a:normAutofit/>
          </a:bodyPr>
          <a:lstStyle/>
          <a:p>
            <a:pPr algn="just"/>
            <a:r>
              <a:rPr lang="en-US" sz="2300" dirty="0"/>
              <a:t>A 4-pole 50 Hz squirrel-cage motor has full-load speed of 1440 rpm. What is the percent slip at full-load? 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b="1" u="sng" dirty="0"/>
              <a:t>SOLUTION 3.1</a:t>
            </a:r>
            <a:r>
              <a:rPr lang="en-US" sz="2300" dirty="0"/>
              <a:t>:</a:t>
            </a:r>
          </a:p>
          <a:p>
            <a:pPr algn="just"/>
            <a:r>
              <a:rPr lang="en-US" sz="2300" dirty="0"/>
              <a:t>The synchronous speed is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The slip (in rpm): 	</a:t>
            </a:r>
            <a:endParaRPr lang="en-US" sz="2300" i="1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slip (in %): 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3.6: Example 1 &amp; Solution 3.1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1392A-DBFE-444C-97A6-B140FB5A7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175" y="3267495"/>
            <a:ext cx="3618495" cy="64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F43B47-8BF7-413B-BFE1-CB3FAC9B2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083" y="4242214"/>
            <a:ext cx="3291885" cy="393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2FBE1-06B9-43D6-BCEB-A6F75A735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669" y="4928109"/>
            <a:ext cx="2776185" cy="7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51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2554315"/>
            <a:ext cx="6858000" cy="935408"/>
          </a:xfrm>
        </p:spPr>
        <p:txBody>
          <a:bodyPr/>
          <a:lstStyle/>
          <a:p>
            <a:r>
              <a:rPr lang="en-GB" dirty="0"/>
              <a:t>Thank You – </a:t>
            </a:r>
            <a:r>
              <a:rPr lang="en-GB" b="1" dirty="0"/>
              <a:t>End of Unit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477055"/>
            <a:ext cx="6858000" cy="1228751"/>
          </a:xfrm>
        </p:spPr>
        <p:txBody>
          <a:bodyPr>
            <a:normAutofit fontScale="85000" lnSpcReduction="20000"/>
          </a:bodyPr>
          <a:lstStyle/>
          <a:p>
            <a:r>
              <a:rPr lang="en-GB" sz="2100" dirty="0"/>
              <a:t>For any concerns, please contact</a:t>
            </a:r>
          </a:p>
          <a:p>
            <a:r>
              <a:rPr lang="en-GB" sz="2100" b="1" dirty="0"/>
              <a:t>elearning@knust.edu.gh</a:t>
            </a:r>
          </a:p>
          <a:p>
            <a:r>
              <a:rPr lang="en-GB" sz="2100" b="1" dirty="0"/>
              <a:t>elearningknust@gmail.com </a:t>
            </a:r>
          </a:p>
          <a:p>
            <a:r>
              <a:rPr lang="en-GB" sz="2100" b="1" dirty="0"/>
              <a:t>0322 191132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95318" y="5705805"/>
            <a:ext cx="932864" cy="273844"/>
          </a:xfrm>
        </p:spPr>
        <p:txBody>
          <a:bodyPr/>
          <a:lstStyle/>
          <a:p>
            <a:r>
              <a:rPr lang="en-GB" sz="1050" b="1" dirty="0">
                <a:solidFill>
                  <a:prstClr val="white"/>
                </a:solidFill>
                <a:latin typeface="Century Gothic" panose="020B0502020202020204" pitchFamily="34" charset="0"/>
              </a:rPr>
              <a:t>Jan 2014</a:t>
            </a:r>
          </a:p>
        </p:txBody>
      </p:sp>
    </p:spTree>
    <p:extLst>
      <p:ext uri="{BB962C8B-B14F-4D97-AF65-F5344CB8AC3E}">
        <p14:creationId xmlns:p14="http://schemas.microsoft.com/office/powerpoint/2010/main" val="38757710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1491</Words>
  <Application>Microsoft Office PowerPoint</Application>
  <PresentationFormat>Widescreen</PresentationFormat>
  <Paragraphs>112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Futura Md BT</vt:lpstr>
      <vt:lpstr>1_Office Theme</vt:lpstr>
      <vt:lpstr>Office Theme</vt:lpstr>
      <vt:lpstr>EE 252</vt:lpstr>
      <vt:lpstr>Unit 3 – Outline of Presentation</vt:lpstr>
      <vt:lpstr> 3.1: Introduction </vt:lpstr>
      <vt:lpstr> 3.1: Introduction (2) </vt:lpstr>
      <vt:lpstr> 3.1: Introduction (3) </vt:lpstr>
      <vt:lpstr> 3.2: Types of 3-phase motors by construction </vt:lpstr>
      <vt:lpstr> 3.3: Constructional features of 3-phase induction motors </vt:lpstr>
      <vt:lpstr> 3.3: Constructional features of 3-phase induction motors (2) </vt:lpstr>
      <vt:lpstr> 3.3.1: Squirrel cage induction motors </vt:lpstr>
      <vt:lpstr> 3.3.1: Squirrel cage induction motors (2) </vt:lpstr>
      <vt:lpstr> 3.3.2: Wound-rotor (or slip ring) induction motors </vt:lpstr>
      <vt:lpstr> 3.4: Principle of operation of 3-phase induction motors </vt:lpstr>
      <vt:lpstr> 3.5: Speed and slip of 3-phase induction motors </vt:lpstr>
      <vt:lpstr> 3.5: Speed and slip of 3-phase induction motors (2) </vt:lpstr>
      <vt:lpstr>3.6: Example 1 &amp; Solution 3.1</vt:lpstr>
      <vt:lpstr>Thank You – End of Unit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 352</dc:title>
  <dc:creator>ELEARNING STUDIO 4</dc:creator>
  <cp:lastModifiedBy>user</cp:lastModifiedBy>
  <cp:revision>100</cp:revision>
  <dcterms:created xsi:type="dcterms:W3CDTF">2015-09-23T01:18:34Z</dcterms:created>
  <dcterms:modified xsi:type="dcterms:W3CDTF">2022-07-15T17:05:46Z</dcterms:modified>
</cp:coreProperties>
</file>