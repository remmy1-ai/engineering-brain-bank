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56" r:id="rId2"/>
    <p:sldId id="257" r:id="rId3"/>
    <p:sldId id="258" r:id="rId4"/>
    <p:sldId id="259" r:id="rId5"/>
    <p:sldId id="308" r:id="rId6"/>
    <p:sldId id="355" r:id="rId7"/>
    <p:sldId id="260" r:id="rId8"/>
    <p:sldId id="356" r:id="rId9"/>
    <p:sldId id="261" r:id="rId10"/>
    <p:sldId id="263" r:id="rId11"/>
    <p:sldId id="357" r:id="rId12"/>
    <p:sldId id="262" r:id="rId13"/>
    <p:sldId id="358" r:id="rId14"/>
    <p:sldId id="265" r:id="rId15"/>
    <p:sldId id="359" r:id="rId16"/>
    <p:sldId id="360" r:id="rId17"/>
    <p:sldId id="264" r:id="rId18"/>
    <p:sldId id="266" r:id="rId19"/>
    <p:sldId id="361" r:id="rId20"/>
    <p:sldId id="362" r:id="rId21"/>
    <p:sldId id="363" r:id="rId22"/>
    <p:sldId id="267" r:id="rId23"/>
    <p:sldId id="364" r:id="rId24"/>
    <p:sldId id="312" r:id="rId25"/>
    <p:sldId id="365" r:id="rId26"/>
    <p:sldId id="313" r:id="rId27"/>
    <p:sldId id="366" r:id="rId28"/>
    <p:sldId id="314" r:id="rId29"/>
    <p:sldId id="367" r:id="rId30"/>
    <p:sldId id="268" r:id="rId31"/>
    <p:sldId id="368" r:id="rId32"/>
    <p:sldId id="369" r:id="rId33"/>
    <p:sldId id="370" r:id="rId34"/>
    <p:sldId id="371" r:id="rId35"/>
    <p:sldId id="372" r:id="rId36"/>
    <p:sldId id="373" r:id="rId37"/>
    <p:sldId id="270" r:id="rId38"/>
    <p:sldId id="271" r:id="rId39"/>
    <p:sldId id="272" r:id="rId40"/>
    <p:sldId id="273" r:id="rId41"/>
    <p:sldId id="274" r:id="rId42"/>
    <p:sldId id="374" r:id="rId43"/>
    <p:sldId id="275" r:id="rId44"/>
    <p:sldId id="375" r:id="rId45"/>
    <p:sldId id="276" r:id="rId46"/>
    <p:sldId id="277" r:id="rId47"/>
    <p:sldId id="278" r:id="rId48"/>
    <p:sldId id="279" r:id="rId49"/>
    <p:sldId id="376" r:id="rId50"/>
    <p:sldId id="280" r:id="rId51"/>
    <p:sldId id="281" r:id="rId52"/>
    <p:sldId id="377" r:id="rId53"/>
    <p:sldId id="282" r:id="rId54"/>
    <p:sldId id="378" r:id="rId55"/>
    <p:sldId id="283" r:id="rId56"/>
    <p:sldId id="284" r:id="rId57"/>
    <p:sldId id="379" r:id="rId58"/>
    <p:sldId id="285" r:id="rId59"/>
    <p:sldId id="286" r:id="rId60"/>
    <p:sldId id="381" r:id="rId61"/>
    <p:sldId id="382" r:id="rId62"/>
    <p:sldId id="383" r:id="rId63"/>
    <p:sldId id="287" r:id="rId64"/>
    <p:sldId id="384" r:id="rId65"/>
    <p:sldId id="385" r:id="rId66"/>
    <p:sldId id="386" r:id="rId67"/>
    <p:sldId id="348" r:id="rId68"/>
    <p:sldId id="349" r:id="rId69"/>
    <p:sldId id="387" r:id="rId70"/>
    <p:sldId id="289" r:id="rId71"/>
    <p:sldId id="290" r:id="rId72"/>
    <p:sldId id="351" r:id="rId73"/>
    <p:sldId id="388" r:id="rId74"/>
    <p:sldId id="390" r:id="rId75"/>
    <p:sldId id="353" r:id="rId76"/>
    <p:sldId id="391" r:id="rId77"/>
    <p:sldId id="392" r:id="rId78"/>
    <p:sldId id="292" r:id="rId79"/>
    <p:sldId id="393" r:id="rId80"/>
    <p:sldId id="293" r:id="rId81"/>
    <p:sldId id="394" r:id="rId82"/>
    <p:sldId id="395" r:id="rId83"/>
    <p:sldId id="294" r:id="rId84"/>
    <p:sldId id="396" r:id="rId85"/>
    <p:sldId id="296" r:id="rId86"/>
    <p:sldId id="297" r:id="rId87"/>
    <p:sldId id="397" r:id="rId88"/>
    <p:sldId id="298" r:id="rId89"/>
    <p:sldId id="398" r:id="rId90"/>
    <p:sldId id="299" r:id="rId91"/>
    <p:sldId id="399" r:id="rId92"/>
    <p:sldId id="300" r:id="rId93"/>
    <p:sldId id="301" r:id="rId94"/>
    <p:sldId id="302" r:id="rId95"/>
    <p:sldId id="303" r:id="rId96"/>
    <p:sldId id="304" r:id="rId97"/>
    <p:sldId id="400" r:id="rId98"/>
    <p:sldId id="305" r:id="rId99"/>
    <p:sldId id="401" r:id="rId100"/>
    <p:sldId id="306" r:id="rId101"/>
    <p:sldId id="307" r:id="rId102"/>
    <p:sldId id="402" r:id="rId103"/>
    <p:sldId id="309" r:id="rId104"/>
    <p:sldId id="403" r:id="rId105"/>
    <p:sldId id="404" r:id="rId106"/>
    <p:sldId id="405" r:id="rId107"/>
    <p:sldId id="406" r:id="rId108"/>
    <p:sldId id="407" r:id="rId10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030" autoAdjust="0"/>
    <p:restoredTop sz="94660"/>
  </p:normalViewPr>
  <p:slideViewPr>
    <p:cSldViewPr snapToGrid="0">
      <p:cViewPr varScale="1">
        <p:scale>
          <a:sx n="78" d="100"/>
          <a:sy n="78" d="100"/>
        </p:scale>
        <p:origin x="101" y="39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theme" Target="theme/theme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tableStyles" Target="tableStyle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presProps" Target="pres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926E69E6-D383-48B3-8382-1C1CC1056070}" type="datetimeFigureOut">
              <a:rPr lang="en-GB" smtClean="0"/>
              <a:t>03/02/2023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E977040-5C8D-48EF-B505-3C33E111CE67}" type="slidenum">
              <a:rPr lang="en-GB" smtClean="0"/>
              <a:t>‹#›</a:t>
            </a:fld>
            <a:endParaRPr lang="en-GB"/>
          </a:p>
        </p:txBody>
      </p:sp>
    </p:spTree>
    <p:extLst>
      <p:ext uri="{BB962C8B-B14F-4D97-AF65-F5344CB8AC3E}">
        <p14:creationId xmlns:p14="http://schemas.microsoft.com/office/powerpoint/2010/main" val="41054002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26E69E6-D383-48B3-8382-1C1CC1056070}" type="datetimeFigureOut">
              <a:rPr lang="en-GB" smtClean="0"/>
              <a:t>03/02/2023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E977040-5C8D-48EF-B505-3C33E111CE67}" type="slidenum">
              <a:rPr lang="en-GB" smtClean="0"/>
              <a:t>‹#›</a:t>
            </a:fld>
            <a:endParaRPr lang="en-GB"/>
          </a:p>
        </p:txBody>
      </p:sp>
    </p:spTree>
    <p:extLst>
      <p:ext uri="{BB962C8B-B14F-4D97-AF65-F5344CB8AC3E}">
        <p14:creationId xmlns:p14="http://schemas.microsoft.com/office/powerpoint/2010/main" val="18357472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926E69E6-D383-48B3-8382-1C1CC1056070}" type="datetimeFigureOut">
              <a:rPr lang="en-GB" smtClean="0"/>
              <a:t>03/02/2023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E977040-5C8D-48EF-B505-3C33E111CE67}" type="slidenum">
              <a:rPr lang="en-GB" smtClean="0"/>
              <a:t>‹#›</a:t>
            </a:fld>
            <a:endParaRPr lang="en-GB"/>
          </a:p>
        </p:txBody>
      </p:sp>
    </p:spTree>
    <p:extLst>
      <p:ext uri="{BB962C8B-B14F-4D97-AF65-F5344CB8AC3E}">
        <p14:creationId xmlns:p14="http://schemas.microsoft.com/office/powerpoint/2010/main" val="1932485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926E69E6-D383-48B3-8382-1C1CC1056070}" type="datetimeFigureOut">
              <a:rPr lang="en-GB" smtClean="0"/>
              <a:t>03/02/2023</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4E977040-5C8D-48EF-B505-3C33E111CE67}" type="slidenum">
              <a:rPr lang="en-GB" smtClean="0"/>
              <a:t>‹#›</a:t>
            </a:fld>
            <a:endParaRPr lang="en-GB"/>
          </a:p>
        </p:txBody>
      </p:sp>
    </p:spTree>
    <p:extLst>
      <p:ext uri="{BB962C8B-B14F-4D97-AF65-F5344CB8AC3E}">
        <p14:creationId xmlns:p14="http://schemas.microsoft.com/office/powerpoint/2010/main" val="14884783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926E69E6-D383-48B3-8382-1C1CC1056070}" type="datetimeFigureOut">
              <a:rPr lang="en-GB" smtClean="0"/>
              <a:t>03/02/2023</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4E977040-5C8D-48EF-B505-3C33E111CE67}" type="slidenum">
              <a:rPr lang="en-GB" smtClean="0"/>
              <a:t>‹#›</a:t>
            </a:fld>
            <a:endParaRPr lang="en-GB"/>
          </a:p>
        </p:txBody>
      </p:sp>
    </p:spTree>
    <p:extLst>
      <p:ext uri="{BB962C8B-B14F-4D97-AF65-F5344CB8AC3E}">
        <p14:creationId xmlns:p14="http://schemas.microsoft.com/office/powerpoint/2010/main" val="11794388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926E69E6-D383-48B3-8382-1C1CC1056070}" type="datetimeFigureOut">
              <a:rPr lang="en-GB" smtClean="0"/>
              <a:t>03/02/2023</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4E977040-5C8D-48EF-B505-3C33E111CE67}" type="slidenum">
              <a:rPr lang="en-GB" smtClean="0"/>
              <a:t>‹#›</a:t>
            </a:fld>
            <a:endParaRPr lang="en-GB"/>
          </a:p>
        </p:txBody>
      </p:sp>
    </p:spTree>
    <p:extLst>
      <p:ext uri="{BB962C8B-B14F-4D97-AF65-F5344CB8AC3E}">
        <p14:creationId xmlns:p14="http://schemas.microsoft.com/office/powerpoint/2010/main" val="36080326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26E69E6-D383-48B3-8382-1C1CC1056070}" type="datetimeFigureOut">
              <a:rPr lang="en-GB" smtClean="0"/>
              <a:t>03/02/2023</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4E977040-5C8D-48EF-B505-3C33E111CE67}" type="slidenum">
              <a:rPr lang="en-GB" smtClean="0"/>
              <a:t>‹#›</a:t>
            </a:fld>
            <a:endParaRPr lang="en-GB"/>
          </a:p>
        </p:txBody>
      </p:sp>
    </p:spTree>
    <p:extLst>
      <p:ext uri="{BB962C8B-B14F-4D97-AF65-F5344CB8AC3E}">
        <p14:creationId xmlns:p14="http://schemas.microsoft.com/office/powerpoint/2010/main" val="5677367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926E69E6-D383-48B3-8382-1C1CC1056070}" type="datetimeFigureOut">
              <a:rPr lang="en-GB" smtClean="0"/>
              <a:t>03/02/2023</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4E977040-5C8D-48EF-B505-3C33E111CE67}" type="slidenum">
              <a:rPr lang="en-GB" smtClean="0"/>
              <a:t>‹#›</a:t>
            </a:fld>
            <a:endParaRPr lang="en-GB"/>
          </a:p>
        </p:txBody>
      </p:sp>
    </p:spTree>
    <p:extLst>
      <p:ext uri="{BB962C8B-B14F-4D97-AF65-F5344CB8AC3E}">
        <p14:creationId xmlns:p14="http://schemas.microsoft.com/office/powerpoint/2010/main" val="10214684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926E69E6-D383-48B3-8382-1C1CC1056070}" type="datetimeFigureOut">
              <a:rPr lang="en-GB" smtClean="0"/>
              <a:t>03/02/2023</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4E977040-5C8D-48EF-B505-3C33E111CE67}" type="slidenum">
              <a:rPr lang="en-GB" smtClean="0"/>
              <a:t>‹#›</a:t>
            </a:fld>
            <a:endParaRPr lang="en-GB"/>
          </a:p>
        </p:txBody>
      </p:sp>
    </p:spTree>
    <p:extLst>
      <p:ext uri="{BB962C8B-B14F-4D97-AF65-F5344CB8AC3E}">
        <p14:creationId xmlns:p14="http://schemas.microsoft.com/office/powerpoint/2010/main" val="31664637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26E69E6-D383-48B3-8382-1C1CC1056070}" type="datetimeFigureOut">
              <a:rPr lang="en-GB" smtClean="0"/>
              <a:t>03/02/2023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E977040-5C8D-48EF-B505-3C33E111CE67}" type="slidenum">
              <a:rPr lang="en-GB" smtClean="0"/>
              <a:t>‹#›</a:t>
            </a:fld>
            <a:endParaRPr lang="en-GB"/>
          </a:p>
        </p:txBody>
      </p:sp>
    </p:spTree>
    <p:extLst>
      <p:ext uri="{BB962C8B-B14F-4D97-AF65-F5344CB8AC3E}">
        <p14:creationId xmlns:p14="http://schemas.microsoft.com/office/powerpoint/2010/main" val="27220696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26E69E6-D383-48B3-8382-1C1CC1056070}" type="datetimeFigureOut">
              <a:rPr lang="en-GB" smtClean="0"/>
              <a:t>03/02/2023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E977040-5C8D-48EF-B505-3C33E111CE67}" type="slidenum">
              <a:rPr lang="en-GB" smtClean="0"/>
              <a:t>‹#›</a:t>
            </a:fld>
            <a:endParaRPr lang="en-GB"/>
          </a:p>
        </p:txBody>
      </p:sp>
    </p:spTree>
    <p:extLst>
      <p:ext uri="{BB962C8B-B14F-4D97-AF65-F5344CB8AC3E}">
        <p14:creationId xmlns:p14="http://schemas.microsoft.com/office/powerpoint/2010/main" val="23022666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26E69E6-D383-48B3-8382-1C1CC1056070}" type="datetimeFigureOut">
              <a:rPr lang="en-GB" smtClean="0"/>
              <a:t>03/02/2023</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E977040-5C8D-48EF-B505-3C33E111CE67}" type="slidenum">
              <a:rPr lang="en-GB" smtClean="0"/>
              <a:t>‹#›</a:t>
            </a:fld>
            <a:endParaRPr lang="en-GB"/>
          </a:p>
        </p:txBody>
      </p:sp>
    </p:spTree>
    <p:extLst>
      <p:ext uri="{BB962C8B-B14F-4D97-AF65-F5344CB8AC3E}">
        <p14:creationId xmlns:p14="http://schemas.microsoft.com/office/powerpoint/2010/main" val="1542010039"/>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24.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image" Target="../media/image13.em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3.emf"/><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16.emf"/><Relationship Id="rId1" Type="http://schemas.openxmlformats.org/officeDocument/2006/relationships/slideLayout" Target="../slideLayouts/slideLayout2.xml"/><Relationship Id="rId4" Type="http://schemas.openxmlformats.org/officeDocument/2006/relationships/image" Target="../media/image18.emf"/></Relationships>
</file>

<file path=ppt/slides/_rels/slide29.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16.emf"/><Relationship Id="rId1" Type="http://schemas.openxmlformats.org/officeDocument/2006/relationships/slideLayout" Target="../slideLayouts/slideLayout2.xml"/><Relationship Id="rId4" Type="http://schemas.openxmlformats.org/officeDocument/2006/relationships/image" Target="../media/image18.emf"/></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4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jpe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4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5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 Id="rId4" Type="http://schemas.openxmlformats.org/officeDocument/2006/relationships/image" Target="../media/image47.png"/></Relationships>
</file>

<file path=ppt/slides/_rels/slide5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 Id="rId4" Type="http://schemas.openxmlformats.org/officeDocument/2006/relationships/image" Target="../media/image47.png"/></Relationships>
</file>

<file path=ppt/slides/_rels/slide58.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58.emf"/><Relationship Id="rId2" Type="http://schemas.openxmlformats.org/officeDocument/2006/relationships/image" Target="../media/image57.emf"/><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58.emf"/><Relationship Id="rId2" Type="http://schemas.openxmlformats.org/officeDocument/2006/relationships/image" Target="../media/image57.emf"/><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2.xml"/><Relationship Id="rId4" Type="http://schemas.openxmlformats.org/officeDocument/2006/relationships/image" Target="../media/image61.png"/></Relationships>
</file>

<file path=ppt/slides/_rels/slide74.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2.xml"/><Relationship Id="rId4" Type="http://schemas.openxmlformats.org/officeDocument/2006/relationships/image" Target="../media/image61.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0" y="26503"/>
            <a:ext cx="12191999" cy="6858001"/>
          </a:xfrm>
          <a:prstGeom prst="rect">
            <a:avLst/>
          </a:prstGeom>
        </p:spPr>
      </p:pic>
      <p:sp>
        <p:nvSpPr>
          <p:cNvPr id="2" name="Title 1"/>
          <p:cNvSpPr>
            <a:spLocks noGrp="1"/>
          </p:cNvSpPr>
          <p:nvPr>
            <p:ph type="ctrTitle"/>
          </p:nvPr>
        </p:nvSpPr>
        <p:spPr>
          <a:xfrm>
            <a:off x="1524000" y="310994"/>
            <a:ext cx="9144000" cy="2387600"/>
          </a:xfrm>
        </p:spPr>
        <p:txBody>
          <a:bodyPr/>
          <a:lstStyle/>
          <a:p>
            <a:r>
              <a:rPr lang="en-GB" b="1" dirty="0" smtClean="0">
                <a:latin typeface="Times New Roman" panose="02020603050405020304" pitchFamily="18" charset="0"/>
                <a:cs typeface="Times New Roman" panose="02020603050405020304" pitchFamily="18" charset="0"/>
              </a:rPr>
              <a:t>BASIC SWIMMING</a:t>
            </a:r>
            <a:endParaRPr lang="en-GB"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377993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smtClean="0">
                <a:latin typeface="Times New Roman" panose="02020603050405020304" pitchFamily="18" charset="0"/>
                <a:cs typeface="Times New Roman" panose="02020603050405020304" pitchFamily="18" charset="0"/>
              </a:rPr>
              <a:t>BASIC SWIMMING</a:t>
            </a:r>
            <a:endParaRPr lang="en-GB"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marL="0" indent="0">
              <a:buNone/>
            </a:pPr>
            <a:r>
              <a:rPr lang="en-GB" b="1" dirty="0" smtClean="0">
                <a:solidFill>
                  <a:srgbClr val="FF0000"/>
                </a:solidFill>
                <a:latin typeface="Times New Roman" panose="02020603050405020304" pitchFamily="18" charset="0"/>
                <a:cs typeface="Times New Roman" panose="02020603050405020304" pitchFamily="18" charset="0"/>
              </a:rPr>
              <a:t>COURSE OBJECTIVES</a:t>
            </a:r>
          </a:p>
          <a:p>
            <a:r>
              <a:rPr lang="en-GB" dirty="0" smtClean="0">
                <a:latin typeface="Times New Roman" panose="02020603050405020304" pitchFamily="18" charset="0"/>
                <a:cs typeface="Times New Roman" panose="02020603050405020304" pitchFamily="18" charset="0"/>
              </a:rPr>
              <a:t>To build confidence in aquatics (swimming)</a:t>
            </a:r>
          </a:p>
          <a:p>
            <a:r>
              <a:rPr lang="en-GB" dirty="0">
                <a:latin typeface="Times New Roman" panose="02020603050405020304" pitchFamily="18" charset="0"/>
                <a:cs typeface="Times New Roman" panose="02020603050405020304" pitchFamily="18" charset="0"/>
              </a:rPr>
              <a:t>T</a:t>
            </a:r>
            <a:r>
              <a:rPr lang="en-GB" dirty="0" smtClean="0">
                <a:latin typeface="Times New Roman" panose="02020603050405020304" pitchFamily="18" charset="0"/>
                <a:cs typeface="Times New Roman" panose="02020603050405020304" pitchFamily="18" charset="0"/>
              </a:rPr>
              <a:t>o develop and build propulsion skills (arm and leg movement)</a:t>
            </a:r>
          </a:p>
          <a:p>
            <a:r>
              <a:rPr lang="en-GB" dirty="0" smtClean="0">
                <a:latin typeface="Times New Roman" panose="02020603050405020304" pitchFamily="18" charset="0"/>
                <a:cs typeface="Times New Roman" panose="02020603050405020304" pitchFamily="18" charset="0"/>
              </a:rPr>
              <a:t>To know and appreciate the sport of swimming </a:t>
            </a:r>
          </a:p>
          <a:p>
            <a:r>
              <a:rPr lang="en-GB" dirty="0" smtClean="0">
                <a:latin typeface="Times New Roman" panose="02020603050405020304" pitchFamily="18" charset="0"/>
                <a:cs typeface="Times New Roman" panose="02020603050405020304" pitchFamily="18" charset="0"/>
              </a:rPr>
              <a:t>To be introduced to the basics in water safety and rescue </a:t>
            </a:r>
            <a:r>
              <a:rPr lang="en-GB" dirty="0" smtClean="0"/>
              <a:t> </a:t>
            </a:r>
            <a:endParaRPr lang="en-GB" dirty="0"/>
          </a:p>
        </p:txBody>
      </p:sp>
    </p:spTree>
    <p:extLst>
      <p:ext uri="{BB962C8B-B14F-4D97-AF65-F5344CB8AC3E}">
        <p14:creationId xmlns:p14="http://schemas.microsoft.com/office/powerpoint/2010/main" val="351539485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smtClean="0">
                <a:latin typeface="Times New Roman" panose="02020603050405020304" pitchFamily="18" charset="0"/>
                <a:cs typeface="Times New Roman" panose="02020603050405020304" pitchFamily="18" charset="0"/>
              </a:rPr>
              <a:t>BASIC SWIMMING</a:t>
            </a:r>
            <a:endParaRPr lang="en-GB"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marL="0" indent="0">
              <a:buNone/>
            </a:pPr>
            <a:r>
              <a:rPr lang="en-GB" dirty="0" smtClean="0">
                <a:latin typeface="Times New Roman" panose="02020603050405020304" pitchFamily="18" charset="0"/>
                <a:cs typeface="Times New Roman" panose="02020603050405020304" pitchFamily="18" charset="0"/>
              </a:rPr>
              <a:t>COURSE CONTENT</a:t>
            </a:r>
          </a:p>
          <a:p>
            <a:r>
              <a:rPr lang="en-GB" dirty="0" smtClean="0">
                <a:latin typeface="Times New Roman" panose="02020603050405020304" pitchFamily="18" charset="0"/>
                <a:cs typeface="Times New Roman" panose="02020603050405020304" pitchFamily="18" charset="0"/>
              </a:rPr>
              <a:t>Aquatic acclimatization; entry/exit, walking, bubbling, breathe-holding, gliding, body balance.</a:t>
            </a:r>
          </a:p>
          <a:p>
            <a:r>
              <a:rPr lang="en-GB" dirty="0" smtClean="0">
                <a:latin typeface="Times New Roman" panose="02020603050405020304" pitchFamily="18" charset="0"/>
                <a:cs typeface="Times New Roman" panose="02020603050405020304" pitchFamily="18" charset="0"/>
              </a:rPr>
              <a:t>Propulsion; leg movement, arm movement, arm-leg movement, air exchange, full stroke (breaststroke)</a:t>
            </a:r>
          </a:p>
          <a:p>
            <a:r>
              <a:rPr lang="en-GB" dirty="0" smtClean="0">
                <a:latin typeface="Times New Roman" panose="02020603050405020304" pitchFamily="18" charset="0"/>
                <a:cs typeface="Times New Roman" panose="02020603050405020304" pitchFamily="18" charset="0"/>
              </a:rPr>
              <a:t>Development of swimming; swimming and society, benefits of swimming, Improving swimming in Ghana</a:t>
            </a:r>
          </a:p>
          <a:p>
            <a:r>
              <a:rPr lang="en-GB" dirty="0" smtClean="0">
                <a:latin typeface="Times New Roman" panose="02020603050405020304" pitchFamily="18" charset="0"/>
                <a:cs typeface="Times New Roman" panose="02020603050405020304" pitchFamily="18" charset="0"/>
              </a:rPr>
              <a:t>Swimming and Rescue; basics of aquatic rescue, preventing accidents (lifeguarding), and managing casualty at the pool/beach scene.</a:t>
            </a:r>
            <a:endParaRPr lang="en-GB"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8859130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smtClean="0">
                <a:latin typeface="Times New Roman" panose="02020603050405020304" pitchFamily="18" charset="0"/>
                <a:cs typeface="Times New Roman" panose="02020603050405020304" pitchFamily="18" charset="0"/>
              </a:rPr>
              <a:t>BASIC SWIMMING</a:t>
            </a:r>
            <a:endParaRPr lang="en-GB"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marL="0" indent="0">
              <a:buNone/>
            </a:pPr>
            <a:r>
              <a:rPr lang="en-GB" b="1" dirty="0" smtClean="0">
                <a:solidFill>
                  <a:srgbClr val="FF0000"/>
                </a:solidFill>
                <a:latin typeface="Times New Roman" panose="02020603050405020304" pitchFamily="18" charset="0"/>
                <a:cs typeface="Times New Roman" panose="02020603050405020304" pitchFamily="18" charset="0"/>
              </a:rPr>
              <a:t>INSTRUCTORS</a:t>
            </a:r>
          </a:p>
          <a:p>
            <a:pPr marL="0" indent="0">
              <a:buNone/>
            </a:pPr>
            <a:endParaRPr lang="en-GB" dirty="0"/>
          </a:p>
          <a:p>
            <a:pPr marL="0" indent="0">
              <a:buNone/>
            </a:pPr>
            <a:r>
              <a:rPr lang="en-GB" dirty="0" smtClean="0"/>
              <a:t>DANIEL AFRIFA, 0248793527</a:t>
            </a:r>
          </a:p>
          <a:p>
            <a:pPr marL="0" indent="0">
              <a:buNone/>
            </a:pPr>
            <a:r>
              <a:rPr lang="en-GB" dirty="0" smtClean="0"/>
              <a:t>ANTHONY ASMOAH-MENSAH, </a:t>
            </a:r>
            <a:r>
              <a:rPr lang="en-GB" dirty="0" smtClean="0"/>
              <a:t>0540841594</a:t>
            </a:r>
            <a:endParaRPr lang="en-GB" dirty="0"/>
          </a:p>
          <a:p>
            <a:pPr marL="0" indent="0">
              <a:buNone/>
            </a:pPr>
            <a:r>
              <a:rPr lang="en-GB" dirty="0" smtClean="0"/>
              <a:t>ISAAC GYAMFI, 0208978958</a:t>
            </a:r>
          </a:p>
          <a:p>
            <a:pPr marL="0" indent="0">
              <a:buNone/>
            </a:pPr>
            <a:endParaRPr lang="en-GB" dirty="0"/>
          </a:p>
        </p:txBody>
      </p:sp>
    </p:spTree>
    <p:extLst>
      <p:ext uri="{BB962C8B-B14F-4D97-AF65-F5344CB8AC3E}">
        <p14:creationId xmlns:p14="http://schemas.microsoft.com/office/powerpoint/2010/main" val="252965282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8888" y="326136"/>
            <a:ext cx="9720072" cy="1129038"/>
          </a:xfrm>
        </p:spPr>
        <p:txBody>
          <a:bodyPr>
            <a:normAutofit/>
          </a:bodyPr>
          <a:lstStyle/>
          <a:p>
            <a:r>
              <a:rPr lang="en-US" b="1" dirty="0" smtClean="0">
                <a:latin typeface="Times New Roman" panose="02020603050405020304" pitchFamily="18" charset="0"/>
                <a:cs typeface="Times New Roman" panose="02020603050405020304" pitchFamily="18" charset="0"/>
              </a:rPr>
              <a:t>SWIMMING</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762000" y="1455174"/>
            <a:ext cx="10866120" cy="5105400"/>
          </a:xfrm>
        </p:spPr>
        <p:txBody>
          <a:bodyPr>
            <a:normAutofit fontScale="25000" lnSpcReduction="20000"/>
          </a:bodyPr>
          <a:lstStyle/>
          <a:p>
            <a:r>
              <a:rPr lang="en-US" sz="11200" dirty="0" smtClean="0">
                <a:latin typeface="Times New Roman" panose="02020603050405020304" pitchFamily="18" charset="0"/>
                <a:cs typeface="Times New Roman" panose="02020603050405020304" pitchFamily="18" charset="0"/>
              </a:rPr>
              <a:t>Swimming is an individual or team sport that involve using the arms and legs to move the body through water.</a:t>
            </a:r>
          </a:p>
          <a:p>
            <a:endParaRPr lang="en-US" sz="11200" dirty="0" smtClean="0">
              <a:latin typeface="Times New Roman" panose="02020603050405020304" pitchFamily="18" charset="0"/>
              <a:cs typeface="Times New Roman" panose="02020603050405020304" pitchFamily="18" charset="0"/>
            </a:endParaRPr>
          </a:p>
          <a:p>
            <a:r>
              <a:rPr lang="en-US" sz="11200" dirty="0" smtClean="0">
                <a:latin typeface="Times New Roman" panose="02020603050405020304" pitchFamily="18" charset="0"/>
                <a:cs typeface="Times New Roman" panose="02020603050405020304" pitchFamily="18" charset="0"/>
              </a:rPr>
              <a:t>Swimming takes place in pools or in open water (sea, lakes, rivers </a:t>
            </a:r>
            <a:r>
              <a:rPr lang="en-US" sz="11200" dirty="0" err="1" smtClean="0">
                <a:latin typeface="Times New Roman" panose="02020603050405020304" pitchFamily="18" charset="0"/>
                <a:cs typeface="Times New Roman" panose="02020603050405020304" pitchFamily="18" charset="0"/>
              </a:rPr>
              <a:t>etc</a:t>
            </a:r>
            <a:r>
              <a:rPr lang="en-US" sz="11200" dirty="0" smtClean="0">
                <a:latin typeface="Times New Roman" panose="02020603050405020304" pitchFamily="18" charset="0"/>
                <a:cs typeface="Times New Roman" panose="02020603050405020304" pitchFamily="18" charset="0"/>
              </a:rPr>
              <a:t>)</a:t>
            </a:r>
          </a:p>
          <a:p>
            <a:endParaRPr lang="en-US" sz="11200" dirty="0" smtClean="0">
              <a:latin typeface="Times New Roman" panose="02020603050405020304" pitchFamily="18" charset="0"/>
              <a:cs typeface="Times New Roman" panose="02020603050405020304" pitchFamily="18" charset="0"/>
            </a:endParaRPr>
          </a:p>
          <a:p>
            <a:r>
              <a:rPr lang="en-US" sz="11200" dirty="0" smtClean="0">
                <a:latin typeface="Times New Roman" panose="02020603050405020304" pitchFamily="18" charset="0"/>
                <a:cs typeface="Times New Roman" panose="02020603050405020304" pitchFamily="18" charset="0"/>
              </a:rPr>
              <a:t>Competitive swimming is one of the most popular sports in the Olympics games </a:t>
            </a:r>
          </a:p>
          <a:p>
            <a:endParaRPr lang="en-US" sz="11200" dirty="0" smtClean="0">
              <a:latin typeface="Times New Roman" panose="02020603050405020304" pitchFamily="18" charset="0"/>
              <a:cs typeface="Times New Roman" panose="02020603050405020304" pitchFamily="18" charset="0"/>
            </a:endParaRPr>
          </a:p>
          <a:p>
            <a:r>
              <a:rPr lang="en-US" sz="11200" dirty="0" smtClean="0">
                <a:latin typeface="Times New Roman" panose="02020603050405020304" pitchFamily="18" charset="0"/>
                <a:cs typeface="Times New Roman" panose="02020603050405020304" pitchFamily="18" charset="0"/>
              </a:rPr>
              <a:t>There are four (4) major strokes in swimming; butterfly, backstrokes, freestyle and breaststroke.</a:t>
            </a:r>
          </a:p>
          <a:p>
            <a:endParaRPr lang="en-US" sz="11200" dirty="0" smtClean="0">
              <a:latin typeface="Times New Roman" panose="02020603050405020304" pitchFamily="18" charset="0"/>
              <a:cs typeface="Times New Roman" panose="02020603050405020304" pitchFamily="18" charset="0"/>
            </a:endParaRPr>
          </a:p>
          <a:p>
            <a:r>
              <a:rPr lang="en-US" sz="11200" dirty="0" smtClean="0">
                <a:latin typeface="Times New Roman" panose="02020603050405020304" pitchFamily="18" charset="0"/>
                <a:cs typeface="Times New Roman" panose="02020603050405020304" pitchFamily="18" charset="0"/>
              </a:rPr>
              <a:t>World championship pools must be 50 meters long and 25 meters wide with ten labels labelled zero (0) to nine (9) or one (1) to ten (10) with the lanes at least 2.5 meters wide</a:t>
            </a:r>
          </a:p>
          <a:p>
            <a:endParaRPr lang="en-US" dirty="0"/>
          </a:p>
        </p:txBody>
      </p:sp>
    </p:spTree>
    <p:extLst>
      <p:ext uri="{BB962C8B-B14F-4D97-AF65-F5344CB8AC3E}">
        <p14:creationId xmlns:p14="http://schemas.microsoft.com/office/powerpoint/2010/main" val="288429385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8888" y="326136"/>
            <a:ext cx="9720072" cy="1499616"/>
          </a:xfrm>
        </p:spPr>
        <p:txBody>
          <a:bodyPr>
            <a:normAutofit/>
          </a:bodyPr>
          <a:lstStyle/>
          <a:p>
            <a:r>
              <a:rPr lang="en-US" b="1" dirty="0" smtClean="0">
                <a:latin typeface="Times New Roman" panose="02020603050405020304" pitchFamily="18" charset="0"/>
                <a:cs typeface="Times New Roman" panose="02020603050405020304" pitchFamily="18" charset="0"/>
              </a:rPr>
              <a:t>SWIMMING</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762000" y="1554480"/>
            <a:ext cx="10866120" cy="5105400"/>
          </a:xfrm>
        </p:spPr>
        <p:txBody>
          <a:bodyPr>
            <a:normAutofit/>
          </a:bodyPr>
          <a:lstStyle/>
          <a:p>
            <a:pPr lvl="0"/>
            <a:r>
              <a:rPr lang="en-US" dirty="0">
                <a:solidFill>
                  <a:prstClr val="black"/>
                </a:solidFill>
                <a:latin typeface="Times New Roman" panose="02020603050405020304" pitchFamily="18" charset="0"/>
                <a:cs typeface="Times New Roman" panose="02020603050405020304" pitchFamily="18" charset="0"/>
              </a:rPr>
              <a:t>In competitive swimming, there are several types of officials needed to manage the competition;</a:t>
            </a:r>
          </a:p>
          <a:p>
            <a:pPr lvl="0">
              <a:buFont typeface="Wingdings" panose="05000000000000000000" pitchFamily="2" charset="2"/>
              <a:buChar char="ü"/>
            </a:pPr>
            <a:r>
              <a:rPr lang="en-US" dirty="0" smtClean="0">
                <a:solidFill>
                  <a:prstClr val="black"/>
                </a:solidFill>
                <a:latin typeface="Times New Roman" panose="02020603050405020304" pitchFamily="18" charset="0"/>
                <a:cs typeface="Times New Roman" panose="02020603050405020304" pitchFamily="18" charset="0"/>
              </a:rPr>
              <a:t>Referee</a:t>
            </a:r>
          </a:p>
          <a:p>
            <a:pPr lvl="0">
              <a:buFont typeface="Wingdings" panose="05000000000000000000" pitchFamily="2" charset="2"/>
              <a:buChar char="ü"/>
            </a:pPr>
            <a:r>
              <a:rPr lang="en-US" dirty="0" smtClean="0">
                <a:solidFill>
                  <a:prstClr val="black"/>
                </a:solidFill>
                <a:latin typeface="Times New Roman" panose="02020603050405020304" pitchFamily="18" charset="0"/>
                <a:cs typeface="Times New Roman" panose="02020603050405020304" pitchFamily="18" charset="0"/>
              </a:rPr>
              <a:t>Starter</a:t>
            </a:r>
          </a:p>
          <a:p>
            <a:pPr lvl="0">
              <a:buFont typeface="Wingdings" panose="05000000000000000000" pitchFamily="2" charset="2"/>
              <a:buChar char="ü"/>
            </a:pPr>
            <a:r>
              <a:rPr lang="en-US" dirty="0" smtClean="0">
                <a:solidFill>
                  <a:prstClr val="black"/>
                </a:solidFill>
                <a:latin typeface="Times New Roman" panose="02020603050405020304" pitchFamily="18" charset="0"/>
                <a:cs typeface="Times New Roman" panose="02020603050405020304" pitchFamily="18" charset="0"/>
              </a:rPr>
              <a:t>Clerk </a:t>
            </a:r>
            <a:r>
              <a:rPr lang="en-US" dirty="0">
                <a:solidFill>
                  <a:prstClr val="black"/>
                </a:solidFill>
                <a:latin typeface="Times New Roman" panose="02020603050405020304" pitchFamily="18" charset="0"/>
                <a:cs typeface="Times New Roman" panose="02020603050405020304" pitchFamily="18" charset="0"/>
              </a:rPr>
              <a:t>of course (Bull pen)                 </a:t>
            </a:r>
            <a:endParaRPr lang="en-US" dirty="0" smtClean="0">
              <a:solidFill>
                <a:prstClr val="black"/>
              </a:solidFill>
              <a:latin typeface="Times New Roman" panose="02020603050405020304" pitchFamily="18" charset="0"/>
              <a:cs typeface="Times New Roman" panose="02020603050405020304" pitchFamily="18" charset="0"/>
            </a:endParaRPr>
          </a:p>
          <a:p>
            <a:pPr lvl="0">
              <a:buFont typeface="Wingdings" panose="05000000000000000000" pitchFamily="2" charset="2"/>
              <a:buChar char="ü"/>
            </a:pPr>
            <a:r>
              <a:rPr lang="en-US" dirty="0" smtClean="0">
                <a:solidFill>
                  <a:prstClr val="black"/>
                </a:solidFill>
                <a:latin typeface="Times New Roman" panose="02020603050405020304" pitchFamily="18" charset="0"/>
                <a:cs typeface="Times New Roman" panose="02020603050405020304" pitchFamily="18" charset="0"/>
              </a:rPr>
              <a:t>Timekeepers</a:t>
            </a:r>
          </a:p>
          <a:p>
            <a:pPr lvl="0">
              <a:buFont typeface="Wingdings" panose="05000000000000000000" pitchFamily="2" charset="2"/>
              <a:buChar char="ü"/>
            </a:pPr>
            <a:r>
              <a:rPr lang="en-US" dirty="0" smtClean="0">
                <a:solidFill>
                  <a:prstClr val="black"/>
                </a:solidFill>
                <a:latin typeface="Times New Roman" panose="02020603050405020304" pitchFamily="18" charset="0"/>
                <a:cs typeface="Times New Roman" panose="02020603050405020304" pitchFamily="18" charset="0"/>
              </a:rPr>
              <a:t>Inspectors </a:t>
            </a:r>
            <a:r>
              <a:rPr lang="en-US" dirty="0">
                <a:solidFill>
                  <a:prstClr val="black"/>
                </a:solidFill>
                <a:latin typeface="Times New Roman" panose="02020603050405020304" pitchFamily="18" charset="0"/>
                <a:cs typeface="Times New Roman" panose="02020603050405020304" pitchFamily="18" charset="0"/>
              </a:rPr>
              <a:t>of turns                            </a:t>
            </a:r>
            <a:endParaRPr lang="en-US" dirty="0" smtClean="0">
              <a:solidFill>
                <a:prstClr val="black"/>
              </a:solidFill>
              <a:latin typeface="Times New Roman" panose="02020603050405020304" pitchFamily="18" charset="0"/>
              <a:cs typeface="Times New Roman" panose="02020603050405020304" pitchFamily="18" charset="0"/>
            </a:endParaRPr>
          </a:p>
          <a:p>
            <a:pPr lvl="0">
              <a:buFont typeface="Wingdings" panose="05000000000000000000" pitchFamily="2" charset="2"/>
              <a:buChar char="ü"/>
            </a:pPr>
            <a:r>
              <a:rPr lang="en-US" dirty="0" smtClean="0">
                <a:solidFill>
                  <a:prstClr val="black"/>
                </a:solidFill>
                <a:latin typeface="Times New Roman" panose="02020603050405020304" pitchFamily="18" charset="0"/>
                <a:cs typeface="Times New Roman" panose="02020603050405020304" pitchFamily="18" charset="0"/>
              </a:rPr>
              <a:t>Judges </a:t>
            </a:r>
            <a:r>
              <a:rPr lang="en-US" dirty="0">
                <a:solidFill>
                  <a:prstClr val="black"/>
                </a:solidFill>
                <a:latin typeface="Times New Roman" panose="02020603050405020304" pitchFamily="18" charset="0"/>
                <a:cs typeface="Times New Roman" panose="02020603050405020304" pitchFamily="18" charset="0"/>
              </a:rPr>
              <a:t>of </a:t>
            </a:r>
            <a:r>
              <a:rPr lang="en-US" dirty="0" smtClean="0">
                <a:solidFill>
                  <a:prstClr val="black"/>
                </a:solidFill>
                <a:latin typeface="Times New Roman" panose="02020603050405020304" pitchFamily="18" charset="0"/>
                <a:cs typeface="Times New Roman" panose="02020603050405020304" pitchFamily="18" charset="0"/>
              </a:rPr>
              <a:t>stroke</a:t>
            </a:r>
          </a:p>
          <a:p>
            <a:pPr lvl="0">
              <a:buFont typeface="Wingdings" panose="05000000000000000000" pitchFamily="2" charset="2"/>
              <a:buChar char="ü"/>
            </a:pPr>
            <a:r>
              <a:rPr lang="en-US" dirty="0" smtClean="0">
                <a:solidFill>
                  <a:prstClr val="black"/>
                </a:solidFill>
                <a:latin typeface="Times New Roman" panose="02020603050405020304" pitchFamily="18" charset="0"/>
                <a:cs typeface="Times New Roman" panose="02020603050405020304" pitchFamily="18" charset="0"/>
              </a:rPr>
              <a:t>Finish </a:t>
            </a:r>
            <a:r>
              <a:rPr lang="en-US" dirty="0">
                <a:solidFill>
                  <a:prstClr val="black"/>
                </a:solidFill>
                <a:latin typeface="Times New Roman" panose="02020603050405020304" pitchFamily="18" charset="0"/>
                <a:cs typeface="Times New Roman" panose="02020603050405020304" pitchFamily="18" charset="0"/>
              </a:rPr>
              <a:t>judges</a:t>
            </a:r>
          </a:p>
          <a:p>
            <a:endParaRPr lang="en-US" dirty="0"/>
          </a:p>
        </p:txBody>
      </p:sp>
    </p:spTree>
    <p:extLst>
      <p:ext uri="{BB962C8B-B14F-4D97-AF65-F5344CB8AC3E}">
        <p14:creationId xmlns:p14="http://schemas.microsoft.com/office/powerpoint/2010/main" val="288429385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4128" y="300081"/>
            <a:ext cx="9720072" cy="1039047"/>
          </a:xfrm>
        </p:spPr>
        <p:txBody>
          <a:bodyPr/>
          <a:lstStyle/>
          <a:p>
            <a:r>
              <a:rPr lang="en-GB" b="1" dirty="0" smtClean="0">
                <a:latin typeface="Times New Roman" panose="02020603050405020304" pitchFamily="18" charset="0"/>
                <a:cs typeface="Times New Roman" panose="02020603050405020304" pitchFamily="18" charset="0"/>
              </a:rPr>
              <a:t>DEVELOPMENT OF SWIMMING</a:t>
            </a:r>
            <a:endParaRPr lang="en-GB"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769374" y="1231525"/>
            <a:ext cx="10688392" cy="4984124"/>
          </a:xfrm>
        </p:spPr>
        <p:txBody>
          <a:bodyPr>
            <a:noAutofit/>
          </a:bodyPr>
          <a:lstStyle/>
          <a:p>
            <a:pPr algn="just"/>
            <a:r>
              <a:rPr lang="en-GB" dirty="0" smtClean="0">
                <a:latin typeface="Times New Roman" panose="02020603050405020304" pitchFamily="18" charset="0"/>
                <a:cs typeface="Times New Roman" panose="02020603050405020304" pitchFamily="18" charset="0"/>
              </a:rPr>
              <a:t>Evidence of swimming in prehistoric times dated back to stone age paintings around 10000 years ago near </a:t>
            </a:r>
            <a:r>
              <a:rPr lang="en-GB" dirty="0" err="1" smtClean="0">
                <a:latin typeface="Times New Roman" panose="02020603050405020304" pitchFamily="18" charset="0"/>
                <a:cs typeface="Times New Roman" panose="02020603050405020304" pitchFamily="18" charset="0"/>
              </a:rPr>
              <a:t>wadi</a:t>
            </a:r>
            <a:r>
              <a:rPr lang="en-GB" dirty="0" smtClean="0">
                <a:latin typeface="Times New Roman" panose="02020603050405020304" pitchFamily="18" charset="0"/>
                <a:cs typeface="Times New Roman" panose="02020603050405020304" pitchFamily="18" charset="0"/>
              </a:rPr>
              <a:t> </a:t>
            </a:r>
            <a:r>
              <a:rPr lang="en-GB" dirty="0" err="1" smtClean="0">
                <a:latin typeface="Times New Roman" panose="02020603050405020304" pitchFamily="18" charset="0"/>
                <a:cs typeface="Times New Roman" panose="02020603050405020304" pitchFamily="18" charset="0"/>
              </a:rPr>
              <a:t>sora</a:t>
            </a:r>
            <a:r>
              <a:rPr lang="en-GB" dirty="0" smtClean="0">
                <a:latin typeface="Times New Roman" panose="02020603050405020304" pitchFamily="18" charset="0"/>
                <a:cs typeface="Times New Roman" panose="02020603050405020304" pitchFamily="18" charset="0"/>
              </a:rPr>
              <a:t> (</a:t>
            </a:r>
            <a:r>
              <a:rPr lang="en-GB" dirty="0" err="1" smtClean="0">
                <a:latin typeface="Times New Roman" panose="02020603050405020304" pitchFamily="18" charset="0"/>
                <a:cs typeface="Times New Roman" panose="02020603050405020304" pitchFamily="18" charset="0"/>
              </a:rPr>
              <a:t>sura</a:t>
            </a:r>
            <a:r>
              <a:rPr lang="en-GB" dirty="0" smtClean="0">
                <a:latin typeface="Times New Roman" panose="02020603050405020304" pitchFamily="18" charset="0"/>
                <a:cs typeface="Times New Roman" panose="02020603050405020304" pitchFamily="18" charset="0"/>
              </a:rPr>
              <a:t>) in the south western part of Egypt.</a:t>
            </a:r>
          </a:p>
          <a:p>
            <a:pPr algn="just"/>
            <a:endParaRPr lang="en-GB" dirty="0" smtClean="0">
              <a:latin typeface="Times New Roman" panose="02020603050405020304" pitchFamily="18" charset="0"/>
              <a:cs typeface="Times New Roman" panose="02020603050405020304" pitchFamily="18" charset="0"/>
            </a:endParaRPr>
          </a:p>
          <a:p>
            <a:pPr algn="just"/>
            <a:r>
              <a:rPr lang="en-GB" dirty="0" smtClean="0">
                <a:latin typeface="Times New Roman" panose="02020603050405020304" pitchFamily="18" charset="0"/>
                <a:cs typeface="Times New Roman" panose="02020603050405020304" pitchFamily="18" charset="0"/>
              </a:rPr>
              <a:t>Written reference was found in stories like the Iliad, odyssey, the bible (Ezekiel 47:5, Acts 27:42, Isaiah 25:11), Beowulf, the Quran</a:t>
            </a:r>
          </a:p>
          <a:p>
            <a:pPr algn="just"/>
            <a:r>
              <a:rPr lang="en-GB" dirty="0" smtClean="0">
                <a:latin typeface="Times New Roman" panose="02020603050405020304" pitchFamily="18" charset="0"/>
                <a:cs typeface="Times New Roman" panose="02020603050405020304" pitchFamily="18" charset="0"/>
              </a:rPr>
              <a:t> </a:t>
            </a:r>
          </a:p>
          <a:p>
            <a:pPr algn="just"/>
            <a:r>
              <a:rPr lang="en-GB" dirty="0" smtClean="0">
                <a:latin typeface="Times New Roman" panose="02020603050405020304" pitchFamily="18" charset="0"/>
                <a:cs typeface="Times New Roman" panose="02020603050405020304" pitchFamily="18" charset="0"/>
              </a:rPr>
              <a:t>The first swimming book published by a German Professor, </a:t>
            </a:r>
            <a:r>
              <a:rPr lang="en-GB" dirty="0" err="1" smtClean="0">
                <a:latin typeface="Times New Roman" panose="02020603050405020304" pitchFamily="18" charset="0"/>
                <a:cs typeface="Times New Roman" panose="02020603050405020304" pitchFamily="18" charset="0"/>
              </a:rPr>
              <a:t>Nikolaus</a:t>
            </a:r>
            <a:r>
              <a:rPr lang="en-GB" dirty="0" smtClean="0">
                <a:latin typeface="Times New Roman" panose="02020603050405020304" pitchFamily="18" charset="0"/>
                <a:cs typeface="Times New Roman" panose="02020603050405020304" pitchFamily="18" charset="0"/>
              </a:rPr>
              <a:t> </a:t>
            </a:r>
            <a:r>
              <a:rPr lang="en-GB" dirty="0" err="1" smtClean="0">
                <a:latin typeface="Times New Roman" panose="02020603050405020304" pitchFamily="18" charset="0"/>
                <a:cs typeface="Times New Roman" panose="02020603050405020304" pitchFamily="18" charset="0"/>
              </a:rPr>
              <a:t>Wynmann</a:t>
            </a:r>
            <a:r>
              <a:rPr lang="en-GB" dirty="0" smtClean="0">
                <a:latin typeface="Times New Roman" panose="02020603050405020304" pitchFamily="18" charset="0"/>
                <a:cs typeface="Times New Roman" panose="02020603050405020304" pitchFamily="18" charset="0"/>
              </a:rPr>
              <a:t> in 1538 (the swimmer or a dialogue on the art of swimming)</a:t>
            </a:r>
          </a:p>
          <a:p>
            <a:pPr algn="just"/>
            <a:endParaRPr lang="en-GB" dirty="0" smtClean="0">
              <a:latin typeface="Times New Roman" panose="02020603050405020304" pitchFamily="18" charset="0"/>
              <a:cs typeface="Times New Roman" panose="02020603050405020304" pitchFamily="18" charset="0"/>
            </a:endParaRPr>
          </a:p>
          <a:p>
            <a:pPr algn="just"/>
            <a:r>
              <a:rPr lang="en-GB" dirty="0" smtClean="0">
                <a:latin typeface="Times New Roman" panose="02020603050405020304" pitchFamily="18" charset="0"/>
                <a:cs typeface="Times New Roman" panose="02020603050405020304" pitchFamily="18" charset="0"/>
              </a:rPr>
              <a:t>Competitive swimming emerged in recreational pool centres in London, England in 1830s</a:t>
            </a:r>
          </a:p>
        </p:txBody>
      </p:sp>
    </p:spTree>
    <p:extLst>
      <p:ext uri="{BB962C8B-B14F-4D97-AF65-F5344CB8AC3E}">
        <p14:creationId xmlns:p14="http://schemas.microsoft.com/office/powerpoint/2010/main" val="124133503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039047"/>
          </a:xfrm>
        </p:spPr>
        <p:txBody>
          <a:bodyPr/>
          <a:lstStyle/>
          <a:p>
            <a:r>
              <a:rPr lang="en-GB" b="1" dirty="0" smtClean="0">
                <a:latin typeface="Times New Roman" panose="02020603050405020304" pitchFamily="18" charset="0"/>
                <a:cs typeface="Times New Roman" panose="02020603050405020304" pitchFamily="18" charset="0"/>
              </a:rPr>
              <a:t>DEVELOPMENT OF SWIMMING</a:t>
            </a:r>
            <a:endParaRPr lang="en-GB"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506828"/>
            <a:ext cx="10688392" cy="4984124"/>
          </a:xfrm>
        </p:spPr>
        <p:txBody>
          <a:bodyPr>
            <a:noAutofit/>
          </a:bodyPr>
          <a:lstStyle/>
          <a:p>
            <a:pPr lvl="0" algn="just"/>
            <a:r>
              <a:rPr lang="en-GB" dirty="0">
                <a:solidFill>
                  <a:prstClr val="black"/>
                </a:solidFill>
                <a:latin typeface="Times New Roman" panose="02020603050405020304" pitchFamily="18" charset="0"/>
                <a:cs typeface="Times New Roman" panose="02020603050405020304" pitchFamily="18" charset="0"/>
              </a:rPr>
              <a:t>International Federation on swimming, FINA(Federation international de natation) was formed in </a:t>
            </a:r>
            <a:r>
              <a:rPr lang="en-GB" dirty="0" smtClean="0">
                <a:solidFill>
                  <a:prstClr val="black"/>
                </a:solidFill>
                <a:latin typeface="Times New Roman" panose="02020603050405020304" pitchFamily="18" charset="0"/>
                <a:cs typeface="Times New Roman" panose="02020603050405020304" pitchFamily="18" charset="0"/>
              </a:rPr>
              <a:t>1908</a:t>
            </a:r>
          </a:p>
          <a:p>
            <a:pPr lvl="0" algn="just"/>
            <a:endParaRPr lang="en-GB" dirty="0">
              <a:solidFill>
                <a:prstClr val="black"/>
              </a:solidFill>
              <a:latin typeface="Times New Roman" panose="02020603050405020304" pitchFamily="18" charset="0"/>
              <a:cs typeface="Times New Roman" panose="02020603050405020304" pitchFamily="18" charset="0"/>
            </a:endParaRPr>
          </a:p>
          <a:p>
            <a:pPr lvl="0" algn="just"/>
            <a:r>
              <a:rPr lang="en-GB" dirty="0">
                <a:solidFill>
                  <a:prstClr val="black"/>
                </a:solidFill>
                <a:latin typeface="Times New Roman" panose="02020603050405020304" pitchFamily="18" charset="0"/>
                <a:cs typeface="Times New Roman" panose="02020603050405020304" pitchFamily="18" charset="0"/>
              </a:rPr>
              <a:t>Men’s swimming became part of the Olympics in </a:t>
            </a:r>
            <a:r>
              <a:rPr lang="en-GB" dirty="0" smtClean="0">
                <a:solidFill>
                  <a:prstClr val="black"/>
                </a:solidFill>
                <a:latin typeface="Times New Roman" panose="02020603050405020304" pitchFamily="18" charset="0"/>
                <a:cs typeface="Times New Roman" panose="02020603050405020304" pitchFamily="18" charset="0"/>
              </a:rPr>
              <a:t>1896</a:t>
            </a:r>
          </a:p>
          <a:p>
            <a:pPr lvl="0" algn="just"/>
            <a:endParaRPr lang="en-GB" dirty="0">
              <a:solidFill>
                <a:prstClr val="black"/>
              </a:solidFill>
              <a:latin typeface="Times New Roman" panose="02020603050405020304" pitchFamily="18" charset="0"/>
              <a:cs typeface="Times New Roman" panose="02020603050405020304" pitchFamily="18" charset="0"/>
            </a:endParaRPr>
          </a:p>
          <a:p>
            <a:pPr lvl="0" algn="just"/>
            <a:r>
              <a:rPr lang="en-GB" dirty="0">
                <a:solidFill>
                  <a:prstClr val="black"/>
                </a:solidFill>
                <a:latin typeface="Times New Roman" panose="02020603050405020304" pitchFamily="18" charset="0"/>
                <a:cs typeface="Times New Roman" panose="02020603050405020304" pitchFamily="18" charset="0"/>
              </a:rPr>
              <a:t>Competitions in aquatics include swimming, synchronised swimming, diving, open water competitions, water polo and lifesaving </a:t>
            </a:r>
            <a:r>
              <a:rPr lang="en-GB" dirty="0" smtClean="0">
                <a:solidFill>
                  <a:prstClr val="black"/>
                </a:solidFill>
                <a:latin typeface="Times New Roman" panose="02020603050405020304" pitchFamily="18" charset="0"/>
                <a:cs typeface="Times New Roman" panose="02020603050405020304" pitchFamily="18" charset="0"/>
              </a:rPr>
              <a:t>competitions</a:t>
            </a:r>
          </a:p>
          <a:p>
            <a:pPr lvl="0" algn="just"/>
            <a:endParaRPr lang="en-GB" dirty="0">
              <a:solidFill>
                <a:prstClr val="black"/>
              </a:solidFill>
              <a:latin typeface="Times New Roman" panose="02020603050405020304" pitchFamily="18" charset="0"/>
              <a:cs typeface="Times New Roman" panose="02020603050405020304" pitchFamily="18" charset="0"/>
            </a:endParaRPr>
          </a:p>
          <a:p>
            <a:pPr lvl="0" algn="just"/>
            <a:r>
              <a:rPr lang="en-GB" dirty="0">
                <a:solidFill>
                  <a:prstClr val="black"/>
                </a:solidFill>
                <a:latin typeface="Times New Roman" panose="02020603050405020304" pitchFamily="18" charset="0"/>
                <a:cs typeface="Times New Roman" panose="02020603050405020304" pitchFamily="18" charset="0"/>
              </a:rPr>
              <a:t>Celebrated swim athletes include Michael Phelps and Adams Peaty </a:t>
            </a:r>
          </a:p>
          <a:p>
            <a:endParaRPr lang="en-GB"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4133503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004843"/>
          </a:xfrm>
        </p:spPr>
        <p:txBody>
          <a:bodyPr/>
          <a:lstStyle/>
          <a:p>
            <a:r>
              <a:rPr lang="en-GB" b="1" dirty="0" smtClean="0">
                <a:latin typeface="Times New Roman" panose="02020603050405020304" pitchFamily="18" charset="0"/>
                <a:cs typeface="Times New Roman" panose="02020603050405020304" pitchFamily="18" charset="0"/>
              </a:rPr>
              <a:t>DEVELOPMENT OF SWIMMING</a:t>
            </a:r>
            <a:endParaRPr lang="en-GB"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210614"/>
            <a:ext cx="10515600" cy="5370491"/>
          </a:xfrm>
        </p:spPr>
        <p:txBody>
          <a:bodyPr/>
          <a:lstStyle/>
          <a:p>
            <a:pPr marL="0" indent="0">
              <a:buNone/>
            </a:pPr>
            <a:r>
              <a:rPr lang="en-GB" b="1" dirty="0" smtClean="0">
                <a:latin typeface="Times New Roman" panose="02020603050405020304" pitchFamily="18" charset="0"/>
                <a:cs typeface="Times New Roman" panose="02020603050405020304" pitchFamily="18" charset="0"/>
              </a:rPr>
              <a:t>BENEFITS OF SWIMMING</a:t>
            </a:r>
          </a:p>
          <a:p>
            <a:endParaRPr lang="en-GB" dirty="0"/>
          </a:p>
        </p:txBody>
      </p:sp>
      <p:pic>
        <p:nvPicPr>
          <p:cNvPr id="4" name="Picture 3"/>
          <p:cNvPicPr>
            <a:picLocks noChangeAspect="1"/>
          </p:cNvPicPr>
          <p:nvPr/>
        </p:nvPicPr>
        <p:blipFill>
          <a:blip r:embed="rId2"/>
          <a:stretch>
            <a:fillRect/>
          </a:stretch>
        </p:blipFill>
        <p:spPr>
          <a:xfrm>
            <a:off x="838199" y="1639173"/>
            <a:ext cx="5418221" cy="4941932"/>
          </a:xfrm>
          <a:prstGeom prst="rect">
            <a:avLst/>
          </a:prstGeom>
        </p:spPr>
      </p:pic>
      <p:pic>
        <p:nvPicPr>
          <p:cNvPr id="5" name="Picture 4"/>
          <p:cNvPicPr>
            <a:picLocks noChangeAspect="1"/>
          </p:cNvPicPr>
          <p:nvPr/>
        </p:nvPicPr>
        <p:blipFill>
          <a:blip r:embed="rId3"/>
          <a:stretch>
            <a:fillRect/>
          </a:stretch>
        </p:blipFill>
        <p:spPr>
          <a:xfrm>
            <a:off x="6348556" y="1639173"/>
            <a:ext cx="5189727" cy="4941932"/>
          </a:xfrm>
          <a:prstGeom prst="rect">
            <a:avLst/>
          </a:prstGeom>
        </p:spPr>
      </p:pic>
    </p:spTree>
    <p:extLst>
      <p:ext uri="{BB962C8B-B14F-4D97-AF65-F5344CB8AC3E}">
        <p14:creationId xmlns:p14="http://schemas.microsoft.com/office/powerpoint/2010/main" val="257000260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smtClean="0">
                <a:latin typeface="Times New Roman" panose="02020603050405020304" pitchFamily="18" charset="0"/>
                <a:cs typeface="Times New Roman" panose="02020603050405020304" pitchFamily="18" charset="0"/>
              </a:rPr>
              <a:t>SAFETY IN AND AROUND THE POOL</a:t>
            </a:r>
            <a:endParaRPr lang="en-GB"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596980"/>
            <a:ext cx="10515600" cy="4932609"/>
          </a:xfrm>
        </p:spPr>
        <p:txBody>
          <a:bodyPr>
            <a:normAutofit fontScale="25000" lnSpcReduction="20000"/>
          </a:bodyPr>
          <a:lstStyle/>
          <a:p>
            <a:pPr algn="just"/>
            <a:r>
              <a:rPr lang="en-GB" sz="11200" dirty="0" smtClean="0">
                <a:latin typeface="Times New Roman" panose="02020603050405020304" pitchFamily="18" charset="0"/>
                <a:cs typeface="Times New Roman" panose="02020603050405020304" pitchFamily="18" charset="0"/>
              </a:rPr>
              <a:t>A respect for the water and an understanding of associated dangers are necessary for safety just about everywhere. </a:t>
            </a:r>
          </a:p>
          <a:p>
            <a:pPr marL="0" indent="0" algn="just">
              <a:buNone/>
            </a:pPr>
            <a:endParaRPr lang="en-GB" sz="11200" dirty="0" smtClean="0">
              <a:latin typeface="Times New Roman" panose="02020603050405020304" pitchFamily="18" charset="0"/>
              <a:cs typeface="Times New Roman" panose="02020603050405020304" pitchFamily="18" charset="0"/>
            </a:endParaRPr>
          </a:p>
          <a:p>
            <a:pPr algn="just"/>
            <a:r>
              <a:rPr lang="en-GB" sz="11200" dirty="0" smtClean="0">
                <a:latin typeface="Times New Roman" panose="02020603050405020304" pitchFamily="18" charset="0"/>
                <a:cs typeface="Times New Roman" panose="02020603050405020304" pitchFamily="18" charset="0"/>
              </a:rPr>
              <a:t>General rules and routines should be borne in mind at all times.</a:t>
            </a:r>
          </a:p>
          <a:p>
            <a:pPr marL="0" indent="0" algn="just">
              <a:buNone/>
            </a:pPr>
            <a:r>
              <a:rPr lang="en-GB" sz="11200" dirty="0" smtClean="0">
                <a:latin typeface="Times New Roman" panose="02020603050405020304" pitchFamily="18" charset="0"/>
                <a:cs typeface="Times New Roman" panose="02020603050405020304" pitchFamily="18" charset="0"/>
              </a:rPr>
              <a:t> </a:t>
            </a:r>
          </a:p>
          <a:p>
            <a:pPr algn="just">
              <a:buFont typeface="Wingdings" panose="05000000000000000000" pitchFamily="2" charset="2"/>
              <a:buChar char="ü"/>
            </a:pPr>
            <a:r>
              <a:rPr lang="en-GB" sz="11200" dirty="0" smtClean="0">
                <a:latin typeface="Times New Roman" panose="02020603050405020304" pitchFamily="18" charset="0"/>
                <a:cs typeface="Times New Roman" panose="02020603050405020304" pitchFamily="18" charset="0"/>
              </a:rPr>
              <a:t>Swimming pool users should be aware of water depths indicated on the pool sides. </a:t>
            </a:r>
          </a:p>
          <a:p>
            <a:pPr algn="just">
              <a:buFont typeface="Wingdings" panose="05000000000000000000" pitchFamily="2" charset="2"/>
              <a:buChar char="ü"/>
            </a:pPr>
            <a:endParaRPr lang="en-GB" sz="112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ü"/>
            </a:pPr>
            <a:r>
              <a:rPr lang="en-GB" sz="11200" dirty="0" smtClean="0">
                <a:latin typeface="Times New Roman" panose="02020603050405020304" pitchFamily="18" charset="0"/>
                <a:cs typeface="Times New Roman" panose="02020603050405020304" pitchFamily="18" charset="0"/>
              </a:rPr>
              <a:t>There should be no running on the poolside; wet floors can be slippery and consequent falls can cause injury.</a:t>
            </a:r>
          </a:p>
          <a:p>
            <a:pPr algn="just">
              <a:buFont typeface="Wingdings" panose="05000000000000000000" pitchFamily="2" charset="2"/>
              <a:buChar char="ü"/>
            </a:pPr>
            <a:endParaRPr lang="en-GB" sz="112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ü"/>
            </a:pPr>
            <a:r>
              <a:rPr lang="en-GB" sz="11200" dirty="0" smtClean="0">
                <a:latin typeface="Times New Roman" panose="02020603050405020304" pitchFamily="18" charset="0"/>
                <a:cs typeface="Times New Roman" panose="02020603050405020304" pitchFamily="18" charset="0"/>
              </a:rPr>
              <a:t>Swim hats should be worn by those with long hair, or the hair should be tied securely so that it cannot cover the face and especially the mouth. </a:t>
            </a:r>
          </a:p>
          <a:p>
            <a:pPr marL="0" indent="0" algn="just">
              <a:buNone/>
            </a:pPr>
            <a:endParaRPr lang="en-GB" dirty="0" smtClean="0"/>
          </a:p>
        </p:txBody>
      </p:sp>
    </p:spTree>
    <p:extLst>
      <p:ext uri="{BB962C8B-B14F-4D97-AF65-F5344CB8AC3E}">
        <p14:creationId xmlns:p14="http://schemas.microsoft.com/office/powerpoint/2010/main" val="286841737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smtClean="0">
                <a:latin typeface="Times New Roman" panose="02020603050405020304" pitchFamily="18" charset="0"/>
                <a:cs typeface="Times New Roman" panose="02020603050405020304" pitchFamily="18" charset="0"/>
              </a:rPr>
              <a:t>SAFETY IN AND AROUND THE POOL</a:t>
            </a:r>
            <a:endParaRPr lang="en-GB"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98090" y="1596980"/>
            <a:ext cx="10655710" cy="4932609"/>
          </a:xfrm>
        </p:spPr>
        <p:txBody>
          <a:bodyPr>
            <a:noAutofit/>
          </a:bodyPr>
          <a:lstStyle/>
          <a:p>
            <a:pPr lvl="0" algn="just">
              <a:buFont typeface="Wingdings" panose="05000000000000000000" pitchFamily="2" charset="2"/>
              <a:buChar char="ü"/>
            </a:pPr>
            <a:r>
              <a:rPr lang="en-GB" dirty="0">
                <a:solidFill>
                  <a:prstClr val="black"/>
                </a:solidFill>
                <a:latin typeface="Times New Roman" panose="02020603050405020304" pitchFamily="18" charset="0"/>
                <a:cs typeface="Times New Roman" panose="02020603050405020304" pitchFamily="18" charset="0"/>
              </a:rPr>
              <a:t>Sweets or chewing gum should be avoided. It is dangerous to enter the water with these in the mouth</a:t>
            </a:r>
            <a:r>
              <a:rPr lang="en-GB" dirty="0" smtClean="0">
                <a:solidFill>
                  <a:prstClr val="black"/>
                </a:solidFill>
                <a:latin typeface="Times New Roman" panose="02020603050405020304" pitchFamily="18" charset="0"/>
                <a:cs typeface="Times New Roman" panose="02020603050405020304" pitchFamily="18" charset="0"/>
              </a:rPr>
              <a:t>.</a:t>
            </a:r>
          </a:p>
          <a:p>
            <a:pPr lvl="0" algn="just">
              <a:buFont typeface="Wingdings" panose="05000000000000000000" pitchFamily="2" charset="2"/>
              <a:buChar char="ü"/>
            </a:pPr>
            <a:endParaRPr lang="en-GB" dirty="0" smtClean="0">
              <a:solidFill>
                <a:prstClr val="black"/>
              </a:solidFill>
              <a:latin typeface="Times New Roman" panose="02020603050405020304" pitchFamily="18" charset="0"/>
              <a:cs typeface="Times New Roman" panose="02020603050405020304" pitchFamily="18" charset="0"/>
            </a:endParaRPr>
          </a:p>
          <a:p>
            <a:pPr lvl="0" algn="just">
              <a:buFont typeface="Wingdings" panose="05000000000000000000" pitchFamily="2" charset="2"/>
              <a:buChar char="ü"/>
            </a:pPr>
            <a:r>
              <a:rPr lang="en-GB" dirty="0" smtClean="0">
                <a:solidFill>
                  <a:prstClr val="black"/>
                </a:solidFill>
                <a:latin typeface="Times New Roman" panose="02020603050405020304" pitchFamily="18" charset="0"/>
                <a:cs typeface="Times New Roman" panose="02020603050405020304" pitchFamily="18" charset="0"/>
              </a:rPr>
              <a:t> Jewellery </a:t>
            </a:r>
            <a:r>
              <a:rPr lang="en-GB" dirty="0">
                <a:solidFill>
                  <a:prstClr val="black"/>
                </a:solidFill>
                <a:latin typeface="Times New Roman" panose="02020603050405020304" pitchFamily="18" charset="0"/>
                <a:cs typeface="Times New Roman" panose="02020603050405020304" pitchFamily="18" charset="0"/>
              </a:rPr>
              <a:t>should not be worn. It can be dangerous if the wearer is in close contact with other people in the water. </a:t>
            </a:r>
            <a:endParaRPr lang="en-GB" dirty="0" smtClean="0">
              <a:solidFill>
                <a:prstClr val="black"/>
              </a:solidFill>
              <a:latin typeface="Times New Roman" panose="02020603050405020304" pitchFamily="18" charset="0"/>
              <a:cs typeface="Times New Roman" panose="02020603050405020304" pitchFamily="18" charset="0"/>
            </a:endParaRPr>
          </a:p>
          <a:p>
            <a:pPr lvl="0" algn="just">
              <a:buFont typeface="Wingdings" panose="05000000000000000000" pitchFamily="2" charset="2"/>
              <a:buChar char="ü"/>
            </a:pPr>
            <a:endParaRPr lang="en-GB" dirty="0">
              <a:solidFill>
                <a:prstClr val="black"/>
              </a:solidFill>
              <a:latin typeface="Times New Roman" panose="02020603050405020304" pitchFamily="18" charset="0"/>
              <a:cs typeface="Times New Roman" panose="02020603050405020304" pitchFamily="18" charset="0"/>
            </a:endParaRPr>
          </a:p>
          <a:p>
            <a:pPr lvl="0" algn="just">
              <a:buFont typeface="Wingdings" panose="05000000000000000000" pitchFamily="2" charset="2"/>
              <a:buChar char="ü"/>
            </a:pPr>
            <a:r>
              <a:rPr lang="en-GB" dirty="0" smtClean="0">
                <a:solidFill>
                  <a:prstClr val="black"/>
                </a:solidFill>
                <a:latin typeface="Times New Roman" panose="02020603050405020304" pitchFamily="18" charset="0"/>
                <a:cs typeface="Times New Roman" panose="02020603050405020304" pitchFamily="18" charset="0"/>
              </a:rPr>
              <a:t>After </a:t>
            </a:r>
            <a:r>
              <a:rPr lang="en-GB" dirty="0">
                <a:solidFill>
                  <a:prstClr val="black"/>
                </a:solidFill>
                <a:latin typeface="Times New Roman" panose="02020603050405020304" pitchFamily="18" charset="0"/>
                <a:cs typeface="Times New Roman" panose="02020603050405020304" pitchFamily="18" charset="0"/>
              </a:rPr>
              <a:t>a meal, food should be allowed to digest for at least 1.5 hours. </a:t>
            </a:r>
          </a:p>
          <a:p>
            <a:pPr lvl="0" algn="just">
              <a:buFont typeface="Wingdings" panose="05000000000000000000" pitchFamily="2" charset="2"/>
              <a:buChar char="ü"/>
            </a:pPr>
            <a:endParaRPr lang="en-GB" dirty="0" smtClean="0">
              <a:solidFill>
                <a:prstClr val="black"/>
              </a:solidFill>
              <a:latin typeface="Times New Roman" panose="02020603050405020304" pitchFamily="18" charset="0"/>
              <a:cs typeface="Times New Roman" panose="02020603050405020304" pitchFamily="18" charset="0"/>
            </a:endParaRPr>
          </a:p>
          <a:p>
            <a:pPr lvl="0" algn="just">
              <a:buFont typeface="Wingdings" panose="05000000000000000000" pitchFamily="2" charset="2"/>
              <a:buChar char="ü"/>
            </a:pPr>
            <a:r>
              <a:rPr lang="en-GB" dirty="0" smtClean="0">
                <a:solidFill>
                  <a:prstClr val="black"/>
                </a:solidFill>
                <a:latin typeface="Times New Roman" panose="02020603050405020304" pitchFamily="18" charset="0"/>
                <a:cs typeface="Times New Roman" panose="02020603050405020304" pitchFamily="18" charset="0"/>
              </a:rPr>
              <a:t>If </a:t>
            </a:r>
            <a:r>
              <a:rPr lang="en-GB" dirty="0">
                <a:solidFill>
                  <a:prstClr val="black"/>
                </a:solidFill>
                <a:latin typeface="Times New Roman" panose="02020603050405020304" pitchFamily="18" charset="0"/>
                <a:cs typeface="Times New Roman" panose="02020603050405020304" pitchFamily="18" charset="0"/>
              </a:rPr>
              <a:t>goggles are worn they should fit snugly and should be constructed of safe material. </a:t>
            </a:r>
            <a:endParaRPr lang="en-GB" dirty="0" smtClean="0">
              <a:solidFill>
                <a:prstClr val="black"/>
              </a:solidFill>
              <a:latin typeface="Times New Roman" panose="02020603050405020304" pitchFamily="18" charset="0"/>
              <a:cs typeface="Times New Roman" panose="02020603050405020304" pitchFamily="18" charset="0"/>
            </a:endParaRPr>
          </a:p>
          <a:p>
            <a:pPr lvl="0" algn="just">
              <a:buFont typeface="Wingdings" panose="05000000000000000000" pitchFamily="2" charset="2"/>
              <a:buChar char="ü"/>
            </a:pPr>
            <a:endParaRPr lang="en-GB" dirty="0">
              <a:solidFill>
                <a:prstClr val="black"/>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6841737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smtClean="0">
                <a:latin typeface="Times New Roman" panose="02020603050405020304" pitchFamily="18" charset="0"/>
                <a:cs typeface="Times New Roman" panose="02020603050405020304" pitchFamily="18" charset="0"/>
              </a:rPr>
              <a:t>SAFETY IN AND AROUND THE POOL </a:t>
            </a:r>
            <a:endParaRPr lang="en-GB"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19432" y="1744579"/>
            <a:ext cx="10825316" cy="4564781"/>
          </a:xfrm>
        </p:spPr>
        <p:txBody>
          <a:bodyPr>
            <a:normAutofit fontScale="25000" lnSpcReduction="20000"/>
          </a:bodyPr>
          <a:lstStyle/>
          <a:p>
            <a:pPr lvl="0" algn="just">
              <a:buFont typeface="Wingdings" panose="05000000000000000000" pitchFamily="2" charset="2"/>
              <a:buChar char="ü"/>
            </a:pPr>
            <a:r>
              <a:rPr lang="en-GB" sz="11200" dirty="0">
                <a:solidFill>
                  <a:prstClr val="black"/>
                </a:solidFill>
                <a:latin typeface="Times New Roman" panose="02020603050405020304" pitchFamily="18" charset="0"/>
                <a:cs typeface="Times New Roman" panose="02020603050405020304" pitchFamily="18" charset="0"/>
              </a:rPr>
              <a:t>Floats and other buoyancy aids should be treated with care and not thrown </a:t>
            </a:r>
            <a:r>
              <a:rPr lang="en-GB" sz="11200" dirty="0" smtClean="0">
                <a:solidFill>
                  <a:prstClr val="black"/>
                </a:solidFill>
                <a:latin typeface="Times New Roman" panose="02020603050405020304" pitchFamily="18" charset="0"/>
                <a:cs typeface="Times New Roman" panose="02020603050405020304" pitchFamily="18" charset="0"/>
              </a:rPr>
              <a:t>about. </a:t>
            </a:r>
            <a:r>
              <a:rPr lang="en-GB" sz="11200" dirty="0" smtClean="0">
                <a:latin typeface="Times New Roman" panose="02020603050405020304" pitchFamily="18" charset="0"/>
                <a:cs typeface="Times New Roman" panose="02020603050405020304" pitchFamily="18" charset="0"/>
              </a:rPr>
              <a:t>Inflatable aids should be checked frequently for damage or malfunction. Beginners using them should remain in a safe depth of water. </a:t>
            </a:r>
            <a:endParaRPr lang="en-GB" sz="11200" dirty="0">
              <a:latin typeface="Times New Roman" panose="02020603050405020304" pitchFamily="18" charset="0"/>
              <a:cs typeface="Times New Roman" panose="02020603050405020304" pitchFamily="18" charset="0"/>
            </a:endParaRPr>
          </a:p>
          <a:p>
            <a:pPr lvl="0" algn="just">
              <a:buFont typeface="Wingdings" panose="05000000000000000000" pitchFamily="2" charset="2"/>
              <a:buChar char="ü"/>
            </a:pPr>
            <a:endParaRPr lang="en-GB" sz="11200" dirty="0" smtClean="0">
              <a:latin typeface="Times New Roman" panose="02020603050405020304" pitchFamily="18" charset="0"/>
              <a:cs typeface="Times New Roman" panose="02020603050405020304" pitchFamily="18" charset="0"/>
            </a:endParaRPr>
          </a:p>
          <a:p>
            <a:pPr lvl="0" algn="just">
              <a:buFont typeface="Wingdings" panose="05000000000000000000" pitchFamily="2" charset="2"/>
              <a:buChar char="ü"/>
            </a:pPr>
            <a:r>
              <a:rPr lang="en-GB" sz="11200" dirty="0" smtClean="0">
                <a:latin typeface="Times New Roman" panose="02020603050405020304" pitchFamily="18" charset="0"/>
                <a:cs typeface="Times New Roman" panose="02020603050405020304" pitchFamily="18" charset="0"/>
              </a:rPr>
              <a:t>Care must be taken when diving to ensure that the entry area is clear of swimmers and obstructions and that the water is sufficiently deep. </a:t>
            </a:r>
          </a:p>
          <a:p>
            <a:pPr lvl="0" algn="just">
              <a:buFont typeface="Wingdings" panose="05000000000000000000" pitchFamily="2" charset="2"/>
              <a:buChar char="ü"/>
            </a:pPr>
            <a:endParaRPr lang="en-GB" sz="11200" dirty="0">
              <a:latin typeface="Times New Roman" panose="02020603050405020304" pitchFamily="18" charset="0"/>
              <a:cs typeface="Times New Roman" panose="02020603050405020304" pitchFamily="18" charset="0"/>
            </a:endParaRPr>
          </a:p>
          <a:p>
            <a:pPr lvl="0" algn="just">
              <a:buFont typeface="Wingdings" panose="05000000000000000000" pitchFamily="2" charset="2"/>
              <a:buChar char="ü"/>
            </a:pPr>
            <a:r>
              <a:rPr lang="en-GB" sz="11200" dirty="0" smtClean="0">
                <a:latin typeface="Times New Roman" panose="02020603050405020304" pitchFamily="18" charset="0"/>
                <a:cs typeface="Times New Roman" panose="02020603050405020304" pitchFamily="18" charset="0"/>
              </a:rPr>
              <a:t>Diving entries for swimming should be of the plunge style. </a:t>
            </a:r>
          </a:p>
          <a:p>
            <a:pPr lvl="0" algn="just">
              <a:buFont typeface="Courier New" panose="02070309020205020404" pitchFamily="49" charset="0"/>
              <a:buChar char="o"/>
            </a:pPr>
            <a:r>
              <a:rPr lang="en-GB" sz="11200" dirty="0" smtClean="0">
                <a:latin typeface="Times New Roman" panose="02020603050405020304" pitchFamily="18" charset="0"/>
                <a:cs typeface="Times New Roman" panose="02020603050405020304" pitchFamily="18" charset="0"/>
              </a:rPr>
              <a:t>They should be shallow dives performed from a firm stance into a clear area of water. </a:t>
            </a:r>
          </a:p>
          <a:p>
            <a:pPr lvl="0" algn="just">
              <a:buFont typeface="Courier New" panose="02070309020205020404" pitchFamily="49" charset="0"/>
              <a:buChar char="o"/>
            </a:pPr>
            <a:r>
              <a:rPr lang="en-GB" sz="11200" dirty="0" smtClean="0">
                <a:latin typeface="Times New Roman" panose="02020603050405020304" pitchFamily="18" charset="0"/>
                <a:cs typeface="Times New Roman" panose="02020603050405020304" pitchFamily="18" charset="0"/>
              </a:rPr>
              <a:t>For early practices the depth of water should be at least 1.8 metres. </a:t>
            </a:r>
          </a:p>
          <a:p>
            <a:endParaRPr lang="en-GB" sz="4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6380160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smtClean="0">
                <a:latin typeface="Times New Roman" panose="02020603050405020304" pitchFamily="18" charset="0"/>
                <a:cs typeface="Times New Roman" panose="02020603050405020304" pitchFamily="18" charset="0"/>
              </a:rPr>
              <a:t>SAFETY IN AND AROUND THE POOL </a:t>
            </a:r>
            <a:endParaRPr lang="en-GB"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19432" y="1744579"/>
            <a:ext cx="10825316" cy="4564781"/>
          </a:xfrm>
        </p:spPr>
        <p:txBody>
          <a:bodyPr>
            <a:normAutofit fontScale="92500" lnSpcReduction="10000"/>
          </a:bodyPr>
          <a:lstStyle/>
          <a:p>
            <a:pPr lvl="0" algn="just">
              <a:buFont typeface="Courier New" panose="02070309020205020404" pitchFamily="49" charset="0"/>
              <a:buChar char="o"/>
            </a:pPr>
            <a:r>
              <a:rPr lang="en-GB" dirty="0">
                <a:solidFill>
                  <a:prstClr val="black"/>
                </a:solidFill>
                <a:latin typeface="Times New Roman" panose="02020603050405020304" pitchFamily="18" charset="0"/>
                <a:cs typeface="Times New Roman" panose="02020603050405020304" pitchFamily="18" charset="0"/>
              </a:rPr>
              <a:t>Only after proficiency has been gained can special racing type entries, as required by competitive swimmers, be made into shallower water, determined by the depth of water at the starting end of the pool and never less than 1.5m deep. </a:t>
            </a:r>
            <a:endParaRPr lang="en-GB" dirty="0" smtClean="0">
              <a:solidFill>
                <a:prstClr val="black"/>
              </a:solidFill>
              <a:latin typeface="Times New Roman" panose="02020603050405020304" pitchFamily="18" charset="0"/>
              <a:cs typeface="Times New Roman" panose="02020603050405020304" pitchFamily="18" charset="0"/>
            </a:endParaRPr>
          </a:p>
          <a:p>
            <a:pPr lvl="0" algn="just">
              <a:buFont typeface="Courier New" panose="02070309020205020404" pitchFamily="49" charset="0"/>
              <a:buChar char="o"/>
            </a:pPr>
            <a:r>
              <a:rPr lang="en-GB" dirty="0" smtClean="0">
                <a:solidFill>
                  <a:prstClr val="black"/>
                </a:solidFill>
                <a:latin typeface="Times New Roman" panose="02020603050405020304" pitchFamily="18" charset="0"/>
                <a:cs typeface="Times New Roman" panose="02020603050405020304" pitchFamily="18" charset="0"/>
              </a:rPr>
              <a:t>Diving </a:t>
            </a:r>
            <a:r>
              <a:rPr lang="en-GB" dirty="0">
                <a:solidFill>
                  <a:prstClr val="black"/>
                </a:solidFill>
                <a:latin typeface="Times New Roman" panose="02020603050405020304" pitchFamily="18" charset="0"/>
                <a:cs typeface="Times New Roman" panose="02020603050405020304" pitchFamily="18" charset="0"/>
              </a:rPr>
              <a:t>as a sporting form and used in competition requires special training which usually takes place in diving clubs. </a:t>
            </a:r>
            <a:endParaRPr lang="en-GB" dirty="0" smtClean="0">
              <a:solidFill>
                <a:prstClr val="black"/>
              </a:solidFill>
              <a:latin typeface="Times New Roman" panose="02020603050405020304" pitchFamily="18" charset="0"/>
              <a:cs typeface="Times New Roman" panose="02020603050405020304" pitchFamily="18" charset="0"/>
            </a:endParaRPr>
          </a:p>
          <a:p>
            <a:pPr lvl="0" algn="just">
              <a:buFont typeface="Courier New" panose="02070309020205020404" pitchFamily="49" charset="0"/>
              <a:buChar char="o"/>
            </a:pPr>
            <a:r>
              <a:rPr lang="en-GB" dirty="0" smtClean="0">
                <a:solidFill>
                  <a:prstClr val="black"/>
                </a:solidFill>
                <a:latin typeface="Times New Roman" panose="02020603050405020304" pitchFamily="18" charset="0"/>
                <a:cs typeface="Times New Roman" panose="02020603050405020304" pitchFamily="18" charset="0"/>
              </a:rPr>
              <a:t>Entries </a:t>
            </a:r>
            <a:r>
              <a:rPr lang="en-GB" dirty="0">
                <a:solidFill>
                  <a:prstClr val="black"/>
                </a:solidFill>
                <a:latin typeface="Times New Roman" panose="02020603050405020304" pitchFamily="18" charset="0"/>
                <a:cs typeface="Times New Roman" panose="02020603050405020304" pitchFamily="18" charset="0"/>
              </a:rPr>
              <a:t>are made from purpose-built platforms and springboards with the body in a vertical position requiring a water depth of up to 5 metres</a:t>
            </a:r>
            <a:r>
              <a:rPr lang="en-GB" dirty="0" smtClean="0">
                <a:solidFill>
                  <a:prstClr val="black"/>
                </a:solidFill>
                <a:latin typeface="Times New Roman" panose="02020603050405020304" pitchFamily="18" charset="0"/>
                <a:cs typeface="Times New Roman" panose="02020603050405020304" pitchFamily="18" charset="0"/>
              </a:rPr>
              <a:t>.</a:t>
            </a:r>
          </a:p>
          <a:p>
            <a:pPr lvl="0" algn="just">
              <a:buFont typeface="Courier New" panose="02070309020205020404" pitchFamily="49" charset="0"/>
              <a:buChar char="o"/>
            </a:pPr>
            <a:endParaRPr lang="en-GB" dirty="0">
              <a:solidFill>
                <a:prstClr val="black"/>
              </a:solidFill>
              <a:latin typeface="Times New Roman" panose="02020603050405020304" pitchFamily="18" charset="0"/>
              <a:cs typeface="Times New Roman" panose="02020603050405020304" pitchFamily="18" charset="0"/>
            </a:endParaRPr>
          </a:p>
          <a:p>
            <a:pPr lvl="0">
              <a:buFont typeface="Wingdings" panose="05000000000000000000" pitchFamily="2" charset="2"/>
              <a:buChar char="ü"/>
            </a:pPr>
            <a:r>
              <a:rPr lang="en-GB" dirty="0" smtClean="0">
                <a:solidFill>
                  <a:prstClr val="black"/>
                </a:solidFill>
                <a:latin typeface="Times New Roman" panose="02020603050405020304" pitchFamily="18" charset="0"/>
                <a:cs typeface="Times New Roman" panose="02020603050405020304" pitchFamily="18" charset="0"/>
              </a:rPr>
              <a:t>Those </a:t>
            </a:r>
            <a:r>
              <a:rPr lang="en-GB" dirty="0">
                <a:solidFill>
                  <a:prstClr val="black"/>
                </a:solidFill>
                <a:latin typeface="Times New Roman" panose="02020603050405020304" pitchFamily="18" charset="0"/>
                <a:cs typeface="Times New Roman" panose="02020603050405020304" pitchFamily="18" charset="0"/>
              </a:rPr>
              <a:t>responsible for the use of the pool should be familiar with the Normal Operating Procedure and the Emergency Action Plan which all pool operators are required to have in place. </a:t>
            </a:r>
          </a:p>
          <a:p>
            <a:endParaRPr lang="en-GB" sz="4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6380160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67425"/>
            <a:ext cx="10515600" cy="1300765"/>
          </a:xfrm>
        </p:spPr>
        <p:txBody>
          <a:bodyPr>
            <a:normAutofit fontScale="90000"/>
          </a:bodyPr>
          <a:lstStyle/>
          <a:p>
            <a:r>
              <a:rPr lang="en-GB" dirty="0" smtClean="0"/>
              <a:t/>
            </a:r>
            <a:br>
              <a:rPr lang="en-GB" dirty="0" smtClean="0"/>
            </a:br>
            <a:r>
              <a:rPr lang="en-GB" b="1" dirty="0" smtClean="0">
                <a:latin typeface="Times New Roman" panose="02020603050405020304" pitchFamily="18" charset="0"/>
                <a:cs typeface="Times New Roman" panose="02020603050405020304" pitchFamily="18" charset="0"/>
              </a:rPr>
              <a:t>SAFETY IN AND AROUND THE POOL </a:t>
            </a:r>
            <a:r>
              <a:rPr lang="en-GB" dirty="0" smtClean="0"/>
              <a:t/>
            </a:r>
            <a:br>
              <a:rPr lang="en-GB" dirty="0" smtClean="0"/>
            </a:br>
            <a:endParaRPr lang="en-GB" dirty="0"/>
          </a:p>
        </p:txBody>
      </p:sp>
      <p:sp>
        <p:nvSpPr>
          <p:cNvPr id="3" name="Content Placeholder 2"/>
          <p:cNvSpPr>
            <a:spLocks noGrp="1"/>
          </p:cNvSpPr>
          <p:nvPr>
            <p:ph idx="1"/>
          </p:nvPr>
        </p:nvSpPr>
        <p:spPr>
          <a:xfrm>
            <a:off x="838200" y="1468191"/>
            <a:ext cx="10515600" cy="5389809"/>
          </a:xfrm>
        </p:spPr>
        <p:txBody>
          <a:bodyPr>
            <a:noAutofit/>
          </a:bodyPr>
          <a:lstStyle/>
          <a:p>
            <a:r>
              <a:rPr lang="en-GB" b="1" dirty="0">
                <a:solidFill>
                  <a:prstClr val="black"/>
                </a:solidFill>
                <a:latin typeface="Times New Roman" panose="02020603050405020304" pitchFamily="18" charset="0"/>
                <a:ea typeface="+mj-ea"/>
                <a:cs typeface="Times New Roman" panose="02020603050405020304" pitchFamily="18" charset="0"/>
              </a:rPr>
              <a:t>Swimming in Open Water</a:t>
            </a:r>
            <a:endParaRPr lang="en-GB" b="1"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ü"/>
            </a:pPr>
            <a:r>
              <a:rPr lang="en-GB" dirty="0" smtClean="0">
                <a:latin typeface="Times New Roman" panose="02020603050405020304" pitchFamily="18" charset="0"/>
                <a:cs typeface="Times New Roman" panose="02020603050405020304" pitchFamily="18" charset="0"/>
              </a:rPr>
              <a:t>Not all swimming takes place in the comparatively safe environment of a swimming pool and there are many water activities for which swimming should be a prerequisite. </a:t>
            </a:r>
          </a:p>
          <a:p>
            <a:pPr>
              <a:buFont typeface="Wingdings" panose="05000000000000000000" pitchFamily="2" charset="2"/>
              <a:buChar char="ü"/>
            </a:pPr>
            <a:endParaRPr lang="en-GB"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ü"/>
            </a:pPr>
            <a:r>
              <a:rPr lang="en-GB" dirty="0" smtClean="0">
                <a:latin typeface="Times New Roman" panose="02020603050405020304" pitchFamily="18" charset="0"/>
                <a:cs typeface="Times New Roman" panose="02020603050405020304" pitchFamily="18" charset="0"/>
              </a:rPr>
              <a:t>For those who use open water the following safety code should be observed: </a:t>
            </a:r>
          </a:p>
          <a:p>
            <a:pPr>
              <a:buFont typeface="Courier New" panose="02070309020205020404" pitchFamily="49" charset="0"/>
              <a:buChar char="o"/>
            </a:pPr>
            <a:r>
              <a:rPr lang="en-GB" dirty="0" smtClean="0">
                <a:latin typeface="Times New Roman" panose="02020603050405020304" pitchFamily="18" charset="0"/>
                <a:cs typeface="Times New Roman" panose="02020603050405020304" pitchFamily="18" charset="0"/>
              </a:rPr>
              <a:t>DO NOT swim alone unless competent help is at hand. </a:t>
            </a:r>
          </a:p>
          <a:p>
            <a:pPr>
              <a:buFont typeface="Courier New" panose="02070309020205020404" pitchFamily="49" charset="0"/>
              <a:buChar char="o"/>
            </a:pPr>
            <a:r>
              <a:rPr lang="en-GB" dirty="0" smtClean="0">
                <a:latin typeface="Times New Roman" panose="02020603050405020304" pitchFamily="18" charset="0"/>
                <a:cs typeface="Times New Roman" panose="02020603050405020304" pitchFamily="18" charset="0"/>
              </a:rPr>
              <a:t>DO NOT bathe in areas where red flags or other warnings are displayed. </a:t>
            </a:r>
          </a:p>
          <a:p>
            <a:pPr>
              <a:buFont typeface="Courier New" panose="02070309020205020404" pitchFamily="49" charset="0"/>
              <a:buChar char="o"/>
            </a:pPr>
            <a:r>
              <a:rPr lang="en-GB" dirty="0" smtClean="0">
                <a:latin typeface="Times New Roman" panose="02020603050405020304" pitchFamily="18" charset="0"/>
                <a:cs typeface="Times New Roman" panose="02020603050405020304" pitchFamily="18" charset="0"/>
              </a:rPr>
              <a:t>DO NOT fool about at the sides of rivers, lakes, canals or quays. </a:t>
            </a:r>
          </a:p>
        </p:txBody>
      </p:sp>
    </p:spTree>
    <p:extLst>
      <p:ext uri="{BB962C8B-B14F-4D97-AF65-F5344CB8AC3E}">
        <p14:creationId xmlns:p14="http://schemas.microsoft.com/office/powerpoint/2010/main" val="38254586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67425"/>
            <a:ext cx="10515600" cy="1300765"/>
          </a:xfrm>
        </p:spPr>
        <p:txBody>
          <a:bodyPr>
            <a:normAutofit fontScale="90000"/>
          </a:bodyPr>
          <a:lstStyle/>
          <a:p>
            <a:r>
              <a:rPr lang="en-GB" dirty="0" smtClean="0"/>
              <a:t/>
            </a:r>
            <a:br>
              <a:rPr lang="en-GB" dirty="0" smtClean="0"/>
            </a:br>
            <a:r>
              <a:rPr lang="en-GB" b="1" dirty="0" smtClean="0">
                <a:latin typeface="Times New Roman" panose="02020603050405020304" pitchFamily="18" charset="0"/>
                <a:cs typeface="Times New Roman" panose="02020603050405020304" pitchFamily="18" charset="0"/>
              </a:rPr>
              <a:t>SAFETY IN AND AROUND THE POOL </a:t>
            </a:r>
            <a:r>
              <a:rPr lang="en-GB" dirty="0" smtClean="0"/>
              <a:t/>
            </a:r>
            <a:br>
              <a:rPr lang="en-GB" dirty="0" smtClean="0"/>
            </a:br>
            <a:endParaRPr lang="en-GB" dirty="0"/>
          </a:p>
        </p:txBody>
      </p:sp>
      <p:sp>
        <p:nvSpPr>
          <p:cNvPr id="3" name="Content Placeholder 2"/>
          <p:cNvSpPr>
            <a:spLocks noGrp="1"/>
          </p:cNvSpPr>
          <p:nvPr>
            <p:ph idx="1"/>
          </p:nvPr>
        </p:nvSpPr>
        <p:spPr>
          <a:xfrm>
            <a:off x="838200" y="1468191"/>
            <a:ext cx="10515600" cy="5389809"/>
          </a:xfrm>
        </p:spPr>
        <p:txBody>
          <a:bodyPr>
            <a:noAutofit/>
          </a:bodyPr>
          <a:lstStyle/>
          <a:p>
            <a:pPr lvl="0">
              <a:buFont typeface="Courier New" panose="02070309020205020404" pitchFamily="49" charset="0"/>
              <a:buChar char="o"/>
            </a:pPr>
            <a:r>
              <a:rPr lang="en-GB" dirty="0">
                <a:solidFill>
                  <a:prstClr val="black"/>
                </a:solidFill>
                <a:latin typeface="Times New Roman" panose="02020603050405020304" pitchFamily="18" charset="0"/>
                <a:cs typeface="Times New Roman" panose="02020603050405020304" pitchFamily="18" charset="0"/>
              </a:rPr>
              <a:t>DO NOT venture on frozen ponds. </a:t>
            </a:r>
          </a:p>
          <a:p>
            <a:pPr lvl="0">
              <a:buFont typeface="Courier New" panose="02070309020205020404" pitchFamily="49" charset="0"/>
              <a:buChar char="o"/>
            </a:pPr>
            <a:r>
              <a:rPr lang="en-GB" dirty="0">
                <a:solidFill>
                  <a:prstClr val="black"/>
                </a:solidFill>
                <a:latin typeface="Times New Roman" panose="02020603050405020304" pitchFamily="18" charset="0"/>
                <a:cs typeface="Times New Roman" panose="02020603050405020304" pitchFamily="18" charset="0"/>
              </a:rPr>
              <a:t>DO NOT float out to sea on inflatables; tides can be treacherous even for strong swimmers. </a:t>
            </a:r>
          </a:p>
          <a:p>
            <a:pPr lvl="0">
              <a:buFont typeface="Courier New" panose="02070309020205020404" pitchFamily="49" charset="0"/>
              <a:buChar char="o"/>
            </a:pPr>
            <a:r>
              <a:rPr lang="en-GB" dirty="0">
                <a:solidFill>
                  <a:prstClr val="black"/>
                </a:solidFill>
                <a:latin typeface="Times New Roman" panose="02020603050405020304" pitchFamily="18" charset="0"/>
                <a:cs typeface="Times New Roman" panose="02020603050405020304" pitchFamily="18" charset="0"/>
              </a:rPr>
              <a:t>DO NOT go out in small boats without wearing a life-jacket and telling somebody where you are going and when you are due back</a:t>
            </a:r>
            <a:r>
              <a:rPr lang="en-GB" dirty="0" smtClean="0">
                <a:solidFill>
                  <a:prstClr val="black"/>
                </a:solidFill>
                <a:latin typeface="Times New Roman" panose="02020603050405020304" pitchFamily="18" charset="0"/>
                <a:cs typeface="Times New Roman" panose="02020603050405020304" pitchFamily="18" charset="0"/>
              </a:rPr>
              <a:t>.</a:t>
            </a:r>
          </a:p>
          <a:p>
            <a:pPr lvl="0">
              <a:buFont typeface="Courier New" panose="02070309020205020404" pitchFamily="49" charset="0"/>
              <a:buChar char="o"/>
            </a:pPr>
            <a:r>
              <a:rPr lang="en-GB" dirty="0" smtClean="0">
                <a:solidFill>
                  <a:prstClr val="black"/>
                </a:solidFill>
                <a:latin typeface="Times New Roman" panose="02020603050405020304" pitchFamily="18" charset="0"/>
                <a:cs typeface="Times New Roman" panose="02020603050405020304" pitchFamily="18" charset="0"/>
              </a:rPr>
              <a:t> </a:t>
            </a:r>
            <a:endParaRPr lang="en-GB" dirty="0">
              <a:solidFill>
                <a:prstClr val="black"/>
              </a:solidFill>
              <a:latin typeface="Times New Roman" panose="02020603050405020304" pitchFamily="18" charset="0"/>
              <a:cs typeface="Times New Roman" panose="02020603050405020304" pitchFamily="18" charset="0"/>
            </a:endParaRPr>
          </a:p>
          <a:p>
            <a:pPr lvl="0">
              <a:buFont typeface="Wingdings" panose="05000000000000000000" pitchFamily="2" charset="2"/>
              <a:buChar char="ü"/>
            </a:pPr>
            <a:r>
              <a:rPr lang="en-GB" dirty="0">
                <a:solidFill>
                  <a:prstClr val="black"/>
                </a:solidFill>
                <a:latin typeface="Times New Roman" panose="02020603050405020304" pitchFamily="18" charset="0"/>
                <a:cs typeface="Times New Roman" panose="02020603050405020304" pitchFamily="18" charset="0"/>
              </a:rPr>
              <a:t>Follow the Water Safety Code: </a:t>
            </a:r>
          </a:p>
          <a:p>
            <a:pPr lvl="0">
              <a:buFont typeface="Courier New" panose="02070309020205020404" pitchFamily="49" charset="0"/>
              <a:buChar char="o"/>
            </a:pPr>
            <a:r>
              <a:rPr lang="en-GB" dirty="0">
                <a:solidFill>
                  <a:prstClr val="black"/>
                </a:solidFill>
                <a:latin typeface="Times New Roman" panose="02020603050405020304" pitchFamily="18" charset="0"/>
                <a:cs typeface="Times New Roman" panose="02020603050405020304" pitchFamily="18" charset="0"/>
              </a:rPr>
              <a:t>Spot the dangers </a:t>
            </a:r>
          </a:p>
          <a:p>
            <a:pPr lvl="0">
              <a:buFont typeface="Courier New" panose="02070309020205020404" pitchFamily="49" charset="0"/>
              <a:buChar char="o"/>
            </a:pPr>
            <a:r>
              <a:rPr lang="en-GB" dirty="0">
                <a:solidFill>
                  <a:prstClr val="black"/>
                </a:solidFill>
                <a:latin typeface="Times New Roman" panose="02020603050405020304" pitchFamily="18" charset="0"/>
                <a:cs typeface="Times New Roman" panose="02020603050405020304" pitchFamily="18" charset="0"/>
              </a:rPr>
              <a:t>Take safety advice </a:t>
            </a:r>
          </a:p>
          <a:p>
            <a:pPr lvl="0">
              <a:buFont typeface="Courier New" panose="02070309020205020404" pitchFamily="49" charset="0"/>
              <a:buChar char="o"/>
            </a:pPr>
            <a:r>
              <a:rPr lang="en-GB" dirty="0">
                <a:solidFill>
                  <a:prstClr val="black"/>
                </a:solidFill>
                <a:latin typeface="Times New Roman" panose="02020603050405020304" pitchFamily="18" charset="0"/>
                <a:cs typeface="Times New Roman" panose="02020603050405020304" pitchFamily="18" charset="0"/>
              </a:rPr>
              <a:t>Don’t go alone </a:t>
            </a:r>
          </a:p>
          <a:p>
            <a:pPr lvl="0">
              <a:buFont typeface="Courier New" panose="02070309020205020404" pitchFamily="49" charset="0"/>
              <a:buChar char="o"/>
            </a:pPr>
            <a:r>
              <a:rPr lang="en-GB" dirty="0">
                <a:solidFill>
                  <a:prstClr val="black"/>
                </a:solidFill>
                <a:latin typeface="Times New Roman" panose="02020603050405020304" pitchFamily="18" charset="0"/>
                <a:cs typeface="Times New Roman" panose="02020603050405020304" pitchFamily="18" charset="0"/>
              </a:rPr>
              <a:t>Learn how to help </a:t>
            </a:r>
          </a:p>
        </p:txBody>
      </p:sp>
    </p:spTree>
    <p:extLst>
      <p:ext uri="{BB962C8B-B14F-4D97-AF65-F5344CB8AC3E}">
        <p14:creationId xmlns:p14="http://schemas.microsoft.com/office/powerpoint/2010/main" val="38254586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67425"/>
            <a:ext cx="10515600" cy="1300765"/>
          </a:xfrm>
        </p:spPr>
        <p:txBody>
          <a:bodyPr>
            <a:normAutofit fontScale="90000"/>
          </a:bodyPr>
          <a:lstStyle/>
          <a:p>
            <a:r>
              <a:rPr lang="en-GB" dirty="0" smtClean="0"/>
              <a:t/>
            </a:r>
            <a:br>
              <a:rPr lang="en-GB" dirty="0" smtClean="0"/>
            </a:br>
            <a:r>
              <a:rPr lang="en-GB" b="1" dirty="0" smtClean="0">
                <a:latin typeface="Times New Roman" panose="02020603050405020304" pitchFamily="18" charset="0"/>
                <a:cs typeface="Times New Roman" panose="02020603050405020304" pitchFamily="18" charset="0"/>
              </a:rPr>
              <a:t>SAFETY IN AND AROUND THE POOL </a:t>
            </a:r>
            <a:r>
              <a:rPr lang="en-GB" dirty="0" smtClean="0"/>
              <a:t/>
            </a:r>
            <a:br>
              <a:rPr lang="en-GB" dirty="0" smtClean="0"/>
            </a:br>
            <a:endParaRPr lang="en-GB" dirty="0"/>
          </a:p>
        </p:txBody>
      </p:sp>
      <p:sp>
        <p:nvSpPr>
          <p:cNvPr id="3" name="Content Placeholder 2"/>
          <p:cNvSpPr>
            <a:spLocks noGrp="1"/>
          </p:cNvSpPr>
          <p:nvPr>
            <p:ph idx="1"/>
          </p:nvPr>
        </p:nvSpPr>
        <p:spPr>
          <a:xfrm>
            <a:off x="838200" y="1468191"/>
            <a:ext cx="10515600" cy="4264015"/>
          </a:xfrm>
        </p:spPr>
        <p:txBody>
          <a:bodyPr>
            <a:noAutofit/>
          </a:bodyPr>
          <a:lstStyle/>
          <a:p>
            <a:pPr lvl="0"/>
            <a:r>
              <a:rPr lang="en-GB" dirty="0">
                <a:solidFill>
                  <a:prstClr val="black"/>
                </a:solidFill>
                <a:latin typeface="Times New Roman" panose="02020603050405020304" pitchFamily="18" charset="0"/>
                <a:cs typeface="Times New Roman" panose="02020603050405020304" pitchFamily="18" charset="0"/>
              </a:rPr>
              <a:t>Always wear footwear to prevent injury, discarding it only when swimming. </a:t>
            </a:r>
            <a:endParaRPr lang="en-GB" dirty="0" smtClean="0">
              <a:solidFill>
                <a:prstClr val="black"/>
              </a:solidFill>
              <a:latin typeface="Times New Roman" panose="02020603050405020304" pitchFamily="18" charset="0"/>
              <a:cs typeface="Times New Roman" panose="02020603050405020304" pitchFamily="18" charset="0"/>
            </a:endParaRPr>
          </a:p>
          <a:p>
            <a:pPr lvl="0"/>
            <a:endParaRPr lang="en-GB" dirty="0">
              <a:solidFill>
                <a:prstClr val="black"/>
              </a:solidFill>
              <a:latin typeface="Times New Roman" panose="02020603050405020304" pitchFamily="18" charset="0"/>
              <a:cs typeface="Times New Roman" panose="02020603050405020304" pitchFamily="18" charset="0"/>
            </a:endParaRPr>
          </a:p>
          <a:p>
            <a:pPr lvl="0"/>
            <a:r>
              <a:rPr lang="en-GB" dirty="0">
                <a:solidFill>
                  <a:prstClr val="black"/>
                </a:solidFill>
                <a:latin typeface="Times New Roman" panose="02020603050405020304" pitchFamily="18" charset="0"/>
                <a:cs typeface="Times New Roman" panose="02020603050405020304" pitchFamily="18" charset="0"/>
              </a:rPr>
              <a:t>Wear a brightly coloured swim hat to retain body heat and so you can be easily seen. </a:t>
            </a:r>
            <a:endParaRPr lang="en-GB" dirty="0" smtClean="0">
              <a:solidFill>
                <a:prstClr val="black"/>
              </a:solidFill>
              <a:latin typeface="Times New Roman" panose="02020603050405020304" pitchFamily="18" charset="0"/>
              <a:cs typeface="Times New Roman" panose="02020603050405020304" pitchFamily="18" charset="0"/>
            </a:endParaRPr>
          </a:p>
          <a:p>
            <a:pPr lvl="0"/>
            <a:endParaRPr lang="en-GB" dirty="0">
              <a:solidFill>
                <a:prstClr val="black"/>
              </a:solidFill>
              <a:latin typeface="Times New Roman" panose="02020603050405020304" pitchFamily="18" charset="0"/>
              <a:cs typeface="Times New Roman" panose="02020603050405020304" pitchFamily="18" charset="0"/>
            </a:endParaRPr>
          </a:p>
          <a:p>
            <a:pPr lvl="0"/>
            <a:r>
              <a:rPr lang="en-GB" dirty="0" smtClean="0">
                <a:solidFill>
                  <a:prstClr val="black"/>
                </a:solidFill>
                <a:latin typeface="Times New Roman" panose="02020603050405020304" pitchFamily="18" charset="0"/>
                <a:cs typeface="Times New Roman" panose="02020603050405020304" pitchFamily="18" charset="0"/>
              </a:rPr>
              <a:t>Have </a:t>
            </a:r>
            <a:r>
              <a:rPr lang="en-GB" dirty="0">
                <a:solidFill>
                  <a:prstClr val="black"/>
                </a:solidFill>
                <a:latin typeface="Times New Roman" panose="02020603050405020304" pitchFamily="18" charset="0"/>
                <a:cs typeface="Times New Roman" panose="02020603050405020304" pitchFamily="18" charset="0"/>
              </a:rPr>
              <a:t>shelter and first aid equipment available.</a:t>
            </a:r>
          </a:p>
          <a:p>
            <a:pPr lvl="0">
              <a:buFont typeface="Courier New" panose="02070309020205020404" pitchFamily="49" charset="0"/>
              <a:buChar char="o"/>
            </a:pPr>
            <a:endParaRPr lang="en-GB" dirty="0">
              <a:solidFill>
                <a:prstClr val="black"/>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254586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pic>
        <p:nvPicPr>
          <p:cNvPr id="4" name="Content Placeholder 3"/>
          <p:cNvPicPr>
            <a:picLocks noGrp="1" noChangeAspect="1"/>
          </p:cNvPicPr>
          <p:nvPr>
            <p:ph idx="1"/>
          </p:nvPr>
        </p:nvPicPr>
        <p:blipFill>
          <a:blip r:embed="rId2"/>
          <a:stretch>
            <a:fillRect/>
          </a:stretch>
        </p:blipFill>
        <p:spPr>
          <a:xfrm>
            <a:off x="838201" y="365124"/>
            <a:ext cx="5111838" cy="6061434"/>
          </a:xfrm>
          <a:prstGeom prst="rect">
            <a:avLst/>
          </a:prstGeom>
        </p:spPr>
      </p:pic>
      <p:pic>
        <p:nvPicPr>
          <p:cNvPr id="5" name="Picture 4"/>
          <p:cNvPicPr>
            <a:picLocks noChangeAspect="1"/>
          </p:cNvPicPr>
          <p:nvPr/>
        </p:nvPicPr>
        <p:blipFill>
          <a:blip r:embed="rId3"/>
          <a:stretch>
            <a:fillRect/>
          </a:stretch>
        </p:blipFill>
        <p:spPr>
          <a:xfrm>
            <a:off x="5958276" y="365125"/>
            <a:ext cx="5558307" cy="6061433"/>
          </a:xfrm>
          <a:prstGeom prst="rect">
            <a:avLst/>
          </a:prstGeom>
        </p:spPr>
      </p:pic>
    </p:spTree>
    <p:extLst>
      <p:ext uri="{BB962C8B-B14F-4D97-AF65-F5344CB8AC3E}">
        <p14:creationId xmlns:p14="http://schemas.microsoft.com/office/powerpoint/2010/main" val="414648341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sz="4900" b="1" dirty="0" smtClean="0">
                <a:latin typeface="Times New Roman" panose="02020603050405020304" pitchFamily="18" charset="0"/>
                <a:cs typeface="Times New Roman" panose="02020603050405020304" pitchFamily="18" charset="0"/>
              </a:rPr>
              <a:t>SAFETY IN AND AROUND THE POOL </a:t>
            </a:r>
            <a:endParaRPr lang="en-GB" dirty="0"/>
          </a:p>
        </p:txBody>
      </p:sp>
      <p:sp>
        <p:nvSpPr>
          <p:cNvPr id="3" name="Content Placeholder 2"/>
          <p:cNvSpPr>
            <a:spLocks noGrp="1"/>
          </p:cNvSpPr>
          <p:nvPr>
            <p:ph idx="1"/>
          </p:nvPr>
        </p:nvSpPr>
        <p:spPr>
          <a:xfrm>
            <a:off x="481781" y="1825625"/>
            <a:ext cx="8898193" cy="4768358"/>
          </a:xfrm>
        </p:spPr>
        <p:txBody>
          <a:bodyPr>
            <a:noAutofit/>
          </a:bodyPr>
          <a:lstStyle/>
          <a:p>
            <a:r>
              <a:rPr lang="en-GB" b="1" dirty="0">
                <a:solidFill>
                  <a:prstClr val="black"/>
                </a:solidFill>
                <a:latin typeface="Times New Roman" panose="02020603050405020304" pitchFamily="18" charset="0"/>
                <a:ea typeface="+mj-ea"/>
                <a:cs typeface="Times New Roman" panose="02020603050405020304" pitchFamily="18" charset="0"/>
              </a:rPr>
              <a:t>Swim tool kits</a:t>
            </a:r>
            <a:endParaRPr lang="en-GB" b="1" dirty="0" smtClean="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ü"/>
            </a:pPr>
            <a:r>
              <a:rPr lang="en-GB" dirty="0" smtClean="0">
                <a:latin typeface="Times New Roman" panose="02020603050405020304" pitchFamily="18" charset="0"/>
                <a:cs typeface="Times New Roman" panose="02020603050405020304" pitchFamily="18" charset="0"/>
              </a:rPr>
              <a:t>You will want to feel comfortable wearing your swimwear from a personal point of view and also when in the water too. </a:t>
            </a:r>
          </a:p>
          <a:p>
            <a:pPr algn="just">
              <a:buFont typeface="Courier New" panose="02070309020205020404" pitchFamily="49" charset="0"/>
              <a:buChar char="o"/>
            </a:pPr>
            <a:r>
              <a:rPr lang="en-GB" dirty="0" smtClean="0">
                <a:latin typeface="Times New Roman" panose="02020603050405020304" pitchFamily="18" charset="0"/>
                <a:cs typeface="Times New Roman" panose="02020603050405020304" pitchFamily="18" charset="0"/>
              </a:rPr>
              <a:t>If your items aren’t comfortable then this means you will be focussing on what you are wearing, as opposed to your swimming style. </a:t>
            </a:r>
          </a:p>
          <a:p>
            <a:pPr algn="just">
              <a:buFont typeface="Courier New" panose="02070309020205020404" pitchFamily="49" charset="0"/>
              <a:buChar char="o"/>
            </a:pPr>
            <a:endParaRPr lang="en-GB" dirty="0" smtClean="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ü"/>
            </a:pPr>
            <a:r>
              <a:rPr lang="en-GB" b="1" dirty="0" smtClean="0">
                <a:latin typeface="Times New Roman" panose="02020603050405020304" pitchFamily="18" charset="0"/>
                <a:cs typeface="Times New Roman" panose="02020603050405020304" pitchFamily="18" charset="0"/>
              </a:rPr>
              <a:t>Towel</a:t>
            </a:r>
            <a:r>
              <a:rPr lang="en-GB" dirty="0" smtClean="0">
                <a:latin typeface="Times New Roman" panose="02020603050405020304" pitchFamily="18" charset="0"/>
                <a:cs typeface="Times New Roman" panose="02020603050405020304" pitchFamily="18" charset="0"/>
              </a:rPr>
              <a:t> : Make sure you have a swimming towel with you when you go for lessons or to practice your technique in the water. </a:t>
            </a:r>
          </a:p>
        </p:txBody>
      </p:sp>
      <p:pic>
        <p:nvPicPr>
          <p:cNvPr id="4" name="Picture 3"/>
          <p:cNvPicPr>
            <a:picLocks noChangeAspect="1"/>
          </p:cNvPicPr>
          <p:nvPr/>
        </p:nvPicPr>
        <p:blipFill>
          <a:blip r:embed="rId2"/>
          <a:stretch>
            <a:fillRect/>
          </a:stretch>
        </p:blipFill>
        <p:spPr>
          <a:xfrm>
            <a:off x="9379974" y="2495326"/>
            <a:ext cx="2326923" cy="1303942"/>
          </a:xfrm>
          <a:prstGeom prst="rect">
            <a:avLst/>
          </a:prstGeom>
        </p:spPr>
      </p:pic>
      <p:pic>
        <p:nvPicPr>
          <p:cNvPr id="5" name="Picture 4"/>
          <p:cNvPicPr>
            <a:picLocks noChangeAspect="1"/>
          </p:cNvPicPr>
          <p:nvPr/>
        </p:nvPicPr>
        <p:blipFill>
          <a:blip r:embed="rId3"/>
          <a:stretch>
            <a:fillRect/>
          </a:stretch>
        </p:blipFill>
        <p:spPr>
          <a:xfrm>
            <a:off x="9379974" y="3799268"/>
            <a:ext cx="1160207" cy="2543175"/>
          </a:xfrm>
          <a:prstGeom prst="rect">
            <a:avLst/>
          </a:prstGeom>
        </p:spPr>
      </p:pic>
      <p:pic>
        <p:nvPicPr>
          <p:cNvPr id="6" name="Picture 5"/>
          <p:cNvPicPr>
            <a:picLocks noChangeAspect="1"/>
          </p:cNvPicPr>
          <p:nvPr/>
        </p:nvPicPr>
        <p:blipFill>
          <a:blip r:embed="rId4"/>
          <a:stretch>
            <a:fillRect/>
          </a:stretch>
        </p:blipFill>
        <p:spPr>
          <a:xfrm>
            <a:off x="10540181" y="3799268"/>
            <a:ext cx="1166716" cy="2543175"/>
          </a:xfrm>
          <a:prstGeom prst="rect">
            <a:avLst/>
          </a:prstGeom>
        </p:spPr>
      </p:pic>
    </p:spTree>
    <p:extLst>
      <p:ext uri="{BB962C8B-B14F-4D97-AF65-F5344CB8AC3E}">
        <p14:creationId xmlns:p14="http://schemas.microsoft.com/office/powerpoint/2010/main" val="328647044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sz="4900" b="1" dirty="0" smtClean="0">
                <a:latin typeface="Times New Roman" panose="02020603050405020304" pitchFamily="18" charset="0"/>
                <a:cs typeface="Times New Roman" panose="02020603050405020304" pitchFamily="18" charset="0"/>
              </a:rPr>
              <a:t>SAFETY IN AND AROUND THE POOL </a:t>
            </a:r>
            <a:endParaRPr lang="en-GB" dirty="0"/>
          </a:p>
        </p:txBody>
      </p:sp>
      <p:sp>
        <p:nvSpPr>
          <p:cNvPr id="3" name="Content Placeholder 2"/>
          <p:cNvSpPr>
            <a:spLocks noGrp="1"/>
          </p:cNvSpPr>
          <p:nvPr>
            <p:ph idx="1"/>
          </p:nvPr>
        </p:nvSpPr>
        <p:spPr>
          <a:xfrm>
            <a:off x="481781" y="1825625"/>
            <a:ext cx="8898193" cy="4768358"/>
          </a:xfrm>
        </p:spPr>
        <p:txBody>
          <a:bodyPr>
            <a:noAutofit/>
          </a:bodyPr>
          <a:lstStyle/>
          <a:p>
            <a:pPr lvl="0" algn="just">
              <a:buFont typeface="Courier New" panose="02070309020205020404" pitchFamily="49" charset="0"/>
              <a:buChar char="o"/>
            </a:pPr>
            <a:r>
              <a:rPr lang="en-GB" dirty="0">
                <a:solidFill>
                  <a:prstClr val="black"/>
                </a:solidFill>
                <a:latin typeface="Times New Roman" panose="02020603050405020304" pitchFamily="18" charset="0"/>
                <a:cs typeface="Times New Roman" panose="02020603050405020304" pitchFamily="18" charset="0"/>
              </a:rPr>
              <a:t>It’s quite an awkward and embarrassing situation if you come out of the sea or the pool soaking wet, only to discover that you’ve left your towel at home.  </a:t>
            </a:r>
            <a:endParaRPr lang="en-GB" dirty="0" smtClean="0">
              <a:solidFill>
                <a:prstClr val="black"/>
              </a:solidFill>
              <a:latin typeface="Times New Roman" panose="02020603050405020304" pitchFamily="18" charset="0"/>
              <a:cs typeface="Times New Roman" panose="02020603050405020304" pitchFamily="18" charset="0"/>
            </a:endParaRPr>
          </a:p>
          <a:p>
            <a:pPr lvl="0" algn="just">
              <a:buFont typeface="Courier New" panose="02070309020205020404" pitchFamily="49" charset="0"/>
              <a:buChar char="o"/>
            </a:pPr>
            <a:r>
              <a:rPr lang="en-GB" dirty="0" smtClean="0">
                <a:solidFill>
                  <a:prstClr val="black"/>
                </a:solidFill>
                <a:latin typeface="Times New Roman" panose="02020603050405020304" pitchFamily="18" charset="0"/>
                <a:cs typeface="Times New Roman" panose="02020603050405020304" pitchFamily="18" charset="0"/>
              </a:rPr>
              <a:t>It </a:t>
            </a:r>
            <a:r>
              <a:rPr lang="en-GB" dirty="0">
                <a:solidFill>
                  <a:prstClr val="black"/>
                </a:solidFill>
                <a:latin typeface="Times New Roman" panose="02020603050405020304" pitchFamily="18" charset="0"/>
                <a:cs typeface="Times New Roman" panose="02020603050405020304" pitchFamily="18" charset="0"/>
              </a:rPr>
              <a:t>might be best to have a few towels so that you can alternate between the two on a frequent basis. </a:t>
            </a:r>
            <a:endParaRPr lang="en-GB" dirty="0" smtClean="0">
              <a:solidFill>
                <a:prstClr val="black"/>
              </a:solidFill>
              <a:latin typeface="Times New Roman" panose="02020603050405020304" pitchFamily="18" charset="0"/>
              <a:cs typeface="Times New Roman" panose="02020603050405020304" pitchFamily="18" charset="0"/>
            </a:endParaRPr>
          </a:p>
          <a:p>
            <a:pPr lvl="0" algn="just">
              <a:buFont typeface="Courier New" panose="02070309020205020404" pitchFamily="49" charset="0"/>
              <a:buChar char="o"/>
            </a:pPr>
            <a:r>
              <a:rPr lang="en-GB" dirty="0" smtClean="0">
                <a:solidFill>
                  <a:prstClr val="black"/>
                </a:solidFill>
                <a:latin typeface="Times New Roman" panose="02020603050405020304" pitchFamily="18" charset="0"/>
                <a:cs typeface="Times New Roman" panose="02020603050405020304" pitchFamily="18" charset="0"/>
              </a:rPr>
              <a:t>This </a:t>
            </a:r>
            <a:r>
              <a:rPr lang="en-GB" dirty="0">
                <a:solidFill>
                  <a:prstClr val="black"/>
                </a:solidFill>
                <a:latin typeface="Times New Roman" panose="02020603050405020304" pitchFamily="18" charset="0"/>
                <a:cs typeface="Times New Roman" panose="02020603050405020304" pitchFamily="18" charset="0"/>
              </a:rPr>
              <a:t>will also be more hygienic, compared to using one towel over again. </a:t>
            </a:r>
            <a:endParaRPr lang="en-GB" dirty="0" smtClean="0">
              <a:solidFill>
                <a:prstClr val="black"/>
              </a:solidFill>
              <a:latin typeface="Times New Roman" panose="02020603050405020304" pitchFamily="18" charset="0"/>
              <a:cs typeface="Times New Roman" panose="02020603050405020304" pitchFamily="18" charset="0"/>
            </a:endParaRPr>
          </a:p>
          <a:p>
            <a:pPr lvl="0" algn="just">
              <a:buFont typeface="Courier New" panose="02070309020205020404" pitchFamily="49" charset="0"/>
              <a:buChar char="o"/>
            </a:pPr>
            <a:endParaRPr lang="en-GB" dirty="0">
              <a:solidFill>
                <a:prstClr val="black"/>
              </a:solidFill>
              <a:latin typeface="Times New Roman" panose="02020603050405020304" pitchFamily="18" charset="0"/>
              <a:cs typeface="Times New Roman" panose="02020603050405020304" pitchFamily="18" charset="0"/>
            </a:endParaRPr>
          </a:p>
          <a:p>
            <a:pPr lvl="0" algn="just">
              <a:buFont typeface="Wingdings" panose="05000000000000000000" pitchFamily="2" charset="2"/>
              <a:buChar char="ü"/>
            </a:pPr>
            <a:r>
              <a:rPr lang="en-GB" b="1" dirty="0">
                <a:solidFill>
                  <a:prstClr val="black"/>
                </a:solidFill>
                <a:latin typeface="Times New Roman" panose="02020603050405020304" pitchFamily="18" charset="0"/>
                <a:cs typeface="Times New Roman" panose="02020603050405020304" pitchFamily="18" charset="0"/>
              </a:rPr>
              <a:t>Swim cap</a:t>
            </a:r>
            <a:r>
              <a:rPr lang="en-GB" dirty="0">
                <a:solidFill>
                  <a:prstClr val="black"/>
                </a:solidFill>
                <a:latin typeface="Times New Roman" panose="02020603050405020304" pitchFamily="18" charset="0"/>
                <a:cs typeface="Times New Roman" panose="02020603050405020304" pitchFamily="18" charset="0"/>
              </a:rPr>
              <a:t>: To keep your hair protected from saturation and also from the damaging effects of chlorine, it’s worth buying a swim cap. </a:t>
            </a:r>
            <a:endParaRPr lang="en-GB" dirty="0" smtClean="0">
              <a:solidFill>
                <a:prstClr val="black"/>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9379974" y="2495326"/>
            <a:ext cx="2326923" cy="1303942"/>
          </a:xfrm>
          <a:prstGeom prst="rect">
            <a:avLst/>
          </a:prstGeom>
        </p:spPr>
      </p:pic>
      <p:pic>
        <p:nvPicPr>
          <p:cNvPr id="5" name="Picture 4"/>
          <p:cNvPicPr>
            <a:picLocks noChangeAspect="1"/>
          </p:cNvPicPr>
          <p:nvPr/>
        </p:nvPicPr>
        <p:blipFill>
          <a:blip r:embed="rId3"/>
          <a:stretch>
            <a:fillRect/>
          </a:stretch>
        </p:blipFill>
        <p:spPr>
          <a:xfrm>
            <a:off x="9379974" y="3799268"/>
            <a:ext cx="1160207" cy="2543175"/>
          </a:xfrm>
          <a:prstGeom prst="rect">
            <a:avLst/>
          </a:prstGeom>
        </p:spPr>
      </p:pic>
      <p:pic>
        <p:nvPicPr>
          <p:cNvPr id="6" name="Picture 5"/>
          <p:cNvPicPr>
            <a:picLocks noChangeAspect="1"/>
          </p:cNvPicPr>
          <p:nvPr/>
        </p:nvPicPr>
        <p:blipFill>
          <a:blip r:embed="rId4"/>
          <a:stretch>
            <a:fillRect/>
          </a:stretch>
        </p:blipFill>
        <p:spPr>
          <a:xfrm>
            <a:off x="10540181" y="3799268"/>
            <a:ext cx="1166716" cy="2543175"/>
          </a:xfrm>
          <a:prstGeom prst="rect">
            <a:avLst/>
          </a:prstGeom>
        </p:spPr>
      </p:pic>
    </p:spTree>
    <p:extLst>
      <p:ext uri="{BB962C8B-B14F-4D97-AF65-F5344CB8AC3E}">
        <p14:creationId xmlns:p14="http://schemas.microsoft.com/office/powerpoint/2010/main" val="328647044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sz="4900" b="1" dirty="0" smtClean="0">
                <a:latin typeface="Times New Roman" panose="02020603050405020304" pitchFamily="18" charset="0"/>
                <a:cs typeface="Times New Roman" panose="02020603050405020304" pitchFamily="18" charset="0"/>
              </a:rPr>
              <a:t>SAFETY IN AND AROUND THE POOL </a:t>
            </a:r>
            <a:endParaRPr lang="en-GB" dirty="0"/>
          </a:p>
        </p:txBody>
      </p:sp>
      <p:sp>
        <p:nvSpPr>
          <p:cNvPr id="3" name="Content Placeholder 2"/>
          <p:cNvSpPr>
            <a:spLocks noGrp="1"/>
          </p:cNvSpPr>
          <p:nvPr>
            <p:ph idx="1"/>
          </p:nvPr>
        </p:nvSpPr>
        <p:spPr>
          <a:xfrm>
            <a:off x="481781" y="1825625"/>
            <a:ext cx="8898193" cy="4768358"/>
          </a:xfrm>
        </p:spPr>
        <p:txBody>
          <a:bodyPr>
            <a:noAutofit/>
          </a:bodyPr>
          <a:lstStyle/>
          <a:p>
            <a:pPr lvl="0" algn="just">
              <a:buFont typeface="Courier New" panose="02070309020205020404" pitchFamily="49" charset="0"/>
              <a:buChar char="o"/>
            </a:pPr>
            <a:r>
              <a:rPr lang="en-GB" dirty="0">
                <a:solidFill>
                  <a:prstClr val="black"/>
                </a:solidFill>
                <a:latin typeface="Times New Roman" panose="02020603050405020304" pitchFamily="18" charset="0"/>
                <a:cs typeface="Times New Roman" panose="02020603050405020304" pitchFamily="18" charset="0"/>
              </a:rPr>
              <a:t>This piece of swimwear will also keep the pool clean for other users and stop any filters getting clogged up.  </a:t>
            </a:r>
          </a:p>
          <a:p>
            <a:pPr lvl="0" algn="just">
              <a:buFont typeface="Courier New" panose="02070309020205020404" pitchFamily="49" charset="0"/>
              <a:buChar char="o"/>
            </a:pPr>
            <a:r>
              <a:rPr lang="en-GB" dirty="0">
                <a:solidFill>
                  <a:prstClr val="black"/>
                </a:solidFill>
                <a:latin typeface="Times New Roman" panose="02020603050405020304" pitchFamily="18" charset="0"/>
                <a:cs typeface="Times New Roman" panose="02020603050405020304" pitchFamily="18" charset="0"/>
              </a:rPr>
              <a:t>In addition, you will also create a smoother profile in the water, reducing the amount of drag you create. </a:t>
            </a:r>
            <a:endParaRPr lang="en-GB" dirty="0" smtClean="0">
              <a:solidFill>
                <a:prstClr val="black"/>
              </a:solidFill>
              <a:latin typeface="Times New Roman" panose="02020603050405020304" pitchFamily="18" charset="0"/>
              <a:cs typeface="Times New Roman" panose="02020603050405020304" pitchFamily="18" charset="0"/>
            </a:endParaRPr>
          </a:p>
          <a:p>
            <a:pPr lvl="0" algn="just">
              <a:buFont typeface="Courier New" panose="02070309020205020404" pitchFamily="49" charset="0"/>
              <a:buChar char="o"/>
            </a:pPr>
            <a:endParaRPr lang="en-GB" dirty="0">
              <a:solidFill>
                <a:prstClr val="black"/>
              </a:solidFill>
              <a:latin typeface="Times New Roman" panose="02020603050405020304" pitchFamily="18" charset="0"/>
              <a:cs typeface="Times New Roman" panose="02020603050405020304" pitchFamily="18" charset="0"/>
            </a:endParaRPr>
          </a:p>
          <a:p>
            <a:pPr lvl="0" algn="just">
              <a:buFont typeface="Wingdings" panose="05000000000000000000" pitchFamily="2" charset="2"/>
              <a:buChar char="ü"/>
            </a:pPr>
            <a:r>
              <a:rPr lang="en-GB" b="1" dirty="0">
                <a:solidFill>
                  <a:prstClr val="black"/>
                </a:solidFill>
                <a:latin typeface="Times New Roman" panose="02020603050405020304" pitchFamily="18" charset="0"/>
                <a:cs typeface="Times New Roman" panose="02020603050405020304" pitchFamily="18" charset="0"/>
              </a:rPr>
              <a:t>Goggles:</a:t>
            </a:r>
            <a:r>
              <a:rPr lang="en-GB" dirty="0">
                <a:solidFill>
                  <a:prstClr val="black"/>
                </a:solidFill>
                <a:latin typeface="Times New Roman" panose="02020603050405020304" pitchFamily="18" charset="0"/>
                <a:cs typeface="Times New Roman" panose="02020603050405020304" pitchFamily="18" charset="0"/>
              </a:rPr>
              <a:t> Your sight is hugely important, so protect it from water debris and chlorine by purchasing a decent pair of goggles.  </a:t>
            </a:r>
            <a:endParaRPr lang="en-GB" dirty="0" smtClean="0">
              <a:solidFill>
                <a:prstClr val="black"/>
              </a:solidFill>
              <a:latin typeface="Times New Roman" panose="02020603050405020304" pitchFamily="18" charset="0"/>
              <a:cs typeface="Times New Roman" panose="02020603050405020304" pitchFamily="18" charset="0"/>
            </a:endParaRPr>
          </a:p>
          <a:p>
            <a:pPr lvl="0" algn="just">
              <a:buFont typeface="Courier New" panose="02070309020205020404" pitchFamily="49" charset="0"/>
              <a:buChar char="o"/>
            </a:pPr>
            <a:r>
              <a:rPr lang="en-GB" dirty="0" smtClean="0">
                <a:solidFill>
                  <a:prstClr val="black"/>
                </a:solidFill>
                <a:latin typeface="Times New Roman" panose="02020603050405020304" pitchFamily="18" charset="0"/>
                <a:cs typeface="Times New Roman" panose="02020603050405020304" pitchFamily="18" charset="0"/>
              </a:rPr>
              <a:t>Find </a:t>
            </a:r>
            <a:r>
              <a:rPr lang="en-GB" dirty="0">
                <a:solidFill>
                  <a:prstClr val="black"/>
                </a:solidFill>
                <a:latin typeface="Times New Roman" panose="02020603050405020304" pitchFamily="18" charset="0"/>
                <a:cs typeface="Times New Roman" panose="02020603050405020304" pitchFamily="18" charset="0"/>
              </a:rPr>
              <a:t>a pair that fit comfortably and that will allow you to see in the water when you are developing your technique.  </a:t>
            </a:r>
            <a:endParaRPr lang="en-GB" dirty="0" smtClean="0">
              <a:solidFill>
                <a:prstClr val="black"/>
              </a:solidFill>
              <a:latin typeface="Times New Roman" panose="02020603050405020304" pitchFamily="18" charset="0"/>
              <a:cs typeface="Times New Roman" panose="02020603050405020304" pitchFamily="18" charset="0"/>
            </a:endParaRPr>
          </a:p>
          <a:p>
            <a:pPr lvl="0" algn="just">
              <a:buFont typeface="Courier New" panose="02070309020205020404" pitchFamily="49" charset="0"/>
              <a:buChar char="o"/>
            </a:pPr>
            <a:endParaRPr lang="en-GB" dirty="0">
              <a:solidFill>
                <a:prstClr val="black"/>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9379974" y="2495326"/>
            <a:ext cx="2326923" cy="1303942"/>
          </a:xfrm>
          <a:prstGeom prst="rect">
            <a:avLst/>
          </a:prstGeom>
        </p:spPr>
      </p:pic>
      <p:pic>
        <p:nvPicPr>
          <p:cNvPr id="5" name="Picture 4"/>
          <p:cNvPicPr>
            <a:picLocks noChangeAspect="1"/>
          </p:cNvPicPr>
          <p:nvPr/>
        </p:nvPicPr>
        <p:blipFill>
          <a:blip r:embed="rId3"/>
          <a:stretch>
            <a:fillRect/>
          </a:stretch>
        </p:blipFill>
        <p:spPr>
          <a:xfrm>
            <a:off x="9379974" y="3799268"/>
            <a:ext cx="1160207" cy="2543175"/>
          </a:xfrm>
          <a:prstGeom prst="rect">
            <a:avLst/>
          </a:prstGeom>
        </p:spPr>
      </p:pic>
      <p:pic>
        <p:nvPicPr>
          <p:cNvPr id="6" name="Picture 5"/>
          <p:cNvPicPr>
            <a:picLocks noChangeAspect="1"/>
          </p:cNvPicPr>
          <p:nvPr/>
        </p:nvPicPr>
        <p:blipFill>
          <a:blip r:embed="rId4"/>
          <a:stretch>
            <a:fillRect/>
          </a:stretch>
        </p:blipFill>
        <p:spPr>
          <a:xfrm>
            <a:off x="10540181" y="3799268"/>
            <a:ext cx="1166716" cy="2543175"/>
          </a:xfrm>
          <a:prstGeom prst="rect">
            <a:avLst/>
          </a:prstGeom>
        </p:spPr>
      </p:pic>
    </p:spTree>
    <p:extLst>
      <p:ext uri="{BB962C8B-B14F-4D97-AF65-F5344CB8AC3E}">
        <p14:creationId xmlns:p14="http://schemas.microsoft.com/office/powerpoint/2010/main" val="328647044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sz="4900" b="1" dirty="0" smtClean="0">
                <a:latin typeface="Times New Roman" panose="02020603050405020304" pitchFamily="18" charset="0"/>
                <a:cs typeface="Times New Roman" panose="02020603050405020304" pitchFamily="18" charset="0"/>
              </a:rPr>
              <a:t>SAFETY IN AND AROUND THE POOL </a:t>
            </a:r>
            <a:endParaRPr lang="en-GB" dirty="0"/>
          </a:p>
        </p:txBody>
      </p:sp>
      <p:sp>
        <p:nvSpPr>
          <p:cNvPr id="3" name="Content Placeholder 2"/>
          <p:cNvSpPr>
            <a:spLocks noGrp="1"/>
          </p:cNvSpPr>
          <p:nvPr>
            <p:ph idx="1"/>
          </p:nvPr>
        </p:nvSpPr>
        <p:spPr>
          <a:xfrm>
            <a:off x="481781" y="1825625"/>
            <a:ext cx="8898193" cy="4768358"/>
          </a:xfrm>
        </p:spPr>
        <p:txBody>
          <a:bodyPr>
            <a:noAutofit/>
          </a:bodyPr>
          <a:lstStyle/>
          <a:p>
            <a:pPr lvl="0" algn="just">
              <a:buFont typeface="Courier New" panose="02070309020205020404" pitchFamily="49" charset="0"/>
              <a:buChar char="o"/>
            </a:pPr>
            <a:r>
              <a:rPr lang="en-GB" dirty="0">
                <a:solidFill>
                  <a:prstClr val="black"/>
                </a:solidFill>
                <a:latin typeface="Times New Roman" panose="02020603050405020304" pitchFamily="18" charset="0"/>
                <a:cs typeface="Times New Roman" panose="02020603050405020304" pitchFamily="18" charset="0"/>
              </a:rPr>
              <a:t>As goggles come in a range of styles, including polarised, mirrored and clear lensed, personal preference will also play a part in choosing the best design for </a:t>
            </a:r>
            <a:r>
              <a:rPr lang="en-GB" dirty="0" smtClean="0">
                <a:solidFill>
                  <a:prstClr val="black"/>
                </a:solidFill>
                <a:latin typeface="Times New Roman" panose="02020603050405020304" pitchFamily="18" charset="0"/>
                <a:cs typeface="Times New Roman" panose="02020603050405020304" pitchFamily="18" charset="0"/>
              </a:rPr>
              <a:t>you</a:t>
            </a:r>
          </a:p>
          <a:p>
            <a:pPr lvl="0" algn="just">
              <a:buFont typeface="Courier New" panose="02070309020205020404" pitchFamily="49" charset="0"/>
              <a:buChar char="o"/>
            </a:pPr>
            <a:endParaRPr lang="en-GB" dirty="0" smtClean="0">
              <a:solidFill>
                <a:prstClr val="black"/>
              </a:solidFill>
              <a:latin typeface="Times New Roman" panose="02020603050405020304" pitchFamily="18" charset="0"/>
              <a:cs typeface="Times New Roman" panose="02020603050405020304" pitchFamily="18" charset="0"/>
            </a:endParaRPr>
          </a:p>
          <a:p>
            <a:pPr lvl="0" algn="just">
              <a:buFont typeface="Wingdings" panose="05000000000000000000" pitchFamily="2" charset="2"/>
              <a:buChar char="ü"/>
            </a:pPr>
            <a:r>
              <a:rPr lang="en-GB" b="1" dirty="0">
                <a:solidFill>
                  <a:prstClr val="black"/>
                </a:solidFill>
                <a:latin typeface="Times New Roman" panose="02020603050405020304" pitchFamily="18" charset="0"/>
                <a:cs typeface="Times New Roman" panose="02020603050405020304" pitchFamily="18" charset="0"/>
              </a:rPr>
              <a:t>Nose clips: </a:t>
            </a:r>
            <a:r>
              <a:rPr lang="en-GB" dirty="0">
                <a:solidFill>
                  <a:prstClr val="black"/>
                </a:solidFill>
                <a:latin typeface="Times New Roman" panose="02020603050405020304" pitchFamily="18" charset="0"/>
                <a:cs typeface="Times New Roman" panose="02020603050405020304" pitchFamily="18" charset="0"/>
              </a:rPr>
              <a:t>To stop water getting up your nose and to help those who suffer from sinus problems, nose clips are ideal. </a:t>
            </a:r>
            <a:endParaRPr lang="en-GB" dirty="0" smtClean="0">
              <a:solidFill>
                <a:prstClr val="black"/>
              </a:solidFill>
              <a:latin typeface="Times New Roman" panose="02020603050405020304" pitchFamily="18" charset="0"/>
              <a:cs typeface="Times New Roman" panose="02020603050405020304" pitchFamily="18" charset="0"/>
            </a:endParaRPr>
          </a:p>
          <a:p>
            <a:pPr lvl="0" algn="just">
              <a:buFont typeface="Courier New" panose="02070309020205020404" pitchFamily="49" charset="0"/>
              <a:buChar char="o"/>
            </a:pPr>
            <a:r>
              <a:rPr lang="en-GB" dirty="0" smtClean="0">
                <a:solidFill>
                  <a:prstClr val="black"/>
                </a:solidFill>
                <a:latin typeface="Times New Roman" panose="02020603050405020304" pitchFamily="18" charset="0"/>
                <a:cs typeface="Times New Roman" panose="02020603050405020304" pitchFamily="18" charset="0"/>
              </a:rPr>
              <a:t>They </a:t>
            </a:r>
            <a:r>
              <a:rPr lang="en-GB" dirty="0">
                <a:solidFill>
                  <a:prstClr val="black"/>
                </a:solidFill>
                <a:latin typeface="Times New Roman" panose="02020603050405020304" pitchFamily="18" charset="0"/>
                <a:cs typeface="Times New Roman" panose="02020603050405020304" pitchFamily="18" charset="0"/>
              </a:rPr>
              <a:t>are designed to rest on the bridge of your nose and clasp the nostrils shut – allowing you to focus solely on your swimming style. </a:t>
            </a:r>
          </a:p>
          <a:p>
            <a:pPr lvl="0" algn="just">
              <a:buFont typeface="Courier New" panose="02070309020205020404" pitchFamily="49" charset="0"/>
              <a:buChar char="o"/>
            </a:pPr>
            <a:endParaRPr lang="en-GB" dirty="0">
              <a:solidFill>
                <a:prstClr val="black"/>
              </a:solidFill>
              <a:latin typeface="Times New Roman" panose="02020603050405020304" pitchFamily="18" charset="0"/>
              <a:cs typeface="Times New Roman" panose="02020603050405020304" pitchFamily="18" charset="0"/>
            </a:endParaRPr>
          </a:p>
          <a:p>
            <a:pPr lvl="0" algn="just">
              <a:buFont typeface="Courier New" panose="02070309020205020404" pitchFamily="49" charset="0"/>
              <a:buChar char="o"/>
            </a:pPr>
            <a:endParaRPr lang="en-GB" dirty="0">
              <a:solidFill>
                <a:prstClr val="black"/>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9379974" y="2495326"/>
            <a:ext cx="2326923" cy="1303942"/>
          </a:xfrm>
          <a:prstGeom prst="rect">
            <a:avLst/>
          </a:prstGeom>
        </p:spPr>
      </p:pic>
      <p:pic>
        <p:nvPicPr>
          <p:cNvPr id="5" name="Picture 4"/>
          <p:cNvPicPr>
            <a:picLocks noChangeAspect="1"/>
          </p:cNvPicPr>
          <p:nvPr/>
        </p:nvPicPr>
        <p:blipFill>
          <a:blip r:embed="rId3"/>
          <a:stretch>
            <a:fillRect/>
          </a:stretch>
        </p:blipFill>
        <p:spPr>
          <a:xfrm>
            <a:off x="9379974" y="3799268"/>
            <a:ext cx="1160207" cy="2543175"/>
          </a:xfrm>
          <a:prstGeom prst="rect">
            <a:avLst/>
          </a:prstGeom>
        </p:spPr>
      </p:pic>
      <p:pic>
        <p:nvPicPr>
          <p:cNvPr id="6" name="Picture 5"/>
          <p:cNvPicPr>
            <a:picLocks noChangeAspect="1"/>
          </p:cNvPicPr>
          <p:nvPr/>
        </p:nvPicPr>
        <p:blipFill>
          <a:blip r:embed="rId4"/>
          <a:stretch>
            <a:fillRect/>
          </a:stretch>
        </p:blipFill>
        <p:spPr>
          <a:xfrm>
            <a:off x="10540181" y="3799268"/>
            <a:ext cx="1166716" cy="2543175"/>
          </a:xfrm>
          <a:prstGeom prst="rect">
            <a:avLst/>
          </a:prstGeom>
        </p:spPr>
      </p:pic>
    </p:spTree>
    <p:extLst>
      <p:ext uri="{BB962C8B-B14F-4D97-AF65-F5344CB8AC3E}">
        <p14:creationId xmlns:p14="http://schemas.microsoft.com/office/powerpoint/2010/main" val="3286470447"/>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199" y="229464"/>
            <a:ext cx="10537723" cy="1270079"/>
          </a:xfrm>
        </p:spPr>
        <p:txBody>
          <a:bodyPr>
            <a:noAutofit/>
          </a:bodyPr>
          <a:lstStyle/>
          <a:p>
            <a:r>
              <a:rPr lang="en-GB" b="1" dirty="0" smtClean="0">
                <a:latin typeface="Times New Roman" panose="02020603050405020304" pitchFamily="18" charset="0"/>
                <a:cs typeface="Times New Roman" panose="02020603050405020304" pitchFamily="18" charset="0"/>
              </a:rPr>
              <a:t>SAFETY IN AND AROUND THE POOL </a:t>
            </a:r>
            <a:endParaRPr lang="en-GB"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12956" y="1395720"/>
            <a:ext cx="9064246" cy="4993447"/>
          </a:xfrm>
        </p:spPr>
        <p:txBody>
          <a:bodyPr>
            <a:noAutofit/>
          </a:bodyPr>
          <a:lstStyle/>
          <a:p>
            <a:pPr algn="just">
              <a:buFont typeface="Wingdings" panose="05000000000000000000" pitchFamily="2" charset="2"/>
              <a:buChar char="ü"/>
            </a:pPr>
            <a:r>
              <a:rPr lang="en-GB" b="1" dirty="0" smtClean="0">
                <a:latin typeface="Times New Roman" panose="02020603050405020304" pitchFamily="18" charset="0"/>
                <a:cs typeface="Times New Roman" panose="02020603050405020304" pitchFamily="18" charset="0"/>
              </a:rPr>
              <a:t>Ear plugs:</a:t>
            </a:r>
            <a:r>
              <a:rPr lang="en-GB" dirty="0" smtClean="0">
                <a:latin typeface="Times New Roman" panose="02020603050405020304" pitchFamily="18" charset="0"/>
                <a:cs typeface="Times New Roman" panose="02020603050405020304" pitchFamily="18" charset="0"/>
              </a:rPr>
              <a:t> Nobody wants to get water in their ears when swimming, so purchase a decent pair of ear plugs. </a:t>
            </a:r>
          </a:p>
          <a:p>
            <a:pPr algn="just">
              <a:buFont typeface="Courier New" panose="02070309020205020404" pitchFamily="49" charset="0"/>
              <a:buChar char="o"/>
            </a:pPr>
            <a:r>
              <a:rPr lang="en-GB" dirty="0" smtClean="0">
                <a:latin typeface="Times New Roman" panose="02020603050405020304" pitchFamily="18" charset="0"/>
                <a:cs typeface="Times New Roman" panose="02020603050405020304" pitchFamily="18" charset="0"/>
              </a:rPr>
              <a:t>These protective plugs are also great at preventing ear infections too and are designed to feel comfortable when placed in your ears. </a:t>
            </a:r>
          </a:p>
          <a:p>
            <a:pPr algn="just">
              <a:buFont typeface="Courier New" panose="02070309020205020404" pitchFamily="49" charset="0"/>
              <a:buChar char="o"/>
            </a:pPr>
            <a:r>
              <a:rPr lang="en-GB" dirty="0" smtClean="0">
                <a:latin typeface="Times New Roman" panose="02020603050405020304" pitchFamily="18" charset="0"/>
                <a:cs typeface="Times New Roman" panose="02020603050405020304" pitchFamily="18" charset="0"/>
              </a:rPr>
              <a:t>They are also light and affordable, but will make the world of difference when in the pool. </a:t>
            </a:r>
          </a:p>
          <a:p>
            <a:pPr algn="just">
              <a:buFont typeface="Courier New" panose="02070309020205020404" pitchFamily="49" charset="0"/>
              <a:buChar char="o"/>
            </a:pPr>
            <a:endParaRPr lang="en-GB" dirty="0" smtClean="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ü"/>
            </a:pPr>
            <a:r>
              <a:rPr lang="en-GB" b="1" dirty="0" smtClean="0">
                <a:latin typeface="Times New Roman" panose="02020603050405020304" pitchFamily="18" charset="0"/>
                <a:cs typeface="Times New Roman" panose="02020603050405020304" pitchFamily="18" charset="0"/>
              </a:rPr>
              <a:t>Pool footwear</a:t>
            </a:r>
            <a:r>
              <a:rPr lang="en-GB" dirty="0" smtClean="0">
                <a:latin typeface="Times New Roman" panose="02020603050405020304" pitchFamily="18" charset="0"/>
                <a:cs typeface="Times New Roman" panose="02020603050405020304" pitchFamily="18" charset="0"/>
              </a:rPr>
              <a:t>: Walking barefoot around the swimming pool can be dangerous as surfaces are wet and slippery. </a:t>
            </a:r>
          </a:p>
          <a:p>
            <a:pPr algn="just">
              <a:buFont typeface="Courier New" panose="02070309020205020404" pitchFamily="49" charset="0"/>
              <a:buChar char="o"/>
            </a:pPr>
            <a:r>
              <a:rPr lang="en-GB" dirty="0" smtClean="0">
                <a:latin typeface="Times New Roman" panose="02020603050405020304" pitchFamily="18" charset="0"/>
                <a:cs typeface="Times New Roman" panose="02020603050405020304" pitchFamily="18" charset="0"/>
              </a:rPr>
              <a:t>So give yourself additional support and grip and protect your feet from damage with some pool footwear. </a:t>
            </a:r>
          </a:p>
          <a:p>
            <a:pPr algn="just">
              <a:buFont typeface="Courier New" panose="02070309020205020404" pitchFamily="49" charset="0"/>
              <a:buChar char="o"/>
            </a:pPr>
            <a:endParaRPr lang="en-GB"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9477202" y="1275944"/>
            <a:ext cx="2302594" cy="1743075"/>
          </a:xfrm>
          <a:prstGeom prst="rect">
            <a:avLst/>
          </a:prstGeom>
        </p:spPr>
      </p:pic>
      <p:pic>
        <p:nvPicPr>
          <p:cNvPr id="5" name="Picture 4"/>
          <p:cNvPicPr>
            <a:picLocks noChangeAspect="1"/>
          </p:cNvPicPr>
          <p:nvPr/>
        </p:nvPicPr>
        <p:blipFill>
          <a:blip r:embed="rId3"/>
          <a:stretch>
            <a:fillRect/>
          </a:stretch>
        </p:blipFill>
        <p:spPr>
          <a:xfrm>
            <a:off x="9477202" y="2993936"/>
            <a:ext cx="2143125" cy="2143125"/>
          </a:xfrm>
          <a:prstGeom prst="rect">
            <a:avLst/>
          </a:prstGeom>
        </p:spPr>
      </p:pic>
      <p:pic>
        <p:nvPicPr>
          <p:cNvPr id="6" name="Picture 5"/>
          <p:cNvPicPr>
            <a:picLocks noChangeAspect="1"/>
          </p:cNvPicPr>
          <p:nvPr/>
        </p:nvPicPr>
        <p:blipFill>
          <a:blip r:embed="rId4"/>
          <a:stretch>
            <a:fillRect/>
          </a:stretch>
        </p:blipFill>
        <p:spPr>
          <a:xfrm>
            <a:off x="9795062" y="5137061"/>
            <a:ext cx="1905000" cy="1485900"/>
          </a:xfrm>
          <a:prstGeom prst="rect">
            <a:avLst/>
          </a:prstGeom>
        </p:spPr>
      </p:pic>
    </p:spTree>
    <p:extLst>
      <p:ext uri="{BB962C8B-B14F-4D97-AF65-F5344CB8AC3E}">
        <p14:creationId xmlns:p14="http://schemas.microsoft.com/office/powerpoint/2010/main" val="53088747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199" y="229464"/>
            <a:ext cx="10537723" cy="1270079"/>
          </a:xfrm>
        </p:spPr>
        <p:txBody>
          <a:bodyPr>
            <a:noAutofit/>
          </a:bodyPr>
          <a:lstStyle/>
          <a:p>
            <a:r>
              <a:rPr lang="en-GB" b="1" dirty="0" smtClean="0">
                <a:latin typeface="Times New Roman" panose="02020603050405020304" pitchFamily="18" charset="0"/>
                <a:cs typeface="Times New Roman" panose="02020603050405020304" pitchFamily="18" charset="0"/>
              </a:rPr>
              <a:t>SAFETY IN AND AROUND THE POOL </a:t>
            </a:r>
            <a:endParaRPr lang="en-GB"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12956" y="1690688"/>
            <a:ext cx="9064246" cy="4993447"/>
          </a:xfrm>
        </p:spPr>
        <p:txBody>
          <a:bodyPr>
            <a:noAutofit/>
          </a:bodyPr>
          <a:lstStyle/>
          <a:p>
            <a:pPr lvl="0" algn="just">
              <a:buFont typeface="Courier New" panose="02070309020205020404" pitchFamily="49" charset="0"/>
              <a:buChar char="o"/>
            </a:pPr>
            <a:r>
              <a:rPr lang="en-GB" dirty="0">
                <a:solidFill>
                  <a:prstClr val="black"/>
                </a:solidFill>
                <a:latin typeface="Times New Roman" panose="02020603050405020304" pitchFamily="18" charset="0"/>
                <a:cs typeface="Times New Roman" panose="02020603050405020304" pitchFamily="18" charset="0"/>
              </a:rPr>
              <a:t>With footwear, you want to make sure that you buy the correct size. </a:t>
            </a:r>
            <a:endParaRPr lang="en-GB" dirty="0" smtClean="0">
              <a:solidFill>
                <a:prstClr val="black"/>
              </a:solidFill>
              <a:latin typeface="Times New Roman" panose="02020603050405020304" pitchFamily="18" charset="0"/>
              <a:cs typeface="Times New Roman" panose="02020603050405020304" pitchFamily="18" charset="0"/>
            </a:endParaRPr>
          </a:p>
          <a:p>
            <a:pPr lvl="0" algn="just">
              <a:buFont typeface="Courier New" panose="02070309020205020404" pitchFamily="49" charset="0"/>
              <a:buChar char="o"/>
            </a:pPr>
            <a:endParaRPr lang="en-GB" dirty="0">
              <a:solidFill>
                <a:prstClr val="black"/>
              </a:solidFill>
              <a:latin typeface="Times New Roman" panose="02020603050405020304" pitchFamily="18" charset="0"/>
              <a:cs typeface="Times New Roman" panose="02020603050405020304" pitchFamily="18" charset="0"/>
            </a:endParaRPr>
          </a:p>
          <a:p>
            <a:pPr lvl="0" algn="just">
              <a:buFont typeface="Courier New" panose="02070309020205020404" pitchFamily="49" charset="0"/>
              <a:buChar char="o"/>
            </a:pPr>
            <a:r>
              <a:rPr lang="en-GB" dirty="0">
                <a:solidFill>
                  <a:prstClr val="black"/>
                </a:solidFill>
                <a:latin typeface="Times New Roman" panose="02020603050405020304" pitchFamily="18" charset="0"/>
                <a:cs typeface="Times New Roman" panose="02020603050405020304" pitchFamily="18" charset="0"/>
              </a:rPr>
              <a:t>If they are too small then they can cause damage to your feet, and if they are too big they are likely to fall off when walking to the water</a:t>
            </a:r>
            <a:r>
              <a:rPr lang="en-GB" dirty="0" smtClean="0">
                <a:solidFill>
                  <a:prstClr val="black"/>
                </a:solidFill>
                <a:latin typeface="Times New Roman" panose="02020603050405020304" pitchFamily="18" charset="0"/>
                <a:cs typeface="Times New Roman" panose="02020603050405020304" pitchFamily="18" charset="0"/>
              </a:rPr>
              <a:t>.</a:t>
            </a:r>
          </a:p>
          <a:p>
            <a:pPr lvl="0" algn="just">
              <a:buFont typeface="Courier New" panose="02070309020205020404" pitchFamily="49" charset="0"/>
              <a:buChar char="o"/>
            </a:pPr>
            <a:r>
              <a:rPr lang="en-GB" dirty="0" smtClean="0">
                <a:solidFill>
                  <a:prstClr val="black"/>
                </a:solidFill>
                <a:latin typeface="Times New Roman" panose="02020603050405020304" pitchFamily="18" charset="0"/>
                <a:cs typeface="Times New Roman" panose="02020603050405020304" pitchFamily="18" charset="0"/>
              </a:rPr>
              <a:t> </a:t>
            </a:r>
            <a:endParaRPr lang="en-GB" dirty="0">
              <a:solidFill>
                <a:prstClr val="black"/>
              </a:solidFill>
              <a:latin typeface="Times New Roman" panose="02020603050405020304" pitchFamily="18" charset="0"/>
              <a:cs typeface="Times New Roman" panose="02020603050405020304" pitchFamily="18" charset="0"/>
            </a:endParaRPr>
          </a:p>
          <a:p>
            <a:pPr lvl="0" algn="just">
              <a:buFont typeface="Courier New" panose="02070309020205020404" pitchFamily="49" charset="0"/>
              <a:buChar char="o"/>
            </a:pPr>
            <a:r>
              <a:rPr lang="en-GB" dirty="0">
                <a:solidFill>
                  <a:prstClr val="black"/>
                </a:solidFill>
                <a:latin typeface="Times New Roman" panose="02020603050405020304" pitchFamily="18" charset="0"/>
                <a:cs typeface="Times New Roman" panose="02020603050405020304" pitchFamily="18" charset="0"/>
              </a:rPr>
              <a:t>The right fit will offer you the right amount of grip and support</a:t>
            </a:r>
            <a:endParaRPr lang="en-GB"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9477202" y="1275944"/>
            <a:ext cx="2302594" cy="1743075"/>
          </a:xfrm>
          <a:prstGeom prst="rect">
            <a:avLst/>
          </a:prstGeom>
        </p:spPr>
      </p:pic>
      <p:pic>
        <p:nvPicPr>
          <p:cNvPr id="5" name="Picture 4"/>
          <p:cNvPicPr>
            <a:picLocks noChangeAspect="1"/>
          </p:cNvPicPr>
          <p:nvPr/>
        </p:nvPicPr>
        <p:blipFill>
          <a:blip r:embed="rId3"/>
          <a:stretch>
            <a:fillRect/>
          </a:stretch>
        </p:blipFill>
        <p:spPr>
          <a:xfrm>
            <a:off x="9477202" y="2993936"/>
            <a:ext cx="2143125" cy="2143125"/>
          </a:xfrm>
          <a:prstGeom prst="rect">
            <a:avLst/>
          </a:prstGeom>
        </p:spPr>
      </p:pic>
      <p:pic>
        <p:nvPicPr>
          <p:cNvPr id="6" name="Picture 5"/>
          <p:cNvPicPr>
            <a:picLocks noChangeAspect="1"/>
          </p:cNvPicPr>
          <p:nvPr/>
        </p:nvPicPr>
        <p:blipFill>
          <a:blip r:embed="rId4"/>
          <a:stretch>
            <a:fillRect/>
          </a:stretch>
        </p:blipFill>
        <p:spPr>
          <a:xfrm>
            <a:off x="9795062" y="5137061"/>
            <a:ext cx="1905000" cy="1485900"/>
          </a:xfrm>
          <a:prstGeom prst="rect">
            <a:avLst/>
          </a:prstGeom>
        </p:spPr>
      </p:pic>
    </p:spTree>
    <p:extLst>
      <p:ext uri="{BB962C8B-B14F-4D97-AF65-F5344CB8AC3E}">
        <p14:creationId xmlns:p14="http://schemas.microsoft.com/office/powerpoint/2010/main" val="53088747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anose="02020603050405020304" pitchFamily="18" charset="0"/>
                <a:cs typeface="Times New Roman" panose="02020603050405020304" pitchFamily="18" charset="0"/>
              </a:rPr>
              <a:t>USING LIFE JACKETS</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757989" y="1876926"/>
            <a:ext cx="9143095" cy="4432434"/>
          </a:xfrm>
        </p:spPr>
        <p:txBody>
          <a:bodyPr>
            <a:noAutofit/>
          </a:bodyPr>
          <a:lstStyle/>
          <a:p>
            <a:pPr algn="just"/>
            <a:r>
              <a:rPr lang="en-US" dirty="0">
                <a:latin typeface="Times New Roman" panose="02020603050405020304" pitchFamily="18" charset="0"/>
                <a:cs typeface="Times New Roman" panose="02020603050405020304" pitchFamily="18" charset="0"/>
              </a:rPr>
              <a:t>Life jackets, also known as personal </a:t>
            </a:r>
            <a:r>
              <a:rPr lang="en-US" dirty="0" smtClean="0">
                <a:latin typeface="Times New Roman" panose="02020603050405020304" pitchFamily="18" charset="0"/>
                <a:cs typeface="Times New Roman" panose="02020603050405020304" pitchFamily="18" charset="0"/>
              </a:rPr>
              <a:t>flotation </a:t>
            </a:r>
            <a:r>
              <a:rPr lang="en-US" dirty="0">
                <a:latin typeface="Times New Roman" panose="02020603050405020304" pitchFamily="18" charset="0"/>
                <a:cs typeface="Times New Roman" panose="02020603050405020304" pitchFamily="18" charset="0"/>
              </a:rPr>
              <a:t>devices (PFDs), are not just for boaters</a:t>
            </a:r>
            <a:r>
              <a:rPr lang="en-US" dirty="0" smtClean="0">
                <a:latin typeface="Times New Roman" panose="02020603050405020304" pitchFamily="18" charset="0"/>
                <a:cs typeface="Times New Roman" panose="02020603050405020304" pitchFamily="18" charset="0"/>
              </a:rPr>
              <a:t>.</a:t>
            </a:r>
          </a:p>
          <a:p>
            <a:pPr algn="just"/>
            <a:r>
              <a:rPr lang="en-US" dirty="0" smtClean="0">
                <a:latin typeface="Times New Roman" panose="02020603050405020304" pitchFamily="18" charset="0"/>
                <a:cs typeface="Times New Roman" panose="02020603050405020304" pitchFamily="18" charset="0"/>
              </a:rPr>
              <a:t> </a:t>
            </a:r>
          </a:p>
          <a:p>
            <a:pPr algn="just"/>
            <a:r>
              <a:rPr lang="en-US" dirty="0" smtClean="0">
                <a:latin typeface="Times New Roman" panose="02020603050405020304" pitchFamily="18" charset="0"/>
                <a:cs typeface="Times New Roman" panose="02020603050405020304" pitchFamily="18" charset="0"/>
              </a:rPr>
              <a:t>Young children</a:t>
            </a:r>
            <a:r>
              <a:rPr lang="en-US" dirty="0">
                <a:latin typeface="Times New Roman" panose="02020603050405020304" pitchFamily="18" charset="0"/>
                <a:cs typeface="Times New Roman" panose="02020603050405020304" pitchFamily="18" charset="0"/>
              </a:rPr>
              <a:t>, weak or inexperienced swimmers and nonswimmers should also wear life </a:t>
            </a:r>
            <a:r>
              <a:rPr lang="en-US" dirty="0" smtClean="0">
                <a:latin typeface="Times New Roman" panose="02020603050405020304" pitchFamily="18" charset="0"/>
                <a:cs typeface="Times New Roman" panose="02020603050405020304" pitchFamily="18" charset="0"/>
              </a:rPr>
              <a:t>jackets whenever </a:t>
            </a:r>
            <a:r>
              <a:rPr lang="en-US" dirty="0">
                <a:latin typeface="Times New Roman" panose="02020603050405020304" pitchFamily="18" charset="0"/>
                <a:cs typeface="Times New Roman" panose="02020603050405020304" pitchFamily="18" charset="0"/>
              </a:rPr>
              <a:t>they are in, on or around the water</a:t>
            </a:r>
            <a:r>
              <a:rPr lang="en-US" dirty="0" smtClean="0">
                <a:latin typeface="Times New Roman" panose="02020603050405020304" pitchFamily="18" charset="0"/>
                <a:cs typeface="Times New Roman" panose="02020603050405020304" pitchFamily="18" charset="0"/>
              </a:rPr>
              <a:t>.</a:t>
            </a:r>
          </a:p>
          <a:p>
            <a:pPr algn="just"/>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Life jackets are available in many styles and for many different activities. The U.S. Coast </a:t>
            </a:r>
            <a:r>
              <a:rPr lang="en-US" dirty="0" smtClean="0">
                <a:latin typeface="Times New Roman" panose="02020603050405020304" pitchFamily="18" charset="0"/>
                <a:cs typeface="Times New Roman" panose="02020603050405020304" pitchFamily="18" charset="0"/>
              </a:rPr>
              <a:t>Guard has </a:t>
            </a:r>
            <a:r>
              <a:rPr lang="en-US" dirty="0">
                <a:latin typeface="Times New Roman" panose="02020603050405020304" pitchFamily="18" charset="0"/>
                <a:cs typeface="Times New Roman" panose="02020603050405020304" pitchFamily="18" charset="0"/>
              </a:rPr>
              <a:t>categorized PFDs into </a:t>
            </a:r>
            <a:r>
              <a:rPr lang="en-US" dirty="0" smtClean="0">
                <a:latin typeface="Times New Roman" panose="02020603050405020304" pitchFamily="18" charset="0"/>
                <a:cs typeface="Times New Roman" panose="02020603050405020304" pitchFamily="18" charset="0"/>
              </a:rPr>
              <a:t>five </a:t>
            </a:r>
            <a:r>
              <a:rPr lang="en-US" dirty="0">
                <a:latin typeface="Times New Roman" panose="02020603050405020304" pitchFamily="18" charset="0"/>
                <a:cs typeface="Times New Roman" panose="02020603050405020304" pitchFamily="18" charset="0"/>
              </a:rPr>
              <a:t>types according to their buoyancy and </a:t>
            </a:r>
            <a:r>
              <a:rPr lang="en-US" dirty="0" smtClean="0">
                <a:latin typeface="Times New Roman" panose="02020603050405020304" pitchFamily="18" charset="0"/>
                <a:cs typeface="Times New Roman" panose="02020603050405020304" pitchFamily="18" charset="0"/>
              </a:rPr>
              <a:t>purpose</a:t>
            </a:r>
          </a:p>
          <a:p>
            <a:pPr algn="just"/>
            <a:endParaRPr lang="en-US" dirty="0" smtClean="0">
              <a:latin typeface="Times New Roman" panose="02020603050405020304" pitchFamily="18" charset="0"/>
              <a:cs typeface="Times New Roman" panose="02020603050405020304" pitchFamily="18" charset="0"/>
            </a:endParaRP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22426" y="33838"/>
            <a:ext cx="2369574" cy="3686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29189022"/>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anose="02020603050405020304" pitchFamily="18" charset="0"/>
                <a:cs typeface="Times New Roman" panose="02020603050405020304" pitchFamily="18" charset="0"/>
              </a:rPr>
              <a:t>USING LIFE JACKETS</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757989" y="1876926"/>
            <a:ext cx="9143095" cy="4432434"/>
          </a:xfrm>
        </p:spPr>
        <p:txBody>
          <a:bodyPr>
            <a:noAutofit/>
          </a:bodyPr>
          <a:lstStyle/>
          <a:p>
            <a:pPr lvl="0" algn="just"/>
            <a:r>
              <a:rPr lang="en-US" dirty="0">
                <a:solidFill>
                  <a:prstClr val="black"/>
                </a:solidFill>
                <a:latin typeface="Times New Roman" panose="02020603050405020304" pitchFamily="18" charset="0"/>
                <a:cs typeface="Times New Roman" panose="02020603050405020304" pitchFamily="18" charset="0"/>
              </a:rPr>
              <a:t>Types I, II, III and V are referred to as life jackets because they are worn on the body, whereas type IV is a </a:t>
            </a:r>
            <a:r>
              <a:rPr lang="en-US" dirty="0" err="1">
                <a:solidFill>
                  <a:prstClr val="black"/>
                </a:solidFill>
                <a:latin typeface="Times New Roman" panose="02020603050405020304" pitchFamily="18" charset="0"/>
                <a:cs typeface="Times New Roman" panose="02020603050405020304" pitchFamily="18" charset="0"/>
              </a:rPr>
              <a:t>throwable</a:t>
            </a:r>
            <a:r>
              <a:rPr lang="en-US" dirty="0">
                <a:solidFill>
                  <a:prstClr val="black"/>
                </a:solidFill>
                <a:latin typeface="Times New Roman" panose="02020603050405020304" pitchFamily="18" charset="0"/>
                <a:cs typeface="Times New Roman" panose="02020603050405020304" pitchFamily="18" charset="0"/>
              </a:rPr>
              <a:t> device</a:t>
            </a:r>
            <a:r>
              <a:rPr lang="en-US" dirty="0" smtClean="0">
                <a:solidFill>
                  <a:prstClr val="black"/>
                </a:solidFill>
                <a:latin typeface="Times New Roman" panose="02020603050405020304" pitchFamily="18" charset="0"/>
                <a:cs typeface="Times New Roman" panose="02020603050405020304" pitchFamily="18" charset="0"/>
              </a:rPr>
              <a:t>.</a:t>
            </a:r>
          </a:p>
          <a:p>
            <a:pPr lvl="0" algn="just"/>
            <a:endParaRPr lang="en-US" dirty="0">
              <a:solidFill>
                <a:prstClr val="black"/>
              </a:solidFill>
              <a:latin typeface="Times New Roman" panose="02020603050405020304" pitchFamily="18" charset="0"/>
              <a:cs typeface="Times New Roman" panose="02020603050405020304" pitchFamily="18" charset="0"/>
            </a:endParaRPr>
          </a:p>
          <a:p>
            <a:pPr lvl="0" algn="just"/>
            <a:r>
              <a:rPr lang="en-US" dirty="0">
                <a:solidFill>
                  <a:prstClr val="black"/>
                </a:solidFill>
                <a:latin typeface="Times New Roman" panose="02020603050405020304" pitchFamily="18" charset="0"/>
                <a:cs typeface="Times New Roman" panose="02020603050405020304" pitchFamily="18" charset="0"/>
              </a:rPr>
              <a:t>Water wings and items designed for water recreation (such as inner tubes and inflatable rafts) are not designed or tested for safety and cannot be used as a substitute for a U.S. Coast Guard approved life jacket and adult supervision</a:t>
            </a: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22426" y="33838"/>
            <a:ext cx="2369574" cy="3686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29189022"/>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0103" y="541421"/>
            <a:ext cx="9682834" cy="6027821"/>
          </a:xfrm>
        </p:spPr>
        <p:txBody>
          <a:bodyPr>
            <a:normAutofit fontScale="25000" lnSpcReduction="20000"/>
          </a:bodyPr>
          <a:lstStyle/>
          <a:p>
            <a:pPr>
              <a:buFont typeface="Arial" panose="020B0604020202020204" pitchFamily="34" charset="0"/>
              <a:buChar char="•"/>
            </a:pPr>
            <a:r>
              <a:rPr lang="en-US" sz="11200" dirty="0">
                <a:latin typeface="Times New Roman" panose="02020603050405020304" pitchFamily="18" charset="0"/>
                <a:cs typeface="Times New Roman" panose="02020603050405020304" pitchFamily="18" charset="0"/>
              </a:rPr>
              <a:t>Life jacket: </a:t>
            </a:r>
            <a:endParaRPr lang="en-US" sz="11200"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ü"/>
            </a:pPr>
            <a:r>
              <a:rPr lang="en-US" sz="11200" dirty="0">
                <a:latin typeface="Times New Roman" panose="02020603050405020304" pitchFamily="18" charset="0"/>
                <a:cs typeface="Times New Roman" panose="02020603050405020304" pitchFamily="18" charset="0"/>
              </a:rPr>
              <a:t>D</a:t>
            </a:r>
            <a:r>
              <a:rPr lang="en-US" sz="11200" dirty="0" smtClean="0">
                <a:latin typeface="Times New Roman" panose="02020603050405020304" pitchFamily="18" charset="0"/>
                <a:cs typeface="Times New Roman" panose="02020603050405020304" pitchFamily="18" charset="0"/>
              </a:rPr>
              <a:t>escription: Intended </a:t>
            </a:r>
            <a:r>
              <a:rPr lang="en-US" sz="11200" dirty="0">
                <a:latin typeface="Times New Roman" panose="02020603050405020304" pitchFamily="18" charset="0"/>
                <a:cs typeface="Times New Roman" panose="02020603050405020304" pitchFamily="18" charset="0"/>
              </a:rPr>
              <a:t>for boating on </a:t>
            </a:r>
            <a:r>
              <a:rPr lang="en-US" sz="11200" dirty="0" smtClean="0">
                <a:latin typeface="Times New Roman" panose="02020603050405020304" pitchFamily="18" charset="0"/>
                <a:cs typeface="Times New Roman" panose="02020603050405020304" pitchFamily="18" charset="0"/>
              </a:rPr>
              <a:t>open, rough </a:t>
            </a:r>
            <a:r>
              <a:rPr lang="en-US" sz="11200" dirty="0">
                <a:latin typeface="Times New Roman" panose="02020603050405020304" pitchFamily="18" charset="0"/>
                <a:cs typeface="Times New Roman" panose="02020603050405020304" pitchFamily="18" charset="0"/>
              </a:rPr>
              <a:t>or remote waters </a:t>
            </a:r>
            <a:r>
              <a:rPr lang="en-US" sz="11200" dirty="0" smtClean="0">
                <a:latin typeface="Times New Roman" panose="02020603050405020304" pitchFamily="18" charset="0"/>
                <a:cs typeface="Times New Roman" panose="02020603050405020304" pitchFamily="18" charset="0"/>
              </a:rPr>
              <a:t>where rescue </a:t>
            </a:r>
            <a:r>
              <a:rPr lang="en-US" sz="11200" dirty="0">
                <a:latin typeface="Times New Roman" panose="02020603050405020304" pitchFamily="18" charset="0"/>
                <a:cs typeface="Times New Roman" panose="02020603050405020304" pitchFamily="18" charset="0"/>
              </a:rPr>
              <a:t>may be slowed </a:t>
            </a:r>
            <a:r>
              <a:rPr lang="en-US" sz="11200" dirty="0" smtClean="0">
                <a:latin typeface="Times New Roman" panose="02020603050405020304" pitchFamily="18" charset="0"/>
                <a:cs typeface="Times New Roman" panose="02020603050405020304" pitchFamily="18" charset="0"/>
              </a:rPr>
              <a:t>or delayed. May </a:t>
            </a:r>
            <a:r>
              <a:rPr lang="en-US" sz="11200" dirty="0">
                <a:latin typeface="Times New Roman" panose="02020603050405020304" pitchFamily="18" charset="0"/>
                <a:cs typeface="Times New Roman" panose="02020603050405020304" pitchFamily="18" charset="0"/>
              </a:rPr>
              <a:t>help to turn </a:t>
            </a:r>
            <a:r>
              <a:rPr lang="en-US" sz="11200" dirty="0" smtClean="0">
                <a:latin typeface="Times New Roman" panose="02020603050405020304" pitchFamily="18" charset="0"/>
                <a:cs typeface="Times New Roman" panose="02020603050405020304" pitchFamily="18" charset="0"/>
              </a:rPr>
              <a:t>an unconscious </a:t>
            </a:r>
            <a:r>
              <a:rPr lang="en-US" sz="11200" dirty="0">
                <a:latin typeface="Times New Roman" panose="02020603050405020304" pitchFamily="18" charset="0"/>
                <a:cs typeface="Times New Roman" panose="02020603050405020304" pitchFamily="18" charset="0"/>
              </a:rPr>
              <a:t>person from </a:t>
            </a:r>
            <a:r>
              <a:rPr lang="en-US" sz="11200" dirty="0" smtClean="0">
                <a:latin typeface="Times New Roman" panose="02020603050405020304" pitchFamily="18" charset="0"/>
                <a:cs typeface="Times New Roman" panose="02020603050405020304" pitchFamily="18" charset="0"/>
              </a:rPr>
              <a:t>a face-down </a:t>
            </a:r>
            <a:r>
              <a:rPr lang="en-US" sz="11200" dirty="0">
                <a:latin typeface="Times New Roman" panose="02020603050405020304" pitchFamily="18" charset="0"/>
                <a:cs typeface="Times New Roman" panose="02020603050405020304" pitchFamily="18" charset="0"/>
              </a:rPr>
              <a:t>position to a </a:t>
            </a:r>
            <a:r>
              <a:rPr lang="en-US" sz="11200" dirty="0" smtClean="0">
                <a:latin typeface="Times New Roman" panose="02020603050405020304" pitchFamily="18" charset="0"/>
                <a:cs typeface="Times New Roman" panose="02020603050405020304" pitchFamily="18" charset="0"/>
              </a:rPr>
              <a:t>vertical, face-up </a:t>
            </a:r>
            <a:r>
              <a:rPr lang="en-US" sz="11200" dirty="0">
                <a:latin typeface="Times New Roman" panose="02020603050405020304" pitchFamily="18" charset="0"/>
                <a:cs typeface="Times New Roman" panose="02020603050405020304" pitchFamily="18" charset="0"/>
              </a:rPr>
              <a:t>position or to a </a:t>
            </a:r>
            <a:r>
              <a:rPr lang="en-US" sz="11200" dirty="0" smtClean="0">
                <a:latin typeface="Times New Roman" panose="02020603050405020304" pitchFamily="18" charset="0"/>
                <a:cs typeface="Times New Roman" panose="02020603050405020304" pitchFamily="18" charset="0"/>
              </a:rPr>
              <a:t>face-up slightly </a:t>
            </a:r>
            <a:r>
              <a:rPr lang="en-US" sz="11200" dirty="0">
                <a:latin typeface="Times New Roman" panose="02020603050405020304" pitchFamily="18" charset="0"/>
                <a:cs typeface="Times New Roman" panose="02020603050405020304" pitchFamily="18" charset="0"/>
              </a:rPr>
              <a:t>tipped back </a:t>
            </a:r>
            <a:r>
              <a:rPr lang="en-US" sz="11200" dirty="0" smtClean="0">
                <a:latin typeface="Times New Roman" panose="02020603050405020304" pitchFamily="18" charset="0"/>
                <a:cs typeface="Times New Roman" panose="02020603050405020304" pitchFamily="18" charset="0"/>
              </a:rPr>
              <a:t>position</a:t>
            </a:r>
          </a:p>
          <a:p>
            <a:pPr>
              <a:buFont typeface="Wingdings" panose="05000000000000000000" pitchFamily="2" charset="2"/>
              <a:buChar char="ü"/>
            </a:pPr>
            <a:r>
              <a:rPr lang="en-US" sz="11200" dirty="0" smtClean="0">
                <a:latin typeface="Times New Roman" panose="02020603050405020304" pitchFamily="18" charset="0"/>
                <a:cs typeface="Times New Roman" panose="02020603050405020304" pitchFamily="18" charset="0"/>
              </a:rPr>
              <a:t>Advantages: Offers </a:t>
            </a:r>
            <a:r>
              <a:rPr lang="en-US" sz="11200" dirty="0">
                <a:latin typeface="Times New Roman" panose="02020603050405020304" pitchFamily="18" charset="0"/>
                <a:cs typeface="Times New Roman" panose="02020603050405020304" pitchFamily="18" charset="0"/>
              </a:rPr>
              <a:t>the </a:t>
            </a:r>
            <a:r>
              <a:rPr lang="en-US" sz="11200" dirty="0" smtClean="0">
                <a:latin typeface="Times New Roman" panose="02020603050405020304" pitchFamily="18" charset="0"/>
                <a:cs typeface="Times New Roman" panose="02020603050405020304" pitchFamily="18" charset="0"/>
              </a:rPr>
              <a:t>most reliable flotation. It comes </a:t>
            </a:r>
            <a:r>
              <a:rPr lang="en-US" sz="11200" dirty="0">
                <a:latin typeface="Times New Roman" panose="02020603050405020304" pitchFamily="18" charset="0"/>
                <a:cs typeface="Times New Roman" panose="02020603050405020304" pitchFamily="18" charset="0"/>
              </a:rPr>
              <a:t>in </a:t>
            </a:r>
            <a:r>
              <a:rPr lang="en-US" sz="11200" dirty="0" smtClean="0">
                <a:latin typeface="Times New Roman" panose="02020603050405020304" pitchFamily="18" charset="0"/>
                <a:cs typeface="Times New Roman" panose="02020603050405020304" pitchFamily="18" charset="0"/>
              </a:rPr>
              <a:t>highly visible </a:t>
            </a:r>
            <a:r>
              <a:rPr lang="en-US" sz="11200" dirty="0">
                <a:latin typeface="Times New Roman" panose="02020603050405020304" pitchFamily="18" charset="0"/>
                <a:cs typeface="Times New Roman" panose="02020603050405020304" pitchFamily="18" charset="0"/>
              </a:rPr>
              <a:t>colors </a:t>
            </a:r>
            <a:r>
              <a:rPr lang="en-US" sz="11200" dirty="0" smtClean="0">
                <a:latin typeface="Times New Roman" panose="02020603050405020304" pitchFamily="18" charset="0"/>
                <a:cs typeface="Times New Roman" panose="02020603050405020304" pitchFamily="18" charset="0"/>
              </a:rPr>
              <a:t>and may </a:t>
            </a:r>
            <a:r>
              <a:rPr lang="en-US" sz="11200" dirty="0">
                <a:latin typeface="Times New Roman" panose="02020603050405020304" pitchFamily="18" charset="0"/>
                <a:cs typeface="Times New Roman" panose="02020603050405020304" pitchFamily="18" charset="0"/>
              </a:rPr>
              <a:t>have </a:t>
            </a:r>
            <a:r>
              <a:rPr lang="en-US" sz="11200" dirty="0" smtClean="0">
                <a:latin typeface="Times New Roman" panose="02020603050405020304" pitchFamily="18" charset="0"/>
                <a:cs typeface="Times New Roman" panose="02020603050405020304" pitchFamily="18" charset="0"/>
              </a:rPr>
              <a:t>reflective markings </a:t>
            </a:r>
            <a:r>
              <a:rPr lang="en-US" sz="11200" dirty="0">
                <a:latin typeface="Times New Roman" panose="02020603050405020304" pitchFamily="18" charset="0"/>
                <a:cs typeface="Times New Roman" panose="02020603050405020304" pitchFamily="18" charset="0"/>
              </a:rPr>
              <a:t>to </a:t>
            </a:r>
            <a:r>
              <a:rPr lang="en-US" sz="11200" dirty="0" smtClean="0">
                <a:latin typeface="Times New Roman" panose="02020603050405020304" pitchFamily="18" charset="0"/>
                <a:cs typeface="Times New Roman" panose="02020603050405020304" pitchFamily="18" charset="0"/>
              </a:rPr>
              <a:t>aid search </a:t>
            </a:r>
            <a:r>
              <a:rPr lang="en-US" sz="11200" dirty="0">
                <a:latin typeface="Times New Roman" panose="02020603050405020304" pitchFamily="18" charset="0"/>
                <a:cs typeface="Times New Roman" panose="02020603050405020304" pitchFamily="18" charset="0"/>
              </a:rPr>
              <a:t>and </a:t>
            </a:r>
            <a:r>
              <a:rPr lang="en-US" sz="11200" dirty="0" smtClean="0">
                <a:latin typeface="Times New Roman" panose="02020603050405020304" pitchFamily="18" charset="0"/>
                <a:cs typeface="Times New Roman" panose="02020603050405020304" pitchFamily="18" charset="0"/>
              </a:rPr>
              <a:t>rescue</a:t>
            </a:r>
          </a:p>
          <a:p>
            <a:pPr>
              <a:buFont typeface="Wingdings" panose="05000000000000000000" pitchFamily="2" charset="2"/>
              <a:buChar char="ü"/>
            </a:pPr>
            <a:r>
              <a:rPr lang="en-US" sz="11200" dirty="0" smtClean="0">
                <a:latin typeface="Times New Roman" panose="02020603050405020304" pitchFamily="18" charset="0"/>
                <a:cs typeface="Times New Roman" panose="02020603050405020304" pitchFamily="18" charset="0"/>
              </a:rPr>
              <a:t>Disadvantages</a:t>
            </a:r>
            <a:r>
              <a:rPr lang="en-US" sz="11200" dirty="0">
                <a:latin typeface="Times New Roman" panose="02020603050405020304" pitchFamily="18" charset="0"/>
                <a:cs typeface="Times New Roman" panose="02020603050405020304" pitchFamily="18" charset="0"/>
              </a:rPr>
              <a:t>: Bulky in and </a:t>
            </a:r>
            <a:r>
              <a:rPr lang="en-US" sz="11200" dirty="0" smtClean="0">
                <a:latin typeface="Times New Roman" panose="02020603050405020304" pitchFamily="18" charset="0"/>
                <a:cs typeface="Times New Roman" panose="02020603050405020304" pitchFamily="18" charset="0"/>
              </a:rPr>
              <a:t>out of </a:t>
            </a:r>
            <a:r>
              <a:rPr lang="en-US" sz="11200" dirty="0">
                <a:latin typeface="Times New Roman" panose="02020603050405020304" pitchFamily="18" charset="0"/>
                <a:cs typeface="Times New Roman" panose="02020603050405020304" pitchFamily="18" charset="0"/>
              </a:rPr>
              <a:t>the </a:t>
            </a:r>
            <a:r>
              <a:rPr lang="en-US" sz="11200" dirty="0" smtClean="0">
                <a:latin typeface="Times New Roman" panose="02020603050405020304" pitchFamily="18" charset="0"/>
                <a:cs typeface="Times New Roman" panose="02020603050405020304" pitchFamily="18" charset="0"/>
              </a:rPr>
              <a:t>water</a:t>
            </a:r>
          </a:p>
          <a:p>
            <a:pPr>
              <a:buFont typeface="Wingdings" panose="05000000000000000000" pitchFamily="2" charset="2"/>
              <a:buChar char="ü"/>
            </a:pPr>
            <a:endParaRPr lang="en-US" sz="11200" dirty="0" smtClean="0">
              <a:latin typeface="Times New Roman" panose="02020603050405020304" pitchFamily="18" charset="0"/>
              <a:cs typeface="Times New Roman" panose="02020603050405020304" pitchFamily="18" charset="0"/>
            </a:endParaRPr>
          </a:p>
          <a:p>
            <a:pPr lvl="0"/>
            <a:r>
              <a:rPr lang="en-US" sz="11200" dirty="0">
                <a:solidFill>
                  <a:prstClr val="black"/>
                </a:solidFill>
                <a:latin typeface="Times New Roman" panose="02020603050405020304" pitchFamily="18" charset="0"/>
                <a:cs typeface="Times New Roman" panose="02020603050405020304" pitchFamily="18" charset="0"/>
              </a:rPr>
              <a:t>Buoyant vest</a:t>
            </a:r>
          </a:p>
          <a:p>
            <a:pPr lvl="0">
              <a:buFont typeface="Wingdings" panose="05000000000000000000" pitchFamily="2" charset="2"/>
              <a:buChar char="ü"/>
            </a:pPr>
            <a:r>
              <a:rPr lang="en-US" sz="11200" dirty="0">
                <a:solidFill>
                  <a:prstClr val="black"/>
                </a:solidFill>
                <a:latin typeface="Times New Roman" panose="02020603050405020304" pitchFamily="18" charset="0"/>
                <a:cs typeface="Times New Roman" panose="02020603050405020304" pitchFamily="18" charset="0"/>
              </a:rPr>
              <a:t>Description: Intended for recreational boating on calm or inland waters where rapid rescue is likely. Suitable for supervised use in pools and waterparks. May help to turn an unconscious person from a face-down position to a vertical, face-up position or to a face-up slightly tipped back position</a:t>
            </a:r>
          </a:p>
          <a:p>
            <a:pPr>
              <a:buFont typeface="Wingdings" panose="05000000000000000000" pitchFamily="2" charset="2"/>
              <a:buChar char="ü"/>
            </a:pPr>
            <a:endParaRPr lang="en-US" sz="11200"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ü"/>
            </a:pPr>
            <a:endParaRPr lang="en-US" sz="11200" dirty="0" smtClean="0">
              <a:latin typeface="Times New Roman" panose="02020603050405020304" pitchFamily="18" charset="0"/>
              <a:cs typeface="Times New Roman" panose="02020603050405020304" pitchFamily="18" charset="0"/>
            </a:endParaRPr>
          </a:p>
        </p:txBody>
      </p:sp>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62937" y="1069558"/>
            <a:ext cx="1708568" cy="159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07316" y="4318084"/>
            <a:ext cx="1564190" cy="159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51822622"/>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0103" y="541421"/>
            <a:ext cx="9682834" cy="6027821"/>
          </a:xfrm>
        </p:spPr>
        <p:txBody>
          <a:bodyPr>
            <a:normAutofit lnSpcReduction="10000"/>
          </a:bodyPr>
          <a:lstStyle/>
          <a:p>
            <a:pPr lvl="0">
              <a:buFont typeface="Wingdings" panose="05000000000000000000" pitchFamily="2" charset="2"/>
              <a:buChar char="ü"/>
            </a:pPr>
            <a:r>
              <a:rPr lang="en-US" dirty="0" smtClean="0">
                <a:solidFill>
                  <a:prstClr val="black"/>
                </a:solidFill>
                <a:latin typeface="Times New Roman" panose="02020603050405020304" pitchFamily="18" charset="0"/>
                <a:cs typeface="Times New Roman" panose="02020603050405020304" pitchFamily="18" charset="0"/>
              </a:rPr>
              <a:t>Advantages</a:t>
            </a:r>
            <a:r>
              <a:rPr lang="en-US" dirty="0">
                <a:solidFill>
                  <a:prstClr val="black"/>
                </a:solidFill>
                <a:latin typeface="Times New Roman" panose="02020603050405020304" pitchFamily="18" charset="0"/>
                <a:cs typeface="Times New Roman" panose="02020603050405020304" pitchFamily="18" charset="0"/>
              </a:rPr>
              <a:t>: More comfortable to wear. Available for infants through adults; good choice for children</a:t>
            </a:r>
          </a:p>
          <a:p>
            <a:pPr lvl="0">
              <a:buFont typeface="Wingdings" panose="05000000000000000000" pitchFamily="2" charset="2"/>
              <a:buChar char="ü"/>
            </a:pPr>
            <a:r>
              <a:rPr lang="en-US" dirty="0">
                <a:solidFill>
                  <a:prstClr val="black"/>
                </a:solidFill>
                <a:latin typeface="Times New Roman" panose="02020603050405020304" pitchFamily="18" charset="0"/>
                <a:cs typeface="Times New Roman" panose="02020603050405020304" pitchFamily="18" charset="0"/>
              </a:rPr>
              <a:t>Disadvantages: Not recommended for long hours on rough water. Less buoyant than a type I life </a:t>
            </a:r>
            <a:r>
              <a:rPr lang="en-US" dirty="0" smtClean="0">
                <a:solidFill>
                  <a:prstClr val="black"/>
                </a:solidFill>
                <a:latin typeface="Times New Roman" panose="02020603050405020304" pitchFamily="18" charset="0"/>
                <a:cs typeface="Times New Roman" panose="02020603050405020304" pitchFamily="18" charset="0"/>
              </a:rPr>
              <a:t>jacket</a:t>
            </a:r>
          </a:p>
          <a:p>
            <a:pPr marL="0" lvl="0" indent="0">
              <a:buNone/>
            </a:pPr>
            <a:endParaRPr lang="en-US" dirty="0">
              <a:solidFill>
                <a:prstClr val="black"/>
              </a:solidFill>
              <a:latin typeface="Times New Roman" panose="02020603050405020304" pitchFamily="18" charset="0"/>
              <a:cs typeface="Times New Roman" panose="02020603050405020304" pitchFamily="18" charset="0"/>
            </a:endParaRPr>
          </a:p>
          <a:p>
            <a:pPr lvl="0" algn="just"/>
            <a:r>
              <a:rPr lang="en-US" dirty="0">
                <a:solidFill>
                  <a:prstClr val="black"/>
                </a:solidFill>
                <a:latin typeface="Times New Roman" panose="02020603050405020304" pitchFamily="18" charset="0"/>
                <a:cs typeface="Times New Roman" panose="02020603050405020304" pitchFamily="18" charset="0"/>
              </a:rPr>
              <a:t>Flotation Vest </a:t>
            </a:r>
          </a:p>
          <a:p>
            <a:pPr lvl="0" algn="just">
              <a:buFont typeface="Wingdings 2" panose="05020102010507070707" pitchFamily="18" charset="2"/>
              <a:buChar char="P"/>
            </a:pPr>
            <a:r>
              <a:rPr lang="en-US" dirty="0">
                <a:solidFill>
                  <a:prstClr val="black"/>
                </a:solidFill>
                <a:latin typeface="Times New Roman" panose="02020603050405020304" pitchFamily="18" charset="0"/>
                <a:cs typeface="Times New Roman" panose="02020603050405020304" pitchFamily="18" charset="0"/>
              </a:rPr>
              <a:t>Description: Intended for fishing or sailing on calm or inland waters where rapid rescue is likely. Suitable for supervised use in pools and waterparks. May help to keep a conscious person in a vertical, face-up position or in a face-up slightly tipped back position; wearer may have to tilt the head back to avoid going face-down</a:t>
            </a:r>
          </a:p>
          <a:p>
            <a:pPr lvl="0" algn="just">
              <a:buFont typeface="Wingdings 2" panose="05020102010507070707" pitchFamily="18" charset="2"/>
              <a:buChar char="P"/>
            </a:pPr>
            <a:r>
              <a:rPr lang="en-US" dirty="0">
                <a:solidFill>
                  <a:prstClr val="black"/>
                </a:solidFill>
                <a:latin typeface="Times New Roman" panose="02020603050405020304" pitchFamily="18" charset="0"/>
                <a:cs typeface="Times New Roman" panose="02020603050405020304" pitchFamily="18" charset="0"/>
              </a:rPr>
              <a:t>Advantages: Most comfortable to wear continuously. Available in many styles. Appropriate for boating and specified water activities</a:t>
            </a:r>
          </a:p>
          <a:p>
            <a:pPr>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p:txBody>
      </p:sp>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62937" y="1069558"/>
            <a:ext cx="1708568" cy="159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 name="Picture 1"/>
          <p:cNvPicPr>
            <a:picLocks noChangeAspect="1"/>
          </p:cNvPicPr>
          <p:nvPr/>
        </p:nvPicPr>
        <p:blipFill>
          <a:blip r:embed="rId3"/>
          <a:stretch>
            <a:fillRect/>
          </a:stretch>
        </p:blipFill>
        <p:spPr>
          <a:xfrm>
            <a:off x="10434410" y="3910588"/>
            <a:ext cx="1365622" cy="1408298"/>
          </a:xfrm>
          <a:prstGeom prst="rect">
            <a:avLst/>
          </a:prstGeom>
        </p:spPr>
      </p:pic>
    </p:spTree>
    <p:extLst>
      <p:ext uri="{BB962C8B-B14F-4D97-AF65-F5344CB8AC3E}">
        <p14:creationId xmlns:p14="http://schemas.microsoft.com/office/powerpoint/2010/main" val="4251822622"/>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81781" y="589547"/>
            <a:ext cx="9634353" cy="5835315"/>
          </a:xfrm>
        </p:spPr>
        <p:txBody>
          <a:bodyPr>
            <a:noAutofit/>
          </a:bodyPr>
          <a:lstStyle/>
          <a:p>
            <a:pPr>
              <a:buFont typeface="Wingdings 2" panose="05020102010507070707" pitchFamily="18" charset="2"/>
              <a:buChar char="P"/>
            </a:pPr>
            <a:r>
              <a:rPr lang="en-US" dirty="0" smtClean="0">
                <a:latin typeface="Times New Roman" panose="02020603050405020304" pitchFamily="18" charset="0"/>
                <a:cs typeface="Times New Roman" panose="02020603050405020304" pitchFamily="18" charset="0"/>
              </a:rPr>
              <a:t>Disadvantages</a:t>
            </a:r>
            <a:r>
              <a:rPr lang="en-US" dirty="0">
                <a:latin typeface="Times New Roman" panose="02020603050405020304" pitchFamily="18" charset="0"/>
                <a:cs typeface="Times New Roman" panose="02020603050405020304" pitchFamily="18" charset="0"/>
              </a:rPr>
              <a:t>: Must be </a:t>
            </a:r>
            <a:r>
              <a:rPr lang="en-US" dirty="0" smtClean="0">
                <a:latin typeface="Times New Roman" panose="02020603050405020304" pitchFamily="18" charset="0"/>
                <a:cs typeface="Times New Roman" panose="02020603050405020304" pitchFamily="18" charset="0"/>
              </a:rPr>
              <a:t>water tested by inexperienced swimmers before boating. Wearer </a:t>
            </a:r>
            <a:r>
              <a:rPr lang="en-US" dirty="0">
                <a:latin typeface="Times New Roman" panose="02020603050405020304" pitchFamily="18" charset="0"/>
                <a:cs typeface="Times New Roman" panose="02020603050405020304" pitchFamily="18" charset="0"/>
              </a:rPr>
              <a:t>may </a:t>
            </a:r>
            <a:r>
              <a:rPr lang="en-US" dirty="0" smtClean="0">
                <a:latin typeface="Times New Roman" panose="02020603050405020304" pitchFamily="18" charset="0"/>
                <a:cs typeface="Times New Roman" panose="02020603050405020304" pitchFamily="18" charset="0"/>
              </a:rPr>
              <a:t>need to </a:t>
            </a:r>
            <a:r>
              <a:rPr lang="en-US" dirty="0">
                <a:latin typeface="Times New Roman" panose="02020603050405020304" pitchFamily="18" charset="0"/>
                <a:cs typeface="Times New Roman" panose="02020603050405020304" pitchFamily="18" charset="0"/>
              </a:rPr>
              <a:t>tilt head </a:t>
            </a:r>
            <a:r>
              <a:rPr lang="en-US" dirty="0" smtClean="0">
                <a:latin typeface="Times New Roman" panose="02020603050405020304" pitchFamily="18" charset="0"/>
                <a:cs typeface="Times New Roman" panose="02020603050405020304" pitchFamily="18" charset="0"/>
              </a:rPr>
              <a:t>back to </a:t>
            </a:r>
            <a:r>
              <a:rPr lang="en-US" dirty="0">
                <a:latin typeface="Times New Roman" panose="02020603050405020304" pitchFamily="18" charset="0"/>
                <a:cs typeface="Times New Roman" panose="02020603050405020304" pitchFamily="18" charset="0"/>
              </a:rPr>
              <a:t>avoid </a:t>
            </a:r>
            <a:r>
              <a:rPr lang="en-US" dirty="0" smtClean="0">
                <a:latin typeface="Times New Roman" panose="02020603050405020304" pitchFamily="18" charset="0"/>
                <a:cs typeface="Times New Roman" panose="02020603050405020304" pitchFamily="18" charset="0"/>
              </a:rPr>
              <a:t>turning face-down </a:t>
            </a:r>
            <a:r>
              <a:rPr lang="en-US" dirty="0">
                <a:latin typeface="Times New Roman" panose="02020603050405020304" pitchFamily="18" charset="0"/>
                <a:cs typeface="Times New Roman" panose="02020603050405020304" pitchFamily="18" charset="0"/>
              </a:rPr>
              <a:t>in </a:t>
            </a:r>
            <a:r>
              <a:rPr lang="en-US" dirty="0" smtClean="0">
                <a:latin typeface="Times New Roman" panose="02020603050405020304" pitchFamily="18" charset="0"/>
                <a:cs typeface="Times New Roman" panose="02020603050405020304" pitchFamily="18" charset="0"/>
              </a:rPr>
              <a:t>the water</a:t>
            </a:r>
          </a:p>
          <a:p>
            <a:pPr>
              <a:buFont typeface="Wingdings 2" panose="05020102010507070707" pitchFamily="18" charset="2"/>
              <a:buChar char="P"/>
            </a:pPr>
            <a:endParaRPr lang="en-US" dirty="0" smtClean="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dirty="0" smtClean="0">
                <a:latin typeface="Times New Roman" panose="02020603050405020304" pitchFamily="18" charset="0"/>
                <a:cs typeface="Times New Roman" panose="02020603050405020304" pitchFamily="18" charset="0"/>
              </a:rPr>
              <a:t>Throwable device</a:t>
            </a: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ü"/>
            </a:pPr>
            <a:r>
              <a:rPr lang="en-US" dirty="0" smtClean="0">
                <a:latin typeface="Times New Roman" panose="02020603050405020304" pitchFamily="18" charset="0"/>
                <a:cs typeface="Times New Roman" panose="02020603050405020304" pitchFamily="18" charset="0"/>
              </a:rPr>
              <a:t>Description:  </a:t>
            </a:r>
            <a:r>
              <a:rPr lang="en-US" dirty="0">
                <a:latin typeface="Times New Roman" panose="02020603050405020304" pitchFamily="18" charset="0"/>
                <a:cs typeface="Times New Roman" panose="02020603050405020304" pitchFamily="18" charset="0"/>
              </a:rPr>
              <a:t>Intended to be thrown to </a:t>
            </a:r>
            <a:r>
              <a:rPr lang="en-US" dirty="0" smtClean="0">
                <a:latin typeface="Times New Roman" panose="02020603050405020304" pitchFamily="18" charset="0"/>
                <a:cs typeface="Times New Roman" panose="02020603050405020304" pitchFamily="18" charset="0"/>
              </a:rPr>
              <a:t>a person </a:t>
            </a:r>
            <a:r>
              <a:rPr lang="en-US" dirty="0">
                <a:latin typeface="Times New Roman" panose="02020603050405020304" pitchFamily="18" charset="0"/>
                <a:cs typeface="Times New Roman" panose="02020603050405020304" pitchFamily="18" charset="0"/>
              </a:rPr>
              <a:t>in the water; not </a:t>
            </a:r>
            <a:r>
              <a:rPr lang="en-US" dirty="0" smtClean="0">
                <a:latin typeface="Times New Roman" panose="02020603050405020304" pitchFamily="18" charset="0"/>
                <a:cs typeface="Times New Roman" panose="02020603050405020304" pitchFamily="18" charset="0"/>
              </a:rPr>
              <a:t>to be worn  </a:t>
            </a:r>
            <a:r>
              <a:rPr lang="en-US" dirty="0">
                <a:latin typeface="Times New Roman" panose="02020603050405020304" pitchFamily="18" charset="0"/>
                <a:cs typeface="Times New Roman" panose="02020603050405020304" pitchFamily="18" charset="0"/>
              </a:rPr>
              <a:t>Not intended to take the </a:t>
            </a:r>
            <a:r>
              <a:rPr lang="en-US" dirty="0" smtClean="0">
                <a:latin typeface="Times New Roman" panose="02020603050405020304" pitchFamily="18" charset="0"/>
                <a:cs typeface="Times New Roman" panose="02020603050405020304" pitchFamily="18" charset="0"/>
              </a:rPr>
              <a:t>place of </a:t>
            </a:r>
            <a:r>
              <a:rPr lang="en-US" dirty="0">
                <a:latin typeface="Times New Roman" panose="02020603050405020304" pitchFamily="18" charset="0"/>
                <a:cs typeface="Times New Roman" panose="02020603050405020304" pitchFamily="18" charset="0"/>
              </a:rPr>
              <a:t>a wearable life jacket</a:t>
            </a:r>
          </a:p>
          <a:p>
            <a:pPr>
              <a:buFont typeface="Wingdings" panose="05000000000000000000" pitchFamily="2" charset="2"/>
              <a:buChar char="ü"/>
            </a:pPr>
            <a:r>
              <a:rPr lang="en-US" dirty="0" smtClean="0">
                <a:latin typeface="Times New Roman" panose="02020603050405020304" pitchFamily="18" charset="0"/>
                <a:cs typeface="Times New Roman" panose="02020603050405020304" pitchFamily="18" charset="0"/>
              </a:rPr>
              <a:t>Advantages:  </a:t>
            </a:r>
            <a:r>
              <a:rPr lang="en-US" dirty="0">
                <a:latin typeface="Times New Roman" panose="02020603050405020304" pitchFamily="18" charset="0"/>
                <a:cs typeface="Times New Roman" panose="02020603050405020304" pitchFamily="18" charset="0"/>
              </a:rPr>
              <a:t>Able to be </a:t>
            </a:r>
            <a:r>
              <a:rPr lang="en-US" dirty="0" smtClean="0">
                <a:latin typeface="Times New Roman" panose="02020603050405020304" pitchFamily="18" charset="0"/>
                <a:cs typeface="Times New Roman" panose="02020603050405020304" pitchFamily="18" charset="0"/>
              </a:rPr>
              <a:t>thrown from </a:t>
            </a:r>
            <a:r>
              <a:rPr lang="en-US" dirty="0">
                <a:latin typeface="Times New Roman" panose="02020603050405020304" pitchFamily="18" charset="0"/>
                <a:cs typeface="Times New Roman" panose="02020603050405020304" pitchFamily="18" charset="0"/>
              </a:rPr>
              <a:t>boat or </a:t>
            </a:r>
            <a:r>
              <a:rPr lang="en-US" dirty="0" smtClean="0">
                <a:latin typeface="Times New Roman" panose="02020603050405020304" pitchFamily="18" charset="0"/>
                <a:cs typeface="Times New Roman" panose="02020603050405020304" pitchFamily="18" charset="0"/>
              </a:rPr>
              <a:t>land  </a:t>
            </a:r>
            <a:r>
              <a:rPr lang="en-US" dirty="0">
                <a:latin typeface="Times New Roman" panose="02020603050405020304" pitchFamily="18" charset="0"/>
                <a:cs typeface="Times New Roman" panose="02020603050405020304" pitchFamily="18" charset="0"/>
              </a:rPr>
              <a:t>Backup to </a:t>
            </a:r>
            <a:r>
              <a:rPr lang="en-US" dirty="0" smtClean="0">
                <a:latin typeface="Times New Roman" panose="02020603050405020304" pitchFamily="18" charset="0"/>
                <a:cs typeface="Times New Roman" panose="02020603050405020304" pitchFamily="18" charset="0"/>
              </a:rPr>
              <a:t>wearable life jackets. Possible </a:t>
            </a:r>
            <a:r>
              <a:rPr lang="en-US" dirty="0">
                <a:latin typeface="Times New Roman" panose="02020603050405020304" pitchFamily="18" charset="0"/>
                <a:cs typeface="Times New Roman" panose="02020603050405020304" pitchFamily="18" charset="0"/>
              </a:rPr>
              <a:t>use as </a:t>
            </a:r>
            <a:r>
              <a:rPr lang="en-US" dirty="0" smtClean="0">
                <a:latin typeface="Times New Roman" panose="02020603050405020304" pitchFamily="18" charset="0"/>
                <a:cs typeface="Times New Roman" panose="02020603050405020304" pitchFamily="18" charset="0"/>
              </a:rPr>
              <a:t>seat cushions </a:t>
            </a:r>
            <a:r>
              <a:rPr lang="en-US" dirty="0">
                <a:latin typeface="Times New Roman" panose="02020603050405020304" pitchFamily="18" charset="0"/>
                <a:cs typeface="Times New Roman" panose="02020603050405020304" pitchFamily="18" charset="0"/>
              </a:rPr>
              <a:t>(some styles)</a:t>
            </a:r>
          </a:p>
          <a:p>
            <a:pPr>
              <a:buFont typeface="Wingdings" panose="05000000000000000000" pitchFamily="2" charset="2"/>
              <a:buChar char="ü"/>
            </a:pPr>
            <a:r>
              <a:rPr lang="en-US" dirty="0" smtClean="0">
                <a:latin typeface="Times New Roman" panose="02020603050405020304" pitchFamily="18" charset="0"/>
                <a:cs typeface="Times New Roman" panose="02020603050405020304" pitchFamily="18" charset="0"/>
              </a:rPr>
              <a:t>Disadvantages:  </a:t>
            </a:r>
            <a:r>
              <a:rPr lang="en-US" dirty="0">
                <a:latin typeface="Times New Roman" panose="02020603050405020304" pitchFamily="18" charset="0"/>
                <a:cs typeface="Times New Roman" panose="02020603050405020304" pitchFamily="18" charset="0"/>
              </a:rPr>
              <a:t>Not </a:t>
            </a:r>
            <a:r>
              <a:rPr lang="en-US" dirty="0" smtClean="0">
                <a:latin typeface="Times New Roman" panose="02020603050405020304" pitchFamily="18" charset="0"/>
                <a:cs typeface="Times New Roman" panose="02020603050405020304" pitchFamily="18" charset="0"/>
              </a:rPr>
              <a:t>suitable for children, inexperienced swimmers or unconscious victims</a:t>
            </a:r>
          </a:p>
          <a:p>
            <a:pPr>
              <a:buFont typeface="Wingdings" panose="05000000000000000000" pitchFamily="2" charset="2"/>
              <a:buChar char="ü"/>
            </a:pPr>
            <a:endParaRPr lang="en-US" dirty="0" smtClean="0">
              <a:latin typeface="Times New Roman" panose="02020603050405020304" pitchFamily="18" charset="0"/>
              <a:cs typeface="Times New Roman" panose="02020603050405020304" pitchFamily="18" charset="0"/>
            </a:endParaRPr>
          </a:p>
          <a:p>
            <a:pPr>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382836" y="4224338"/>
            <a:ext cx="828675" cy="159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258509" y="2248151"/>
            <a:ext cx="1438275"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2"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258508" y="2829176"/>
            <a:ext cx="1438275"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85499176"/>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81781" y="589547"/>
            <a:ext cx="9634353" cy="5835315"/>
          </a:xfrm>
        </p:spPr>
        <p:txBody>
          <a:bodyPr>
            <a:noAutofit/>
          </a:bodyPr>
          <a:lstStyle/>
          <a:p>
            <a:pPr lvl="0"/>
            <a:r>
              <a:rPr lang="en-US" dirty="0">
                <a:solidFill>
                  <a:prstClr val="black"/>
                </a:solidFill>
                <a:latin typeface="Times New Roman" panose="02020603050405020304" pitchFamily="18" charset="0"/>
                <a:cs typeface="Times New Roman" panose="02020603050405020304" pitchFamily="18" charset="0"/>
              </a:rPr>
              <a:t>Special-use device</a:t>
            </a:r>
          </a:p>
          <a:p>
            <a:pPr lvl="0">
              <a:buFont typeface="Wingdings" panose="05000000000000000000" pitchFamily="2" charset="2"/>
              <a:buChar char="ü"/>
            </a:pPr>
            <a:r>
              <a:rPr lang="en-US" dirty="0">
                <a:solidFill>
                  <a:prstClr val="black"/>
                </a:solidFill>
                <a:latin typeface="Times New Roman" panose="02020603050405020304" pitchFamily="18" charset="0"/>
                <a:cs typeface="Times New Roman" panose="02020603050405020304" pitchFamily="18" charset="0"/>
              </a:rPr>
              <a:t>Description: Intended for specific activities such as whitewater rafting.  May be worn instead of another life jacket only if used according to the approval condition(s) on its label. Worn continuously</a:t>
            </a:r>
          </a:p>
          <a:p>
            <a:pPr lvl="0">
              <a:buFont typeface="Wingdings" panose="05000000000000000000" pitchFamily="2" charset="2"/>
              <a:buChar char="ü"/>
            </a:pPr>
            <a:r>
              <a:rPr lang="en-US" dirty="0">
                <a:solidFill>
                  <a:prstClr val="black"/>
                </a:solidFill>
                <a:latin typeface="Times New Roman" panose="02020603050405020304" pitchFamily="18" charset="0"/>
                <a:cs typeface="Times New Roman" panose="02020603050405020304" pitchFamily="18" charset="0"/>
              </a:rPr>
              <a:t>Advantages: Designed for specific activities. Continuous wear provides continuous protection</a:t>
            </a:r>
          </a:p>
          <a:p>
            <a:pPr lvl="0">
              <a:buFont typeface="Wingdings" panose="05000000000000000000" pitchFamily="2" charset="2"/>
              <a:buChar char="ü"/>
            </a:pPr>
            <a:r>
              <a:rPr lang="en-US" dirty="0">
                <a:solidFill>
                  <a:prstClr val="black"/>
                </a:solidFill>
                <a:latin typeface="Times New Roman" panose="02020603050405020304" pitchFamily="18" charset="0"/>
                <a:cs typeface="Times New Roman" panose="02020603050405020304" pitchFamily="18" charset="0"/>
              </a:rPr>
              <a:t>Disadvantages: Limited use</a:t>
            </a:r>
            <a:endParaRPr lang="en-US" dirty="0">
              <a:latin typeface="Times New Roman" panose="02020603050405020304" pitchFamily="18" charset="0"/>
              <a:cs typeface="Times New Roman" panose="02020603050405020304" pitchFamily="18" charset="0"/>
            </a:endParaRP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382836" y="4224338"/>
            <a:ext cx="828675" cy="159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258509" y="2248151"/>
            <a:ext cx="1438275"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2"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258508" y="2829176"/>
            <a:ext cx="1438275"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85499176"/>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b="1" dirty="0" smtClean="0">
                <a:latin typeface="Times New Roman" panose="02020603050405020304" pitchFamily="18" charset="0"/>
                <a:cs typeface="Times New Roman" panose="02020603050405020304" pitchFamily="18" charset="0"/>
              </a:rPr>
              <a:t>SAFETY IN AND AROUND THE POOL </a:t>
            </a:r>
            <a:endParaRPr lang="en-GB" dirty="0"/>
          </a:p>
        </p:txBody>
      </p:sp>
      <p:sp>
        <p:nvSpPr>
          <p:cNvPr id="3" name="Content Placeholder 2"/>
          <p:cNvSpPr>
            <a:spLocks noGrp="1"/>
          </p:cNvSpPr>
          <p:nvPr>
            <p:ph idx="1"/>
          </p:nvPr>
        </p:nvSpPr>
        <p:spPr/>
        <p:txBody>
          <a:bodyPr>
            <a:noAutofit/>
          </a:bodyPr>
          <a:lstStyle/>
          <a:p>
            <a:r>
              <a:rPr lang="en-GB" b="1" dirty="0">
                <a:solidFill>
                  <a:prstClr val="black"/>
                </a:solidFill>
                <a:latin typeface="Times New Roman" panose="02020603050405020304" pitchFamily="18" charset="0"/>
                <a:ea typeface="+mj-ea"/>
                <a:cs typeface="Times New Roman" panose="02020603050405020304" pitchFamily="18" charset="0"/>
              </a:rPr>
              <a:t>Swimming related conditions </a:t>
            </a:r>
            <a:endParaRPr lang="en-GB" b="1" dirty="0" smtClean="0">
              <a:solidFill>
                <a:prstClr val="black"/>
              </a:solidFill>
              <a:latin typeface="Times New Roman" panose="02020603050405020304" pitchFamily="18" charset="0"/>
              <a:ea typeface="+mj-ea"/>
              <a:cs typeface="Times New Roman" panose="02020603050405020304" pitchFamily="18" charset="0"/>
            </a:endParaRPr>
          </a:p>
          <a:p>
            <a:pPr algn="just">
              <a:buFont typeface="Wingdings" panose="05000000000000000000" pitchFamily="2" charset="2"/>
              <a:buChar char="ü"/>
            </a:pPr>
            <a:r>
              <a:rPr lang="en-GB" b="1" dirty="0" smtClean="0">
                <a:latin typeface="Times New Roman" panose="02020603050405020304" pitchFamily="18" charset="0"/>
                <a:cs typeface="Times New Roman" panose="02020603050405020304" pitchFamily="18" charset="0"/>
              </a:rPr>
              <a:t>Recreational Water Illness (RWI): </a:t>
            </a:r>
            <a:r>
              <a:rPr lang="en-US" dirty="0">
                <a:latin typeface="Times New Roman" panose="02020603050405020304" pitchFamily="18" charset="0"/>
                <a:cs typeface="Times New Roman" panose="02020603050405020304" pitchFamily="18" charset="0"/>
              </a:rPr>
              <a:t>is an illness that is spread by swallowing, breathing </a:t>
            </a:r>
            <a:r>
              <a:rPr lang="en-US" dirty="0" smtClean="0">
                <a:latin typeface="Times New Roman" panose="02020603050405020304" pitchFamily="18" charset="0"/>
                <a:cs typeface="Times New Roman" panose="02020603050405020304" pitchFamily="18" charset="0"/>
              </a:rPr>
              <a:t>or contacting contaminated </a:t>
            </a:r>
            <a:r>
              <a:rPr lang="en-US" dirty="0">
                <a:latin typeface="Times New Roman" panose="02020603050405020304" pitchFamily="18" charset="0"/>
                <a:cs typeface="Times New Roman" panose="02020603050405020304" pitchFamily="18" charset="0"/>
              </a:rPr>
              <a:t>water. </a:t>
            </a:r>
            <a:endParaRPr lang="en-US" dirty="0" smtClean="0">
              <a:latin typeface="Times New Roman" panose="02020603050405020304" pitchFamily="18" charset="0"/>
              <a:cs typeface="Times New Roman" panose="02020603050405020304" pitchFamily="18" charset="0"/>
            </a:endParaRPr>
          </a:p>
          <a:p>
            <a:pPr algn="just">
              <a:buFont typeface="Courier New" panose="02070309020205020404" pitchFamily="49" charset="0"/>
              <a:buChar char="o"/>
            </a:pPr>
            <a:r>
              <a:rPr lang="en-US" dirty="0" smtClean="0">
                <a:latin typeface="Times New Roman" panose="02020603050405020304" pitchFamily="18" charset="0"/>
                <a:cs typeface="Times New Roman" panose="02020603050405020304" pitchFamily="18" charset="0"/>
              </a:rPr>
              <a:t>A </a:t>
            </a:r>
            <a:r>
              <a:rPr lang="en-US" dirty="0">
                <a:latin typeface="Times New Roman" panose="02020603050405020304" pitchFamily="18" charset="0"/>
                <a:cs typeface="Times New Roman" panose="02020603050405020304" pitchFamily="18" charset="0"/>
              </a:rPr>
              <a:t>person can contract an RWI from a natural body of water </a:t>
            </a:r>
            <a:r>
              <a:rPr lang="en-US" dirty="0" smtClean="0">
                <a:latin typeface="Times New Roman" panose="02020603050405020304" pitchFamily="18" charset="0"/>
                <a:cs typeface="Times New Roman" panose="02020603050405020304" pitchFamily="18" charset="0"/>
              </a:rPr>
              <a:t>or from </a:t>
            </a:r>
            <a:r>
              <a:rPr lang="en-US" dirty="0">
                <a:latin typeface="Times New Roman" panose="02020603050405020304" pitchFamily="18" charset="0"/>
                <a:cs typeface="Times New Roman" panose="02020603050405020304" pitchFamily="18" charset="0"/>
              </a:rPr>
              <a:t>the chlorinated water found in pools and waterpark attractions. </a:t>
            </a:r>
            <a:endParaRPr lang="en-US" dirty="0" smtClean="0">
              <a:latin typeface="Times New Roman" panose="02020603050405020304" pitchFamily="18" charset="0"/>
              <a:cs typeface="Times New Roman" panose="02020603050405020304" pitchFamily="18" charset="0"/>
            </a:endParaRPr>
          </a:p>
          <a:p>
            <a:pPr algn="just">
              <a:buFont typeface="Courier New" panose="02070309020205020404" pitchFamily="49" charset="0"/>
              <a:buChar char="o"/>
            </a:pPr>
            <a:r>
              <a:rPr lang="en-US" dirty="0" smtClean="0">
                <a:latin typeface="Times New Roman" panose="02020603050405020304" pitchFamily="18" charset="0"/>
                <a:cs typeface="Times New Roman" panose="02020603050405020304" pitchFamily="18" charset="0"/>
              </a:rPr>
              <a:t>In </a:t>
            </a:r>
            <a:r>
              <a:rPr lang="en-US" dirty="0">
                <a:latin typeface="Times New Roman" panose="02020603050405020304" pitchFamily="18" charset="0"/>
                <a:cs typeface="Times New Roman" panose="02020603050405020304" pitchFamily="18" charset="0"/>
              </a:rPr>
              <a:t>fact, pool water is a </a:t>
            </a:r>
            <a:r>
              <a:rPr lang="en-US" dirty="0" smtClean="0">
                <a:latin typeface="Times New Roman" panose="02020603050405020304" pitchFamily="18" charset="0"/>
                <a:cs typeface="Times New Roman" panose="02020603050405020304" pitchFamily="18" charset="0"/>
              </a:rPr>
              <a:t>very common </a:t>
            </a:r>
            <a:r>
              <a:rPr lang="en-US" dirty="0">
                <a:latin typeface="Times New Roman" panose="02020603050405020304" pitchFamily="18" charset="0"/>
                <a:cs typeface="Times New Roman" panose="02020603050405020304" pitchFamily="18" charset="0"/>
              </a:rPr>
              <a:t>source of RWIs, especially common ones such as diarrhea, earaches and rashes. </a:t>
            </a:r>
            <a:endParaRPr lang="en-US" dirty="0" smtClean="0">
              <a:latin typeface="Times New Roman" panose="02020603050405020304" pitchFamily="18" charset="0"/>
              <a:cs typeface="Times New Roman" panose="02020603050405020304" pitchFamily="18" charset="0"/>
            </a:endParaRPr>
          </a:p>
          <a:p>
            <a:pPr algn="just">
              <a:buFont typeface="Courier New" panose="02070309020205020404" pitchFamily="49" charset="0"/>
              <a:buChar char="o"/>
            </a:pPr>
            <a:r>
              <a:rPr lang="en-US" dirty="0" smtClean="0">
                <a:latin typeface="Times New Roman" panose="02020603050405020304" pitchFamily="18" charset="0"/>
                <a:cs typeface="Times New Roman" panose="02020603050405020304" pitchFamily="18" charset="0"/>
              </a:rPr>
              <a:t>In rare </a:t>
            </a:r>
            <a:r>
              <a:rPr lang="en-US" dirty="0">
                <a:latin typeface="Times New Roman" panose="02020603050405020304" pitchFamily="18" charset="0"/>
                <a:cs typeface="Times New Roman" panose="02020603050405020304" pitchFamily="18" charset="0"/>
              </a:rPr>
              <a:t>cases, RWIs can cause pneumonia, neurological damage and even death</a:t>
            </a:r>
            <a:r>
              <a:rPr lang="en-US" dirty="0" smtClean="0">
                <a:latin typeface="Times New Roman" panose="02020603050405020304" pitchFamily="18" charset="0"/>
                <a:cs typeface="Times New Roman" panose="02020603050405020304" pitchFamily="18" charset="0"/>
              </a:rPr>
              <a:t>.</a:t>
            </a:r>
            <a:endParaRPr lang="en-GB"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91869413"/>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b="1" dirty="0" smtClean="0">
                <a:latin typeface="Times New Roman" panose="02020603050405020304" pitchFamily="18" charset="0"/>
                <a:cs typeface="Times New Roman" panose="02020603050405020304" pitchFamily="18" charset="0"/>
              </a:rPr>
              <a:t>SAFETY IN AND AROUND THE POOL </a:t>
            </a:r>
            <a:endParaRPr lang="en-GB" dirty="0"/>
          </a:p>
        </p:txBody>
      </p:sp>
      <p:sp>
        <p:nvSpPr>
          <p:cNvPr id="3" name="Content Placeholder 2"/>
          <p:cNvSpPr>
            <a:spLocks noGrp="1"/>
          </p:cNvSpPr>
          <p:nvPr>
            <p:ph idx="1"/>
          </p:nvPr>
        </p:nvSpPr>
        <p:spPr>
          <a:xfrm>
            <a:off x="412955" y="1451999"/>
            <a:ext cx="11218606" cy="4351338"/>
          </a:xfrm>
        </p:spPr>
        <p:txBody>
          <a:bodyPr>
            <a:noAutofit/>
          </a:bodyPr>
          <a:lstStyle/>
          <a:p>
            <a:pPr lvl="0" algn="just">
              <a:buFont typeface="Wingdings 2" panose="05020102010507070707" pitchFamily="18" charset="2"/>
              <a:buChar char="P"/>
            </a:pPr>
            <a:r>
              <a:rPr lang="en-GB" b="1" dirty="0">
                <a:solidFill>
                  <a:prstClr val="black"/>
                </a:solidFill>
                <a:latin typeface="Times New Roman" panose="02020603050405020304" pitchFamily="18" charset="0"/>
                <a:cs typeface="Times New Roman" panose="02020603050405020304" pitchFamily="18" charset="0"/>
              </a:rPr>
              <a:t>Swimmer’s ear:</a:t>
            </a:r>
            <a:r>
              <a:rPr lang="en-GB" dirty="0">
                <a:solidFill>
                  <a:prstClr val="black"/>
                </a:solidFill>
                <a:latin typeface="Times New Roman" panose="02020603050405020304" pitchFamily="18" charset="0"/>
                <a:cs typeface="Times New Roman" panose="02020603050405020304" pitchFamily="18" charset="0"/>
              </a:rPr>
              <a:t> A painful condition resulting from inflammation. Irritation or infection. </a:t>
            </a:r>
            <a:endParaRPr lang="en-GB" dirty="0" smtClean="0">
              <a:solidFill>
                <a:prstClr val="black"/>
              </a:solidFill>
              <a:latin typeface="Times New Roman" panose="02020603050405020304" pitchFamily="18" charset="0"/>
              <a:cs typeface="Times New Roman" panose="02020603050405020304" pitchFamily="18" charset="0"/>
            </a:endParaRPr>
          </a:p>
          <a:p>
            <a:pPr lvl="0" algn="just">
              <a:buFont typeface="Courier New" panose="02070309020205020404" pitchFamily="49" charset="0"/>
              <a:buChar char="o"/>
            </a:pPr>
            <a:r>
              <a:rPr lang="en-GB" dirty="0" smtClean="0">
                <a:solidFill>
                  <a:prstClr val="black"/>
                </a:solidFill>
                <a:latin typeface="Times New Roman" panose="02020603050405020304" pitchFamily="18" charset="0"/>
                <a:cs typeface="Times New Roman" panose="02020603050405020304" pitchFamily="18" charset="0"/>
              </a:rPr>
              <a:t>This </a:t>
            </a:r>
            <a:r>
              <a:rPr lang="en-GB" dirty="0">
                <a:solidFill>
                  <a:prstClr val="black"/>
                </a:solidFill>
                <a:latin typeface="Times New Roman" panose="02020603050405020304" pitchFamily="18" charset="0"/>
                <a:cs typeface="Times New Roman" panose="02020603050405020304" pitchFamily="18" charset="0"/>
              </a:rPr>
              <a:t>occurs after water gets trapped in the ear, with subsequent spread of bacterial or fungal organism. </a:t>
            </a:r>
            <a:endParaRPr lang="en-GB" dirty="0" smtClean="0">
              <a:solidFill>
                <a:prstClr val="black"/>
              </a:solidFill>
              <a:latin typeface="Times New Roman" panose="02020603050405020304" pitchFamily="18" charset="0"/>
              <a:cs typeface="Times New Roman" panose="02020603050405020304" pitchFamily="18" charset="0"/>
            </a:endParaRPr>
          </a:p>
          <a:p>
            <a:pPr lvl="0" algn="just">
              <a:buFont typeface="Courier New" panose="02070309020205020404" pitchFamily="49" charset="0"/>
              <a:buChar char="o"/>
            </a:pPr>
            <a:r>
              <a:rPr lang="en-GB" dirty="0" smtClean="0">
                <a:solidFill>
                  <a:prstClr val="black"/>
                </a:solidFill>
                <a:latin typeface="Times New Roman" panose="02020603050405020304" pitchFamily="18" charset="0"/>
                <a:cs typeface="Times New Roman" panose="02020603050405020304" pitchFamily="18" charset="0"/>
              </a:rPr>
              <a:t>Children </a:t>
            </a:r>
            <a:r>
              <a:rPr lang="en-GB" dirty="0">
                <a:solidFill>
                  <a:prstClr val="black"/>
                </a:solidFill>
                <a:latin typeface="Times New Roman" panose="02020603050405020304" pitchFamily="18" charset="0"/>
                <a:cs typeface="Times New Roman" panose="02020603050405020304" pitchFamily="18" charset="0"/>
              </a:rPr>
              <a:t>and teenagers are most prevalent. Signs and symptoms could be; Sensation that the ear is blocked or full , Drainage, Fever, Decreased hearing, Intense pain that may spread to the neck, face, or side of the head. </a:t>
            </a:r>
            <a:endParaRPr lang="en-GB" dirty="0" smtClean="0">
              <a:solidFill>
                <a:prstClr val="black"/>
              </a:solidFill>
              <a:latin typeface="Times New Roman" panose="02020603050405020304" pitchFamily="18" charset="0"/>
              <a:cs typeface="Times New Roman" panose="02020603050405020304" pitchFamily="18" charset="0"/>
            </a:endParaRPr>
          </a:p>
          <a:p>
            <a:pPr lvl="0" algn="just">
              <a:buFont typeface="Courier New" panose="02070309020205020404" pitchFamily="49" charset="0"/>
              <a:buChar char="o"/>
            </a:pPr>
            <a:r>
              <a:rPr lang="en-GB" dirty="0" smtClean="0">
                <a:solidFill>
                  <a:prstClr val="black"/>
                </a:solidFill>
                <a:latin typeface="Times New Roman" panose="02020603050405020304" pitchFamily="18" charset="0"/>
                <a:cs typeface="Times New Roman" panose="02020603050405020304" pitchFamily="18" charset="0"/>
              </a:rPr>
              <a:t>Untreated </a:t>
            </a:r>
            <a:r>
              <a:rPr lang="en-GB" dirty="0">
                <a:solidFill>
                  <a:prstClr val="black"/>
                </a:solidFill>
                <a:latin typeface="Times New Roman" panose="02020603050405020304" pitchFamily="18" charset="0"/>
                <a:cs typeface="Times New Roman" panose="02020603050405020304" pitchFamily="18" charset="0"/>
              </a:rPr>
              <a:t>condition may lead to hearing loss, recurring ear infection, bone and cartilage damage. </a:t>
            </a:r>
            <a:endParaRPr lang="en-GB" dirty="0" smtClean="0">
              <a:solidFill>
                <a:prstClr val="black"/>
              </a:solidFill>
              <a:latin typeface="Times New Roman" panose="02020603050405020304" pitchFamily="18" charset="0"/>
              <a:cs typeface="Times New Roman" panose="02020603050405020304" pitchFamily="18" charset="0"/>
            </a:endParaRPr>
          </a:p>
          <a:p>
            <a:pPr lvl="0" algn="just">
              <a:buFont typeface="Courier New" panose="02070309020205020404" pitchFamily="49" charset="0"/>
              <a:buChar char="o"/>
            </a:pPr>
            <a:r>
              <a:rPr lang="en-GB" dirty="0" smtClean="0">
                <a:solidFill>
                  <a:prstClr val="black"/>
                </a:solidFill>
                <a:latin typeface="Times New Roman" panose="02020603050405020304" pitchFamily="18" charset="0"/>
                <a:cs typeface="Times New Roman" panose="02020603050405020304" pitchFamily="18" charset="0"/>
              </a:rPr>
              <a:t>Treatment </a:t>
            </a:r>
            <a:r>
              <a:rPr lang="en-GB" dirty="0">
                <a:solidFill>
                  <a:prstClr val="black"/>
                </a:solidFill>
                <a:latin typeface="Times New Roman" panose="02020603050405020304" pitchFamily="18" charset="0"/>
                <a:cs typeface="Times New Roman" panose="02020603050405020304" pitchFamily="18" charset="0"/>
              </a:rPr>
              <a:t>for the early stages of swimmer’s ear includes careful cleaning of the ear canal, use of ear plugs, and use of ear drops that inhibits bacterial or fungal growth</a:t>
            </a:r>
          </a:p>
          <a:p>
            <a:pPr lvl="0"/>
            <a:endParaRPr lang="en-GB" dirty="0">
              <a:solidFill>
                <a:prstClr val="black"/>
              </a:solidFill>
              <a:latin typeface="Times New Roman" panose="02020603050405020304" pitchFamily="18" charset="0"/>
              <a:cs typeface="Times New Roman" panose="02020603050405020304" pitchFamily="18" charset="0"/>
            </a:endParaRPr>
          </a:p>
          <a:p>
            <a:endParaRPr lang="en-GB"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91869413"/>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b="1" dirty="0" smtClean="0">
                <a:latin typeface="Times New Roman" panose="02020603050405020304" pitchFamily="18" charset="0"/>
                <a:cs typeface="Times New Roman" panose="02020603050405020304" pitchFamily="18" charset="0"/>
              </a:rPr>
              <a:t>SAFETY IN AND AROUND THE POOL </a:t>
            </a:r>
            <a:endParaRPr lang="en-GB" dirty="0"/>
          </a:p>
        </p:txBody>
      </p:sp>
      <p:sp>
        <p:nvSpPr>
          <p:cNvPr id="3" name="Content Placeholder 2"/>
          <p:cNvSpPr>
            <a:spLocks noGrp="1"/>
          </p:cNvSpPr>
          <p:nvPr>
            <p:ph idx="1"/>
          </p:nvPr>
        </p:nvSpPr>
        <p:spPr>
          <a:xfrm>
            <a:off x="412955" y="1451999"/>
            <a:ext cx="11218606" cy="4351338"/>
          </a:xfrm>
        </p:spPr>
        <p:txBody>
          <a:bodyPr>
            <a:noAutofit/>
          </a:bodyPr>
          <a:lstStyle/>
          <a:p>
            <a:pPr lvl="0">
              <a:buFont typeface="Wingdings 2" panose="05020102010507070707" pitchFamily="18" charset="2"/>
              <a:buChar char="P"/>
            </a:pPr>
            <a:r>
              <a:rPr lang="en-US" b="1" dirty="0">
                <a:solidFill>
                  <a:prstClr val="black"/>
                </a:solidFill>
                <a:latin typeface="Times New Roman" panose="02020603050405020304" pitchFamily="18" charset="0"/>
                <a:cs typeface="Times New Roman" panose="02020603050405020304" pitchFamily="18" charset="0"/>
              </a:rPr>
              <a:t>Diarrhea:</a:t>
            </a:r>
            <a:r>
              <a:rPr lang="en-US" dirty="0">
                <a:solidFill>
                  <a:prstClr val="black"/>
                </a:solidFill>
                <a:latin typeface="Times New Roman" panose="02020603050405020304" pitchFamily="18" charset="0"/>
                <a:cs typeface="Times New Roman" panose="02020603050405020304" pitchFamily="18" charset="0"/>
              </a:rPr>
              <a:t> Diarrhea is the most commonly reported RWI. When a person with diarrhea swims, the water becomes contaminated</a:t>
            </a:r>
            <a:r>
              <a:rPr lang="en-US" dirty="0" smtClean="0">
                <a:solidFill>
                  <a:prstClr val="black"/>
                </a:solidFill>
                <a:latin typeface="Times New Roman" panose="02020603050405020304" pitchFamily="18" charset="0"/>
                <a:cs typeface="Times New Roman" panose="02020603050405020304" pitchFamily="18" charset="0"/>
              </a:rPr>
              <a:t>.</a:t>
            </a:r>
          </a:p>
          <a:p>
            <a:pPr lvl="0">
              <a:buFont typeface="Courier New" panose="02070309020205020404" pitchFamily="49" charset="0"/>
              <a:buChar char="o"/>
            </a:pPr>
            <a:r>
              <a:rPr lang="en-US" dirty="0" smtClean="0">
                <a:solidFill>
                  <a:prstClr val="black"/>
                </a:solidFill>
                <a:latin typeface="Times New Roman" panose="02020603050405020304" pitchFamily="18" charset="0"/>
                <a:cs typeface="Times New Roman" panose="02020603050405020304" pitchFamily="18" charset="0"/>
              </a:rPr>
              <a:t> </a:t>
            </a:r>
            <a:r>
              <a:rPr lang="en-US" dirty="0">
                <a:solidFill>
                  <a:prstClr val="black"/>
                </a:solidFill>
                <a:latin typeface="Times New Roman" panose="02020603050405020304" pitchFamily="18" charset="0"/>
                <a:cs typeface="Times New Roman" panose="02020603050405020304" pitchFamily="18" charset="0"/>
              </a:rPr>
              <a:t>A person who swallows the contaminated water could also then become ill. To lower the risk of infection for others, a person who has diarrhea should not enter the water</a:t>
            </a:r>
            <a:r>
              <a:rPr lang="en-US" dirty="0" smtClean="0">
                <a:solidFill>
                  <a:prstClr val="black"/>
                </a:solidFill>
                <a:latin typeface="Times New Roman" panose="02020603050405020304" pitchFamily="18" charset="0"/>
                <a:cs typeface="Times New Roman" panose="02020603050405020304" pitchFamily="18" charset="0"/>
              </a:rPr>
              <a:t>.</a:t>
            </a:r>
          </a:p>
          <a:p>
            <a:pPr lvl="0">
              <a:buFont typeface="Courier New" panose="02070309020205020404" pitchFamily="49" charset="0"/>
              <a:buChar char="o"/>
            </a:pPr>
            <a:endParaRPr lang="en-US" dirty="0">
              <a:solidFill>
                <a:prstClr val="black"/>
              </a:solidFill>
              <a:latin typeface="Times New Roman" panose="02020603050405020304" pitchFamily="18" charset="0"/>
              <a:cs typeface="Times New Roman" panose="02020603050405020304" pitchFamily="18" charset="0"/>
            </a:endParaRPr>
          </a:p>
          <a:p>
            <a:pPr lvl="0">
              <a:buFont typeface="Wingdings" panose="05000000000000000000" pitchFamily="2" charset="2"/>
              <a:buChar char="ü"/>
            </a:pPr>
            <a:r>
              <a:rPr lang="en-US" b="1" dirty="0" smtClean="0">
                <a:solidFill>
                  <a:prstClr val="black"/>
                </a:solidFill>
                <a:latin typeface="Times New Roman" panose="02020603050405020304" pitchFamily="18" charset="0"/>
                <a:cs typeface="Times New Roman" panose="02020603050405020304" pitchFamily="18" charset="0"/>
              </a:rPr>
              <a:t>Sun </a:t>
            </a:r>
            <a:r>
              <a:rPr lang="en-US" b="1" dirty="0">
                <a:solidFill>
                  <a:prstClr val="black"/>
                </a:solidFill>
                <a:latin typeface="Times New Roman" panose="02020603050405020304" pitchFamily="18" charset="0"/>
                <a:cs typeface="Times New Roman" panose="02020603050405020304" pitchFamily="18" charset="0"/>
              </a:rPr>
              <a:t>overexposure: </a:t>
            </a:r>
            <a:r>
              <a:rPr lang="en-US" dirty="0">
                <a:solidFill>
                  <a:prstClr val="black"/>
                </a:solidFill>
                <a:latin typeface="Times New Roman" panose="02020603050405020304" pitchFamily="18" charset="0"/>
                <a:cs typeface="Times New Roman" panose="02020603050405020304" pitchFamily="18" charset="0"/>
              </a:rPr>
              <a:t>Overexposure to the sun has been linked to multiple health problems, including painful sunburns, skin cancer and eye damage (such as cataracts), and can cause premature aging and wrinkling of the skin</a:t>
            </a:r>
          </a:p>
          <a:p>
            <a:endParaRPr lang="en-GB"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91869413"/>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b="1" dirty="0" smtClean="0">
                <a:latin typeface="Times New Roman" panose="02020603050405020304" pitchFamily="18" charset="0"/>
                <a:cs typeface="Times New Roman" panose="02020603050405020304" pitchFamily="18" charset="0"/>
              </a:rPr>
              <a:t>SAFETY IN AND AROUND THE POOL </a:t>
            </a:r>
            <a:endParaRPr lang="en-GB" dirty="0"/>
          </a:p>
        </p:txBody>
      </p:sp>
      <p:sp>
        <p:nvSpPr>
          <p:cNvPr id="3" name="Content Placeholder 2"/>
          <p:cNvSpPr>
            <a:spLocks noGrp="1"/>
          </p:cNvSpPr>
          <p:nvPr>
            <p:ph idx="1"/>
          </p:nvPr>
        </p:nvSpPr>
        <p:spPr>
          <a:xfrm>
            <a:off x="412955" y="1451999"/>
            <a:ext cx="11218606" cy="4351338"/>
          </a:xfrm>
        </p:spPr>
        <p:txBody>
          <a:bodyPr>
            <a:noAutofit/>
          </a:bodyPr>
          <a:lstStyle/>
          <a:p>
            <a:pPr lvl="0" algn="just">
              <a:buFont typeface="Wingdings" panose="05000000000000000000" pitchFamily="2" charset="2"/>
              <a:buChar char="ü"/>
            </a:pPr>
            <a:r>
              <a:rPr lang="en-US" b="1" dirty="0">
                <a:solidFill>
                  <a:prstClr val="black"/>
                </a:solidFill>
                <a:latin typeface="Times New Roman" panose="02020603050405020304" pitchFamily="18" charset="0"/>
                <a:cs typeface="Times New Roman" panose="02020603050405020304" pitchFamily="18" charset="0"/>
              </a:rPr>
              <a:t>Heat related illness: </a:t>
            </a:r>
            <a:r>
              <a:rPr lang="en-US" dirty="0">
                <a:solidFill>
                  <a:prstClr val="black"/>
                </a:solidFill>
                <a:latin typeface="Times New Roman" panose="02020603050405020304" pitchFamily="18" charset="0"/>
                <a:cs typeface="Times New Roman" panose="02020603050405020304" pitchFamily="18" charset="0"/>
              </a:rPr>
              <a:t>Heat-related illnesses can occur on hot, humid days when the body is not able to effectively cool itself through sweating. </a:t>
            </a:r>
            <a:endParaRPr lang="en-US" dirty="0" smtClean="0">
              <a:solidFill>
                <a:prstClr val="black"/>
              </a:solidFill>
              <a:latin typeface="Times New Roman" panose="02020603050405020304" pitchFamily="18" charset="0"/>
              <a:cs typeface="Times New Roman" panose="02020603050405020304" pitchFamily="18" charset="0"/>
            </a:endParaRPr>
          </a:p>
          <a:p>
            <a:pPr lvl="0" algn="just">
              <a:buFont typeface="Courier New" panose="02070309020205020404" pitchFamily="49" charset="0"/>
              <a:buChar char="o"/>
            </a:pPr>
            <a:r>
              <a:rPr lang="en-US" dirty="0" smtClean="0">
                <a:solidFill>
                  <a:prstClr val="black"/>
                </a:solidFill>
                <a:latin typeface="Times New Roman" panose="02020603050405020304" pitchFamily="18" charset="0"/>
                <a:cs typeface="Times New Roman" panose="02020603050405020304" pitchFamily="18" charset="0"/>
              </a:rPr>
              <a:t>As </a:t>
            </a:r>
            <a:r>
              <a:rPr lang="en-US" dirty="0">
                <a:solidFill>
                  <a:prstClr val="black"/>
                </a:solidFill>
                <a:latin typeface="Times New Roman" panose="02020603050405020304" pitchFamily="18" charset="0"/>
                <a:cs typeface="Times New Roman" panose="02020603050405020304" pitchFamily="18" charset="0"/>
              </a:rPr>
              <a:t>a result, the body temperature rises and serious illness can result. Heat-related illnesses occur when fluid is lost during heavy sweating and is not replaced. </a:t>
            </a:r>
            <a:endParaRPr lang="en-US" dirty="0" smtClean="0">
              <a:solidFill>
                <a:prstClr val="black"/>
              </a:solidFill>
              <a:latin typeface="Times New Roman" panose="02020603050405020304" pitchFamily="18" charset="0"/>
              <a:cs typeface="Times New Roman" panose="02020603050405020304" pitchFamily="18" charset="0"/>
            </a:endParaRPr>
          </a:p>
          <a:p>
            <a:pPr lvl="0" algn="just">
              <a:buFont typeface="Courier New" panose="02070309020205020404" pitchFamily="49" charset="0"/>
              <a:buChar char="o"/>
            </a:pPr>
            <a:r>
              <a:rPr lang="en-US" dirty="0" smtClean="0">
                <a:solidFill>
                  <a:prstClr val="black"/>
                </a:solidFill>
                <a:latin typeface="Times New Roman" panose="02020603050405020304" pitchFamily="18" charset="0"/>
                <a:cs typeface="Times New Roman" panose="02020603050405020304" pitchFamily="18" charset="0"/>
              </a:rPr>
              <a:t>The </a:t>
            </a:r>
            <a:r>
              <a:rPr lang="en-US" dirty="0">
                <a:solidFill>
                  <a:prstClr val="black"/>
                </a:solidFill>
                <a:latin typeface="Times New Roman" panose="02020603050405020304" pitchFamily="18" charset="0"/>
                <a:cs typeface="Times New Roman" panose="02020603050405020304" pitchFamily="18" charset="0"/>
              </a:rPr>
              <a:t>best prevention strategy for heat-related illnesses is to stay properly hydrated. </a:t>
            </a:r>
            <a:endParaRPr lang="en-US" dirty="0" smtClean="0">
              <a:solidFill>
                <a:prstClr val="black"/>
              </a:solidFill>
              <a:latin typeface="Times New Roman" panose="02020603050405020304" pitchFamily="18" charset="0"/>
              <a:cs typeface="Times New Roman" panose="02020603050405020304" pitchFamily="18" charset="0"/>
            </a:endParaRPr>
          </a:p>
          <a:p>
            <a:pPr lvl="0" algn="just">
              <a:buFont typeface="Courier New" panose="02070309020205020404" pitchFamily="49" charset="0"/>
              <a:buChar char="o"/>
            </a:pPr>
            <a:r>
              <a:rPr lang="en-US" dirty="0" smtClean="0">
                <a:solidFill>
                  <a:prstClr val="black"/>
                </a:solidFill>
                <a:latin typeface="Times New Roman" panose="02020603050405020304" pitchFamily="18" charset="0"/>
                <a:cs typeface="Times New Roman" panose="02020603050405020304" pitchFamily="18" charset="0"/>
              </a:rPr>
              <a:t>There </a:t>
            </a:r>
            <a:r>
              <a:rPr lang="en-US" dirty="0">
                <a:solidFill>
                  <a:prstClr val="black"/>
                </a:solidFill>
                <a:latin typeface="Times New Roman" panose="02020603050405020304" pitchFamily="18" charset="0"/>
                <a:cs typeface="Times New Roman" panose="02020603050405020304" pitchFamily="18" charset="0"/>
              </a:rPr>
              <a:t>are three types of heat-related illnesses, of increasing severity:</a:t>
            </a:r>
          </a:p>
          <a:p>
            <a:pPr lvl="0" algn="just">
              <a:buFont typeface="Wingdings" panose="05000000000000000000" pitchFamily="2" charset="2"/>
              <a:buChar char="Ø"/>
            </a:pPr>
            <a:r>
              <a:rPr lang="en-US" dirty="0">
                <a:solidFill>
                  <a:prstClr val="black"/>
                </a:solidFill>
                <a:latin typeface="Times New Roman" panose="02020603050405020304" pitchFamily="18" charset="0"/>
                <a:cs typeface="Times New Roman" panose="02020603050405020304" pitchFamily="18" charset="0"/>
              </a:rPr>
              <a:t>Heat cramps are painful muscle spasms, usually in the legs and stomach. Heat cramps can quickly turn into heat exhaustion or heat stroke.</a:t>
            </a:r>
          </a:p>
          <a:p>
            <a:endParaRPr lang="en-GB"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91869413"/>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b="1" dirty="0" smtClean="0">
                <a:latin typeface="Times New Roman" panose="02020603050405020304" pitchFamily="18" charset="0"/>
                <a:cs typeface="Times New Roman" panose="02020603050405020304" pitchFamily="18" charset="0"/>
              </a:rPr>
              <a:t>SAFETY IN AND AROUND THE POOL </a:t>
            </a:r>
            <a:endParaRPr lang="en-GB" dirty="0"/>
          </a:p>
        </p:txBody>
      </p:sp>
      <p:sp>
        <p:nvSpPr>
          <p:cNvPr id="3" name="Content Placeholder 2"/>
          <p:cNvSpPr>
            <a:spLocks noGrp="1"/>
          </p:cNvSpPr>
          <p:nvPr>
            <p:ph idx="1"/>
          </p:nvPr>
        </p:nvSpPr>
        <p:spPr>
          <a:xfrm>
            <a:off x="412955" y="1451999"/>
            <a:ext cx="11218606" cy="4351338"/>
          </a:xfrm>
        </p:spPr>
        <p:txBody>
          <a:bodyPr>
            <a:noAutofit/>
          </a:bodyPr>
          <a:lstStyle/>
          <a:p>
            <a:pPr lvl="0" algn="just">
              <a:buFont typeface="Wingdings" panose="05000000000000000000" pitchFamily="2" charset="2"/>
              <a:buChar char="Ø"/>
            </a:pPr>
            <a:r>
              <a:rPr lang="en-US" dirty="0">
                <a:solidFill>
                  <a:prstClr val="black"/>
                </a:solidFill>
                <a:latin typeface="Times New Roman" panose="02020603050405020304" pitchFamily="18" charset="0"/>
                <a:cs typeface="Times New Roman" panose="02020603050405020304" pitchFamily="18" charset="0"/>
              </a:rPr>
              <a:t>Heat exhaustion occurs when the body’s cooling system is not able to keep up. The person’s skin may be cool and moist, and either very pale or gray, or red. The person may be sweating heavily and may complain of a headache, nausea or dizziness. The person may feel very weak or exhausted</a:t>
            </a:r>
            <a:r>
              <a:rPr lang="en-US" dirty="0" smtClean="0">
                <a:solidFill>
                  <a:prstClr val="black"/>
                </a:solidFill>
                <a:latin typeface="Times New Roman" panose="02020603050405020304" pitchFamily="18" charset="0"/>
                <a:cs typeface="Times New Roman" panose="02020603050405020304" pitchFamily="18" charset="0"/>
              </a:rPr>
              <a:t>.</a:t>
            </a:r>
          </a:p>
          <a:p>
            <a:pPr lvl="0" algn="just">
              <a:buFont typeface="Wingdings" panose="05000000000000000000" pitchFamily="2" charset="2"/>
              <a:buChar char="Ø"/>
            </a:pPr>
            <a:endParaRPr lang="en-US" dirty="0" smtClean="0">
              <a:solidFill>
                <a:prstClr val="black"/>
              </a:solidFill>
              <a:latin typeface="Times New Roman" panose="02020603050405020304" pitchFamily="18" charset="0"/>
              <a:cs typeface="Times New Roman" panose="02020603050405020304" pitchFamily="18" charset="0"/>
            </a:endParaRPr>
          </a:p>
          <a:p>
            <a:pPr lvl="0" algn="just">
              <a:buFont typeface="Wingdings" panose="05000000000000000000" pitchFamily="2" charset="2"/>
              <a:buChar char="Ø"/>
            </a:pPr>
            <a:r>
              <a:rPr lang="en-US" dirty="0">
                <a:solidFill>
                  <a:prstClr val="black"/>
                </a:solidFill>
                <a:latin typeface="Times New Roman" panose="02020603050405020304" pitchFamily="18" charset="0"/>
                <a:cs typeface="Times New Roman" panose="02020603050405020304" pitchFamily="18" charset="0"/>
              </a:rPr>
              <a:t>Heat stroke is the most severe form of heat-related illness. It occurs when the body’s cooling system is completely overwhelmed and stops functioning properly. Heat stroke is life threatening! The person’s skin will be red and hot, and it may be moist or dry. The person may seem confused, have changes in consciousness or lose consciousness. Breathing may be rapid and shallow, and the pulse may be rapid and weak. The person may vomit.</a:t>
            </a:r>
          </a:p>
          <a:p>
            <a:pPr lvl="0" algn="just">
              <a:buFont typeface="Wingdings" panose="05000000000000000000" pitchFamily="2" charset="2"/>
              <a:buChar char="Ø"/>
            </a:pPr>
            <a:endParaRPr lang="en-US" dirty="0">
              <a:solidFill>
                <a:prstClr val="black"/>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91869413"/>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b="1" dirty="0" smtClean="0">
                <a:latin typeface="Times New Roman" panose="02020603050405020304" pitchFamily="18" charset="0"/>
                <a:cs typeface="Times New Roman" panose="02020603050405020304" pitchFamily="18" charset="0"/>
              </a:rPr>
              <a:t>SAFETY IN AND AROUND THE POOL </a:t>
            </a:r>
            <a:endParaRPr lang="en-GB" dirty="0"/>
          </a:p>
        </p:txBody>
      </p:sp>
      <p:sp>
        <p:nvSpPr>
          <p:cNvPr id="3" name="Content Placeholder 2"/>
          <p:cNvSpPr>
            <a:spLocks noGrp="1"/>
          </p:cNvSpPr>
          <p:nvPr>
            <p:ph idx="1"/>
          </p:nvPr>
        </p:nvSpPr>
        <p:spPr>
          <a:xfrm>
            <a:off x="412955" y="1451999"/>
            <a:ext cx="11218606" cy="4351338"/>
          </a:xfrm>
        </p:spPr>
        <p:txBody>
          <a:bodyPr>
            <a:noAutofit/>
          </a:bodyPr>
          <a:lstStyle/>
          <a:p>
            <a:pPr lvl="0" algn="just">
              <a:buFont typeface="Wingdings" panose="05000000000000000000" pitchFamily="2" charset="2"/>
              <a:buChar char="ü"/>
            </a:pPr>
            <a:r>
              <a:rPr lang="en-US" sz="2600" b="1" dirty="0">
                <a:solidFill>
                  <a:prstClr val="black"/>
                </a:solidFill>
                <a:latin typeface="Times New Roman" panose="02020603050405020304" pitchFamily="18" charset="0"/>
                <a:cs typeface="Times New Roman" panose="02020603050405020304" pitchFamily="18" charset="0"/>
              </a:rPr>
              <a:t>Hypothermia:</a:t>
            </a:r>
            <a:r>
              <a:rPr lang="en-US" sz="2600" dirty="0">
                <a:solidFill>
                  <a:prstClr val="black"/>
                </a:solidFill>
                <a:latin typeface="Times New Roman" panose="02020603050405020304" pitchFamily="18" charset="0"/>
                <a:cs typeface="Times New Roman" panose="02020603050405020304" pitchFamily="18" charset="0"/>
              </a:rPr>
              <a:t> In hypothermia, the body is not able to keep itself warm and the body temperature falls far below normal. </a:t>
            </a:r>
            <a:endParaRPr lang="en-US" sz="2600" dirty="0" smtClean="0">
              <a:solidFill>
                <a:prstClr val="black"/>
              </a:solidFill>
              <a:latin typeface="Times New Roman" panose="02020603050405020304" pitchFamily="18" charset="0"/>
              <a:cs typeface="Times New Roman" panose="02020603050405020304" pitchFamily="18" charset="0"/>
            </a:endParaRPr>
          </a:p>
          <a:p>
            <a:pPr lvl="0" algn="just">
              <a:buFont typeface="Courier New" panose="02070309020205020404" pitchFamily="49" charset="0"/>
              <a:buChar char="o"/>
            </a:pPr>
            <a:r>
              <a:rPr lang="en-US" sz="2600" dirty="0" smtClean="0">
                <a:solidFill>
                  <a:prstClr val="black"/>
                </a:solidFill>
                <a:latin typeface="Times New Roman" panose="02020603050405020304" pitchFamily="18" charset="0"/>
                <a:cs typeface="Times New Roman" panose="02020603050405020304" pitchFamily="18" charset="0"/>
              </a:rPr>
              <a:t>Hypothermia </a:t>
            </a:r>
            <a:r>
              <a:rPr lang="en-US" sz="2600" dirty="0">
                <a:solidFill>
                  <a:prstClr val="black"/>
                </a:solidFill>
                <a:latin typeface="Times New Roman" panose="02020603050405020304" pitchFamily="18" charset="0"/>
                <a:cs typeface="Times New Roman" panose="02020603050405020304" pitchFamily="18" charset="0"/>
              </a:rPr>
              <a:t>can lead to death if it is not treated. In an aquatic setting, hypothermia can result from exposure to cold water or air temperatures, or both. </a:t>
            </a:r>
          </a:p>
          <a:p>
            <a:pPr lvl="0" algn="just">
              <a:buFont typeface="Courier New" panose="02070309020205020404" pitchFamily="49" charset="0"/>
              <a:buChar char="o"/>
            </a:pPr>
            <a:r>
              <a:rPr lang="en-US" sz="2600" dirty="0" smtClean="0">
                <a:solidFill>
                  <a:prstClr val="black"/>
                </a:solidFill>
                <a:latin typeface="Times New Roman" panose="02020603050405020304" pitchFamily="18" charset="0"/>
                <a:cs typeface="Times New Roman" panose="02020603050405020304" pitchFamily="18" charset="0"/>
              </a:rPr>
              <a:t>The </a:t>
            </a:r>
            <a:r>
              <a:rPr lang="en-US" sz="2600" dirty="0">
                <a:solidFill>
                  <a:prstClr val="black"/>
                </a:solidFill>
                <a:latin typeface="Times New Roman" panose="02020603050405020304" pitchFamily="18" charset="0"/>
                <a:cs typeface="Times New Roman" panose="02020603050405020304" pitchFamily="18" charset="0"/>
              </a:rPr>
              <a:t>air or water temperature does not have to be below freezing for hypothermia to occur. This is especially true if a person is wet and there is wind. </a:t>
            </a:r>
            <a:endParaRPr lang="en-US" sz="2600" dirty="0" smtClean="0">
              <a:solidFill>
                <a:prstClr val="black"/>
              </a:solidFill>
              <a:latin typeface="Times New Roman" panose="02020603050405020304" pitchFamily="18" charset="0"/>
              <a:cs typeface="Times New Roman" panose="02020603050405020304" pitchFamily="18" charset="0"/>
            </a:endParaRPr>
          </a:p>
          <a:p>
            <a:pPr lvl="0" algn="just">
              <a:buFont typeface="Courier New" panose="02070309020205020404" pitchFamily="49" charset="0"/>
              <a:buChar char="o"/>
            </a:pPr>
            <a:r>
              <a:rPr lang="en-US" sz="2600" dirty="0" smtClean="0">
                <a:solidFill>
                  <a:prstClr val="black"/>
                </a:solidFill>
                <a:latin typeface="Times New Roman" panose="02020603050405020304" pitchFamily="18" charset="0"/>
                <a:cs typeface="Times New Roman" panose="02020603050405020304" pitchFamily="18" charset="0"/>
              </a:rPr>
              <a:t>For </a:t>
            </a:r>
            <a:r>
              <a:rPr lang="en-US" sz="2600" dirty="0">
                <a:solidFill>
                  <a:prstClr val="black"/>
                </a:solidFill>
                <a:latin typeface="Times New Roman" panose="02020603050405020304" pitchFamily="18" charset="0"/>
                <a:cs typeface="Times New Roman" panose="02020603050405020304" pitchFamily="18" charset="0"/>
              </a:rPr>
              <a:t>example, a child who is wet from swimming could develop hypothermia, even in the summertime. </a:t>
            </a:r>
            <a:endParaRPr lang="en-US" sz="2600" dirty="0" smtClean="0">
              <a:solidFill>
                <a:prstClr val="black"/>
              </a:solidFill>
              <a:latin typeface="Times New Roman" panose="02020603050405020304" pitchFamily="18" charset="0"/>
              <a:cs typeface="Times New Roman" panose="02020603050405020304" pitchFamily="18" charset="0"/>
            </a:endParaRPr>
          </a:p>
          <a:p>
            <a:pPr lvl="0" algn="just">
              <a:buFont typeface="Courier New" panose="02070309020205020404" pitchFamily="49" charset="0"/>
              <a:buChar char="o"/>
            </a:pPr>
            <a:endParaRPr lang="en-US" sz="2600" dirty="0">
              <a:solidFill>
                <a:prstClr val="black"/>
              </a:solidFill>
              <a:latin typeface="Times New Roman" panose="02020603050405020304" pitchFamily="18" charset="0"/>
              <a:cs typeface="Times New Roman" panose="02020603050405020304" pitchFamily="18" charset="0"/>
            </a:endParaRPr>
          </a:p>
          <a:p>
            <a:pPr lvl="0">
              <a:buFont typeface="Wingdings" panose="05000000000000000000" pitchFamily="2" charset="2"/>
              <a:buChar char="ü"/>
            </a:pPr>
            <a:r>
              <a:rPr lang="en-US" sz="2600" dirty="0">
                <a:solidFill>
                  <a:prstClr val="black"/>
                </a:solidFill>
                <a:latin typeface="Times New Roman" panose="02020603050405020304" pitchFamily="18" charset="0"/>
                <a:cs typeface="Times New Roman" panose="02020603050405020304" pitchFamily="18" charset="0"/>
              </a:rPr>
              <a:t>Increment weather: Weather conditions can change suddenly. Always check the weather forecast before heading out, and know what to do in case inclement weather suddenly arises</a:t>
            </a:r>
          </a:p>
          <a:p>
            <a:pPr lvl="0" algn="just">
              <a:buFont typeface="Wingdings" panose="05000000000000000000" pitchFamily="2" charset="2"/>
              <a:buChar char="Ø"/>
            </a:pPr>
            <a:endParaRPr lang="en-US" dirty="0">
              <a:solidFill>
                <a:prstClr val="black"/>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91869413"/>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b="1" dirty="0" smtClean="0">
                <a:latin typeface="Times New Roman" panose="02020603050405020304" pitchFamily="18" charset="0"/>
                <a:cs typeface="Times New Roman" panose="02020603050405020304" pitchFamily="18" charset="0"/>
              </a:rPr>
              <a:t>SAFETY IN AND AROUND THE POOL </a:t>
            </a:r>
            <a:endParaRPr lang="en-GB" dirty="0"/>
          </a:p>
        </p:txBody>
      </p:sp>
      <p:sp>
        <p:nvSpPr>
          <p:cNvPr id="3" name="Content Placeholder 2"/>
          <p:cNvSpPr>
            <a:spLocks noGrp="1"/>
          </p:cNvSpPr>
          <p:nvPr>
            <p:ph idx="1"/>
          </p:nvPr>
        </p:nvSpPr>
        <p:spPr>
          <a:xfrm>
            <a:off x="412955" y="1451999"/>
            <a:ext cx="11218606" cy="4351338"/>
          </a:xfrm>
        </p:spPr>
        <p:txBody>
          <a:bodyPr>
            <a:noAutofit/>
          </a:bodyPr>
          <a:lstStyle/>
          <a:p>
            <a:pPr lvl="0">
              <a:buFont typeface="Wingdings" panose="05000000000000000000" pitchFamily="2" charset="2"/>
              <a:buChar char="ü"/>
            </a:pPr>
            <a:r>
              <a:rPr lang="en-US" sz="2600" dirty="0">
                <a:solidFill>
                  <a:prstClr val="black"/>
                </a:solidFill>
                <a:latin typeface="Times New Roman" panose="02020603050405020304" pitchFamily="18" charset="0"/>
                <a:cs typeface="Times New Roman" panose="02020603050405020304" pitchFamily="18" charset="0"/>
              </a:rPr>
              <a:t>Thunderstorms: Electricity and water do not mix! Leave the water at the first sound of thunder or sight of </a:t>
            </a:r>
            <a:r>
              <a:rPr lang="en-US" sz="2600" dirty="0" smtClean="0">
                <a:solidFill>
                  <a:prstClr val="black"/>
                </a:solidFill>
                <a:latin typeface="Times New Roman" panose="02020603050405020304" pitchFamily="18" charset="0"/>
                <a:cs typeface="Times New Roman" panose="02020603050405020304" pitchFamily="18" charset="0"/>
              </a:rPr>
              <a:t>lightning</a:t>
            </a:r>
          </a:p>
          <a:p>
            <a:pPr lvl="0">
              <a:buFont typeface="Wingdings" panose="05000000000000000000" pitchFamily="2" charset="2"/>
              <a:buChar char="ü"/>
            </a:pPr>
            <a:endParaRPr lang="en-US" sz="2600" dirty="0">
              <a:solidFill>
                <a:prstClr val="black"/>
              </a:solidFill>
              <a:latin typeface="Times New Roman" panose="02020603050405020304" pitchFamily="18" charset="0"/>
              <a:cs typeface="Times New Roman" panose="02020603050405020304" pitchFamily="18" charset="0"/>
            </a:endParaRPr>
          </a:p>
          <a:p>
            <a:pPr lvl="0">
              <a:buFont typeface="Wingdings" panose="05000000000000000000" pitchFamily="2" charset="2"/>
              <a:buChar char="ü"/>
            </a:pPr>
            <a:r>
              <a:rPr lang="en-US" sz="2600" dirty="0">
                <a:solidFill>
                  <a:prstClr val="black"/>
                </a:solidFill>
                <a:latin typeface="Times New Roman" panose="02020603050405020304" pitchFamily="18" charset="0"/>
                <a:cs typeface="Times New Roman" panose="02020603050405020304" pitchFamily="18" charset="0"/>
              </a:rPr>
              <a:t>Floods: Floods are among the most common water hazards that occur in the </a:t>
            </a:r>
            <a:r>
              <a:rPr lang="en-US" sz="2600" dirty="0" smtClean="0">
                <a:solidFill>
                  <a:prstClr val="black"/>
                </a:solidFill>
                <a:latin typeface="Times New Roman" panose="02020603050405020304" pitchFamily="18" charset="0"/>
                <a:cs typeface="Times New Roman" panose="02020603050405020304" pitchFamily="18" charset="0"/>
              </a:rPr>
              <a:t>World. </a:t>
            </a:r>
          </a:p>
          <a:p>
            <a:pPr lvl="0">
              <a:buFont typeface="Courier New" panose="02070309020205020404" pitchFamily="49" charset="0"/>
              <a:buChar char="o"/>
            </a:pPr>
            <a:r>
              <a:rPr lang="en-US" sz="2600" dirty="0" smtClean="0">
                <a:solidFill>
                  <a:prstClr val="black"/>
                </a:solidFill>
                <a:latin typeface="Times New Roman" panose="02020603050405020304" pitchFamily="18" charset="0"/>
                <a:cs typeface="Times New Roman" panose="02020603050405020304" pitchFamily="18" charset="0"/>
              </a:rPr>
              <a:t>Anywhere </a:t>
            </a:r>
            <a:r>
              <a:rPr lang="en-US" sz="2600" dirty="0">
                <a:solidFill>
                  <a:prstClr val="black"/>
                </a:solidFill>
                <a:latin typeface="Times New Roman" panose="02020603050405020304" pitchFamily="18" charset="0"/>
                <a:cs typeface="Times New Roman" panose="02020603050405020304" pitchFamily="18" charset="0"/>
              </a:rPr>
              <a:t>it rains, it can flood. </a:t>
            </a:r>
            <a:endParaRPr lang="en-US" sz="2600" dirty="0" smtClean="0">
              <a:solidFill>
                <a:prstClr val="black"/>
              </a:solidFill>
              <a:latin typeface="Times New Roman" panose="02020603050405020304" pitchFamily="18" charset="0"/>
              <a:cs typeface="Times New Roman" panose="02020603050405020304" pitchFamily="18" charset="0"/>
            </a:endParaRPr>
          </a:p>
          <a:p>
            <a:pPr lvl="0">
              <a:buFont typeface="Courier New" panose="02070309020205020404" pitchFamily="49" charset="0"/>
              <a:buChar char="o"/>
            </a:pPr>
            <a:r>
              <a:rPr lang="en-US" sz="2600" dirty="0" smtClean="0">
                <a:solidFill>
                  <a:prstClr val="black"/>
                </a:solidFill>
                <a:latin typeface="Times New Roman" panose="02020603050405020304" pitchFamily="18" charset="0"/>
                <a:cs typeface="Times New Roman" panose="02020603050405020304" pitchFamily="18" charset="0"/>
              </a:rPr>
              <a:t>Being </a:t>
            </a:r>
            <a:r>
              <a:rPr lang="en-US" sz="2600" dirty="0">
                <a:solidFill>
                  <a:prstClr val="black"/>
                </a:solidFill>
                <a:latin typeface="Times New Roman" panose="02020603050405020304" pitchFamily="18" charset="0"/>
                <a:cs typeface="Times New Roman" panose="02020603050405020304" pitchFamily="18" charset="0"/>
              </a:rPr>
              <a:t>aware of local flood hazards is important for everyone, but especially </a:t>
            </a:r>
            <a:r>
              <a:rPr lang="en-US" sz="2600" dirty="0" smtClean="0">
                <a:solidFill>
                  <a:prstClr val="black"/>
                </a:solidFill>
                <a:latin typeface="Times New Roman" panose="02020603050405020304" pitchFamily="18" charset="0"/>
                <a:cs typeface="Times New Roman" panose="02020603050405020304" pitchFamily="18" charset="0"/>
              </a:rPr>
              <a:t>for swimmers</a:t>
            </a:r>
            <a:endParaRPr lang="en-US" sz="2600" dirty="0">
              <a:solidFill>
                <a:prstClr val="black"/>
              </a:solidFill>
              <a:latin typeface="Times New Roman" panose="02020603050405020304" pitchFamily="18" charset="0"/>
              <a:cs typeface="Times New Roman" panose="02020603050405020304" pitchFamily="18" charset="0"/>
            </a:endParaRPr>
          </a:p>
          <a:p>
            <a:pPr lvl="0" algn="just">
              <a:buFont typeface="Wingdings" panose="05000000000000000000" pitchFamily="2" charset="2"/>
              <a:buChar char="Ø"/>
            </a:pPr>
            <a:endParaRPr lang="en-US" dirty="0">
              <a:solidFill>
                <a:prstClr val="black"/>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91869413"/>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0355" y="0"/>
            <a:ext cx="9720072" cy="1499616"/>
          </a:xfrm>
        </p:spPr>
        <p:txBody>
          <a:bodyPr>
            <a:normAutofit/>
          </a:bodyPr>
          <a:lstStyle/>
          <a:p>
            <a:r>
              <a:rPr lang="en-US" b="1" dirty="0" smtClean="0">
                <a:latin typeface="Times New Roman" panose="02020603050405020304" pitchFamily="18" charset="0"/>
                <a:cs typeface="Times New Roman" panose="02020603050405020304" pitchFamily="18" charset="0"/>
              </a:rPr>
              <a:t>BASIC AQUATIC SKILLS</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341014" y="1046748"/>
            <a:ext cx="8114728" cy="5097798"/>
          </a:xfrm>
        </p:spPr>
        <p:txBody>
          <a:bodyPr>
            <a:noAutofit/>
          </a:bodyPr>
          <a:lstStyle/>
          <a:p>
            <a:pPr algn="just">
              <a:buFont typeface="Arial" panose="020B0604020202020204" pitchFamily="34" charset="0"/>
              <a:buChar char="•"/>
            </a:pPr>
            <a:r>
              <a:rPr lang="en-US" sz="2800" dirty="0" smtClean="0">
                <a:latin typeface="Times New Roman" panose="02020603050405020304" pitchFamily="18" charset="0"/>
                <a:cs typeface="Times New Roman" panose="02020603050405020304" pitchFamily="18" charset="0"/>
              </a:rPr>
              <a:t>By learning basic aquatic skills, people gain the skills necessary to float and move around in water</a:t>
            </a:r>
          </a:p>
          <a:p>
            <a:pPr algn="just">
              <a:buFont typeface="Arial" panose="020B0604020202020204" pitchFamily="34" charset="0"/>
              <a:buChar char="•"/>
            </a:pPr>
            <a:r>
              <a:rPr lang="en-US" sz="2800" dirty="0" smtClean="0">
                <a:latin typeface="Times New Roman" panose="02020603050405020304" pitchFamily="18" charset="0"/>
                <a:cs typeface="Times New Roman" panose="02020603050405020304" pitchFamily="18" charset="0"/>
              </a:rPr>
              <a:t>It also help to enable people enter safely and adjust to the water</a:t>
            </a:r>
          </a:p>
          <a:p>
            <a:pPr algn="just">
              <a:buFont typeface="Arial" panose="020B0604020202020204" pitchFamily="34" charset="0"/>
              <a:buChar char="•"/>
            </a:pPr>
            <a:r>
              <a:rPr lang="en-US" sz="2800" dirty="0" smtClean="0">
                <a:latin typeface="Times New Roman" panose="02020603050405020304" pitchFamily="18" charset="0"/>
                <a:cs typeface="Times New Roman" panose="02020603050405020304" pitchFamily="18" charset="0"/>
              </a:rPr>
              <a:t>In an emergency, these skills can save a life</a:t>
            </a:r>
          </a:p>
          <a:p>
            <a:pPr algn="just">
              <a:buFont typeface="Arial" panose="020B0604020202020204" pitchFamily="34" charset="0"/>
              <a:buChar char="•"/>
            </a:pPr>
            <a:r>
              <a:rPr lang="en-US" sz="2800" dirty="0" smtClean="0">
                <a:latin typeface="Times New Roman" panose="02020603050405020304" pitchFamily="18" charset="0"/>
                <a:cs typeface="Times New Roman" panose="02020603050405020304" pitchFamily="18" charset="0"/>
              </a:rPr>
              <a:t>Basic aquatic skills are also the building blocks for learning swimming strokes that are more advanced</a:t>
            </a:r>
          </a:p>
          <a:p>
            <a:pPr algn="just">
              <a:buFont typeface="Arial" panose="020B0604020202020204" pitchFamily="34" charset="0"/>
              <a:buChar char="•"/>
            </a:pPr>
            <a:r>
              <a:rPr lang="en-US" sz="2800" dirty="0" smtClean="0">
                <a:latin typeface="Times New Roman" panose="02020603050405020304" pitchFamily="18" charset="0"/>
                <a:cs typeface="Times New Roman" panose="02020603050405020304" pitchFamily="18" charset="0"/>
              </a:rPr>
              <a:t>Mastering safety skills like floating, changing directions and breath control, is necessary before learning advanced strokes such as breaststroke or front crawl/freestyle</a:t>
            </a:r>
            <a:endParaRPr lang="en-US" sz="2800" dirty="0">
              <a:latin typeface="Times New Roman" panose="02020603050405020304" pitchFamily="18" charset="0"/>
              <a:cs typeface="Times New Roman" panose="02020603050405020304" pitchFamily="18" charset="0"/>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55742" y="1046748"/>
            <a:ext cx="3295317" cy="422308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073643032"/>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27876" y="188174"/>
            <a:ext cx="9720072" cy="1499616"/>
          </a:xfrm>
        </p:spPr>
        <p:txBody>
          <a:bodyPr/>
          <a:lstStyle/>
          <a:p>
            <a:r>
              <a:rPr lang="en-US" sz="3600" b="1" dirty="0" smtClean="0">
                <a:latin typeface="Times New Roman" panose="02020603050405020304" pitchFamily="18" charset="0"/>
                <a:cs typeface="Times New Roman" panose="02020603050405020304" pitchFamily="18" charset="0"/>
              </a:rPr>
              <a:t>BASIC AQUATIC SKILLS</a:t>
            </a:r>
            <a:br>
              <a:rPr lang="en-US" sz="3600" b="1" dirty="0" smtClean="0">
                <a:latin typeface="Times New Roman" panose="02020603050405020304" pitchFamily="18" charset="0"/>
                <a:cs typeface="Times New Roman" panose="02020603050405020304" pitchFamily="18" charset="0"/>
              </a:rPr>
            </a:br>
            <a:endParaRPr lang="en-US" sz="36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03123" y="1120437"/>
            <a:ext cx="8504902" cy="4749421"/>
          </a:xfrm>
        </p:spPr>
        <p:txBody>
          <a:bodyPr>
            <a:noAutofit/>
          </a:bodyPr>
          <a:lstStyle/>
          <a:p>
            <a:pPr algn="just"/>
            <a:r>
              <a:rPr lang="en-US" b="1" dirty="0">
                <a:solidFill>
                  <a:prstClr val="black"/>
                </a:solidFill>
                <a:latin typeface="Times New Roman" panose="02020603050405020304" pitchFamily="18" charset="0"/>
                <a:ea typeface="+mj-ea"/>
                <a:cs typeface="Times New Roman" panose="02020603050405020304" pitchFamily="18" charset="0"/>
              </a:rPr>
              <a:t>PHYSICAL AND MENTAL ADJUSTMENT </a:t>
            </a:r>
            <a:endParaRPr lang="en-US" b="1" dirty="0" smtClean="0">
              <a:solidFill>
                <a:prstClr val="black"/>
              </a:solidFill>
              <a:latin typeface="Times New Roman" panose="02020603050405020304" pitchFamily="18" charset="0"/>
              <a:ea typeface="+mj-ea"/>
              <a:cs typeface="Times New Roman" panose="02020603050405020304" pitchFamily="18" charset="0"/>
            </a:endParaRPr>
          </a:p>
          <a:p>
            <a:pPr algn="just">
              <a:buFont typeface="Wingdings" panose="05000000000000000000" pitchFamily="2" charset="2"/>
              <a:buChar char="ü"/>
            </a:pPr>
            <a:r>
              <a:rPr lang="en-US" dirty="0" smtClean="0">
                <a:latin typeface="Times New Roman" panose="02020603050405020304" pitchFamily="18" charset="0"/>
                <a:cs typeface="Times New Roman" panose="02020603050405020304" pitchFamily="18" charset="0"/>
              </a:rPr>
              <a:t>Anyone entering the water must take time to adapt to the water</a:t>
            </a:r>
            <a:r>
              <a:rPr lang="en-US" dirty="0" smtClean="0">
                <a:solidFill>
                  <a:schemeClr val="bg1"/>
                </a:solidFill>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both mentally and physically</a:t>
            </a:r>
          </a:p>
          <a:p>
            <a:pPr algn="just">
              <a:buFont typeface="Wingdings" panose="05000000000000000000" pitchFamily="2" charset="2"/>
              <a:buChar char="ü"/>
            </a:pPr>
            <a:r>
              <a:rPr lang="en-US" dirty="0" smtClean="0">
                <a:latin typeface="Times New Roman" panose="02020603050405020304" pitchFamily="18" charset="0"/>
                <a:cs typeface="Times New Roman" panose="02020603050405020304" pitchFamily="18" charset="0"/>
              </a:rPr>
              <a:t>Most aquatic environments are much cooler than </a:t>
            </a:r>
            <a:r>
              <a:rPr lang="en-US" dirty="0" smtClean="0">
                <a:solidFill>
                  <a:schemeClr val="bg1"/>
                </a:solidFill>
                <a:latin typeface="Times New Roman" panose="02020603050405020304" pitchFamily="18" charset="0"/>
                <a:cs typeface="Times New Roman" panose="02020603050405020304" pitchFamily="18" charset="0"/>
              </a:rPr>
              <a:t>bath </a:t>
            </a:r>
            <a:r>
              <a:rPr lang="en-US" dirty="0" smtClean="0">
                <a:latin typeface="Times New Roman" panose="02020603050405020304" pitchFamily="18" charset="0"/>
                <a:cs typeface="Times New Roman" panose="02020603050405020304" pitchFamily="18" charset="0"/>
              </a:rPr>
              <a:t>water. Relatively warm pool water (83⁰ to 63⁰F) may feel cool and cause breathing to quicken</a:t>
            </a:r>
          </a:p>
          <a:p>
            <a:pPr algn="just">
              <a:buFont typeface="Wingdings" panose="05000000000000000000" pitchFamily="2" charset="2"/>
              <a:buChar char="ü"/>
            </a:pPr>
            <a:r>
              <a:rPr lang="en-US" dirty="0" smtClean="0">
                <a:latin typeface="Times New Roman" panose="02020603050405020304" pitchFamily="18" charset="0"/>
                <a:cs typeface="Times New Roman" panose="02020603050405020304" pitchFamily="18" charset="0"/>
              </a:rPr>
              <a:t>In water up to the neck, the temperature and added pressure of the water around the chest may even make breathing seem strenuous</a:t>
            </a:r>
          </a:p>
          <a:p>
            <a:pPr algn="just">
              <a:buFont typeface="Wingdings" panose="05000000000000000000" pitchFamily="2" charset="2"/>
              <a:buChar char="ü"/>
            </a:pPr>
            <a:r>
              <a:rPr lang="en-US" dirty="0" smtClean="0">
                <a:latin typeface="Times New Roman" panose="02020603050405020304" pitchFamily="18" charset="0"/>
                <a:cs typeface="Times New Roman" panose="02020603050405020304" pitchFamily="18" charset="0"/>
              </a:rPr>
              <a:t>When breathing speeds up, it becomes hard to relax. Rapid breathing may also increase anxiety in fearful or novice swimmers, making it even more difficult to adjust to water</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08025" y="1434015"/>
            <a:ext cx="2498913" cy="354880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254654470"/>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10480" y="160742"/>
            <a:ext cx="9720072" cy="1499616"/>
          </a:xfrm>
        </p:spPr>
        <p:txBody>
          <a:bodyPr>
            <a:normAutofit/>
          </a:bodyPr>
          <a:lstStyle/>
          <a:p>
            <a:r>
              <a:rPr lang="en-US" b="1" dirty="0">
                <a:latin typeface="Times New Roman" panose="02020603050405020304" pitchFamily="18" charset="0"/>
                <a:cs typeface="Times New Roman" panose="02020603050405020304" pitchFamily="18" charset="0"/>
              </a:rPr>
              <a:t>BASIC AQUATIC </a:t>
            </a:r>
            <a:r>
              <a:rPr lang="en-US" b="1" dirty="0" smtClean="0">
                <a:latin typeface="Times New Roman" panose="02020603050405020304" pitchFamily="18" charset="0"/>
                <a:cs typeface="Times New Roman" panose="02020603050405020304" pitchFamily="18" charset="0"/>
              </a:rPr>
              <a:t>SKILLS</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42452" y="1487606"/>
            <a:ext cx="8082116" cy="5049672"/>
          </a:xfrm>
        </p:spPr>
        <p:txBody>
          <a:bodyPr>
            <a:noAutofit/>
          </a:bodyPr>
          <a:lstStyle/>
          <a:p>
            <a:pPr algn="just">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Physical adjustments to the water involve </a:t>
            </a:r>
            <a:r>
              <a:rPr lang="en-US" dirty="0" smtClean="0">
                <a:latin typeface="Times New Roman" panose="02020603050405020304" pitchFamily="18" charset="0"/>
                <a:cs typeface="Times New Roman" panose="02020603050405020304" pitchFamily="18" charset="0"/>
              </a:rPr>
              <a:t>gradually </a:t>
            </a:r>
            <a:r>
              <a:rPr lang="en-US" dirty="0">
                <a:latin typeface="Times New Roman" panose="02020603050405020304" pitchFamily="18" charset="0"/>
                <a:cs typeface="Times New Roman" panose="02020603050405020304" pitchFamily="18" charset="0"/>
              </a:rPr>
              <a:t>getting used to the water temperature and the effects </a:t>
            </a:r>
            <a:r>
              <a:rPr lang="en-US" dirty="0" smtClean="0">
                <a:latin typeface="Times New Roman" panose="02020603050405020304" pitchFamily="18" charset="0"/>
                <a:cs typeface="Times New Roman" panose="02020603050405020304" pitchFamily="18" charset="0"/>
              </a:rPr>
              <a:t>of buoyancy</a:t>
            </a:r>
            <a:endParaRPr lang="en-US"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Mental adjustments involve taking efforts to remain </a:t>
            </a:r>
            <a:r>
              <a:rPr lang="en-US" dirty="0" smtClean="0">
                <a:latin typeface="Times New Roman" panose="02020603050405020304" pitchFamily="18" charset="0"/>
                <a:cs typeface="Times New Roman" panose="02020603050405020304" pitchFamily="18" charset="0"/>
              </a:rPr>
              <a:t>relaxed control </a:t>
            </a:r>
            <a:r>
              <a:rPr lang="en-US" dirty="0">
                <a:latin typeface="Times New Roman" panose="02020603050405020304" pitchFamily="18" charset="0"/>
                <a:cs typeface="Times New Roman" panose="02020603050405020304" pitchFamily="18" charset="0"/>
              </a:rPr>
              <a:t>breathing</a:t>
            </a:r>
          </a:p>
          <a:p>
            <a:pPr algn="just">
              <a:buFont typeface="Wingdings" panose="05000000000000000000" pitchFamily="2" charset="2"/>
              <a:buChar char="ü"/>
            </a:pPr>
            <a:r>
              <a:rPr lang="en-US" dirty="0" smtClean="0">
                <a:latin typeface="Times New Roman" panose="02020603050405020304" pitchFamily="18" charset="0"/>
                <a:cs typeface="Times New Roman" panose="02020603050405020304" pitchFamily="18" charset="0"/>
              </a:rPr>
              <a:t>Getting wet will help the body get used to the cooler water temperature. This can be accomplished by;</a:t>
            </a:r>
          </a:p>
          <a:p>
            <a:pPr algn="just">
              <a:buFont typeface="Courier New" panose="02070309020205020404" pitchFamily="49" charset="0"/>
              <a:buChar char="o"/>
            </a:pPr>
            <a:r>
              <a:rPr lang="en-US" dirty="0" smtClean="0">
                <a:latin typeface="Times New Roman" panose="02020603050405020304" pitchFamily="18" charset="0"/>
                <a:cs typeface="Times New Roman" panose="02020603050405020304" pitchFamily="18" charset="0"/>
              </a:rPr>
              <a:t>Enter on the steps, ramp or slope until thigh deep and scooping water onto the arms, chest, neck and face</a:t>
            </a:r>
          </a:p>
          <a:p>
            <a:pPr algn="just">
              <a:buFont typeface="Courier New" panose="02070309020205020404" pitchFamily="49" charset="0"/>
              <a:buChar char="o"/>
            </a:pPr>
            <a:r>
              <a:rPr lang="en-US" dirty="0" smtClean="0">
                <a:latin typeface="Times New Roman" panose="02020603050405020304" pitchFamily="18" charset="0"/>
                <a:cs typeface="Times New Roman" panose="02020603050405020304" pitchFamily="18" charset="0"/>
              </a:rPr>
              <a:t>Sitting on the edge of the pool and scooping water onto the body</a:t>
            </a:r>
            <a:endParaRPr lang="en-US" dirty="0">
              <a:latin typeface="Times New Roman" panose="02020603050405020304" pitchFamily="18" charset="0"/>
              <a:cs typeface="Times New Roman" panose="02020603050405020304" pitchFamily="18" charset="0"/>
            </a:endParaRP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79814" y="1487606"/>
            <a:ext cx="3384884" cy="204536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7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03037" y="3686759"/>
            <a:ext cx="1852864" cy="234615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75" name="Picture 3"/>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555901" y="3686758"/>
            <a:ext cx="1532020" cy="234615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721372403"/>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271819" y="1696452"/>
            <a:ext cx="2773794" cy="405464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itle 1"/>
          <p:cNvSpPr>
            <a:spLocks noGrp="1"/>
          </p:cNvSpPr>
          <p:nvPr>
            <p:ph type="title"/>
          </p:nvPr>
        </p:nvSpPr>
        <p:spPr>
          <a:xfrm>
            <a:off x="988033" y="224268"/>
            <a:ext cx="9720072" cy="1014597"/>
          </a:xfrm>
        </p:spPr>
        <p:txBody>
          <a:bodyPr/>
          <a:lstStyle/>
          <a:p>
            <a:r>
              <a:rPr lang="en-US" b="1" dirty="0">
                <a:latin typeface="Times New Roman" panose="02020603050405020304" pitchFamily="18" charset="0"/>
                <a:cs typeface="Times New Roman" panose="02020603050405020304" pitchFamily="18" charset="0"/>
              </a:rPr>
              <a:t>BASIC AQUATIC </a:t>
            </a:r>
            <a:r>
              <a:rPr lang="en-US" b="1" dirty="0" smtClean="0">
                <a:latin typeface="Times New Roman" panose="02020603050405020304" pitchFamily="18" charset="0"/>
                <a:cs typeface="Times New Roman" panose="02020603050405020304" pitchFamily="18" charset="0"/>
              </a:rPr>
              <a:t>SKILLS</a:t>
            </a:r>
            <a:endParaRPr lang="en-US" dirty="0"/>
          </a:p>
        </p:txBody>
      </p:sp>
      <p:sp>
        <p:nvSpPr>
          <p:cNvPr id="3" name="Content Placeholder 2"/>
          <p:cNvSpPr>
            <a:spLocks noGrp="1"/>
          </p:cNvSpPr>
          <p:nvPr>
            <p:ph idx="1"/>
          </p:nvPr>
        </p:nvSpPr>
        <p:spPr>
          <a:xfrm>
            <a:off x="324465" y="1035232"/>
            <a:ext cx="8947354" cy="4919299"/>
          </a:xfrm>
        </p:spPr>
        <p:txBody>
          <a:bodyPr>
            <a:noAutofit/>
          </a:bodyPr>
          <a:lstStyle/>
          <a:p>
            <a:pPr algn="just"/>
            <a:r>
              <a:rPr lang="en-US" b="1" dirty="0" smtClean="0">
                <a:solidFill>
                  <a:prstClr val="black"/>
                </a:solidFill>
                <a:latin typeface="Times New Roman" panose="02020603050405020304" pitchFamily="18" charset="0"/>
                <a:ea typeface="+mj-ea"/>
                <a:cs typeface="Times New Roman" panose="02020603050405020304" pitchFamily="18" charset="0"/>
              </a:rPr>
              <a:t>RELAXATION</a:t>
            </a:r>
          </a:p>
          <a:p>
            <a:pPr algn="just">
              <a:buFont typeface="Wingdings" panose="05000000000000000000" pitchFamily="2" charset="2"/>
              <a:buChar char="ü"/>
            </a:pPr>
            <a:r>
              <a:rPr lang="en-US" dirty="0" smtClean="0">
                <a:latin typeface="Times New Roman" panose="02020603050405020304" pitchFamily="18" charset="0"/>
                <a:cs typeface="Times New Roman" panose="02020603050405020304" pitchFamily="18" charset="0"/>
              </a:rPr>
              <a:t>Inexperienced swimmers mostly feel afraid around the water/pool and are often apprehensive about entering it.</a:t>
            </a:r>
          </a:p>
          <a:p>
            <a:pPr algn="just">
              <a:buFont typeface="Wingdings" panose="05000000000000000000" pitchFamily="2" charset="2"/>
              <a:buChar char="ü"/>
            </a:pPr>
            <a:r>
              <a:rPr lang="en-US" dirty="0" smtClean="0">
                <a:latin typeface="Times New Roman" panose="02020603050405020304" pitchFamily="18" charset="0"/>
                <a:cs typeface="Times New Roman" panose="02020603050405020304" pitchFamily="18" charset="0"/>
              </a:rPr>
              <a:t>Relaxation is the key to mentally adjust to an aquatic environment and learning to control breath also helps people to relax</a:t>
            </a:r>
          </a:p>
          <a:p>
            <a:pPr algn="just">
              <a:buFont typeface="Wingdings" panose="05000000000000000000" pitchFamily="2" charset="2"/>
              <a:buChar char="ü"/>
            </a:pPr>
            <a:r>
              <a:rPr lang="en-US" dirty="0" smtClean="0">
                <a:latin typeface="Times New Roman" panose="02020603050405020304" pitchFamily="18" charset="0"/>
                <a:cs typeface="Times New Roman" panose="02020603050405020304" pitchFamily="18" charset="0"/>
              </a:rPr>
              <a:t>Cold or nervous swimmers should practice breath control before entering the water</a:t>
            </a:r>
          </a:p>
          <a:p>
            <a:pPr algn="just">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Swimmers can practice breath control by;</a:t>
            </a:r>
          </a:p>
          <a:p>
            <a:pPr algn="just">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Breathing in and out slowly and deeply while sitting on the edge of the pool</a:t>
            </a:r>
          </a:p>
          <a:p>
            <a:pPr algn="just">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Taking a deep breath, holding it for a couple of seconds then slowly exhaling</a:t>
            </a:r>
          </a:p>
          <a:p>
            <a:pPr algn="just">
              <a:buFont typeface="Wingdings" panose="05000000000000000000" pitchFamily="2" charset="2"/>
              <a:buChar char="ü"/>
            </a:pPr>
            <a:endParaRPr lang="en-US"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65539595"/>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0065" y="176142"/>
            <a:ext cx="9720072" cy="1279679"/>
          </a:xfrm>
        </p:spPr>
        <p:txBody>
          <a:bodyPr>
            <a:normAutofit/>
          </a:bodyPr>
          <a:lstStyle/>
          <a:p>
            <a:r>
              <a:rPr lang="en-US" b="1" dirty="0">
                <a:latin typeface="Times New Roman" panose="02020603050405020304" pitchFamily="18" charset="0"/>
                <a:cs typeface="Times New Roman" panose="02020603050405020304" pitchFamily="18" charset="0"/>
              </a:rPr>
              <a:t>BASIC AQUATIC </a:t>
            </a:r>
            <a:r>
              <a:rPr lang="en-US" b="1" dirty="0" smtClean="0">
                <a:latin typeface="Times New Roman" panose="02020603050405020304" pitchFamily="18" charset="0"/>
                <a:cs typeface="Times New Roman" panose="02020603050405020304" pitchFamily="18" charset="0"/>
              </a:rPr>
              <a:t>SKILLS</a:t>
            </a:r>
            <a:endParaRPr lang="en-US" sz="3600" dirty="0"/>
          </a:p>
        </p:txBody>
      </p:sp>
      <p:sp>
        <p:nvSpPr>
          <p:cNvPr id="3" name="Content Placeholder 2"/>
          <p:cNvSpPr>
            <a:spLocks noGrp="1"/>
          </p:cNvSpPr>
          <p:nvPr>
            <p:ph idx="1"/>
          </p:nvPr>
        </p:nvSpPr>
        <p:spPr>
          <a:xfrm>
            <a:off x="481264" y="1263316"/>
            <a:ext cx="10955560" cy="5125452"/>
          </a:xfrm>
        </p:spPr>
        <p:txBody>
          <a:bodyPr numCol="1">
            <a:noAutofit/>
          </a:bodyPr>
          <a:lstStyle/>
          <a:p>
            <a:pPr algn="just"/>
            <a:r>
              <a:rPr lang="en-US" b="1" dirty="0">
                <a:solidFill>
                  <a:prstClr val="black"/>
                </a:solidFill>
                <a:latin typeface="Times New Roman" panose="02020603050405020304" pitchFamily="18" charset="0"/>
                <a:ea typeface="+mj-ea"/>
                <a:cs typeface="Times New Roman" panose="02020603050405020304" pitchFamily="18" charset="0"/>
              </a:rPr>
              <a:t>BOBBING AND BREATH CONTROL</a:t>
            </a:r>
            <a:endParaRPr lang="en-US" b="1" dirty="0" smtClean="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ü"/>
            </a:pPr>
            <a:r>
              <a:rPr lang="en-US" dirty="0" smtClean="0">
                <a:latin typeface="Times New Roman" panose="02020603050405020304" pitchFamily="18" charset="0"/>
                <a:cs typeface="Times New Roman" panose="02020603050405020304" pitchFamily="18" charset="0"/>
              </a:rPr>
              <a:t>Coordinated breath control is necessary to swim well</a:t>
            </a:r>
          </a:p>
          <a:p>
            <a:pPr algn="just">
              <a:buFont typeface="Wingdings" panose="05000000000000000000" pitchFamily="2" charset="2"/>
              <a:buChar char="ü"/>
            </a:pPr>
            <a:r>
              <a:rPr lang="en-US" dirty="0" smtClean="0">
                <a:latin typeface="Times New Roman" panose="02020603050405020304" pitchFamily="18" charset="0"/>
                <a:cs typeface="Times New Roman" panose="02020603050405020304" pitchFamily="18" charset="0"/>
              </a:rPr>
              <a:t>Holding the breath for a long time is not necessary but it is important to be able to breathe in and out rhythmically and steadily while swimming</a:t>
            </a:r>
          </a:p>
          <a:p>
            <a:pPr algn="just">
              <a:buFont typeface="Wingdings" panose="05000000000000000000" pitchFamily="2" charset="2"/>
              <a:buChar char="ü"/>
            </a:pPr>
            <a:r>
              <a:rPr lang="en-US" dirty="0" smtClean="0">
                <a:latin typeface="Times New Roman" panose="02020603050405020304" pitchFamily="18" charset="0"/>
                <a:cs typeface="Times New Roman" panose="02020603050405020304" pitchFamily="18" charset="0"/>
              </a:rPr>
              <a:t>To practice breath control while in the water, try bobbing</a:t>
            </a:r>
          </a:p>
          <a:p>
            <a:pPr algn="just">
              <a:buFont typeface="Wingdings" panose="05000000000000000000" pitchFamily="2" charset="2"/>
              <a:buChar char="ü"/>
            </a:pPr>
            <a:r>
              <a:rPr lang="en-US" dirty="0" smtClean="0">
                <a:latin typeface="Times New Roman" panose="02020603050405020304" pitchFamily="18" charset="0"/>
                <a:cs typeface="Times New Roman" panose="02020603050405020304" pitchFamily="18" charset="0"/>
              </a:rPr>
              <a:t>To bob;</a:t>
            </a:r>
          </a:p>
          <a:p>
            <a:pPr algn="just">
              <a:buFont typeface="Courier New" panose="02070309020205020404" pitchFamily="49" charset="0"/>
              <a:buChar char="o"/>
            </a:pPr>
            <a:r>
              <a:rPr lang="en-US" dirty="0" smtClean="0">
                <a:latin typeface="Times New Roman" panose="02020603050405020304" pitchFamily="18" charset="0"/>
                <a:cs typeface="Times New Roman" panose="02020603050405020304" pitchFamily="18" charset="0"/>
              </a:rPr>
              <a:t>Hold onto the overflow wall trough or the pool wall in chest deep water</a:t>
            </a:r>
          </a:p>
          <a:p>
            <a:pPr algn="just">
              <a:buFont typeface="Courier New" panose="02070309020205020404" pitchFamily="49" charset="0"/>
              <a:buChar char="o"/>
            </a:pPr>
            <a:r>
              <a:rPr lang="en-US" dirty="0" smtClean="0">
                <a:latin typeface="Times New Roman" panose="02020603050405020304" pitchFamily="18" charset="0"/>
                <a:cs typeface="Times New Roman" panose="02020603050405020304" pitchFamily="18" charset="0"/>
              </a:rPr>
              <a:t>Take a breath</a:t>
            </a:r>
          </a:p>
          <a:p>
            <a:pPr algn="just">
              <a:buFont typeface="Courier New" panose="02070309020205020404" pitchFamily="49" charset="0"/>
              <a:buChar char="o"/>
            </a:pPr>
            <a:r>
              <a:rPr lang="en-US" dirty="0" smtClean="0">
                <a:solidFill>
                  <a:prstClr val="black"/>
                </a:solidFill>
                <a:latin typeface="Times New Roman" panose="02020603050405020304" pitchFamily="18" charset="0"/>
                <a:cs typeface="Times New Roman" panose="02020603050405020304" pitchFamily="18" charset="0"/>
              </a:rPr>
              <a:t>Bend </a:t>
            </a:r>
            <a:r>
              <a:rPr lang="en-US" dirty="0">
                <a:solidFill>
                  <a:prstClr val="black"/>
                </a:solidFill>
                <a:latin typeface="Times New Roman" panose="02020603050405020304" pitchFamily="18" charset="0"/>
                <a:cs typeface="Times New Roman" panose="02020603050405020304" pitchFamily="18" charset="0"/>
              </a:rPr>
              <a:t>on the knees and fully submerge the head, then strengthen the legs and </a:t>
            </a:r>
            <a:r>
              <a:rPr lang="en-US" dirty="0" smtClean="0">
                <a:solidFill>
                  <a:prstClr val="black"/>
                </a:solidFill>
                <a:latin typeface="Times New Roman" panose="02020603050405020304" pitchFamily="18" charset="0"/>
                <a:cs typeface="Times New Roman" panose="02020603050405020304" pitchFamily="18" charset="0"/>
              </a:rPr>
              <a:t>resurface</a:t>
            </a:r>
          </a:p>
          <a:p>
            <a:pPr algn="just">
              <a:buFont typeface="Courier New" panose="02070309020205020404" pitchFamily="49" charset="0"/>
              <a:buChar char="o"/>
            </a:pPr>
            <a:r>
              <a:rPr lang="en-US" dirty="0" smtClean="0">
                <a:solidFill>
                  <a:prstClr val="black"/>
                </a:solidFill>
                <a:latin typeface="Times New Roman" panose="02020603050405020304" pitchFamily="18" charset="0"/>
                <a:cs typeface="Times New Roman" panose="02020603050405020304" pitchFamily="18" charset="0"/>
              </a:rPr>
              <a:t>While </a:t>
            </a:r>
            <a:r>
              <a:rPr lang="en-US" dirty="0">
                <a:solidFill>
                  <a:prstClr val="black"/>
                </a:solidFill>
                <a:latin typeface="Times New Roman" panose="02020603050405020304" pitchFamily="18" charset="0"/>
                <a:cs typeface="Times New Roman" panose="02020603050405020304" pitchFamily="18" charset="0"/>
              </a:rPr>
              <a:t>coming up, gently exhale through the mouth and nose</a:t>
            </a:r>
          </a:p>
          <a:p>
            <a:pPr algn="just">
              <a:buFont typeface="Courier New" panose="02070309020205020404" pitchFamily="49" charset="0"/>
              <a:buChar char="o"/>
            </a:pPr>
            <a:endParaRPr lang="en-US" dirty="0" smtClean="0">
              <a:latin typeface="Times New Roman" panose="02020603050405020304" pitchFamily="18" charset="0"/>
              <a:cs typeface="Times New Roman" panose="02020603050405020304" pitchFamily="18" charset="0"/>
            </a:endParaRPr>
          </a:p>
        </p:txBody>
      </p:sp>
      <p:pic>
        <p:nvPicPr>
          <p:cNvPr id="512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39413" y="45961"/>
            <a:ext cx="3652587" cy="13475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27458" y="5673213"/>
            <a:ext cx="2663204" cy="11102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84716867"/>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0065" y="176142"/>
            <a:ext cx="9720072" cy="1279679"/>
          </a:xfrm>
        </p:spPr>
        <p:txBody>
          <a:bodyPr>
            <a:normAutofit/>
          </a:bodyPr>
          <a:lstStyle/>
          <a:p>
            <a:r>
              <a:rPr lang="en-US" b="1" dirty="0">
                <a:latin typeface="Times New Roman" panose="02020603050405020304" pitchFamily="18" charset="0"/>
                <a:cs typeface="Times New Roman" panose="02020603050405020304" pitchFamily="18" charset="0"/>
              </a:rPr>
              <a:t>BASIC AQUATIC </a:t>
            </a:r>
            <a:r>
              <a:rPr lang="en-US" b="1" dirty="0" smtClean="0">
                <a:latin typeface="Times New Roman" panose="02020603050405020304" pitchFamily="18" charset="0"/>
                <a:cs typeface="Times New Roman" panose="02020603050405020304" pitchFamily="18" charset="0"/>
              </a:rPr>
              <a:t>SKILLS</a:t>
            </a:r>
            <a:endParaRPr lang="en-US" sz="3600" dirty="0"/>
          </a:p>
        </p:txBody>
      </p:sp>
      <p:sp>
        <p:nvSpPr>
          <p:cNvPr id="3" name="Content Placeholder 2"/>
          <p:cNvSpPr>
            <a:spLocks noGrp="1"/>
          </p:cNvSpPr>
          <p:nvPr>
            <p:ph idx="1"/>
          </p:nvPr>
        </p:nvSpPr>
        <p:spPr>
          <a:xfrm>
            <a:off x="481264" y="1263316"/>
            <a:ext cx="10955560" cy="5125452"/>
          </a:xfrm>
        </p:spPr>
        <p:txBody>
          <a:bodyPr numCol="1">
            <a:noAutofit/>
          </a:bodyPr>
          <a:lstStyle/>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Inhale when the mouth rises above the surface of the water</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Repeat this movement until comfortable</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Move to chin-deep water and practice bobbing away from the wall </a:t>
            </a:r>
          </a:p>
        </p:txBody>
      </p:sp>
      <p:pic>
        <p:nvPicPr>
          <p:cNvPr id="4" name="Picture 3"/>
          <p:cNvPicPr>
            <a:picLocks noChangeAspect="1"/>
          </p:cNvPicPr>
          <p:nvPr/>
        </p:nvPicPr>
        <p:blipFill>
          <a:blip r:embed="rId2"/>
          <a:stretch>
            <a:fillRect/>
          </a:stretch>
        </p:blipFill>
        <p:spPr>
          <a:xfrm>
            <a:off x="8656014" y="5565536"/>
            <a:ext cx="3535986" cy="1292464"/>
          </a:xfrm>
          <a:prstGeom prst="rect">
            <a:avLst/>
          </a:prstGeom>
        </p:spPr>
      </p:pic>
    </p:spTree>
    <p:extLst>
      <p:ext uri="{BB962C8B-B14F-4D97-AF65-F5344CB8AC3E}">
        <p14:creationId xmlns:p14="http://schemas.microsoft.com/office/powerpoint/2010/main" val="3984716867"/>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0065" y="272395"/>
            <a:ext cx="9720072" cy="1267647"/>
          </a:xfrm>
        </p:spPr>
        <p:txBody>
          <a:bodyPr>
            <a:normAutofit/>
          </a:bodyPr>
          <a:lstStyle/>
          <a:p>
            <a:r>
              <a:rPr lang="en-US" b="1" dirty="0">
                <a:latin typeface="Times New Roman" panose="02020603050405020304" pitchFamily="18" charset="0"/>
                <a:cs typeface="Times New Roman" panose="02020603050405020304" pitchFamily="18" charset="0"/>
              </a:rPr>
              <a:t>BASIC AQUATIC </a:t>
            </a:r>
            <a:r>
              <a:rPr lang="en-US" b="1" dirty="0" smtClean="0">
                <a:latin typeface="Times New Roman" panose="02020603050405020304" pitchFamily="18" charset="0"/>
                <a:cs typeface="Times New Roman" panose="02020603050405020304" pitchFamily="18" charset="0"/>
              </a:rPr>
              <a:t>SKILLS</a:t>
            </a:r>
            <a:endParaRPr lang="en-US" sz="3600" dirty="0"/>
          </a:p>
        </p:txBody>
      </p:sp>
      <p:sp>
        <p:nvSpPr>
          <p:cNvPr id="3" name="Content Placeholder 2"/>
          <p:cNvSpPr>
            <a:spLocks noGrp="1"/>
          </p:cNvSpPr>
          <p:nvPr>
            <p:ph idx="1"/>
          </p:nvPr>
        </p:nvSpPr>
        <p:spPr>
          <a:xfrm>
            <a:off x="601579" y="1383629"/>
            <a:ext cx="9014369" cy="5161550"/>
          </a:xfrm>
        </p:spPr>
        <p:txBody>
          <a:bodyPr numCol="1">
            <a:noAutofit/>
          </a:bodyPr>
          <a:lstStyle/>
          <a:p>
            <a:pPr algn="just"/>
            <a:r>
              <a:rPr lang="en-US" b="1" dirty="0">
                <a:solidFill>
                  <a:prstClr val="black"/>
                </a:solidFill>
                <a:latin typeface="Times New Roman" panose="02020603050405020304" pitchFamily="18" charset="0"/>
                <a:ea typeface="+mj-ea"/>
                <a:cs typeface="Times New Roman" panose="02020603050405020304" pitchFamily="18" charset="0"/>
              </a:rPr>
              <a:t>ENTERING THE WATER </a:t>
            </a:r>
            <a:endParaRPr lang="en-US" b="1" dirty="0" smtClean="0">
              <a:solidFill>
                <a:prstClr val="black"/>
              </a:solidFill>
              <a:latin typeface="Times New Roman" panose="02020603050405020304" pitchFamily="18" charset="0"/>
              <a:ea typeface="+mj-ea"/>
              <a:cs typeface="Times New Roman" panose="02020603050405020304" pitchFamily="18" charset="0"/>
            </a:endParaRPr>
          </a:p>
          <a:p>
            <a:pPr algn="just">
              <a:buFont typeface="Wingdings" panose="05000000000000000000" pitchFamily="2" charset="2"/>
              <a:buChar char="ü"/>
            </a:pPr>
            <a:r>
              <a:rPr lang="en-US" dirty="0" smtClean="0">
                <a:latin typeface="Times New Roman" panose="02020603050405020304" pitchFamily="18" charset="0"/>
                <a:cs typeface="Times New Roman" panose="02020603050405020304" pitchFamily="18" charset="0"/>
              </a:rPr>
              <a:t>There are several ways to enter a pool/water</a:t>
            </a:r>
          </a:p>
          <a:p>
            <a:pPr algn="just">
              <a:buFont typeface="Wingdings" panose="05000000000000000000" pitchFamily="2" charset="2"/>
              <a:buChar char="ü"/>
            </a:pPr>
            <a:r>
              <a:rPr lang="en-US" dirty="0" smtClean="0">
                <a:latin typeface="Times New Roman" panose="02020603050405020304" pitchFamily="18" charset="0"/>
                <a:cs typeface="Times New Roman" panose="02020603050405020304" pitchFamily="18" charset="0"/>
              </a:rPr>
              <a:t>The best method to use will depend on the body of water and the surroundings, the size and the ability of the swimmer and the purpose for getting into the water</a:t>
            </a:r>
          </a:p>
          <a:p>
            <a:pPr algn="just">
              <a:buFont typeface="Wingdings" panose="05000000000000000000" pitchFamily="2" charset="2"/>
              <a:buChar char="ü"/>
            </a:pPr>
            <a:r>
              <a:rPr lang="en-US" dirty="0" smtClean="0">
                <a:latin typeface="Times New Roman" panose="02020603050405020304" pitchFamily="18" charset="0"/>
                <a:cs typeface="Times New Roman" panose="02020603050405020304" pitchFamily="18" charset="0"/>
              </a:rPr>
              <a:t>Beginning swimmers should only enter the pool/water with feet first</a:t>
            </a:r>
          </a:p>
          <a:p>
            <a:pPr algn="just">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In most pools and some other swim areas, this can be done by sitting down, rolling on to the front and sliding into the water or by using the ladder, ramp or stairs</a:t>
            </a:r>
          </a:p>
          <a:p>
            <a:pPr algn="just">
              <a:buFont typeface="Wingdings" panose="05000000000000000000" pitchFamily="2" charset="2"/>
              <a:buChar char="ü"/>
            </a:pPr>
            <a:endParaRPr lang="en-US" dirty="0" smtClean="0">
              <a:latin typeface="Times New Roman" panose="02020603050405020304" pitchFamily="18" charset="0"/>
              <a:cs typeface="Times New Roman" panose="02020603050405020304" pitchFamily="18" charset="0"/>
            </a:endParaRPr>
          </a:p>
        </p:txBody>
      </p:sp>
      <p:pic>
        <p:nvPicPr>
          <p:cNvPr id="614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615948" y="1371599"/>
            <a:ext cx="2457471" cy="24905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 name="Picture 3"/>
          <p:cNvPicPr>
            <a:picLocks noChangeAspect="1"/>
          </p:cNvPicPr>
          <p:nvPr/>
        </p:nvPicPr>
        <p:blipFill>
          <a:blip r:embed="rId3"/>
          <a:stretch>
            <a:fillRect/>
          </a:stretch>
        </p:blipFill>
        <p:spPr>
          <a:xfrm>
            <a:off x="9714271" y="4348703"/>
            <a:ext cx="2359148" cy="2408129"/>
          </a:xfrm>
          <a:prstGeom prst="rect">
            <a:avLst/>
          </a:prstGeom>
        </p:spPr>
      </p:pic>
    </p:spTree>
    <p:extLst>
      <p:ext uri="{BB962C8B-B14F-4D97-AF65-F5344CB8AC3E}">
        <p14:creationId xmlns:p14="http://schemas.microsoft.com/office/powerpoint/2010/main" val="2380709389"/>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0065" y="272395"/>
            <a:ext cx="9720072" cy="1267647"/>
          </a:xfrm>
        </p:spPr>
        <p:txBody>
          <a:bodyPr>
            <a:normAutofit/>
          </a:bodyPr>
          <a:lstStyle/>
          <a:p>
            <a:r>
              <a:rPr lang="en-US" b="1" dirty="0">
                <a:latin typeface="Times New Roman" panose="02020603050405020304" pitchFamily="18" charset="0"/>
                <a:cs typeface="Times New Roman" panose="02020603050405020304" pitchFamily="18" charset="0"/>
              </a:rPr>
              <a:t>BASIC AQUATIC </a:t>
            </a:r>
            <a:r>
              <a:rPr lang="en-US" b="1" dirty="0" smtClean="0">
                <a:latin typeface="Times New Roman" panose="02020603050405020304" pitchFamily="18" charset="0"/>
                <a:cs typeface="Times New Roman" panose="02020603050405020304" pitchFamily="18" charset="0"/>
              </a:rPr>
              <a:t>SKILLS</a:t>
            </a:r>
            <a:endParaRPr lang="en-US" sz="3600" dirty="0"/>
          </a:p>
        </p:txBody>
      </p:sp>
      <p:sp>
        <p:nvSpPr>
          <p:cNvPr id="3" name="Content Placeholder 2"/>
          <p:cNvSpPr>
            <a:spLocks noGrp="1"/>
          </p:cNvSpPr>
          <p:nvPr>
            <p:ph idx="1"/>
          </p:nvPr>
        </p:nvSpPr>
        <p:spPr>
          <a:xfrm>
            <a:off x="601579" y="1383629"/>
            <a:ext cx="9014369" cy="5161550"/>
          </a:xfrm>
        </p:spPr>
        <p:txBody>
          <a:bodyPr numCol="1">
            <a:noAutofit/>
          </a:bodyPr>
          <a:lstStyle/>
          <a:p>
            <a:pPr lvl="0" algn="just">
              <a:buFont typeface="Wingdings" panose="05000000000000000000" pitchFamily="2" charset="2"/>
              <a:buChar char="ü"/>
            </a:pPr>
            <a:r>
              <a:rPr lang="en-US" dirty="0">
                <a:solidFill>
                  <a:prstClr val="black"/>
                </a:solidFill>
                <a:latin typeface="Times New Roman" panose="02020603050405020304" pitchFamily="18" charset="0"/>
                <a:cs typeface="Times New Roman" panose="02020603050405020304" pitchFamily="18" charset="0"/>
              </a:rPr>
              <a:t>Swimmers with certain types of disabilities may use a ramp, hoist or lift to enter a pool</a:t>
            </a:r>
          </a:p>
          <a:p>
            <a:pPr lvl="0" algn="just">
              <a:buFont typeface="Wingdings" panose="05000000000000000000" pitchFamily="2" charset="2"/>
              <a:buChar char="ü"/>
            </a:pPr>
            <a:r>
              <a:rPr lang="en-US" dirty="0">
                <a:solidFill>
                  <a:prstClr val="black"/>
                </a:solidFill>
                <a:latin typeface="Times New Roman" panose="02020603050405020304" pitchFamily="18" charset="0"/>
                <a:cs typeface="Times New Roman" panose="02020603050405020304" pitchFamily="18" charset="0"/>
              </a:rPr>
              <a:t>At designated ocean, beaches, swimmers should enter the water from shore and shuffle their feet to stir up marine life resting on the bottom to avoid stepping on anything that could cause harm</a:t>
            </a:r>
          </a:p>
          <a:p>
            <a:pPr algn="just">
              <a:buFont typeface="Wingdings" panose="05000000000000000000" pitchFamily="2" charset="2"/>
              <a:buChar char="ü"/>
            </a:pPr>
            <a:endParaRPr lang="en-US" dirty="0" smtClean="0">
              <a:latin typeface="Times New Roman" panose="02020603050405020304" pitchFamily="18" charset="0"/>
              <a:cs typeface="Times New Roman" panose="02020603050405020304" pitchFamily="18" charset="0"/>
            </a:endParaRPr>
          </a:p>
        </p:txBody>
      </p:sp>
      <p:pic>
        <p:nvPicPr>
          <p:cNvPr id="614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615948" y="1371599"/>
            <a:ext cx="2457471" cy="24905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 name="Picture 3"/>
          <p:cNvPicPr>
            <a:picLocks noChangeAspect="1"/>
          </p:cNvPicPr>
          <p:nvPr/>
        </p:nvPicPr>
        <p:blipFill>
          <a:blip r:embed="rId3"/>
          <a:stretch>
            <a:fillRect/>
          </a:stretch>
        </p:blipFill>
        <p:spPr>
          <a:xfrm>
            <a:off x="9714271" y="4348703"/>
            <a:ext cx="2359148" cy="2408129"/>
          </a:xfrm>
          <a:prstGeom prst="rect">
            <a:avLst/>
          </a:prstGeom>
        </p:spPr>
      </p:pic>
    </p:spTree>
    <p:extLst>
      <p:ext uri="{BB962C8B-B14F-4D97-AF65-F5344CB8AC3E}">
        <p14:creationId xmlns:p14="http://schemas.microsoft.com/office/powerpoint/2010/main" val="2380709389"/>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2393" y="153655"/>
            <a:ext cx="10515600" cy="1325563"/>
          </a:xfrm>
        </p:spPr>
        <p:txBody>
          <a:bodyPr/>
          <a:lstStyle/>
          <a:p>
            <a:r>
              <a:rPr lang="en-US" b="1" dirty="0">
                <a:latin typeface="Times New Roman" panose="02020603050405020304" pitchFamily="18" charset="0"/>
                <a:cs typeface="Times New Roman" panose="02020603050405020304" pitchFamily="18" charset="0"/>
              </a:rPr>
              <a:t>BASIC AQUATIC </a:t>
            </a:r>
            <a:r>
              <a:rPr lang="en-US" b="1" dirty="0" smtClean="0">
                <a:latin typeface="Times New Roman" panose="02020603050405020304" pitchFamily="18" charset="0"/>
                <a:cs typeface="Times New Roman" panose="02020603050405020304" pitchFamily="18" charset="0"/>
              </a:rPr>
              <a:t>SKILLS</a:t>
            </a:r>
            <a:endParaRPr lang="en-US" sz="3600" dirty="0"/>
          </a:p>
        </p:txBody>
      </p:sp>
      <p:sp>
        <p:nvSpPr>
          <p:cNvPr id="3" name="Content Placeholder 2"/>
          <p:cNvSpPr>
            <a:spLocks noGrp="1"/>
          </p:cNvSpPr>
          <p:nvPr>
            <p:ph idx="1"/>
          </p:nvPr>
        </p:nvSpPr>
        <p:spPr>
          <a:xfrm>
            <a:off x="269139" y="1313253"/>
            <a:ext cx="8855196" cy="5205534"/>
          </a:xfrm>
        </p:spPr>
        <p:txBody>
          <a:bodyPr>
            <a:normAutofit fontScale="25000" lnSpcReduction="20000"/>
          </a:bodyPr>
          <a:lstStyle/>
          <a:p>
            <a:pPr algn="just"/>
            <a:r>
              <a:rPr lang="en-US" sz="11200" b="1" dirty="0">
                <a:latin typeface="Times New Roman" panose="02020603050405020304" pitchFamily="18" charset="0"/>
                <a:cs typeface="Times New Roman" panose="02020603050405020304" pitchFamily="18" charset="0"/>
              </a:rPr>
              <a:t>STAYING </a:t>
            </a:r>
            <a:r>
              <a:rPr lang="en-US" sz="11200" b="1" dirty="0" smtClean="0">
                <a:latin typeface="Times New Roman" panose="02020603050405020304" pitchFamily="18" charset="0"/>
                <a:cs typeface="Times New Roman" panose="02020603050405020304" pitchFamily="18" charset="0"/>
              </a:rPr>
              <a:t>AFLOAT</a:t>
            </a:r>
          </a:p>
          <a:p>
            <a:pPr algn="just">
              <a:buFont typeface="Wingdings" panose="05000000000000000000" pitchFamily="2" charset="2"/>
              <a:buChar char="ü"/>
            </a:pPr>
            <a:r>
              <a:rPr lang="en-US" sz="11200" dirty="0" smtClean="0">
                <a:latin typeface="Times New Roman" panose="02020603050405020304" pitchFamily="18" charset="0"/>
                <a:cs typeface="Times New Roman" panose="02020603050405020304" pitchFamily="18" charset="0"/>
              </a:rPr>
              <a:t>A big part of staying safe in water is feeling confident. Confidence helps prevent panic and allows for clear thinking</a:t>
            </a:r>
          </a:p>
          <a:p>
            <a:pPr algn="just">
              <a:buFont typeface="Wingdings" panose="05000000000000000000" pitchFamily="2" charset="2"/>
              <a:buChar char="ü"/>
            </a:pPr>
            <a:r>
              <a:rPr lang="en-US" sz="11200" dirty="0" smtClean="0">
                <a:latin typeface="Times New Roman" panose="02020603050405020304" pitchFamily="18" charset="0"/>
                <a:cs typeface="Times New Roman" panose="02020603050405020304" pitchFamily="18" charset="0"/>
              </a:rPr>
              <a:t>Being able to float is a tremendous confidence builder</a:t>
            </a:r>
          </a:p>
          <a:p>
            <a:pPr algn="just">
              <a:buFont typeface="Wingdings" panose="05000000000000000000" pitchFamily="2" charset="2"/>
              <a:buChar char="ü"/>
            </a:pPr>
            <a:r>
              <a:rPr lang="en-US" sz="11200" dirty="0" smtClean="0">
                <a:latin typeface="Times New Roman" panose="02020603050405020304" pitchFamily="18" charset="0"/>
                <a:cs typeface="Times New Roman" panose="02020603050405020304" pitchFamily="18" charset="0"/>
              </a:rPr>
              <a:t>The ability to stay on the surface of water is also an important safety skill that is especially important for the beginner or </a:t>
            </a:r>
            <a:r>
              <a:rPr lang="en-US" sz="11200" dirty="0" err="1" smtClean="0">
                <a:latin typeface="Times New Roman" panose="02020603050405020304" pitchFamily="18" charset="0"/>
                <a:cs typeface="Times New Roman" panose="02020603050405020304" pitchFamily="18" charset="0"/>
              </a:rPr>
              <a:t>nonswimmer</a:t>
            </a:r>
            <a:endParaRPr lang="en-US" sz="11200" dirty="0" smtClean="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ü"/>
            </a:pPr>
            <a:r>
              <a:rPr lang="en-US" sz="11200" dirty="0">
                <a:latin typeface="Times New Roman" panose="02020603050405020304" pitchFamily="18" charset="0"/>
                <a:cs typeface="Times New Roman" panose="02020603050405020304" pitchFamily="18" charset="0"/>
              </a:rPr>
              <a:t>Even though floating is an easy way for many people to stay near the surface, not everyone floats easily </a:t>
            </a:r>
          </a:p>
          <a:p>
            <a:pPr algn="just">
              <a:buFont typeface="Wingdings" panose="05000000000000000000" pitchFamily="2" charset="2"/>
              <a:buChar char="ü"/>
            </a:pPr>
            <a:r>
              <a:rPr lang="en-US" sz="11200" dirty="0" smtClean="0">
                <a:latin typeface="Times New Roman" panose="02020603050405020304" pitchFamily="18" charset="0"/>
                <a:cs typeface="Times New Roman" panose="02020603050405020304" pitchFamily="18" charset="0"/>
              </a:rPr>
              <a:t>Floating </a:t>
            </a:r>
            <a:r>
              <a:rPr lang="en-US" sz="11200" dirty="0">
                <a:latin typeface="Times New Roman" panose="02020603050405020304" pitchFamily="18" charset="0"/>
                <a:cs typeface="Times New Roman" panose="02020603050405020304" pitchFamily="18" charset="0"/>
              </a:rPr>
              <a:t>is made easier by physically and mentally adjusting to the water before entering and keeping the body relaxed</a:t>
            </a:r>
          </a:p>
          <a:p>
            <a:pPr algn="just">
              <a:buFont typeface="Wingdings" panose="05000000000000000000" pitchFamily="2" charset="2"/>
              <a:buChar char="ü"/>
            </a:pPr>
            <a:r>
              <a:rPr lang="en-US" sz="11200" dirty="0" smtClean="0">
                <a:latin typeface="Times New Roman" panose="02020603050405020304" pitchFamily="18" charset="0"/>
                <a:cs typeface="Times New Roman" panose="02020603050405020304" pitchFamily="18" charset="0"/>
              </a:rPr>
              <a:t>Anyone </a:t>
            </a:r>
            <a:r>
              <a:rPr lang="en-US" sz="11200" dirty="0">
                <a:latin typeface="Times New Roman" panose="02020603050405020304" pitchFamily="18" charset="0"/>
                <a:cs typeface="Times New Roman" panose="02020603050405020304" pitchFamily="18" charset="0"/>
              </a:rPr>
              <a:t>involved in an aquatic can use any of the floating techniques to stay in the surface of the water </a:t>
            </a:r>
          </a:p>
          <a:p>
            <a:pPr algn="just">
              <a:buFont typeface="Wingdings" panose="05000000000000000000" pitchFamily="2" charset="2"/>
              <a:buChar char="ü"/>
            </a:pPr>
            <a:endParaRPr lang="en-US" dirty="0" smtClean="0">
              <a:latin typeface="Times New Roman" panose="02020603050405020304" pitchFamily="18" charset="0"/>
              <a:cs typeface="Times New Roman" panose="02020603050405020304" pitchFamily="18" charset="0"/>
            </a:endParaRPr>
          </a:p>
          <a:p>
            <a:endParaRPr lang="en-US" dirty="0" smtClean="0"/>
          </a:p>
          <a:p>
            <a:endParaRPr lang="en-US" dirty="0"/>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24335" y="1479218"/>
            <a:ext cx="3067665" cy="15864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17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24335" y="5372100"/>
            <a:ext cx="3067664" cy="1485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639962698"/>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849031" y="328337"/>
            <a:ext cx="3215589" cy="183176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itle 1"/>
          <p:cNvSpPr>
            <a:spLocks noGrp="1"/>
          </p:cNvSpPr>
          <p:nvPr>
            <p:ph type="title"/>
          </p:nvPr>
        </p:nvSpPr>
        <p:spPr>
          <a:xfrm>
            <a:off x="939907" y="248332"/>
            <a:ext cx="9720072" cy="882378"/>
          </a:xfrm>
        </p:spPr>
        <p:txBody>
          <a:bodyPr/>
          <a:lstStyle/>
          <a:p>
            <a:r>
              <a:rPr lang="en-US" b="1" dirty="0">
                <a:latin typeface="Times New Roman" panose="02020603050405020304" pitchFamily="18" charset="0"/>
                <a:cs typeface="Times New Roman" panose="02020603050405020304" pitchFamily="18" charset="0"/>
              </a:rPr>
              <a:t>BASIC AQUATIC </a:t>
            </a:r>
            <a:r>
              <a:rPr lang="en-US" b="1" dirty="0" smtClean="0">
                <a:latin typeface="Times New Roman" panose="02020603050405020304" pitchFamily="18" charset="0"/>
                <a:cs typeface="Times New Roman" panose="02020603050405020304" pitchFamily="18" charset="0"/>
              </a:rPr>
              <a:t>SKILLS</a:t>
            </a:r>
            <a:endParaRPr lang="en-US" sz="3600" dirty="0"/>
          </a:p>
        </p:txBody>
      </p:sp>
      <p:sp>
        <p:nvSpPr>
          <p:cNvPr id="3" name="Content Placeholder 2"/>
          <p:cNvSpPr>
            <a:spLocks noGrp="1"/>
          </p:cNvSpPr>
          <p:nvPr>
            <p:ph idx="1"/>
          </p:nvPr>
        </p:nvSpPr>
        <p:spPr>
          <a:xfrm>
            <a:off x="436727" y="1238865"/>
            <a:ext cx="10223251" cy="5438661"/>
          </a:xfrm>
        </p:spPr>
        <p:txBody>
          <a:bodyPr>
            <a:normAutofit fontScale="85000" lnSpcReduction="20000"/>
          </a:bodyPr>
          <a:lstStyle/>
          <a:p>
            <a:pPr algn="just"/>
            <a:r>
              <a:rPr lang="en-US" sz="3300" b="1" dirty="0">
                <a:solidFill>
                  <a:prstClr val="black"/>
                </a:solidFill>
                <a:latin typeface="Times New Roman" panose="02020603050405020304" pitchFamily="18" charset="0"/>
                <a:ea typeface="+mj-ea"/>
                <a:cs typeface="Times New Roman" panose="02020603050405020304" pitchFamily="18" charset="0"/>
              </a:rPr>
              <a:t>STAYING AFLOAT; BACK FLOAT </a:t>
            </a:r>
            <a:endParaRPr lang="en-US" sz="3300" b="1" dirty="0" smtClean="0">
              <a:solidFill>
                <a:prstClr val="black"/>
              </a:solidFill>
              <a:latin typeface="Times New Roman" panose="02020603050405020304" pitchFamily="18" charset="0"/>
              <a:ea typeface="+mj-ea"/>
              <a:cs typeface="Times New Roman" panose="02020603050405020304" pitchFamily="18" charset="0"/>
            </a:endParaRPr>
          </a:p>
          <a:p>
            <a:pPr algn="just">
              <a:buFont typeface="Wingdings" panose="05000000000000000000" pitchFamily="2" charset="2"/>
              <a:buChar char="ü"/>
            </a:pPr>
            <a:r>
              <a:rPr lang="en-US" sz="3300" dirty="0" smtClean="0">
                <a:latin typeface="Times New Roman" panose="02020603050405020304" pitchFamily="18" charset="0"/>
                <a:cs typeface="Times New Roman" panose="02020603050405020304" pitchFamily="18" charset="0"/>
              </a:rPr>
              <a:t>The back or supine float is especially useful for survival</a:t>
            </a:r>
          </a:p>
          <a:p>
            <a:pPr algn="just">
              <a:buFont typeface="Wingdings" panose="05000000000000000000" pitchFamily="2" charset="2"/>
              <a:buChar char="ü"/>
            </a:pPr>
            <a:r>
              <a:rPr lang="en-US" sz="3300" dirty="0" smtClean="0">
                <a:latin typeface="Times New Roman" panose="02020603050405020304" pitchFamily="18" charset="0"/>
                <a:cs typeface="Times New Roman" panose="02020603050405020304" pitchFamily="18" charset="0"/>
              </a:rPr>
              <a:t>One of the main benefits of the back float is that the mouth stays above water throughout</a:t>
            </a:r>
          </a:p>
          <a:p>
            <a:pPr algn="just">
              <a:buFont typeface="Wingdings" panose="05000000000000000000" pitchFamily="2" charset="2"/>
              <a:buChar char="ü"/>
            </a:pPr>
            <a:r>
              <a:rPr lang="en-US" sz="3300" dirty="0" smtClean="0">
                <a:latin typeface="Times New Roman" panose="02020603050405020304" pitchFamily="18" charset="0"/>
                <a:cs typeface="Times New Roman" panose="02020603050405020304" pitchFamily="18" charset="0"/>
              </a:rPr>
              <a:t>To float on the back;</a:t>
            </a:r>
          </a:p>
          <a:p>
            <a:pPr algn="just">
              <a:buFont typeface="Courier New" panose="02070309020205020404" pitchFamily="49" charset="0"/>
              <a:buChar char="o"/>
            </a:pPr>
            <a:r>
              <a:rPr lang="en-US" sz="3300" dirty="0" smtClean="0">
                <a:latin typeface="Times New Roman" panose="02020603050405020304" pitchFamily="18" charset="0"/>
                <a:cs typeface="Times New Roman" panose="02020603050405020304" pitchFamily="18" charset="0"/>
              </a:rPr>
              <a:t>In chest deep water, submerge to the neck</a:t>
            </a:r>
          </a:p>
          <a:p>
            <a:pPr algn="just">
              <a:buFont typeface="Courier New" panose="02070309020205020404" pitchFamily="49" charset="0"/>
              <a:buChar char="o"/>
            </a:pPr>
            <a:r>
              <a:rPr lang="en-US" sz="3300" dirty="0" smtClean="0">
                <a:latin typeface="Times New Roman" panose="02020603050405020304" pitchFamily="18" charset="0"/>
                <a:cs typeface="Times New Roman" panose="02020603050405020304" pitchFamily="18" charset="0"/>
              </a:rPr>
              <a:t>Hold the arms overhead and slightly out to the side</a:t>
            </a:r>
          </a:p>
          <a:p>
            <a:pPr algn="just">
              <a:buFont typeface="Courier New" panose="02070309020205020404" pitchFamily="49" charset="0"/>
              <a:buChar char="o"/>
            </a:pPr>
            <a:r>
              <a:rPr lang="en-US" sz="3300" dirty="0" smtClean="0">
                <a:latin typeface="Times New Roman" panose="02020603050405020304" pitchFamily="18" charset="0"/>
                <a:cs typeface="Times New Roman" panose="02020603050405020304" pitchFamily="18" charset="0"/>
              </a:rPr>
              <a:t>Lay the head back until the ears are in the water</a:t>
            </a:r>
          </a:p>
          <a:p>
            <a:pPr algn="just">
              <a:buFont typeface="Courier New" panose="02070309020205020404" pitchFamily="49" charset="0"/>
              <a:buChar char="o"/>
            </a:pPr>
            <a:r>
              <a:rPr lang="en-US" sz="3300" dirty="0">
                <a:latin typeface="Times New Roman" panose="02020603050405020304" pitchFamily="18" charset="0"/>
                <a:cs typeface="Times New Roman" panose="02020603050405020304" pitchFamily="18" charset="0"/>
              </a:rPr>
              <a:t>Arch the body gently at the hips, pushing the chest and stomach toward the surface </a:t>
            </a:r>
          </a:p>
          <a:p>
            <a:pPr algn="just">
              <a:buFont typeface="Courier New" panose="02070309020205020404" pitchFamily="49" charset="0"/>
              <a:buChar char="o"/>
            </a:pPr>
            <a:r>
              <a:rPr lang="en-US" sz="3300" dirty="0" smtClean="0">
                <a:latin typeface="Times New Roman" panose="02020603050405020304" pitchFamily="18" charset="0"/>
                <a:cs typeface="Times New Roman" panose="02020603050405020304" pitchFamily="18" charset="0"/>
              </a:rPr>
              <a:t>Keep </a:t>
            </a:r>
            <a:r>
              <a:rPr lang="en-US" sz="3300" dirty="0">
                <a:latin typeface="Times New Roman" panose="02020603050405020304" pitchFamily="18" charset="0"/>
                <a:cs typeface="Times New Roman" panose="02020603050405020304" pitchFamily="18" charset="0"/>
              </a:rPr>
              <a:t>the legs relaxed, knees slightly bent and feet beneath the surface</a:t>
            </a:r>
          </a:p>
          <a:p>
            <a:pPr algn="just">
              <a:buFont typeface="Courier New" panose="02070309020205020404" pitchFamily="49" charset="0"/>
              <a:buChar char="o"/>
            </a:pPr>
            <a:r>
              <a:rPr lang="en-US" sz="3300" dirty="0" smtClean="0">
                <a:latin typeface="Times New Roman" panose="02020603050405020304" pitchFamily="18" charset="0"/>
                <a:cs typeface="Times New Roman" panose="02020603050405020304" pitchFamily="18" charset="0"/>
              </a:rPr>
              <a:t>Breath </a:t>
            </a:r>
            <a:r>
              <a:rPr lang="en-US" sz="3300" dirty="0">
                <a:latin typeface="Times New Roman" panose="02020603050405020304" pitchFamily="18" charset="0"/>
                <a:cs typeface="Times New Roman" panose="02020603050405020304" pitchFamily="18" charset="0"/>
              </a:rPr>
              <a:t>in and out through the mouth every seconds</a:t>
            </a:r>
          </a:p>
          <a:p>
            <a:pPr algn="just">
              <a:buFont typeface="Courier New" panose="02070309020205020404" pitchFamily="49" charset="0"/>
              <a:buChar char="o"/>
            </a:pPr>
            <a:endParaRPr lang="en-US" dirty="0" smtClean="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3"/>
          <a:stretch>
            <a:fillRect/>
          </a:stretch>
        </p:blipFill>
        <p:spPr>
          <a:xfrm>
            <a:off x="8394511" y="2553277"/>
            <a:ext cx="3670110" cy="1865538"/>
          </a:xfrm>
          <a:prstGeom prst="rect">
            <a:avLst/>
          </a:prstGeom>
        </p:spPr>
      </p:pic>
    </p:spTree>
    <p:extLst>
      <p:ext uri="{BB962C8B-B14F-4D97-AF65-F5344CB8AC3E}">
        <p14:creationId xmlns:p14="http://schemas.microsoft.com/office/powerpoint/2010/main" val="1695650951"/>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7717" y="164110"/>
            <a:ext cx="9720072" cy="1499616"/>
          </a:xfrm>
        </p:spPr>
        <p:txBody>
          <a:bodyPr/>
          <a:lstStyle/>
          <a:p>
            <a:r>
              <a:rPr lang="en-US" dirty="0">
                <a:latin typeface="Times New Roman" panose="02020603050405020304" pitchFamily="18" charset="0"/>
                <a:cs typeface="Times New Roman" panose="02020603050405020304" pitchFamily="18" charset="0"/>
              </a:rPr>
              <a:t>BASIC AQUATIC </a:t>
            </a:r>
            <a:r>
              <a:rPr lang="en-US" dirty="0" smtClean="0">
                <a:latin typeface="Times New Roman" panose="02020603050405020304" pitchFamily="18" charset="0"/>
                <a:cs typeface="Times New Roman" panose="02020603050405020304" pitchFamily="18" charset="0"/>
              </a:rPr>
              <a:t>SKILLS</a:t>
            </a:r>
            <a:endParaRPr lang="en-US" sz="3600" dirty="0"/>
          </a:p>
        </p:txBody>
      </p:sp>
      <p:sp>
        <p:nvSpPr>
          <p:cNvPr id="3" name="Content Placeholder 2"/>
          <p:cNvSpPr>
            <a:spLocks noGrp="1"/>
          </p:cNvSpPr>
          <p:nvPr>
            <p:ph idx="1"/>
          </p:nvPr>
        </p:nvSpPr>
        <p:spPr>
          <a:xfrm>
            <a:off x="314632" y="1479883"/>
            <a:ext cx="8662220" cy="5185611"/>
          </a:xfrm>
        </p:spPr>
        <p:txBody>
          <a:bodyPr>
            <a:noAutofit/>
          </a:bodyPr>
          <a:lstStyle/>
          <a:p>
            <a:pPr algn="just">
              <a:buFont typeface="Wingdings" panose="05000000000000000000" pitchFamily="2" charset="2"/>
              <a:buChar char="ü"/>
            </a:pPr>
            <a:r>
              <a:rPr lang="en-US" sz="2800" dirty="0" smtClean="0">
                <a:latin typeface="Times New Roman" panose="02020603050405020304" pitchFamily="18" charset="0"/>
                <a:cs typeface="Times New Roman" panose="02020603050405020304" pitchFamily="18" charset="0"/>
              </a:rPr>
              <a:t>Swimmers whose natural floating position is diagonal or nearly vertical may need to change position slightly</a:t>
            </a:r>
          </a:p>
          <a:p>
            <a:pPr algn="just">
              <a:buFont typeface="Wingdings" panose="05000000000000000000" pitchFamily="2" charset="2"/>
              <a:buChar char="ü"/>
            </a:pPr>
            <a:r>
              <a:rPr lang="en-US" sz="2800" dirty="0" smtClean="0">
                <a:latin typeface="Times New Roman" panose="02020603050405020304" pitchFamily="18" charset="0"/>
                <a:cs typeface="Times New Roman" panose="02020603050405020304" pitchFamily="18" charset="0"/>
              </a:rPr>
              <a:t>Swimmers having trouble floating motionless can use sculling or finning motions to help stay near the surface with little effort</a:t>
            </a:r>
          </a:p>
          <a:p>
            <a:pPr algn="just">
              <a:buFont typeface="Wingdings" panose="05000000000000000000" pitchFamily="2" charset="2"/>
              <a:buChar char="ü"/>
            </a:pPr>
            <a:r>
              <a:rPr lang="en-US" dirty="0" smtClean="0">
                <a:latin typeface="Times New Roman" panose="02020603050405020304" pitchFamily="18" charset="0"/>
                <a:cs typeface="Times New Roman" panose="02020603050405020304" pitchFamily="18" charset="0"/>
              </a:rPr>
              <a:t>To </a:t>
            </a:r>
            <a:r>
              <a:rPr lang="en-US" dirty="0">
                <a:latin typeface="Times New Roman" panose="02020603050405020304" pitchFamily="18" charset="0"/>
                <a:cs typeface="Times New Roman" panose="02020603050405020304" pitchFamily="18" charset="0"/>
              </a:rPr>
              <a:t>recover to a standing position; </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Take a breath, tuck the chin toward the chest and bring the knees forward by bending at the hips </a:t>
            </a:r>
            <a:endParaRPr lang="en-US" dirty="0" smtClean="0">
              <a:latin typeface="Times New Roman" panose="02020603050405020304" pitchFamily="18" charset="0"/>
              <a:cs typeface="Times New Roman" panose="02020603050405020304" pitchFamily="18" charset="0"/>
            </a:endParaRPr>
          </a:p>
          <a:p>
            <a:pPr algn="just">
              <a:buFont typeface="Courier New" panose="02070309020205020404" pitchFamily="49" charset="0"/>
              <a:buChar char="o"/>
            </a:pPr>
            <a:r>
              <a:rPr lang="en-US" dirty="0" smtClean="0">
                <a:latin typeface="Times New Roman" panose="02020603050405020304" pitchFamily="18" charset="0"/>
                <a:cs typeface="Times New Roman" panose="02020603050405020304" pitchFamily="18" charset="0"/>
              </a:rPr>
              <a:t>Sweep </a:t>
            </a:r>
            <a:r>
              <a:rPr lang="en-US" dirty="0">
                <a:latin typeface="Times New Roman" panose="02020603050405020304" pitchFamily="18" charset="0"/>
                <a:cs typeface="Times New Roman" panose="02020603050405020304" pitchFamily="18" charset="0"/>
              </a:rPr>
              <a:t>the arms back, down then forward in a circular motion to bring the body back to vertical, exhale and then stand </a:t>
            </a:r>
            <a:r>
              <a:rPr lang="en-US" dirty="0" smtClean="0">
                <a:latin typeface="Times New Roman" panose="02020603050405020304" pitchFamily="18" charset="0"/>
                <a:cs typeface="Times New Roman" panose="02020603050405020304" pitchFamily="18" charset="0"/>
              </a:rPr>
              <a:t>up</a:t>
            </a:r>
          </a:p>
          <a:p>
            <a:pPr algn="just">
              <a:buFont typeface="Courier New" panose="02070309020205020404" pitchFamily="49" charset="0"/>
              <a:buChar char="o"/>
            </a:pPr>
            <a:r>
              <a:rPr lang="en-US" dirty="0" smtClean="0">
                <a:latin typeface="Times New Roman" panose="02020603050405020304" pitchFamily="18" charset="0"/>
                <a:cs typeface="Times New Roman" panose="02020603050405020304" pitchFamily="18" charset="0"/>
              </a:rPr>
              <a:t>This </a:t>
            </a:r>
            <a:r>
              <a:rPr lang="en-US" dirty="0">
                <a:latin typeface="Times New Roman" panose="02020603050405020304" pitchFamily="18" charset="0"/>
                <a:cs typeface="Times New Roman" panose="02020603050405020304" pitchFamily="18" charset="0"/>
              </a:rPr>
              <a:t>motion is like pulling up a chair to sit on it</a:t>
            </a:r>
          </a:p>
          <a:p>
            <a:pPr>
              <a:buFont typeface="Arial" panose="020B0604020202020204" pitchFamily="34" charset="0"/>
              <a:buChar char="•"/>
            </a:pPr>
            <a:endParaRPr lang="en-US" sz="2800" dirty="0" smtClean="0">
              <a:latin typeface="Times New Roman" panose="02020603050405020304" pitchFamily="18" charset="0"/>
              <a:cs typeface="Times New Roman" panose="02020603050405020304" pitchFamily="18" charset="0"/>
            </a:endParaRPr>
          </a:p>
          <a:p>
            <a:pPr>
              <a:buFont typeface="Arial" panose="020B0604020202020204" pitchFamily="34" charset="0"/>
              <a:buChar char="•"/>
            </a:pPr>
            <a:endParaRPr lang="en-US" sz="3200" dirty="0"/>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76852" y="509195"/>
            <a:ext cx="2962355" cy="187040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219"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085006" y="4948231"/>
            <a:ext cx="3106994" cy="190976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447057960"/>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1320" y="224269"/>
            <a:ext cx="11079050" cy="930763"/>
          </a:xfrm>
        </p:spPr>
        <p:txBody>
          <a:bodyPr>
            <a:noAutofit/>
          </a:bodyPr>
          <a:lstStyle/>
          <a:p>
            <a:r>
              <a:rPr lang="en-US" b="1" dirty="0">
                <a:latin typeface="Times New Roman" panose="02020603050405020304" pitchFamily="18" charset="0"/>
                <a:cs typeface="Times New Roman" panose="02020603050405020304" pitchFamily="18" charset="0"/>
              </a:rPr>
              <a:t>BASIC AQUATIC </a:t>
            </a:r>
            <a:r>
              <a:rPr lang="en-US" b="1" dirty="0" smtClean="0">
                <a:latin typeface="Times New Roman" panose="02020603050405020304" pitchFamily="18" charset="0"/>
                <a:cs typeface="Times New Roman" panose="02020603050405020304" pitchFamily="18" charset="0"/>
              </a:rPr>
              <a:t>SKILLS</a:t>
            </a:r>
            <a:endParaRPr lang="en-US" sz="3600" dirty="0"/>
          </a:p>
        </p:txBody>
      </p:sp>
      <p:sp>
        <p:nvSpPr>
          <p:cNvPr id="3" name="Content Placeholder 2"/>
          <p:cNvSpPr>
            <a:spLocks noGrp="1"/>
          </p:cNvSpPr>
          <p:nvPr>
            <p:ph idx="1"/>
          </p:nvPr>
        </p:nvSpPr>
        <p:spPr>
          <a:xfrm>
            <a:off x="423081" y="1581149"/>
            <a:ext cx="8396065" cy="4868811"/>
          </a:xfrm>
        </p:spPr>
        <p:txBody>
          <a:bodyPr numCol="1">
            <a:noAutofit/>
          </a:bodyPr>
          <a:lstStyle/>
          <a:p>
            <a:pPr algn="just"/>
            <a:r>
              <a:rPr lang="en-US" b="1" dirty="0">
                <a:latin typeface="Times New Roman" panose="02020603050405020304" pitchFamily="18" charset="0"/>
                <a:cs typeface="Times New Roman" panose="02020603050405020304" pitchFamily="18" charset="0"/>
              </a:rPr>
              <a:t>STAYING AFLOAT; FLOATING ON THE FRONT </a:t>
            </a:r>
            <a:endParaRPr lang="en-US" b="1" dirty="0" smtClean="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ü"/>
            </a:pPr>
            <a:r>
              <a:rPr lang="en-US" dirty="0" smtClean="0">
                <a:latin typeface="Times New Roman" panose="02020603050405020304" pitchFamily="18" charset="0"/>
                <a:cs typeface="Times New Roman" panose="02020603050405020304" pitchFamily="18" charset="0"/>
              </a:rPr>
              <a:t>There </a:t>
            </a:r>
            <a:r>
              <a:rPr lang="en-US" sz="2800" dirty="0" smtClean="0">
                <a:latin typeface="Times New Roman" panose="02020603050405020304" pitchFamily="18" charset="0"/>
                <a:cs typeface="Times New Roman" panose="02020603050405020304" pitchFamily="18" charset="0"/>
              </a:rPr>
              <a:t>are several ways to float on the front.</a:t>
            </a:r>
          </a:p>
          <a:p>
            <a:pPr algn="just">
              <a:buFont typeface="Wingdings" panose="05000000000000000000" pitchFamily="2" charset="2"/>
              <a:buChar char="ü"/>
            </a:pPr>
            <a:r>
              <a:rPr lang="en-US" sz="2800" dirty="0" smtClean="0">
                <a:latin typeface="Times New Roman" panose="02020603050405020304" pitchFamily="18" charset="0"/>
                <a:cs typeface="Times New Roman" panose="02020603050405020304" pitchFamily="18" charset="0"/>
              </a:rPr>
              <a:t>Like floating on the back, floating on the front is an important survival skill</a:t>
            </a:r>
          </a:p>
          <a:p>
            <a:pPr algn="just">
              <a:buFont typeface="Wingdings" panose="05000000000000000000" pitchFamily="2" charset="2"/>
              <a:buChar char="ü"/>
            </a:pPr>
            <a:r>
              <a:rPr lang="en-US" sz="2800" dirty="0" smtClean="0">
                <a:latin typeface="Times New Roman" panose="02020603050405020304" pitchFamily="18" charset="0"/>
                <a:cs typeface="Times New Roman" panose="02020603050405020304" pitchFamily="18" charset="0"/>
              </a:rPr>
              <a:t>Both the survival float and survival swimming involve floating on the front</a:t>
            </a:r>
          </a:p>
          <a:p>
            <a:pPr algn="just">
              <a:buFont typeface="Courier New" panose="02070309020205020404" pitchFamily="49" charset="0"/>
              <a:buChar char="o"/>
            </a:pPr>
            <a:r>
              <a:rPr lang="en-US" sz="2800" dirty="0" smtClean="0">
                <a:latin typeface="Times New Roman" panose="02020603050405020304" pitchFamily="18" charset="0"/>
                <a:cs typeface="Times New Roman" panose="02020603050405020304" pitchFamily="18" charset="0"/>
              </a:rPr>
              <a:t>Jellyfish float</a:t>
            </a:r>
          </a:p>
          <a:p>
            <a:pPr algn="just">
              <a:buFont typeface="Wingdings" panose="05000000000000000000" pitchFamily="2" charset="2"/>
              <a:buChar char="Ø"/>
            </a:pPr>
            <a:r>
              <a:rPr lang="en-US" sz="2800" dirty="0" smtClean="0">
                <a:latin typeface="Times New Roman" panose="02020603050405020304" pitchFamily="18" charset="0"/>
                <a:cs typeface="Times New Roman" panose="02020603050405020304" pitchFamily="18" charset="0"/>
              </a:rPr>
              <a:t>In chest-deep water, submerge on to the neck </a:t>
            </a:r>
          </a:p>
          <a:p>
            <a:pPr algn="just">
              <a:buFont typeface="Wingdings" panose="05000000000000000000" pitchFamily="2" charset="2"/>
              <a:buChar char="Ø"/>
            </a:pPr>
            <a:r>
              <a:rPr lang="en-US" sz="2800" dirty="0" smtClean="0">
                <a:latin typeface="Times New Roman" panose="02020603050405020304" pitchFamily="18" charset="0"/>
                <a:cs typeface="Times New Roman" panose="02020603050405020304" pitchFamily="18" charset="0"/>
              </a:rPr>
              <a:t>Take a deep breath and hold it</a:t>
            </a:r>
          </a:p>
          <a:p>
            <a:pPr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Bend forward at the waist and put the head face down in the water</a:t>
            </a:r>
          </a:p>
          <a:p>
            <a:pPr algn="just">
              <a:buFont typeface="Wingdings" panose="05000000000000000000" pitchFamily="2" charset="2"/>
              <a:buChar char="Ø"/>
            </a:pPr>
            <a:endParaRPr lang="en-US" sz="2800" dirty="0" smtClean="0">
              <a:latin typeface="Times New Roman" panose="02020603050405020304" pitchFamily="18" charset="0"/>
              <a:cs typeface="Times New Roman" panose="02020603050405020304" pitchFamily="18" charset="0"/>
            </a:endParaRPr>
          </a:p>
        </p:txBody>
      </p:sp>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81324" y="1477738"/>
            <a:ext cx="2589046" cy="137464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4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81324" y="2852382"/>
            <a:ext cx="2594811" cy="159579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44"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81324" y="4448176"/>
            <a:ext cx="2589046" cy="17145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079414864"/>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1320" y="224269"/>
            <a:ext cx="11079050" cy="930763"/>
          </a:xfrm>
        </p:spPr>
        <p:txBody>
          <a:bodyPr>
            <a:noAutofit/>
          </a:bodyPr>
          <a:lstStyle/>
          <a:p>
            <a:r>
              <a:rPr lang="en-US" b="1" dirty="0">
                <a:latin typeface="Times New Roman" panose="02020603050405020304" pitchFamily="18" charset="0"/>
                <a:cs typeface="Times New Roman" panose="02020603050405020304" pitchFamily="18" charset="0"/>
              </a:rPr>
              <a:t>BASIC AQUATIC </a:t>
            </a:r>
            <a:r>
              <a:rPr lang="en-US" b="1" dirty="0" smtClean="0">
                <a:latin typeface="Times New Roman" panose="02020603050405020304" pitchFamily="18" charset="0"/>
                <a:cs typeface="Times New Roman" panose="02020603050405020304" pitchFamily="18" charset="0"/>
              </a:rPr>
              <a:t>SKILLS</a:t>
            </a:r>
            <a:endParaRPr lang="en-US" sz="3600" dirty="0"/>
          </a:p>
        </p:txBody>
      </p:sp>
      <p:sp>
        <p:nvSpPr>
          <p:cNvPr id="3" name="Content Placeholder 2"/>
          <p:cNvSpPr>
            <a:spLocks noGrp="1"/>
          </p:cNvSpPr>
          <p:nvPr>
            <p:ph idx="1"/>
          </p:nvPr>
        </p:nvSpPr>
        <p:spPr>
          <a:xfrm>
            <a:off x="423081" y="1581149"/>
            <a:ext cx="8396065" cy="4868811"/>
          </a:xfrm>
        </p:spPr>
        <p:txBody>
          <a:bodyPr numCol="1">
            <a:noAutofit/>
          </a:bodyPr>
          <a:lstStyle/>
          <a:p>
            <a:pPr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Flex the knees slightly to raise the feet off the </a:t>
            </a:r>
            <a:r>
              <a:rPr lang="en-US" dirty="0" smtClean="0">
                <a:latin typeface="Times New Roman" panose="02020603050405020304" pitchFamily="18" charset="0"/>
                <a:cs typeface="Times New Roman" panose="02020603050405020304" pitchFamily="18" charset="0"/>
              </a:rPr>
              <a:t>bottom</a:t>
            </a:r>
          </a:p>
          <a:p>
            <a:pPr lvl="0" algn="just">
              <a:buFont typeface="Wingdings" panose="05000000000000000000" pitchFamily="2" charset="2"/>
              <a:buChar char="Ø"/>
            </a:pPr>
            <a:r>
              <a:rPr lang="en-US" dirty="0">
                <a:solidFill>
                  <a:prstClr val="black"/>
                </a:solidFill>
                <a:latin typeface="Times New Roman" panose="02020603050405020304" pitchFamily="18" charset="0"/>
                <a:cs typeface="Times New Roman" panose="02020603050405020304" pitchFamily="18" charset="0"/>
              </a:rPr>
              <a:t>Let the arms and legs hang naturally from the body</a:t>
            </a:r>
          </a:p>
          <a:p>
            <a:pPr lvl="0" algn="just">
              <a:buFont typeface="Wingdings" panose="05000000000000000000" pitchFamily="2" charset="2"/>
              <a:buChar char="Ø"/>
            </a:pPr>
            <a:r>
              <a:rPr lang="en-US" dirty="0">
                <a:solidFill>
                  <a:prstClr val="black"/>
                </a:solidFill>
                <a:latin typeface="Times New Roman" panose="02020603050405020304" pitchFamily="18" charset="0"/>
                <a:cs typeface="Times New Roman" panose="02020603050405020304" pitchFamily="18" charset="0"/>
              </a:rPr>
              <a:t>Continue holding the breath and relax as much as possible</a:t>
            </a:r>
          </a:p>
          <a:p>
            <a:pPr lvl="0" algn="just">
              <a:buFont typeface="Wingdings" panose="05000000000000000000" pitchFamily="2" charset="2"/>
              <a:buChar char="Ø"/>
            </a:pPr>
            <a:r>
              <a:rPr lang="en-US" dirty="0">
                <a:solidFill>
                  <a:prstClr val="black"/>
                </a:solidFill>
                <a:latin typeface="Times New Roman" panose="02020603050405020304" pitchFamily="18" charset="0"/>
                <a:cs typeface="Times New Roman" panose="02020603050405020304" pitchFamily="18" charset="0"/>
              </a:rPr>
              <a:t>Allow the back to rise to the surface of the water</a:t>
            </a:r>
          </a:p>
          <a:p>
            <a:pPr lvl="0" algn="just">
              <a:buFont typeface="Wingdings" panose="05000000000000000000" pitchFamily="2" charset="2"/>
              <a:buChar char="Ø"/>
            </a:pPr>
            <a:r>
              <a:rPr lang="en-US" dirty="0">
                <a:solidFill>
                  <a:prstClr val="black"/>
                </a:solidFill>
                <a:latin typeface="Times New Roman" panose="02020603050405020304" pitchFamily="18" charset="0"/>
                <a:cs typeface="Times New Roman" panose="02020603050405020304" pitchFamily="18" charset="0"/>
              </a:rPr>
              <a:t>To recover drop the feet, exhale slowly and stand up</a:t>
            </a:r>
          </a:p>
          <a:p>
            <a:pPr lvl="0" algn="just"/>
            <a:endParaRPr lang="en-US" dirty="0">
              <a:solidFill>
                <a:prstClr val="black"/>
              </a:solidFill>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endParaRPr lang="en-US" sz="2800" dirty="0" smtClean="0">
              <a:latin typeface="Times New Roman" panose="02020603050405020304" pitchFamily="18" charset="0"/>
              <a:cs typeface="Times New Roman" panose="02020603050405020304" pitchFamily="18" charset="0"/>
            </a:endParaRPr>
          </a:p>
        </p:txBody>
      </p:sp>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81324" y="1477738"/>
            <a:ext cx="2589046" cy="137464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4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81324" y="2852382"/>
            <a:ext cx="2594811" cy="159579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44"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81324" y="4448176"/>
            <a:ext cx="2589046" cy="17145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079414864"/>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55686" y="296458"/>
            <a:ext cx="9720072" cy="1255616"/>
          </a:xfrm>
        </p:spPr>
        <p:txBody>
          <a:bodyPr>
            <a:normAutofit/>
          </a:bodyPr>
          <a:lstStyle/>
          <a:p>
            <a:r>
              <a:rPr lang="en-US" sz="4900" b="1" dirty="0">
                <a:latin typeface="Times New Roman" panose="02020603050405020304" pitchFamily="18" charset="0"/>
                <a:cs typeface="Times New Roman" panose="02020603050405020304" pitchFamily="18" charset="0"/>
              </a:rPr>
              <a:t>BASIC AQUATIC </a:t>
            </a:r>
            <a:r>
              <a:rPr lang="en-US" sz="4900" b="1" dirty="0" smtClean="0">
                <a:latin typeface="Times New Roman" panose="02020603050405020304" pitchFamily="18" charset="0"/>
                <a:cs typeface="Times New Roman" panose="02020603050405020304" pitchFamily="18" charset="0"/>
              </a:rPr>
              <a:t>SKILLS</a:t>
            </a:r>
            <a:endParaRPr lang="en-US" dirty="0"/>
          </a:p>
        </p:txBody>
      </p:sp>
      <p:sp>
        <p:nvSpPr>
          <p:cNvPr id="3" name="Content Placeholder 2"/>
          <p:cNvSpPr>
            <a:spLocks noGrp="1"/>
          </p:cNvSpPr>
          <p:nvPr>
            <p:ph idx="1"/>
          </p:nvPr>
        </p:nvSpPr>
        <p:spPr>
          <a:xfrm>
            <a:off x="422788" y="1269243"/>
            <a:ext cx="10828996" cy="5396252"/>
          </a:xfrm>
        </p:spPr>
        <p:txBody>
          <a:bodyPr numCol="1">
            <a:normAutofit fontScale="77500" lnSpcReduction="20000"/>
          </a:bodyPr>
          <a:lstStyle/>
          <a:p>
            <a:pPr>
              <a:buFont typeface="Courier New" panose="02070309020205020404" pitchFamily="49" charset="0"/>
              <a:buChar char="o"/>
            </a:pPr>
            <a:r>
              <a:rPr lang="en-US" sz="3600" dirty="0" smtClean="0">
                <a:latin typeface="Times New Roman" panose="02020603050405020304" pitchFamily="18" charset="0"/>
                <a:cs typeface="Times New Roman" panose="02020603050405020304" pitchFamily="18" charset="0"/>
              </a:rPr>
              <a:t>Tuck float</a:t>
            </a:r>
          </a:p>
          <a:p>
            <a:pPr>
              <a:buFont typeface="Wingdings" panose="05000000000000000000" pitchFamily="2" charset="2"/>
              <a:buChar char="Ø"/>
            </a:pPr>
            <a:r>
              <a:rPr lang="en-US" sz="3600" dirty="0" smtClean="0">
                <a:latin typeface="Times New Roman" panose="02020603050405020304" pitchFamily="18" charset="0"/>
                <a:cs typeface="Times New Roman" panose="02020603050405020304" pitchFamily="18" charset="0"/>
              </a:rPr>
              <a:t>The tuck or turtle float is similar to the jellyfish float.</a:t>
            </a:r>
          </a:p>
          <a:p>
            <a:pPr>
              <a:buFont typeface="Wingdings" panose="05000000000000000000" pitchFamily="2" charset="2"/>
              <a:buChar char="Ø"/>
            </a:pPr>
            <a:r>
              <a:rPr lang="en-US" sz="3600" dirty="0" smtClean="0">
                <a:latin typeface="Times New Roman" panose="02020603050405020304" pitchFamily="18" charset="0"/>
                <a:cs typeface="Times New Roman" panose="02020603050405020304" pitchFamily="18" charset="0"/>
              </a:rPr>
              <a:t>Sinking a few inches is possible before getting into the final</a:t>
            </a:r>
            <a:r>
              <a:rPr lang="en-US" sz="3600" dirty="0" smtClean="0">
                <a:solidFill>
                  <a:schemeClr val="bg1"/>
                </a:solidFill>
                <a:latin typeface="Times New Roman" panose="02020603050405020304" pitchFamily="18" charset="0"/>
                <a:cs typeface="Times New Roman" panose="02020603050405020304" pitchFamily="18" charset="0"/>
              </a:rPr>
              <a:t> </a:t>
            </a:r>
            <a:r>
              <a:rPr lang="en-US" sz="3600" dirty="0" smtClean="0">
                <a:latin typeface="Times New Roman" panose="02020603050405020304" pitchFamily="18" charset="0"/>
                <a:cs typeface="Times New Roman" panose="02020603050405020304" pitchFamily="18" charset="0"/>
              </a:rPr>
              <a:t>position</a:t>
            </a:r>
          </a:p>
          <a:p>
            <a:pPr>
              <a:buFont typeface="Wingdings" panose="05000000000000000000" pitchFamily="2" charset="2"/>
              <a:buChar char="Ø"/>
            </a:pPr>
            <a:r>
              <a:rPr lang="en-US" sz="3600" dirty="0" smtClean="0">
                <a:latin typeface="Times New Roman" panose="02020603050405020304" pitchFamily="18" charset="0"/>
                <a:cs typeface="Times New Roman" panose="02020603050405020304" pitchFamily="18" charset="0"/>
              </a:rPr>
              <a:t>Use the tuck float to check buoyancy</a:t>
            </a:r>
          </a:p>
          <a:p>
            <a:pPr>
              <a:buFont typeface="Wingdings" panose="05000000000000000000" pitchFamily="2" charset="2"/>
              <a:buChar char="Ø"/>
            </a:pPr>
            <a:r>
              <a:rPr lang="en-US" sz="3600" dirty="0" smtClean="0">
                <a:latin typeface="Times New Roman" panose="02020603050405020304" pitchFamily="18" charset="0"/>
                <a:cs typeface="Times New Roman" panose="02020603050405020304" pitchFamily="18" charset="0"/>
              </a:rPr>
              <a:t>In chest-deep float, submerge to the neck, take a deep breath and hold it </a:t>
            </a:r>
          </a:p>
          <a:p>
            <a:pPr>
              <a:buFont typeface="Wingdings" panose="05000000000000000000" pitchFamily="2" charset="2"/>
              <a:buChar char="Ø"/>
            </a:pPr>
            <a:r>
              <a:rPr lang="en-US" sz="3600" dirty="0">
                <a:latin typeface="Times New Roman" panose="02020603050405020304" pitchFamily="18" charset="0"/>
                <a:cs typeface="Times New Roman" panose="02020603050405020304" pitchFamily="18" charset="0"/>
              </a:rPr>
              <a:t>Bend forward at the waist and put the head face down in the water with the chin on the chest</a:t>
            </a:r>
          </a:p>
          <a:p>
            <a:pPr>
              <a:buFont typeface="Wingdings" panose="05000000000000000000" pitchFamily="2" charset="2"/>
              <a:buChar char="Ø"/>
            </a:pPr>
            <a:r>
              <a:rPr lang="en-US" sz="3600" dirty="0">
                <a:latin typeface="Times New Roman" panose="02020603050405020304" pitchFamily="18" charset="0"/>
                <a:cs typeface="Times New Roman" panose="02020603050405020304" pitchFamily="18" charset="0"/>
              </a:rPr>
              <a:t>Flex the hips and bring the knees to the chest </a:t>
            </a:r>
          </a:p>
          <a:p>
            <a:pPr>
              <a:buFont typeface="Wingdings" panose="05000000000000000000" pitchFamily="2" charset="2"/>
              <a:buChar char="Ø"/>
            </a:pPr>
            <a:r>
              <a:rPr lang="en-US" sz="3600" dirty="0">
                <a:latin typeface="Times New Roman" panose="02020603050405020304" pitchFamily="18" charset="0"/>
                <a:cs typeface="Times New Roman" panose="02020603050405020304" pitchFamily="18" charset="0"/>
              </a:rPr>
              <a:t>Hold on the legs at the mid-calf</a:t>
            </a:r>
          </a:p>
          <a:p>
            <a:pPr>
              <a:buFont typeface="Wingdings" panose="05000000000000000000" pitchFamily="2" charset="2"/>
              <a:buChar char="Ø"/>
            </a:pPr>
            <a:r>
              <a:rPr lang="en-US" sz="3600" dirty="0">
                <a:latin typeface="Times New Roman" panose="02020603050405020304" pitchFamily="18" charset="0"/>
                <a:cs typeface="Times New Roman" panose="02020603050405020304" pitchFamily="18" charset="0"/>
              </a:rPr>
              <a:t>Continue holding the breath and relax as much as possible </a:t>
            </a:r>
          </a:p>
          <a:p>
            <a:pPr>
              <a:buFont typeface="Wingdings" panose="05000000000000000000" pitchFamily="2" charset="2"/>
              <a:buChar char="Ø"/>
            </a:pPr>
            <a:r>
              <a:rPr lang="en-US" sz="3600" dirty="0">
                <a:latin typeface="Times New Roman" panose="02020603050405020304" pitchFamily="18" charset="0"/>
                <a:cs typeface="Times New Roman" panose="02020603050405020304" pitchFamily="18" charset="0"/>
              </a:rPr>
              <a:t>Allow the body to rise to the surface </a:t>
            </a:r>
          </a:p>
          <a:p>
            <a:pPr>
              <a:buFont typeface="Wingdings" panose="05000000000000000000" pitchFamily="2" charset="2"/>
              <a:buChar char="Ø"/>
            </a:pPr>
            <a:r>
              <a:rPr lang="en-US" sz="3600" dirty="0">
                <a:latin typeface="Times New Roman" panose="02020603050405020304" pitchFamily="18" charset="0"/>
                <a:cs typeface="Times New Roman" panose="02020603050405020304" pitchFamily="18" charset="0"/>
              </a:rPr>
              <a:t>To recover, let go of the legs , exhale slowly and stand up</a:t>
            </a:r>
          </a:p>
          <a:p>
            <a:pPr>
              <a:buFont typeface="Wingdings" panose="05000000000000000000" pitchFamily="2" charset="2"/>
              <a:buChar char="Ø"/>
            </a:pPr>
            <a:endParaRPr lang="en-US" sz="2800" dirty="0" smtClean="0">
              <a:latin typeface="Times New Roman" panose="02020603050405020304" pitchFamily="18" charset="0"/>
              <a:cs typeface="Times New Roman" panose="02020603050405020304" pitchFamily="18" charset="0"/>
            </a:endParaRPr>
          </a:p>
        </p:txBody>
      </p:sp>
      <p:pic>
        <p:nvPicPr>
          <p:cNvPr id="112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17931" y="333613"/>
            <a:ext cx="2974057" cy="125527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126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16192" y="5034117"/>
            <a:ext cx="2975808" cy="182388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009489597"/>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07559" y="176143"/>
            <a:ext cx="9720072" cy="846541"/>
          </a:xfrm>
        </p:spPr>
        <p:txBody>
          <a:bodyPr>
            <a:noAutofit/>
          </a:bodyPr>
          <a:lstStyle/>
          <a:p>
            <a:r>
              <a:rPr lang="en-US" b="1" dirty="0">
                <a:latin typeface="Times New Roman" panose="02020603050405020304" pitchFamily="18" charset="0"/>
                <a:cs typeface="Times New Roman" panose="02020603050405020304" pitchFamily="18" charset="0"/>
              </a:rPr>
              <a:t>BASIC AQUATIC </a:t>
            </a:r>
            <a:r>
              <a:rPr lang="en-US" b="1" dirty="0" smtClean="0">
                <a:latin typeface="Times New Roman" panose="02020603050405020304" pitchFamily="18" charset="0"/>
                <a:cs typeface="Times New Roman" panose="02020603050405020304" pitchFamily="18" charset="0"/>
              </a:rPr>
              <a:t>SKILLS</a:t>
            </a:r>
            <a:endParaRPr lang="en-US" sz="3600" b="1" dirty="0"/>
          </a:p>
        </p:txBody>
      </p:sp>
      <p:sp>
        <p:nvSpPr>
          <p:cNvPr id="3" name="Content Placeholder 2"/>
          <p:cNvSpPr>
            <a:spLocks noGrp="1"/>
          </p:cNvSpPr>
          <p:nvPr>
            <p:ph idx="1"/>
          </p:nvPr>
        </p:nvSpPr>
        <p:spPr>
          <a:xfrm>
            <a:off x="584652" y="1331757"/>
            <a:ext cx="11136573" cy="4421875"/>
          </a:xfrm>
        </p:spPr>
        <p:txBody>
          <a:bodyPr numCol="1">
            <a:noAutofit/>
          </a:bodyPr>
          <a:lstStyle/>
          <a:p>
            <a:pPr algn="just">
              <a:buFont typeface="Courier New" panose="02070309020205020404" pitchFamily="49" charset="0"/>
              <a:buChar char="o"/>
            </a:pPr>
            <a:r>
              <a:rPr lang="en-US" sz="2800" dirty="0" smtClean="0">
                <a:latin typeface="Times New Roman" panose="02020603050405020304" pitchFamily="18" charset="0"/>
                <a:cs typeface="Times New Roman" panose="02020603050405020304" pitchFamily="18" charset="0"/>
              </a:rPr>
              <a:t>Front float</a:t>
            </a:r>
          </a:p>
          <a:p>
            <a:pPr algn="just">
              <a:buFont typeface="Wingdings" panose="05000000000000000000" pitchFamily="2" charset="2"/>
              <a:buChar char="Ø"/>
            </a:pPr>
            <a:r>
              <a:rPr lang="en-US" sz="2800" dirty="0" smtClean="0">
                <a:latin typeface="Times New Roman" panose="02020603050405020304" pitchFamily="18" charset="0"/>
                <a:cs typeface="Times New Roman" panose="02020603050405020304" pitchFamily="18" charset="0"/>
              </a:rPr>
              <a:t>The front or prone float helps beginning swimmers become more comfortable in a horizontal position</a:t>
            </a:r>
          </a:p>
          <a:p>
            <a:pPr algn="just">
              <a:buFont typeface="Wingdings" panose="05000000000000000000" pitchFamily="2" charset="2"/>
              <a:buChar char="Ø"/>
            </a:pPr>
            <a:r>
              <a:rPr lang="en-US" sz="2800" dirty="0" smtClean="0">
                <a:latin typeface="Times New Roman" panose="02020603050405020304" pitchFamily="18" charset="0"/>
                <a:cs typeface="Times New Roman" panose="02020603050405020304" pitchFamily="18" charset="0"/>
              </a:rPr>
              <a:t>It is easier to learn this skill in water that is shallow enough to reach the bottom surface with the hands </a:t>
            </a:r>
          </a:p>
          <a:p>
            <a:pPr algn="just">
              <a:buFont typeface="Wingdings" panose="05000000000000000000" pitchFamily="2" charset="2"/>
              <a:buChar char="Ø"/>
            </a:pPr>
            <a:r>
              <a:rPr lang="en-US" sz="2800" dirty="0" smtClean="0">
                <a:latin typeface="Times New Roman" panose="02020603050405020304" pitchFamily="18" charset="0"/>
                <a:cs typeface="Times New Roman" panose="02020603050405020304" pitchFamily="18" charset="0"/>
              </a:rPr>
              <a:t>However it may be difficult for some swimmers to keep their toes off the bottom in this situation because the water is not deep enough for the body to rotate into its natural floating position</a:t>
            </a:r>
          </a:p>
          <a:p>
            <a:pPr marL="0" indent="0" algn="just">
              <a:buNone/>
            </a:pPr>
            <a:endParaRPr lang="en-US" sz="2800" dirty="0" smtClean="0">
              <a:latin typeface="Times New Roman" panose="02020603050405020304" pitchFamily="18" charset="0"/>
              <a:cs typeface="Times New Roman" panose="02020603050405020304" pitchFamily="18" charset="0"/>
            </a:endParaRPr>
          </a:p>
          <a:p>
            <a:pPr algn="just">
              <a:buFont typeface="Courier New" panose="02070309020205020404" pitchFamily="49" charset="0"/>
              <a:buChar char="o"/>
            </a:pPr>
            <a:r>
              <a:rPr lang="en-US" sz="2800" dirty="0" smtClean="0">
                <a:latin typeface="Times New Roman" panose="02020603050405020304" pitchFamily="18" charset="0"/>
                <a:cs typeface="Times New Roman" panose="02020603050405020304" pitchFamily="18" charset="0"/>
              </a:rPr>
              <a:t>Learn the front float in shallow water</a:t>
            </a:r>
          </a:p>
          <a:p>
            <a:pPr algn="just">
              <a:buFont typeface="Wingdings" panose="05000000000000000000" pitchFamily="2" charset="2"/>
              <a:buChar char="Ø"/>
            </a:pPr>
            <a:r>
              <a:rPr lang="en-US" sz="2800" dirty="0" smtClean="0">
                <a:latin typeface="Times New Roman" panose="02020603050405020304" pitchFamily="18" charset="0"/>
                <a:cs typeface="Times New Roman" panose="02020603050405020304" pitchFamily="18" charset="0"/>
              </a:rPr>
              <a:t>Start by lying face down with the hands on the bottom surface</a:t>
            </a:r>
          </a:p>
        </p:txBody>
      </p:sp>
      <p:pic>
        <p:nvPicPr>
          <p:cNvPr id="122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55241" y="938465"/>
            <a:ext cx="3098383" cy="134753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229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55241" y="2286001"/>
            <a:ext cx="3098383" cy="133550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213289186"/>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07559" y="176143"/>
            <a:ext cx="9720072" cy="846541"/>
          </a:xfrm>
        </p:spPr>
        <p:txBody>
          <a:bodyPr>
            <a:noAutofit/>
          </a:bodyPr>
          <a:lstStyle/>
          <a:p>
            <a:r>
              <a:rPr lang="en-US" b="1" dirty="0">
                <a:latin typeface="Times New Roman" panose="02020603050405020304" pitchFamily="18" charset="0"/>
                <a:cs typeface="Times New Roman" panose="02020603050405020304" pitchFamily="18" charset="0"/>
              </a:rPr>
              <a:t>BASIC AQUATIC </a:t>
            </a:r>
            <a:r>
              <a:rPr lang="en-US" b="1" dirty="0" smtClean="0">
                <a:latin typeface="Times New Roman" panose="02020603050405020304" pitchFamily="18" charset="0"/>
                <a:cs typeface="Times New Roman" panose="02020603050405020304" pitchFamily="18" charset="0"/>
              </a:rPr>
              <a:t>SKILLS</a:t>
            </a:r>
            <a:endParaRPr lang="en-US" sz="3600" b="1" dirty="0"/>
          </a:p>
        </p:txBody>
      </p:sp>
      <p:sp>
        <p:nvSpPr>
          <p:cNvPr id="3" name="Content Placeholder 2"/>
          <p:cNvSpPr>
            <a:spLocks noGrp="1"/>
          </p:cNvSpPr>
          <p:nvPr>
            <p:ph idx="1"/>
          </p:nvPr>
        </p:nvSpPr>
        <p:spPr>
          <a:xfrm>
            <a:off x="584652" y="1331757"/>
            <a:ext cx="11136573" cy="4421875"/>
          </a:xfrm>
        </p:spPr>
        <p:txBody>
          <a:bodyPr numCol="1">
            <a:noAutofit/>
          </a:bodyPr>
          <a:lstStyle/>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Take a breath and then put the face in the water until the ears are covered</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Slowly lift the hands off the bottom</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Relax and extend the arms in the water above</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Gently blow out some air through the nose to keep the nose from filling water</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If the toes are still on the bottom, relax the legs and gently push up off the bottom to get the toes to rise</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Recover, exhale slowly, lift the head and press down with arms, pull the knees under the body toward the chest and place the feet on the bottom then stand up </a:t>
            </a:r>
          </a:p>
          <a:p>
            <a:pPr algn="just">
              <a:buFont typeface="Courier New" panose="02070309020205020404" pitchFamily="49" charset="0"/>
              <a:buChar char="o"/>
            </a:pPr>
            <a:endParaRPr lang="en-US" sz="2800" dirty="0" smtClean="0">
              <a:latin typeface="Times New Roman" panose="02020603050405020304" pitchFamily="18" charset="0"/>
              <a:cs typeface="Times New Roman" panose="02020603050405020304" pitchFamily="18" charset="0"/>
            </a:endParaRPr>
          </a:p>
        </p:txBody>
      </p:sp>
      <p:pic>
        <p:nvPicPr>
          <p:cNvPr id="122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55241" y="938465"/>
            <a:ext cx="3098383" cy="134753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229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55241" y="2286001"/>
            <a:ext cx="3098383" cy="133550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213289186"/>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3654" y="103953"/>
            <a:ext cx="9720072" cy="1171394"/>
          </a:xfrm>
        </p:spPr>
        <p:txBody>
          <a:bodyPr>
            <a:noAutofit/>
          </a:bodyPr>
          <a:lstStyle/>
          <a:p>
            <a:r>
              <a:rPr lang="en-US" b="1" dirty="0">
                <a:latin typeface="Times New Roman" panose="02020603050405020304" pitchFamily="18" charset="0"/>
                <a:cs typeface="Times New Roman" panose="02020603050405020304" pitchFamily="18" charset="0"/>
              </a:rPr>
              <a:t>BASIC AQUATIC </a:t>
            </a:r>
            <a:r>
              <a:rPr lang="en-US" b="1" dirty="0" smtClean="0">
                <a:latin typeface="Times New Roman" panose="02020603050405020304" pitchFamily="18" charset="0"/>
                <a:cs typeface="Times New Roman" panose="02020603050405020304" pitchFamily="18" charset="0"/>
              </a:rPr>
              <a:t>SKILLS</a:t>
            </a:r>
            <a:endParaRPr lang="en-US" sz="3600" dirty="0"/>
          </a:p>
        </p:txBody>
      </p:sp>
      <p:sp>
        <p:nvSpPr>
          <p:cNvPr id="3" name="Content Placeholder 2"/>
          <p:cNvSpPr>
            <a:spLocks noGrp="1"/>
          </p:cNvSpPr>
          <p:nvPr>
            <p:ph idx="1"/>
          </p:nvPr>
        </p:nvSpPr>
        <p:spPr>
          <a:xfrm>
            <a:off x="383458" y="1460309"/>
            <a:ext cx="8711381" cy="5145027"/>
          </a:xfrm>
        </p:spPr>
        <p:txBody>
          <a:bodyPr numCol="1">
            <a:noAutofit/>
          </a:bodyPr>
          <a:lstStyle/>
          <a:p>
            <a:pPr algn="just">
              <a:buFont typeface="Courier New" panose="02070309020205020404" pitchFamily="49" charset="0"/>
              <a:buChar char="o"/>
            </a:pPr>
            <a:r>
              <a:rPr lang="en-US" sz="2800" dirty="0" smtClean="0">
                <a:latin typeface="Times New Roman" panose="02020603050405020304" pitchFamily="18" charset="0"/>
                <a:cs typeface="Times New Roman" panose="02020603050405020304" pitchFamily="18" charset="0"/>
              </a:rPr>
              <a:t>Learn the front float in chest deep water</a:t>
            </a:r>
          </a:p>
          <a:p>
            <a:pPr algn="just">
              <a:buFont typeface="Wingdings" panose="05000000000000000000" pitchFamily="2" charset="2"/>
              <a:buChar char="Ø"/>
            </a:pPr>
            <a:r>
              <a:rPr lang="en-US" sz="2800" dirty="0" smtClean="0">
                <a:latin typeface="Times New Roman" panose="02020603050405020304" pitchFamily="18" charset="0"/>
                <a:cs typeface="Times New Roman" panose="02020603050405020304" pitchFamily="18" charset="0"/>
              </a:rPr>
              <a:t>Start by submerging to the neck in chest deep water with the arms extended and the palms facing down</a:t>
            </a:r>
          </a:p>
          <a:p>
            <a:pPr algn="just">
              <a:buFont typeface="Wingdings" panose="05000000000000000000" pitchFamily="2" charset="2"/>
              <a:buChar char="Ø"/>
            </a:pPr>
            <a:r>
              <a:rPr lang="en-US" sz="2800" dirty="0" smtClean="0">
                <a:latin typeface="Times New Roman" panose="02020603050405020304" pitchFamily="18" charset="0"/>
                <a:cs typeface="Times New Roman" panose="02020603050405020304" pitchFamily="18" charset="0"/>
              </a:rPr>
              <a:t>Take a breath then lean forward and put the face in the water until the ears are covered</a:t>
            </a:r>
          </a:p>
          <a:p>
            <a:pPr algn="just">
              <a:buFont typeface="Wingdings" panose="05000000000000000000" pitchFamily="2" charset="2"/>
              <a:buChar char="Ø"/>
            </a:pPr>
            <a:r>
              <a:rPr lang="en-US" sz="2800" dirty="0" smtClean="0">
                <a:latin typeface="Times New Roman" panose="02020603050405020304" pitchFamily="18" charset="0"/>
                <a:cs typeface="Times New Roman" panose="02020603050405020304" pitchFamily="18" charset="0"/>
              </a:rPr>
              <a:t>Gently push off the bottom and let the feet and legs float to the surface</a:t>
            </a:r>
          </a:p>
          <a:p>
            <a:pPr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Relax and extend the arms in the water above the head</a:t>
            </a:r>
          </a:p>
          <a:p>
            <a:pPr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To keep the nose from filling with water, gently blow out some air through the nose</a:t>
            </a:r>
          </a:p>
          <a:p>
            <a:pPr algn="just">
              <a:buFont typeface="Wingdings" panose="05000000000000000000" pitchFamily="2" charset="2"/>
              <a:buChar char="Ø"/>
            </a:pPr>
            <a:endParaRPr lang="en-US" sz="2800" dirty="0" smtClean="0">
              <a:latin typeface="Times New Roman" panose="02020603050405020304" pitchFamily="18" charset="0"/>
              <a:cs typeface="Times New Roman" panose="02020603050405020304" pitchFamily="18" charset="0"/>
            </a:endParaRPr>
          </a:p>
        </p:txBody>
      </p:sp>
      <p:pic>
        <p:nvPicPr>
          <p:cNvPr id="1843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94839" y="264694"/>
            <a:ext cx="2885480" cy="2021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 name="Picture 3"/>
          <p:cNvPicPr>
            <a:picLocks noChangeAspect="1"/>
          </p:cNvPicPr>
          <p:nvPr/>
        </p:nvPicPr>
        <p:blipFill>
          <a:blip r:embed="rId3"/>
          <a:stretch>
            <a:fillRect/>
          </a:stretch>
        </p:blipFill>
        <p:spPr>
          <a:xfrm>
            <a:off x="9173496" y="4912567"/>
            <a:ext cx="3018503" cy="1877731"/>
          </a:xfrm>
          <a:prstGeom prst="rect">
            <a:avLst/>
          </a:prstGeom>
        </p:spPr>
      </p:pic>
    </p:spTree>
    <p:extLst>
      <p:ext uri="{BB962C8B-B14F-4D97-AF65-F5344CB8AC3E}">
        <p14:creationId xmlns:p14="http://schemas.microsoft.com/office/powerpoint/2010/main" val="1182462185"/>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3654" y="103953"/>
            <a:ext cx="9720072" cy="1171394"/>
          </a:xfrm>
        </p:spPr>
        <p:txBody>
          <a:bodyPr>
            <a:noAutofit/>
          </a:bodyPr>
          <a:lstStyle/>
          <a:p>
            <a:r>
              <a:rPr lang="en-US" b="1" dirty="0">
                <a:latin typeface="Times New Roman" panose="02020603050405020304" pitchFamily="18" charset="0"/>
                <a:cs typeface="Times New Roman" panose="02020603050405020304" pitchFamily="18" charset="0"/>
              </a:rPr>
              <a:t>BASIC AQUATIC </a:t>
            </a:r>
            <a:r>
              <a:rPr lang="en-US" b="1" dirty="0" smtClean="0">
                <a:latin typeface="Times New Roman" panose="02020603050405020304" pitchFamily="18" charset="0"/>
                <a:cs typeface="Times New Roman" panose="02020603050405020304" pitchFamily="18" charset="0"/>
              </a:rPr>
              <a:t>SKILLS</a:t>
            </a:r>
            <a:endParaRPr lang="en-US" sz="3600" dirty="0"/>
          </a:p>
        </p:txBody>
      </p:sp>
      <p:sp>
        <p:nvSpPr>
          <p:cNvPr id="3" name="Content Placeholder 2"/>
          <p:cNvSpPr>
            <a:spLocks noGrp="1"/>
          </p:cNvSpPr>
          <p:nvPr>
            <p:ph idx="1"/>
          </p:nvPr>
        </p:nvSpPr>
        <p:spPr>
          <a:xfrm>
            <a:off x="383458" y="1460309"/>
            <a:ext cx="8711381" cy="5145027"/>
          </a:xfrm>
        </p:spPr>
        <p:txBody>
          <a:bodyPr numCol="1">
            <a:noAutofit/>
          </a:bodyPr>
          <a:lstStyle/>
          <a:p>
            <a:pPr lvl="0" algn="just">
              <a:buFont typeface="Wingdings" panose="05000000000000000000" pitchFamily="2" charset="2"/>
              <a:buChar char="Ø"/>
            </a:pPr>
            <a:r>
              <a:rPr lang="en-US" dirty="0">
                <a:solidFill>
                  <a:prstClr val="black"/>
                </a:solidFill>
                <a:latin typeface="Times New Roman" panose="02020603050405020304" pitchFamily="18" charset="0"/>
                <a:cs typeface="Times New Roman" panose="02020603050405020304" pitchFamily="18" charset="0"/>
              </a:rPr>
              <a:t>If the toes are still on the bottom, relax the legs and gently push up off the bottom to get the toes to rise</a:t>
            </a:r>
          </a:p>
          <a:p>
            <a:pPr lvl="0" algn="just">
              <a:buFont typeface="Wingdings" panose="05000000000000000000" pitchFamily="2" charset="2"/>
              <a:buChar char="Ø"/>
            </a:pPr>
            <a:r>
              <a:rPr lang="en-US" dirty="0">
                <a:solidFill>
                  <a:prstClr val="black"/>
                </a:solidFill>
                <a:latin typeface="Times New Roman" panose="02020603050405020304" pitchFamily="18" charset="0"/>
                <a:cs typeface="Times New Roman" panose="02020603050405020304" pitchFamily="18" charset="0"/>
              </a:rPr>
              <a:t>To recover, exhale slowly, lift the head, press down with arms, pull the knees under the body toward the chest and place the feet on the bottom to stand up</a:t>
            </a:r>
          </a:p>
          <a:p>
            <a:pPr algn="just">
              <a:buFont typeface="Wingdings" panose="05000000000000000000" pitchFamily="2" charset="2"/>
              <a:buChar char="Ø"/>
            </a:pPr>
            <a:endParaRPr lang="en-US" sz="2800" dirty="0" smtClean="0">
              <a:latin typeface="Times New Roman" panose="02020603050405020304" pitchFamily="18" charset="0"/>
              <a:cs typeface="Times New Roman" panose="02020603050405020304" pitchFamily="18" charset="0"/>
            </a:endParaRPr>
          </a:p>
        </p:txBody>
      </p:sp>
      <p:pic>
        <p:nvPicPr>
          <p:cNvPr id="1843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94839" y="264694"/>
            <a:ext cx="2885480" cy="2021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 name="Picture 3"/>
          <p:cNvPicPr>
            <a:picLocks noChangeAspect="1"/>
          </p:cNvPicPr>
          <p:nvPr/>
        </p:nvPicPr>
        <p:blipFill>
          <a:blip r:embed="rId3"/>
          <a:stretch>
            <a:fillRect/>
          </a:stretch>
        </p:blipFill>
        <p:spPr>
          <a:xfrm>
            <a:off x="9173496" y="4912567"/>
            <a:ext cx="3018503" cy="1877731"/>
          </a:xfrm>
          <a:prstGeom prst="rect">
            <a:avLst/>
          </a:prstGeom>
        </p:spPr>
      </p:pic>
    </p:spTree>
    <p:extLst>
      <p:ext uri="{BB962C8B-B14F-4D97-AF65-F5344CB8AC3E}">
        <p14:creationId xmlns:p14="http://schemas.microsoft.com/office/powerpoint/2010/main" val="1182462185"/>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591" y="106287"/>
            <a:ext cx="9720072" cy="1123269"/>
          </a:xfrm>
        </p:spPr>
        <p:txBody>
          <a:bodyPr>
            <a:noAutofit/>
          </a:bodyPr>
          <a:lstStyle/>
          <a:p>
            <a:r>
              <a:rPr lang="en-US" b="1" dirty="0" smtClean="0">
                <a:latin typeface="Times New Roman" panose="02020603050405020304" pitchFamily="18" charset="0"/>
                <a:cs typeface="Times New Roman" panose="02020603050405020304" pitchFamily="18" charset="0"/>
              </a:rPr>
              <a:t>BASIC AQUATIC SKILLS</a:t>
            </a:r>
            <a:endParaRPr lang="en-US" sz="3600" dirty="0"/>
          </a:p>
        </p:txBody>
      </p:sp>
      <p:sp>
        <p:nvSpPr>
          <p:cNvPr id="3" name="Content Placeholder 2"/>
          <p:cNvSpPr>
            <a:spLocks noGrp="1"/>
          </p:cNvSpPr>
          <p:nvPr>
            <p:ph idx="1"/>
          </p:nvPr>
        </p:nvSpPr>
        <p:spPr>
          <a:xfrm>
            <a:off x="436728" y="1351129"/>
            <a:ext cx="11409529" cy="5308978"/>
          </a:xfrm>
        </p:spPr>
        <p:txBody>
          <a:bodyPr>
            <a:noAutofit/>
          </a:bodyPr>
          <a:lstStyle/>
          <a:p>
            <a:pPr algn="just"/>
            <a:r>
              <a:rPr lang="en-US" dirty="0">
                <a:solidFill>
                  <a:prstClr val="black"/>
                </a:solidFill>
                <a:latin typeface="Times New Roman" panose="02020603050405020304" pitchFamily="18" charset="0"/>
                <a:ea typeface="+mj-ea"/>
                <a:cs typeface="Times New Roman" panose="02020603050405020304" pitchFamily="18" charset="0"/>
              </a:rPr>
              <a:t>BASIC MOVEMENT IN THE WATER </a:t>
            </a:r>
            <a:endParaRPr lang="en-US" dirty="0" smtClean="0">
              <a:solidFill>
                <a:prstClr val="black"/>
              </a:solidFill>
              <a:latin typeface="Times New Roman" panose="02020603050405020304" pitchFamily="18" charset="0"/>
              <a:ea typeface="+mj-ea"/>
              <a:cs typeface="Times New Roman" panose="02020603050405020304" pitchFamily="18" charset="0"/>
            </a:endParaRPr>
          </a:p>
          <a:p>
            <a:pPr algn="just">
              <a:buFont typeface="Wingdings" panose="05000000000000000000" pitchFamily="2" charset="2"/>
              <a:buChar char="ü"/>
            </a:pPr>
            <a:r>
              <a:rPr lang="en-US" dirty="0" smtClean="0">
                <a:latin typeface="Times New Roman" panose="02020603050405020304" pitchFamily="18" charset="0"/>
                <a:cs typeface="Times New Roman" panose="02020603050405020304" pitchFamily="18" charset="0"/>
              </a:rPr>
              <a:t>Basic movements in the water includes gliding, finning, sculling and treading water.</a:t>
            </a:r>
          </a:p>
          <a:p>
            <a:pPr algn="just">
              <a:buFont typeface="Wingdings" panose="05000000000000000000" pitchFamily="2" charset="2"/>
              <a:buChar char="ü"/>
            </a:pPr>
            <a:r>
              <a:rPr lang="en-US" dirty="0" smtClean="0">
                <a:latin typeface="Times New Roman" panose="02020603050405020304" pitchFamily="18" charset="0"/>
                <a:cs typeface="Times New Roman" panose="02020603050405020304" pitchFamily="18" charset="0"/>
              </a:rPr>
              <a:t>Learning the skills gives swimmers the ability to move efficiently through water</a:t>
            </a:r>
          </a:p>
          <a:p>
            <a:pPr algn="just">
              <a:buFont typeface="Wingdings" panose="05000000000000000000" pitchFamily="2" charset="2"/>
              <a:buChar char="ü"/>
            </a:pPr>
            <a:r>
              <a:rPr lang="en-US" dirty="0" smtClean="0">
                <a:latin typeface="Times New Roman" panose="02020603050405020304" pitchFamily="18" charset="0"/>
                <a:cs typeface="Times New Roman" panose="02020603050405020304" pitchFamily="18" charset="0"/>
              </a:rPr>
              <a:t>Finning and sculling are the basic skills necessary for creating movement or staying in position</a:t>
            </a:r>
          </a:p>
          <a:p>
            <a:pPr algn="just">
              <a:buFont typeface="Wingdings" panose="05000000000000000000" pitchFamily="2" charset="2"/>
              <a:buChar char="ü"/>
            </a:pPr>
            <a:r>
              <a:rPr lang="en-US" dirty="0" smtClean="0">
                <a:latin typeface="Times New Roman" panose="02020603050405020304" pitchFamily="18" charset="0"/>
                <a:cs typeface="Times New Roman" panose="02020603050405020304" pitchFamily="18" charset="0"/>
              </a:rPr>
              <a:t>Swimmers who are able to tread water can remain in place with their head above water </a:t>
            </a:r>
          </a:p>
          <a:p>
            <a:pPr algn="just">
              <a:buFont typeface="Wingdings" panose="05000000000000000000" pitchFamily="2" charset="2"/>
              <a:buChar char="ü"/>
            </a:pPr>
            <a:r>
              <a:rPr lang="en-US" dirty="0" smtClean="0">
                <a:latin typeface="Times New Roman" panose="02020603050405020304" pitchFamily="18" charset="0"/>
                <a:cs typeface="Times New Roman" panose="02020603050405020304" pitchFamily="18" charset="0"/>
              </a:rPr>
              <a:t>Gliding, finning, sculling and treading are essential survival skills</a:t>
            </a:r>
          </a:p>
          <a:p>
            <a:pPr algn="just">
              <a:buFont typeface="Wingdings" panose="05000000000000000000" pitchFamily="2" charset="2"/>
              <a:buChar char="ü"/>
            </a:pPr>
            <a:r>
              <a:rPr lang="en-US" dirty="0" smtClean="0">
                <a:latin typeface="Times New Roman" panose="02020603050405020304" pitchFamily="18" charset="0"/>
                <a:cs typeface="Times New Roman" panose="02020603050405020304" pitchFamily="18" charset="0"/>
              </a:rPr>
              <a:t>Swimmers can use these skills to move through the water with direction and reach safety in an emergency</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4388562"/>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55686" y="115985"/>
            <a:ext cx="9720072" cy="1099204"/>
          </a:xfrm>
        </p:spPr>
        <p:txBody>
          <a:bodyPr>
            <a:normAutofit/>
          </a:bodyPr>
          <a:lstStyle/>
          <a:p>
            <a:r>
              <a:rPr lang="en-US" sz="4900" b="1" dirty="0" smtClean="0">
                <a:latin typeface="Times New Roman" panose="02020603050405020304" pitchFamily="18" charset="0"/>
                <a:cs typeface="Times New Roman" panose="02020603050405020304" pitchFamily="18" charset="0"/>
              </a:rPr>
              <a:t>BASIC AQUATIC SKILLS</a:t>
            </a:r>
            <a:endParaRPr lang="en-US" dirty="0"/>
          </a:p>
        </p:txBody>
      </p:sp>
      <p:sp>
        <p:nvSpPr>
          <p:cNvPr id="3" name="Content Placeholder 2"/>
          <p:cNvSpPr>
            <a:spLocks noGrp="1"/>
          </p:cNvSpPr>
          <p:nvPr>
            <p:ph idx="1"/>
          </p:nvPr>
        </p:nvSpPr>
        <p:spPr>
          <a:xfrm>
            <a:off x="422787" y="1031739"/>
            <a:ext cx="8701542" cy="5402179"/>
          </a:xfrm>
        </p:spPr>
        <p:txBody>
          <a:bodyPr>
            <a:normAutofit fontScale="25000" lnSpcReduction="20000"/>
          </a:bodyPr>
          <a:lstStyle/>
          <a:p>
            <a:r>
              <a:rPr lang="en-US" sz="11200" b="1" dirty="0">
                <a:latin typeface="Times New Roman" panose="02020603050405020304" pitchFamily="18" charset="0"/>
                <a:cs typeface="Times New Roman" panose="02020603050405020304" pitchFamily="18" charset="0"/>
              </a:rPr>
              <a:t>BASIC MOVEMENT IN THE WATER; </a:t>
            </a:r>
            <a:r>
              <a:rPr lang="en-US" sz="11200" b="1" dirty="0" smtClean="0">
                <a:latin typeface="Times New Roman" panose="02020603050405020304" pitchFamily="18" charset="0"/>
                <a:cs typeface="Times New Roman" panose="02020603050405020304" pitchFamily="18" charset="0"/>
              </a:rPr>
              <a:t>GLIDING</a:t>
            </a:r>
          </a:p>
          <a:p>
            <a:pPr>
              <a:buFont typeface="Wingdings" panose="05000000000000000000" pitchFamily="2" charset="2"/>
              <a:buChar char="ü"/>
            </a:pPr>
            <a:r>
              <a:rPr lang="en-US" sz="11200" dirty="0" smtClean="0">
                <a:latin typeface="Times New Roman" panose="02020603050405020304" pitchFamily="18" charset="0"/>
                <a:cs typeface="Times New Roman" panose="02020603050405020304" pitchFamily="18" charset="0"/>
              </a:rPr>
              <a:t>Gliding involves moving through the water in a horizontal position</a:t>
            </a:r>
          </a:p>
          <a:p>
            <a:pPr marL="0" indent="0">
              <a:buNone/>
            </a:pPr>
            <a:r>
              <a:rPr lang="en-US" sz="11200" dirty="0" smtClean="0">
                <a:latin typeface="Times New Roman" panose="02020603050405020304" pitchFamily="18" charset="0"/>
                <a:cs typeface="Times New Roman" panose="02020603050405020304" pitchFamily="18" charset="0"/>
              </a:rPr>
              <a:t> </a:t>
            </a:r>
            <a:r>
              <a:rPr lang="en-US" sz="11200" dirty="0" smtClean="0">
                <a:solidFill>
                  <a:schemeClr val="bg1"/>
                </a:solidFill>
                <a:latin typeface="Times New Roman" panose="02020603050405020304" pitchFamily="18" charset="0"/>
                <a:cs typeface="Times New Roman" panose="02020603050405020304" pitchFamily="18" charset="0"/>
              </a:rPr>
              <a:t>a streamlined position</a:t>
            </a:r>
          </a:p>
          <a:p>
            <a:pPr>
              <a:buFont typeface="Wingdings" panose="05000000000000000000" pitchFamily="2" charset="2"/>
              <a:buChar char="ü"/>
            </a:pPr>
            <a:r>
              <a:rPr lang="en-US" sz="11200" dirty="0" smtClean="0">
                <a:latin typeface="Times New Roman" panose="02020603050405020304" pitchFamily="18" charset="0"/>
                <a:cs typeface="Times New Roman" panose="02020603050405020304" pitchFamily="18" charset="0"/>
              </a:rPr>
              <a:t>The position places the body in a narrow sharp</a:t>
            </a:r>
            <a:r>
              <a:rPr lang="en-US" sz="11200" dirty="0" smtClean="0">
                <a:solidFill>
                  <a:schemeClr val="bg1"/>
                </a:solidFill>
                <a:latin typeface="Times New Roman" panose="02020603050405020304" pitchFamily="18" charset="0"/>
                <a:cs typeface="Times New Roman" panose="02020603050405020304" pitchFamily="18" charset="0"/>
              </a:rPr>
              <a:t> </a:t>
            </a:r>
            <a:r>
              <a:rPr lang="en-US" sz="11200" dirty="0" smtClean="0">
                <a:latin typeface="Times New Roman" panose="02020603050405020304" pitchFamily="18" charset="0"/>
                <a:cs typeface="Times New Roman" panose="02020603050405020304" pitchFamily="18" charset="0"/>
              </a:rPr>
              <a:t>form drag</a:t>
            </a:r>
          </a:p>
          <a:p>
            <a:pPr marL="0" indent="0">
              <a:buNone/>
            </a:pPr>
            <a:endParaRPr lang="en-US" sz="11200"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ü"/>
            </a:pPr>
            <a:r>
              <a:rPr lang="en-US" sz="11200" dirty="0" smtClean="0">
                <a:latin typeface="Times New Roman" panose="02020603050405020304" pitchFamily="18" charset="0"/>
                <a:cs typeface="Times New Roman" panose="02020603050405020304" pitchFamily="18" charset="0"/>
              </a:rPr>
              <a:t>Front glide</a:t>
            </a:r>
          </a:p>
          <a:p>
            <a:pPr>
              <a:buFont typeface="Courier New" panose="02070309020205020404" pitchFamily="49" charset="0"/>
              <a:buChar char="o"/>
            </a:pPr>
            <a:r>
              <a:rPr lang="en-US" sz="11200" dirty="0" smtClean="0">
                <a:latin typeface="Times New Roman" panose="02020603050405020304" pitchFamily="18" charset="0"/>
                <a:cs typeface="Times New Roman" panose="02020603050405020304" pitchFamily="18" charset="0"/>
              </a:rPr>
              <a:t>Begin in the front float position and push off the side or bottom with</a:t>
            </a:r>
            <a:r>
              <a:rPr lang="en-US" sz="11200" dirty="0" smtClean="0">
                <a:solidFill>
                  <a:schemeClr val="bg1"/>
                </a:solidFill>
                <a:latin typeface="Times New Roman" panose="02020603050405020304" pitchFamily="18" charset="0"/>
                <a:cs typeface="Times New Roman" panose="02020603050405020304" pitchFamily="18" charset="0"/>
              </a:rPr>
              <a:t> </a:t>
            </a:r>
            <a:r>
              <a:rPr lang="en-US" sz="11200" dirty="0" smtClean="0">
                <a:latin typeface="Times New Roman" panose="02020603050405020304" pitchFamily="18" charset="0"/>
                <a:cs typeface="Times New Roman" panose="02020603050405020304" pitchFamily="18" charset="0"/>
              </a:rPr>
              <a:t>the feet to move forward in  a streamline position</a:t>
            </a:r>
          </a:p>
          <a:p>
            <a:pPr>
              <a:buFont typeface="Courier New" panose="02070309020205020404" pitchFamily="49" charset="0"/>
              <a:buChar char="o"/>
            </a:pPr>
            <a:endParaRPr lang="en-US" sz="11200" dirty="0" smtClean="0">
              <a:latin typeface="Times New Roman" panose="02020603050405020304" pitchFamily="18" charset="0"/>
              <a:cs typeface="Times New Roman" panose="02020603050405020304" pitchFamily="18" charset="0"/>
            </a:endParaRPr>
          </a:p>
          <a:p>
            <a:pPr>
              <a:buFont typeface="Courier New" panose="02070309020205020404" pitchFamily="49" charset="0"/>
              <a:buChar char="o"/>
            </a:pPr>
            <a:r>
              <a:rPr lang="en-US" sz="11200" dirty="0" smtClean="0">
                <a:latin typeface="Times New Roman" panose="02020603050405020304" pitchFamily="18" charset="0"/>
                <a:cs typeface="Times New Roman" panose="02020603050405020304" pitchFamily="18" charset="0"/>
              </a:rPr>
              <a:t>Glide until momentum slows to swimming speed and then start swimming</a:t>
            </a:r>
          </a:p>
          <a:p>
            <a:pPr>
              <a:buFont typeface="Wingdings" panose="05000000000000000000" pitchFamily="2" charset="2"/>
              <a:buChar char="Ø"/>
            </a:pPr>
            <a:endParaRPr lang="en-US" sz="11200"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US" sz="2600"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US" dirty="0"/>
          </a:p>
        </p:txBody>
      </p:sp>
      <p:pic>
        <p:nvPicPr>
          <p:cNvPr id="1331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947354" y="1227219"/>
            <a:ext cx="3244643" cy="170848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331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24335" y="2839451"/>
            <a:ext cx="3067665" cy="174457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3316"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24332" y="4584032"/>
            <a:ext cx="3067665" cy="180473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967078709"/>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55686" y="115985"/>
            <a:ext cx="9720072" cy="1099204"/>
          </a:xfrm>
        </p:spPr>
        <p:txBody>
          <a:bodyPr>
            <a:normAutofit/>
          </a:bodyPr>
          <a:lstStyle/>
          <a:p>
            <a:r>
              <a:rPr lang="en-US" sz="4900" b="1" dirty="0" smtClean="0">
                <a:latin typeface="Times New Roman" panose="02020603050405020304" pitchFamily="18" charset="0"/>
                <a:cs typeface="Times New Roman" panose="02020603050405020304" pitchFamily="18" charset="0"/>
              </a:rPr>
              <a:t>BASIC AQUATIC SKILLS</a:t>
            </a:r>
            <a:endParaRPr lang="en-US" dirty="0"/>
          </a:p>
        </p:txBody>
      </p:sp>
      <p:sp>
        <p:nvSpPr>
          <p:cNvPr id="3" name="Content Placeholder 2"/>
          <p:cNvSpPr>
            <a:spLocks noGrp="1"/>
          </p:cNvSpPr>
          <p:nvPr>
            <p:ph idx="1"/>
          </p:nvPr>
        </p:nvSpPr>
        <p:spPr>
          <a:xfrm>
            <a:off x="422787" y="1031739"/>
            <a:ext cx="8701542" cy="5402179"/>
          </a:xfrm>
        </p:spPr>
        <p:txBody>
          <a:bodyPr>
            <a:normAutofit/>
          </a:bodyPr>
          <a:lstStyle/>
          <a:p>
            <a:pPr>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Back glide</a:t>
            </a:r>
          </a:p>
          <a:p>
            <a:pPr>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Begin in the back float position and push off the side or bottom with the feet to move forward in a streamlined position</a:t>
            </a:r>
          </a:p>
          <a:p>
            <a:pPr>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Glide until momentum slows to swimming speed and then start swimming</a:t>
            </a:r>
          </a:p>
          <a:p>
            <a:pPr>
              <a:buFont typeface="Wingdings" panose="05000000000000000000" pitchFamily="2" charset="2"/>
              <a:buChar char="Ø"/>
            </a:pPr>
            <a:endParaRPr lang="en-US" dirty="0"/>
          </a:p>
        </p:txBody>
      </p:sp>
      <p:pic>
        <p:nvPicPr>
          <p:cNvPr id="1331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947354" y="1227219"/>
            <a:ext cx="3244643" cy="170848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331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24335" y="2839451"/>
            <a:ext cx="3067665" cy="174457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3316"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24332" y="4584032"/>
            <a:ext cx="3067665" cy="180473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967078709"/>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79749" y="128016"/>
            <a:ext cx="9720072" cy="1195458"/>
          </a:xfrm>
        </p:spPr>
        <p:txBody>
          <a:bodyPr>
            <a:normAutofit/>
          </a:bodyPr>
          <a:lstStyle/>
          <a:p>
            <a:r>
              <a:rPr lang="en-US" sz="4900" b="1" dirty="0" smtClean="0">
                <a:latin typeface="Times New Roman" panose="02020603050405020304" pitchFamily="18" charset="0"/>
                <a:cs typeface="Times New Roman" panose="02020603050405020304" pitchFamily="18" charset="0"/>
              </a:rPr>
              <a:t>BASIC AQUATIC SKILLS</a:t>
            </a:r>
            <a:endParaRPr lang="en-US" dirty="0"/>
          </a:p>
        </p:txBody>
      </p:sp>
      <p:sp>
        <p:nvSpPr>
          <p:cNvPr id="3" name="Content Placeholder 2"/>
          <p:cNvSpPr>
            <a:spLocks noGrp="1"/>
          </p:cNvSpPr>
          <p:nvPr>
            <p:ph idx="1"/>
          </p:nvPr>
        </p:nvSpPr>
        <p:spPr>
          <a:xfrm>
            <a:off x="627797" y="1323473"/>
            <a:ext cx="11136573" cy="5295691"/>
          </a:xfrm>
        </p:spPr>
        <p:txBody>
          <a:bodyPr>
            <a:noAutofit/>
          </a:bodyPr>
          <a:lstStyle/>
          <a:p>
            <a:pPr algn="just"/>
            <a:r>
              <a:rPr lang="en-US" b="1" dirty="0">
                <a:solidFill>
                  <a:prstClr val="black"/>
                </a:solidFill>
                <a:latin typeface="Times New Roman" panose="02020603050405020304" pitchFamily="18" charset="0"/>
                <a:ea typeface="+mj-ea"/>
                <a:cs typeface="Times New Roman" panose="02020603050405020304" pitchFamily="18" charset="0"/>
              </a:rPr>
              <a:t>BASIC MOVEMENT IN THE WATER; </a:t>
            </a:r>
            <a:r>
              <a:rPr lang="en-US" b="1" dirty="0" smtClean="0">
                <a:solidFill>
                  <a:prstClr val="black"/>
                </a:solidFill>
                <a:latin typeface="Times New Roman" panose="02020603050405020304" pitchFamily="18" charset="0"/>
                <a:ea typeface="+mj-ea"/>
                <a:cs typeface="Times New Roman" panose="02020603050405020304" pitchFamily="18" charset="0"/>
              </a:rPr>
              <a:t>FINNING</a:t>
            </a:r>
          </a:p>
          <a:p>
            <a:pPr algn="just">
              <a:buFont typeface="Wingdings" panose="05000000000000000000" pitchFamily="2" charset="2"/>
              <a:buChar char="ü"/>
            </a:pPr>
            <a:r>
              <a:rPr lang="en-US" dirty="0" smtClean="0">
                <a:latin typeface="Times New Roman" panose="02020603050405020304" pitchFamily="18" charset="0"/>
                <a:cs typeface="Times New Roman" panose="02020603050405020304" pitchFamily="18" charset="0"/>
              </a:rPr>
              <a:t>Finning is a way to move through the water using a pushing motion with the arms.</a:t>
            </a:r>
          </a:p>
          <a:p>
            <a:pPr algn="just">
              <a:buFont typeface="Wingdings" panose="05000000000000000000" pitchFamily="2" charset="2"/>
              <a:buChar char="ü"/>
            </a:pPr>
            <a:r>
              <a:rPr lang="en-US" dirty="0" smtClean="0">
                <a:latin typeface="Times New Roman" panose="02020603050405020304" pitchFamily="18" charset="0"/>
                <a:cs typeface="Times New Roman" panose="02020603050405020304" pitchFamily="18" charset="0"/>
              </a:rPr>
              <a:t>This technique can also be used to help stay at the surface of the water while floating on the back</a:t>
            </a:r>
          </a:p>
          <a:p>
            <a:pPr algn="just">
              <a:buFont typeface="Courier New" panose="02070309020205020404" pitchFamily="49" charset="0"/>
              <a:buChar char="o"/>
            </a:pPr>
            <a:r>
              <a:rPr lang="en-US" dirty="0" smtClean="0">
                <a:latin typeface="Times New Roman" panose="02020603050405020304" pitchFamily="18" charset="0"/>
                <a:cs typeface="Times New Roman" panose="02020603050405020304" pitchFamily="18" charset="0"/>
              </a:rPr>
              <a:t>Move into a back float position with the head back and arms at the side. The hands are relaxed under the surface of the water with the palms facing the bottom of the pool</a:t>
            </a:r>
          </a:p>
          <a:p>
            <a:pPr algn="just">
              <a:buFont typeface="Courier New" panose="02070309020205020404" pitchFamily="49" charset="0"/>
              <a:buChar char="o"/>
            </a:pPr>
            <a:r>
              <a:rPr lang="en-US" dirty="0" smtClean="0">
                <a:latin typeface="Times New Roman" panose="02020603050405020304" pitchFamily="18" charset="0"/>
                <a:cs typeface="Times New Roman" panose="02020603050405020304" pitchFamily="18" charset="0"/>
              </a:rPr>
              <a:t>Bend the elbows and slowly move the hands out from the side</a:t>
            </a:r>
          </a:p>
          <a:p>
            <a:pPr algn="just">
              <a:buFont typeface="Courier New" panose="02070309020205020404" pitchFamily="49" charset="0"/>
              <a:buChar char="o"/>
            </a:pPr>
            <a:r>
              <a:rPr lang="en-US" dirty="0" smtClean="0">
                <a:latin typeface="Times New Roman" panose="02020603050405020304" pitchFamily="18" charset="0"/>
                <a:cs typeface="Times New Roman" panose="02020603050405020304" pitchFamily="18" charset="0"/>
              </a:rPr>
              <a:t>Flex the wrists and push the water with the palms toward the feet in a short stroke. Arm movements may be simultaneous or slightly alternating</a:t>
            </a:r>
          </a:p>
          <a:p>
            <a:pPr>
              <a:buFont typeface="Wingdings" panose="05000000000000000000" pitchFamily="2" charset="2"/>
              <a:buChar char="ü"/>
            </a:pPr>
            <a:endParaRPr lang="en-US" sz="2400" dirty="0" smtClean="0"/>
          </a:p>
        </p:txBody>
      </p:sp>
      <p:pic>
        <p:nvPicPr>
          <p:cNvPr id="1433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51014" y="197035"/>
            <a:ext cx="3165308" cy="168481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011396485"/>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27690" y="167940"/>
            <a:ext cx="3139984" cy="218473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itle 1"/>
          <p:cNvSpPr>
            <a:spLocks noGrp="1"/>
          </p:cNvSpPr>
          <p:nvPr>
            <p:ph type="title"/>
          </p:nvPr>
        </p:nvSpPr>
        <p:spPr>
          <a:xfrm>
            <a:off x="783496" y="332553"/>
            <a:ext cx="9720072" cy="690131"/>
          </a:xfrm>
        </p:spPr>
        <p:txBody>
          <a:bodyPr>
            <a:normAutofit fontScale="90000"/>
          </a:bodyPr>
          <a:lstStyle/>
          <a:p>
            <a:r>
              <a:rPr lang="en-US" sz="4900" b="1" dirty="0" smtClean="0">
                <a:latin typeface="Times New Roman" panose="02020603050405020304" pitchFamily="18" charset="0"/>
                <a:cs typeface="Times New Roman" panose="02020603050405020304" pitchFamily="18" charset="0"/>
              </a:rPr>
              <a:t>BASIC AQUATIC SKILLS</a:t>
            </a:r>
            <a:endParaRPr lang="en-US" dirty="0"/>
          </a:p>
        </p:txBody>
      </p:sp>
      <p:sp>
        <p:nvSpPr>
          <p:cNvPr id="3" name="Content Placeholder 2"/>
          <p:cNvSpPr>
            <a:spLocks noGrp="1"/>
          </p:cNvSpPr>
          <p:nvPr>
            <p:ph idx="1"/>
          </p:nvPr>
        </p:nvSpPr>
        <p:spPr>
          <a:xfrm>
            <a:off x="295223" y="1187298"/>
            <a:ext cx="8632467" cy="5197878"/>
          </a:xfrm>
        </p:spPr>
        <p:txBody>
          <a:bodyPr numCol="1">
            <a:noAutofit/>
          </a:bodyPr>
          <a:lstStyle/>
          <a:p>
            <a:pPr algn="just"/>
            <a:r>
              <a:rPr lang="en-US" b="1" dirty="0">
                <a:latin typeface="Times New Roman" panose="02020603050405020304" pitchFamily="18" charset="0"/>
                <a:cs typeface="Times New Roman" panose="02020603050405020304" pitchFamily="18" charset="0"/>
              </a:rPr>
              <a:t>BASIC MOVEMENT IN THE WATER; </a:t>
            </a:r>
            <a:r>
              <a:rPr lang="en-US" b="1" dirty="0" smtClean="0">
                <a:latin typeface="Times New Roman" panose="02020603050405020304" pitchFamily="18" charset="0"/>
                <a:cs typeface="Times New Roman" panose="02020603050405020304" pitchFamily="18" charset="0"/>
              </a:rPr>
              <a:t>SCULLING</a:t>
            </a:r>
          </a:p>
          <a:p>
            <a:pPr algn="just">
              <a:buFont typeface="Wingdings" panose="05000000000000000000" pitchFamily="2" charset="2"/>
              <a:buChar char="ü"/>
            </a:pPr>
            <a:r>
              <a:rPr lang="en-US" dirty="0" smtClean="0">
                <a:latin typeface="Times New Roman" panose="02020603050405020304" pitchFamily="18" charset="0"/>
                <a:cs typeface="Times New Roman" panose="02020603050405020304" pitchFamily="18" charset="0"/>
              </a:rPr>
              <a:t>Sculling </a:t>
            </a:r>
            <a:r>
              <a:rPr lang="en-US" sz="2800" dirty="0" smtClean="0">
                <a:latin typeface="Times New Roman" panose="02020603050405020304" pitchFamily="18" charset="0"/>
                <a:cs typeface="Times New Roman" panose="02020603050405020304" pitchFamily="18" charset="0"/>
              </a:rPr>
              <a:t>refers to movements of the arms and hands that manipulate the flow of water.</a:t>
            </a:r>
          </a:p>
          <a:p>
            <a:pPr algn="just">
              <a:buFont typeface="Wingdings" panose="05000000000000000000" pitchFamily="2" charset="2"/>
              <a:buChar char="ü"/>
            </a:pPr>
            <a:r>
              <a:rPr lang="en-US" sz="2800" dirty="0" smtClean="0">
                <a:latin typeface="Times New Roman" panose="02020603050405020304" pitchFamily="18" charset="0"/>
                <a:cs typeface="Times New Roman" panose="02020603050405020304" pitchFamily="18" charset="0"/>
              </a:rPr>
              <a:t>These movements create a force perpendicular to the direction of motion resulting in lift </a:t>
            </a:r>
          </a:p>
          <a:p>
            <a:pPr algn="just">
              <a:buFont typeface="Wingdings" panose="05000000000000000000" pitchFamily="2" charset="2"/>
              <a:buChar char="ü"/>
            </a:pPr>
            <a:r>
              <a:rPr lang="en-US" sz="2800" dirty="0" smtClean="0">
                <a:latin typeface="Times New Roman" panose="02020603050405020304" pitchFamily="18" charset="0"/>
                <a:cs typeface="Times New Roman" panose="02020603050405020304" pitchFamily="18" charset="0"/>
              </a:rPr>
              <a:t>The lift generated through sculling allow as a person to move forward, backward or remain in place floating or treading the water</a:t>
            </a:r>
          </a:p>
          <a:p>
            <a:pPr algn="just">
              <a:buFont typeface="Wingdings" panose="05000000000000000000" pitchFamily="2" charset="2"/>
              <a:buChar char="ü"/>
            </a:pPr>
            <a:r>
              <a:rPr lang="en-US" sz="2800" dirty="0" smtClean="0">
                <a:latin typeface="Times New Roman" panose="02020603050405020304" pitchFamily="18" charset="0"/>
                <a:cs typeface="Times New Roman" panose="02020603050405020304" pitchFamily="18" charset="0"/>
              </a:rPr>
              <a:t>Sculling is an important skill for survival</a:t>
            </a:r>
          </a:p>
          <a:p>
            <a:pPr algn="just">
              <a:buFont typeface="Wingdings" panose="05000000000000000000" pitchFamily="2" charset="2"/>
              <a:buChar char="ü"/>
            </a:pPr>
            <a:r>
              <a:rPr lang="en-US" sz="2800" dirty="0" smtClean="0">
                <a:latin typeface="Times New Roman" panose="02020603050405020304" pitchFamily="18" charset="0"/>
                <a:cs typeface="Times New Roman" panose="02020603050405020304" pitchFamily="18" charset="0"/>
              </a:rPr>
              <a:t>This technique can help a swimmer keep the mouth above the water while resting or moving toward safety</a:t>
            </a:r>
          </a:p>
          <a:p>
            <a:pPr algn="just">
              <a:buFont typeface="Wingdings" panose="05000000000000000000" pitchFamily="2" charset="2"/>
              <a:buChar char="ü"/>
            </a:pPr>
            <a:endParaRPr lang="en-US" sz="2800" dirty="0" smtClean="0">
              <a:latin typeface="Times New Roman" panose="02020603050405020304" pitchFamily="18" charset="0"/>
              <a:cs typeface="Times New Roman" panose="02020603050405020304" pitchFamily="18" charset="0"/>
            </a:endParaRPr>
          </a:p>
        </p:txBody>
      </p:sp>
      <p:pic>
        <p:nvPicPr>
          <p:cNvPr id="1536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27690" y="4800600"/>
            <a:ext cx="3139984" cy="195713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000395890"/>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83496" y="332553"/>
            <a:ext cx="9720072" cy="690131"/>
          </a:xfrm>
        </p:spPr>
        <p:txBody>
          <a:bodyPr>
            <a:normAutofit fontScale="90000"/>
          </a:bodyPr>
          <a:lstStyle/>
          <a:p>
            <a:r>
              <a:rPr lang="en-US" sz="4900" b="1" dirty="0" smtClean="0">
                <a:latin typeface="Times New Roman" panose="02020603050405020304" pitchFamily="18" charset="0"/>
                <a:cs typeface="Times New Roman" panose="02020603050405020304" pitchFamily="18" charset="0"/>
              </a:rPr>
              <a:t>BASIC AQUATIC SKILLS</a:t>
            </a:r>
            <a:endParaRPr lang="en-US" dirty="0"/>
          </a:p>
        </p:txBody>
      </p:sp>
      <p:sp>
        <p:nvSpPr>
          <p:cNvPr id="3" name="Content Placeholder 2"/>
          <p:cNvSpPr>
            <a:spLocks noGrp="1"/>
          </p:cNvSpPr>
          <p:nvPr>
            <p:ph idx="1"/>
          </p:nvPr>
        </p:nvSpPr>
        <p:spPr>
          <a:xfrm>
            <a:off x="295223" y="1187298"/>
            <a:ext cx="8632467" cy="5197878"/>
          </a:xfrm>
        </p:spPr>
        <p:txBody>
          <a:bodyPr numCol="1">
            <a:noAutofit/>
          </a:bodyPr>
          <a:lstStyle/>
          <a:p>
            <a:pPr lvl="0" algn="just">
              <a:buFont typeface="Wingdings" panose="05000000000000000000" pitchFamily="2" charset="2"/>
              <a:buChar char="ü"/>
            </a:pPr>
            <a:r>
              <a:rPr lang="en-US" dirty="0">
                <a:solidFill>
                  <a:prstClr val="black"/>
                </a:solidFill>
                <a:latin typeface="Times New Roman" panose="02020603050405020304" pitchFamily="18" charset="0"/>
                <a:cs typeface="Times New Roman" panose="02020603050405020304" pitchFamily="18" charset="0"/>
              </a:rPr>
              <a:t>In sculling, as in swimming, the swimmer tries to establish “grab” or “catch” on the water.</a:t>
            </a:r>
          </a:p>
          <a:p>
            <a:pPr marL="0" lvl="0" indent="0" algn="just">
              <a:buNone/>
            </a:pPr>
            <a:endParaRPr lang="en-US" dirty="0">
              <a:solidFill>
                <a:prstClr val="black"/>
              </a:solidFill>
              <a:latin typeface="Times New Roman" panose="02020603050405020304" pitchFamily="18" charset="0"/>
              <a:cs typeface="Times New Roman" panose="02020603050405020304" pitchFamily="18" charset="0"/>
            </a:endParaRPr>
          </a:p>
          <a:p>
            <a:pPr lvl="0" algn="just">
              <a:buFont typeface="Wingdings" panose="05000000000000000000" pitchFamily="2" charset="2"/>
              <a:buChar char="ü"/>
            </a:pPr>
            <a:r>
              <a:rPr lang="en-US" dirty="0">
                <a:solidFill>
                  <a:prstClr val="black"/>
                </a:solidFill>
                <a:latin typeface="Times New Roman" panose="02020603050405020304" pitchFamily="18" charset="0"/>
                <a:cs typeface="Times New Roman" panose="02020603050405020304" pitchFamily="18" charset="0"/>
              </a:rPr>
              <a:t>“Grab” or “catch” on the water can be described as a feeling of pressure on the hands and forearms that gives the swimmer the ability to press the torso away from the hands, going up, down or across the surface. </a:t>
            </a:r>
          </a:p>
          <a:p>
            <a:pPr marL="0" lvl="0" indent="0" algn="just">
              <a:buNone/>
            </a:pPr>
            <a:endParaRPr lang="en-US" dirty="0">
              <a:solidFill>
                <a:prstClr val="black"/>
              </a:solidFill>
              <a:latin typeface="Times New Roman" panose="02020603050405020304" pitchFamily="18" charset="0"/>
              <a:cs typeface="Times New Roman" panose="02020603050405020304" pitchFamily="18" charset="0"/>
            </a:endParaRPr>
          </a:p>
          <a:p>
            <a:pPr lvl="0" algn="just">
              <a:buFont typeface="Wingdings" panose="05000000000000000000" pitchFamily="2" charset="2"/>
              <a:buChar char="ü"/>
            </a:pPr>
            <a:r>
              <a:rPr lang="en-US" dirty="0">
                <a:solidFill>
                  <a:prstClr val="black"/>
                </a:solidFill>
                <a:latin typeface="Times New Roman" panose="02020603050405020304" pitchFamily="18" charset="0"/>
                <a:cs typeface="Times New Roman" panose="02020603050405020304" pitchFamily="18" charset="0"/>
              </a:rPr>
              <a:t>Some swimmers also describe “grab” or “catch” as a feeling of controlling the water in the palm of the hand, as if holding a small ball in the palm, pushing it out and catching it before it gets away, and then pressing it in toward the torso and again catching it. </a:t>
            </a:r>
          </a:p>
          <a:p>
            <a:pPr marL="0" lvl="0" indent="0" algn="just">
              <a:buNone/>
            </a:pPr>
            <a:endParaRPr lang="en-US" dirty="0">
              <a:solidFill>
                <a:prstClr val="black"/>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9265666" y="246845"/>
            <a:ext cx="2926334" cy="5499069"/>
          </a:xfrm>
          <a:prstGeom prst="rect">
            <a:avLst/>
          </a:prstGeom>
        </p:spPr>
      </p:pic>
    </p:spTree>
    <p:extLst>
      <p:ext uri="{BB962C8B-B14F-4D97-AF65-F5344CB8AC3E}">
        <p14:creationId xmlns:p14="http://schemas.microsoft.com/office/powerpoint/2010/main" val="4213186695"/>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83496" y="332553"/>
            <a:ext cx="9720072" cy="690131"/>
          </a:xfrm>
        </p:spPr>
        <p:txBody>
          <a:bodyPr>
            <a:normAutofit fontScale="90000"/>
          </a:bodyPr>
          <a:lstStyle/>
          <a:p>
            <a:r>
              <a:rPr lang="en-US" sz="4900" b="1" dirty="0" smtClean="0">
                <a:latin typeface="Times New Roman" panose="02020603050405020304" pitchFamily="18" charset="0"/>
                <a:cs typeface="Times New Roman" panose="02020603050405020304" pitchFamily="18" charset="0"/>
              </a:rPr>
              <a:t>BASIC AQUATIC SKILLS</a:t>
            </a:r>
            <a:endParaRPr lang="en-US" dirty="0"/>
          </a:p>
        </p:txBody>
      </p:sp>
      <p:sp>
        <p:nvSpPr>
          <p:cNvPr id="3" name="Content Placeholder 2"/>
          <p:cNvSpPr>
            <a:spLocks noGrp="1"/>
          </p:cNvSpPr>
          <p:nvPr>
            <p:ph idx="1"/>
          </p:nvPr>
        </p:nvSpPr>
        <p:spPr>
          <a:xfrm>
            <a:off x="295223" y="1187298"/>
            <a:ext cx="8632467" cy="5197878"/>
          </a:xfrm>
        </p:spPr>
        <p:txBody>
          <a:bodyPr numCol="1">
            <a:noAutofit/>
          </a:bodyPr>
          <a:lstStyle/>
          <a:p>
            <a:pPr lvl="0" algn="just">
              <a:buFont typeface="Wingdings" panose="05000000000000000000" pitchFamily="2" charset="2"/>
              <a:buChar char="ü"/>
            </a:pPr>
            <a:r>
              <a:rPr lang="en-US" dirty="0">
                <a:solidFill>
                  <a:prstClr val="black"/>
                </a:solidFill>
                <a:latin typeface="Times New Roman" panose="02020603050405020304" pitchFamily="18" charset="0"/>
                <a:cs typeface="Times New Roman" panose="02020603050405020304" pitchFamily="18" charset="0"/>
              </a:rPr>
              <a:t>Once a swimmer gets “grab” or “catch,” the hands will automatically move through the figure-eight path</a:t>
            </a:r>
            <a:r>
              <a:rPr lang="en-US" dirty="0" smtClean="0">
                <a:solidFill>
                  <a:prstClr val="black"/>
                </a:solidFill>
                <a:latin typeface="Times New Roman" panose="02020603050405020304" pitchFamily="18" charset="0"/>
                <a:cs typeface="Times New Roman" panose="02020603050405020304" pitchFamily="18" charset="0"/>
              </a:rPr>
              <a:t>.</a:t>
            </a:r>
          </a:p>
          <a:p>
            <a:pPr lvl="0" algn="just">
              <a:buFont typeface="Wingdings" panose="05000000000000000000" pitchFamily="2" charset="2"/>
              <a:buChar char="ü"/>
            </a:pPr>
            <a:endParaRPr lang="en-US" dirty="0" smtClean="0">
              <a:solidFill>
                <a:prstClr val="black"/>
              </a:solidFill>
              <a:latin typeface="Times New Roman" panose="02020603050405020304" pitchFamily="18" charset="0"/>
              <a:cs typeface="Times New Roman" panose="02020603050405020304" pitchFamily="18" charset="0"/>
            </a:endParaRPr>
          </a:p>
          <a:p>
            <a:pPr lvl="0" algn="just">
              <a:buFont typeface="Wingdings" panose="05000000000000000000" pitchFamily="2" charset="2"/>
              <a:buChar char="ü"/>
            </a:pPr>
            <a:r>
              <a:rPr lang="en-US" dirty="0">
                <a:solidFill>
                  <a:prstClr val="black"/>
                </a:solidFill>
                <a:latin typeface="Times New Roman" panose="02020603050405020304" pitchFamily="18" charset="0"/>
                <a:cs typeface="Times New Roman" panose="02020603050405020304" pitchFamily="18" charset="0"/>
              </a:rPr>
              <a:t>Too much tension in your hands and arms may prevent you from establishing catch on the water and cause you to slice your hands in and out through the water, eliminating the figure-eight path and limiting the force or propulsion generated. </a:t>
            </a:r>
          </a:p>
          <a:p>
            <a:pPr lvl="0" algn="just">
              <a:buFont typeface="Wingdings" panose="05000000000000000000" pitchFamily="2" charset="2"/>
              <a:buChar char="ü"/>
            </a:pPr>
            <a:endParaRPr lang="en-US" dirty="0">
              <a:solidFill>
                <a:prstClr val="black"/>
              </a:solidFill>
              <a:latin typeface="Times New Roman" panose="02020603050405020304" pitchFamily="18" charset="0"/>
              <a:cs typeface="Times New Roman" panose="02020603050405020304" pitchFamily="18" charset="0"/>
            </a:endParaRPr>
          </a:p>
          <a:p>
            <a:pPr lvl="0" algn="just">
              <a:buFont typeface="Wingdings" panose="05000000000000000000" pitchFamily="2" charset="2"/>
              <a:buChar char="ü"/>
            </a:pPr>
            <a:r>
              <a:rPr lang="en-US" dirty="0">
                <a:solidFill>
                  <a:prstClr val="black"/>
                </a:solidFill>
                <a:latin typeface="Times New Roman" panose="02020603050405020304" pitchFamily="18" charset="0"/>
                <a:cs typeface="Times New Roman" panose="02020603050405020304" pitchFamily="18" charset="0"/>
              </a:rPr>
              <a:t>Your palms should rotate between 20 and 50 degrees to get the most efficient and effective sculls.</a:t>
            </a:r>
          </a:p>
          <a:p>
            <a:pPr lvl="0" algn="just">
              <a:buFont typeface="Wingdings" panose="05000000000000000000" pitchFamily="2" charset="2"/>
              <a:buChar char="ü"/>
            </a:pPr>
            <a:endParaRPr lang="en-US" dirty="0">
              <a:solidFill>
                <a:prstClr val="black"/>
              </a:solidFill>
              <a:latin typeface="Times New Roman" panose="02020603050405020304" pitchFamily="18" charset="0"/>
              <a:cs typeface="Times New Roman" panose="02020603050405020304" pitchFamily="18" charset="0"/>
            </a:endParaRPr>
          </a:p>
          <a:p>
            <a:pPr lvl="0" algn="just">
              <a:buFont typeface="Wingdings" panose="05000000000000000000" pitchFamily="2" charset="2"/>
              <a:buChar char="ü"/>
            </a:pPr>
            <a:endParaRPr lang="en-US" dirty="0">
              <a:solidFill>
                <a:prstClr val="black"/>
              </a:solidFill>
              <a:latin typeface="Times New Roman" panose="02020603050405020304" pitchFamily="18" charset="0"/>
              <a:cs typeface="Times New Roman" panose="02020603050405020304" pitchFamily="18" charset="0"/>
            </a:endParaRPr>
          </a:p>
          <a:p>
            <a:pPr lvl="0" algn="just">
              <a:buFont typeface="Wingdings" panose="05000000000000000000" pitchFamily="2" charset="2"/>
              <a:buChar char="ü"/>
            </a:pPr>
            <a:endParaRPr lang="en-US" dirty="0">
              <a:solidFill>
                <a:prstClr val="black"/>
              </a:solidFill>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ü"/>
            </a:pPr>
            <a:endParaRPr lang="en-US" sz="2800" dirty="0" smtClean="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9265666" y="246845"/>
            <a:ext cx="2926334" cy="5499069"/>
          </a:xfrm>
          <a:prstGeom prst="rect">
            <a:avLst/>
          </a:prstGeom>
        </p:spPr>
      </p:pic>
    </p:spTree>
    <p:extLst>
      <p:ext uri="{BB962C8B-B14F-4D97-AF65-F5344CB8AC3E}">
        <p14:creationId xmlns:p14="http://schemas.microsoft.com/office/powerpoint/2010/main" val="4213186695"/>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83496" y="332553"/>
            <a:ext cx="9720072" cy="690131"/>
          </a:xfrm>
        </p:spPr>
        <p:txBody>
          <a:bodyPr>
            <a:normAutofit fontScale="90000"/>
          </a:bodyPr>
          <a:lstStyle/>
          <a:p>
            <a:r>
              <a:rPr lang="en-US" sz="4900" b="1" dirty="0" smtClean="0">
                <a:latin typeface="Times New Roman" panose="02020603050405020304" pitchFamily="18" charset="0"/>
                <a:cs typeface="Times New Roman" panose="02020603050405020304" pitchFamily="18" charset="0"/>
              </a:rPr>
              <a:t>BASIC AQUATIC SKILLS</a:t>
            </a:r>
            <a:endParaRPr lang="en-US" dirty="0"/>
          </a:p>
        </p:txBody>
      </p:sp>
      <p:sp>
        <p:nvSpPr>
          <p:cNvPr id="3" name="Content Placeholder 2"/>
          <p:cNvSpPr>
            <a:spLocks noGrp="1"/>
          </p:cNvSpPr>
          <p:nvPr>
            <p:ph idx="1"/>
          </p:nvPr>
        </p:nvSpPr>
        <p:spPr>
          <a:xfrm>
            <a:off x="295223" y="1187298"/>
            <a:ext cx="8632467" cy="5197878"/>
          </a:xfrm>
        </p:spPr>
        <p:txBody>
          <a:bodyPr numCol="1">
            <a:noAutofit/>
          </a:bodyPr>
          <a:lstStyle/>
          <a:p>
            <a:pPr lvl="0" algn="just">
              <a:buFont typeface="Wingdings" panose="05000000000000000000" pitchFamily="2" charset="2"/>
              <a:buChar char="ü"/>
            </a:pPr>
            <a:r>
              <a:rPr lang="en-US" dirty="0">
                <a:solidFill>
                  <a:prstClr val="black"/>
                </a:solidFill>
                <a:latin typeface="Times New Roman" panose="02020603050405020304" pitchFamily="18" charset="0"/>
                <a:cs typeface="Times New Roman" panose="02020603050405020304" pitchFamily="18" charset="0"/>
              </a:rPr>
              <a:t>Sculling is also a fundamental skill used in swimming strokes, in water polo, and in synchronized </a:t>
            </a:r>
            <a:r>
              <a:rPr lang="en-US" dirty="0" smtClean="0">
                <a:solidFill>
                  <a:prstClr val="black"/>
                </a:solidFill>
                <a:latin typeface="Times New Roman" panose="02020603050405020304" pitchFamily="18" charset="0"/>
                <a:cs typeface="Times New Roman" panose="02020603050405020304" pitchFamily="18" charset="0"/>
              </a:rPr>
              <a:t>swimming</a:t>
            </a:r>
          </a:p>
          <a:p>
            <a:pPr lvl="0" algn="just">
              <a:buFont typeface="Wingdings" panose="05000000000000000000" pitchFamily="2" charset="2"/>
              <a:buChar char="ü"/>
            </a:pPr>
            <a:endParaRPr lang="en-US" dirty="0">
              <a:solidFill>
                <a:prstClr val="black"/>
              </a:solidFill>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To practice the sculling motion;</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Hold the hands just below the surface while standing in waist deep water</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Keep the palms flat, facing downward and rapidly move them side to side to create whirlpools</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While holding the elbows about a tennis ball’s distance from the ribs, move the forearms out and back in</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Keep your upper arms still while the lower arms and hands maintain consistent water pressure</a:t>
            </a:r>
          </a:p>
          <a:p>
            <a:pPr algn="just">
              <a:buFont typeface="Wingdings" panose="05000000000000000000" pitchFamily="2" charset="2"/>
              <a:buChar char="ü"/>
            </a:pPr>
            <a:endParaRPr lang="en-US" sz="2800" dirty="0" smtClean="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9265666" y="246846"/>
            <a:ext cx="2926334" cy="3813878"/>
          </a:xfrm>
          <a:prstGeom prst="rect">
            <a:avLst/>
          </a:prstGeom>
        </p:spPr>
      </p:pic>
      <p:pic>
        <p:nvPicPr>
          <p:cNvPr id="5" name="Picture 4"/>
          <p:cNvPicPr>
            <a:picLocks noChangeAspect="1"/>
          </p:cNvPicPr>
          <p:nvPr/>
        </p:nvPicPr>
        <p:blipFill>
          <a:blip r:embed="rId3"/>
          <a:stretch>
            <a:fillRect/>
          </a:stretch>
        </p:blipFill>
        <p:spPr>
          <a:xfrm>
            <a:off x="9165504" y="4190426"/>
            <a:ext cx="2926334" cy="2194750"/>
          </a:xfrm>
          <a:prstGeom prst="rect">
            <a:avLst/>
          </a:prstGeom>
        </p:spPr>
      </p:pic>
    </p:spTree>
    <p:extLst>
      <p:ext uri="{BB962C8B-B14F-4D97-AF65-F5344CB8AC3E}">
        <p14:creationId xmlns:p14="http://schemas.microsoft.com/office/powerpoint/2010/main" val="4213186695"/>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1623" y="260364"/>
            <a:ext cx="9720072" cy="798416"/>
          </a:xfrm>
        </p:spPr>
        <p:txBody>
          <a:bodyPr>
            <a:normAutofit fontScale="90000"/>
          </a:bodyPr>
          <a:lstStyle/>
          <a:p>
            <a:r>
              <a:rPr lang="en-US" sz="4900" b="1" dirty="0" smtClean="0">
                <a:latin typeface="Times New Roman" panose="02020603050405020304" pitchFamily="18" charset="0"/>
                <a:cs typeface="Times New Roman" panose="02020603050405020304" pitchFamily="18" charset="0"/>
              </a:rPr>
              <a:t>BASIC AQUATIC SKILLS</a:t>
            </a:r>
            <a:br>
              <a:rPr lang="en-US" sz="4900" b="1" dirty="0" smtClean="0">
                <a:latin typeface="Times New Roman" panose="02020603050405020304" pitchFamily="18" charset="0"/>
                <a:cs typeface="Times New Roman" panose="02020603050405020304" pitchFamily="18" charset="0"/>
              </a:rPr>
            </a:br>
            <a:r>
              <a:rPr lang="en-US" dirty="0" smtClean="0"/>
              <a:t>-</a:t>
            </a:r>
            <a:endParaRPr lang="en-US" dirty="0"/>
          </a:p>
        </p:txBody>
      </p:sp>
      <p:sp>
        <p:nvSpPr>
          <p:cNvPr id="3" name="Content Placeholder 2"/>
          <p:cNvSpPr>
            <a:spLocks noGrp="1"/>
          </p:cNvSpPr>
          <p:nvPr>
            <p:ph idx="1"/>
          </p:nvPr>
        </p:nvSpPr>
        <p:spPr>
          <a:xfrm>
            <a:off x="517358" y="1167061"/>
            <a:ext cx="8410332" cy="5450307"/>
          </a:xfrm>
        </p:spPr>
        <p:txBody>
          <a:bodyPr numCol="1">
            <a:noAutofit/>
          </a:bodyPr>
          <a:lstStyle/>
          <a:p>
            <a:pPr algn="just"/>
            <a:r>
              <a:rPr lang="en-US" b="1" dirty="0">
                <a:latin typeface="Times New Roman" panose="02020603050405020304" pitchFamily="18" charset="0"/>
                <a:cs typeface="Times New Roman" panose="02020603050405020304" pitchFamily="18" charset="0"/>
              </a:rPr>
              <a:t>BASIC MOVEMENT IN THE WATER; </a:t>
            </a:r>
            <a:r>
              <a:rPr lang="en-US" b="1" dirty="0" smtClean="0">
                <a:latin typeface="Times New Roman" panose="02020603050405020304" pitchFamily="18" charset="0"/>
                <a:cs typeface="Times New Roman" panose="02020603050405020304" pitchFamily="18" charset="0"/>
              </a:rPr>
              <a:t>TREADING</a:t>
            </a:r>
          </a:p>
          <a:p>
            <a:pPr algn="just">
              <a:buFont typeface="Wingdings" panose="05000000000000000000" pitchFamily="2" charset="2"/>
              <a:buChar char="ü"/>
            </a:pPr>
            <a:r>
              <a:rPr lang="en-US" dirty="0" smtClean="0">
                <a:latin typeface="Times New Roman" panose="02020603050405020304" pitchFamily="18" charset="0"/>
                <a:cs typeface="Times New Roman" panose="02020603050405020304" pitchFamily="18" charset="0"/>
              </a:rPr>
              <a:t>Treading water is an important personal safety skill that allows swimmers to remain upright in deep water with head out of the water</a:t>
            </a:r>
          </a:p>
          <a:p>
            <a:pPr algn="just">
              <a:buFont typeface="Wingdings" panose="05000000000000000000" pitchFamily="2" charset="2"/>
              <a:buChar char="ü"/>
            </a:pPr>
            <a:r>
              <a:rPr lang="en-US" dirty="0" smtClean="0">
                <a:latin typeface="Times New Roman" panose="02020603050405020304" pitchFamily="18" charset="0"/>
                <a:cs typeface="Times New Roman" panose="02020603050405020304" pitchFamily="18" charset="0"/>
              </a:rPr>
              <a:t>Treading water typically involves a scissors, breaststroke or rotary kick along with sculling or finning movements of the hands and arms</a:t>
            </a:r>
          </a:p>
          <a:p>
            <a:pPr algn="just">
              <a:buFont typeface="Wingdings" panose="05000000000000000000" pitchFamily="2" charset="2"/>
              <a:buChar char="ü"/>
            </a:pPr>
            <a:r>
              <a:rPr lang="en-US" dirty="0" smtClean="0">
                <a:latin typeface="Times New Roman" panose="02020603050405020304" pitchFamily="18" charset="0"/>
                <a:cs typeface="Times New Roman" panose="02020603050405020304" pitchFamily="18" charset="0"/>
              </a:rPr>
              <a:t>The combination of these movements allow the swimmer to remain in place with the head above water</a:t>
            </a:r>
          </a:p>
          <a:p>
            <a:pPr algn="just">
              <a:buFont typeface="Wingdings" panose="05000000000000000000" pitchFamily="2" charset="2"/>
              <a:buChar char="ü"/>
            </a:pPr>
            <a:r>
              <a:rPr lang="en-US" dirty="0" smtClean="0">
                <a:latin typeface="Times New Roman" panose="02020603050405020304" pitchFamily="18" charset="0"/>
                <a:cs typeface="Times New Roman" panose="02020603050405020304" pitchFamily="18" charset="0"/>
              </a:rPr>
              <a:t>However, treading water is a versatile technique</a:t>
            </a:r>
          </a:p>
          <a:p>
            <a:pPr algn="just">
              <a:buFont typeface="Wingdings" panose="05000000000000000000" pitchFamily="2" charset="2"/>
              <a:buChar char="ü"/>
            </a:pPr>
            <a:endParaRPr lang="en-US" dirty="0" smtClean="0">
              <a:latin typeface="Times New Roman" panose="02020603050405020304" pitchFamily="18" charset="0"/>
              <a:cs typeface="Times New Roman" panose="02020603050405020304" pitchFamily="18" charset="0"/>
            </a:endParaRPr>
          </a:p>
        </p:txBody>
      </p:sp>
      <p:pic>
        <p:nvPicPr>
          <p:cNvPr id="1638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27690" y="1299411"/>
            <a:ext cx="3139982" cy="200927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 name="Picture 3"/>
          <p:cNvPicPr>
            <a:picLocks noChangeAspect="1"/>
          </p:cNvPicPr>
          <p:nvPr/>
        </p:nvPicPr>
        <p:blipFill>
          <a:blip r:embed="rId3"/>
          <a:stretch>
            <a:fillRect/>
          </a:stretch>
        </p:blipFill>
        <p:spPr>
          <a:xfrm>
            <a:off x="9040095" y="4620574"/>
            <a:ext cx="3151905" cy="2237426"/>
          </a:xfrm>
          <a:prstGeom prst="rect">
            <a:avLst/>
          </a:prstGeom>
        </p:spPr>
      </p:pic>
    </p:spTree>
    <p:extLst>
      <p:ext uri="{BB962C8B-B14F-4D97-AF65-F5344CB8AC3E}">
        <p14:creationId xmlns:p14="http://schemas.microsoft.com/office/powerpoint/2010/main" val="4090458241"/>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1623" y="260364"/>
            <a:ext cx="9720072" cy="798416"/>
          </a:xfrm>
        </p:spPr>
        <p:txBody>
          <a:bodyPr>
            <a:normAutofit fontScale="90000"/>
          </a:bodyPr>
          <a:lstStyle/>
          <a:p>
            <a:r>
              <a:rPr lang="en-US" sz="4900" b="1" dirty="0" smtClean="0">
                <a:latin typeface="Times New Roman" panose="02020603050405020304" pitchFamily="18" charset="0"/>
                <a:cs typeface="Times New Roman" panose="02020603050405020304" pitchFamily="18" charset="0"/>
              </a:rPr>
              <a:t>BASIC AQUATIC SKILLS</a:t>
            </a:r>
            <a:br>
              <a:rPr lang="en-US" sz="4900" b="1" dirty="0" smtClean="0">
                <a:latin typeface="Times New Roman" panose="02020603050405020304" pitchFamily="18" charset="0"/>
                <a:cs typeface="Times New Roman" panose="02020603050405020304" pitchFamily="18" charset="0"/>
              </a:rPr>
            </a:br>
            <a:r>
              <a:rPr lang="en-US" dirty="0" smtClean="0"/>
              <a:t>-</a:t>
            </a:r>
            <a:endParaRPr lang="en-US" dirty="0"/>
          </a:p>
        </p:txBody>
      </p:sp>
      <p:sp>
        <p:nvSpPr>
          <p:cNvPr id="3" name="Content Placeholder 2"/>
          <p:cNvSpPr>
            <a:spLocks noGrp="1"/>
          </p:cNvSpPr>
          <p:nvPr>
            <p:ph idx="1"/>
          </p:nvPr>
        </p:nvSpPr>
        <p:spPr>
          <a:xfrm>
            <a:off x="517358" y="1167061"/>
            <a:ext cx="8410332" cy="5450307"/>
          </a:xfrm>
        </p:spPr>
        <p:txBody>
          <a:bodyPr numCol="1">
            <a:noAutofit/>
          </a:bodyPr>
          <a:lstStyle/>
          <a:p>
            <a:pPr algn="just">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To tread water using the breaststroke or scissors kick;</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Stay nearly vertical, with the upper body bent slightly forward at the waist and the legs separated</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Make continuous sculling movement with the hands a few inches below the surface in front of the body, with the palms facing downwards and elbows bent. Make sculling movements with a much wider reach than used to hold position during a back float</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Kick with just enough thrust to keep the head above </a:t>
            </a:r>
            <a:r>
              <a:rPr lang="en-US" dirty="0" smtClean="0">
                <a:latin typeface="Times New Roman" panose="02020603050405020304" pitchFamily="18" charset="0"/>
                <a:cs typeface="Times New Roman" panose="02020603050405020304" pitchFamily="18" charset="0"/>
              </a:rPr>
              <a:t>water</a:t>
            </a:r>
          </a:p>
          <a:p>
            <a:pPr algn="just">
              <a:buFont typeface="Wingdings" panose="05000000000000000000" pitchFamily="2" charset="2"/>
              <a:buChar char="ü"/>
            </a:pPr>
            <a:endParaRPr lang="en-US" dirty="0" smtClean="0">
              <a:latin typeface="Times New Roman" panose="02020603050405020304" pitchFamily="18" charset="0"/>
              <a:cs typeface="Times New Roman" panose="02020603050405020304" pitchFamily="18" charset="0"/>
            </a:endParaRPr>
          </a:p>
        </p:txBody>
      </p:sp>
      <p:pic>
        <p:nvPicPr>
          <p:cNvPr id="1638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27690" y="1299411"/>
            <a:ext cx="3139982" cy="200927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 name="Picture 3"/>
          <p:cNvPicPr>
            <a:picLocks noChangeAspect="1"/>
          </p:cNvPicPr>
          <p:nvPr/>
        </p:nvPicPr>
        <p:blipFill>
          <a:blip r:embed="rId3"/>
          <a:stretch>
            <a:fillRect/>
          </a:stretch>
        </p:blipFill>
        <p:spPr>
          <a:xfrm>
            <a:off x="9040095" y="4620574"/>
            <a:ext cx="3151905" cy="2237426"/>
          </a:xfrm>
          <a:prstGeom prst="rect">
            <a:avLst/>
          </a:prstGeom>
        </p:spPr>
      </p:pic>
    </p:spTree>
    <p:extLst>
      <p:ext uri="{BB962C8B-B14F-4D97-AF65-F5344CB8AC3E}">
        <p14:creationId xmlns:p14="http://schemas.microsoft.com/office/powerpoint/2010/main" val="4090458241"/>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1623" y="260364"/>
            <a:ext cx="9720072" cy="798416"/>
          </a:xfrm>
        </p:spPr>
        <p:txBody>
          <a:bodyPr>
            <a:normAutofit fontScale="90000"/>
          </a:bodyPr>
          <a:lstStyle/>
          <a:p>
            <a:r>
              <a:rPr lang="en-US" sz="4900" b="1" dirty="0" smtClean="0">
                <a:latin typeface="Times New Roman" panose="02020603050405020304" pitchFamily="18" charset="0"/>
                <a:cs typeface="Times New Roman" panose="02020603050405020304" pitchFamily="18" charset="0"/>
              </a:rPr>
              <a:t>BASIC AQUATIC SKILLS</a:t>
            </a:r>
            <a:br>
              <a:rPr lang="en-US" sz="4900" b="1" dirty="0" smtClean="0">
                <a:latin typeface="Times New Roman" panose="02020603050405020304" pitchFamily="18" charset="0"/>
                <a:cs typeface="Times New Roman" panose="02020603050405020304" pitchFamily="18" charset="0"/>
              </a:rPr>
            </a:br>
            <a:r>
              <a:rPr lang="en-US" dirty="0" smtClean="0"/>
              <a:t>-</a:t>
            </a:r>
            <a:endParaRPr lang="en-US" dirty="0"/>
          </a:p>
        </p:txBody>
      </p:sp>
      <p:sp>
        <p:nvSpPr>
          <p:cNvPr id="3" name="Content Placeholder 2"/>
          <p:cNvSpPr>
            <a:spLocks noGrp="1"/>
          </p:cNvSpPr>
          <p:nvPr>
            <p:ph idx="1"/>
          </p:nvPr>
        </p:nvSpPr>
        <p:spPr>
          <a:xfrm>
            <a:off x="517358" y="1167061"/>
            <a:ext cx="9088758" cy="5450307"/>
          </a:xfrm>
        </p:spPr>
        <p:txBody>
          <a:bodyPr numCol="1">
            <a:noAutofit/>
          </a:bodyPr>
          <a:lstStyle/>
          <a:p>
            <a:pPr algn="just">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The rotary or eggbeater kick is another effective kick for treading water</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Because it has no resting phase, this kick provides continuous support.</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It is normally used in water polo, synchronized swimming and lifeguarding</a:t>
            </a:r>
          </a:p>
          <a:p>
            <a:pPr algn="jus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To tread water with the rotary kick;</a:t>
            </a:r>
          </a:p>
          <a:p>
            <a:pPr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Stay nearly vertical, with the upper body bent slightly forward at the waist, making the same sculling movements with the arms</a:t>
            </a:r>
          </a:p>
          <a:p>
            <a:pPr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Keep the back straight and the hips flexed so that the thighs are comfortably </a:t>
            </a:r>
            <a:r>
              <a:rPr lang="en-US" dirty="0" smtClean="0">
                <a:latin typeface="Times New Roman" panose="02020603050405020304" pitchFamily="18" charset="0"/>
                <a:cs typeface="Times New Roman" panose="02020603050405020304" pitchFamily="18" charset="0"/>
              </a:rPr>
              <a:t>forward</a:t>
            </a:r>
          </a:p>
          <a:p>
            <a:pPr algn="just">
              <a:buFont typeface="Wingdings" panose="05000000000000000000" pitchFamily="2" charset="2"/>
              <a:buChar char="Ø"/>
            </a:pPr>
            <a:endParaRPr lang="en-US"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ü"/>
            </a:pPr>
            <a:endParaRPr lang="en-US"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ü"/>
            </a:pPr>
            <a:endParaRPr lang="en-US" dirty="0" smtClean="0">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2"/>
          <a:stretch>
            <a:fillRect/>
          </a:stretch>
        </p:blipFill>
        <p:spPr>
          <a:xfrm>
            <a:off x="9706124" y="659572"/>
            <a:ext cx="1963082" cy="3767655"/>
          </a:xfrm>
          <a:prstGeom prst="rect">
            <a:avLst/>
          </a:prstGeom>
        </p:spPr>
      </p:pic>
      <p:pic>
        <p:nvPicPr>
          <p:cNvPr id="6" name="Picture 5"/>
          <p:cNvPicPr>
            <a:picLocks noChangeAspect="1"/>
          </p:cNvPicPr>
          <p:nvPr/>
        </p:nvPicPr>
        <p:blipFill>
          <a:blip r:embed="rId3"/>
          <a:stretch>
            <a:fillRect/>
          </a:stretch>
        </p:blipFill>
        <p:spPr>
          <a:xfrm>
            <a:off x="9706123" y="4427227"/>
            <a:ext cx="2406183" cy="2430773"/>
          </a:xfrm>
          <a:prstGeom prst="rect">
            <a:avLst/>
          </a:prstGeom>
        </p:spPr>
      </p:pic>
    </p:spTree>
    <p:extLst>
      <p:ext uri="{BB962C8B-B14F-4D97-AF65-F5344CB8AC3E}">
        <p14:creationId xmlns:p14="http://schemas.microsoft.com/office/powerpoint/2010/main" val="4090458241"/>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1623" y="260364"/>
            <a:ext cx="9720072" cy="798416"/>
          </a:xfrm>
        </p:spPr>
        <p:txBody>
          <a:bodyPr>
            <a:normAutofit fontScale="90000"/>
          </a:bodyPr>
          <a:lstStyle/>
          <a:p>
            <a:r>
              <a:rPr lang="en-US" sz="4900" b="1" dirty="0" smtClean="0">
                <a:latin typeface="Times New Roman" panose="02020603050405020304" pitchFamily="18" charset="0"/>
                <a:cs typeface="Times New Roman" panose="02020603050405020304" pitchFamily="18" charset="0"/>
              </a:rPr>
              <a:t>BASIC AQUATIC SKILLS</a:t>
            </a:r>
            <a:br>
              <a:rPr lang="en-US" sz="4900" b="1" dirty="0" smtClean="0">
                <a:latin typeface="Times New Roman" panose="02020603050405020304" pitchFamily="18" charset="0"/>
                <a:cs typeface="Times New Roman" panose="02020603050405020304" pitchFamily="18" charset="0"/>
              </a:rPr>
            </a:br>
            <a:r>
              <a:rPr lang="en-US" dirty="0" smtClean="0"/>
              <a:t>-</a:t>
            </a:r>
            <a:endParaRPr lang="en-US" dirty="0"/>
          </a:p>
        </p:txBody>
      </p:sp>
      <p:sp>
        <p:nvSpPr>
          <p:cNvPr id="3" name="Content Placeholder 2"/>
          <p:cNvSpPr>
            <a:spLocks noGrp="1"/>
          </p:cNvSpPr>
          <p:nvPr>
            <p:ph idx="1"/>
          </p:nvPr>
        </p:nvSpPr>
        <p:spPr>
          <a:xfrm>
            <a:off x="517358" y="1167061"/>
            <a:ext cx="9088758" cy="5450307"/>
          </a:xfrm>
        </p:spPr>
        <p:txBody>
          <a:bodyPr numCol="1">
            <a:noAutofit/>
          </a:bodyPr>
          <a:lstStyle/>
          <a:p>
            <a:pPr algn="just">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Pull up the lower legs so that they are at an angle of nearly 90 degrees to the thigh and the knees are slightly wider than hip width</a:t>
            </a:r>
          </a:p>
          <a:p>
            <a:pPr algn="just">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Rotate the lower legs at the knees, one leg at a time, making large circular movements with the foot and lower leg. One leg moves clockwise and the other anticlockwise</a:t>
            </a:r>
          </a:p>
          <a:p>
            <a:pPr algn="just">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As each foot moves sideways and forward, extend it sharply outward. The power of the kick comes from lift forces created by the inward sweeping action of the foot</a:t>
            </a:r>
          </a:p>
          <a:p>
            <a:pPr algn="just">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As one leg kicks, the other leg recovers to kick immediately after the first kick. Kick just hard enough to keep the head out of water </a:t>
            </a:r>
          </a:p>
          <a:p>
            <a:pPr algn="just">
              <a:buFont typeface="Wingdings" panose="05000000000000000000" pitchFamily="2" charset="2"/>
              <a:buChar char="ü"/>
            </a:pPr>
            <a:endParaRPr lang="en-US" dirty="0" smtClean="0">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2"/>
          <a:stretch>
            <a:fillRect/>
          </a:stretch>
        </p:blipFill>
        <p:spPr>
          <a:xfrm>
            <a:off x="9706124" y="659572"/>
            <a:ext cx="2407218" cy="3767655"/>
          </a:xfrm>
          <a:prstGeom prst="rect">
            <a:avLst/>
          </a:prstGeom>
        </p:spPr>
      </p:pic>
      <p:pic>
        <p:nvPicPr>
          <p:cNvPr id="4" name="Picture 3"/>
          <p:cNvPicPr>
            <a:picLocks noChangeAspect="1"/>
          </p:cNvPicPr>
          <p:nvPr/>
        </p:nvPicPr>
        <p:blipFill>
          <a:blip r:embed="rId3"/>
          <a:stretch>
            <a:fillRect/>
          </a:stretch>
        </p:blipFill>
        <p:spPr>
          <a:xfrm>
            <a:off x="9706124" y="4355691"/>
            <a:ext cx="2485876" cy="2502310"/>
          </a:xfrm>
          <a:prstGeom prst="rect">
            <a:avLst/>
          </a:prstGeom>
        </p:spPr>
      </p:pic>
    </p:spTree>
    <p:extLst>
      <p:ext uri="{BB962C8B-B14F-4D97-AF65-F5344CB8AC3E}">
        <p14:creationId xmlns:p14="http://schemas.microsoft.com/office/powerpoint/2010/main" val="4090458241"/>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8617" y="238997"/>
            <a:ext cx="11319422" cy="924475"/>
          </a:xfrm>
        </p:spPr>
        <p:txBody>
          <a:bodyPr>
            <a:noAutofit/>
          </a:bodyPr>
          <a:lstStyle/>
          <a:p>
            <a:r>
              <a:rPr lang="en-US" b="1" dirty="0" smtClean="0">
                <a:latin typeface="Times New Roman" panose="02020603050405020304" pitchFamily="18" charset="0"/>
                <a:cs typeface="Times New Roman" panose="02020603050405020304" pitchFamily="18" charset="0"/>
              </a:rPr>
              <a:t>STARTING, CHANGING DIRECTION AND TURNING OVER</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03123" y="1241946"/>
            <a:ext cx="11224771" cy="5336275"/>
          </a:xfrm>
        </p:spPr>
        <p:txBody>
          <a:bodyPr>
            <a:noAutofit/>
          </a:bodyPr>
          <a:lstStyle/>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Starting</a:t>
            </a:r>
          </a:p>
          <a:p>
            <a:pPr>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You can start swimming by moving from a vertical to a horizontal position, or by pushing off </a:t>
            </a:r>
            <a:r>
              <a:rPr lang="en-US" dirty="0" smtClean="0">
                <a:latin typeface="Times New Roman" panose="02020603050405020304" pitchFamily="18" charset="0"/>
                <a:cs typeface="Times New Roman" panose="02020603050405020304" pitchFamily="18" charset="0"/>
              </a:rPr>
              <a:t>from the </a:t>
            </a:r>
            <a:r>
              <a:rPr lang="en-US" dirty="0">
                <a:latin typeface="Times New Roman" panose="02020603050405020304" pitchFamily="18" charset="0"/>
                <a:cs typeface="Times New Roman" panose="02020603050405020304" pitchFamily="18" charset="0"/>
              </a:rPr>
              <a:t>pool wall</a:t>
            </a:r>
            <a:r>
              <a:rPr lang="en-US" dirty="0" smtClean="0">
                <a:latin typeface="Times New Roman" panose="02020603050405020304" pitchFamily="18" charset="0"/>
                <a:cs typeface="Times New Roman" panose="02020603050405020304" pitchFamily="18" charset="0"/>
              </a:rPr>
              <a:t>.</a:t>
            </a:r>
          </a:p>
          <a:p>
            <a:pPr>
              <a:buFont typeface="Wingdings" panose="05000000000000000000" pitchFamily="2" charset="2"/>
              <a:buChar char="ü"/>
            </a:pP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ü"/>
            </a:pPr>
            <a:r>
              <a:rPr lang="en-US" dirty="0" smtClean="0">
                <a:latin typeface="Times New Roman" panose="02020603050405020304" pitchFamily="18" charset="0"/>
                <a:cs typeface="Times New Roman" panose="02020603050405020304" pitchFamily="18" charset="0"/>
              </a:rPr>
              <a:t>To </a:t>
            </a:r>
            <a:r>
              <a:rPr lang="en-US" dirty="0">
                <a:latin typeface="Times New Roman" panose="02020603050405020304" pitchFamily="18" charset="0"/>
                <a:cs typeface="Times New Roman" panose="02020603050405020304" pitchFamily="18" charset="0"/>
              </a:rPr>
              <a:t>move from a vertical to a horizontal position on your front:</a:t>
            </a:r>
          </a:p>
          <a:p>
            <a:pPr>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1. Take a breath.</a:t>
            </a:r>
          </a:p>
          <a:p>
            <a:pPr>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2. Lean forward and put your face in the water until your ears are covered</a:t>
            </a:r>
            <a:r>
              <a:rPr lang="en-US" dirty="0" smtClean="0">
                <a:latin typeface="Times New Roman" panose="02020603050405020304" pitchFamily="18" charset="0"/>
                <a:cs typeface="Times New Roman" panose="02020603050405020304" pitchFamily="18" charset="0"/>
              </a:rPr>
              <a:t>.</a:t>
            </a:r>
          </a:p>
          <a:p>
            <a:pPr>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3. Extend your arms in front of you, in the direction you intend to go.</a:t>
            </a:r>
          </a:p>
          <a:p>
            <a:pPr>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4. Push off the bottom or kick your legs to help move your body into a horizontal position, </a:t>
            </a:r>
            <a:r>
              <a:rPr lang="en-US" dirty="0" smtClean="0">
                <a:latin typeface="Times New Roman" panose="02020603050405020304" pitchFamily="18" charset="0"/>
                <a:cs typeface="Times New Roman" panose="02020603050405020304" pitchFamily="18" charset="0"/>
              </a:rPr>
              <a:t>and then </a:t>
            </a:r>
            <a:r>
              <a:rPr lang="en-US" dirty="0">
                <a:latin typeface="Times New Roman" panose="02020603050405020304" pitchFamily="18" charset="0"/>
                <a:cs typeface="Times New Roman" panose="02020603050405020304" pitchFamily="18" charset="0"/>
              </a:rPr>
              <a:t>start swimming.</a:t>
            </a:r>
          </a:p>
        </p:txBody>
      </p:sp>
    </p:spTree>
    <p:extLst>
      <p:ext uri="{BB962C8B-B14F-4D97-AF65-F5344CB8AC3E}">
        <p14:creationId xmlns:p14="http://schemas.microsoft.com/office/powerpoint/2010/main" val="925977019"/>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1613" y="225349"/>
            <a:ext cx="10992464" cy="924475"/>
          </a:xfrm>
        </p:spPr>
        <p:txBody>
          <a:bodyPr>
            <a:noAutofit/>
          </a:bodyPr>
          <a:lstStyle/>
          <a:p>
            <a:r>
              <a:rPr lang="en-US" b="1" dirty="0">
                <a:latin typeface="Times New Roman" panose="02020603050405020304" pitchFamily="18" charset="0"/>
                <a:cs typeface="Times New Roman" panose="02020603050405020304" pitchFamily="18" charset="0"/>
              </a:rPr>
              <a:t>STARTING, CHANGING DIRECTION AND TURNING OVER</a:t>
            </a:r>
          </a:p>
        </p:txBody>
      </p:sp>
      <p:sp>
        <p:nvSpPr>
          <p:cNvPr id="3" name="Content Placeholder 2"/>
          <p:cNvSpPr>
            <a:spLocks noGrp="1"/>
          </p:cNvSpPr>
          <p:nvPr>
            <p:ph idx="1"/>
          </p:nvPr>
        </p:nvSpPr>
        <p:spPr>
          <a:xfrm>
            <a:off x="304799" y="1275099"/>
            <a:ext cx="8809703" cy="4975576"/>
          </a:xfrm>
        </p:spPr>
        <p:txBody>
          <a:bodyPr>
            <a:noAutofit/>
          </a:bodyPr>
          <a:lstStyle/>
          <a:p>
            <a:pPr>
              <a:buFont typeface="Wingdings" panose="05000000000000000000" pitchFamily="2" charset="2"/>
              <a:buChar char="ü"/>
            </a:pPr>
            <a:r>
              <a:rPr lang="en-US" dirty="0" smtClean="0">
                <a:latin typeface="Times New Roman" panose="02020603050405020304" pitchFamily="18" charset="0"/>
                <a:cs typeface="Times New Roman" panose="02020603050405020304" pitchFamily="18" charset="0"/>
              </a:rPr>
              <a:t>To </a:t>
            </a:r>
            <a:r>
              <a:rPr lang="en-US" dirty="0">
                <a:latin typeface="Times New Roman" panose="02020603050405020304" pitchFamily="18" charset="0"/>
                <a:cs typeface="Times New Roman" panose="02020603050405020304" pitchFamily="18" charset="0"/>
              </a:rPr>
              <a:t>move from a vertical to a horizontal position on your </a:t>
            </a:r>
            <a:r>
              <a:rPr lang="en-US" dirty="0" smtClean="0">
                <a:latin typeface="Times New Roman" panose="02020603050405020304" pitchFamily="18" charset="0"/>
                <a:cs typeface="Times New Roman" panose="02020603050405020304" pitchFamily="18" charset="0"/>
              </a:rPr>
              <a:t>back:</a:t>
            </a:r>
          </a:p>
          <a:p>
            <a:pPr>
              <a:buFont typeface="Courier New" panose="02070309020205020404" pitchFamily="49" charset="0"/>
              <a:buChar char="o"/>
            </a:pPr>
            <a:r>
              <a:rPr lang="en-US" dirty="0" smtClean="0">
                <a:latin typeface="Times New Roman" panose="02020603050405020304" pitchFamily="18" charset="0"/>
                <a:cs typeface="Times New Roman" panose="02020603050405020304" pitchFamily="18" charset="0"/>
              </a:rPr>
              <a:t>Move </a:t>
            </a:r>
            <a:r>
              <a:rPr lang="en-US" dirty="0">
                <a:latin typeface="Times New Roman" panose="02020603050405020304" pitchFamily="18" charset="0"/>
                <a:cs typeface="Times New Roman" panose="02020603050405020304" pitchFamily="18" charset="0"/>
              </a:rPr>
              <a:t>your arms overhead and slightly out to the side.</a:t>
            </a:r>
          </a:p>
          <a:p>
            <a:pPr>
              <a:buFont typeface="Courier New" panose="02070309020205020404" pitchFamily="49" charset="0"/>
              <a:buChar char="o"/>
            </a:pPr>
            <a:r>
              <a:rPr lang="en-US" dirty="0" smtClean="0">
                <a:latin typeface="Times New Roman" panose="02020603050405020304" pitchFamily="18" charset="0"/>
                <a:cs typeface="Times New Roman" panose="02020603050405020304" pitchFamily="18" charset="0"/>
              </a:rPr>
              <a:t>Lay </a:t>
            </a:r>
            <a:r>
              <a:rPr lang="en-US" dirty="0">
                <a:latin typeface="Times New Roman" panose="02020603050405020304" pitchFamily="18" charset="0"/>
                <a:cs typeface="Times New Roman" panose="02020603050405020304" pitchFamily="18" charset="0"/>
              </a:rPr>
              <a:t>your head back until your ears are covered.</a:t>
            </a:r>
          </a:p>
          <a:p>
            <a:pPr>
              <a:buFont typeface="Courier New" panose="02070309020205020404" pitchFamily="49" charset="0"/>
              <a:buChar char="o"/>
            </a:pPr>
            <a:r>
              <a:rPr lang="en-US" dirty="0" smtClean="0">
                <a:latin typeface="Times New Roman" panose="02020603050405020304" pitchFamily="18" charset="0"/>
                <a:cs typeface="Times New Roman" panose="02020603050405020304" pitchFamily="18" charset="0"/>
              </a:rPr>
              <a:t>Arch </a:t>
            </a:r>
            <a:r>
              <a:rPr lang="en-US" dirty="0">
                <a:latin typeface="Times New Roman" panose="02020603050405020304" pitchFamily="18" charset="0"/>
                <a:cs typeface="Times New Roman" panose="02020603050405020304" pitchFamily="18" charset="0"/>
              </a:rPr>
              <a:t>your body gently at the hips, pushing your chest and stomach toward the surface.</a:t>
            </a:r>
          </a:p>
          <a:p>
            <a:pPr>
              <a:buFont typeface="Courier New" panose="02070309020205020404" pitchFamily="49" charset="0"/>
              <a:buChar char="o"/>
            </a:pPr>
            <a:r>
              <a:rPr lang="en-US" dirty="0" smtClean="0">
                <a:latin typeface="Times New Roman" panose="02020603050405020304" pitchFamily="18" charset="0"/>
                <a:cs typeface="Times New Roman" panose="02020603050405020304" pitchFamily="18" charset="0"/>
              </a:rPr>
              <a:t>Push </a:t>
            </a:r>
            <a:r>
              <a:rPr lang="en-US" dirty="0">
                <a:latin typeface="Times New Roman" panose="02020603050405020304" pitchFamily="18" charset="0"/>
                <a:cs typeface="Times New Roman" panose="02020603050405020304" pitchFamily="18" charset="0"/>
              </a:rPr>
              <a:t>off the bottom or kick your legs to help move your body into a horizontal position, </a:t>
            </a:r>
            <a:r>
              <a:rPr lang="en-US" dirty="0" smtClean="0">
                <a:latin typeface="Times New Roman" panose="02020603050405020304" pitchFamily="18" charset="0"/>
                <a:cs typeface="Times New Roman" panose="02020603050405020304" pitchFamily="18" charset="0"/>
              </a:rPr>
              <a:t>and then </a:t>
            </a:r>
            <a:r>
              <a:rPr lang="en-US" dirty="0">
                <a:latin typeface="Times New Roman" panose="02020603050405020304" pitchFamily="18" charset="0"/>
                <a:cs typeface="Times New Roman" panose="02020603050405020304" pitchFamily="18" charset="0"/>
              </a:rPr>
              <a:t>start swimming</a:t>
            </a:r>
            <a:r>
              <a:rPr lang="en-US" dirty="0" smtClean="0">
                <a:latin typeface="Times New Roman" panose="02020603050405020304" pitchFamily="18" charset="0"/>
                <a:cs typeface="Times New Roman" panose="02020603050405020304" pitchFamily="18" charset="0"/>
              </a:rPr>
              <a:t>.</a:t>
            </a:r>
          </a:p>
          <a:p>
            <a:pPr>
              <a:buFont typeface="Courier New" panose="02070309020205020404" pitchFamily="49" charset="0"/>
              <a:buChar char="o"/>
            </a:pPr>
            <a:endParaRPr lang="en-US"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Starting from the Pool Wall</a:t>
            </a:r>
          </a:p>
          <a:p>
            <a:pPr>
              <a:buFont typeface="Courier New" panose="02070309020205020404" pitchFamily="49" charset="0"/>
              <a:buChar char="o"/>
            </a:pPr>
            <a:r>
              <a:rPr lang="en-US" dirty="0" smtClean="0">
                <a:latin typeface="Times New Roman" panose="02020603050405020304" pitchFamily="18" charset="0"/>
                <a:cs typeface="Times New Roman" panose="02020603050405020304" pitchFamily="18" charset="0"/>
              </a:rPr>
              <a:t>To </a:t>
            </a:r>
            <a:r>
              <a:rPr lang="en-US" dirty="0">
                <a:latin typeface="Times New Roman" panose="02020603050405020304" pitchFamily="18" charset="0"/>
                <a:cs typeface="Times New Roman" panose="02020603050405020304" pitchFamily="18" charset="0"/>
              </a:rPr>
              <a:t>push off from the pool wall on your front</a:t>
            </a:r>
            <a:r>
              <a:rPr lang="en-US" dirty="0" smtClean="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14503" y="1030038"/>
            <a:ext cx="3077497" cy="17332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93161" y="4749421"/>
            <a:ext cx="3145642" cy="17878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5217014"/>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1613" y="225349"/>
            <a:ext cx="10992464" cy="924475"/>
          </a:xfrm>
        </p:spPr>
        <p:txBody>
          <a:bodyPr>
            <a:noAutofit/>
          </a:bodyPr>
          <a:lstStyle/>
          <a:p>
            <a:r>
              <a:rPr lang="en-US" b="1" dirty="0">
                <a:latin typeface="Times New Roman" panose="02020603050405020304" pitchFamily="18" charset="0"/>
                <a:cs typeface="Times New Roman" panose="02020603050405020304" pitchFamily="18" charset="0"/>
              </a:rPr>
              <a:t>STARTING, CHANGING DIRECTION AND TURNING OVER</a:t>
            </a:r>
          </a:p>
        </p:txBody>
      </p:sp>
      <p:sp>
        <p:nvSpPr>
          <p:cNvPr id="3" name="Content Placeholder 2"/>
          <p:cNvSpPr>
            <a:spLocks noGrp="1"/>
          </p:cNvSpPr>
          <p:nvPr>
            <p:ph idx="1"/>
          </p:nvPr>
        </p:nvSpPr>
        <p:spPr>
          <a:xfrm>
            <a:off x="304799" y="1275099"/>
            <a:ext cx="9202995" cy="4975576"/>
          </a:xfrm>
        </p:spPr>
        <p:txBody>
          <a:bodyPr>
            <a:noAutofit/>
          </a:bodyPr>
          <a:lstStyle/>
          <a:p>
            <a:pPr lvl="0">
              <a:buFont typeface="Wingdings" panose="05000000000000000000" pitchFamily="2" charset="2"/>
              <a:buChar char="Ø"/>
            </a:pPr>
            <a:r>
              <a:rPr lang="en-US" dirty="0">
                <a:solidFill>
                  <a:prstClr val="black"/>
                </a:solidFill>
                <a:latin typeface="Times New Roman" panose="02020603050405020304" pitchFamily="18" charset="0"/>
                <a:cs typeface="Times New Roman" panose="02020603050405020304" pitchFamily="18" charset="0"/>
              </a:rPr>
              <a:t>Grasp the overflow trough or the pool wall with one hand</a:t>
            </a:r>
            <a:r>
              <a:rPr lang="en-US" dirty="0" smtClean="0">
                <a:solidFill>
                  <a:prstClr val="black"/>
                </a:solidFill>
                <a:latin typeface="Times New Roman" panose="02020603050405020304" pitchFamily="18" charset="0"/>
                <a:cs typeface="Times New Roman" panose="02020603050405020304" pitchFamily="18" charset="0"/>
              </a:rPr>
              <a:t>.</a:t>
            </a:r>
          </a:p>
          <a:p>
            <a:pPr lvl="0">
              <a:buFont typeface="Wingdings" panose="05000000000000000000" pitchFamily="2" charset="2"/>
              <a:buChar char="Ø"/>
            </a:pPr>
            <a:r>
              <a:rPr lang="en-US" dirty="0">
                <a:solidFill>
                  <a:prstClr val="black"/>
                </a:solidFill>
                <a:latin typeface="Times New Roman" panose="02020603050405020304" pitchFamily="18" charset="0"/>
                <a:cs typeface="Times New Roman" panose="02020603050405020304" pitchFamily="18" charset="0"/>
              </a:rPr>
              <a:t>Extend your other arm in front of you, in the direction you intend to go. Rotate your body and lean forward slightly, so that your shoulder and extended arm are under the surface.</a:t>
            </a:r>
          </a:p>
          <a:p>
            <a:pPr lvl="0">
              <a:buFont typeface="Wingdings" panose="05000000000000000000" pitchFamily="2" charset="2"/>
              <a:buChar char="Ø"/>
            </a:pPr>
            <a:r>
              <a:rPr lang="en-US" dirty="0" smtClean="0">
                <a:solidFill>
                  <a:prstClr val="black"/>
                </a:solidFill>
                <a:latin typeface="Times New Roman" panose="02020603050405020304" pitchFamily="18" charset="0"/>
                <a:cs typeface="Times New Roman" panose="02020603050405020304" pitchFamily="18" charset="0"/>
              </a:rPr>
              <a:t>Place </a:t>
            </a:r>
            <a:r>
              <a:rPr lang="en-US" dirty="0">
                <a:solidFill>
                  <a:prstClr val="black"/>
                </a:solidFill>
                <a:latin typeface="Times New Roman" panose="02020603050405020304" pitchFamily="18" charset="0"/>
                <a:cs typeface="Times New Roman" panose="02020603050405020304" pitchFamily="18" charset="0"/>
              </a:rPr>
              <a:t>your feet against the pool wall, about hip-width apart with one foot higher than the other </a:t>
            </a:r>
          </a:p>
          <a:p>
            <a:pPr lvl="0">
              <a:buFont typeface="Wingdings" panose="05000000000000000000" pitchFamily="2" charset="2"/>
              <a:buChar char="Ø"/>
            </a:pPr>
            <a:r>
              <a:rPr lang="en-US" dirty="0" smtClean="0">
                <a:solidFill>
                  <a:prstClr val="black"/>
                </a:solidFill>
                <a:latin typeface="Times New Roman" panose="02020603050405020304" pitchFamily="18" charset="0"/>
                <a:cs typeface="Times New Roman" panose="02020603050405020304" pitchFamily="18" charset="0"/>
              </a:rPr>
              <a:t>Take </a:t>
            </a:r>
            <a:r>
              <a:rPr lang="en-US" dirty="0">
                <a:solidFill>
                  <a:prstClr val="black"/>
                </a:solidFill>
                <a:latin typeface="Times New Roman" panose="02020603050405020304" pitchFamily="18" charset="0"/>
                <a:cs typeface="Times New Roman" panose="02020603050405020304" pitchFamily="18" charset="0"/>
              </a:rPr>
              <a:t>a </a:t>
            </a:r>
            <a:r>
              <a:rPr lang="en-US" dirty="0" smtClean="0">
                <a:solidFill>
                  <a:prstClr val="black"/>
                </a:solidFill>
                <a:latin typeface="Times New Roman" panose="02020603050405020304" pitchFamily="18" charset="0"/>
                <a:cs typeface="Times New Roman" panose="02020603050405020304" pitchFamily="18" charset="0"/>
              </a:rPr>
              <a:t>breath, </a:t>
            </a:r>
            <a:r>
              <a:rPr lang="en-US" dirty="0">
                <a:solidFill>
                  <a:prstClr val="black"/>
                </a:solidFill>
                <a:latin typeface="Times New Roman" panose="02020603050405020304" pitchFamily="18" charset="0"/>
                <a:cs typeface="Times New Roman" panose="02020603050405020304" pitchFamily="18" charset="0"/>
              </a:rPr>
              <a:t>put your face in the </a:t>
            </a:r>
            <a:r>
              <a:rPr lang="en-US" dirty="0" smtClean="0">
                <a:solidFill>
                  <a:prstClr val="black"/>
                </a:solidFill>
                <a:latin typeface="Times New Roman" panose="02020603050405020304" pitchFamily="18" charset="0"/>
                <a:cs typeface="Times New Roman" panose="02020603050405020304" pitchFamily="18" charset="0"/>
              </a:rPr>
              <a:t>water and let </a:t>
            </a:r>
            <a:r>
              <a:rPr lang="en-US" dirty="0">
                <a:solidFill>
                  <a:prstClr val="black"/>
                </a:solidFill>
                <a:latin typeface="Times New Roman" panose="02020603050405020304" pitchFamily="18" charset="0"/>
                <a:cs typeface="Times New Roman" panose="02020603050405020304" pitchFamily="18" charset="0"/>
              </a:rPr>
              <a:t>go of the wall and rotate your body into a face-down position.</a:t>
            </a:r>
          </a:p>
          <a:p>
            <a:pPr lvl="0">
              <a:buFont typeface="Wingdings" panose="05000000000000000000" pitchFamily="2" charset="2"/>
              <a:buChar char="Ø"/>
            </a:pPr>
            <a:r>
              <a:rPr lang="en-US" dirty="0" smtClean="0">
                <a:solidFill>
                  <a:prstClr val="black"/>
                </a:solidFill>
                <a:latin typeface="Times New Roman" panose="02020603050405020304" pitchFamily="18" charset="0"/>
                <a:cs typeface="Times New Roman" panose="02020603050405020304" pitchFamily="18" charset="0"/>
              </a:rPr>
              <a:t>Extend </a:t>
            </a:r>
            <a:r>
              <a:rPr lang="en-US" dirty="0">
                <a:solidFill>
                  <a:prstClr val="black"/>
                </a:solidFill>
                <a:latin typeface="Times New Roman" panose="02020603050405020304" pitchFamily="18" charset="0"/>
                <a:cs typeface="Times New Roman" panose="02020603050405020304" pitchFamily="18" charset="0"/>
              </a:rPr>
              <a:t>your arms into a streamlined position and push off the wall with both feet. Keep your legs together and your toes pointed.</a:t>
            </a:r>
          </a:p>
          <a:p>
            <a:pPr lvl="0">
              <a:buFont typeface="Wingdings" panose="05000000000000000000" pitchFamily="2" charset="2"/>
              <a:buChar char="Ø"/>
            </a:pPr>
            <a:r>
              <a:rPr lang="en-US" dirty="0" smtClean="0">
                <a:solidFill>
                  <a:prstClr val="black"/>
                </a:solidFill>
                <a:latin typeface="Times New Roman" panose="02020603050405020304" pitchFamily="18" charset="0"/>
                <a:cs typeface="Times New Roman" panose="02020603050405020304" pitchFamily="18" charset="0"/>
              </a:rPr>
              <a:t>Glide </a:t>
            </a:r>
            <a:r>
              <a:rPr lang="en-US" dirty="0">
                <a:solidFill>
                  <a:prstClr val="black"/>
                </a:solidFill>
                <a:latin typeface="Times New Roman" panose="02020603050405020304" pitchFamily="18" charset="0"/>
                <a:cs typeface="Times New Roman" panose="02020603050405020304" pitchFamily="18" charset="0"/>
              </a:rPr>
              <a:t>until your momentum slows </a:t>
            </a:r>
            <a:r>
              <a:rPr lang="en-US" dirty="0" smtClean="0">
                <a:solidFill>
                  <a:prstClr val="black"/>
                </a:solidFill>
                <a:latin typeface="Times New Roman" panose="02020603050405020304" pitchFamily="18" charset="0"/>
                <a:cs typeface="Times New Roman" panose="02020603050405020304" pitchFamily="18" charset="0"/>
              </a:rPr>
              <a:t>down</a:t>
            </a:r>
            <a:endParaRPr lang="en-US" dirty="0">
              <a:solidFill>
                <a:prstClr val="black"/>
              </a:solidFill>
              <a:latin typeface="Times New Roman" panose="02020603050405020304" pitchFamily="18" charset="0"/>
              <a:cs typeface="Times New Roman" panose="02020603050405020304" pitchFamily="18" charset="0"/>
            </a:endParaRPr>
          </a:p>
          <a:p>
            <a:pPr lvl="0">
              <a:buFont typeface="Wingdings" panose="05000000000000000000" pitchFamily="2" charset="2"/>
              <a:buChar char="Ø"/>
            </a:pPr>
            <a:endParaRPr lang="en-US" dirty="0">
              <a:solidFill>
                <a:prstClr val="black"/>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ü"/>
            </a:pPr>
            <a:endParaRPr lang="en-US" dirty="0">
              <a:latin typeface="Times New Roman" panose="02020603050405020304" pitchFamily="18" charset="0"/>
              <a:cs typeface="Times New Roman" panose="02020603050405020304" pitchFamily="18" charset="0"/>
            </a:endParaRP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311148" y="1030038"/>
            <a:ext cx="2880852" cy="17332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399639" y="4749421"/>
            <a:ext cx="2718220" cy="17878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5217014"/>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7923" y="353204"/>
            <a:ext cx="10974561" cy="1499616"/>
          </a:xfrm>
        </p:spPr>
        <p:txBody>
          <a:bodyPr/>
          <a:lstStyle/>
          <a:p>
            <a:r>
              <a:rPr lang="en-US" b="1" dirty="0" smtClean="0">
                <a:latin typeface="Times New Roman" panose="02020603050405020304" pitchFamily="18" charset="0"/>
                <a:cs typeface="Times New Roman" panose="02020603050405020304" pitchFamily="18" charset="0"/>
              </a:rPr>
              <a:t>WATER SAFETY – RECOGNITION AND RESPONSE</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573207" y="1794681"/>
            <a:ext cx="11109278" cy="4524232"/>
          </a:xfrm>
        </p:spPr>
        <p:txBody>
          <a:bodyPr>
            <a:noAutofit/>
          </a:bodyPr>
          <a:lstStyle/>
          <a:p>
            <a:pPr algn="just">
              <a:buFont typeface="Arial" panose="020B0604020202020204" pitchFamily="34" charset="0"/>
              <a:buChar char="•"/>
            </a:pPr>
            <a:r>
              <a:rPr lang="en-US" dirty="0" smtClean="0">
                <a:latin typeface="Times New Roman" panose="02020603050405020304" pitchFamily="18" charset="0"/>
                <a:cs typeface="Times New Roman" panose="02020603050405020304" pitchFamily="18" charset="0"/>
              </a:rPr>
              <a:t>Anyone who participates in aquatic activities should know how to recognize and respond to an aquatic emergency.</a:t>
            </a:r>
          </a:p>
          <a:p>
            <a:pPr algn="just">
              <a:buFont typeface="Arial" panose="020B0604020202020204" pitchFamily="34" charset="0"/>
              <a:buChar char="•"/>
            </a:pPr>
            <a:r>
              <a:rPr lang="en-US" dirty="0" smtClean="0">
                <a:latin typeface="Times New Roman" panose="02020603050405020304" pitchFamily="18" charset="0"/>
                <a:cs typeface="Times New Roman" panose="02020603050405020304" pitchFamily="18" charset="0"/>
              </a:rPr>
              <a:t>Learning basic skills for self rescue and for helping someone who is in trouble in the water is important for everybody, because most people work or play near water.</a:t>
            </a:r>
          </a:p>
          <a:p>
            <a:pPr algn="just">
              <a:buFont typeface="Arial" panose="020B0604020202020204" pitchFamily="34" charset="0"/>
              <a:buChar char="•"/>
            </a:pPr>
            <a:r>
              <a:rPr lang="en-US" dirty="0" smtClean="0">
                <a:latin typeface="Times New Roman" panose="02020603050405020304" pitchFamily="18" charset="0"/>
                <a:cs typeface="Times New Roman" panose="02020603050405020304" pitchFamily="18" charset="0"/>
              </a:rPr>
              <a:t>In fact, knowing how to respond to an emergency is just as important as how to prevent one.</a:t>
            </a:r>
          </a:p>
          <a:p>
            <a:pPr algn="just">
              <a:buFont typeface="Arial" panose="020B0604020202020204" pitchFamily="34" charset="0"/>
              <a:buChar char="•"/>
            </a:pPr>
            <a:r>
              <a:rPr lang="en-US" dirty="0" smtClean="0">
                <a:latin typeface="Times New Roman" panose="02020603050405020304" pitchFamily="18" charset="0"/>
                <a:cs typeface="Times New Roman" panose="02020603050405020304" pitchFamily="18" charset="0"/>
              </a:rPr>
              <a:t>By focusing on the steps necessary for recognizing and responding to an aquatic emergency as well as tips and procedures for self rescue, this course outlined the information necessary to handle most aquatic emergencies</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75320919"/>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0377" y="298613"/>
            <a:ext cx="11245754" cy="1499616"/>
          </a:xfrm>
        </p:spPr>
        <p:txBody>
          <a:bodyPr>
            <a:normAutofit fontScale="90000"/>
          </a:bodyPr>
          <a:lstStyle/>
          <a:p>
            <a:r>
              <a:rPr lang="en-US" b="1" dirty="0" smtClean="0">
                <a:latin typeface="Times New Roman" panose="02020603050405020304" pitchFamily="18" charset="0"/>
                <a:cs typeface="Times New Roman" panose="02020603050405020304" pitchFamily="18" charset="0"/>
              </a:rPr>
              <a:t>WATER SAFETY – RECOGNITION AND RESPONSE - EMERGENCY ACTION PLANS</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50376" y="1801504"/>
            <a:ext cx="11245755" cy="4681183"/>
          </a:xfrm>
        </p:spPr>
        <p:txBody>
          <a:bodyPr>
            <a:noAutofit/>
          </a:bodyPr>
          <a:lstStyle/>
          <a:p>
            <a:pPr>
              <a:buFont typeface="Arial" panose="020B0604020202020204" pitchFamily="34" charset="0"/>
              <a:buChar char="•"/>
            </a:pPr>
            <a:r>
              <a:rPr lang="en-US" dirty="0" smtClean="0">
                <a:latin typeface="Times New Roman" panose="02020603050405020304" pitchFamily="18" charset="0"/>
                <a:cs typeface="Times New Roman" panose="02020603050405020304" pitchFamily="18" charset="0"/>
              </a:rPr>
              <a:t>In the excitement of an emergency, it is easy to become frightened or confused about what to do.</a:t>
            </a:r>
          </a:p>
          <a:p>
            <a:pPr>
              <a:buFont typeface="Arial" panose="020B0604020202020204" pitchFamily="34" charset="0"/>
              <a:buChar char="•"/>
            </a:pPr>
            <a:r>
              <a:rPr lang="en-US" dirty="0" smtClean="0">
                <a:latin typeface="Times New Roman" panose="02020603050405020304" pitchFamily="18" charset="0"/>
                <a:cs typeface="Times New Roman" panose="02020603050405020304" pitchFamily="18" charset="0"/>
              </a:rPr>
              <a:t>Remember to stay calm – you can help. In any emergency situation, follow the three action steps;</a:t>
            </a:r>
          </a:p>
          <a:p>
            <a:pPr>
              <a:buFont typeface="Wingdings" panose="05000000000000000000" pitchFamily="2" charset="2"/>
              <a:buChar char="ü"/>
            </a:pPr>
            <a:r>
              <a:rPr lang="en-US" dirty="0" smtClean="0">
                <a:latin typeface="Times New Roman" panose="02020603050405020304" pitchFamily="18" charset="0"/>
                <a:cs typeface="Times New Roman" panose="02020603050405020304" pitchFamily="18" charset="0"/>
              </a:rPr>
              <a:t>Check – check the scene and the victim. Check the scene for unsafe conditions that would prevent you from helping</a:t>
            </a:r>
          </a:p>
          <a:p>
            <a:pPr>
              <a:buFont typeface="Wingdings" panose="05000000000000000000" pitchFamily="2" charset="2"/>
              <a:buChar char="ü"/>
            </a:pPr>
            <a:r>
              <a:rPr lang="en-US" dirty="0" smtClean="0">
                <a:latin typeface="Times New Roman" panose="02020603050405020304" pitchFamily="18" charset="0"/>
                <a:cs typeface="Times New Roman" panose="02020603050405020304" pitchFamily="18" charset="0"/>
              </a:rPr>
              <a:t>Call – call the local emergency number</a:t>
            </a:r>
          </a:p>
          <a:p>
            <a:pPr>
              <a:buFont typeface="Wingdings" panose="05000000000000000000" pitchFamily="2" charset="2"/>
              <a:buChar char="ü"/>
            </a:pPr>
            <a:r>
              <a:rPr lang="en-US" dirty="0" smtClean="0">
                <a:latin typeface="Times New Roman" panose="02020603050405020304" pitchFamily="18" charset="0"/>
                <a:cs typeface="Times New Roman" panose="02020603050405020304" pitchFamily="18" charset="0"/>
              </a:rPr>
              <a:t>Care – care for the victim. Care for the conditions found and make the victim comfortable until emergency medical services (EMS) personnel arrive and take over</a:t>
            </a:r>
          </a:p>
          <a:p>
            <a:endParaRPr lang="en-US" sz="2400" dirty="0"/>
          </a:p>
        </p:txBody>
      </p:sp>
    </p:spTree>
    <p:extLst>
      <p:ext uri="{BB962C8B-B14F-4D97-AF65-F5344CB8AC3E}">
        <p14:creationId xmlns:p14="http://schemas.microsoft.com/office/powerpoint/2010/main" val="1042005902"/>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4129" y="365125"/>
            <a:ext cx="11461183" cy="1325563"/>
          </a:xfrm>
        </p:spPr>
        <p:txBody>
          <a:bodyPr>
            <a:noAutofit/>
          </a:bodyPr>
          <a:lstStyle/>
          <a:p>
            <a:r>
              <a:rPr lang="en-US" b="1" dirty="0">
                <a:latin typeface="Times New Roman" panose="02020603050405020304" pitchFamily="18" charset="0"/>
                <a:cs typeface="Times New Roman" panose="02020603050405020304" pitchFamily="18" charset="0"/>
              </a:rPr>
              <a:t>WATER SAFETY – RECOGNITION AND RESPONSE - </a:t>
            </a:r>
            <a:r>
              <a:rPr lang="en-US" b="1" dirty="0" smtClean="0">
                <a:latin typeface="Times New Roman" panose="02020603050405020304" pitchFamily="18" charset="0"/>
                <a:cs typeface="Times New Roman" panose="02020603050405020304" pitchFamily="18" charset="0"/>
              </a:rPr>
              <a:t>PREPARING FOR EMERGENCIES</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344129" y="1858297"/>
            <a:ext cx="11461183" cy="4719924"/>
          </a:xfrm>
        </p:spPr>
        <p:txBody>
          <a:bodyPr>
            <a:noAutofit/>
          </a:bodyPr>
          <a:lstStyle/>
          <a:p>
            <a:pPr>
              <a:buFont typeface="Arial" panose="020B0604020202020204" pitchFamily="34" charset="0"/>
              <a:buChar char="•"/>
            </a:pPr>
            <a:r>
              <a:rPr lang="en-US" dirty="0" smtClean="0">
                <a:latin typeface="Times New Roman" panose="02020603050405020304" pitchFamily="18" charset="0"/>
                <a:cs typeface="Times New Roman" panose="02020603050405020304" pitchFamily="18" charset="0"/>
              </a:rPr>
              <a:t>While in a pool or around, </a:t>
            </a:r>
            <a:r>
              <a:rPr lang="en-US" dirty="0">
                <a:latin typeface="Times New Roman" panose="02020603050405020304" pitchFamily="18" charset="0"/>
                <a:cs typeface="Times New Roman" panose="02020603050405020304" pitchFamily="18" charset="0"/>
              </a:rPr>
              <a:t>you need to </a:t>
            </a:r>
            <a:r>
              <a:rPr lang="en-US" dirty="0" smtClean="0">
                <a:latin typeface="Times New Roman" panose="02020603050405020304" pitchFamily="18" charset="0"/>
                <a:cs typeface="Times New Roman" panose="02020603050405020304" pitchFamily="18" charset="0"/>
              </a:rPr>
              <a:t>be prepared </a:t>
            </a:r>
            <a:r>
              <a:rPr lang="en-US" dirty="0">
                <a:latin typeface="Times New Roman" panose="02020603050405020304" pitchFamily="18" charset="0"/>
                <a:cs typeface="Times New Roman" panose="02020603050405020304" pitchFamily="18" charset="0"/>
              </a:rPr>
              <a:t>to respond should an </a:t>
            </a:r>
            <a:r>
              <a:rPr lang="en-US" dirty="0" smtClean="0">
                <a:latin typeface="Times New Roman" panose="02020603050405020304" pitchFamily="18" charset="0"/>
                <a:cs typeface="Times New Roman" panose="02020603050405020304" pitchFamily="18" charset="0"/>
              </a:rPr>
              <a:t>emergency arise</a:t>
            </a:r>
            <a:r>
              <a:rPr lang="en-US" dirty="0">
                <a:latin typeface="Times New Roman" panose="02020603050405020304" pitchFamily="18" charset="0"/>
                <a:cs typeface="Times New Roman" panose="02020603050405020304" pitchFamily="18" charset="0"/>
              </a:rPr>
              <a:t>. </a:t>
            </a:r>
            <a:endParaRPr lang="en-US" dirty="0" smtClean="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dirty="0" smtClean="0">
                <a:latin typeface="Times New Roman" panose="02020603050405020304" pitchFamily="18" charset="0"/>
                <a:cs typeface="Times New Roman" panose="02020603050405020304" pitchFamily="18" charset="0"/>
              </a:rPr>
              <a:t>There </a:t>
            </a:r>
            <a:r>
              <a:rPr lang="en-US" dirty="0">
                <a:latin typeface="Times New Roman" panose="02020603050405020304" pitchFamily="18" charset="0"/>
                <a:cs typeface="Times New Roman" panose="02020603050405020304" pitchFamily="18" charset="0"/>
              </a:rPr>
              <a:t>are three simple things you </a:t>
            </a:r>
            <a:r>
              <a:rPr lang="en-US" dirty="0" smtClean="0">
                <a:latin typeface="Times New Roman" panose="02020603050405020304" pitchFamily="18" charset="0"/>
                <a:cs typeface="Times New Roman" panose="02020603050405020304" pitchFamily="18" charset="0"/>
              </a:rPr>
              <a:t>can do </a:t>
            </a:r>
            <a:r>
              <a:rPr lang="en-US" dirty="0">
                <a:latin typeface="Times New Roman" panose="02020603050405020304" pitchFamily="18" charset="0"/>
                <a:cs typeface="Times New Roman" panose="02020603050405020304" pitchFamily="18" charset="0"/>
              </a:rPr>
              <a:t>to prepare for an emergency</a:t>
            </a:r>
            <a:r>
              <a:rPr lang="en-US" dirty="0" smtClean="0">
                <a:latin typeface="Times New Roman" panose="02020603050405020304" pitchFamily="18" charset="0"/>
                <a:cs typeface="Times New Roman" panose="02020603050405020304" pitchFamily="18" charset="0"/>
              </a:rPr>
              <a:t>.</a:t>
            </a:r>
          </a:p>
          <a:p>
            <a:pPr>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First, </a:t>
            </a:r>
            <a:r>
              <a:rPr lang="en-US" dirty="0" smtClean="0">
                <a:latin typeface="Times New Roman" panose="02020603050405020304" pitchFamily="18" charset="0"/>
                <a:cs typeface="Times New Roman" panose="02020603050405020304" pitchFamily="18" charset="0"/>
              </a:rPr>
              <a:t>learn first </a:t>
            </a:r>
            <a:r>
              <a:rPr lang="en-US" dirty="0">
                <a:latin typeface="Times New Roman" panose="02020603050405020304" pitchFamily="18" charset="0"/>
                <a:cs typeface="Times New Roman" panose="02020603050405020304" pitchFamily="18" charset="0"/>
              </a:rPr>
              <a:t>aid and CPR.</a:t>
            </a:r>
          </a:p>
          <a:p>
            <a:pPr>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Second, stock your pool area with a telephone, emergency contact information and basic </a:t>
            </a:r>
            <a:r>
              <a:rPr lang="en-US" dirty="0" smtClean="0">
                <a:latin typeface="Times New Roman" panose="02020603050405020304" pitchFamily="18" charset="0"/>
                <a:cs typeface="Times New Roman" panose="02020603050405020304" pitchFamily="18" charset="0"/>
              </a:rPr>
              <a:t>water rescue </a:t>
            </a:r>
            <a:r>
              <a:rPr lang="en-US" dirty="0">
                <a:latin typeface="Times New Roman" panose="02020603050405020304" pitchFamily="18" charset="0"/>
                <a:cs typeface="Times New Roman" panose="02020603050405020304" pitchFamily="18" charset="0"/>
              </a:rPr>
              <a:t>equipment, including:</a:t>
            </a:r>
          </a:p>
          <a:p>
            <a:pPr>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 Reaching equipment (such as a reaching pole or shepherd’s crook) that can be used to pull </a:t>
            </a:r>
            <a:r>
              <a:rPr lang="en-US" dirty="0" smtClean="0">
                <a:latin typeface="Times New Roman" panose="02020603050405020304" pitchFamily="18" charset="0"/>
                <a:cs typeface="Times New Roman" panose="02020603050405020304" pitchFamily="18" charset="0"/>
              </a:rPr>
              <a:t>a person </a:t>
            </a:r>
            <a:r>
              <a:rPr lang="en-US" dirty="0">
                <a:latin typeface="Times New Roman" panose="02020603050405020304" pitchFamily="18" charset="0"/>
                <a:cs typeface="Times New Roman" panose="02020603050405020304" pitchFamily="18" charset="0"/>
              </a:rPr>
              <a:t>to safety.</a:t>
            </a:r>
          </a:p>
          <a:p>
            <a:pPr>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 Throwing equipment (such as a ring buoy, heaving jug or throw bag) that can be thrown to </a:t>
            </a:r>
            <a:r>
              <a:rPr lang="en-US" dirty="0" smtClean="0">
                <a:latin typeface="Times New Roman" panose="02020603050405020304" pitchFamily="18" charset="0"/>
                <a:cs typeface="Times New Roman" panose="02020603050405020304" pitchFamily="18" charset="0"/>
              </a:rPr>
              <a:t>a person </a:t>
            </a:r>
            <a:r>
              <a:rPr lang="en-US" dirty="0">
                <a:latin typeface="Times New Roman" panose="02020603050405020304" pitchFamily="18" charset="0"/>
                <a:cs typeface="Times New Roman" panose="02020603050405020304" pitchFamily="18" charset="0"/>
              </a:rPr>
              <a:t>who is in trouble so that he or she can be pulled to safety</a:t>
            </a:r>
            <a:r>
              <a:rPr lang="en-US" dirty="0" smtClean="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724345376"/>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4129" y="365125"/>
            <a:ext cx="11461183" cy="1325563"/>
          </a:xfrm>
        </p:spPr>
        <p:txBody>
          <a:bodyPr>
            <a:noAutofit/>
          </a:bodyPr>
          <a:lstStyle/>
          <a:p>
            <a:r>
              <a:rPr lang="en-US" b="1" dirty="0">
                <a:latin typeface="Times New Roman" panose="02020603050405020304" pitchFamily="18" charset="0"/>
                <a:cs typeface="Times New Roman" panose="02020603050405020304" pitchFamily="18" charset="0"/>
              </a:rPr>
              <a:t>WATER SAFETY – RECOGNITION AND RESPONSE - </a:t>
            </a:r>
            <a:r>
              <a:rPr lang="en-US" b="1" dirty="0" smtClean="0">
                <a:latin typeface="Times New Roman" panose="02020603050405020304" pitchFamily="18" charset="0"/>
                <a:cs typeface="Times New Roman" panose="02020603050405020304" pitchFamily="18" charset="0"/>
              </a:rPr>
              <a:t>PREPARING FOR EMERGENCIES</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344129" y="1858297"/>
            <a:ext cx="10382865" cy="4719924"/>
          </a:xfrm>
        </p:spPr>
        <p:txBody>
          <a:bodyPr>
            <a:noAutofit/>
          </a:bodyPr>
          <a:lstStyle/>
          <a:p>
            <a:pPr lvl="0"/>
            <a:r>
              <a:rPr lang="en-US" dirty="0" smtClean="0">
                <a:solidFill>
                  <a:prstClr val="black"/>
                </a:solidFill>
                <a:latin typeface="Times New Roman" panose="02020603050405020304" pitchFamily="18" charset="0"/>
                <a:cs typeface="Times New Roman" panose="02020603050405020304" pitchFamily="18" charset="0"/>
              </a:rPr>
              <a:t>Thirdly, make a safety post to </a:t>
            </a:r>
            <a:r>
              <a:rPr lang="en-US" dirty="0">
                <a:solidFill>
                  <a:prstClr val="black"/>
                </a:solidFill>
                <a:latin typeface="Times New Roman" panose="02020603050405020304" pitchFamily="18" charset="0"/>
                <a:cs typeface="Times New Roman" panose="02020603050405020304" pitchFamily="18" charset="0"/>
              </a:rPr>
              <a:t>keep basic water rescue equipment organized and </a:t>
            </a:r>
            <a:r>
              <a:rPr lang="en-US" dirty="0" smtClean="0">
                <a:solidFill>
                  <a:prstClr val="black"/>
                </a:solidFill>
                <a:latin typeface="Times New Roman" panose="02020603050405020304" pitchFamily="18" charset="0"/>
                <a:cs typeface="Times New Roman" panose="02020603050405020304" pitchFamily="18" charset="0"/>
              </a:rPr>
              <a:t>accessible</a:t>
            </a:r>
          </a:p>
          <a:p>
            <a:pPr lvl="0"/>
            <a:endParaRPr lang="en-US" dirty="0">
              <a:solidFill>
                <a:prstClr val="black"/>
              </a:solidFill>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A safety post can be used to keep basic water rescue equipment organized and easily accessible poolside. </a:t>
            </a:r>
            <a:endParaRPr lang="en-US" dirty="0" smtClean="0">
              <a:latin typeface="Times New Roman" panose="02020603050405020304" pitchFamily="18" charset="0"/>
              <a:cs typeface="Times New Roman" panose="02020603050405020304" pitchFamily="18" charset="0"/>
            </a:endParaRPr>
          </a:p>
          <a:p>
            <a:endParaRPr lang="en-US" dirty="0" smtClean="0">
              <a:latin typeface="Times New Roman" panose="02020603050405020304" pitchFamily="18" charset="0"/>
              <a:cs typeface="Times New Roman" panose="02020603050405020304" pitchFamily="18" charset="0"/>
            </a:endParaRPr>
          </a:p>
          <a:p>
            <a:r>
              <a:rPr lang="en-US" dirty="0" smtClean="0">
                <a:latin typeface="Times New Roman" panose="02020603050405020304" pitchFamily="18" charset="0"/>
                <a:cs typeface="Times New Roman" panose="02020603050405020304" pitchFamily="18" charset="0"/>
              </a:rPr>
              <a:t>To </a:t>
            </a:r>
            <a:r>
              <a:rPr lang="en-US" dirty="0">
                <a:latin typeface="Times New Roman" panose="02020603050405020304" pitchFamily="18" charset="0"/>
                <a:cs typeface="Times New Roman" panose="02020603050405020304" pitchFamily="18" charset="0"/>
              </a:rPr>
              <a:t>make a safety post, you will need:</a:t>
            </a:r>
          </a:p>
          <a:p>
            <a:pPr>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 4 inch × 4 inch post, 6 feet long</a:t>
            </a:r>
          </a:p>
          <a:p>
            <a:pPr>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 Screw-in hanging hook large enough to hold the throwing equipment</a:t>
            </a:r>
          </a:p>
          <a:p>
            <a:pPr>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 Throwing equipment, such as a ring buoy or a heaving jug*</a:t>
            </a:r>
          </a:p>
          <a:p>
            <a:pPr>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 </a:t>
            </a:r>
          </a:p>
          <a:p>
            <a:pPr>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10481185" y="858466"/>
            <a:ext cx="1641199" cy="1999661"/>
          </a:xfrm>
          <a:prstGeom prst="rect">
            <a:avLst/>
          </a:prstGeom>
        </p:spPr>
      </p:pic>
      <p:pic>
        <p:nvPicPr>
          <p:cNvPr id="5" name="Picture 4"/>
          <p:cNvPicPr>
            <a:picLocks noChangeAspect="1"/>
          </p:cNvPicPr>
          <p:nvPr/>
        </p:nvPicPr>
        <p:blipFill>
          <a:blip r:embed="rId3"/>
          <a:stretch>
            <a:fillRect/>
          </a:stretch>
        </p:blipFill>
        <p:spPr>
          <a:xfrm>
            <a:off x="10481185" y="2858127"/>
            <a:ext cx="1641197" cy="1999661"/>
          </a:xfrm>
          <a:prstGeom prst="rect">
            <a:avLst/>
          </a:prstGeom>
        </p:spPr>
      </p:pic>
      <p:pic>
        <p:nvPicPr>
          <p:cNvPr id="6" name="Picture 5"/>
          <p:cNvPicPr>
            <a:picLocks noChangeAspect="1"/>
          </p:cNvPicPr>
          <p:nvPr/>
        </p:nvPicPr>
        <p:blipFill>
          <a:blip r:embed="rId4"/>
          <a:stretch>
            <a:fillRect/>
          </a:stretch>
        </p:blipFill>
        <p:spPr>
          <a:xfrm>
            <a:off x="10481186" y="4857788"/>
            <a:ext cx="1641197" cy="1335140"/>
          </a:xfrm>
          <a:prstGeom prst="rect">
            <a:avLst/>
          </a:prstGeom>
        </p:spPr>
      </p:pic>
    </p:spTree>
    <p:extLst>
      <p:ext uri="{BB962C8B-B14F-4D97-AF65-F5344CB8AC3E}">
        <p14:creationId xmlns:p14="http://schemas.microsoft.com/office/powerpoint/2010/main" val="1724345376"/>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4129" y="365125"/>
            <a:ext cx="11461183" cy="1325563"/>
          </a:xfrm>
        </p:spPr>
        <p:txBody>
          <a:bodyPr>
            <a:noAutofit/>
          </a:bodyPr>
          <a:lstStyle/>
          <a:p>
            <a:r>
              <a:rPr lang="en-US" b="1" dirty="0">
                <a:latin typeface="Times New Roman" panose="02020603050405020304" pitchFamily="18" charset="0"/>
                <a:cs typeface="Times New Roman" panose="02020603050405020304" pitchFamily="18" charset="0"/>
              </a:rPr>
              <a:t>WATER SAFETY – RECOGNITION AND RESPONSE - </a:t>
            </a:r>
            <a:r>
              <a:rPr lang="en-US" b="1" dirty="0" smtClean="0">
                <a:latin typeface="Times New Roman" panose="02020603050405020304" pitchFamily="18" charset="0"/>
                <a:cs typeface="Times New Roman" panose="02020603050405020304" pitchFamily="18" charset="0"/>
              </a:rPr>
              <a:t>PREPARING FOR EMERGENCIES</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344129" y="1858297"/>
            <a:ext cx="10382865" cy="4719924"/>
          </a:xfrm>
        </p:spPr>
        <p:txBody>
          <a:bodyPr>
            <a:noAutofit/>
          </a:bodyPr>
          <a:lstStyle/>
          <a:p>
            <a:pPr lvl="0">
              <a:buFont typeface="Wingdings" panose="05000000000000000000" pitchFamily="2" charset="2"/>
              <a:buChar char="ü"/>
            </a:pPr>
            <a:r>
              <a:rPr lang="en-US" dirty="0">
                <a:solidFill>
                  <a:prstClr val="black"/>
                </a:solidFill>
                <a:latin typeface="Times New Roman" panose="02020603050405020304" pitchFamily="18" charset="0"/>
                <a:cs typeface="Times New Roman" panose="02020603050405020304" pitchFamily="18" charset="0"/>
              </a:rPr>
              <a:t>Reaching equipment, such as a 10- to 12-foot reaching pole</a:t>
            </a:r>
          </a:p>
          <a:p>
            <a:pPr lvl="0">
              <a:buFont typeface="Wingdings" panose="05000000000000000000" pitchFamily="2" charset="2"/>
              <a:buChar char="ü"/>
            </a:pPr>
            <a:r>
              <a:rPr lang="en-US" dirty="0">
                <a:solidFill>
                  <a:prstClr val="black"/>
                </a:solidFill>
                <a:latin typeface="Times New Roman" panose="02020603050405020304" pitchFamily="18" charset="0"/>
                <a:cs typeface="Times New Roman" panose="02020603050405020304" pitchFamily="18" charset="0"/>
              </a:rPr>
              <a:t> Clips to secure the reaching equipment OR two 6-ounce cans with both ends removed and nails</a:t>
            </a:r>
          </a:p>
          <a:p>
            <a:pPr lvl="0">
              <a:buFont typeface="Wingdings" panose="05000000000000000000" pitchFamily="2" charset="2"/>
              <a:buChar char="ü"/>
            </a:pPr>
            <a:r>
              <a:rPr lang="en-US" dirty="0">
                <a:solidFill>
                  <a:prstClr val="black"/>
                </a:solidFill>
                <a:latin typeface="Times New Roman" panose="02020603050405020304" pitchFamily="18" charset="0"/>
                <a:cs typeface="Times New Roman" panose="02020603050405020304" pitchFamily="18" charset="0"/>
              </a:rPr>
              <a:t> Plastic zipper bag</a:t>
            </a:r>
          </a:p>
          <a:p>
            <a:pPr lvl="0">
              <a:buFont typeface="Wingdings" panose="05000000000000000000" pitchFamily="2" charset="2"/>
              <a:buChar char="ü"/>
            </a:pPr>
            <a:r>
              <a:rPr lang="en-US" dirty="0">
                <a:solidFill>
                  <a:prstClr val="black"/>
                </a:solidFill>
                <a:latin typeface="Times New Roman" panose="02020603050405020304" pitchFamily="18" charset="0"/>
                <a:cs typeface="Times New Roman" panose="02020603050405020304" pitchFamily="18" charset="0"/>
              </a:rPr>
              <a:t> First aid kit</a:t>
            </a:r>
          </a:p>
          <a:p>
            <a:pPr lvl="0"/>
            <a:r>
              <a:rPr lang="en-US" dirty="0">
                <a:solidFill>
                  <a:prstClr val="black"/>
                </a:solidFill>
                <a:latin typeface="Times New Roman" panose="02020603050405020304" pitchFamily="18" charset="0"/>
                <a:cs typeface="Times New Roman" panose="02020603050405020304" pitchFamily="18" charset="0"/>
              </a:rPr>
              <a:t> Emergency contact information, including phone numbers for summoning help and information that will help responders find your location (i.e., the street address and the names of the nearest cross streets)</a:t>
            </a:r>
          </a:p>
          <a:p>
            <a:pPr lvl="0"/>
            <a:r>
              <a:rPr lang="en-US" dirty="0">
                <a:solidFill>
                  <a:prstClr val="black"/>
                </a:solidFill>
                <a:latin typeface="Times New Roman" panose="02020603050405020304" pitchFamily="18" charset="0"/>
                <a:cs typeface="Times New Roman" panose="02020603050405020304" pitchFamily="18" charset="0"/>
              </a:rPr>
              <a:t> Safety poster or first aid booklet (optional)</a:t>
            </a:r>
            <a:endParaRPr lang="en-US"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10481185" y="858466"/>
            <a:ext cx="1641199" cy="1999661"/>
          </a:xfrm>
          <a:prstGeom prst="rect">
            <a:avLst/>
          </a:prstGeom>
        </p:spPr>
      </p:pic>
      <p:pic>
        <p:nvPicPr>
          <p:cNvPr id="5" name="Picture 4"/>
          <p:cNvPicPr>
            <a:picLocks noChangeAspect="1"/>
          </p:cNvPicPr>
          <p:nvPr/>
        </p:nvPicPr>
        <p:blipFill>
          <a:blip r:embed="rId3"/>
          <a:stretch>
            <a:fillRect/>
          </a:stretch>
        </p:blipFill>
        <p:spPr>
          <a:xfrm>
            <a:off x="10481185" y="2858127"/>
            <a:ext cx="1641197" cy="1999661"/>
          </a:xfrm>
          <a:prstGeom prst="rect">
            <a:avLst/>
          </a:prstGeom>
        </p:spPr>
      </p:pic>
      <p:pic>
        <p:nvPicPr>
          <p:cNvPr id="6" name="Picture 5"/>
          <p:cNvPicPr>
            <a:picLocks noChangeAspect="1"/>
          </p:cNvPicPr>
          <p:nvPr/>
        </p:nvPicPr>
        <p:blipFill>
          <a:blip r:embed="rId4"/>
          <a:stretch>
            <a:fillRect/>
          </a:stretch>
        </p:blipFill>
        <p:spPr>
          <a:xfrm>
            <a:off x="10481186" y="4857788"/>
            <a:ext cx="1641197" cy="1335140"/>
          </a:xfrm>
          <a:prstGeom prst="rect">
            <a:avLst/>
          </a:prstGeom>
        </p:spPr>
      </p:pic>
    </p:spTree>
    <p:extLst>
      <p:ext uri="{BB962C8B-B14F-4D97-AF65-F5344CB8AC3E}">
        <p14:creationId xmlns:p14="http://schemas.microsoft.com/office/powerpoint/2010/main" val="1724345376"/>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1613" y="334531"/>
            <a:ext cx="11307097" cy="924475"/>
          </a:xfrm>
        </p:spPr>
        <p:txBody>
          <a:bodyPr>
            <a:noAutofit/>
          </a:bodyPr>
          <a:lstStyle/>
          <a:p>
            <a:r>
              <a:rPr lang="en-US" b="1" dirty="0">
                <a:latin typeface="Times New Roman" panose="02020603050405020304" pitchFamily="18" charset="0"/>
                <a:cs typeface="Times New Roman" panose="02020603050405020304" pitchFamily="18" charset="0"/>
              </a:rPr>
              <a:t>WATER SAFETY </a:t>
            </a:r>
            <a:r>
              <a:rPr lang="en-US" b="1" dirty="0" smtClean="0">
                <a:latin typeface="Times New Roman" panose="02020603050405020304" pitchFamily="18" charset="0"/>
                <a:cs typeface="Times New Roman" panose="02020603050405020304" pitchFamily="18" charset="0"/>
              </a:rPr>
              <a:t>– STAYING SAFE WHILE IN WATER</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91614" y="1296537"/>
            <a:ext cx="11307096" cy="5308979"/>
          </a:xfrm>
        </p:spPr>
        <p:txBody>
          <a:bodyPr>
            <a:noAutofit/>
          </a:bodyPr>
          <a:lstStyle/>
          <a:p>
            <a:pPr>
              <a:buFont typeface="Arial" panose="020B0604020202020204" pitchFamily="34" charset="0"/>
              <a:buChar char="•"/>
            </a:pPr>
            <a:r>
              <a:rPr lang="en-US" dirty="0" smtClean="0">
                <a:latin typeface="Times New Roman" panose="02020603050405020304" pitchFamily="18" charset="0"/>
                <a:cs typeface="Times New Roman" panose="02020603050405020304" pitchFamily="18" charset="0"/>
              </a:rPr>
              <a:t>Specific </a:t>
            </a:r>
            <a:r>
              <a:rPr lang="en-US" dirty="0">
                <a:latin typeface="Times New Roman" panose="02020603050405020304" pitchFamily="18" charset="0"/>
                <a:cs typeface="Times New Roman" panose="02020603050405020304" pitchFamily="18" charset="0"/>
              </a:rPr>
              <a:t>activities that are enjoyed in, on or around the water have </a:t>
            </a:r>
            <a:r>
              <a:rPr lang="en-US" dirty="0" err="1">
                <a:latin typeface="Times New Roman" panose="02020603050405020304" pitchFamily="18" charset="0"/>
                <a:cs typeface="Times New Roman" panose="02020603050405020304" pitchFamily="18" charset="0"/>
              </a:rPr>
              <a:t>specifi</a:t>
            </a:r>
            <a:r>
              <a:rPr lang="en-US" dirty="0">
                <a:latin typeface="Times New Roman" panose="02020603050405020304" pitchFamily="18" charset="0"/>
                <a:cs typeface="Times New Roman" panose="02020603050405020304" pitchFamily="18" charset="0"/>
              </a:rPr>
              <a:t> c </a:t>
            </a:r>
            <a:r>
              <a:rPr lang="en-US" dirty="0" smtClean="0">
                <a:latin typeface="Times New Roman" panose="02020603050405020304" pitchFamily="18" charset="0"/>
                <a:cs typeface="Times New Roman" panose="02020603050405020304" pitchFamily="18" charset="0"/>
              </a:rPr>
              <a:t>safety considerations.</a:t>
            </a:r>
          </a:p>
          <a:p>
            <a:pPr>
              <a:buFont typeface="Arial" panose="020B0604020202020204" pitchFamily="34" charset="0"/>
              <a:buChar char="•"/>
            </a:pPr>
            <a:endParaRPr lang="en-US"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Swimming</a:t>
            </a:r>
          </a:p>
          <a:p>
            <a:pPr>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To stay safe while swimming, never swim alone and always swim in a supervised area. </a:t>
            </a:r>
            <a:r>
              <a:rPr lang="en-US" dirty="0" smtClean="0">
                <a:latin typeface="Times New Roman" panose="02020603050405020304" pitchFamily="18" charset="0"/>
                <a:cs typeface="Times New Roman" panose="02020603050405020304" pitchFamily="18" charset="0"/>
              </a:rPr>
              <a:t>In addition</a:t>
            </a:r>
            <a:r>
              <a:rPr lang="en-US" dirty="0">
                <a:latin typeface="Times New Roman" panose="02020603050405020304" pitchFamily="18" charset="0"/>
                <a:cs typeface="Times New Roman" panose="02020603050405020304" pitchFamily="18" charset="0"/>
              </a:rPr>
              <a:t>, be aware of situations and behaviors that could threaten your safety while swimming</a:t>
            </a:r>
            <a:r>
              <a:rPr lang="en-US" dirty="0" smtClean="0">
                <a:latin typeface="Times New Roman" panose="02020603050405020304" pitchFamily="18" charset="0"/>
                <a:cs typeface="Times New Roman" panose="02020603050405020304" pitchFamily="18" charset="0"/>
              </a:rPr>
              <a:t>.</a:t>
            </a:r>
          </a:p>
          <a:p>
            <a:pPr>
              <a:buFont typeface="Verdana" panose="020B0604030504040204" pitchFamily="34" charset="0"/>
              <a:buChar char="─"/>
            </a:pP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Exhaustion</a:t>
            </a:r>
          </a:p>
          <a:p>
            <a:pPr>
              <a:buFont typeface="Courier New" panose="02070309020205020404" pitchFamily="49" charset="0"/>
              <a:buChar char="o"/>
            </a:pPr>
            <a:r>
              <a:rPr lang="en-US" dirty="0" smtClean="0">
                <a:latin typeface="Times New Roman" panose="02020603050405020304" pitchFamily="18" charset="0"/>
                <a:cs typeface="Times New Roman" panose="02020603050405020304" pitchFamily="18" charset="0"/>
              </a:rPr>
              <a:t>Becoming </a:t>
            </a:r>
            <a:r>
              <a:rPr lang="en-US" dirty="0">
                <a:latin typeface="Times New Roman" panose="02020603050405020304" pitchFamily="18" charset="0"/>
                <a:cs typeface="Times New Roman" panose="02020603050405020304" pitchFamily="18" charset="0"/>
              </a:rPr>
              <a:t>too tired while swimming can put a person at risk for drowning. </a:t>
            </a:r>
            <a:r>
              <a:rPr lang="en-US" dirty="0" smtClean="0">
                <a:latin typeface="Times New Roman" panose="02020603050405020304" pitchFamily="18" charset="0"/>
                <a:cs typeface="Times New Roman" panose="02020603050405020304" pitchFamily="18" charset="0"/>
              </a:rPr>
              <a:t>Exhaustion (also </a:t>
            </a:r>
            <a:r>
              <a:rPr lang="en-US" dirty="0">
                <a:latin typeface="Times New Roman" panose="02020603050405020304" pitchFamily="18" charset="0"/>
                <a:cs typeface="Times New Roman" panose="02020603050405020304" pitchFamily="18" charset="0"/>
              </a:rPr>
              <a:t>referred to as fatigue) simply means that the person no longer has the energy to </a:t>
            </a:r>
            <a:r>
              <a:rPr lang="en-US" dirty="0" smtClean="0">
                <a:latin typeface="Times New Roman" panose="02020603050405020304" pitchFamily="18" charset="0"/>
                <a:cs typeface="Times New Roman" panose="02020603050405020304" pitchFamily="18" charset="0"/>
              </a:rPr>
              <a:t>keep swimming </a:t>
            </a:r>
            <a:r>
              <a:rPr lang="en-US" dirty="0">
                <a:latin typeface="Times New Roman" panose="02020603050405020304" pitchFamily="18" charset="0"/>
                <a:cs typeface="Times New Roman" panose="02020603050405020304" pitchFamily="18" charset="0"/>
              </a:rPr>
              <a:t>or </a:t>
            </a:r>
            <a:r>
              <a:rPr lang="en-US" dirty="0" smtClean="0">
                <a:latin typeface="Times New Roman" panose="02020603050405020304" pitchFamily="18" charset="0"/>
                <a:cs typeface="Times New Roman" panose="02020603050405020304" pitchFamily="18" charset="0"/>
              </a:rPr>
              <a:t>floating. </a:t>
            </a:r>
          </a:p>
        </p:txBody>
      </p:sp>
    </p:spTree>
    <p:extLst>
      <p:ext uri="{BB962C8B-B14F-4D97-AF65-F5344CB8AC3E}">
        <p14:creationId xmlns:p14="http://schemas.microsoft.com/office/powerpoint/2010/main" val="3331477571"/>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1613" y="334531"/>
            <a:ext cx="11307097" cy="924475"/>
          </a:xfrm>
        </p:spPr>
        <p:txBody>
          <a:bodyPr>
            <a:noAutofit/>
          </a:bodyPr>
          <a:lstStyle/>
          <a:p>
            <a:r>
              <a:rPr lang="en-US" b="1" dirty="0">
                <a:latin typeface="Times New Roman" panose="02020603050405020304" pitchFamily="18" charset="0"/>
                <a:cs typeface="Times New Roman" panose="02020603050405020304" pitchFamily="18" charset="0"/>
              </a:rPr>
              <a:t>WATER SAFETY </a:t>
            </a:r>
            <a:r>
              <a:rPr lang="en-US" b="1" dirty="0" smtClean="0">
                <a:latin typeface="Times New Roman" panose="02020603050405020304" pitchFamily="18" charset="0"/>
                <a:cs typeface="Times New Roman" panose="02020603050405020304" pitchFamily="18" charset="0"/>
              </a:rPr>
              <a:t>– STAYING SAFE WHILE IN WATER</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91614" y="1296537"/>
            <a:ext cx="11307096" cy="5308979"/>
          </a:xfrm>
        </p:spPr>
        <p:txBody>
          <a:bodyPr>
            <a:noAutofit/>
          </a:bodyPr>
          <a:lstStyle/>
          <a:p>
            <a:pPr lvl="0">
              <a:buFont typeface="Courier New" panose="02070309020205020404" pitchFamily="49" charset="0"/>
              <a:buChar char="o"/>
            </a:pPr>
            <a:r>
              <a:rPr lang="en-US" dirty="0">
                <a:solidFill>
                  <a:prstClr val="black"/>
                </a:solidFill>
                <a:latin typeface="Times New Roman" panose="02020603050405020304" pitchFamily="18" charset="0"/>
                <a:cs typeface="Times New Roman" panose="02020603050405020304" pitchFamily="18" charset="0"/>
              </a:rPr>
              <a:t>Exhaustion can occur as a reaction to cold water, after being in the sun for too long, as a result of being dehydrated, as a result of swimming too long or too hard, or from any combination of these factors. </a:t>
            </a:r>
            <a:endParaRPr lang="en-US" dirty="0" smtClean="0">
              <a:solidFill>
                <a:prstClr val="black"/>
              </a:solidFill>
              <a:latin typeface="Times New Roman" panose="02020603050405020304" pitchFamily="18" charset="0"/>
              <a:cs typeface="Times New Roman" panose="02020603050405020304" pitchFamily="18" charset="0"/>
            </a:endParaRPr>
          </a:p>
          <a:p>
            <a:pPr lvl="0">
              <a:buFont typeface="Courier New" panose="02070309020205020404" pitchFamily="49" charset="0"/>
              <a:buChar char="o"/>
            </a:pPr>
            <a:r>
              <a:rPr lang="en-US" dirty="0" smtClean="0">
                <a:solidFill>
                  <a:prstClr val="black"/>
                </a:solidFill>
                <a:latin typeface="Times New Roman" panose="02020603050405020304" pitchFamily="18" charset="0"/>
                <a:cs typeface="Times New Roman" panose="02020603050405020304" pitchFamily="18" charset="0"/>
              </a:rPr>
              <a:t>It </a:t>
            </a:r>
            <a:r>
              <a:rPr lang="en-US" dirty="0">
                <a:solidFill>
                  <a:prstClr val="black"/>
                </a:solidFill>
                <a:latin typeface="Times New Roman" panose="02020603050405020304" pitchFamily="18" charset="0"/>
                <a:cs typeface="Times New Roman" panose="02020603050405020304" pitchFamily="18" charset="0"/>
              </a:rPr>
              <a:t>is more likely to occur in swimmers who:</a:t>
            </a:r>
          </a:p>
          <a:p>
            <a:pPr lvl="0">
              <a:buFont typeface="Wingdings" panose="05000000000000000000" pitchFamily="2" charset="2"/>
              <a:buChar char="Ø"/>
            </a:pPr>
            <a:r>
              <a:rPr lang="en-US" dirty="0">
                <a:solidFill>
                  <a:prstClr val="black"/>
                </a:solidFill>
                <a:latin typeface="Times New Roman" panose="02020603050405020304" pitchFamily="18" charset="0"/>
                <a:cs typeface="Times New Roman" panose="02020603050405020304" pitchFamily="18" charset="0"/>
              </a:rPr>
              <a:t>Swim early in the season when the water is cold.</a:t>
            </a:r>
          </a:p>
          <a:p>
            <a:pPr lvl="0">
              <a:buFont typeface="Wingdings" panose="05000000000000000000" pitchFamily="2" charset="2"/>
              <a:buChar char="Ø"/>
            </a:pPr>
            <a:r>
              <a:rPr lang="en-US" dirty="0">
                <a:solidFill>
                  <a:prstClr val="black"/>
                </a:solidFill>
                <a:latin typeface="Times New Roman" panose="02020603050405020304" pitchFamily="18" charset="0"/>
                <a:cs typeface="Times New Roman" panose="02020603050405020304" pitchFamily="18" charset="0"/>
              </a:rPr>
              <a:t>Swim too much before they are really in shape.</a:t>
            </a:r>
          </a:p>
          <a:p>
            <a:pPr lvl="0">
              <a:buFont typeface="Wingdings" panose="05000000000000000000" pitchFamily="2" charset="2"/>
              <a:buChar char="Ø"/>
            </a:pPr>
            <a:r>
              <a:rPr lang="en-US" dirty="0">
                <a:solidFill>
                  <a:prstClr val="black"/>
                </a:solidFill>
                <a:latin typeface="Times New Roman" panose="02020603050405020304" pitchFamily="18" charset="0"/>
                <a:cs typeface="Times New Roman" panose="02020603050405020304" pitchFamily="18" charset="0"/>
              </a:rPr>
              <a:t>Do not know which strokes to use to conserve energy (for example, the elementary backstroke takes relatively little energy compared to a front crawl).</a:t>
            </a:r>
          </a:p>
          <a:p>
            <a:pPr lvl="0">
              <a:buFont typeface="Wingdings" panose="05000000000000000000" pitchFamily="2" charset="2"/>
              <a:buChar char="Ø"/>
            </a:pPr>
            <a:r>
              <a:rPr lang="en-US" dirty="0">
                <a:solidFill>
                  <a:prstClr val="black"/>
                </a:solidFill>
                <a:latin typeface="Times New Roman" panose="02020603050405020304" pitchFamily="18" charset="0"/>
                <a:cs typeface="Times New Roman" panose="02020603050405020304" pitchFamily="18" charset="0"/>
              </a:rPr>
              <a:t>Are young, inexperienced or both.</a:t>
            </a:r>
          </a:p>
          <a:p>
            <a:pPr>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31477571"/>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1613" y="334531"/>
            <a:ext cx="11307097" cy="924475"/>
          </a:xfrm>
        </p:spPr>
        <p:txBody>
          <a:bodyPr>
            <a:noAutofit/>
          </a:bodyPr>
          <a:lstStyle/>
          <a:p>
            <a:r>
              <a:rPr lang="en-US" b="1" dirty="0">
                <a:latin typeface="Times New Roman" panose="02020603050405020304" pitchFamily="18" charset="0"/>
                <a:cs typeface="Times New Roman" panose="02020603050405020304" pitchFamily="18" charset="0"/>
              </a:rPr>
              <a:t>WATER SAFETY </a:t>
            </a:r>
            <a:r>
              <a:rPr lang="en-US" b="1" dirty="0" smtClean="0">
                <a:latin typeface="Times New Roman" panose="02020603050405020304" pitchFamily="18" charset="0"/>
                <a:cs typeface="Times New Roman" panose="02020603050405020304" pitchFamily="18" charset="0"/>
              </a:rPr>
              <a:t>– STAYING SAFE WHILE IN WATER</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91614" y="1296537"/>
            <a:ext cx="11307096" cy="5308979"/>
          </a:xfrm>
        </p:spPr>
        <p:txBody>
          <a:bodyPr>
            <a:noAutofit/>
          </a:bodyPr>
          <a:lstStyle/>
          <a:p>
            <a:pPr lvl="0">
              <a:buFont typeface="Wingdings" panose="05000000000000000000" pitchFamily="2" charset="2"/>
              <a:buChar char="Ø"/>
            </a:pPr>
            <a:r>
              <a:rPr lang="en-US" dirty="0">
                <a:solidFill>
                  <a:prstClr val="black"/>
                </a:solidFill>
                <a:latin typeface="Times New Roman" panose="02020603050405020304" pitchFamily="18" charset="0"/>
                <a:cs typeface="Times New Roman" panose="02020603050405020304" pitchFamily="18" charset="0"/>
              </a:rPr>
              <a:t>To prevent exhaustion, take breaks and rest often while swimming or doing other water activities. Be aware of your abilities and environment, and listen to your body</a:t>
            </a:r>
            <a:r>
              <a:rPr lang="en-US" dirty="0" smtClean="0">
                <a:solidFill>
                  <a:prstClr val="black"/>
                </a:solidFill>
                <a:latin typeface="Times New Roman" panose="02020603050405020304" pitchFamily="18" charset="0"/>
                <a:cs typeface="Times New Roman" panose="02020603050405020304" pitchFamily="18" charset="0"/>
              </a:rPr>
              <a:t>.</a:t>
            </a:r>
          </a:p>
          <a:p>
            <a:pPr lvl="0"/>
            <a:r>
              <a:rPr lang="en-US" dirty="0">
                <a:solidFill>
                  <a:prstClr val="black"/>
                </a:solidFill>
                <a:latin typeface="Times New Roman" panose="02020603050405020304" pitchFamily="18" charset="0"/>
                <a:cs typeface="Times New Roman" panose="02020603050405020304" pitchFamily="18" charset="0"/>
              </a:rPr>
              <a:t>A swimmer may be acting oddly or a scream or sudden splash may be heard. Sometimes unusual odor such as strong chlorine odor could indicate a problem</a:t>
            </a:r>
          </a:p>
          <a:p>
            <a:pPr lvl="0"/>
            <a:r>
              <a:rPr lang="en-US" dirty="0">
                <a:solidFill>
                  <a:prstClr val="black"/>
                </a:solidFill>
                <a:latin typeface="Times New Roman" panose="02020603050405020304" pitchFamily="18" charset="0"/>
                <a:cs typeface="Times New Roman" panose="02020603050405020304" pitchFamily="18" charset="0"/>
              </a:rPr>
              <a:t>Being able to recognize a person who is having trouble in the water may help save that person’s life.</a:t>
            </a:r>
          </a:p>
          <a:p>
            <a:pPr lvl="0"/>
            <a:r>
              <a:rPr lang="en-US" dirty="0">
                <a:solidFill>
                  <a:prstClr val="black"/>
                </a:solidFill>
                <a:latin typeface="Times New Roman" panose="02020603050405020304" pitchFamily="18" charset="0"/>
                <a:cs typeface="Times New Roman" panose="02020603050405020304" pitchFamily="18" charset="0"/>
              </a:rPr>
              <a:t>Most people who are in trouble in the water cannot or do not call for help. They spend their energy just trying to keep their heads above water to get a breath</a:t>
            </a:r>
          </a:p>
          <a:p>
            <a:pPr lvl="0"/>
            <a:r>
              <a:rPr lang="en-US" dirty="0">
                <a:solidFill>
                  <a:prstClr val="black"/>
                </a:solidFill>
                <a:latin typeface="Times New Roman" panose="02020603050405020304" pitchFamily="18" charset="0"/>
                <a:cs typeface="Times New Roman" panose="02020603050405020304" pitchFamily="18" charset="0"/>
              </a:rPr>
              <a:t>A person who is experiencing a medical or other type of emergency might slip underwater quickly or never resurface</a:t>
            </a:r>
          </a:p>
          <a:p>
            <a:pPr lvl="0">
              <a:buFont typeface="Wingdings" panose="05000000000000000000" pitchFamily="2" charset="2"/>
              <a:buChar char="Ø"/>
            </a:pPr>
            <a:endParaRPr lang="en-US" dirty="0">
              <a:solidFill>
                <a:prstClr val="black"/>
              </a:solidFill>
              <a:latin typeface="Times New Roman" panose="02020603050405020304" pitchFamily="18" charset="0"/>
              <a:cs typeface="Times New Roman" panose="02020603050405020304" pitchFamily="18" charset="0"/>
            </a:endParaRPr>
          </a:p>
          <a:p>
            <a:pPr>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31477571"/>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5806" y="272395"/>
            <a:ext cx="11523407" cy="1499616"/>
          </a:xfrm>
        </p:spPr>
        <p:txBody>
          <a:bodyPr>
            <a:normAutofit fontScale="90000"/>
          </a:bodyPr>
          <a:lstStyle/>
          <a:p>
            <a:r>
              <a:rPr lang="en-US" b="1" dirty="0" smtClean="0">
                <a:latin typeface="Times New Roman" panose="02020603050405020304" pitchFamily="18" charset="0"/>
                <a:cs typeface="Times New Roman" panose="02020603050405020304" pitchFamily="18" charset="0"/>
              </a:rPr>
              <a:t>WATER SAFETY – RECOGNITION AND RESPONSE - RECOGNIZING AN EMERGENCY</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12955" y="1624262"/>
            <a:ext cx="11503742" cy="5117732"/>
          </a:xfrm>
        </p:spPr>
        <p:txBody>
          <a:bodyPr>
            <a:noAutofit/>
          </a:bodyPr>
          <a:lstStyle/>
          <a:p>
            <a:pPr algn="just">
              <a:buFont typeface="Arial" panose="020B0604020202020204" pitchFamily="34" charset="0"/>
              <a:buChar char="•"/>
            </a:pPr>
            <a:r>
              <a:rPr lang="en-US" sz="2800" dirty="0" smtClean="0">
                <a:latin typeface="Times New Roman" panose="02020603050405020304" pitchFamily="18" charset="0"/>
                <a:cs typeface="Times New Roman" panose="02020603050405020304" pitchFamily="18" charset="0"/>
              </a:rPr>
              <a:t>There are two types of drowning victims;</a:t>
            </a:r>
          </a:p>
          <a:p>
            <a:pPr algn="just">
              <a:buFont typeface="Arial" panose="020B0604020202020204" pitchFamily="34" charset="0"/>
              <a:buChar char="•"/>
            </a:pPr>
            <a:endParaRPr lang="en-US" sz="2800" dirty="0" smtClean="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ü"/>
            </a:pPr>
            <a:r>
              <a:rPr lang="en-US" sz="2800" dirty="0" smtClean="0">
                <a:latin typeface="Times New Roman" panose="02020603050405020304" pitchFamily="18" charset="0"/>
                <a:cs typeface="Times New Roman" panose="02020603050405020304" pitchFamily="18" charset="0"/>
              </a:rPr>
              <a:t>An active drowning victim is in vertical position but unable to move forward or tread water. </a:t>
            </a:r>
          </a:p>
          <a:p>
            <a:pPr algn="just">
              <a:buFont typeface="Courier New" panose="02070309020205020404" pitchFamily="49" charset="0"/>
              <a:buChar char="o"/>
            </a:pPr>
            <a:r>
              <a:rPr lang="en-US" sz="2800" dirty="0" smtClean="0">
                <a:latin typeface="Times New Roman" panose="02020603050405020304" pitchFamily="18" charset="0"/>
                <a:cs typeface="Times New Roman" panose="02020603050405020304" pitchFamily="18" charset="0"/>
              </a:rPr>
              <a:t>Normally an active drowning victim will try to press down with the arms at the side in an instinctive attempt to keep the head above the water</a:t>
            </a:r>
          </a:p>
          <a:p>
            <a:pPr algn="just">
              <a:buFont typeface="Courier New" panose="02070309020205020404" pitchFamily="49" charset="0"/>
              <a:buChar char="o"/>
            </a:pPr>
            <a:endParaRPr lang="en-US" sz="2800" dirty="0" smtClean="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ü"/>
            </a:pPr>
            <a:r>
              <a:rPr lang="en-US" sz="2800" dirty="0" smtClean="0">
                <a:latin typeface="Times New Roman" panose="02020603050405020304" pitchFamily="18" charset="0"/>
                <a:cs typeface="Times New Roman" panose="02020603050405020304" pitchFamily="18" charset="0"/>
              </a:rPr>
              <a:t>A passive drowning victim is not moving and will be floating face-down on the bottom or near the surface of water</a:t>
            </a:r>
          </a:p>
          <a:p>
            <a:pPr algn="just">
              <a:buFont typeface="Wingdings" panose="05000000000000000000" pitchFamily="2" charset="2"/>
              <a:buChar char="ü"/>
            </a:pPr>
            <a:endParaRPr lang="en-US" sz="2800" dirty="0" smtClean="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ü"/>
            </a:pPr>
            <a:endParaRPr lang="en-US" sz="2800" dirty="0" smtClean="0">
              <a:latin typeface="Times New Roman" panose="02020603050405020304" pitchFamily="18" charset="0"/>
              <a:cs typeface="Times New Roman" panose="02020603050405020304" pitchFamily="18" charset="0"/>
            </a:endParaRPr>
          </a:p>
          <a:p>
            <a:pPr marL="0" indent="0">
              <a:buNone/>
            </a:pPr>
            <a:endParaRPr lang="en-US" sz="3200"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90482389"/>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5806" y="272395"/>
            <a:ext cx="11523407" cy="1499616"/>
          </a:xfrm>
        </p:spPr>
        <p:txBody>
          <a:bodyPr>
            <a:normAutofit fontScale="90000"/>
          </a:bodyPr>
          <a:lstStyle/>
          <a:p>
            <a:r>
              <a:rPr lang="en-US" b="1" dirty="0" smtClean="0">
                <a:latin typeface="Times New Roman" panose="02020603050405020304" pitchFamily="18" charset="0"/>
                <a:cs typeface="Times New Roman" panose="02020603050405020304" pitchFamily="18" charset="0"/>
              </a:rPr>
              <a:t>WATER SAFETY – RECOGNITION AND RESPONSE - RECOGNIZING AN EMERGENCY</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12955" y="1624262"/>
            <a:ext cx="11503742" cy="5117732"/>
          </a:xfrm>
        </p:spPr>
        <p:txBody>
          <a:bodyPr>
            <a:noAutofit/>
          </a:bodyPr>
          <a:lstStyle/>
          <a:p>
            <a:pPr lvl="0" algn="just">
              <a:buFont typeface="Wingdings" panose="05000000000000000000" pitchFamily="2" charset="2"/>
              <a:buChar char="ü"/>
            </a:pPr>
            <a:r>
              <a:rPr lang="en-US" dirty="0">
                <a:solidFill>
                  <a:prstClr val="black"/>
                </a:solidFill>
                <a:latin typeface="Times New Roman" panose="02020603050405020304" pitchFamily="18" charset="0"/>
                <a:cs typeface="Times New Roman" panose="02020603050405020304" pitchFamily="18" charset="0"/>
              </a:rPr>
              <a:t>A swimmer in distress may be too tired to get to shore, the side of the pool or a boat, but is still afloat and able to breathe. </a:t>
            </a:r>
          </a:p>
          <a:p>
            <a:pPr lvl="0" algn="just">
              <a:buFont typeface="Courier New" panose="02070309020205020404" pitchFamily="49" charset="0"/>
              <a:buChar char="o"/>
            </a:pPr>
            <a:r>
              <a:rPr lang="en-US" dirty="0">
                <a:solidFill>
                  <a:prstClr val="black"/>
                </a:solidFill>
                <a:latin typeface="Times New Roman" panose="02020603050405020304" pitchFamily="18" charset="0"/>
                <a:cs typeface="Times New Roman" panose="02020603050405020304" pitchFamily="18" charset="0"/>
              </a:rPr>
              <a:t>A distress swimmer may be calling for help and/or floating, treading water or clinging to a line for support</a:t>
            </a:r>
            <a:r>
              <a:rPr lang="en-US" dirty="0" smtClean="0">
                <a:solidFill>
                  <a:prstClr val="black"/>
                </a:solidFill>
                <a:latin typeface="Times New Roman" panose="02020603050405020304" pitchFamily="18" charset="0"/>
                <a:cs typeface="Times New Roman" panose="02020603050405020304" pitchFamily="18" charset="0"/>
              </a:rPr>
              <a:t>.</a:t>
            </a:r>
          </a:p>
          <a:p>
            <a:pPr lvl="0" algn="just">
              <a:buFont typeface="Courier New" panose="02070309020205020404" pitchFamily="49" charset="0"/>
              <a:buChar char="o"/>
            </a:pPr>
            <a:endParaRPr lang="en-US" dirty="0">
              <a:solidFill>
                <a:prstClr val="black"/>
              </a:solidFill>
              <a:latin typeface="Times New Roman" panose="02020603050405020304" pitchFamily="18" charset="0"/>
              <a:cs typeface="Times New Roman" panose="02020603050405020304" pitchFamily="18" charset="0"/>
            </a:endParaRPr>
          </a:p>
          <a:p>
            <a:pPr lvl="0" algn="just">
              <a:buFont typeface="Wingdings" panose="05000000000000000000" pitchFamily="2" charset="2"/>
              <a:buChar char="ü"/>
            </a:pPr>
            <a:r>
              <a:rPr lang="en-US" dirty="0">
                <a:solidFill>
                  <a:prstClr val="black"/>
                </a:solidFill>
                <a:latin typeface="Times New Roman" panose="02020603050405020304" pitchFamily="18" charset="0"/>
                <a:cs typeface="Times New Roman" panose="02020603050405020304" pitchFamily="18" charset="0"/>
              </a:rPr>
              <a:t> someone who is trying to swim but making little or no progress may be in distress and if not helped, the swimmer may soon become a drowning victim.</a:t>
            </a:r>
          </a:p>
          <a:p>
            <a:pPr marL="0" indent="0">
              <a:buNone/>
            </a:pPr>
            <a:endParaRPr lang="en-US" sz="3200"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90482389"/>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0773" y="236301"/>
            <a:ext cx="11169445" cy="1499616"/>
          </a:xfrm>
        </p:spPr>
        <p:txBody>
          <a:bodyPr>
            <a:normAutofit/>
          </a:bodyPr>
          <a:lstStyle/>
          <a:p>
            <a:r>
              <a:rPr lang="en-US" b="1" dirty="0" smtClean="0">
                <a:latin typeface="Times New Roman" panose="02020603050405020304" pitchFamily="18" charset="0"/>
                <a:cs typeface="Times New Roman" panose="02020603050405020304" pitchFamily="18" charset="0"/>
              </a:rPr>
              <a:t>WATER SAFETY – RECOGNITION AND RESPONSE - DECIDING TO ACT</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41445" y="1612231"/>
            <a:ext cx="11147432" cy="4932948"/>
          </a:xfrm>
        </p:spPr>
        <p:txBody>
          <a:bodyPr>
            <a:noAutofit/>
          </a:bodyPr>
          <a:lstStyle/>
          <a:p>
            <a:pPr algn="just">
              <a:buFont typeface="Arial" panose="020B0604020202020204" pitchFamily="34" charset="0"/>
              <a:buChar char="•"/>
            </a:pPr>
            <a:r>
              <a:rPr lang="en-US" sz="2800" dirty="0" smtClean="0">
                <a:latin typeface="Times New Roman" panose="02020603050405020304" pitchFamily="18" charset="0"/>
                <a:cs typeface="Times New Roman" panose="02020603050405020304" pitchFamily="18" charset="0"/>
              </a:rPr>
              <a:t>Once you recognize an emergency has occurred, the next step is to decide to act and how to act</a:t>
            </a:r>
          </a:p>
          <a:p>
            <a:pPr algn="just">
              <a:buFont typeface="Arial" panose="020B0604020202020204" pitchFamily="34" charset="0"/>
              <a:buChar char="•"/>
            </a:pPr>
            <a:endParaRPr lang="en-US" sz="2800" dirty="0" smtClean="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2800" dirty="0" smtClean="0">
                <a:latin typeface="Times New Roman" panose="02020603050405020304" pitchFamily="18" charset="0"/>
                <a:cs typeface="Times New Roman" panose="02020603050405020304" pitchFamily="18" charset="0"/>
              </a:rPr>
              <a:t>Often people are slow to act in an emergency because they are not sure exactly what to do or they think someone else will act.</a:t>
            </a:r>
          </a:p>
          <a:p>
            <a:pPr algn="just">
              <a:buFont typeface="Arial" panose="020B0604020202020204" pitchFamily="34" charset="0"/>
              <a:buChar char="•"/>
            </a:pPr>
            <a:endParaRPr lang="en-US" sz="2800" dirty="0" smtClean="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2800" dirty="0" smtClean="0">
                <a:latin typeface="Times New Roman" panose="02020603050405020304" pitchFamily="18" charset="0"/>
                <a:cs typeface="Times New Roman" panose="02020603050405020304" pitchFamily="18" charset="0"/>
              </a:rPr>
              <a:t>If you are in an emergency situation, your decision to act may save someone’s life.</a:t>
            </a:r>
          </a:p>
          <a:p>
            <a:pPr algn="just">
              <a:buFont typeface="Arial" panose="020B0604020202020204" pitchFamily="34" charset="0"/>
              <a:buChar char="•"/>
            </a:pPr>
            <a:endParaRPr lang="en-US" sz="2800" dirty="0" smtClean="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2800" dirty="0" smtClean="0">
                <a:latin typeface="Times New Roman" panose="02020603050405020304" pitchFamily="18" charset="0"/>
                <a:cs typeface="Times New Roman" panose="02020603050405020304" pitchFamily="18" charset="0"/>
              </a:rPr>
              <a:t>Once you have decided to act, proceed safely. Make sure the scene is safe-do not go rushing into dangerous situation and become a victim yourself.</a:t>
            </a:r>
          </a:p>
        </p:txBody>
      </p:sp>
    </p:spTree>
    <p:extLst>
      <p:ext uri="{BB962C8B-B14F-4D97-AF65-F5344CB8AC3E}">
        <p14:creationId xmlns:p14="http://schemas.microsoft.com/office/powerpoint/2010/main" val="2639939208"/>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0773" y="236301"/>
            <a:ext cx="11169445" cy="1499616"/>
          </a:xfrm>
        </p:spPr>
        <p:txBody>
          <a:bodyPr>
            <a:normAutofit/>
          </a:bodyPr>
          <a:lstStyle/>
          <a:p>
            <a:r>
              <a:rPr lang="en-US" b="1" dirty="0" smtClean="0">
                <a:latin typeface="Times New Roman" panose="02020603050405020304" pitchFamily="18" charset="0"/>
                <a:cs typeface="Times New Roman" panose="02020603050405020304" pitchFamily="18" charset="0"/>
              </a:rPr>
              <a:t>WATER SAFETY – RECOGNITION AND RESPONSE - DECIDING TO ACT</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41445" y="1612231"/>
            <a:ext cx="11147432" cy="4932948"/>
          </a:xfrm>
        </p:spPr>
        <p:txBody>
          <a:bodyPr>
            <a:noAutofit/>
          </a:bodyPr>
          <a:lstStyle/>
          <a:p>
            <a:pPr algn="just"/>
            <a:r>
              <a:rPr lang="en-US" dirty="0">
                <a:latin typeface="Times New Roman" panose="02020603050405020304" pitchFamily="18" charset="0"/>
                <a:cs typeface="Times New Roman" panose="02020603050405020304" pitchFamily="18" charset="0"/>
              </a:rPr>
              <a:t>If the victim is in the water, first decide whether he/she needs help getting out of the water then act based on your training. Never enter the water to help a victim unless you are trained to do so</a:t>
            </a:r>
            <a:r>
              <a:rPr lang="en-US" dirty="0" smtClean="0">
                <a:latin typeface="Times New Roman" panose="02020603050405020304" pitchFamily="18" charset="0"/>
                <a:cs typeface="Times New Roman" panose="02020603050405020304" pitchFamily="18" charset="0"/>
              </a:rPr>
              <a:t>.</a:t>
            </a:r>
          </a:p>
          <a:p>
            <a:pPr algn="just"/>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The first goal is for the responder to stay safe. If it can be done safely, the next step is to get the victim out of the water</a:t>
            </a:r>
            <a:r>
              <a:rPr lang="en-US" dirty="0" smtClean="0">
                <a:latin typeface="Times New Roman" panose="02020603050405020304" pitchFamily="18" charset="0"/>
                <a:cs typeface="Times New Roman" panose="02020603050405020304" pitchFamily="18" charset="0"/>
              </a:rPr>
              <a:t>.</a:t>
            </a:r>
          </a:p>
          <a:p>
            <a:pPr algn="just"/>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If the victim is out of the water, quickly try to determine what help the victim needs and check for any dangers to yourself or others helping</a:t>
            </a:r>
            <a:r>
              <a:rPr lang="en-US" dirty="0" smtClean="0">
                <a:latin typeface="Times New Roman" panose="02020603050405020304" pitchFamily="18" charset="0"/>
                <a:cs typeface="Times New Roman" panose="02020603050405020304" pitchFamily="18" charset="0"/>
              </a:rPr>
              <a:t>.</a:t>
            </a:r>
          </a:p>
          <a:p>
            <a:pPr algn="just"/>
            <a:endParaRPr lang="en-US"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endParaRPr lang="en-US" sz="2800"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39939208"/>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0773" y="236301"/>
            <a:ext cx="11169445" cy="1499616"/>
          </a:xfrm>
        </p:spPr>
        <p:txBody>
          <a:bodyPr>
            <a:normAutofit/>
          </a:bodyPr>
          <a:lstStyle/>
          <a:p>
            <a:r>
              <a:rPr lang="en-US" b="1" dirty="0" smtClean="0">
                <a:latin typeface="Times New Roman" panose="02020603050405020304" pitchFamily="18" charset="0"/>
                <a:cs typeface="Times New Roman" panose="02020603050405020304" pitchFamily="18" charset="0"/>
              </a:rPr>
              <a:t>WATER SAFETY – RECOGNITION AND RESPONSE - DECIDING TO ACT</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41445" y="1612231"/>
            <a:ext cx="11147432" cy="4932948"/>
          </a:xfrm>
        </p:spPr>
        <p:txBody>
          <a:bodyPr>
            <a:noAutofit/>
          </a:bodyPr>
          <a:lstStyle/>
          <a:p>
            <a:pPr lvl="0" algn="just"/>
            <a:r>
              <a:rPr lang="en-US" dirty="0">
                <a:solidFill>
                  <a:prstClr val="black"/>
                </a:solidFill>
                <a:latin typeface="Times New Roman" panose="02020603050405020304" pitchFamily="18" charset="0"/>
                <a:cs typeface="Times New Roman" panose="02020603050405020304" pitchFamily="18" charset="0"/>
              </a:rPr>
              <a:t>Look for any other victim. Look for bystanders who can help to give first aid or call for help. If the victim is in water, remember that the first goal is for the responder to stay safe. If it can be done safely, the next step is to help get the victim out of water</a:t>
            </a:r>
          </a:p>
          <a:p>
            <a:pPr lvl="0" algn="just"/>
            <a:endParaRPr lang="en-US" dirty="0">
              <a:solidFill>
                <a:prstClr val="black"/>
              </a:solidFill>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endParaRPr lang="en-US" sz="2800"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39939208"/>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3627" y="200205"/>
            <a:ext cx="11375922" cy="1499616"/>
          </a:xfrm>
        </p:spPr>
        <p:txBody>
          <a:bodyPr/>
          <a:lstStyle/>
          <a:p>
            <a:r>
              <a:rPr lang="en-US" b="1" dirty="0" smtClean="0">
                <a:latin typeface="Times New Roman" panose="02020603050405020304" pitchFamily="18" charset="0"/>
                <a:cs typeface="Times New Roman" panose="02020603050405020304" pitchFamily="18" charset="0"/>
              </a:rPr>
              <a:t>WATER SAFETY – RECOGNITION AND RESPONSE - CALLING FOR HELP</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85800" y="1540042"/>
            <a:ext cx="10503568" cy="5077326"/>
          </a:xfrm>
        </p:spPr>
        <p:txBody>
          <a:bodyPr numCol="1">
            <a:normAutofit/>
          </a:bodyPr>
          <a:lstStyle/>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a:t>
            </a:r>
            <a:r>
              <a:rPr lang="en-US" dirty="0" smtClean="0">
                <a:latin typeface="Times New Roman" panose="02020603050405020304" pitchFamily="18" charset="0"/>
                <a:cs typeface="Times New Roman" panose="02020603050405020304" pitchFamily="18" charset="0"/>
              </a:rPr>
              <a:t>f the victim is unconscious, send someone else or call EMS personnel and care for the victim. If the victim is conscious, first try to safely get the victim out of the water and then determine the help and care needed.</a:t>
            </a:r>
          </a:p>
          <a:p>
            <a:pPr algn="just">
              <a:buFont typeface="Arial" panose="020B0604020202020204" pitchFamily="34" charset="0"/>
              <a:buChar char="•"/>
            </a:pPr>
            <a:endParaRPr lang="en-US" dirty="0" smtClean="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dirty="0" smtClean="0">
                <a:latin typeface="Times New Roman" panose="02020603050405020304" pitchFamily="18" charset="0"/>
                <a:cs typeface="Times New Roman" panose="02020603050405020304" pitchFamily="18" charset="0"/>
              </a:rPr>
              <a:t>If the victim is not in the water and there is an emergency, call EMS personnel immediately. If in doubt about whether the victim needs professional help, do not hesitate – call EMS personnel. You can also ask someone to call if there are bystanders around. Tell the caller(s) to report back what the dispatcher said</a:t>
            </a:r>
          </a:p>
          <a:p>
            <a:pPr algn="just">
              <a:buFont typeface="Arial" panose="020B0604020202020204" pitchFamily="34" charset="0"/>
              <a:buChar char="•"/>
            </a:pPr>
            <a:endParaRPr lang="en-US"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ü"/>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68262656"/>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3627" y="200205"/>
            <a:ext cx="11375922" cy="1499616"/>
          </a:xfrm>
        </p:spPr>
        <p:txBody>
          <a:bodyPr/>
          <a:lstStyle/>
          <a:p>
            <a:r>
              <a:rPr lang="en-US" b="1" dirty="0" smtClean="0">
                <a:latin typeface="Times New Roman" panose="02020603050405020304" pitchFamily="18" charset="0"/>
                <a:cs typeface="Times New Roman" panose="02020603050405020304" pitchFamily="18" charset="0"/>
              </a:rPr>
              <a:t>WATER SAFETY – RECOGNITION AND RESPONSE - CALLING FOR HELP</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81781" y="1540042"/>
            <a:ext cx="11267767" cy="5077326"/>
          </a:xfrm>
        </p:spPr>
        <p:txBody>
          <a:bodyPr numCol="1">
            <a:normAutofit fontScale="92500" lnSpcReduction="20000"/>
          </a:bodyPr>
          <a:lstStyle/>
          <a:p>
            <a:r>
              <a:rPr lang="en-US" dirty="0">
                <a:latin typeface="Times New Roman" panose="02020603050405020304" pitchFamily="18" charset="0"/>
                <a:cs typeface="Times New Roman" panose="02020603050405020304" pitchFamily="18" charset="0"/>
              </a:rPr>
              <a:t>The following conditions and situations are serious and require a call to EMS personnel;</a:t>
            </a:r>
          </a:p>
          <a:p>
            <a:pPr>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Any drowning or nonfatal submersion (near drowning) situation</a:t>
            </a:r>
          </a:p>
          <a:p>
            <a:pPr>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Injury to the head, neck or back</a:t>
            </a:r>
          </a:p>
          <a:p>
            <a:pPr>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Trouble breathing</a:t>
            </a:r>
          </a:p>
          <a:p>
            <a:pPr>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Persistent chest or abdominal pain or pressure</a:t>
            </a:r>
          </a:p>
          <a:p>
            <a:pPr>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Unconsciousness</a:t>
            </a:r>
          </a:p>
          <a:p>
            <a:pPr>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Severe bleeding, vomiting blood or passing blood</a:t>
            </a:r>
          </a:p>
          <a:p>
            <a:pPr>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Seizure, severe headache or slurred speech</a:t>
            </a:r>
          </a:p>
          <a:p>
            <a:pPr>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Poisoning</a:t>
            </a:r>
          </a:p>
          <a:p>
            <a:pPr>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Possible broken bones</a:t>
            </a:r>
          </a:p>
          <a:p>
            <a:pPr>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Multiple injuries</a:t>
            </a:r>
          </a:p>
          <a:p>
            <a:pPr>
              <a:buFont typeface="Wingdings" panose="05000000000000000000" pitchFamily="2" charset="2"/>
              <a:buChar char="ü"/>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68262656"/>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9838" y="157316"/>
            <a:ext cx="11877367" cy="1119116"/>
          </a:xfrm>
        </p:spPr>
        <p:txBody>
          <a:bodyPr>
            <a:normAutofit fontScale="90000"/>
          </a:bodyPr>
          <a:lstStyle/>
          <a:p>
            <a:r>
              <a:rPr lang="en-US" b="1" dirty="0" smtClean="0">
                <a:latin typeface="Times New Roman" panose="02020603050405020304" pitchFamily="18" charset="0"/>
                <a:cs typeface="Times New Roman" panose="02020603050405020304" pitchFamily="18" charset="0"/>
              </a:rPr>
              <a:t>WATER SAFETY – RECOGNITION AND RESPONSE</a:t>
            </a:r>
            <a:r>
              <a:rPr lang="en-US" sz="2800" dirty="0">
                <a:latin typeface="Times New Roman" panose="02020603050405020304" pitchFamily="18" charset="0"/>
                <a:cs typeface="Times New Roman" panose="02020603050405020304" pitchFamily="18" charset="0"/>
              </a:rPr>
              <a:t> </a:t>
            </a:r>
            <a:r>
              <a:rPr lang="en-US" sz="2800" dirty="0" smtClean="0">
                <a:latin typeface="Times New Roman" panose="02020603050405020304" pitchFamily="18" charset="0"/>
                <a:cs typeface="Times New Roman" panose="02020603050405020304" pitchFamily="18" charset="0"/>
              </a:rPr>
              <a:t>- </a:t>
            </a:r>
            <a:r>
              <a:rPr lang="en-US" sz="3100" b="1" dirty="0" smtClean="0">
                <a:solidFill>
                  <a:srgbClr val="FF0000"/>
                </a:solidFill>
                <a:latin typeface="Times New Roman" panose="02020603050405020304" pitchFamily="18" charset="0"/>
                <a:cs typeface="Times New Roman" panose="02020603050405020304" pitchFamily="18" charset="0"/>
              </a:rPr>
              <a:t>COMPARING BEHAVIORS OF DISTRESSED, ACTIVE AND PASSIVE SWIMMERS</a:t>
            </a:r>
            <a:endParaRPr lang="en-US" sz="3100" b="1" dirty="0">
              <a:solidFill>
                <a:srgbClr val="FF0000"/>
              </a:solidFill>
              <a:latin typeface="Times New Roman" panose="02020603050405020304" pitchFamily="18" charset="0"/>
              <a:cs typeface="Times New Roman" panose="02020603050405020304" pitchFamily="18" charset="0"/>
            </a:endParaRP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531422793"/>
              </p:ext>
            </p:extLst>
          </p:nvPr>
        </p:nvGraphicFramePr>
        <p:xfrm>
          <a:off x="125045" y="1769806"/>
          <a:ext cx="12066955" cy="5088194"/>
        </p:xfrm>
        <a:graphic>
          <a:graphicData uri="http://schemas.openxmlformats.org/drawingml/2006/table">
            <a:tbl>
              <a:tblPr firstRow="1" bandRow="1">
                <a:tableStyleId>{5C22544A-7EE6-4342-B048-85BDC9FD1C3A}</a:tableStyleId>
              </a:tblPr>
              <a:tblGrid>
                <a:gridCol w="2413391">
                  <a:extLst>
                    <a:ext uri="{9D8B030D-6E8A-4147-A177-3AD203B41FA5}">
                      <a16:colId xmlns:a16="http://schemas.microsoft.com/office/drawing/2014/main" val="20000"/>
                    </a:ext>
                  </a:extLst>
                </a:gridCol>
                <a:gridCol w="1762823">
                  <a:extLst>
                    <a:ext uri="{9D8B030D-6E8A-4147-A177-3AD203B41FA5}">
                      <a16:colId xmlns:a16="http://schemas.microsoft.com/office/drawing/2014/main" val="20001"/>
                    </a:ext>
                  </a:extLst>
                </a:gridCol>
                <a:gridCol w="2947916">
                  <a:extLst>
                    <a:ext uri="{9D8B030D-6E8A-4147-A177-3AD203B41FA5}">
                      <a16:colId xmlns:a16="http://schemas.microsoft.com/office/drawing/2014/main" val="20002"/>
                    </a:ext>
                  </a:extLst>
                </a:gridCol>
                <a:gridCol w="2529434">
                  <a:extLst>
                    <a:ext uri="{9D8B030D-6E8A-4147-A177-3AD203B41FA5}">
                      <a16:colId xmlns:a16="http://schemas.microsoft.com/office/drawing/2014/main" val="20003"/>
                    </a:ext>
                  </a:extLst>
                </a:gridCol>
                <a:gridCol w="2413391">
                  <a:extLst>
                    <a:ext uri="{9D8B030D-6E8A-4147-A177-3AD203B41FA5}">
                      <a16:colId xmlns:a16="http://schemas.microsoft.com/office/drawing/2014/main" val="20004"/>
                    </a:ext>
                  </a:extLst>
                </a:gridCol>
              </a:tblGrid>
              <a:tr h="842691">
                <a:tc>
                  <a:txBody>
                    <a:bodyPr/>
                    <a:lstStyle/>
                    <a:p>
                      <a:r>
                        <a:rPr lang="en-US" dirty="0" smtClean="0"/>
                        <a:t>BEHAVIORS</a:t>
                      </a:r>
                      <a:endParaRPr lang="en-US" dirty="0"/>
                    </a:p>
                  </a:txBody>
                  <a:tcPr/>
                </a:tc>
                <a:tc>
                  <a:txBody>
                    <a:bodyPr/>
                    <a:lstStyle/>
                    <a:p>
                      <a:r>
                        <a:rPr lang="en-US" dirty="0" smtClean="0"/>
                        <a:t>SWIMMER</a:t>
                      </a:r>
                      <a:endParaRPr lang="en-US" dirty="0"/>
                    </a:p>
                  </a:txBody>
                  <a:tcPr/>
                </a:tc>
                <a:tc>
                  <a:txBody>
                    <a:bodyPr/>
                    <a:lstStyle/>
                    <a:p>
                      <a:r>
                        <a:rPr lang="en-US" dirty="0" smtClean="0"/>
                        <a:t>DISTRESSED SWIMMER</a:t>
                      </a:r>
                      <a:endParaRPr lang="en-US" dirty="0"/>
                    </a:p>
                  </a:txBody>
                  <a:tcPr/>
                </a:tc>
                <a:tc>
                  <a:txBody>
                    <a:bodyPr/>
                    <a:lstStyle/>
                    <a:p>
                      <a:r>
                        <a:rPr lang="en-US" dirty="0" smtClean="0"/>
                        <a:t>ACTIVE</a:t>
                      </a:r>
                      <a:r>
                        <a:rPr lang="en-US" baseline="0" dirty="0" smtClean="0"/>
                        <a:t> </a:t>
                      </a:r>
                      <a:r>
                        <a:rPr lang="en-US" dirty="0" smtClean="0"/>
                        <a:t>DROWNING SWIMMER</a:t>
                      </a:r>
                      <a:endParaRPr lang="en-US" dirty="0"/>
                    </a:p>
                  </a:txBody>
                  <a:tcPr/>
                </a:tc>
                <a:tc>
                  <a:txBody>
                    <a:bodyPr/>
                    <a:lstStyle/>
                    <a:p>
                      <a:r>
                        <a:rPr lang="en-US" dirty="0" smtClean="0"/>
                        <a:t>PASSIVE DROWNING SWIMMER</a:t>
                      </a:r>
                      <a:endParaRPr lang="en-US" dirty="0"/>
                    </a:p>
                  </a:txBody>
                  <a:tcPr/>
                </a:tc>
                <a:extLst>
                  <a:ext uri="{0D108BD9-81ED-4DB2-BD59-A6C34878D82A}">
                    <a16:rowId xmlns:a16="http://schemas.microsoft.com/office/drawing/2014/main" val="10000"/>
                  </a:ext>
                </a:extLst>
              </a:tr>
              <a:tr h="842691">
                <a:tc>
                  <a:txBody>
                    <a:bodyPr/>
                    <a:lstStyle/>
                    <a:p>
                      <a:r>
                        <a:rPr lang="en-US" dirty="0" smtClean="0"/>
                        <a:t>Breathing</a:t>
                      </a:r>
                      <a:endParaRPr lang="en-US" dirty="0"/>
                    </a:p>
                  </a:txBody>
                  <a:tcPr/>
                </a:tc>
                <a:tc>
                  <a:txBody>
                    <a:bodyPr/>
                    <a:lstStyle/>
                    <a:p>
                      <a:r>
                        <a:rPr lang="en-US" dirty="0" smtClean="0"/>
                        <a:t>Rhythmic breathing</a:t>
                      </a:r>
                      <a:endParaRPr lang="en-US" dirty="0"/>
                    </a:p>
                  </a:txBody>
                  <a:tcPr/>
                </a:tc>
                <a:tc>
                  <a:txBody>
                    <a:bodyPr/>
                    <a:lstStyle/>
                    <a:p>
                      <a:r>
                        <a:rPr lang="en-US" dirty="0" smtClean="0"/>
                        <a:t>Can continue</a:t>
                      </a:r>
                      <a:r>
                        <a:rPr lang="en-US" baseline="0" dirty="0" smtClean="0"/>
                        <a:t> breathing and may call for help</a:t>
                      </a:r>
                      <a:endParaRPr lang="en-US" dirty="0"/>
                    </a:p>
                  </a:txBody>
                  <a:tcPr/>
                </a:tc>
                <a:tc>
                  <a:txBody>
                    <a:bodyPr/>
                    <a:lstStyle/>
                    <a:p>
                      <a:r>
                        <a:rPr lang="en-US" dirty="0" smtClean="0"/>
                        <a:t>Struggles to breathe; cannot call</a:t>
                      </a:r>
                      <a:r>
                        <a:rPr lang="en-US" baseline="0" dirty="0" smtClean="0"/>
                        <a:t> out for help</a:t>
                      </a:r>
                      <a:endParaRPr lang="en-US" dirty="0"/>
                    </a:p>
                  </a:txBody>
                  <a:tcPr/>
                </a:tc>
                <a:tc>
                  <a:txBody>
                    <a:bodyPr/>
                    <a:lstStyle/>
                    <a:p>
                      <a:r>
                        <a:rPr lang="en-US" dirty="0" smtClean="0"/>
                        <a:t>Not breathing</a:t>
                      </a:r>
                      <a:endParaRPr lang="en-US" dirty="0"/>
                    </a:p>
                  </a:txBody>
                  <a:tcPr/>
                </a:tc>
                <a:extLst>
                  <a:ext uri="{0D108BD9-81ED-4DB2-BD59-A6C34878D82A}">
                    <a16:rowId xmlns:a16="http://schemas.microsoft.com/office/drawing/2014/main" val="10001"/>
                  </a:ext>
                </a:extLst>
              </a:tr>
              <a:tr h="1348305">
                <a:tc>
                  <a:txBody>
                    <a:bodyPr/>
                    <a:lstStyle/>
                    <a:p>
                      <a:r>
                        <a:rPr lang="en-US" dirty="0" smtClean="0"/>
                        <a:t>Arm and leg</a:t>
                      </a:r>
                      <a:r>
                        <a:rPr lang="en-US" baseline="0" dirty="0" smtClean="0"/>
                        <a:t> action</a:t>
                      </a:r>
                      <a:endParaRPr lang="en-US" dirty="0"/>
                    </a:p>
                  </a:txBody>
                  <a:tcPr/>
                </a:tc>
                <a:tc>
                  <a:txBody>
                    <a:bodyPr/>
                    <a:lstStyle/>
                    <a:p>
                      <a:r>
                        <a:rPr lang="en-US" dirty="0" smtClean="0"/>
                        <a:t>Relatively coordinated</a:t>
                      </a:r>
                      <a:endParaRPr lang="en-US" dirty="0"/>
                    </a:p>
                  </a:txBody>
                  <a:tcPr/>
                </a:tc>
                <a:tc>
                  <a:txBody>
                    <a:bodyPr/>
                    <a:lstStyle/>
                    <a:p>
                      <a:r>
                        <a:rPr lang="en-US" dirty="0" smtClean="0"/>
                        <a:t>Floating, sculling</a:t>
                      </a:r>
                      <a:r>
                        <a:rPr lang="en-US" baseline="0" dirty="0" smtClean="0"/>
                        <a:t> or treading water; may wave for help</a:t>
                      </a:r>
                      <a:endParaRPr lang="en-US" dirty="0"/>
                    </a:p>
                  </a:txBody>
                  <a:tcPr/>
                </a:tc>
                <a:tc>
                  <a:txBody>
                    <a:bodyPr/>
                    <a:lstStyle/>
                    <a:p>
                      <a:r>
                        <a:rPr lang="en-US" dirty="0" smtClean="0"/>
                        <a:t>Arms to sides alternately moving up and pressing down; not supporting kick</a:t>
                      </a:r>
                      <a:endParaRPr lang="en-US" dirty="0"/>
                    </a:p>
                  </a:txBody>
                  <a:tcPr/>
                </a:tc>
                <a:tc>
                  <a:txBody>
                    <a:bodyPr/>
                    <a:lstStyle/>
                    <a:p>
                      <a:r>
                        <a:rPr lang="en-US" dirty="0" smtClean="0"/>
                        <a:t>None</a:t>
                      </a:r>
                      <a:endParaRPr lang="en-US" dirty="0"/>
                    </a:p>
                  </a:txBody>
                  <a:tcPr/>
                </a:tc>
                <a:extLst>
                  <a:ext uri="{0D108BD9-81ED-4DB2-BD59-A6C34878D82A}">
                    <a16:rowId xmlns:a16="http://schemas.microsoft.com/office/drawing/2014/main" val="10002"/>
                  </a:ext>
                </a:extLst>
              </a:tr>
              <a:tr h="1095498">
                <a:tc>
                  <a:txBody>
                    <a:bodyPr/>
                    <a:lstStyle/>
                    <a:p>
                      <a:r>
                        <a:rPr lang="en-US" dirty="0" smtClean="0"/>
                        <a:t>Body position</a:t>
                      </a:r>
                      <a:endParaRPr lang="en-US" dirty="0"/>
                    </a:p>
                  </a:txBody>
                  <a:tcPr/>
                </a:tc>
                <a:tc>
                  <a:txBody>
                    <a:bodyPr/>
                    <a:lstStyle/>
                    <a:p>
                      <a:r>
                        <a:rPr lang="en-US" dirty="0" smtClean="0"/>
                        <a:t>horizontal</a:t>
                      </a:r>
                      <a:endParaRPr lang="en-US" dirty="0"/>
                    </a:p>
                  </a:txBody>
                  <a:tcPr/>
                </a:tc>
                <a:tc>
                  <a:txBody>
                    <a:bodyPr/>
                    <a:lstStyle/>
                    <a:p>
                      <a:r>
                        <a:rPr lang="en-US" dirty="0" smtClean="0"/>
                        <a:t>Horizontal or diagonal, depending on means of support</a:t>
                      </a:r>
                      <a:endParaRPr lang="en-US" dirty="0"/>
                    </a:p>
                  </a:txBody>
                  <a:tcPr/>
                </a:tc>
                <a:tc>
                  <a:txBody>
                    <a:bodyPr/>
                    <a:lstStyle/>
                    <a:p>
                      <a:r>
                        <a:rPr lang="en-US" dirty="0" smtClean="0"/>
                        <a:t>vertical</a:t>
                      </a:r>
                      <a:endParaRPr lang="en-US" dirty="0"/>
                    </a:p>
                  </a:txBody>
                  <a:tcPr/>
                </a:tc>
                <a:tc>
                  <a:txBody>
                    <a:bodyPr/>
                    <a:lstStyle/>
                    <a:p>
                      <a:r>
                        <a:rPr lang="en-US" dirty="0" smtClean="0"/>
                        <a:t>Horizontal or vertical</a:t>
                      </a:r>
                      <a:r>
                        <a:rPr lang="en-US" baseline="0" dirty="0" smtClean="0"/>
                        <a:t> face-down, face-up or submerged</a:t>
                      </a:r>
                      <a:endParaRPr lang="en-US" dirty="0"/>
                    </a:p>
                  </a:txBody>
                  <a:tcPr/>
                </a:tc>
                <a:extLst>
                  <a:ext uri="{0D108BD9-81ED-4DB2-BD59-A6C34878D82A}">
                    <a16:rowId xmlns:a16="http://schemas.microsoft.com/office/drawing/2014/main" val="10003"/>
                  </a:ext>
                </a:extLst>
              </a:tr>
              <a:tr h="959009">
                <a:tc>
                  <a:txBody>
                    <a:bodyPr/>
                    <a:lstStyle/>
                    <a:p>
                      <a:r>
                        <a:rPr lang="en-US" dirty="0" smtClean="0"/>
                        <a:t>locomotion</a:t>
                      </a:r>
                      <a:endParaRPr lang="en-US" dirty="0"/>
                    </a:p>
                  </a:txBody>
                  <a:tcPr/>
                </a:tc>
                <a:tc>
                  <a:txBody>
                    <a:bodyPr/>
                    <a:lstStyle/>
                    <a:p>
                      <a:r>
                        <a:rPr lang="en-US" dirty="0" smtClean="0"/>
                        <a:t>recognizable</a:t>
                      </a:r>
                      <a:endParaRPr lang="en-US" dirty="0"/>
                    </a:p>
                  </a:txBody>
                  <a:tcPr/>
                </a:tc>
                <a:tc>
                  <a:txBody>
                    <a:bodyPr/>
                    <a:lstStyle/>
                    <a:p>
                      <a:r>
                        <a:rPr lang="en-US" dirty="0" smtClean="0"/>
                        <a:t>Little or no forward progress; less and less able to support self</a:t>
                      </a:r>
                      <a:endParaRPr lang="en-US" dirty="0"/>
                    </a:p>
                  </a:txBody>
                  <a:tcPr/>
                </a:tc>
                <a:tc>
                  <a:txBody>
                    <a:bodyPr/>
                    <a:lstStyle/>
                    <a:p>
                      <a:r>
                        <a:rPr lang="en-US" dirty="0" smtClean="0"/>
                        <a:t>None; has only 20-60 seconds before submerging</a:t>
                      </a:r>
                      <a:endParaRPr lang="en-US" dirty="0"/>
                    </a:p>
                  </a:txBody>
                  <a:tcPr/>
                </a:tc>
                <a:tc>
                  <a:txBody>
                    <a:bodyPr/>
                    <a:lstStyle/>
                    <a:p>
                      <a:r>
                        <a:rPr lang="en-US" dirty="0" smtClean="0"/>
                        <a:t>none</a:t>
                      </a:r>
                      <a:endParaRPr lang="en-US" dirty="0"/>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943780956"/>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0953" y="361274"/>
            <a:ext cx="11611896" cy="1499616"/>
          </a:xfrm>
        </p:spPr>
        <p:txBody>
          <a:bodyPr>
            <a:noAutofit/>
          </a:bodyPr>
          <a:lstStyle/>
          <a:p>
            <a:r>
              <a:rPr lang="en-US" b="1" dirty="0" smtClean="0">
                <a:latin typeface="Times New Roman" panose="02020603050405020304" pitchFamily="18" charset="0"/>
                <a:cs typeface="Times New Roman" panose="02020603050405020304" pitchFamily="18" charset="0"/>
              </a:rPr>
              <a:t>WATER SAFETY – RECOGNITION AND RESPONSE - EMERGENCY ACTION PLANS</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91613" y="1961147"/>
            <a:ext cx="11267767" cy="4632158"/>
          </a:xfrm>
        </p:spPr>
        <p:txBody>
          <a:bodyPr>
            <a:normAutofit fontScale="25000" lnSpcReduction="20000"/>
          </a:bodyPr>
          <a:lstStyle/>
          <a:p>
            <a:pPr algn="just">
              <a:buFont typeface="Arial" panose="020B0604020202020204" pitchFamily="34" charset="0"/>
              <a:buChar char="•"/>
            </a:pPr>
            <a:r>
              <a:rPr lang="en-US" sz="11200" dirty="0" smtClean="0">
                <a:latin typeface="Times New Roman" panose="02020603050405020304" pitchFamily="18" charset="0"/>
                <a:cs typeface="Times New Roman" panose="02020603050405020304" pitchFamily="18" charset="0"/>
              </a:rPr>
              <a:t>Emergency action plans are detailed plans that describe how everyone should act in an emergency</a:t>
            </a:r>
          </a:p>
          <a:p>
            <a:pPr algn="just">
              <a:buFont typeface="Arial" panose="020B0604020202020204" pitchFamily="34" charset="0"/>
              <a:buChar char="•"/>
            </a:pPr>
            <a:endParaRPr lang="en-US" sz="11200" dirty="0" smtClean="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11200" dirty="0" smtClean="0">
                <a:latin typeface="Times New Roman" panose="02020603050405020304" pitchFamily="18" charset="0"/>
                <a:cs typeface="Times New Roman" panose="02020603050405020304" pitchFamily="18" charset="0"/>
              </a:rPr>
              <a:t>An emergency action plan should be established for any body of water or near the home such as pool, pond or canal</a:t>
            </a:r>
          </a:p>
          <a:p>
            <a:pPr algn="just">
              <a:buFont typeface="Arial" panose="020B0604020202020204" pitchFamily="34" charset="0"/>
              <a:buChar char="•"/>
            </a:pPr>
            <a:endParaRPr lang="en-US" sz="11200" dirty="0" smtClean="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11200" dirty="0" smtClean="0">
                <a:latin typeface="Times New Roman" panose="02020603050405020304" pitchFamily="18" charset="0"/>
                <a:cs typeface="Times New Roman" panose="02020603050405020304" pitchFamily="18" charset="0"/>
              </a:rPr>
              <a:t>Only swim in supervised areas where emergency action plans have been established. If there is an emergency, follow the lifeguard’s instructions.</a:t>
            </a:r>
          </a:p>
          <a:p>
            <a:pPr algn="just">
              <a:buFont typeface="Arial" panose="020B0604020202020204" pitchFamily="34" charset="0"/>
              <a:buChar char="•"/>
            </a:pPr>
            <a:endParaRPr lang="en-US" sz="11200" dirty="0" smtClean="0">
              <a:latin typeface="Times New Roman" panose="02020603050405020304" pitchFamily="18" charset="0"/>
              <a:cs typeface="Times New Roman" panose="02020603050405020304" pitchFamily="18" charset="0"/>
            </a:endParaRPr>
          </a:p>
          <a:p>
            <a:pPr algn="just"/>
            <a:r>
              <a:rPr lang="en-US" sz="11200" dirty="0">
                <a:latin typeface="Times New Roman" panose="02020603050405020304" pitchFamily="18" charset="0"/>
                <a:cs typeface="Times New Roman" panose="02020603050405020304" pitchFamily="18" charset="0"/>
              </a:rPr>
              <a:t>To create an emergency action plan;</a:t>
            </a:r>
          </a:p>
          <a:p>
            <a:pPr algn="just">
              <a:buFont typeface="Wingdings" panose="05000000000000000000" pitchFamily="2" charset="2"/>
              <a:buChar char="ü"/>
            </a:pPr>
            <a:r>
              <a:rPr lang="en-US" sz="11200" dirty="0">
                <a:latin typeface="Times New Roman" panose="02020603050405020304" pitchFamily="18" charset="0"/>
                <a:cs typeface="Times New Roman" panose="02020603050405020304" pitchFamily="18" charset="0"/>
              </a:rPr>
              <a:t>Identify types of emergencies that could occur such as someone falling into the pool or other body of water</a:t>
            </a:r>
            <a:r>
              <a:rPr lang="en-US" sz="11200" dirty="0" smtClean="0">
                <a:latin typeface="Times New Roman" panose="02020603050405020304" pitchFamily="18" charset="0"/>
                <a:cs typeface="Times New Roman" panose="02020603050405020304" pitchFamily="18" charset="0"/>
              </a:rPr>
              <a:t>.</a:t>
            </a:r>
            <a:endParaRPr lang="en-US" sz="11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57081721"/>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0953" y="361274"/>
            <a:ext cx="11611896" cy="1499616"/>
          </a:xfrm>
        </p:spPr>
        <p:txBody>
          <a:bodyPr>
            <a:noAutofit/>
          </a:bodyPr>
          <a:lstStyle/>
          <a:p>
            <a:r>
              <a:rPr lang="en-US" b="1" dirty="0" smtClean="0">
                <a:latin typeface="Times New Roman" panose="02020603050405020304" pitchFamily="18" charset="0"/>
                <a:cs typeface="Times New Roman" panose="02020603050405020304" pitchFamily="18" charset="0"/>
              </a:rPr>
              <a:t>WATER SAFETY – RECOGNITION AND RESPONSE - EMERGENCY ACTION PLANS</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91613" y="1961147"/>
            <a:ext cx="11267767" cy="4632158"/>
          </a:xfrm>
        </p:spPr>
        <p:txBody>
          <a:bodyPr>
            <a:normAutofit/>
          </a:bodyPr>
          <a:lstStyle/>
          <a:p>
            <a:pPr algn="just">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Identify rescue equipment available such as a nearby telephone, ring buoy with a line attached and reaching a </a:t>
            </a:r>
            <a:r>
              <a:rPr lang="en-US" dirty="0" smtClean="0">
                <a:latin typeface="Times New Roman" panose="02020603050405020304" pitchFamily="18" charset="0"/>
                <a:cs typeface="Times New Roman" panose="02020603050405020304" pitchFamily="18" charset="0"/>
              </a:rPr>
              <a:t>pole</a:t>
            </a:r>
          </a:p>
          <a:p>
            <a:pPr algn="just">
              <a:buFont typeface="Wingdings" panose="05000000000000000000" pitchFamily="2" charset="2"/>
              <a:buChar char="ü"/>
            </a:pPr>
            <a:endParaRPr lang="en-US"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Create an emergency contact list that include telephone numbers for EMS personnel and names the nearest cross streets to the home</a:t>
            </a:r>
          </a:p>
          <a:p>
            <a:pPr algn="just"/>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57081721"/>
      </p:ext>
    </p:ext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5470" y="188174"/>
            <a:ext cx="11700387" cy="1499616"/>
          </a:xfrm>
        </p:spPr>
        <p:txBody>
          <a:bodyPr>
            <a:noAutofit/>
          </a:bodyPr>
          <a:lstStyle/>
          <a:p>
            <a:r>
              <a:rPr lang="en-US" b="1" dirty="0" smtClean="0">
                <a:latin typeface="Times New Roman" panose="02020603050405020304" pitchFamily="18" charset="0"/>
                <a:cs typeface="Times New Roman" panose="02020603050405020304" pitchFamily="18" charset="0"/>
              </a:rPr>
              <a:t>WATER SAFETY – RECOGNITION AND RESPONSE - EMERGENCY ACTION PLANS</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353962" y="1588167"/>
            <a:ext cx="11395586" cy="5077328"/>
          </a:xfrm>
        </p:spPr>
        <p:txBody>
          <a:bodyPr>
            <a:normAutofit fontScale="92500" lnSpcReduction="20000"/>
          </a:bodyPr>
          <a:lstStyle/>
          <a:p>
            <a:pPr algn="just">
              <a:buFont typeface="Arial" panose="020B0604020202020204" pitchFamily="34" charset="0"/>
              <a:buChar char="•"/>
            </a:pPr>
            <a:r>
              <a:rPr lang="en-US" sz="2800" dirty="0" smtClean="0">
                <a:latin typeface="Times New Roman" panose="02020603050405020304" pitchFamily="18" charset="0"/>
                <a:cs typeface="Times New Roman" panose="02020603050405020304" pitchFamily="18" charset="0"/>
              </a:rPr>
              <a:t>The basic elements of an emergency action plan include the following;</a:t>
            </a:r>
          </a:p>
          <a:p>
            <a:pPr algn="just">
              <a:buFont typeface="Wingdings" panose="05000000000000000000" pitchFamily="2" charset="2"/>
              <a:buChar char="ü"/>
            </a:pPr>
            <a:r>
              <a:rPr lang="en-US" sz="2800" dirty="0" smtClean="0">
                <a:latin typeface="Times New Roman" panose="02020603050405020304" pitchFamily="18" charset="0"/>
                <a:cs typeface="Times New Roman" panose="02020603050405020304" pitchFamily="18" charset="0"/>
              </a:rPr>
              <a:t>An emergency signal. </a:t>
            </a:r>
          </a:p>
          <a:p>
            <a:pPr algn="just">
              <a:buFont typeface="Courier New" panose="02070309020205020404" pitchFamily="49" charset="0"/>
              <a:buChar char="o"/>
            </a:pPr>
            <a:r>
              <a:rPr lang="en-US" sz="2800" dirty="0" smtClean="0">
                <a:latin typeface="Times New Roman" panose="02020603050405020304" pitchFamily="18" charset="0"/>
                <a:cs typeface="Times New Roman" panose="02020603050405020304" pitchFamily="18" charset="0"/>
              </a:rPr>
              <a:t>Blow a whistle or horn or wave a flag to alert swimmers that they should leave the water immediately. </a:t>
            </a:r>
          </a:p>
          <a:p>
            <a:pPr algn="just">
              <a:buFont typeface="Courier New" panose="02070309020205020404" pitchFamily="49" charset="0"/>
              <a:buChar char="o"/>
            </a:pPr>
            <a:r>
              <a:rPr lang="en-US" sz="2800" dirty="0" smtClean="0">
                <a:latin typeface="Times New Roman" panose="02020603050405020304" pitchFamily="18" charset="0"/>
                <a:cs typeface="Times New Roman" panose="02020603050405020304" pitchFamily="18" charset="0"/>
              </a:rPr>
              <a:t>At a home pool or other body of water near the home, the signal will tell family members and neighbors that there is an emergency and help is needed quickly.</a:t>
            </a:r>
          </a:p>
          <a:p>
            <a:pPr marL="0" indent="0" algn="just">
              <a:buNone/>
            </a:pPr>
            <a:endParaRPr lang="en-US" sz="2800" dirty="0" smtClean="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ü"/>
            </a:pPr>
            <a:r>
              <a:rPr lang="en-US" sz="2800" dirty="0" smtClean="0">
                <a:latin typeface="Times New Roman" panose="02020603050405020304" pitchFamily="18" charset="0"/>
                <a:cs typeface="Times New Roman" panose="02020603050405020304" pitchFamily="18" charset="0"/>
              </a:rPr>
              <a:t>Safety equipment. </a:t>
            </a:r>
          </a:p>
          <a:p>
            <a:pPr algn="just">
              <a:buFont typeface="Courier New" panose="02070309020205020404" pitchFamily="49" charset="0"/>
              <a:buChar char="o"/>
            </a:pPr>
            <a:r>
              <a:rPr lang="en-US" sz="2800" dirty="0" smtClean="0">
                <a:latin typeface="Times New Roman" panose="02020603050405020304" pitchFamily="18" charset="0"/>
                <a:cs typeface="Times New Roman" panose="02020603050405020304" pitchFamily="18" charset="0"/>
              </a:rPr>
              <a:t>For the home pool or other body of water near the home, safety equipment includes a telephone and rescue equipment. </a:t>
            </a:r>
          </a:p>
          <a:p>
            <a:pPr algn="just">
              <a:buFont typeface="Courier New" panose="02070309020205020404" pitchFamily="49" charset="0"/>
              <a:buChar char="o"/>
            </a:pPr>
            <a:r>
              <a:rPr lang="en-US" sz="2800" dirty="0" smtClean="0">
                <a:latin typeface="Times New Roman" panose="02020603050405020304" pitchFamily="18" charset="0"/>
                <a:cs typeface="Times New Roman" panose="02020603050405020304" pitchFamily="18" charset="0"/>
              </a:rPr>
              <a:t>Keep all safety equipment near the water. Make a safety post for the emergency equipment and set it close to the water. </a:t>
            </a:r>
          </a:p>
          <a:p>
            <a:pPr algn="just">
              <a:buFont typeface="Courier New" panose="02070309020205020404" pitchFamily="49" charset="0"/>
              <a:buChar char="o"/>
            </a:pPr>
            <a:r>
              <a:rPr lang="en-US" sz="2800" dirty="0" smtClean="0">
                <a:latin typeface="Times New Roman" panose="02020603050405020304" pitchFamily="18" charset="0"/>
                <a:cs typeface="Times New Roman" panose="02020603050405020304" pitchFamily="18" charset="0"/>
              </a:rPr>
              <a:t>The safety post should have a throwing or other devices such as a reaching pole for assists, along with a well stocked first aid kit </a:t>
            </a:r>
          </a:p>
        </p:txBody>
      </p:sp>
    </p:spTree>
    <p:extLst>
      <p:ext uri="{BB962C8B-B14F-4D97-AF65-F5344CB8AC3E}">
        <p14:creationId xmlns:p14="http://schemas.microsoft.com/office/powerpoint/2010/main" val="514628151"/>
      </p:ext>
    </p:extLst>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5470" y="188174"/>
            <a:ext cx="11700387" cy="1499616"/>
          </a:xfrm>
        </p:spPr>
        <p:txBody>
          <a:bodyPr>
            <a:noAutofit/>
          </a:bodyPr>
          <a:lstStyle/>
          <a:p>
            <a:r>
              <a:rPr lang="en-US" b="1" dirty="0" smtClean="0">
                <a:latin typeface="Times New Roman" panose="02020603050405020304" pitchFamily="18" charset="0"/>
                <a:cs typeface="Times New Roman" panose="02020603050405020304" pitchFamily="18" charset="0"/>
              </a:rPr>
              <a:t>WATER SAFETY – RECOGNITION AND RESPONSE - EMERGENCY ACTION PLANS</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353962" y="1588167"/>
            <a:ext cx="11395586" cy="5077328"/>
          </a:xfrm>
        </p:spPr>
        <p:txBody>
          <a:bodyPr>
            <a:normAutofit/>
          </a:bodyPr>
          <a:lstStyle/>
          <a:p>
            <a:pPr algn="just">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Emergency procedures. Develop and post procedures for what to do in a water emergency. </a:t>
            </a:r>
            <a:endParaRPr lang="en-US" dirty="0" smtClean="0">
              <a:latin typeface="Times New Roman" panose="02020603050405020304" pitchFamily="18" charset="0"/>
              <a:cs typeface="Times New Roman" panose="02020603050405020304" pitchFamily="18" charset="0"/>
            </a:endParaRPr>
          </a:p>
          <a:p>
            <a:pPr algn="just">
              <a:buFont typeface="Courier New" panose="02070309020205020404" pitchFamily="49" charset="0"/>
              <a:buChar char="o"/>
            </a:pPr>
            <a:r>
              <a:rPr lang="en-US" dirty="0" smtClean="0">
                <a:latin typeface="Times New Roman" panose="02020603050405020304" pitchFamily="18" charset="0"/>
                <a:cs typeface="Times New Roman" panose="02020603050405020304" pitchFamily="18" charset="0"/>
              </a:rPr>
              <a:t>Emergency </a:t>
            </a:r>
            <a:r>
              <a:rPr lang="en-US" dirty="0">
                <a:latin typeface="Times New Roman" panose="02020603050405020304" pitchFamily="18" charset="0"/>
                <a:cs typeface="Times New Roman" panose="02020603050405020304" pitchFamily="18" charset="0"/>
              </a:rPr>
              <a:t>procedures must be carefully planned and should outline;</a:t>
            </a:r>
          </a:p>
          <a:p>
            <a:pPr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Steps a responder should take to remove the victim from danger, without putting the responder in danger</a:t>
            </a:r>
          </a:p>
          <a:p>
            <a:pPr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Who is responsible for calling the EMS personnel and how and when the call is made. Remember to take the use of mobile phones into accounts</a:t>
            </a:r>
          </a:p>
          <a:p>
            <a:pPr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How EMS personnel are directed to the specific scene of the emergency. For example appoint someone to meet the EMS personnel at the street</a:t>
            </a:r>
          </a:p>
          <a:p>
            <a:pPr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Who should be contacted such as the victim’s immediate family members and health care provider.</a:t>
            </a:r>
          </a:p>
          <a:p>
            <a:pPr algn="just">
              <a:buFont typeface="Arial" panose="020B0604020202020204" pitchFamily="34" charset="0"/>
              <a:buChar char="•"/>
            </a:pPr>
            <a:endParaRPr lang="en-US" sz="2800"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14628151"/>
      </p:ext>
    </p:extLst>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2264" y="408787"/>
            <a:ext cx="11024162" cy="924475"/>
          </a:xfrm>
        </p:spPr>
        <p:txBody>
          <a:bodyPr>
            <a:noAutofit/>
          </a:bodyPr>
          <a:lstStyle/>
          <a:p>
            <a:r>
              <a:rPr lang="en-US" b="1" dirty="0" smtClean="0">
                <a:latin typeface="Times New Roman" panose="02020603050405020304" pitchFamily="18" charset="0"/>
                <a:cs typeface="Times New Roman" panose="02020603050405020304" pitchFamily="18" charset="0"/>
              </a:rPr>
              <a:t>WATER SAFETY – RECOGNITION AND RESPONSE - RESPONDING TO AN EMERGENCY</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12956" y="1637731"/>
            <a:ext cx="11228584" cy="4991669"/>
          </a:xfrm>
        </p:spPr>
        <p:txBody>
          <a:bodyPr>
            <a:normAutofit/>
          </a:bodyPr>
          <a:lstStyle/>
          <a:p>
            <a:pPr algn="just">
              <a:buFont typeface="Arial" panose="020B0604020202020204" pitchFamily="34" charset="0"/>
              <a:buChar char="•"/>
            </a:pPr>
            <a:r>
              <a:rPr lang="en-US" b="1" dirty="0" smtClean="0">
                <a:latin typeface="Times New Roman" panose="02020603050405020304" pitchFamily="18" charset="0"/>
                <a:cs typeface="Times New Roman" panose="02020603050405020304" pitchFamily="18" charset="0"/>
              </a:rPr>
              <a:t>DROWNING</a:t>
            </a:r>
          </a:p>
          <a:p>
            <a:pPr algn="just">
              <a:buFont typeface="Wingdings" panose="05000000000000000000" pitchFamily="2" charset="2"/>
              <a:buChar char="ü"/>
            </a:pPr>
            <a:r>
              <a:rPr lang="en-US" dirty="0" smtClean="0">
                <a:latin typeface="Times New Roman" panose="02020603050405020304" pitchFamily="18" charset="0"/>
                <a:cs typeface="Times New Roman" panose="02020603050405020304" pitchFamily="18" charset="0"/>
              </a:rPr>
              <a:t>Drowning is a major but under-recognized public health problem in the developing world, and leading cause of death in many countries</a:t>
            </a:r>
          </a:p>
          <a:p>
            <a:pPr algn="just">
              <a:buFont typeface="Wingdings" panose="05000000000000000000" pitchFamily="2" charset="2"/>
              <a:buChar char="ü"/>
            </a:pPr>
            <a:endParaRPr lang="en-US" dirty="0" smtClean="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ü"/>
            </a:pPr>
            <a:r>
              <a:rPr lang="en-US" dirty="0" smtClean="0">
                <a:latin typeface="Times New Roman" panose="02020603050405020304" pitchFamily="18" charset="0"/>
                <a:cs typeface="Times New Roman" panose="02020603050405020304" pitchFamily="18" charset="0"/>
              </a:rPr>
              <a:t>Drowning occurs when a person is unable to breathe because their head is submerged in water</a:t>
            </a:r>
          </a:p>
          <a:p>
            <a:pPr algn="just">
              <a:buFont typeface="Wingdings" panose="05000000000000000000" pitchFamily="2" charset="2"/>
              <a:buChar char="ü"/>
            </a:pPr>
            <a:endParaRPr lang="en-US" dirty="0" smtClean="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ü"/>
            </a:pPr>
            <a:r>
              <a:rPr lang="en-US" dirty="0" smtClean="0">
                <a:latin typeface="Times New Roman" panose="02020603050405020304" pitchFamily="18" charset="0"/>
                <a:cs typeface="Times New Roman" panose="02020603050405020304" pitchFamily="18" charset="0"/>
              </a:rPr>
              <a:t>The brain cannot survive for long without oxygen and after short time, a person will become unconscious. If the brain continues to lack oxygen then it will die in just minutes. A lack of oxygen in the lungs may also stop the heart from working.</a:t>
            </a:r>
          </a:p>
          <a:p>
            <a:pPr algn="just">
              <a:buFont typeface="Wingdings" panose="05000000000000000000" pitchFamily="2" charset="2"/>
              <a:buChar char="ü"/>
            </a:pPr>
            <a:endParaRPr lang="en-US" dirty="0" smtClean="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ü"/>
            </a:pPr>
            <a:endParaRPr lang="en-US" dirty="0"/>
          </a:p>
          <a:p>
            <a:pPr algn="just">
              <a:buFont typeface="Wingdings" panose="05000000000000000000" pitchFamily="2" charset="2"/>
              <a:buChar char="ü"/>
            </a:pPr>
            <a:endParaRPr lang="en-US" dirty="0"/>
          </a:p>
        </p:txBody>
      </p:sp>
    </p:spTree>
    <p:extLst>
      <p:ext uri="{BB962C8B-B14F-4D97-AF65-F5344CB8AC3E}">
        <p14:creationId xmlns:p14="http://schemas.microsoft.com/office/powerpoint/2010/main" val="2927590664"/>
      </p:ext>
    </p:extLst>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2264" y="408787"/>
            <a:ext cx="11024162" cy="924475"/>
          </a:xfrm>
        </p:spPr>
        <p:txBody>
          <a:bodyPr>
            <a:noAutofit/>
          </a:bodyPr>
          <a:lstStyle/>
          <a:p>
            <a:r>
              <a:rPr lang="en-US" b="1" dirty="0" smtClean="0">
                <a:latin typeface="Times New Roman" panose="02020603050405020304" pitchFamily="18" charset="0"/>
                <a:cs typeface="Times New Roman" panose="02020603050405020304" pitchFamily="18" charset="0"/>
              </a:rPr>
              <a:t>WATER SAFETY – RECOGNITION AND RESPONSE - RESPONDING TO AN EMERGENCY</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12956" y="1637731"/>
            <a:ext cx="11228584" cy="4991669"/>
          </a:xfrm>
        </p:spPr>
        <p:txBody>
          <a:bodyPr>
            <a:normAutofit/>
          </a:bodyPr>
          <a:lstStyle/>
          <a:p>
            <a:pPr algn="just">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More than half the drownings in swimming pools, for example, involve unsupervised small children</a:t>
            </a:r>
            <a:r>
              <a:rPr lang="en-US" dirty="0" smtClean="0">
                <a:latin typeface="Times New Roman" panose="02020603050405020304" pitchFamily="18" charset="0"/>
                <a:cs typeface="Times New Roman" panose="02020603050405020304" pitchFamily="18" charset="0"/>
              </a:rPr>
              <a:t>.</a:t>
            </a:r>
          </a:p>
          <a:p>
            <a:pPr algn="just">
              <a:buFont typeface="Wingdings" panose="05000000000000000000" pitchFamily="2" charset="2"/>
              <a:buChar char="ü"/>
            </a:pPr>
            <a:endParaRPr lang="en-US"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About one-third of drowning victims are experienced swimmers who become overconfident and swim too far from shore</a:t>
            </a:r>
            <a:r>
              <a:rPr lang="en-US" dirty="0" smtClean="0">
                <a:latin typeface="Times New Roman" panose="02020603050405020304" pitchFamily="18" charset="0"/>
                <a:cs typeface="Times New Roman" panose="02020603050405020304" pitchFamily="18" charset="0"/>
              </a:rPr>
              <a:t>.</a:t>
            </a:r>
          </a:p>
          <a:p>
            <a:pPr algn="just">
              <a:buFont typeface="Wingdings" panose="05000000000000000000" pitchFamily="2" charset="2"/>
              <a:buChar char="ü"/>
            </a:pPr>
            <a:endParaRPr lang="en-US"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 Almost all drownings among boaters result from ignoring such basic safety rules as wearing a life preserver and staying with an overturned boat.</a:t>
            </a:r>
          </a:p>
          <a:p>
            <a:pPr algn="just">
              <a:buFont typeface="Wingdings" panose="05000000000000000000" pitchFamily="2" charset="2"/>
              <a:buChar char="ü"/>
            </a:pPr>
            <a:endParaRPr lang="en-US" dirty="0"/>
          </a:p>
        </p:txBody>
      </p:sp>
    </p:spTree>
    <p:extLst>
      <p:ext uri="{BB962C8B-B14F-4D97-AF65-F5344CB8AC3E}">
        <p14:creationId xmlns:p14="http://schemas.microsoft.com/office/powerpoint/2010/main" val="2927590664"/>
      </p:ext>
    </p:extLst>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2617" y="486418"/>
            <a:ext cx="11464413" cy="924475"/>
          </a:xfrm>
        </p:spPr>
        <p:txBody>
          <a:bodyPr>
            <a:noAutofit/>
          </a:bodyPr>
          <a:lstStyle/>
          <a:p>
            <a:r>
              <a:rPr lang="en-US" b="1" dirty="0" smtClean="0">
                <a:latin typeface="Times New Roman" panose="02020603050405020304" pitchFamily="18" charset="0"/>
                <a:cs typeface="Times New Roman" panose="02020603050405020304" pitchFamily="18" charset="0"/>
              </a:rPr>
              <a:t>WATER SAFETY – RECOGNITION AND RESPONSE - RESPONDING TO AN EMERGENCY</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32618" y="1813905"/>
            <a:ext cx="11061656" cy="4409914"/>
          </a:xfrm>
        </p:spPr>
        <p:txBody>
          <a:bodyPr>
            <a:noAutofit/>
          </a:bodyPr>
          <a:lstStyle/>
          <a:p>
            <a:pPr algn="just">
              <a:buFont typeface="Arial" panose="020B0604020202020204" pitchFamily="34" charset="0"/>
              <a:buChar char="•"/>
            </a:pPr>
            <a:r>
              <a:rPr lang="en-US" sz="2800" b="1" dirty="0" smtClean="0">
                <a:latin typeface="Times New Roman" panose="02020603050405020304" pitchFamily="18" charset="0"/>
                <a:cs typeface="Times New Roman" panose="02020603050405020304" pitchFamily="18" charset="0"/>
              </a:rPr>
              <a:t>CONDUCTING A RESCUE</a:t>
            </a:r>
          </a:p>
          <a:p>
            <a:pPr algn="just">
              <a:buFont typeface="Wingdings" panose="05000000000000000000" pitchFamily="2" charset="2"/>
              <a:buChar char="ü"/>
            </a:pPr>
            <a:r>
              <a:rPr lang="en-US" sz="2800" dirty="0" smtClean="0">
                <a:latin typeface="Times New Roman" panose="02020603050405020304" pitchFamily="18" charset="0"/>
                <a:cs typeface="Times New Roman" panose="02020603050405020304" pitchFamily="18" charset="0"/>
              </a:rPr>
              <a:t>It is important to let someone know you are conducting a rescue. They can then provide appropriate assistance with the rescue or go for further help if necessary</a:t>
            </a:r>
          </a:p>
          <a:p>
            <a:pPr algn="just">
              <a:buFont typeface="Wingdings" panose="05000000000000000000" pitchFamily="2" charset="2"/>
              <a:buChar char="ü"/>
            </a:pPr>
            <a:r>
              <a:rPr lang="en-US" sz="2800" dirty="0" smtClean="0">
                <a:latin typeface="Times New Roman" panose="02020603050405020304" pitchFamily="18" charset="0"/>
                <a:cs typeface="Times New Roman" panose="02020603050405020304" pitchFamily="18" charset="0"/>
              </a:rPr>
              <a:t>To signal that you are taking emergency action, shout for help or blow a whistle 3 times</a:t>
            </a:r>
          </a:p>
          <a:p>
            <a:pPr algn="just">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Rescuing a drowning casualty is dangerous and many people drown each year while trying to help someone else in the water</a:t>
            </a:r>
          </a:p>
          <a:p>
            <a:pPr algn="just">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Conducting a rescue from land is the safest type of rescue as it does not require entry into the water or direct contact with a drowning casualty</a:t>
            </a:r>
          </a:p>
          <a:p>
            <a:pPr algn="just">
              <a:buFont typeface="Wingdings" panose="05000000000000000000" pitchFamily="2" charset="2"/>
              <a:buChar char="ü"/>
            </a:pPr>
            <a:endParaRPr lang="en-US" sz="2800"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66539815"/>
      </p:ext>
    </p:extLst>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3626" y="675725"/>
            <a:ext cx="11472631" cy="924475"/>
          </a:xfrm>
        </p:spPr>
        <p:txBody>
          <a:bodyPr>
            <a:noAutofit/>
          </a:bodyPr>
          <a:lstStyle/>
          <a:p>
            <a:r>
              <a:rPr lang="en-US" b="1" dirty="0" smtClean="0">
                <a:latin typeface="Times New Roman" panose="02020603050405020304" pitchFamily="18" charset="0"/>
                <a:cs typeface="Times New Roman" panose="02020603050405020304" pitchFamily="18" charset="0"/>
              </a:rPr>
              <a:t>WATER SAFETY – RECOGNITION AND RESPONSE - RESPONDING TO AN EMERGENCY</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50376" y="1835623"/>
            <a:ext cx="11395881" cy="4619767"/>
          </a:xfrm>
        </p:spPr>
        <p:txBody>
          <a:bodyPr>
            <a:noAutofit/>
          </a:bodyPr>
          <a:lstStyle/>
          <a:p>
            <a:pPr algn="just">
              <a:buFont typeface="Arial" panose="020B0604020202020204" pitchFamily="34" charset="0"/>
              <a:buChar char="•"/>
            </a:pPr>
            <a:r>
              <a:rPr lang="en-US" b="1" dirty="0" smtClean="0">
                <a:latin typeface="Times New Roman" panose="02020603050405020304" pitchFamily="18" charset="0"/>
                <a:cs typeface="Times New Roman" panose="02020603050405020304" pitchFamily="18" charset="0"/>
              </a:rPr>
              <a:t>TYPES OF RESCUE</a:t>
            </a:r>
          </a:p>
          <a:p>
            <a:pPr algn="just">
              <a:buFont typeface="Wingdings" panose="05000000000000000000" pitchFamily="2" charset="2"/>
              <a:buChar char="ü"/>
            </a:pPr>
            <a:r>
              <a:rPr lang="en-US" dirty="0" smtClean="0">
                <a:latin typeface="Times New Roman" panose="02020603050405020304" pitchFamily="18" charset="0"/>
                <a:cs typeface="Times New Roman" panose="02020603050405020304" pitchFamily="18" charset="0"/>
              </a:rPr>
              <a:t>Land base rescue</a:t>
            </a:r>
          </a:p>
          <a:p>
            <a:pPr algn="just">
              <a:buFont typeface="Courier New" panose="02070309020205020404" pitchFamily="49" charset="0"/>
              <a:buChar char="o"/>
            </a:pPr>
            <a:r>
              <a:rPr lang="en-US" dirty="0" smtClean="0">
                <a:latin typeface="Times New Roman" panose="02020603050405020304" pitchFamily="18" charset="0"/>
                <a:cs typeface="Times New Roman" panose="02020603050405020304" pitchFamily="18" charset="0"/>
              </a:rPr>
              <a:t>When: when the casualty is close to shore or side of the pool</a:t>
            </a:r>
          </a:p>
          <a:p>
            <a:pPr algn="just">
              <a:buFont typeface="Courier New" panose="02070309020205020404" pitchFamily="49" charset="0"/>
              <a:buChar char="o"/>
            </a:pPr>
            <a:r>
              <a:rPr lang="en-US" dirty="0" smtClean="0">
                <a:latin typeface="Times New Roman" panose="02020603050405020304" pitchFamily="18" charset="0"/>
                <a:cs typeface="Times New Roman" panose="02020603050405020304" pitchFamily="18" charset="0"/>
              </a:rPr>
              <a:t>Why: it is the safest type of rescue</a:t>
            </a:r>
          </a:p>
          <a:p>
            <a:pPr algn="just">
              <a:buFont typeface="Courier New" panose="02070309020205020404" pitchFamily="49" charset="0"/>
              <a:buChar char="o"/>
            </a:pPr>
            <a:r>
              <a:rPr lang="en-US" dirty="0" smtClean="0">
                <a:latin typeface="Times New Roman" panose="02020603050405020304" pitchFamily="18" charset="0"/>
                <a:cs typeface="Times New Roman" panose="02020603050405020304" pitchFamily="18" charset="0"/>
              </a:rPr>
              <a:t>How: Reach the casualty using a long rigid object such as stick or pole. </a:t>
            </a:r>
          </a:p>
          <a:p>
            <a:pPr lvl="2" algn="just">
              <a:buFont typeface="Courier New" panose="02070309020205020404" pitchFamily="49" charset="0"/>
              <a:buChar char="o"/>
            </a:pPr>
            <a:r>
              <a:rPr lang="en-US" sz="2800" dirty="0">
                <a:latin typeface="Times New Roman" panose="02020603050405020304" pitchFamily="18" charset="0"/>
                <a:cs typeface="Times New Roman" panose="02020603050405020304" pitchFamily="18" charset="0"/>
              </a:rPr>
              <a:t>S</a:t>
            </a:r>
            <a:r>
              <a:rPr lang="en-US" sz="2800" dirty="0" smtClean="0">
                <a:latin typeface="Times New Roman" panose="02020603050405020304" pitchFamily="18" charset="0"/>
                <a:cs typeface="Times New Roman" panose="02020603050405020304" pitchFamily="18" charset="0"/>
              </a:rPr>
              <a:t>tay low on the ground so that the casualty cannot pull you into the water</a:t>
            </a:r>
          </a:p>
          <a:p>
            <a:pPr lvl="2" algn="just">
              <a:buFont typeface="Courier New" panose="02070309020205020404" pitchFamily="49" charset="0"/>
              <a:buChar char="o"/>
            </a:pPr>
            <a:r>
              <a:rPr lang="en-US" sz="2800" dirty="0" smtClean="0">
                <a:latin typeface="Times New Roman" panose="02020603050405020304" pitchFamily="18" charset="0"/>
                <a:cs typeface="Times New Roman" panose="02020603050405020304" pitchFamily="18" charset="0"/>
              </a:rPr>
              <a:t>Pull the casualty into the side</a:t>
            </a: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99205001"/>
      </p:ext>
    </p:extLst>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3961" y="487591"/>
            <a:ext cx="11611897" cy="924475"/>
          </a:xfrm>
        </p:spPr>
        <p:txBody>
          <a:bodyPr>
            <a:noAutofit/>
          </a:bodyPr>
          <a:lstStyle/>
          <a:p>
            <a:r>
              <a:rPr lang="en-US" b="1" dirty="0" smtClean="0">
                <a:latin typeface="Times New Roman" panose="02020603050405020304" pitchFamily="18" charset="0"/>
                <a:cs typeface="Times New Roman" panose="02020603050405020304" pitchFamily="18" charset="0"/>
              </a:rPr>
              <a:t>WATER SAFETY – RECOGNITION AND RESPONSE - RESPONDING TO AN  EMERGENCY</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23081" y="1855128"/>
            <a:ext cx="11300346" cy="4607087"/>
          </a:xfrm>
        </p:spPr>
        <p:txBody>
          <a:bodyPr>
            <a:noAutofit/>
          </a:bodyPr>
          <a:lstStyle/>
          <a:p>
            <a:pPr algn="just">
              <a:buFont typeface="Wingdings" panose="05000000000000000000" pitchFamily="2" charset="2"/>
              <a:buChar char="ü"/>
            </a:pPr>
            <a:r>
              <a:rPr lang="en-US" dirty="0" smtClean="0">
                <a:latin typeface="Times New Roman" panose="02020603050405020304" pitchFamily="18" charset="0"/>
                <a:cs typeface="Times New Roman" panose="02020603050405020304" pitchFamily="18" charset="0"/>
              </a:rPr>
              <a:t>Throw rescue</a:t>
            </a:r>
          </a:p>
          <a:p>
            <a:pPr algn="just">
              <a:buFont typeface="Courier New" panose="02070309020205020404" pitchFamily="49" charset="0"/>
              <a:buChar char="o"/>
            </a:pPr>
            <a:r>
              <a:rPr lang="en-US" dirty="0" smtClean="0">
                <a:latin typeface="Times New Roman" panose="02020603050405020304" pitchFamily="18" charset="0"/>
                <a:cs typeface="Times New Roman" panose="02020603050405020304" pitchFamily="18" charset="0"/>
              </a:rPr>
              <a:t>When: if the casualty is close to shore but too far to conduct a reach rescue</a:t>
            </a:r>
          </a:p>
          <a:p>
            <a:pPr algn="just">
              <a:buFont typeface="Courier New" panose="02070309020205020404" pitchFamily="49" charset="0"/>
              <a:buChar char="o"/>
            </a:pPr>
            <a:r>
              <a:rPr lang="en-US" dirty="0" smtClean="0">
                <a:latin typeface="Times New Roman" panose="02020603050405020304" pitchFamily="18" charset="0"/>
                <a:cs typeface="Times New Roman" panose="02020603050405020304" pitchFamily="18" charset="0"/>
              </a:rPr>
              <a:t>Why: reduces the risk to the rescuer – no need to swim</a:t>
            </a:r>
          </a:p>
          <a:p>
            <a:pPr algn="just">
              <a:buFont typeface="Courier New" panose="02070309020205020404" pitchFamily="49" charset="0"/>
              <a:buChar char="o"/>
            </a:pPr>
            <a:r>
              <a:rPr lang="en-US" dirty="0" smtClean="0">
                <a:latin typeface="Times New Roman" panose="02020603050405020304" pitchFamily="18" charset="0"/>
                <a:cs typeface="Times New Roman" panose="02020603050405020304" pitchFamily="18" charset="0"/>
              </a:rPr>
              <a:t>How:</a:t>
            </a: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Attract </a:t>
            </a:r>
            <a:r>
              <a:rPr lang="en-US" dirty="0">
                <a:latin typeface="Times New Roman" panose="02020603050405020304" pitchFamily="18" charset="0"/>
                <a:cs typeface="Times New Roman" panose="02020603050405020304" pitchFamily="18" charset="0"/>
              </a:rPr>
              <a:t>the attention of the </a:t>
            </a:r>
            <a:r>
              <a:rPr lang="en-US" dirty="0" smtClean="0">
                <a:latin typeface="Times New Roman" panose="02020603050405020304" pitchFamily="18" charset="0"/>
                <a:cs typeface="Times New Roman" panose="02020603050405020304" pitchFamily="18" charset="0"/>
              </a:rPr>
              <a:t>casualty</a:t>
            </a:r>
          </a:p>
          <a:p>
            <a:pPr marL="0" indent="0" algn="just">
              <a:buNone/>
            </a:pP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Throw </a:t>
            </a:r>
            <a:r>
              <a:rPr lang="en-US" dirty="0">
                <a:latin typeface="Times New Roman" panose="02020603050405020304" pitchFamily="18" charset="0"/>
                <a:cs typeface="Times New Roman" panose="02020603050405020304" pitchFamily="18" charset="0"/>
              </a:rPr>
              <a:t>a floating object to the casualty such as a rope, water </a:t>
            </a:r>
            <a:r>
              <a:rPr lang="en-US" dirty="0" smtClean="0">
                <a:latin typeface="Times New Roman" panose="02020603050405020304" pitchFamily="18" charset="0"/>
                <a:cs typeface="Times New Roman" panose="02020603050405020304" pitchFamily="18" charset="0"/>
              </a:rPr>
              <a:t>container or </a:t>
            </a:r>
            <a:r>
              <a:rPr lang="en-US" dirty="0">
                <a:latin typeface="Times New Roman" panose="02020603050405020304" pitchFamily="18" charset="0"/>
                <a:cs typeface="Times New Roman" panose="02020603050405020304" pitchFamily="18" charset="0"/>
              </a:rPr>
              <a:t>rescue </a:t>
            </a:r>
            <a:r>
              <a:rPr lang="en-US" dirty="0" smtClean="0">
                <a:latin typeface="Times New Roman" panose="02020603050405020304" pitchFamily="18" charset="0"/>
                <a:cs typeface="Times New Roman" panose="02020603050405020304" pitchFamily="18" charset="0"/>
              </a:rPr>
              <a:t>tube</a:t>
            </a:r>
          </a:p>
          <a:p>
            <a:pPr marL="0" indent="0" algn="just">
              <a:buNone/>
            </a:pP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Tell </a:t>
            </a:r>
            <a:r>
              <a:rPr lang="en-US" dirty="0">
                <a:latin typeface="Times New Roman" panose="02020603050405020304" pitchFamily="18" charset="0"/>
                <a:cs typeface="Times New Roman" panose="02020603050405020304" pitchFamily="18" charset="0"/>
              </a:rPr>
              <a:t>the casualty to kick legs their legs and swim in to the </a:t>
            </a:r>
            <a:r>
              <a:rPr lang="en-US" dirty="0" smtClean="0">
                <a:latin typeface="Times New Roman" panose="02020603050405020304" pitchFamily="18" charset="0"/>
                <a:cs typeface="Times New Roman" panose="02020603050405020304" pitchFamily="18" charset="0"/>
              </a:rPr>
              <a:t>side</a:t>
            </a:r>
          </a:p>
          <a:p>
            <a:pPr marL="0" indent="0" algn="just">
              <a:buNone/>
            </a:pP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Help </a:t>
            </a:r>
            <a:r>
              <a:rPr lang="en-US" dirty="0">
                <a:latin typeface="Times New Roman" panose="02020603050405020304" pitchFamily="18" charset="0"/>
                <a:cs typeface="Times New Roman" panose="02020603050405020304" pitchFamily="18" charset="0"/>
              </a:rPr>
              <a:t>the casualty out of the water</a:t>
            </a:r>
          </a:p>
          <a:p>
            <a:pPr>
              <a:buFont typeface="Calibri" panose="020F0502020204030204" pitchFamily="34" charset="0"/>
              <a:buChar char="‒"/>
            </a:pPr>
            <a:endParaRPr lang="en-US" sz="2800" dirty="0"/>
          </a:p>
          <a:p>
            <a:pPr>
              <a:buFont typeface="Calibri" panose="020F0502020204030204" pitchFamily="34" charset="0"/>
              <a:buChar char="‒"/>
            </a:pPr>
            <a:endParaRPr lang="en-US" sz="2800" dirty="0" smtClean="0"/>
          </a:p>
        </p:txBody>
      </p:sp>
    </p:spTree>
    <p:extLst>
      <p:ext uri="{BB962C8B-B14F-4D97-AF65-F5344CB8AC3E}">
        <p14:creationId xmlns:p14="http://schemas.microsoft.com/office/powerpoint/2010/main" val="1821256135"/>
      </p:ext>
    </p:extLst>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4968" y="528535"/>
            <a:ext cx="11562735" cy="924475"/>
          </a:xfrm>
        </p:spPr>
        <p:txBody>
          <a:bodyPr>
            <a:noAutofit/>
          </a:bodyPr>
          <a:lstStyle/>
          <a:p>
            <a:r>
              <a:rPr lang="en-US" b="1" dirty="0" smtClean="0">
                <a:latin typeface="Times New Roman" panose="02020603050405020304" pitchFamily="18" charset="0"/>
                <a:cs typeface="Times New Roman" panose="02020603050405020304" pitchFamily="18" charset="0"/>
              </a:rPr>
              <a:t>WATER SAFETY – RECOGNITION AND RESPONSE - RESPONDING TO AN EMERGENCY</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94968" y="1981700"/>
            <a:ext cx="11562735" cy="4051437"/>
          </a:xfrm>
        </p:spPr>
        <p:txBody>
          <a:bodyPr>
            <a:noAutofit/>
          </a:bodyPr>
          <a:lstStyle/>
          <a:p>
            <a:pPr algn="just">
              <a:buFont typeface="Wingdings" panose="05000000000000000000" pitchFamily="2" charset="2"/>
              <a:buChar char="ü"/>
            </a:pPr>
            <a:r>
              <a:rPr lang="en-US" dirty="0" smtClean="0">
                <a:latin typeface="Times New Roman" panose="02020603050405020304" pitchFamily="18" charset="0"/>
                <a:cs typeface="Times New Roman" panose="02020603050405020304" pitchFamily="18" charset="0"/>
              </a:rPr>
              <a:t>Wade rescue</a:t>
            </a:r>
          </a:p>
          <a:p>
            <a:pPr algn="just">
              <a:buFont typeface="Courier New" panose="02070309020205020404" pitchFamily="49" charset="0"/>
              <a:buChar char="o"/>
            </a:pPr>
            <a:r>
              <a:rPr lang="en-US" dirty="0" smtClean="0">
                <a:latin typeface="Times New Roman" panose="02020603050405020304" pitchFamily="18" charset="0"/>
                <a:cs typeface="Times New Roman" panose="02020603050405020304" pitchFamily="18" charset="0"/>
              </a:rPr>
              <a:t>When: if the casualty is close to shore and in shallow water. The casualty may have stepped into a hole</a:t>
            </a:r>
          </a:p>
          <a:p>
            <a:pPr algn="just">
              <a:buFont typeface="Courier New" panose="02070309020205020404" pitchFamily="49" charset="0"/>
              <a:buChar char="o"/>
            </a:pPr>
            <a:r>
              <a:rPr lang="en-US" dirty="0" smtClean="0">
                <a:latin typeface="Times New Roman" panose="02020603050405020304" pitchFamily="18" charset="0"/>
                <a:cs typeface="Times New Roman" panose="02020603050405020304" pitchFamily="18" charset="0"/>
              </a:rPr>
              <a:t>Why: reduces risk to rescuer – no need to swim. Does not require a floating object</a:t>
            </a:r>
          </a:p>
          <a:p>
            <a:pPr algn="just">
              <a:buFont typeface="Courier New" panose="02070309020205020404" pitchFamily="49" charset="0"/>
              <a:buChar char="o"/>
            </a:pPr>
            <a:r>
              <a:rPr lang="en-US" dirty="0" smtClean="0">
                <a:latin typeface="Times New Roman" panose="02020603050405020304" pitchFamily="18" charset="0"/>
                <a:cs typeface="Times New Roman" panose="02020603050405020304" pitchFamily="18" charset="0"/>
              </a:rPr>
              <a:t>How: Attract </a:t>
            </a:r>
            <a:r>
              <a:rPr lang="en-US" dirty="0">
                <a:latin typeface="Times New Roman" panose="02020603050405020304" pitchFamily="18" charset="0"/>
                <a:cs typeface="Times New Roman" panose="02020603050405020304" pitchFamily="18" charset="0"/>
              </a:rPr>
              <a:t>the attention of the casualty</a:t>
            </a:r>
          </a:p>
          <a:p>
            <a:pPr marL="0" indent="0" algn="just">
              <a:buNone/>
            </a:pPr>
            <a:r>
              <a:rPr lang="en-US" dirty="0" smtClean="0">
                <a:latin typeface="Times New Roman" panose="02020603050405020304" pitchFamily="18" charset="0"/>
                <a:cs typeface="Times New Roman" panose="02020603050405020304" pitchFamily="18" charset="0"/>
              </a:rPr>
              <a:t>	Enter </a:t>
            </a:r>
            <a:r>
              <a:rPr lang="en-US" dirty="0">
                <a:latin typeface="Times New Roman" panose="02020603050405020304" pitchFamily="18" charset="0"/>
                <a:cs typeface="Times New Roman" panose="02020603050405020304" pitchFamily="18" charset="0"/>
              </a:rPr>
              <a:t>the water carefully, taking a stick/pole with you if possible to test water depth and for the casualty to hold </a:t>
            </a:r>
            <a:r>
              <a:rPr lang="en-US" dirty="0" smtClean="0">
                <a:latin typeface="Times New Roman" panose="02020603050405020304" pitchFamily="18" charset="0"/>
                <a:cs typeface="Times New Roman" panose="02020603050405020304" pitchFamily="18" charset="0"/>
              </a:rPr>
              <a:t>into</a:t>
            </a:r>
          </a:p>
          <a:p>
            <a:pPr marL="0" indent="0" algn="just">
              <a:buNone/>
            </a:pPr>
            <a:r>
              <a:rPr lang="en-US" dirty="0" smtClean="0">
                <a:latin typeface="Times New Roman" panose="02020603050405020304" pitchFamily="18" charset="0"/>
                <a:cs typeface="Times New Roman" panose="02020603050405020304" pitchFamily="18" charset="0"/>
              </a:rPr>
              <a:t>	Pass </a:t>
            </a:r>
            <a:r>
              <a:rPr lang="en-US" dirty="0">
                <a:latin typeface="Times New Roman" panose="02020603050405020304" pitchFamily="18" charset="0"/>
                <a:cs typeface="Times New Roman" panose="02020603050405020304" pitchFamily="18" charset="0"/>
              </a:rPr>
              <a:t>one end of the stick/pole to the </a:t>
            </a:r>
            <a:r>
              <a:rPr lang="en-US" dirty="0" smtClean="0">
                <a:latin typeface="Times New Roman" panose="02020603050405020304" pitchFamily="18" charset="0"/>
                <a:cs typeface="Times New Roman" panose="02020603050405020304" pitchFamily="18" charset="0"/>
              </a:rPr>
              <a:t>casualty</a:t>
            </a:r>
          </a:p>
          <a:p>
            <a:pPr marL="0" indent="0" algn="just">
              <a:buNone/>
            </a:pPr>
            <a:r>
              <a:rPr lang="en-US" dirty="0" smtClean="0">
                <a:latin typeface="Times New Roman" panose="02020603050405020304" pitchFamily="18" charset="0"/>
                <a:cs typeface="Times New Roman" panose="02020603050405020304" pitchFamily="18" charset="0"/>
              </a:rPr>
              <a:t>	Help </a:t>
            </a:r>
            <a:r>
              <a:rPr lang="en-US" dirty="0">
                <a:latin typeface="Times New Roman" panose="02020603050405020304" pitchFamily="18" charset="0"/>
                <a:cs typeface="Times New Roman" panose="02020603050405020304" pitchFamily="18" charset="0"/>
              </a:rPr>
              <a:t>the casualty out of the water</a:t>
            </a:r>
          </a:p>
          <a:p>
            <a:pPr>
              <a:buFont typeface="Calibri" panose="020F0502020204030204" pitchFamily="34" charset="0"/>
              <a:buChar char="‒"/>
            </a:pPr>
            <a:endParaRPr lang="en-US" sz="2800" dirty="0"/>
          </a:p>
          <a:p>
            <a:pPr>
              <a:buFont typeface="Calibri" panose="020F0502020204030204" pitchFamily="34" charset="0"/>
              <a:buChar char="‒"/>
            </a:pPr>
            <a:endParaRPr lang="en-US" sz="2800" dirty="0" smtClean="0"/>
          </a:p>
        </p:txBody>
      </p:sp>
    </p:spTree>
    <p:extLst>
      <p:ext uri="{BB962C8B-B14F-4D97-AF65-F5344CB8AC3E}">
        <p14:creationId xmlns:p14="http://schemas.microsoft.com/office/powerpoint/2010/main" val="486159981"/>
      </p:ext>
    </p:extLst>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3289" y="472770"/>
            <a:ext cx="11454581" cy="924475"/>
          </a:xfrm>
        </p:spPr>
        <p:txBody>
          <a:bodyPr>
            <a:noAutofit/>
          </a:bodyPr>
          <a:lstStyle/>
          <a:p>
            <a:r>
              <a:rPr lang="en-US" b="1" dirty="0" smtClean="0">
                <a:latin typeface="Times New Roman" panose="02020603050405020304" pitchFamily="18" charset="0"/>
                <a:cs typeface="Times New Roman" panose="02020603050405020304" pitchFamily="18" charset="0"/>
              </a:rPr>
              <a:t>WATER SAFETY – RECOGNITION AND RESPONSE - RESPONDING TO AN EMERGENCY</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34180" y="1837752"/>
            <a:ext cx="10972800" cy="4889808"/>
          </a:xfrm>
        </p:spPr>
        <p:txBody>
          <a:bodyPr>
            <a:noAutofit/>
          </a:bodyPr>
          <a:lstStyle/>
          <a:p>
            <a:pPr>
              <a:buFont typeface="Arial" panose="020B0604020202020204" pitchFamily="34" charset="0"/>
              <a:buChar char="•"/>
            </a:pPr>
            <a:r>
              <a:rPr lang="en-US" b="1" dirty="0" smtClean="0">
                <a:latin typeface="Times New Roman" panose="02020603050405020304" pitchFamily="18" charset="0"/>
                <a:cs typeface="Times New Roman" panose="02020603050405020304" pitchFamily="18" charset="0"/>
              </a:rPr>
              <a:t>SWIMMING RESUE</a:t>
            </a:r>
          </a:p>
          <a:p>
            <a:pPr algn="just">
              <a:buFont typeface="Wingdings" panose="05000000000000000000" pitchFamily="2" charset="2"/>
              <a:buChar char="ü"/>
            </a:pPr>
            <a:r>
              <a:rPr lang="en-US" dirty="0" smtClean="0">
                <a:latin typeface="Times New Roman" panose="02020603050405020304" pitchFamily="18" charset="0"/>
                <a:cs typeface="Times New Roman" panose="02020603050405020304" pitchFamily="18" charset="0"/>
              </a:rPr>
              <a:t>Rescues that require someone/lifeguard to swim are more dangerous than rescues from the land because;</a:t>
            </a:r>
          </a:p>
          <a:p>
            <a:pPr algn="just">
              <a:buFont typeface="Courier New" panose="02070309020205020404" pitchFamily="49" charset="0"/>
              <a:buChar char="o"/>
            </a:pPr>
            <a:r>
              <a:rPr lang="en-US" dirty="0" smtClean="0">
                <a:latin typeface="Times New Roman" panose="02020603050405020304" pitchFamily="18" charset="0"/>
                <a:cs typeface="Times New Roman" panose="02020603050405020304" pitchFamily="18" charset="0"/>
              </a:rPr>
              <a:t>Of the dangers of the water</a:t>
            </a:r>
          </a:p>
          <a:p>
            <a:pPr algn="just">
              <a:buFont typeface="Courier New" panose="02070309020205020404" pitchFamily="49" charset="0"/>
              <a:buChar char="o"/>
            </a:pPr>
            <a:r>
              <a:rPr lang="en-US" dirty="0" smtClean="0">
                <a:latin typeface="Times New Roman" panose="02020603050405020304" pitchFamily="18" charset="0"/>
                <a:cs typeface="Times New Roman" panose="02020603050405020304" pitchFamily="18" charset="0"/>
              </a:rPr>
              <a:t>Those being rescued may panic and grab the rescuer</a:t>
            </a:r>
          </a:p>
          <a:p>
            <a:pPr algn="just">
              <a:buFont typeface="Courier New" panose="02070309020205020404" pitchFamily="49" charset="0"/>
              <a:buChar char="o"/>
            </a:pPr>
            <a:endParaRPr lang="en-US" dirty="0" smtClean="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ü"/>
            </a:pPr>
            <a:r>
              <a:rPr lang="en-US" dirty="0" smtClean="0">
                <a:latin typeface="Times New Roman" panose="02020603050405020304" pitchFamily="18" charset="0"/>
                <a:cs typeface="Times New Roman" panose="02020603050405020304" pitchFamily="18" charset="0"/>
              </a:rPr>
              <a:t>A swimming rescue should only be attempted if there is no option of a land based rescue</a:t>
            </a:r>
          </a:p>
          <a:p>
            <a:pPr algn="just">
              <a:buFont typeface="Wingdings" panose="05000000000000000000" pitchFamily="2" charset="2"/>
              <a:buChar char="ü"/>
            </a:pPr>
            <a:endParaRPr lang="en-US" dirty="0" smtClean="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ü"/>
            </a:pPr>
            <a:endParaRPr lang="en-US" dirty="0" smtClean="0">
              <a:latin typeface="Times New Roman" panose="02020603050405020304" pitchFamily="18" charset="0"/>
              <a:cs typeface="Times New Roman" panose="02020603050405020304" pitchFamily="18" charset="0"/>
            </a:endParaRPr>
          </a:p>
          <a:p>
            <a:pPr marL="0" indent="0" algn="just">
              <a:buNone/>
            </a:pPr>
            <a:endParaRPr lang="en-US" sz="2400" dirty="0"/>
          </a:p>
        </p:txBody>
      </p:sp>
    </p:spTree>
    <p:extLst>
      <p:ext uri="{BB962C8B-B14F-4D97-AF65-F5344CB8AC3E}">
        <p14:creationId xmlns:p14="http://schemas.microsoft.com/office/powerpoint/2010/main" val="1841772187"/>
      </p:ext>
    </p:extLst>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3289" y="472770"/>
            <a:ext cx="11454581" cy="924475"/>
          </a:xfrm>
        </p:spPr>
        <p:txBody>
          <a:bodyPr>
            <a:noAutofit/>
          </a:bodyPr>
          <a:lstStyle/>
          <a:p>
            <a:r>
              <a:rPr lang="en-US" b="1" dirty="0" smtClean="0">
                <a:latin typeface="Times New Roman" panose="02020603050405020304" pitchFamily="18" charset="0"/>
                <a:cs typeface="Times New Roman" panose="02020603050405020304" pitchFamily="18" charset="0"/>
              </a:rPr>
              <a:t>WATER SAFETY – RECOGNITION AND RESPONSE - RESPONDING TO AN EMERGENCY</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34180" y="1837752"/>
            <a:ext cx="10972800" cy="4889808"/>
          </a:xfrm>
        </p:spPr>
        <p:txBody>
          <a:bodyPr>
            <a:noAutofit/>
          </a:bodyPr>
          <a:lstStyle/>
          <a:p>
            <a:pPr lvl="0" algn="just">
              <a:buFont typeface="Wingdings" panose="05000000000000000000" pitchFamily="2" charset="2"/>
              <a:buChar char="ü"/>
            </a:pPr>
            <a:r>
              <a:rPr lang="en-US" dirty="0">
                <a:solidFill>
                  <a:prstClr val="black"/>
                </a:solidFill>
                <a:latin typeface="Times New Roman" panose="02020603050405020304" pitchFamily="18" charset="0"/>
                <a:cs typeface="Times New Roman" panose="02020603050405020304" pitchFamily="18" charset="0"/>
              </a:rPr>
              <a:t>Where possible, buoyant rescue equipment should be used to assist with the rescue of a conscious </a:t>
            </a:r>
            <a:r>
              <a:rPr lang="en-US" dirty="0" smtClean="0">
                <a:solidFill>
                  <a:prstClr val="black"/>
                </a:solidFill>
                <a:latin typeface="Times New Roman" panose="02020603050405020304" pitchFamily="18" charset="0"/>
                <a:cs typeface="Times New Roman" panose="02020603050405020304" pitchFamily="18" charset="0"/>
              </a:rPr>
              <a:t>casualty</a:t>
            </a:r>
          </a:p>
          <a:p>
            <a:pPr lvl="0" algn="just">
              <a:buFont typeface="Wingdings" panose="05000000000000000000" pitchFamily="2" charset="2"/>
              <a:buChar char="ü"/>
            </a:pPr>
            <a:endParaRPr lang="en-US" dirty="0">
              <a:solidFill>
                <a:prstClr val="black"/>
              </a:solidFill>
              <a:latin typeface="Times New Roman" panose="02020603050405020304" pitchFamily="18" charset="0"/>
              <a:cs typeface="Times New Roman" panose="02020603050405020304" pitchFamily="18" charset="0"/>
            </a:endParaRPr>
          </a:p>
          <a:p>
            <a:pPr lvl="0" algn="just">
              <a:buFont typeface="Wingdings" panose="05000000000000000000" pitchFamily="2" charset="2"/>
              <a:buChar char="ü"/>
            </a:pPr>
            <a:r>
              <a:rPr lang="en-US" dirty="0">
                <a:solidFill>
                  <a:prstClr val="black"/>
                </a:solidFill>
                <a:latin typeface="Times New Roman" panose="02020603050405020304" pitchFamily="18" charset="0"/>
                <a:cs typeface="Times New Roman" panose="02020603050405020304" pitchFamily="18" charset="0"/>
              </a:rPr>
              <a:t>However if rescue equipment is not available – or the casualty is unconscious – then the lifeguard/rescuer must do a contact tow to bring the casualty back to shore</a:t>
            </a:r>
          </a:p>
          <a:p>
            <a:pPr marL="0" indent="0" algn="just">
              <a:buNone/>
            </a:pPr>
            <a:endParaRPr lang="en-US" sz="2400" dirty="0"/>
          </a:p>
        </p:txBody>
      </p:sp>
    </p:spTree>
    <p:extLst>
      <p:ext uri="{BB962C8B-B14F-4D97-AF65-F5344CB8AC3E}">
        <p14:creationId xmlns:p14="http://schemas.microsoft.com/office/powerpoint/2010/main" val="1841772187"/>
      </p:ext>
    </p:extLst>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1320" y="252645"/>
            <a:ext cx="11435209" cy="924475"/>
          </a:xfrm>
        </p:spPr>
        <p:txBody>
          <a:bodyPr>
            <a:noAutofit/>
          </a:bodyPr>
          <a:lstStyle/>
          <a:p>
            <a:r>
              <a:rPr lang="en-US" b="1" dirty="0" smtClean="0">
                <a:latin typeface="Times New Roman" panose="02020603050405020304" pitchFamily="18" charset="0"/>
                <a:cs typeface="Times New Roman" panose="02020603050405020304" pitchFamily="18" charset="0"/>
              </a:rPr>
              <a:t>WATER SAFETY – RECOGNITION AND RESPONSE - RESPONDING TO AN EMERGENCY</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334297" y="1781033"/>
            <a:ext cx="11306069" cy="5076967"/>
          </a:xfrm>
        </p:spPr>
        <p:txBody>
          <a:bodyPr>
            <a:noAutofit/>
          </a:bodyPr>
          <a:lstStyle/>
          <a:p>
            <a:pPr lvl="1">
              <a:buFont typeface="Arial" panose="020B0604020202020204" pitchFamily="34" charset="0"/>
              <a:buChar char="•"/>
            </a:pPr>
            <a:r>
              <a:rPr lang="en-US" sz="2800" dirty="0" smtClean="0">
                <a:latin typeface="Times New Roman" panose="02020603050405020304" pitchFamily="18" charset="0"/>
                <a:cs typeface="Times New Roman" panose="02020603050405020304" pitchFamily="18" charset="0"/>
              </a:rPr>
              <a:t>ENTERING THE WATER</a:t>
            </a:r>
          </a:p>
          <a:p>
            <a:pPr lvl="1" algn="just">
              <a:buFont typeface="Wingdings" panose="05000000000000000000" pitchFamily="2" charset="2"/>
              <a:buChar char="ü"/>
            </a:pPr>
            <a:r>
              <a:rPr lang="en-US" sz="2800" dirty="0" smtClean="0">
                <a:latin typeface="Times New Roman" panose="02020603050405020304" pitchFamily="18" charset="0"/>
                <a:cs typeface="Times New Roman" panose="02020603050405020304" pitchFamily="18" charset="0"/>
              </a:rPr>
              <a:t>Determine the location of the casualty before entering the water</a:t>
            </a:r>
          </a:p>
          <a:p>
            <a:pPr lvl="1" algn="just">
              <a:buFont typeface="Wingdings" panose="05000000000000000000" pitchFamily="2" charset="2"/>
              <a:buChar char="ü"/>
            </a:pPr>
            <a:r>
              <a:rPr lang="en-US" sz="2800" dirty="0" smtClean="0">
                <a:latin typeface="Times New Roman" panose="02020603050405020304" pitchFamily="18" charset="0"/>
                <a:cs typeface="Times New Roman" panose="02020603050405020304" pitchFamily="18" charset="0"/>
              </a:rPr>
              <a:t>Choose the shortest and safest route to the casualty. This may involve moving along the beach before entering the water to take into account local currents</a:t>
            </a:r>
          </a:p>
          <a:p>
            <a:pPr lvl="1" algn="just">
              <a:buFont typeface="Wingdings" panose="05000000000000000000" pitchFamily="2" charset="2"/>
              <a:buChar char="ü"/>
            </a:pPr>
            <a:r>
              <a:rPr lang="en-US" sz="2800" dirty="0" smtClean="0">
                <a:latin typeface="Times New Roman" panose="02020603050405020304" pitchFamily="18" charset="0"/>
                <a:cs typeface="Times New Roman" panose="02020603050405020304" pitchFamily="18" charset="0"/>
              </a:rPr>
              <a:t>If the depth of water is unknown – or there may be submerged objects- then run or wade up to chest depth before starting to swim</a:t>
            </a:r>
          </a:p>
          <a:p>
            <a:pPr lvl="1" algn="just">
              <a:buFont typeface="Wingdings" panose="05000000000000000000" pitchFamily="2" charset="2"/>
              <a:buChar char="ü"/>
            </a:pPr>
            <a:r>
              <a:rPr lang="en-US" sz="2800" dirty="0" smtClean="0">
                <a:latin typeface="Times New Roman" panose="02020603050405020304" pitchFamily="18" charset="0"/>
                <a:cs typeface="Times New Roman" panose="02020603050405020304" pitchFamily="18" charset="0"/>
              </a:rPr>
              <a:t>If the depth is known then a shallow dive can be used</a:t>
            </a:r>
          </a:p>
          <a:p>
            <a:pPr lvl="1" algn="just">
              <a:buFont typeface="Wingdings" panose="05000000000000000000" pitchFamily="2" charset="2"/>
              <a:buChar char="ü"/>
            </a:pPr>
            <a:endParaRPr lang="en-US" sz="2800" dirty="0" smtClean="0">
              <a:latin typeface="Times New Roman" panose="02020603050405020304" pitchFamily="18" charset="0"/>
              <a:cs typeface="Times New Roman" panose="02020603050405020304" pitchFamily="18" charset="0"/>
            </a:endParaRPr>
          </a:p>
          <a:p>
            <a:pPr lvl="1" algn="just">
              <a:buFont typeface="Wingdings" panose="05000000000000000000" pitchFamily="2" charset="2"/>
              <a:buChar char="ü"/>
            </a:pPr>
            <a:endParaRPr lang="en-US" sz="2800" dirty="0" smtClean="0">
              <a:latin typeface="Times New Roman" panose="02020603050405020304" pitchFamily="18" charset="0"/>
              <a:cs typeface="Times New Roman" panose="02020603050405020304" pitchFamily="18" charset="0"/>
            </a:endParaRPr>
          </a:p>
          <a:p>
            <a:pPr lvl="1">
              <a:buFont typeface="Wingdings" panose="05000000000000000000" pitchFamily="2" charset="2"/>
              <a:buChar char="ü"/>
            </a:pP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42058549"/>
      </p:ext>
    </p:extLst>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1320" y="252645"/>
            <a:ext cx="11435209" cy="924475"/>
          </a:xfrm>
        </p:spPr>
        <p:txBody>
          <a:bodyPr>
            <a:noAutofit/>
          </a:bodyPr>
          <a:lstStyle/>
          <a:p>
            <a:r>
              <a:rPr lang="en-US" b="1" dirty="0" smtClean="0">
                <a:latin typeface="Times New Roman" panose="02020603050405020304" pitchFamily="18" charset="0"/>
                <a:cs typeface="Times New Roman" panose="02020603050405020304" pitchFamily="18" charset="0"/>
              </a:rPr>
              <a:t>WATER SAFETY – RECOGNITION AND RESPONSE - RESPONDING TO AN EMERGENCY</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334297" y="1781033"/>
            <a:ext cx="11306069" cy="5076967"/>
          </a:xfrm>
        </p:spPr>
        <p:txBody>
          <a:bodyPr>
            <a:noAutofit/>
          </a:bodyPr>
          <a:lstStyle/>
          <a:p>
            <a:pPr lvl="1"/>
            <a:r>
              <a:rPr lang="en-US" sz="2800" b="1" dirty="0">
                <a:latin typeface="Times New Roman" panose="02020603050405020304" pitchFamily="18" charset="0"/>
                <a:cs typeface="Times New Roman" panose="02020603050405020304" pitchFamily="18" charset="0"/>
              </a:rPr>
              <a:t>SWIMMING TO A CASUALTY</a:t>
            </a:r>
          </a:p>
          <a:p>
            <a:pPr lvl="1">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When swimming to a casualty, the rescuer should swim on their front, regularly bringing their head out of the water to observe the position of the casualty</a:t>
            </a:r>
          </a:p>
          <a:p>
            <a:pPr lvl="1">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The rescuer must communicate with the casualty so that they know help is coming</a:t>
            </a:r>
          </a:p>
          <a:p>
            <a:pPr lvl="1">
              <a:buFont typeface="Wingdings" panose="05000000000000000000" pitchFamily="2" charset="2"/>
              <a:buChar char="ü"/>
            </a:pP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42058549"/>
      </p:ext>
    </p:extLst>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4296" y="534990"/>
            <a:ext cx="11562735" cy="924475"/>
          </a:xfrm>
        </p:spPr>
        <p:txBody>
          <a:bodyPr>
            <a:noAutofit/>
          </a:bodyPr>
          <a:lstStyle/>
          <a:p>
            <a:r>
              <a:rPr lang="en-US" b="1" dirty="0" smtClean="0">
                <a:latin typeface="Times New Roman" panose="02020603050405020304" pitchFamily="18" charset="0"/>
                <a:cs typeface="Times New Roman" panose="02020603050405020304" pitchFamily="18" charset="0"/>
              </a:rPr>
              <a:t>WATER SAFETY – RECOGNITION AND RESPONSE - RESPONDING TO AN EMERGENCY</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03123" y="1995948"/>
            <a:ext cx="11493908" cy="4611329"/>
          </a:xfrm>
        </p:spPr>
        <p:txBody>
          <a:bodyPr>
            <a:normAutofit fontScale="92500" lnSpcReduction="10000"/>
          </a:bodyPr>
          <a:lstStyle/>
          <a:p>
            <a:pPr>
              <a:buFont typeface="Arial" panose="020B0604020202020204" pitchFamily="34" charset="0"/>
              <a:buChar char="•"/>
            </a:pPr>
            <a:r>
              <a:rPr lang="en-US" sz="2800" b="1" dirty="0" smtClean="0">
                <a:latin typeface="Times New Roman" panose="02020603050405020304" pitchFamily="18" charset="0"/>
                <a:cs typeface="Times New Roman" panose="02020603050405020304" pitchFamily="18" charset="0"/>
              </a:rPr>
              <a:t>APPROACHING A CONSCIOUS CASUALTY</a:t>
            </a:r>
          </a:p>
          <a:p>
            <a:pPr algn="just">
              <a:buFont typeface="Wingdings" panose="05000000000000000000" pitchFamily="2" charset="2"/>
              <a:buChar char="ü"/>
            </a:pPr>
            <a:r>
              <a:rPr lang="en-US" sz="2800" dirty="0" smtClean="0">
                <a:latin typeface="Times New Roman" panose="02020603050405020304" pitchFamily="18" charset="0"/>
                <a:cs typeface="Times New Roman" panose="02020603050405020304" pitchFamily="18" charset="0"/>
              </a:rPr>
              <a:t>A distressed casualty may try to grasp the rescuer if they get too close. When arriving at the scene the rescuer should keep a safe distance away from the casualty (preferably 3 meters) while they assess the situation</a:t>
            </a:r>
          </a:p>
          <a:p>
            <a:pPr algn="just">
              <a:buFont typeface="Wingdings" panose="05000000000000000000" pitchFamily="2" charset="2"/>
              <a:buChar char="ü"/>
            </a:pPr>
            <a:r>
              <a:rPr lang="en-US" sz="2800" dirty="0" smtClean="0">
                <a:latin typeface="Times New Roman" panose="02020603050405020304" pitchFamily="18" charset="0"/>
                <a:cs typeface="Times New Roman" panose="02020603050405020304" pitchFamily="18" charset="0"/>
              </a:rPr>
              <a:t>If the rescuer has a buoyant rescue aid then this should be thrown to the casualty while maintaining a safe distance</a:t>
            </a:r>
          </a:p>
          <a:p>
            <a:pPr algn="just">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If the rescuer has no rescue aid then they must get into a position where they can avoid the grasp of the casualty, pull them into horizontal position and prepare for the tow back to shore</a:t>
            </a:r>
          </a:p>
          <a:p>
            <a:pPr algn="just">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This is best achieved by the rescuer swimming behind the casualty and providing words of reassurance to calm them down and instructions on what actions they should take to help the rescuer tow them to shore</a:t>
            </a:r>
          </a:p>
          <a:p>
            <a:pPr algn="just">
              <a:buFont typeface="Wingdings" panose="05000000000000000000" pitchFamily="2" charset="2"/>
              <a:buChar char="ü"/>
            </a:pPr>
            <a:endParaRPr lang="en-US" sz="2800"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549318"/>
      </p:ext>
    </p:extLst>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4465" y="492435"/>
            <a:ext cx="11533238" cy="924475"/>
          </a:xfrm>
        </p:spPr>
        <p:txBody>
          <a:bodyPr>
            <a:noAutofit/>
          </a:bodyPr>
          <a:lstStyle/>
          <a:p>
            <a:r>
              <a:rPr lang="en-US" b="1" dirty="0" smtClean="0">
                <a:latin typeface="Times New Roman" panose="02020603050405020304" pitchFamily="18" charset="0"/>
                <a:cs typeface="Times New Roman" panose="02020603050405020304" pitchFamily="18" charset="0"/>
              </a:rPr>
              <a:t>WATER SAFETY – RECOGNITION AND RESPONSE - RESPONDING TO AN EMERGENCY</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750627" y="1917278"/>
            <a:ext cx="10836322" cy="4051437"/>
          </a:xfrm>
        </p:spPr>
        <p:txBody>
          <a:bodyPr>
            <a:normAutofit/>
          </a:bodyPr>
          <a:lstStyle/>
          <a:p>
            <a:pPr>
              <a:buFont typeface="Arial" panose="020B0604020202020204" pitchFamily="34" charset="0"/>
              <a:buChar char="•"/>
            </a:pPr>
            <a:r>
              <a:rPr lang="en-US" sz="2800" b="1" dirty="0" smtClean="0">
                <a:latin typeface="Times New Roman" panose="02020603050405020304" pitchFamily="18" charset="0"/>
                <a:cs typeface="Times New Roman" panose="02020603050405020304" pitchFamily="18" charset="0"/>
              </a:rPr>
              <a:t>APPROACHING AN UNCONSCIOUS CASUALTY</a:t>
            </a:r>
          </a:p>
          <a:p>
            <a:pPr algn="just">
              <a:buFont typeface="Wingdings" panose="05000000000000000000" pitchFamily="2" charset="2"/>
              <a:buChar char="ü"/>
            </a:pPr>
            <a:r>
              <a:rPr lang="en-US" sz="2800" dirty="0" smtClean="0">
                <a:latin typeface="Times New Roman" panose="02020603050405020304" pitchFamily="18" charset="0"/>
                <a:cs typeface="Times New Roman" panose="02020603050405020304" pitchFamily="18" charset="0"/>
              </a:rPr>
              <a:t>If the casualty is unconscious thy need to be rolled quickly onto the back to keep their face and mouth out of the water and maintain breathing</a:t>
            </a:r>
          </a:p>
          <a:p>
            <a:pPr algn="just">
              <a:buFont typeface="Wingdings" panose="05000000000000000000" pitchFamily="2" charset="2"/>
              <a:buChar char="ü"/>
            </a:pPr>
            <a:r>
              <a:rPr lang="en-US" sz="2800" dirty="0" smtClean="0">
                <a:latin typeface="Times New Roman" panose="02020603050405020304" pitchFamily="18" charset="0"/>
                <a:cs typeface="Times New Roman" panose="02020603050405020304" pitchFamily="18" charset="0"/>
              </a:rPr>
              <a:t>This is done by simply putting down on one shoulder and up on another</a:t>
            </a:r>
          </a:p>
          <a:p>
            <a:pPr algn="just">
              <a:buFont typeface="Wingdings" panose="05000000000000000000" pitchFamily="2" charset="2"/>
              <a:buChar char="ü"/>
            </a:pPr>
            <a:endParaRPr lang="en-US" sz="2800"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ü"/>
            </a:pP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26246280"/>
      </p:ext>
    </p:extLst>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4465" y="492435"/>
            <a:ext cx="11533238" cy="924475"/>
          </a:xfrm>
        </p:spPr>
        <p:txBody>
          <a:bodyPr>
            <a:noAutofit/>
          </a:bodyPr>
          <a:lstStyle/>
          <a:p>
            <a:r>
              <a:rPr lang="en-US" b="1" dirty="0" smtClean="0">
                <a:latin typeface="Times New Roman" panose="02020603050405020304" pitchFamily="18" charset="0"/>
                <a:cs typeface="Times New Roman" panose="02020603050405020304" pitchFamily="18" charset="0"/>
              </a:rPr>
              <a:t>WATER SAFETY – RECOGNITION AND RESPONSE - RESPONDING TO AN EMERGENCY</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750627" y="1917278"/>
            <a:ext cx="10836322" cy="4051437"/>
          </a:xfrm>
        </p:spPr>
        <p:txBody>
          <a:bodyPr>
            <a:normAutofit/>
          </a:bodyPr>
          <a:lstStyle/>
          <a:p>
            <a:pPr algn="just"/>
            <a:r>
              <a:rPr lang="en-US" b="1" dirty="0">
                <a:solidFill>
                  <a:prstClr val="black"/>
                </a:solidFill>
                <a:latin typeface="Times New Roman" panose="02020603050405020304" pitchFamily="18" charset="0"/>
                <a:cs typeface="Times New Roman" panose="02020603050405020304" pitchFamily="18" charset="0"/>
              </a:rPr>
              <a:t>TOWING CASUALTY BACK TO SHORE</a:t>
            </a:r>
          </a:p>
          <a:p>
            <a:pPr lvl="0" algn="just">
              <a:buFont typeface="Wingdings" panose="05000000000000000000" pitchFamily="2" charset="2"/>
              <a:buChar char="ü"/>
            </a:pPr>
            <a:r>
              <a:rPr lang="en-US" dirty="0">
                <a:solidFill>
                  <a:prstClr val="black"/>
                </a:solidFill>
                <a:latin typeface="Times New Roman" panose="02020603050405020304" pitchFamily="18" charset="0"/>
                <a:cs typeface="Times New Roman" panose="02020603050405020304" pitchFamily="18" charset="0"/>
              </a:rPr>
              <a:t>When towing a casualty back to shore, the rescuer will only have one arm close to the surface. Normal swimming techniques will not work so rescuer must learn swimming stroke that allows them to swim effectively while towing the casualty</a:t>
            </a:r>
          </a:p>
          <a:p>
            <a:pPr lvl="0" algn="just">
              <a:buFont typeface="Wingdings" panose="05000000000000000000" pitchFamily="2" charset="2"/>
              <a:buChar char="ü"/>
            </a:pPr>
            <a:r>
              <a:rPr lang="en-US" dirty="0">
                <a:solidFill>
                  <a:prstClr val="black"/>
                </a:solidFill>
                <a:latin typeface="Times New Roman" panose="02020603050405020304" pitchFamily="18" charset="0"/>
                <a:cs typeface="Times New Roman" panose="02020603050405020304" pitchFamily="18" charset="0"/>
              </a:rPr>
              <a:t>The most effective way is for the rescuer to swim using sidestrokes – on their side with their hip facing the sky. The legs are kept slightly bent and kicked in a scissor action </a:t>
            </a:r>
          </a:p>
          <a:p>
            <a:pPr>
              <a:buFont typeface="Wingdings" panose="05000000000000000000" pitchFamily="2" charset="2"/>
              <a:buChar char="ü"/>
            </a:pP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26246280"/>
      </p:ext>
    </p:extLst>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3626" y="219241"/>
            <a:ext cx="11444747" cy="1499616"/>
          </a:xfrm>
        </p:spPr>
        <p:txBody>
          <a:bodyPr/>
          <a:lstStyle/>
          <a:p>
            <a:r>
              <a:rPr lang="en-US" b="1" dirty="0" smtClean="0">
                <a:latin typeface="Times New Roman" panose="02020603050405020304" pitchFamily="18" charset="0"/>
                <a:cs typeface="Times New Roman" panose="02020603050405020304" pitchFamily="18" charset="0"/>
              </a:rPr>
              <a:t>TIPS FOR REDUCING THE RISK FOR DROWNING IN CHILDREN</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745958" y="1760561"/>
            <a:ext cx="10431379" cy="4712428"/>
          </a:xfrm>
        </p:spPr>
        <p:txBody>
          <a:bodyPr>
            <a:noAutofit/>
          </a:bodyPr>
          <a:lstStyle/>
          <a:p>
            <a:pPr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Enroll children in Red Cross Parent </a:t>
            </a:r>
            <a:r>
              <a:rPr lang="en-US" sz="2800" dirty="0" smtClean="0">
                <a:latin typeface="Times New Roman" panose="02020603050405020304" pitchFamily="18" charset="0"/>
                <a:cs typeface="Times New Roman" panose="02020603050405020304" pitchFamily="18" charset="0"/>
              </a:rPr>
              <a:t>and Child </a:t>
            </a:r>
            <a:r>
              <a:rPr lang="en-US" sz="2800" dirty="0">
                <a:latin typeface="Times New Roman" panose="02020603050405020304" pitchFamily="18" charset="0"/>
                <a:cs typeface="Times New Roman" panose="02020603050405020304" pitchFamily="18" charset="0"/>
              </a:rPr>
              <a:t>Aquatics, Preschool Aquatics </a:t>
            </a:r>
            <a:r>
              <a:rPr lang="en-US" sz="2800" dirty="0" smtClean="0">
                <a:latin typeface="Times New Roman" panose="02020603050405020304" pitchFamily="18" charset="0"/>
                <a:cs typeface="Times New Roman" panose="02020603050405020304" pitchFamily="18" charset="0"/>
              </a:rPr>
              <a:t>and Learn-to-Swim </a:t>
            </a:r>
            <a:r>
              <a:rPr lang="en-US" sz="2800" dirty="0">
                <a:latin typeface="Times New Roman" panose="02020603050405020304" pitchFamily="18" charset="0"/>
                <a:cs typeface="Times New Roman" panose="02020603050405020304" pitchFamily="18" charset="0"/>
              </a:rPr>
              <a:t>courses. Providing early </a:t>
            </a:r>
            <a:r>
              <a:rPr lang="en-US" sz="2800" dirty="0" smtClean="0">
                <a:latin typeface="Times New Roman" panose="02020603050405020304" pitchFamily="18" charset="0"/>
                <a:cs typeface="Times New Roman" panose="02020603050405020304" pitchFamily="18" charset="0"/>
              </a:rPr>
              <a:t>aquatic experiences </a:t>
            </a:r>
            <a:r>
              <a:rPr lang="en-US" sz="2800" dirty="0">
                <a:latin typeface="Times New Roman" panose="02020603050405020304" pitchFamily="18" charset="0"/>
                <a:cs typeface="Times New Roman" panose="02020603050405020304" pitchFamily="18" charset="0"/>
              </a:rPr>
              <a:t>to a child is a gift that will </a:t>
            </a:r>
            <a:r>
              <a:rPr lang="en-US" sz="2800" dirty="0" smtClean="0">
                <a:latin typeface="Times New Roman" panose="02020603050405020304" pitchFamily="18" charset="0"/>
                <a:cs typeface="Times New Roman" panose="02020603050405020304" pitchFamily="18" charset="0"/>
              </a:rPr>
              <a:t>have lifelong </a:t>
            </a:r>
            <a:r>
              <a:rPr lang="en-US" sz="2800" dirty="0">
                <a:latin typeface="Times New Roman" panose="02020603050405020304" pitchFamily="18" charset="0"/>
                <a:cs typeface="Times New Roman" panose="02020603050405020304" pitchFamily="18" charset="0"/>
              </a:rPr>
              <a:t>rewards</a:t>
            </a:r>
            <a:r>
              <a:rPr lang="en-US" sz="2800" dirty="0" smtClean="0">
                <a:latin typeface="Times New Roman" panose="02020603050405020304" pitchFamily="18" charset="0"/>
                <a:cs typeface="Times New Roman" panose="02020603050405020304" pitchFamily="18" charset="0"/>
              </a:rPr>
              <a:t>.</a:t>
            </a:r>
          </a:p>
          <a:p>
            <a:pPr algn="just">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2800" dirty="0" smtClean="0">
                <a:latin typeface="Times New Roman" panose="02020603050405020304" pitchFamily="18" charset="0"/>
                <a:cs typeface="Times New Roman" panose="02020603050405020304" pitchFamily="18" charset="0"/>
              </a:rPr>
              <a:t>Young </a:t>
            </a:r>
            <a:r>
              <a:rPr lang="en-US" sz="2800" dirty="0">
                <a:latin typeface="Times New Roman" panose="02020603050405020304" pitchFamily="18" charset="0"/>
                <a:cs typeface="Times New Roman" panose="02020603050405020304" pitchFamily="18" charset="0"/>
              </a:rPr>
              <a:t>children are curious and their interests </a:t>
            </a:r>
            <a:r>
              <a:rPr lang="en-US" sz="2800" dirty="0" smtClean="0">
                <a:latin typeface="Times New Roman" panose="02020603050405020304" pitchFamily="18" charset="0"/>
                <a:cs typeface="Times New Roman" panose="02020603050405020304" pitchFamily="18" charset="0"/>
              </a:rPr>
              <a:t>and abilities </a:t>
            </a:r>
            <a:r>
              <a:rPr lang="en-US" sz="2800" dirty="0">
                <a:latin typeface="Times New Roman" panose="02020603050405020304" pitchFamily="18" charset="0"/>
                <a:cs typeface="Times New Roman" panose="02020603050405020304" pitchFamily="18" charset="0"/>
              </a:rPr>
              <a:t>change from day to day. Do not leave </a:t>
            </a:r>
            <a:r>
              <a:rPr lang="en-US" sz="2800" dirty="0" smtClean="0">
                <a:latin typeface="Times New Roman" panose="02020603050405020304" pitchFamily="18" charset="0"/>
                <a:cs typeface="Times New Roman" panose="02020603050405020304" pitchFamily="18" charset="0"/>
              </a:rPr>
              <a:t>a young </a:t>
            </a:r>
            <a:r>
              <a:rPr lang="en-US" sz="2800" dirty="0">
                <a:latin typeface="Times New Roman" panose="02020603050405020304" pitchFamily="18" charset="0"/>
                <a:cs typeface="Times New Roman" panose="02020603050405020304" pitchFamily="18" charset="0"/>
              </a:rPr>
              <a:t>child unattended near any source of </a:t>
            </a:r>
            <a:r>
              <a:rPr lang="en-US" sz="2800" dirty="0" smtClean="0">
                <a:latin typeface="Times New Roman" panose="02020603050405020304" pitchFamily="18" charset="0"/>
                <a:cs typeface="Times New Roman" panose="02020603050405020304" pitchFamily="18" charset="0"/>
              </a:rPr>
              <a:t>water, even </a:t>
            </a:r>
            <a:r>
              <a:rPr lang="en-US" sz="2800" dirty="0">
                <a:latin typeface="Times New Roman" panose="02020603050405020304" pitchFamily="18" charset="0"/>
                <a:cs typeface="Times New Roman" panose="02020603050405020304" pitchFamily="18" charset="0"/>
              </a:rPr>
              <a:t>for a moment</a:t>
            </a:r>
            <a:r>
              <a:rPr lang="en-US" sz="2800" dirty="0" smtClean="0">
                <a:latin typeface="Times New Roman" panose="02020603050405020304" pitchFamily="18" charset="0"/>
                <a:cs typeface="Times New Roman" panose="02020603050405020304" pitchFamily="18" charset="0"/>
              </a:rPr>
              <a:t>.</a:t>
            </a:r>
          </a:p>
          <a:p>
            <a:pPr algn="just">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2800" dirty="0" smtClean="0">
                <a:latin typeface="Times New Roman" panose="02020603050405020304" pitchFamily="18" charset="0"/>
                <a:cs typeface="Times New Roman" panose="02020603050405020304" pitchFamily="18" charset="0"/>
              </a:rPr>
              <a:t>Closely </a:t>
            </a:r>
            <a:r>
              <a:rPr lang="en-US" sz="2800" dirty="0">
                <a:latin typeface="Times New Roman" panose="02020603050405020304" pitchFamily="18" charset="0"/>
                <a:cs typeface="Times New Roman" panose="02020603050405020304" pitchFamily="18" charset="0"/>
              </a:rPr>
              <a:t>supervise children in, on or around the water, even when a lifeguard is present, no matter </a:t>
            </a:r>
            <a:r>
              <a:rPr lang="en-US" sz="2800" dirty="0" smtClean="0">
                <a:latin typeface="Times New Roman" panose="02020603050405020304" pitchFamily="18" charset="0"/>
                <a:cs typeface="Times New Roman" panose="02020603050405020304" pitchFamily="18" charset="0"/>
              </a:rPr>
              <a:t>how well </a:t>
            </a:r>
            <a:r>
              <a:rPr lang="en-US" sz="2800" dirty="0">
                <a:latin typeface="Times New Roman" panose="02020603050405020304" pitchFamily="18" charset="0"/>
                <a:cs typeface="Times New Roman" panose="02020603050405020304" pitchFamily="18" charset="0"/>
              </a:rPr>
              <a:t>the child can swim or how shallow the water. </a:t>
            </a:r>
          </a:p>
        </p:txBody>
      </p:sp>
    </p:spTree>
    <p:extLst>
      <p:ext uri="{BB962C8B-B14F-4D97-AF65-F5344CB8AC3E}">
        <p14:creationId xmlns:p14="http://schemas.microsoft.com/office/powerpoint/2010/main" val="61036102"/>
      </p:ext>
    </p:extLst>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3626" y="219241"/>
            <a:ext cx="11444747" cy="1499616"/>
          </a:xfrm>
        </p:spPr>
        <p:txBody>
          <a:bodyPr/>
          <a:lstStyle/>
          <a:p>
            <a:r>
              <a:rPr lang="en-US" b="1" dirty="0" smtClean="0">
                <a:latin typeface="Times New Roman" panose="02020603050405020304" pitchFamily="18" charset="0"/>
                <a:cs typeface="Times New Roman" panose="02020603050405020304" pitchFamily="18" charset="0"/>
              </a:rPr>
              <a:t>TIPS FOR REDUCING THE RISK FOR DROWNING IN CHILDREN</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580103" y="1603245"/>
            <a:ext cx="11002297" cy="4712428"/>
          </a:xfrm>
        </p:spPr>
        <p:txBody>
          <a:bodyPr>
            <a:noAutofit/>
          </a:bodyPr>
          <a:lstStyle/>
          <a:p>
            <a:pPr algn="just"/>
            <a:r>
              <a:rPr lang="en-US" dirty="0">
                <a:latin typeface="Times New Roman" panose="02020603050405020304" pitchFamily="18" charset="0"/>
                <a:cs typeface="Times New Roman" panose="02020603050405020304" pitchFamily="18" charset="0"/>
              </a:rPr>
              <a:t>Stay within an arm’s reach of any weak or inexperienced Swimmer who is in the water</a:t>
            </a:r>
            <a:r>
              <a:rPr lang="en-US" dirty="0" smtClean="0">
                <a:latin typeface="Times New Roman" panose="02020603050405020304" pitchFamily="18" charset="0"/>
                <a:cs typeface="Times New Roman" panose="02020603050405020304" pitchFamily="18" charset="0"/>
              </a:rPr>
              <a:t>.</a:t>
            </a:r>
          </a:p>
          <a:p>
            <a:pPr algn="just"/>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Know each child’s swimming ability and set specific rules for each child based on her swimming ability</a:t>
            </a:r>
            <a:r>
              <a:rPr lang="en-US" dirty="0" smtClean="0">
                <a:latin typeface="Times New Roman" panose="02020603050405020304" pitchFamily="18" charset="0"/>
                <a:cs typeface="Times New Roman" panose="02020603050405020304" pitchFamily="18" charset="0"/>
              </a:rPr>
              <a:t>.</a:t>
            </a:r>
          </a:p>
          <a:p>
            <a:pPr algn="just"/>
            <a:endParaRPr lang="en-US" dirty="0" smtClean="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Do not rely on the use of water wings, swim rings, inflatable toys and other items designed for water recreation to replace a U.S. Coast Guard-approved life jacket or adult supervision. These devices can suddenly shift position, lose air or slip out from underneath the child, putting the child at risk for drowning. They may also falsely increase a child’s sense of confidence, causing him to venture into water that is too deep.</a:t>
            </a:r>
          </a:p>
          <a:p>
            <a:pPr algn="just"/>
            <a:endParaRPr lang="en-US"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1036102"/>
      </p:ext>
    </p:extLst>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3626" y="219241"/>
            <a:ext cx="11444747" cy="1499616"/>
          </a:xfrm>
        </p:spPr>
        <p:txBody>
          <a:bodyPr/>
          <a:lstStyle/>
          <a:p>
            <a:r>
              <a:rPr lang="en-US" b="1" dirty="0" smtClean="0">
                <a:latin typeface="Times New Roman" panose="02020603050405020304" pitchFamily="18" charset="0"/>
                <a:cs typeface="Times New Roman" panose="02020603050405020304" pitchFamily="18" charset="0"/>
              </a:rPr>
              <a:t>TIPS FOR REDUCING THE RISK FOR DROWNING IN CHILDREN</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580103" y="1603245"/>
            <a:ext cx="11002297" cy="4712428"/>
          </a:xfrm>
        </p:spPr>
        <p:txBody>
          <a:bodyPr>
            <a:noAutofit/>
          </a:bodyPr>
          <a:lstStyle/>
          <a:p>
            <a:pPr algn="just"/>
            <a:r>
              <a:rPr lang="en-US" dirty="0">
                <a:latin typeface="Times New Roman" panose="02020603050405020304" pitchFamily="18" charset="0"/>
                <a:cs typeface="Times New Roman" panose="02020603050405020304" pitchFamily="18" charset="0"/>
              </a:rPr>
              <a:t>Teach children not to engage in competitive underwater games, such as seeing who can hold his or her breath the longest underwater or seeing who can swim the farthest before coming up for air. </a:t>
            </a:r>
            <a:endParaRPr lang="en-US" dirty="0" smtClean="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ü"/>
            </a:pPr>
            <a:r>
              <a:rPr lang="en-US" dirty="0" smtClean="0">
                <a:latin typeface="Times New Roman" panose="02020603050405020304" pitchFamily="18" charset="0"/>
                <a:cs typeface="Times New Roman" panose="02020603050405020304" pitchFamily="18" charset="0"/>
              </a:rPr>
              <a:t>Hyperventilation </a:t>
            </a:r>
            <a:r>
              <a:rPr lang="en-US" dirty="0">
                <a:latin typeface="Times New Roman" panose="02020603050405020304" pitchFamily="18" charset="0"/>
                <a:cs typeface="Times New Roman" panose="02020603050405020304" pitchFamily="18" charset="0"/>
              </a:rPr>
              <a:t>(that is, taking a series of rapid, deep breaths before submerging in an effort to hold the breath longer underwater) affects the body’s drive to breathe. </a:t>
            </a:r>
            <a:endParaRPr lang="en-US" dirty="0" smtClean="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ü"/>
            </a:pPr>
            <a:r>
              <a:rPr lang="en-US" dirty="0" smtClean="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child could pass out and then instinctively take a breath underwater, leading to drowning</a:t>
            </a:r>
            <a:r>
              <a:rPr lang="en-US" dirty="0" smtClean="0">
                <a:latin typeface="Times New Roman" panose="02020603050405020304" pitchFamily="18" charset="0"/>
                <a:cs typeface="Times New Roman" panose="02020603050405020304" pitchFamily="18" charset="0"/>
              </a:rPr>
              <a:t>.</a:t>
            </a:r>
          </a:p>
          <a:p>
            <a:pPr algn="just">
              <a:buFont typeface="Wingdings" panose="05000000000000000000" pitchFamily="2" charset="2"/>
              <a:buChar char="ü"/>
            </a:pPr>
            <a:endParaRPr lang="en-US" dirty="0" smtClean="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Teach children to stay away from pool drains and other openings that create suction. The suction can hold the child underwater, leading to drowning.  </a:t>
            </a:r>
          </a:p>
        </p:txBody>
      </p:sp>
    </p:spTree>
    <p:extLst>
      <p:ext uri="{BB962C8B-B14F-4D97-AF65-F5344CB8AC3E}">
        <p14:creationId xmlns:p14="http://schemas.microsoft.com/office/powerpoint/2010/main" val="61036102"/>
      </p:ext>
    </p:extLst>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3626" y="219241"/>
            <a:ext cx="11444747" cy="1499616"/>
          </a:xfrm>
        </p:spPr>
        <p:txBody>
          <a:bodyPr/>
          <a:lstStyle/>
          <a:p>
            <a:r>
              <a:rPr lang="en-US" b="1" dirty="0" smtClean="0">
                <a:latin typeface="Times New Roman" panose="02020603050405020304" pitchFamily="18" charset="0"/>
                <a:cs typeface="Times New Roman" panose="02020603050405020304" pitchFamily="18" charset="0"/>
              </a:rPr>
              <a:t>TIPS FOR REDUCING THE RISK FOR DROWNING IN CHILDREN</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580103" y="1603245"/>
            <a:ext cx="11002297" cy="4712428"/>
          </a:xfrm>
        </p:spPr>
        <p:txBody>
          <a:bodyPr>
            <a:noAutofit/>
          </a:bodyPr>
          <a:lstStyle/>
          <a:p>
            <a:pPr lvl="0" algn="just"/>
            <a:r>
              <a:rPr lang="en-US" dirty="0">
                <a:solidFill>
                  <a:prstClr val="black"/>
                </a:solidFill>
                <a:latin typeface="Times New Roman" panose="02020603050405020304" pitchFamily="18" charset="0"/>
                <a:cs typeface="Times New Roman" panose="02020603050405020304" pitchFamily="18" charset="0"/>
              </a:rPr>
              <a:t>Prevent access to standing water in the home. Empty bathtubs, sinks, kiddie pools, buckets and other containers immediately after use. Keep toilet lids down and bathroom and laundry room doors closed and secured with safety locks</a:t>
            </a:r>
            <a:r>
              <a:rPr lang="en-US" dirty="0" smtClean="0">
                <a:solidFill>
                  <a:prstClr val="black"/>
                </a:solidFill>
                <a:latin typeface="Times New Roman" panose="02020603050405020304" pitchFamily="18" charset="0"/>
                <a:cs typeface="Times New Roman" panose="02020603050405020304" pitchFamily="18" charset="0"/>
              </a:rPr>
              <a:t>.</a:t>
            </a:r>
          </a:p>
          <a:p>
            <a:pPr lvl="0" algn="just"/>
            <a:endParaRPr lang="en-US" dirty="0">
              <a:solidFill>
                <a:prstClr val="black"/>
              </a:solidFill>
              <a:latin typeface="Times New Roman" panose="02020603050405020304" pitchFamily="18" charset="0"/>
              <a:cs typeface="Times New Roman" panose="02020603050405020304" pitchFamily="18" charset="0"/>
            </a:endParaRPr>
          </a:p>
          <a:p>
            <a:pPr lvl="0" algn="just"/>
            <a:r>
              <a:rPr lang="en-US" dirty="0">
                <a:solidFill>
                  <a:prstClr val="black"/>
                </a:solidFill>
                <a:latin typeface="Times New Roman" panose="02020603050405020304" pitchFamily="18" charset="0"/>
                <a:cs typeface="Times New Roman" panose="02020603050405020304" pitchFamily="18" charset="0"/>
              </a:rPr>
              <a:t>Never leave a child in a bathtub alone; always stay within arm’s reach. Do not rely on bathtub floating aids to protect your child from drowning</a:t>
            </a:r>
            <a:r>
              <a:rPr lang="en-US" dirty="0" smtClean="0">
                <a:solidFill>
                  <a:prstClr val="black"/>
                </a:solidFill>
                <a:latin typeface="Times New Roman" panose="02020603050405020304" pitchFamily="18" charset="0"/>
                <a:cs typeface="Times New Roman" panose="02020603050405020304" pitchFamily="18" charset="0"/>
              </a:rPr>
              <a:t>.</a:t>
            </a:r>
          </a:p>
          <a:p>
            <a:pPr lvl="0" algn="just"/>
            <a:endParaRPr lang="en-US" dirty="0" smtClean="0">
              <a:solidFill>
                <a:prstClr val="black"/>
              </a:solidFill>
              <a:latin typeface="Times New Roman" panose="02020603050405020304" pitchFamily="18" charset="0"/>
              <a:cs typeface="Times New Roman" panose="02020603050405020304" pitchFamily="18" charset="0"/>
            </a:endParaRPr>
          </a:p>
          <a:p>
            <a:pPr lvl="0" algn="just"/>
            <a:r>
              <a:rPr lang="en-US" dirty="0">
                <a:solidFill>
                  <a:prstClr val="black"/>
                </a:solidFill>
                <a:latin typeface="Times New Roman" panose="02020603050405020304" pitchFamily="18" charset="0"/>
                <a:cs typeface="Times New Roman" panose="02020603050405020304" pitchFamily="18" charset="0"/>
              </a:rPr>
              <a:t>If you own an in ground swimming pool, aboveground swimming pool (including inflatable “easy-set”-type pools) or hot tub:</a:t>
            </a:r>
          </a:p>
          <a:p>
            <a:pPr lvl="0" algn="just"/>
            <a:endParaRPr lang="en-US" dirty="0">
              <a:solidFill>
                <a:prstClr val="black"/>
              </a:solidFill>
              <a:latin typeface="Times New Roman" panose="02020603050405020304" pitchFamily="18" charset="0"/>
              <a:cs typeface="Times New Roman" panose="02020603050405020304" pitchFamily="18" charset="0"/>
            </a:endParaRPr>
          </a:p>
          <a:p>
            <a:pPr lvl="0" algn="just">
              <a:buFont typeface="Wingdings" panose="05000000000000000000" pitchFamily="2" charset="2"/>
              <a:buChar char="ü"/>
            </a:pPr>
            <a:endParaRPr lang="en-US" dirty="0">
              <a:solidFill>
                <a:prstClr val="black"/>
              </a:solidFill>
              <a:latin typeface="Times New Roman" panose="02020603050405020304" pitchFamily="18" charset="0"/>
              <a:cs typeface="Times New Roman" panose="02020603050405020304" pitchFamily="18" charset="0"/>
            </a:endParaRPr>
          </a:p>
          <a:p>
            <a:pPr lvl="0" algn="just"/>
            <a:endParaRPr lang="en-US" dirty="0">
              <a:solidFill>
                <a:prstClr val="black"/>
              </a:solidFill>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1036102"/>
      </p:ext>
    </p:extLst>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3626" y="219241"/>
            <a:ext cx="11444747" cy="1499616"/>
          </a:xfrm>
        </p:spPr>
        <p:txBody>
          <a:bodyPr/>
          <a:lstStyle/>
          <a:p>
            <a:r>
              <a:rPr lang="en-US" b="1" dirty="0" smtClean="0">
                <a:latin typeface="Times New Roman" panose="02020603050405020304" pitchFamily="18" charset="0"/>
                <a:cs typeface="Times New Roman" panose="02020603050405020304" pitchFamily="18" charset="0"/>
              </a:rPr>
              <a:t>TIPS FOR REDUCING THE RISK FOR DROWNING IN CHILDREN</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580103" y="1603245"/>
            <a:ext cx="11002297" cy="4712428"/>
          </a:xfrm>
        </p:spPr>
        <p:txBody>
          <a:bodyPr>
            <a:noAutofit/>
          </a:bodyPr>
          <a:lstStyle/>
          <a:p>
            <a:pPr algn="just">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Surround the entire pool or hot tub area with a fence that is at least 4 feet high, has a self-closing and self-latching gate, and is designed so that a child cannot climb over, under or through it.</a:t>
            </a:r>
          </a:p>
          <a:p>
            <a:pPr algn="just">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Be sure that all gates, windows and doors leading to the pool or hot tub area are locked.</a:t>
            </a:r>
          </a:p>
          <a:p>
            <a:pPr algn="just">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Make sure that pools and hot tubs are covered when not in use, and that the cover is secured.</a:t>
            </a:r>
          </a:p>
          <a:p>
            <a:pPr algn="just">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Keep pool toys out of the water and out of sight. (A child may see a pool toy floating in the water and try to go after it.)</a:t>
            </a:r>
          </a:p>
          <a:p>
            <a:pPr algn="just">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To prevent the child from climbing over a fence and getting into the pool or hot tub area, keep chairs, tables and other items the child could climb on away from the pool or hot tub enclosure.</a:t>
            </a:r>
          </a:p>
          <a:p>
            <a:pPr algn="just">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1036102"/>
      </p:ext>
    </p:extLst>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3626" y="219241"/>
            <a:ext cx="11444747" cy="1499616"/>
          </a:xfrm>
        </p:spPr>
        <p:txBody>
          <a:bodyPr/>
          <a:lstStyle/>
          <a:p>
            <a:r>
              <a:rPr lang="en-US" b="1" dirty="0" smtClean="0">
                <a:latin typeface="Times New Roman" panose="02020603050405020304" pitchFamily="18" charset="0"/>
                <a:cs typeface="Times New Roman" panose="02020603050405020304" pitchFamily="18" charset="0"/>
              </a:rPr>
              <a:t>TIPS FOR REDUCING THE RISK FOR DROWNING IN CHILDREN</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580103" y="1603245"/>
            <a:ext cx="11002297" cy="4712428"/>
          </a:xfrm>
        </p:spPr>
        <p:txBody>
          <a:bodyPr>
            <a:noAutofit/>
          </a:bodyPr>
          <a:lstStyle/>
          <a:p>
            <a:pPr lvl="0" algn="just">
              <a:buFont typeface="Wingdings" panose="05000000000000000000" pitchFamily="2" charset="2"/>
              <a:buChar char="ü"/>
            </a:pPr>
            <a:r>
              <a:rPr lang="en-US" dirty="0">
                <a:solidFill>
                  <a:prstClr val="black"/>
                </a:solidFill>
                <a:latin typeface="Times New Roman" panose="02020603050405020304" pitchFamily="18" charset="0"/>
                <a:cs typeface="Times New Roman" panose="02020603050405020304" pitchFamily="18" charset="0"/>
              </a:rPr>
              <a:t>If a child is missing, always look in the pool area first. Seconds count in preventing death or disability</a:t>
            </a:r>
            <a:r>
              <a:rPr lang="en-US" dirty="0" smtClean="0">
                <a:solidFill>
                  <a:prstClr val="black"/>
                </a:solidFill>
                <a:latin typeface="Times New Roman" panose="02020603050405020304" pitchFamily="18" charset="0"/>
                <a:cs typeface="Times New Roman" panose="02020603050405020304" pitchFamily="18" charset="0"/>
              </a:rPr>
              <a:t>.</a:t>
            </a:r>
          </a:p>
          <a:p>
            <a:pPr lvl="0" algn="just">
              <a:buFont typeface="Wingdings" panose="05000000000000000000" pitchFamily="2" charset="2"/>
              <a:buChar char="ü"/>
            </a:pPr>
            <a:r>
              <a:rPr lang="en-US" dirty="0">
                <a:solidFill>
                  <a:prstClr val="black"/>
                </a:solidFill>
                <a:latin typeface="Times New Roman" panose="02020603050405020304" pitchFamily="18" charset="0"/>
                <a:cs typeface="Times New Roman" panose="02020603050405020304" pitchFamily="18" charset="0"/>
              </a:rPr>
              <a:t>If there are bodies of water, fountains or other water features on or near your property or in the community, teach children that these areas are off-limits unless they are accompanied by an adult.</a:t>
            </a:r>
          </a:p>
          <a:p>
            <a:pPr lvl="0" algn="just">
              <a:buFont typeface="Wingdings" panose="05000000000000000000" pitchFamily="2" charset="2"/>
              <a:buChar char="ü"/>
            </a:pPr>
            <a:r>
              <a:rPr lang="en-US" dirty="0">
                <a:solidFill>
                  <a:prstClr val="black"/>
                </a:solidFill>
                <a:latin typeface="Times New Roman" panose="02020603050405020304" pitchFamily="18" charset="0"/>
                <a:cs typeface="Times New Roman" panose="02020603050405020304" pitchFamily="18" charset="0"/>
              </a:rPr>
              <a:t>When visiting another home, check the site for potential water hazards and always supervise your children.</a:t>
            </a:r>
          </a:p>
          <a:p>
            <a:pPr lvl="0" algn="just">
              <a:buFont typeface="Wingdings" panose="05000000000000000000" pitchFamily="2" charset="2"/>
              <a:buChar char="ü"/>
            </a:pPr>
            <a:r>
              <a:rPr lang="en-US" dirty="0">
                <a:solidFill>
                  <a:prstClr val="black"/>
                </a:solidFill>
                <a:latin typeface="Times New Roman" panose="02020603050405020304" pitchFamily="18" charset="0"/>
                <a:cs typeface="Times New Roman" panose="02020603050405020304" pitchFamily="18" charset="0"/>
              </a:rPr>
              <a:t>Never let a child play near storm drains. (Storm drains are especially dangerous after it has rained.)</a:t>
            </a:r>
          </a:p>
          <a:p>
            <a:pPr lvl="0" algn="just">
              <a:buFont typeface="Wingdings" panose="05000000000000000000" pitchFamily="2" charset="2"/>
              <a:buChar char="ü"/>
            </a:pPr>
            <a:endParaRPr lang="en-US" dirty="0">
              <a:solidFill>
                <a:prstClr val="black"/>
              </a:solidFill>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1036102"/>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15100</TotalTime>
  <Words>9951</Words>
  <Application>Microsoft Office PowerPoint</Application>
  <PresentationFormat>Widescreen</PresentationFormat>
  <Paragraphs>733</Paragraphs>
  <Slides>108</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108</vt:i4>
      </vt:variant>
    </vt:vector>
  </HeadingPairs>
  <TitlesOfParts>
    <vt:vector size="117" baseType="lpstr">
      <vt:lpstr>Arial</vt:lpstr>
      <vt:lpstr>Calibri</vt:lpstr>
      <vt:lpstr>Calibri Light</vt:lpstr>
      <vt:lpstr>Courier New</vt:lpstr>
      <vt:lpstr>Times New Roman</vt:lpstr>
      <vt:lpstr>Verdana</vt:lpstr>
      <vt:lpstr>Wingdings</vt:lpstr>
      <vt:lpstr>Wingdings 2</vt:lpstr>
      <vt:lpstr>Office Theme</vt:lpstr>
      <vt:lpstr>BASIC SWIMMING</vt:lpstr>
      <vt:lpstr>BASIC SWIMMING</vt:lpstr>
      <vt:lpstr>BASIC SWIMMING</vt:lpstr>
      <vt:lpstr>BASIC SWIMMING</vt:lpstr>
      <vt:lpstr>SWIMMING</vt:lpstr>
      <vt:lpstr>SWIMMING</vt:lpstr>
      <vt:lpstr>DEVELOPMENT OF SWIMMING</vt:lpstr>
      <vt:lpstr>DEVELOPMENT OF SWIMMING</vt:lpstr>
      <vt:lpstr>DEVELOPMENT OF SWIMMING</vt:lpstr>
      <vt:lpstr>SAFETY IN AND AROUND THE POOL</vt:lpstr>
      <vt:lpstr>SAFETY IN AND AROUND THE POOL</vt:lpstr>
      <vt:lpstr>SAFETY IN AND AROUND THE POOL </vt:lpstr>
      <vt:lpstr>SAFETY IN AND AROUND THE POOL </vt:lpstr>
      <vt:lpstr> SAFETY IN AND AROUND THE POOL  </vt:lpstr>
      <vt:lpstr> SAFETY IN AND AROUND THE POOL  </vt:lpstr>
      <vt:lpstr> SAFETY IN AND AROUND THE POOL  </vt:lpstr>
      <vt:lpstr>PowerPoint Presentation</vt:lpstr>
      <vt:lpstr>SAFETY IN AND AROUND THE POOL </vt:lpstr>
      <vt:lpstr>SAFETY IN AND AROUND THE POOL </vt:lpstr>
      <vt:lpstr>SAFETY IN AND AROUND THE POOL </vt:lpstr>
      <vt:lpstr>SAFETY IN AND AROUND THE POOL </vt:lpstr>
      <vt:lpstr>SAFETY IN AND AROUND THE POOL </vt:lpstr>
      <vt:lpstr>SAFETY IN AND AROUND THE POOL </vt:lpstr>
      <vt:lpstr>USING LIFE JACKETS</vt:lpstr>
      <vt:lpstr>USING LIFE JACKETS</vt:lpstr>
      <vt:lpstr>PowerPoint Presentation</vt:lpstr>
      <vt:lpstr>PowerPoint Presentation</vt:lpstr>
      <vt:lpstr>PowerPoint Presentation</vt:lpstr>
      <vt:lpstr>PowerPoint Presentation</vt:lpstr>
      <vt:lpstr>SAFETY IN AND AROUND THE POOL </vt:lpstr>
      <vt:lpstr>SAFETY IN AND AROUND THE POOL </vt:lpstr>
      <vt:lpstr>SAFETY IN AND AROUND THE POOL </vt:lpstr>
      <vt:lpstr>SAFETY IN AND AROUND THE POOL </vt:lpstr>
      <vt:lpstr>SAFETY IN AND AROUND THE POOL </vt:lpstr>
      <vt:lpstr>SAFETY IN AND AROUND THE POOL </vt:lpstr>
      <vt:lpstr>SAFETY IN AND AROUND THE POOL </vt:lpstr>
      <vt:lpstr>BASIC AQUATIC SKILLS</vt:lpstr>
      <vt:lpstr>BASIC AQUATIC SKILLS </vt:lpstr>
      <vt:lpstr>BASIC AQUATIC SKILLS</vt:lpstr>
      <vt:lpstr>BASIC AQUATIC SKILLS</vt:lpstr>
      <vt:lpstr>BASIC AQUATIC SKILLS</vt:lpstr>
      <vt:lpstr>BASIC AQUATIC SKILLS</vt:lpstr>
      <vt:lpstr>BASIC AQUATIC SKILLS</vt:lpstr>
      <vt:lpstr>BASIC AQUATIC SKILLS</vt:lpstr>
      <vt:lpstr>BASIC AQUATIC SKILLS</vt:lpstr>
      <vt:lpstr>BASIC AQUATIC SKILLS</vt:lpstr>
      <vt:lpstr>BASIC AQUATIC SKILLS</vt:lpstr>
      <vt:lpstr>BASIC AQUATIC SKILLS</vt:lpstr>
      <vt:lpstr>BASIC AQUATIC SKILLS</vt:lpstr>
      <vt:lpstr>BASIC AQUATIC SKILLS</vt:lpstr>
      <vt:lpstr>BASIC AQUATIC SKILLS</vt:lpstr>
      <vt:lpstr>BASIC AQUATIC SKILLS</vt:lpstr>
      <vt:lpstr>BASIC AQUATIC SKILLS</vt:lpstr>
      <vt:lpstr>BASIC AQUATIC SKILLS</vt:lpstr>
      <vt:lpstr>BASIC AQUATIC SKILLS</vt:lpstr>
      <vt:lpstr>BASIC AQUATIC SKILLS</vt:lpstr>
      <vt:lpstr>BASIC AQUATIC SKILLS</vt:lpstr>
      <vt:lpstr>BASIC AQUATIC SKILLS</vt:lpstr>
      <vt:lpstr>BASIC AQUATIC SKILLS</vt:lpstr>
      <vt:lpstr>BASIC AQUATIC SKILLS</vt:lpstr>
      <vt:lpstr>BASIC AQUATIC SKILLS</vt:lpstr>
      <vt:lpstr>BASIC AQUATIC SKILLS</vt:lpstr>
      <vt:lpstr>BASIC AQUATIC SKILLS -</vt:lpstr>
      <vt:lpstr>BASIC AQUATIC SKILLS -</vt:lpstr>
      <vt:lpstr>BASIC AQUATIC SKILLS -</vt:lpstr>
      <vt:lpstr>BASIC AQUATIC SKILLS -</vt:lpstr>
      <vt:lpstr>STARTING, CHANGING DIRECTION AND TURNING OVER</vt:lpstr>
      <vt:lpstr>STARTING, CHANGING DIRECTION AND TURNING OVER</vt:lpstr>
      <vt:lpstr>STARTING, CHANGING DIRECTION AND TURNING OVER</vt:lpstr>
      <vt:lpstr>WATER SAFETY – RECOGNITION AND RESPONSE</vt:lpstr>
      <vt:lpstr>WATER SAFETY – RECOGNITION AND RESPONSE - EMERGENCY ACTION PLANS</vt:lpstr>
      <vt:lpstr>WATER SAFETY – RECOGNITION AND RESPONSE - PREPARING FOR EMERGENCIES</vt:lpstr>
      <vt:lpstr>WATER SAFETY – RECOGNITION AND RESPONSE - PREPARING FOR EMERGENCIES</vt:lpstr>
      <vt:lpstr>WATER SAFETY – RECOGNITION AND RESPONSE - PREPARING FOR EMERGENCIES</vt:lpstr>
      <vt:lpstr>WATER SAFETY – STAYING SAFE WHILE IN WATER</vt:lpstr>
      <vt:lpstr>WATER SAFETY – STAYING SAFE WHILE IN WATER</vt:lpstr>
      <vt:lpstr>WATER SAFETY – STAYING SAFE WHILE IN WATER</vt:lpstr>
      <vt:lpstr>WATER SAFETY – RECOGNITION AND RESPONSE - RECOGNIZING AN EMERGENCY</vt:lpstr>
      <vt:lpstr>WATER SAFETY – RECOGNITION AND RESPONSE - RECOGNIZING AN EMERGENCY</vt:lpstr>
      <vt:lpstr>WATER SAFETY – RECOGNITION AND RESPONSE - DECIDING TO ACT</vt:lpstr>
      <vt:lpstr>WATER SAFETY – RECOGNITION AND RESPONSE - DECIDING TO ACT</vt:lpstr>
      <vt:lpstr>WATER SAFETY – RECOGNITION AND RESPONSE - DECIDING TO ACT</vt:lpstr>
      <vt:lpstr>WATER SAFETY – RECOGNITION AND RESPONSE - CALLING FOR HELP</vt:lpstr>
      <vt:lpstr>WATER SAFETY – RECOGNITION AND RESPONSE - CALLING FOR HELP</vt:lpstr>
      <vt:lpstr>WATER SAFETY – RECOGNITION AND RESPONSE - COMPARING BEHAVIORS OF DISTRESSED, ACTIVE AND PASSIVE SWIMMERS</vt:lpstr>
      <vt:lpstr>WATER SAFETY – RECOGNITION AND RESPONSE - EMERGENCY ACTION PLANS</vt:lpstr>
      <vt:lpstr>WATER SAFETY – RECOGNITION AND RESPONSE - EMERGENCY ACTION PLANS</vt:lpstr>
      <vt:lpstr>WATER SAFETY – RECOGNITION AND RESPONSE - EMERGENCY ACTION PLANS</vt:lpstr>
      <vt:lpstr>WATER SAFETY – RECOGNITION AND RESPONSE - EMERGENCY ACTION PLANS</vt:lpstr>
      <vt:lpstr>WATER SAFETY – RECOGNITION AND RESPONSE - RESPONDING TO AN EMERGENCY</vt:lpstr>
      <vt:lpstr>WATER SAFETY – RECOGNITION AND RESPONSE - RESPONDING TO AN EMERGENCY</vt:lpstr>
      <vt:lpstr>WATER SAFETY – RECOGNITION AND RESPONSE - RESPONDING TO AN EMERGENCY</vt:lpstr>
      <vt:lpstr>WATER SAFETY – RECOGNITION AND RESPONSE - RESPONDING TO AN EMERGENCY</vt:lpstr>
      <vt:lpstr>WATER SAFETY – RECOGNITION AND RESPONSE - RESPONDING TO AN  EMERGENCY</vt:lpstr>
      <vt:lpstr>WATER SAFETY – RECOGNITION AND RESPONSE - RESPONDING TO AN EMERGENCY</vt:lpstr>
      <vt:lpstr>WATER SAFETY – RECOGNITION AND RESPONSE - RESPONDING TO AN EMERGENCY</vt:lpstr>
      <vt:lpstr>WATER SAFETY – RECOGNITION AND RESPONSE - RESPONDING TO AN EMERGENCY</vt:lpstr>
      <vt:lpstr>WATER SAFETY – RECOGNITION AND RESPONSE - RESPONDING TO AN EMERGENCY</vt:lpstr>
      <vt:lpstr>WATER SAFETY – RECOGNITION AND RESPONSE - RESPONDING TO AN EMERGENCY</vt:lpstr>
      <vt:lpstr>WATER SAFETY – RECOGNITION AND RESPONSE - RESPONDING TO AN EMERGENCY</vt:lpstr>
      <vt:lpstr>WATER SAFETY – RECOGNITION AND RESPONSE - RESPONDING TO AN EMERGENCY</vt:lpstr>
      <vt:lpstr>WATER SAFETY – RECOGNITION AND RESPONSE - RESPONDING TO AN EMERGENCY</vt:lpstr>
      <vt:lpstr>TIPS FOR REDUCING THE RISK FOR DROWNING IN CHILDREN</vt:lpstr>
      <vt:lpstr>TIPS FOR REDUCING THE RISK FOR DROWNING IN CHILDREN</vt:lpstr>
      <vt:lpstr>TIPS FOR REDUCING THE RISK FOR DROWNING IN CHILDREN</vt:lpstr>
      <vt:lpstr>TIPS FOR REDUCING THE RISK FOR DROWNING IN CHILDREN</vt:lpstr>
      <vt:lpstr>TIPS FOR REDUCING THE RISK FOR DROWNING IN CHILDREN</vt:lpstr>
      <vt:lpstr>TIPS FOR REDUCING THE RISK FOR DROWNING IN CHILDREN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SES 171 Fundamentals of Aquatic Skills</dc:title>
  <dc:creator>Microsoft</dc:creator>
  <cp:lastModifiedBy>Afrifa Daniel</cp:lastModifiedBy>
  <cp:revision>158</cp:revision>
  <dcterms:created xsi:type="dcterms:W3CDTF">2016-10-22T13:47:51Z</dcterms:created>
  <dcterms:modified xsi:type="dcterms:W3CDTF">2023-02-03T11:00:09Z</dcterms:modified>
</cp:coreProperties>
</file>