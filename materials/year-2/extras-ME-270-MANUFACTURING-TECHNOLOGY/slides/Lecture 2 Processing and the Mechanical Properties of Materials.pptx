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59"/>
  </p:notesMasterIdLst>
  <p:sldIdLst>
    <p:sldId id="545" r:id="rId2"/>
    <p:sldId id="549" r:id="rId3"/>
    <p:sldId id="640" r:id="rId4"/>
    <p:sldId id="650" r:id="rId5"/>
    <p:sldId id="651" r:id="rId6"/>
    <p:sldId id="695" r:id="rId7"/>
    <p:sldId id="653" r:id="rId8"/>
    <p:sldId id="696" r:id="rId9"/>
    <p:sldId id="654" r:id="rId10"/>
    <p:sldId id="697" r:id="rId11"/>
    <p:sldId id="655" r:id="rId12"/>
    <p:sldId id="657" r:id="rId13"/>
    <p:sldId id="656" r:id="rId14"/>
    <p:sldId id="652" r:id="rId15"/>
    <p:sldId id="660" r:id="rId16"/>
    <p:sldId id="661" r:id="rId17"/>
    <p:sldId id="662" r:id="rId18"/>
    <p:sldId id="663" r:id="rId19"/>
    <p:sldId id="664" r:id="rId20"/>
    <p:sldId id="665" r:id="rId21"/>
    <p:sldId id="666" r:id="rId22"/>
    <p:sldId id="667" r:id="rId23"/>
    <p:sldId id="668" r:id="rId24"/>
    <p:sldId id="669" r:id="rId25"/>
    <p:sldId id="670" r:id="rId26"/>
    <p:sldId id="671" r:id="rId27"/>
    <p:sldId id="672" r:id="rId28"/>
    <p:sldId id="673" r:id="rId29"/>
    <p:sldId id="674" r:id="rId30"/>
    <p:sldId id="675" r:id="rId31"/>
    <p:sldId id="658" r:id="rId32"/>
    <p:sldId id="676" r:id="rId33"/>
    <p:sldId id="677" r:id="rId34"/>
    <p:sldId id="678" r:id="rId35"/>
    <p:sldId id="679" r:id="rId36"/>
    <p:sldId id="680" r:id="rId37"/>
    <p:sldId id="682" r:id="rId38"/>
    <p:sldId id="683" r:id="rId39"/>
    <p:sldId id="684" r:id="rId40"/>
    <p:sldId id="685" r:id="rId41"/>
    <p:sldId id="686" r:id="rId42"/>
    <p:sldId id="687" r:id="rId43"/>
    <p:sldId id="688" r:id="rId44"/>
    <p:sldId id="689" r:id="rId45"/>
    <p:sldId id="690" r:id="rId46"/>
    <p:sldId id="691" r:id="rId47"/>
    <p:sldId id="692" r:id="rId48"/>
    <p:sldId id="693" r:id="rId49"/>
    <p:sldId id="694" r:id="rId50"/>
    <p:sldId id="699" r:id="rId51"/>
    <p:sldId id="700" r:id="rId52"/>
    <p:sldId id="701" r:id="rId53"/>
    <p:sldId id="702" r:id="rId54"/>
    <p:sldId id="703" r:id="rId55"/>
    <p:sldId id="704" r:id="rId56"/>
    <p:sldId id="698" r:id="rId57"/>
    <p:sldId id="567" r:id="rId5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888" autoAdjust="0"/>
    <p:restoredTop sz="93910" autoAdjust="0"/>
  </p:normalViewPr>
  <p:slideViewPr>
    <p:cSldViewPr snapToGrid="0" snapToObjects="1">
      <p:cViewPr varScale="1">
        <p:scale>
          <a:sx n="71" d="100"/>
          <a:sy n="71" d="100"/>
        </p:scale>
        <p:origin x="1140" y="7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822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C070D9-CE4C-4523-84E5-2BCC360EF90C}" type="datetimeFigureOut">
              <a:rPr lang="en-US" smtClean="0"/>
              <a:t>6/1/2023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7DD320-4E3A-4CB5-A0BC-F8EFFE6E1B53}" type="slidenum">
              <a:rPr lang="en-US" smtClean="0"/>
              <a:t>‹#›</a:t>
            </a:fld>
            <a:endParaRPr lang="en-US"/>
          </a:p>
        </p:txBody>
      </p:sp>
    </p:spTree>
    <p:extLst>
      <p:ext uri="{BB962C8B-B14F-4D97-AF65-F5344CB8AC3E}">
        <p14:creationId xmlns:p14="http://schemas.microsoft.com/office/powerpoint/2010/main" val="562064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2.jpg"/><Relationship Id="rId4" Type="http://schemas.openxmlformats.org/officeDocument/2006/relationships/hyperlink" Target="https://twitter.com/_knust_" TargetMode="Externa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A05B519-A1B8-464A-A1D1-4F451C505FCC}" type="datetime1">
              <a:rPr lang="en-US" smtClean="0"/>
              <a:t>6/1/2023</a:t>
            </a:fld>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grpSp>
        <p:nvGrpSpPr>
          <p:cNvPr id="7" name="Group 6"/>
          <p:cNvGrpSpPr/>
          <p:nvPr userDrawn="1"/>
        </p:nvGrpSpPr>
        <p:grpSpPr>
          <a:xfrm>
            <a:off x="0" y="1"/>
            <a:ext cx="9144000" cy="854748"/>
            <a:chOff x="0" y="1"/>
            <a:chExt cx="9144000" cy="854748"/>
          </a:xfrm>
        </p:grpSpPr>
        <p:sp>
          <p:nvSpPr>
            <p:cNvPr id="8" name="Rectangle 7"/>
            <p:cNvSpPr/>
            <p:nvPr/>
          </p:nvSpPr>
          <p:spPr>
            <a:xfrm>
              <a:off x="0" y="1"/>
              <a:ext cx="9144000" cy="854748"/>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p:cNvSpPr txBox="1"/>
            <p:nvPr/>
          </p:nvSpPr>
          <p:spPr>
            <a:xfrm>
              <a:off x="5487656" y="241270"/>
              <a:ext cx="3445328" cy="523220"/>
            </a:xfrm>
            <a:prstGeom prst="rect">
              <a:avLst/>
            </a:prstGeom>
            <a:noFill/>
          </p:spPr>
          <p:txBody>
            <a:bodyPr wrap="square" rtlCol="0">
              <a:spAutoFit/>
            </a:bodyPr>
            <a:lstStyle/>
            <a:p>
              <a:r>
                <a:rPr lang="en-US" sz="1400" dirty="0">
                  <a:solidFill>
                    <a:schemeClr val="bg1"/>
                  </a:solidFill>
                  <a:latin typeface="Helvetica"/>
                  <a:cs typeface="Helvetica"/>
                </a:rPr>
                <a:t>Kwame Nkrumah University of </a:t>
              </a:r>
            </a:p>
            <a:p>
              <a:r>
                <a:rPr lang="en-US" sz="1400" dirty="0">
                  <a:solidFill>
                    <a:schemeClr val="bg1"/>
                  </a:solidFill>
                  <a:latin typeface="Helvetica"/>
                  <a:cs typeface="Helvetica"/>
                </a:rPr>
                <a:t>Science &amp; Technology, Kumasi, Ghana</a:t>
              </a:r>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95789" y="157852"/>
              <a:ext cx="491867" cy="625979"/>
            </a:xfrm>
            <a:prstGeom prst="rect">
              <a:avLst/>
            </a:prstGeom>
          </p:spPr>
        </p:pic>
      </p:grpSp>
      <p:sp>
        <p:nvSpPr>
          <p:cNvPr id="11" name="Title 1"/>
          <p:cNvSpPr>
            <a:spLocks noGrp="1"/>
          </p:cNvSpPr>
          <p:nvPr>
            <p:ph type="ctrTitle"/>
          </p:nvPr>
        </p:nvSpPr>
        <p:spPr>
          <a:xfrm>
            <a:off x="685800" y="1096018"/>
            <a:ext cx="7772400" cy="2541745"/>
          </a:xfrm>
          <a:prstGeom prst="rect">
            <a:avLst/>
          </a:prstGeom>
        </p:spPr>
        <p:txBody>
          <a:bodyPr>
            <a:normAutofit/>
          </a:bodyPr>
          <a:lstStyle>
            <a:lvl1pPr>
              <a:defRPr>
                <a:latin typeface="Garamond" panose="02020404030301010803" pitchFamily="18" charset="0"/>
              </a:defRPr>
            </a:lvl1pPr>
          </a:lstStyle>
          <a:p>
            <a:pPr algn="l"/>
            <a:r>
              <a:rPr lang="en-US" dirty="0">
                <a:latin typeface="Helvetica"/>
                <a:cs typeface="Helvetica"/>
              </a:rPr>
              <a:t>Title</a:t>
            </a:r>
          </a:p>
        </p:txBody>
      </p:sp>
      <p:sp>
        <p:nvSpPr>
          <p:cNvPr id="12" name="Subtitle 2"/>
          <p:cNvSpPr>
            <a:spLocks noGrp="1"/>
          </p:cNvSpPr>
          <p:nvPr>
            <p:ph type="subTitle" idx="1"/>
          </p:nvPr>
        </p:nvSpPr>
        <p:spPr>
          <a:xfrm>
            <a:off x="685800" y="4666761"/>
            <a:ext cx="7772400" cy="1599330"/>
          </a:xfrm>
        </p:spPr>
        <p:txBody>
          <a:bodyPr>
            <a:normAutofit/>
          </a:bodyPr>
          <a:lstStyle>
            <a:lvl1pPr marL="0" indent="0" algn="ctr">
              <a:buNone/>
              <a:defRPr>
                <a:solidFill>
                  <a:schemeClr val="bg1">
                    <a:lumMod val="50000"/>
                  </a:schemeClr>
                </a:solidFill>
                <a:latin typeface="Garamond" panose="02020404030301010803" pitchFamily="18" charset="0"/>
              </a:defRPr>
            </a:lvl1pPr>
          </a:lstStyle>
          <a:p>
            <a:pPr algn="l"/>
            <a:endParaRPr lang="en-US" b="1" dirty="0">
              <a:solidFill>
                <a:schemeClr val="tx1"/>
              </a:solidFill>
              <a:latin typeface="Helvetica"/>
              <a:cs typeface="Helvetica"/>
            </a:endParaRPr>
          </a:p>
        </p:txBody>
      </p:sp>
    </p:spTree>
    <p:extLst>
      <p:ext uri="{BB962C8B-B14F-4D97-AF65-F5344CB8AC3E}">
        <p14:creationId xmlns:p14="http://schemas.microsoft.com/office/powerpoint/2010/main" val="1026681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17750F2-8AE3-40DB-8F8C-34069980C17C}" type="datetime1">
              <a:rPr lang="en-US" smtClean="0"/>
              <a:t>6/1/2023</a:t>
            </a:fld>
            <a:endParaRPr lang="en-US"/>
          </a:p>
        </p:txBody>
      </p:sp>
      <p:sp>
        <p:nvSpPr>
          <p:cNvPr id="5" name="Footer Placeholder 4"/>
          <p:cNvSpPr>
            <a:spLocks noGrp="1"/>
          </p:cNvSpPr>
          <p:nvPr>
            <p:ph type="ftr" sz="quarter" idx="11"/>
          </p:nvPr>
        </p:nvSpPr>
        <p:spPr/>
        <p:txBody>
          <a:bodyPr/>
          <a:lstStyle/>
          <a:p>
            <a:endParaRPr lang="en-US"/>
          </a:p>
        </p:txBody>
      </p:sp>
      <p:grpSp>
        <p:nvGrpSpPr>
          <p:cNvPr id="7" name="Group 6"/>
          <p:cNvGrpSpPr/>
          <p:nvPr userDrawn="1"/>
        </p:nvGrpSpPr>
        <p:grpSpPr>
          <a:xfrm>
            <a:off x="0" y="6271235"/>
            <a:ext cx="9144000" cy="586764"/>
            <a:chOff x="0" y="6271235"/>
            <a:chExt cx="9144000" cy="586764"/>
          </a:xfrm>
        </p:grpSpPr>
        <p:sp>
          <p:nvSpPr>
            <p:cNvPr id="8" name="Rectangle 7"/>
            <p:cNvSpPr/>
            <p:nvPr/>
          </p:nvSpPr>
          <p:spPr>
            <a:xfrm>
              <a:off x="0" y="6668022"/>
              <a:ext cx="9144000" cy="189977"/>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 name="Rectangle 8"/>
            <p:cNvSpPr/>
            <p:nvPr/>
          </p:nvSpPr>
          <p:spPr>
            <a:xfrm>
              <a:off x="0" y="6271235"/>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299719"/>
              <a:ext cx="205238" cy="283189"/>
            </a:xfrm>
            <a:prstGeom prst="rect">
              <a:avLst/>
            </a:prstGeom>
          </p:spPr>
        </p:pic>
        <p:sp>
          <p:nvSpPr>
            <p:cNvPr id="11" name="TextBox 10">
              <a:hlinkClick r:id="rId3"/>
            </p:cNvPr>
            <p:cNvSpPr txBox="1"/>
            <p:nvPr/>
          </p:nvSpPr>
          <p:spPr>
            <a:xfrm>
              <a:off x="7137936" y="6314438"/>
              <a:ext cx="1548864" cy="276999"/>
            </a:xfrm>
            <a:prstGeom prst="rect">
              <a:avLst/>
            </a:prstGeom>
            <a:noFill/>
          </p:spPr>
          <p:txBody>
            <a:bodyPr wrap="square" rtlCol="0">
              <a:spAutoFit/>
            </a:bodyPr>
            <a:lstStyle/>
            <a:p>
              <a:r>
                <a:rPr lang="en-US" sz="1200" dirty="0">
                  <a:solidFill>
                    <a:schemeClr val="bg1"/>
                  </a:solidFill>
                  <a:latin typeface="Helvetica"/>
                  <a:cs typeface="Helvetica"/>
                </a:rPr>
                <a:t>www.knust.edu.gh</a:t>
              </a: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320348"/>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308011"/>
              <a:ext cx="292217" cy="292217"/>
            </a:xfrm>
            <a:prstGeom prst="rect">
              <a:avLst/>
            </a:prstGeom>
          </p:spPr>
        </p:pic>
      </p:grpSp>
      <p:sp>
        <p:nvSpPr>
          <p:cNvPr id="16" name="Title 1">
            <a:extLst>
              <a:ext uri="{FF2B5EF4-FFF2-40B4-BE49-F238E27FC236}">
                <a16:creationId xmlns:a16="http://schemas.microsoft.com/office/drawing/2014/main" id="{33D96D2C-39D2-D146-949D-A56FF129CBA3}"/>
              </a:ext>
            </a:extLst>
          </p:cNvPr>
          <p:cNvSpPr>
            <a:spLocks noGrp="1"/>
          </p:cNvSpPr>
          <p:nvPr>
            <p:ph type="title"/>
          </p:nvPr>
        </p:nvSpPr>
        <p:spPr>
          <a:xfrm>
            <a:off x="367748" y="195126"/>
            <a:ext cx="8488016" cy="768971"/>
          </a:xfrm>
          <a:prstGeom prst="rect">
            <a:avLst/>
          </a:prstGeom>
        </p:spPr>
        <p:txBody>
          <a:bodyPr/>
          <a:lstStyle>
            <a:lvl1pPr>
              <a:defRPr sz="4000">
                <a:latin typeface="Garamond" panose="02020404030301010803" pitchFamily="18" charset="0"/>
              </a:defRPr>
            </a:lvl1pPr>
          </a:lstStyle>
          <a:p>
            <a:r>
              <a:rPr lang="en-US"/>
              <a:t>Click to edit Master title style</a:t>
            </a:r>
          </a:p>
        </p:txBody>
      </p:sp>
      <p:cxnSp>
        <p:nvCxnSpPr>
          <p:cNvPr id="3" name="Straight Connector 2">
            <a:extLst>
              <a:ext uri="{FF2B5EF4-FFF2-40B4-BE49-F238E27FC236}">
                <a16:creationId xmlns:a16="http://schemas.microsoft.com/office/drawing/2014/main" id="{0F8A6806-0C47-8F41-8CB1-123A74FCD28F}"/>
              </a:ext>
            </a:extLst>
          </p:cNvPr>
          <p:cNvCxnSpPr/>
          <p:nvPr userDrawn="1"/>
        </p:nvCxnSpPr>
        <p:spPr>
          <a:xfrm>
            <a:off x="0" y="1033669"/>
            <a:ext cx="9155371" cy="0"/>
          </a:xfrm>
          <a:prstGeom prst="line">
            <a:avLst/>
          </a:prstGeom>
          <a:ln w="12700">
            <a:solidFill>
              <a:srgbClr val="008001"/>
            </a:solidFill>
          </a:ln>
        </p:spPr>
        <p:style>
          <a:lnRef idx="1">
            <a:schemeClr val="accent3"/>
          </a:lnRef>
          <a:fillRef idx="0">
            <a:schemeClr val="accent3"/>
          </a:fillRef>
          <a:effectRef idx="0">
            <a:schemeClr val="accent3"/>
          </a:effectRef>
          <a:fontRef idx="minor">
            <a:schemeClr val="tx1"/>
          </a:fontRef>
        </p:style>
      </p:cxnSp>
      <p:sp>
        <p:nvSpPr>
          <p:cNvPr id="17" name="Content Placeholder 2">
            <a:extLst>
              <a:ext uri="{FF2B5EF4-FFF2-40B4-BE49-F238E27FC236}">
                <a16:creationId xmlns:a16="http://schemas.microsoft.com/office/drawing/2014/main" id="{B14474AE-41FC-854B-B962-6E0C929C52C0}"/>
              </a:ext>
            </a:extLst>
          </p:cNvPr>
          <p:cNvSpPr>
            <a:spLocks noGrp="1"/>
          </p:cNvSpPr>
          <p:nvPr>
            <p:ph sz="half" idx="1"/>
          </p:nvPr>
        </p:nvSpPr>
        <p:spPr>
          <a:xfrm>
            <a:off x="367748" y="1152457"/>
            <a:ext cx="8488016" cy="502545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65031" y="6278604"/>
            <a:ext cx="641838" cy="365125"/>
          </a:xfrm>
        </p:spPr>
        <p:txBody>
          <a:bodyPr/>
          <a:lstStyle>
            <a:lvl1pPr>
              <a:defRPr sz="2400" b="1">
                <a:solidFill>
                  <a:schemeClr val="tx1"/>
                </a:solidFill>
                <a:latin typeface="Garamond" panose="02020404030301010803" pitchFamily="18" charset="0"/>
              </a:defRPr>
            </a:lvl1pPr>
          </a:lstStyle>
          <a:p>
            <a:fld id="{F4801FD5-11B4-DE43-ACA2-E85EEB9A6F9C}" type="slidenum">
              <a:rPr lang="en-US" smtClean="0"/>
              <a:pPr/>
              <a:t>‹#›</a:t>
            </a:fld>
            <a:endParaRPr lang="en-US" dirty="0"/>
          </a:p>
        </p:txBody>
      </p:sp>
    </p:spTree>
    <p:extLst>
      <p:ext uri="{BB962C8B-B14F-4D97-AF65-F5344CB8AC3E}">
        <p14:creationId xmlns:p14="http://schemas.microsoft.com/office/powerpoint/2010/main" val="3793904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atin typeface="Garamond" panose="02020404030301010803" pitchFamily="18" charset="0"/>
              </a:defRPr>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F98033A-2B34-4076-8B52-47CF59B52EF3}" type="datetime1">
              <a:rPr lang="en-US" smtClean="0"/>
              <a:t>6/1/2023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130215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51AB98E-9FF6-4901-B3CC-ADE852328265}" type="datetime1">
              <a:rPr lang="en-US" smtClean="0"/>
              <a:t>6/1/2023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121567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D5E6C05-53F9-466F-B92D-B82F179A1C2A}" type="datetime1">
              <a:rPr lang="en-US" smtClean="0"/>
              <a:t>6/1/2023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1501875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213DD8F6-E251-447C-AC95-545591E312B2}" type="datetime1">
              <a:rPr lang="en-US" smtClean="0"/>
              <a:t>6/1/2023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821190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8F4640-75A5-4E78-99F3-67EA744E3F3C}" type="datetime1">
              <a:rPr lang="en-US" smtClean="0"/>
              <a:t>6/1/2023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112669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9DFA2B9-D6F3-4DA8-94B4-1937DF2721DF}" type="datetime1">
              <a:rPr lang="en-US" smtClean="0"/>
              <a:t>6/1/2023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914271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EC2345B-D2E8-48CA-9EBE-99282A33843D}" type="datetime1">
              <a:rPr lang="en-US" smtClean="0"/>
              <a:t>6/1/2023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278298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0020912-A89D-4BD1-9B49-6C84F1CADE2C}" type="datetime1">
              <a:rPr lang="en-US" smtClean="0"/>
              <a:t>6/1/2023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41281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2C581DB-EC3C-43D1-8A95-99A5D6F60D4E}" type="datetime1">
              <a:rPr lang="en-US" smtClean="0"/>
              <a:t>6/1/2023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670795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46FBD6-9DB8-4800-B077-812324ED1FC3}" type="datetime1">
              <a:rPr lang="en-US" smtClean="0"/>
              <a:t>6/1/2023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801FD5-11B4-DE43-ACA2-E85EEB9A6F9C}" type="slidenum">
              <a:rPr lang="en-US" smtClean="0"/>
              <a:t>‹#›</a:t>
            </a:fld>
            <a:endParaRPr lang="en-US"/>
          </a:p>
        </p:txBody>
      </p:sp>
    </p:spTree>
    <p:extLst>
      <p:ext uri="{BB962C8B-B14F-4D97-AF65-F5344CB8AC3E}">
        <p14:creationId xmlns:p14="http://schemas.microsoft.com/office/powerpoint/2010/main" val="2954336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0.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5441" y="1697217"/>
            <a:ext cx="8233117" cy="2541745"/>
          </a:xfrm>
        </p:spPr>
        <p:txBody>
          <a:bodyPr>
            <a:normAutofit fontScale="90000"/>
          </a:bodyPr>
          <a:lstStyle/>
          <a:p>
            <a:r>
              <a:rPr lang="en-GB" sz="6000" b="1" dirty="0"/>
              <a:t>ME 270 </a:t>
            </a:r>
            <a:br>
              <a:rPr lang="en-GB" sz="6000" b="1" dirty="0"/>
            </a:br>
            <a:r>
              <a:rPr lang="en-GB" sz="6000" b="1" dirty="0"/>
              <a:t>Manufacturing Technology</a:t>
            </a:r>
            <a:endParaRPr lang="en-US" sz="6000" b="1" dirty="0"/>
          </a:p>
        </p:txBody>
      </p:sp>
      <p:sp>
        <p:nvSpPr>
          <p:cNvPr id="3" name="Subtitle 2"/>
          <p:cNvSpPr>
            <a:spLocks noGrp="1"/>
          </p:cNvSpPr>
          <p:nvPr>
            <p:ph type="subTitle" idx="1"/>
          </p:nvPr>
        </p:nvSpPr>
        <p:spPr>
          <a:xfrm>
            <a:off x="570620" y="4121833"/>
            <a:ext cx="8002758" cy="2053883"/>
          </a:xfrm>
        </p:spPr>
        <p:txBody>
          <a:bodyPr>
            <a:normAutofit fontScale="92500" lnSpcReduction="20000"/>
          </a:bodyPr>
          <a:lstStyle/>
          <a:p>
            <a:r>
              <a:rPr lang="en-GB" sz="3600" b="1" dirty="0"/>
              <a:t>Lecture 2: Processing and the Mechanical and Physical Properties of Materials</a:t>
            </a:r>
          </a:p>
          <a:p>
            <a:endParaRPr lang="en-GB" sz="3600" b="1" dirty="0"/>
          </a:p>
          <a:p>
            <a:r>
              <a:rPr lang="en-GB" sz="3600" b="1" dirty="0"/>
              <a:t>S. Boahen (PhD)</a:t>
            </a:r>
            <a:endParaRPr lang="en-US" sz="3600" b="1" dirty="0"/>
          </a:p>
        </p:txBody>
      </p:sp>
    </p:spTree>
    <p:extLst>
      <p:ext uri="{BB962C8B-B14F-4D97-AF65-F5344CB8AC3E}">
        <p14:creationId xmlns:p14="http://schemas.microsoft.com/office/powerpoint/2010/main" val="27994771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400" b="1" dirty="0"/>
              <a:t>Course Content</a:t>
            </a:r>
            <a:endParaRPr lang="en-US" sz="4400" b="1" dirty="0"/>
          </a:p>
        </p:txBody>
      </p:sp>
      <p:sp>
        <p:nvSpPr>
          <p:cNvPr id="3" name="Content Placeholder 2"/>
          <p:cNvSpPr>
            <a:spLocks noGrp="1"/>
          </p:cNvSpPr>
          <p:nvPr>
            <p:ph sz="half" idx="1"/>
          </p:nvPr>
        </p:nvSpPr>
        <p:spPr>
          <a:xfrm>
            <a:off x="367748" y="1152458"/>
            <a:ext cx="8488016" cy="4207334"/>
          </a:xfrm>
        </p:spPr>
        <p:txBody>
          <a:bodyPr/>
          <a:lstStyle/>
          <a:p>
            <a:r>
              <a:rPr lang="en-US" dirty="0">
                <a:solidFill>
                  <a:schemeClr val="accent2">
                    <a:lumMod val="20000"/>
                    <a:lumOff val="80000"/>
                  </a:schemeClr>
                </a:solidFill>
              </a:rPr>
              <a:t>Introduction to manufacturing</a:t>
            </a:r>
          </a:p>
          <a:p>
            <a:r>
              <a:rPr lang="en-US" dirty="0"/>
              <a:t>Connection between processing and the mechanical and physical properties of materials</a:t>
            </a:r>
          </a:p>
          <a:p>
            <a:r>
              <a:rPr lang="en-US" dirty="0">
                <a:solidFill>
                  <a:schemeClr val="accent2">
                    <a:lumMod val="20000"/>
                    <a:lumOff val="80000"/>
                  </a:schemeClr>
                </a:solidFill>
              </a:rPr>
              <a:t>Casting and </a:t>
            </a:r>
            <a:r>
              <a:rPr lang="en-US" dirty="0" err="1">
                <a:solidFill>
                  <a:schemeClr val="accent2">
                    <a:lumMod val="20000"/>
                    <a:lumOff val="80000"/>
                  </a:schemeClr>
                </a:solidFill>
              </a:rPr>
              <a:t>moulding</a:t>
            </a:r>
            <a:r>
              <a:rPr lang="en-US" dirty="0">
                <a:solidFill>
                  <a:schemeClr val="accent2">
                    <a:lumMod val="20000"/>
                    <a:lumOff val="80000"/>
                  </a:schemeClr>
                </a:solidFill>
              </a:rPr>
              <a:t> processes </a:t>
            </a:r>
          </a:p>
          <a:p>
            <a:r>
              <a:rPr lang="en-US" dirty="0">
                <a:solidFill>
                  <a:schemeClr val="accent2">
                    <a:lumMod val="20000"/>
                    <a:lumOff val="80000"/>
                  </a:schemeClr>
                </a:solidFill>
              </a:rPr>
              <a:t>Fundamentals of welding</a:t>
            </a:r>
          </a:p>
          <a:p>
            <a:r>
              <a:rPr lang="en-US" dirty="0">
                <a:solidFill>
                  <a:schemeClr val="accent2">
                    <a:lumMod val="20000"/>
                    <a:lumOff val="80000"/>
                  </a:schemeClr>
                </a:solidFill>
              </a:rPr>
              <a:t>Material removal processes</a:t>
            </a:r>
          </a:p>
          <a:p>
            <a:r>
              <a:rPr lang="en-US" dirty="0">
                <a:solidFill>
                  <a:schemeClr val="accent2">
                    <a:lumMod val="20000"/>
                    <a:lumOff val="80000"/>
                  </a:schemeClr>
                </a:solidFill>
              </a:rPr>
              <a:t>Introduction to support functions in manufacturing</a:t>
            </a:r>
          </a:p>
          <a:p>
            <a:r>
              <a:rPr lang="en-US" dirty="0">
                <a:solidFill>
                  <a:schemeClr val="accent2">
                    <a:lumMod val="20000"/>
                    <a:lumOff val="80000"/>
                  </a:schemeClr>
                </a:solidFill>
              </a:rPr>
              <a:t>Introduction to computer aided manufacturing</a:t>
            </a:r>
          </a:p>
        </p:txBody>
      </p:sp>
      <p:sp>
        <p:nvSpPr>
          <p:cNvPr id="4" name="Slide Number Placeholder 3"/>
          <p:cNvSpPr>
            <a:spLocks noGrp="1"/>
          </p:cNvSpPr>
          <p:nvPr>
            <p:ph type="sldNum" sz="quarter" idx="12"/>
          </p:nvPr>
        </p:nvSpPr>
        <p:spPr/>
        <p:txBody>
          <a:bodyPr/>
          <a:lstStyle/>
          <a:p>
            <a:fld id="{F4801FD5-11B4-DE43-ACA2-E85EEB9A6F9C}" type="slidenum">
              <a:rPr lang="en-US" smtClean="0"/>
              <a:pPr/>
              <a:t>2</a:t>
            </a:fld>
            <a:endParaRPr lang="en-US" dirty="0"/>
          </a:p>
        </p:txBody>
      </p:sp>
    </p:spTree>
    <p:extLst>
      <p:ext uri="{BB962C8B-B14F-4D97-AF65-F5344CB8AC3E}">
        <p14:creationId xmlns:p14="http://schemas.microsoft.com/office/powerpoint/2010/main" val="1671997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601" y="154745"/>
            <a:ext cx="8785218" cy="768971"/>
          </a:xfrm>
        </p:spPr>
        <p:txBody>
          <a:bodyPr/>
          <a:lstStyle/>
          <a:p>
            <a:r>
              <a:rPr lang="en-GB" sz="3700" b="1" dirty="0"/>
              <a:t>Lesson Objectives</a:t>
            </a:r>
            <a:endParaRPr lang="en-US" sz="3700" b="1" dirty="0"/>
          </a:p>
        </p:txBody>
      </p:sp>
      <p:sp>
        <p:nvSpPr>
          <p:cNvPr id="3" name="Content Placeholder 2"/>
          <p:cNvSpPr>
            <a:spLocks noGrp="1"/>
          </p:cNvSpPr>
          <p:nvPr>
            <p:ph sz="half" idx="1"/>
          </p:nvPr>
        </p:nvSpPr>
        <p:spPr>
          <a:xfrm>
            <a:off x="134533" y="1377539"/>
            <a:ext cx="8896087" cy="3152258"/>
          </a:xfrm>
        </p:spPr>
        <p:txBody>
          <a:bodyPr>
            <a:normAutofit/>
          </a:bodyPr>
          <a:lstStyle/>
          <a:p>
            <a:pPr marL="0" indent="0" algn="just">
              <a:buNone/>
            </a:pPr>
            <a:r>
              <a:rPr lang="en-GB" dirty="0"/>
              <a:t>At the end of the lesson, students should be able to</a:t>
            </a:r>
          </a:p>
          <a:p>
            <a:pPr marL="0" indent="0" algn="just">
              <a:buNone/>
            </a:pPr>
            <a:endParaRPr lang="en-GB" dirty="0"/>
          </a:p>
          <a:p>
            <a:pPr algn="just"/>
            <a:r>
              <a:rPr lang="en-GB" dirty="0"/>
              <a:t>Classify engineering materials</a:t>
            </a:r>
          </a:p>
          <a:p>
            <a:pPr algn="just"/>
            <a:r>
              <a:rPr lang="en-GB" dirty="0"/>
              <a:t>Explain mechanical properties of materials</a:t>
            </a:r>
          </a:p>
          <a:p>
            <a:pPr algn="just"/>
            <a:r>
              <a:rPr lang="en-GB" dirty="0"/>
              <a:t>Explain the physical properties of materials</a:t>
            </a:r>
          </a:p>
          <a:p>
            <a:pPr algn="just"/>
            <a:r>
              <a:rPr lang="en-GB" dirty="0"/>
              <a:t>Explain how material properties affect manufacturability</a:t>
            </a:r>
          </a:p>
        </p:txBody>
      </p:sp>
      <p:sp>
        <p:nvSpPr>
          <p:cNvPr id="4" name="Slide Number Placeholder 3"/>
          <p:cNvSpPr>
            <a:spLocks noGrp="1"/>
          </p:cNvSpPr>
          <p:nvPr>
            <p:ph type="sldNum" sz="quarter" idx="12"/>
          </p:nvPr>
        </p:nvSpPr>
        <p:spPr/>
        <p:txBody>
          <a:bodyPr/>
          <a:lstStyle/>
          <a:p>
            <a:fld id="{F4801FD5-11B4-DE43-ACA2-E85EEB9A6F9C}" type="slidenum">
              <a:rPr lang="en-US" smtClean="0"/>
              <a:pPr/>
              <a:t>3</a:t>
            </a:fld>
            <a:endParaRPr lang="en-US" dirty="0"/>
          </a:p>
        </p:txBody>
      </p:sp>
    </p:spTree>
    <p:extLst>
      <p:ext uri="{BB962C8B-B14F-4D97-AF65-F5344CB8AC3E}">
        <p14:creationId xmlns:p14="http://schemas.microsoft.com/office/powerpoint/2010/main" val="2707201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031" y="179237"/>
            <a:ext cx="8790733" cy="768971"/>
          </a:xfrm>
        </p:spPr>
        <p:txBody>
          <a:bodyPr/>
          <a:lstStyle/>
          <a:p>
            <a:r>
              <a:rPr lang="en-GB" b="1" dirty="0"/>
              <a:t>Classification of engineering materials</a:t>
            </a:r>
            <a:endParaRPr lang="en-US" b="1" dirty="0"/>
          </a:p>
        </p:txBody>
      </p:sp>
      <p:sp>
        <p:nvSpPr>
          <p:cNvPr id="3" name="Content Placeholder 2"/>
          <p:cNvSpPr>
            <a:spLocks noGrp="1"/>
          </p:cNvSpPr>
          <p:nvPr>
            <p:ph sz="half" idx="1"/>
          </p:nvPr>
        </p:nvSpPr>
        <p:spPr>
          <a:xfrm>
            <a:off x="494357" y="1327209"/>
            <a:ext cx="8488016" cy="3166325"/>
          </a:xfrm>
        </p:spPr>
        <p:txBody>
          <a:bodyPr/>
          <a:lstStyle/>
          <a:p>
            <a:pPr marL="0" indent="0">
              <a:buNone/>
            </a:pPr>
            <a:r>
              <a:rPr lang="en-GB" dirty="0"/>
              <a:t>Engineering materials can be classified into</a:t>
            </a:r>
          </a:p>
          <a:p>
            <a:r>
              <a:rPr lang="en-GB" dirty="0"/>
              <a:t>Metals and alloys</a:t>
            </a:r>
          </a:p>
          <a:p>
            <a:r>
              <a:rPr lang="en-GB" dirty="0"/>
              <a:t>Ceramics and glasses</a:t>
            </a:r>
          </a:p>
          <a:p>
            <a:r>
              <a:rPr lang="en-GB" dirty="0"/>
              <a:t>Polymers</a:t>
            </a:r>
          </a:p>
          <a:p>
            <a:r>
              <a:rPr lang="en-GB" dirty="0"/>
              <a:t>Composites</a:t>
            </a:r>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4</a:t>
            </a:fld>
            <a:endParaRPr lang="en-US" dirty="0"/>
          </a:p>
        </p:txBody>
      </p:sp>
      <p:sp>
        <p:nvSpPr>
          <p:cNvPr id="5" name="Rounded Rectangle 4"/>
          <p:cNvSpPr/>
          <p:nvPr/>
        </p:nvSpPr>
        <p:spPr>
          <a:xfrm>
            <a:off x="198936" y="1179499"/>
            <a:ext cx="8312018" cy="3461746"/>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098004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Metals and alloys</a:t>
            </a:r>
            <a:endParaRPr lang="en-US" b="1" dirty="0"/>
          </a:p>
        </p:txBody>
      </p:sp>
      <p:sp>
        <p:nvSpPr>
          <p:cNvPr id="3" name="Content Placeholder 2"/>
          <p:cNvSpPr>
            <a:spLocks noGrp="1"/>
          </p:cNvSpPr>
          <p:nvPr>
            <p:ph sz="half" idx="1"/>
          </p:nvPr>
        </p:nvSpPr>
        <p:spPr>
          <a:xfrm>
            <a:off x="367748" y="1152458"/>
            <a:ext cx="8488016" cy="985832"/>
          </a:xfrm>
        </p:spPr>
        <p:txBody>
          <a:bodyPr/>
          <a:lstStyle/>
          <a:p>
            <a:pPr marL="0" indent="0">
              <a:buNone/>
            </a:pPr>
            <a:r>
              <a:rPr lang="en-GB" dirty="0"/>
              <a:t>They are inorganic materials composed of one or more metallic elements. </a:t>
            </a:r>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5</a:t>
            </a:fld>
            <a:endParaRPr lang="en-US" dirty="0"/>
          </a:p>
        </p:txBody>
      </p:sp>
      <p:sp>
        <p:nvSpPr>
          <p:cNvPr id="6" name="TextBox 5"/>
          <p:cNvSpPr txBox="1"/>
          <p:nvPr/>
        </p:nvSpPr>
        <p:spPr>
          <a:xfrm>
            <a:off x="267644" y="2250573"/>
            <a:ext cx="2672503" cy="553998"/>
          </a:xfrm>
          <a:prstGeom prst="rect">
            <a:avLst/>
          </a:prstGeom>
          <a:noFill/>
        </p:spPr>
        <p:txBody>
          <a:bodyPr wrap="square" rtlCol="0">
            <a:spAutoFit/>
          </a:bodyPr>
          <a:lstStyle/>
          <a:p>
            <a:r>
              <a:rPr lang="en-GB" sz="3000" b="1">
                <a:latin typeface="Garamond" panose="02020404030301010803" pitchFamily="18" charset="0"/>
              </a:rPr>
              <a:t>Properties</a:t>
            </a:r>
            <a:endParaRPr lang="en-US" sz="3000" b="1">
              <a:latin typeface="Garamond" panose="02020404030301010803" pitchFamily="18" charset="0"/>
            </a:endParaRPr>
          </a:p>
        </p:txBody>
      </p:sp>
      <p:sp>
        <p:nvSpPr>
          <p:cNvPr id="7" name="Content Placeholder 2"/>
          <p:cNvSpPr txBox="1">
            <a:spLocks/>
          </p:cNvSpPr>
          <p:nvPr/>
        </p:nvSpPr>
        <p:spPr>
          <a:xfrm>
            <a:off x="317490" y="2990706"/>
            <a:ext cx="8488016" cy="3287897"/>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r>
              <a:rPr lang="en-GB" sz="2300" dirty="0"/>
              <a:t>They have a crystalline structure and are good thermal and electrical conductors</a:t>
            </a:r>
          </a:p>
          <a:p>
            <a:r>
              <a:rPr lang="en-GB" sz="2300" dirty="0"/>
              <a:t>Many metals have high strength and high elastic module</a:t>
            </a:r>
          </a:p>
          <a:p>
            <a:r>
              <a:rPr lang="en-GB" sz="2300" dirty="0"/>
              <a:t>They maintain their good strength at high and low temperatures.</a:t>
            </a:r>
          </a:p>
          <a:p>
            <a:r>
              <a:rPr lang="en-GB" sz="2300" dirty="0"/>
              <a:t>They also have sufficient ductility, which is important for many engineering applications.</a:t>
            </a:r>
          </a:p>
          <a:p>
            <a:r>
              <a:rPr lang="en-GB" sz="2300" dirty="0"/>
              <a:t>They can be strengthened by alloying and heat treatment.</a:t>
            </a:r>
          </a:p>
          <a:p>
            <a:r>
              <a:rPr lang="en-GB" sz="2300" dirty="0"/>
              <a:t>They are less resistant to corrosion</a:t>
            </a:r>
            <a:endParaRPr lang="en-US" sz="2300" dirty="0"/>
          </a:p>
        </p:txBody>
      </p:sp>
      <p:sp>
        <p:nvSpPr>
          <p:cNvPr id="8" name="Rounded Rectangle 7"/>
          <p:cNvSpPr/>
          <p:nvPr/>
        </p:nvSpPr>
        <p:spPr>
          <a:xfrm>
            <a:off x="198936" y="2902785"/>
            <a:ext cx="8606570" cy="3335395"/>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117482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Metals and alloys</a:t>
            </a:r>
            <a:endParaRPr lang="en-US" b="1"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6</a:t>
            </a:fld>
            <a:endParaRPr lang="en-US" dirty="0"/>
          </a:p>
        </p:txBody>
      </p:sp>
      <p:pic>
        <p:nvPicPr>
          <p:cNvPr id="9" name="Picture 8"/>
          <p:cNvPicPr>
            <a:picLocks noChangeAspect="1"/>
          </p:cNvPicPr>
          <p:nvPr/>
        </p:nvPicPr>
        <p:blipFill>
          <a:blip r:embed="rId2"/>
          <a:stretch>
            <a:fillRect/>
          </a:stretch>
        </p:blipFill>
        <p:spPr>
          <a:xfrm>
            <a:off x="1333500" y="1271587"/>
            <a:ext cx="6464300" cy="4594581"/>
          </a:xfrm>
          <a:prstGeom prst="rect">
            <a:avLst/>
          </a:prstGeom>
        </p:spPr>
      </p:pic>
    </p:spTree>
    <p:extLst>
      <p:ext uri="{BB962C8B-B14F-4D97-AF65-F5344CB8AC3E}">
        <p14:creationId xmlns:p14="http://schemas.microsoft.com/office/powerpoint/2010/main" val="38704076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Ceramics and glasses</a:t>
            </a:r>
            <a:endParaRPr lang="en-US" b="1" dirty="0"/>
          </a:p>
        </p:txBody>
      </p:sp>
      <p:sp>
        <p:nvSpPr>
          <p:cNvPr id="3" name="Content Placeholder 2"/>
          <p:cNvSpPr>
            <a:spLocks noGrp="1"/>
          </p:cNvSpPr>
          <p:nvPr>
            <p:ph sz="half" idx="1"/>
          </p:nvPr>
        </p:nvSpPr>
        <p:spPr>
          <a:xfrm>
            <a:off x="26931" y="1137340"/>
            <a:ext cx="5029752" cy="1479132"/>
          </a:xfrm>
        </p:spPr>
        <p:txBody>
          <a:bodyPr>
            <a:noAutofit/>
          </a:bodyPr>
          <a:lstStyle/>
          <a:p>
            <a:pPr algn="just"/>
            <a:r>
              <a:rPr lang="en-GB" sz="2350" dirty="0"/>
              <a:t>They are inorganic materials consisting of both metallic and non-metallic elements bonded together chemically.</a:t>
            </a:r>
            <a:endParaRPr lang="en-US" sz="2350"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7</a:t>
            </a:fld>
            <a:endParaRPr lang="en-US" dirty="0"/>
          </a:p>
        </p:txBody>
      </p:sp>
      <p:sp>
        <p:nvSpPr>
          <p:cNvPr id="6" name="TextBox 5"/>
          <p:cNvSpPr txBox="1"/>
          <p:nvPr/>
        </p:nvSpPr>
        <p:spPr>
          <a:xfrm>
            <a:off x="198936" y="2527572"/>
            <a:ext cx="2672503" cy="553998"/>
          </a:xfrm>
          <a:prstGeom prst="rect">
            <a:avLst/>
          </a:prstGeom>
          <a:noFill/>
        </p:spPr>
        <p:txBody>
          <a:bodyPr wrap="square" rtlCol="0">
            <a:spAutoFit/>
          </a:bodyPr>
          <a:lstStyle/>
          <a:p>
            <a:r>
              <a:rPr lang="en-GB" sz="3000" b="1" dirty="0">
                <a:latin typeface="Garamond" panose="02020404030301010803" pitchFamily="18" charset="0"/>
              </a:rPr>
              <a:t>Properties</a:t>
            </a:r>
            <a:endParaRPr lang="en-US" sz="3000" b="1" dirty="0">
              <a:latin typeface="Garamond" panose="02020404030301010803" pitchFamily="18" charset="0"/>
            </a:endParaRPr>
          </a:p>
        </p:txBody>
      </p:sp>
      <p:sp>
        <p:nvSpPr>
          <p:cNvPr id="8" name="Content Placeholder 2"/>
          <p:cNvSpPr txBox="1">
            <a:spLocks/>
          </p:cNvSpPr>
          <p:nvPr/>
        </p:nvSpPr>
        <p:spPr>
          <a:xfrm>
            <a:off x="317490" y="3308207"/>
            <a:ext cx="8488016" cy="2894846"/>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r>
              <a:rPr lang="en-GB" sz="2300" dirty="0"/>
              <a:t>They can be crystalline (ceramics), non-crystalline (glasses) or mixture of both (glass-ceramics)</a:t>
            </a:r>
          </a:p>
          <a:p>
            <a:r>
              <a:rPr lang="en-GB" sz="2300" dirty="0"/>
              <a:t>Generally they have high melting points and high chemical stabilities.</a:t>
            </a:r>
          </a:p>
          <a:p>
            <a:r>
              <a:rPr lang="en-GB" sz="2300" dirty="0"/>
              <a:t>They have high hardness, high moduli and high temperature strength</a:t>
            </a:r>
          </a:p>
          <a:p>
            <a:r>
              <a:rPr lang="en-GB" sz="2300" dirty="0"/>
              <a:t>They are very brittle and cannot be used as good metals</a:t>
            </a:r>
          </a:p>
          <a:p>
            <a:r>
              <a:rPr lang="en-GB" sz="2300" dirty="0"/>
              <a:t>Ceramics are usually poor conductors of electricity</a:t>
            </a:r>
          </a:p>
          <a:p>
            <a:r>
              <a:rPr lang="en-GB" sz="2300" dirty="0"/>
              <a:t>Ceramics have a high strength on compression</a:t>
            </a:r>
          </a:p>
          <a:p>
            <a:endParaRPr lang="en-US" sz="2300" dirty="0"/>
          </a:p>
        </p:txBody>
      </p:sp>
      <p:sp>
        <p:nvSpPr>
          <p:cNvPr id="9" name="Rounded Rectangle 8"/>
          <p:cNvSpPr/>
          <p:nvPr/>
        </p:nvSpPr>
        <p:spPr>
          <a:xfrm>
            <a:off x="198936" y="3232656"/>
            <a:ext cx="8606570" cy="2971588"/>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Picture 9"/>
          <p:cNvPicPr>
            <a:picLocks noChangeAspect="1"/>
          </p:cNvPicPr>
          <p:nvPr/>
        </p:nvPicPr>
        <p:blipFill>
          <a:blip r:embed="rId2"/>
          <a:stretch>
            <a:fillRect/>
          </a:stretch>
        </p:blipFill>
        <p:spPr>
          <a:xfrm>
            <a:off x="5245101" y="1137340"/>
            <a:ext cx="3611206" cy="1944230"/>
          </a:xfrm>
          <a:prstGeom prst="rect">
            <a:avLst/>
          </a:prstGeom>
        </p:spPr>
      </p:pic>
    </p:spTree>
    <p:extLst>
      <p:ext uri="{BB962C8B-B14F-4D97-AF65-F5344CB8AC3E}">
        <p14:creationId xmlns:p14="http://schemas.microsoft.com/office/powerpoint/2010/main" val="8632492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Ceramics and glasses</a:t>
            </a:r>
            <a:endParaRPr lang="en-US" b="1"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8</a:t>
            </a:fld>
            <a:endParaRPr lang="en-US" dirty="0"/>
          </a:p>
        </p:txBody>
      </p:sp>
      <p:pic>
        <p:nvPicPr>
          <p:cNvPr id="7" name="Picture 6"/>
          <p:cNvPicPr>
            <a:picLocks noChangeAspect="1"/>
          </p:cNvPicPr>
          <p:nvPr/>
        </p:nvPicPr>
        <p:blipFill>
          <a:blip r:embed="rId2"/>
          <a:stretch>
            <a:fillRect/>
          </a:stretch>
        </p:blipFill>
        <p:spPr>
          <a:xfrm>
            <a:off x="258950" y="1117900"/>
            <a:ext cx="8783450" cy="5160704"/>
          </a:xfrm>
          <a:prstGeom prst="rect">
            <a:avLst/>
          </a:prstGeom>
        </p:spPr>
      </p:pic>
    </p:spTree>
    <p:extLst>
      <p:ext uri="{BB962C8B-B14F-4D97-AF65-F5344CB8AC3E}">
        <p14:creationId xmlns:p14="http://schemas.microsoft.com/office/powerpoint/2010/main" val="41852893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Polymers</a:t>
            </a:r>
            <a:endParaRPr lang="en-US" b="1" dirty="0"/>
          </a:p>
        </p:txBody>
      </p:sp>
      <p:sp>
        <p:nvSpPr>
          <p:cNvPr id="3" name="Content Placeholder 2"/>
          <p:cNvSpPr>
            <a:spLocks noGrp="1"/>
          </p:cNvSpPr>
          <p:nvPr>
            <p:ph sz="half" idx="1"/>
          </p:nvPr>
        </p:nvSpPr>
        <p:spPr>
          <a:xfrm>
            <a:off x="267644" y="1114419"/>
            <a:ext cx="8488016" cy="985832"/>
          </a:xfrm>
        </p:spPr>
        <p:txBody>
          <a:bodyPr>
            <a:normAutofit/>
          </a:bodyPr>
          <a:lstStyle/>
          <a:p>
            <a:pPr marL="0" indent="0">
              <a:buNone/>
            </a:pPr>
            <a:r>
              <a:rPr lang="en-GB" dirty="0"/>
              <a:t>Organic materials which consist of long molecular chains or network containing carbons</a:t>
            </a:r>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9</a:t>
            </a:fld>
            <a:endParaRPr lang="en-US" dirty="0"/>
          </a:p>
        </p:txBody>
      </p:sp>
      <p:sp>
        <p:nvSpPr>
          <p:cNvPr id="6" name="TextBox 5"/>
          <p:cNvSpPr txBox="1"/>
          <p:nvPr/>
        </p:nvSpPr>
        <p:spPr>
          <a:xfrm>
            <a:off x="267644" y="2145887"/>
            <a:ext cx="2672503" cy="553998"/>
          </a:xfrm>
          <a:prstGeom prst="rect">
            <a:avLst/>
          </a:prstGeom>
          <a:noFill/>
        </p:spPr>
        <p:txBody>
          <a:bodyPr wrap="square" rtlCol="0">
            <a:spAutoFit/>
          </a:bodyPr>
          <a:lstStyle/>
          <a:p>
            <a:r>
              <a:rPr lang="en-GB" sz="3000" b="1" dirty="0">
                <a:latin typeface="Garamond" panose="02020404030301010803" pitchFamily="18" charset="0"/>
              </a:rPr>
              <a:t>Properties</a:t>
            </a:r>
            <a:endParaRPr lang="en-US" sz="3000" b="1" dirty="0">
              <a:latin typeface="Garamond" panose="02020404030301010803" pitchFamily="18" charset="0"/>
            </a:endParaRPr>
          </a:p>
        </p:txBody>
      </p:sp>
      <p:sp>
        <p:nvSpPr>
          <p:cNvPr id="8" name="Content Placeholder 2"/>
          <p:cNvSpPr txBox="1">
            <a:spLocks/>
          </p:cNvSpPr>
          <p:nvPr/>
        </p:nvSpPr>
        <p:spPr>
          <a:xfrm>
            <a:off x="267644" y="2731036"/>
            <a:ext cx="8488016" cy="3573349"/>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lgn="just"/>
            <a:r>
              <a:rPr lang="en-GB" sz="2200" dirty="0"/>
              <a:t>Most polymers are non-crystalline, but some consist of mixtures of both crystalline and non-crystalline regions.</a:t>
            </a:r>
          </a:p>
          <a:p>
            <a:pPr algn="just"/>
            <a:r>
              <a:rPr lang="en-GB" sz="2200" dirty="0"/>
              <a:t>They generally have low densities and low rigidity.</a:t>
            </a:r>
          </a:p>
          <a:p>
            <a:pPr algn="just"/>
            <a:r>
              <a:rPr lang="en-GB" sz="2200" dirty="0"/>
              <a:t>Their mechanical properties may vary considerably.</a:t>
            </a:r>
          </a:p>
          <a:p>
            <a:pPr algn="just"/>
            <a:r>
              <a:rPr lang="en-GB" sz="2200" dirty="0"/>
              <a:t>Most polymers are poor conductors of electricity due to the nature of the atomic bonding</a:t>
            </a:r>
          </a:p>
          <a:p>
            <a:pPr algn="just"/>
            <a:r>
              <a:rPr lang="en-GB" sz="2200" dirty="0"/>
              <a:t>Most of them are corrosion resistant, but cannot be used at high temperatures</a:t>
            </a:r>
          </a:p>
          <a:p>
            <a:pPr algn="just"/>
            <a:r>
              <a:rPr lang="en-GB" sz="2200" dirty="0"/>
              <a:t>They generally have a good strength to weight ratio</a:t>
            </a:r>
          </a:p>
          <a:p>
            <a:pPr marL="0" indent="0" algn="just">
              <a:buNone/>
            </a:pPr>
            <a:endParaRPr lang="en-US" sz="2200" dirty="0"/>
          </a:p>
        </p:txBody>
      </p:sp>
      <p:sp>
        <p:nvSpPr>
          <p:cNvPr id="9" name="Rounded Rectangle 8"/>
          <p:cNvSpPr/>
          <p:nvPr/>
        </p:nvSpPr>
        <p:spPr>
          <a:xfrm>
            <a:off x="156731" y="2716969"/>
            <a:ext cx="8804387" cy="3507144"/>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10044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Polymers</a:t>
            </a:r>
            <a:endParaRPr lang="en-US" b="1"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10</a:t>
            </a:fld>
            <a:endParaRPr lang="en-US" dirty="0"/>
          </a:p>
        </p:txBody>
      </p:sp>
      <p:pic>
        <p:nvPicPr>
          <p:cNvPr id="7" name="Picture 6"/>
          <p:cNvPicPr>
            <a:picLocks noChangeAspect="1"/>
          </p:cNvPicPr>
          <p:nvPr/>
        </p:nvPicPr>
        <p:blipFill>
          <a:blip r:embed="rId2"/>
          <a:stretch>
            <a:fillRect/>
          </a:stretch>
        </p:blipFill>
        <p:spPr>
          <a:xfrm>
            <a:off x="0" y="1103312"/>
            <a:ext cx="5476875" cy="4219575"/>
          </a:xfrm>
          <a:prstGeom prst="rect">
            <a:avLst/>
          </a:prstGeom>
        </p:spPr>
      </p:pic>
      <p:pic>
        <p:nvPicPr>
          <p:cNvPr id="10" name="Picture 9"/>
          <p:cNvPicPr>
            <a:picLocks noChangeAspect="1"/>
          </p:cNvPicPr>
          <p:nvPr/>
        </p:nvPicPr>
        <p:blipFill>
          <a:blip r:embed="rId3"/>
          <a:stretch>
            <a:fillRect/>
          </a:stretch>
        </p:blipFill>
        <p:spPr>
          <a:xfrm>
            <a:off x="5768747" y="2088355"/>
            <a:ext cx="3252117" cy="2249488"/>
          </a:xfrm>
          <a:prstGeom prst="rect">
            <a:avLst/>
          </a:prstGeom>
        </p:spPr>
      </p:pic>
    </p:spTree>
    <p:extLst>
      <p:ext uri="{BB962C8B-B14F-4D97-AF65-F5344CB8AC3E}">
        <p14:creationId xmlns:p14="http://schemas.microsoft.com/office/powerpoint/2010/main" val="370255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Stress-strain behaviour of polymers</a:t>
            </a:r>
            <a:endParaRPr lang="en-US" b="1"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11</a:t>
            </a:fld>
            <a:endParaRPr lang="en-US" dirty="0"/>
          </a:p>
        </p:txBody>
      </p:sp>
      <p:sp>
        <p:nvSpPr>
          <p:cNvPr id="8" name="Content Placeholder 2"/>
          <p:cNvSpPr txBox="1">
            <a:spLocks/>
          </p:cNvSpPr>
          <p:nvPr/>
        </p:nvSpPr>
        <p:spPr>
          <a:xfrm>
            <a:off x="35526" y="1069426"/>
            <a:ext cx="5700819" cy="5166974"/>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lgn="just"/>
            <a:r>
              <a:rPr lang="en-GB" sz="2300" dirty="0"/>
              <a:t>Polymers can be classified as brittle, plastic and highly plastic. </a:t>
            </a:r>
          </a:p>
          <a:p>
            <a:pPr algn="just"/>
            <a:r>
              <a:rPr lang="en-GB" sz="2300" dirty="0"/>
              <a:t>Polymers are neither as strong nor as stiff as metals. </a:t>
            </a:r>
          </a:p>
          <a:p>
            <a:pPr algn="just"/>
            <a:r>
              <a:rPr lang="en-GB" sz="2300" dirty="0"/>
              <a:t>However, their high flexibilities, low densities, and resistance to corrosion make them the materials of choice for many applications. </a:t>
            </a:r>
          </a:p>
          <a:p>
            <a:pPr algn="just"/>
            <a:r>
              <a:rPr lang="en-GB" sz="2300" dirty="0"/>
              <a:t>The mechanical properties of polymers are sensitive to changes in temperature and strain rate. With either rising temperature or decreasing strain rate, modulus of elasticity diminishes, tensile strength decreases, and ductility increases.</a:t>
            </a:r>
            <a:endParaRPr lang="en-US" sz="2300" dirty="0"/>
          </a:p>
        </p:txBody>
      </p:sp>
      <p:pic>
        <p:nvPicPr>
          <p:cNvPr id="7" name="Picture 6"/>
          <p:cNvPicPr>
            <a:picLocks noChangeAspect="1"/>
          </p:cNvPicPr>
          <p:nvPr/>
        </p:nvPicPr>
        <p:blipFill>
          <a:blip r:embed="rId2"/>
          <a:stretch>
            <a:fillRect/>
          </a:stretch>
        </p:blipFill>
        <p:spPr>
          <a:xfrm>
            <a:off x="5765850" y="2454373"/>
            <a:ext cx="3295650" cy="2343150"/>
          </a:xfrm>
          <a:prstGeom prst="rect">
            <a:avLst/>
          </a:prstGeom>
        </p:spPr>
      </p:pic>
    </p:spTree>
    <p:extLst>
      <p:ext uri="{BB962C8B-B14F-4D97-AF65-F5344CB8AC3E}">
        <p14:creationId xmlns:p14="http://schemas.microsoft.com/office/powerpoint/2010/main" val="17791974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Composites</a:t>
            </a:r>
            <a:endParaRPr lang="en-US" b="1" dirty="0"/>
          </a:p>
        </p:txBody>
      </p:sp>
      <p:sp>
        <p:nvSpPr>
          <p:cNvPr id="3" name="Content Placeholder 2"/>
          <p:cNvSpPr>
            <a:spLocks noGrp="1"/>
          </p:cNvSpPr>
          <p:nvPr>
            <p:ph sz="half" idx="1"/>
          </p:nvPr>
        </p:nvSpPr>
        <p:spPr>
          <a:xfrm>
            <a:off x="267644" y="1043504"/>
            <a:ext cx="8488016" cy="985832"/>
          </a:xfrm>
        </p:spPr>
        <p:txBody>
          <a:bodyPr>
            <a:normAutofit/>
          </a:bodyPr>
          <a:lstStyle/>
          <a:p>
            <a:pPr marL="0" indent="0">
              <a:buNone/>
            </a:pPr>
            <a:r>
              <a:rPr lang="en-GB" dirty="0"/>
              <a:t>Materials that consists of two or more metals, alloys, plastics and polymers.</a:t>
            </a:r>
          </a:p>
        </p:txBody>
      </p:sp>
      <p:sp>
        <p:nvSpPr>
          <p:cNvPr id="4" name="Slide Number Placeholder 3"/>
          <p:cNvSpPr>
            <a:spLocks noGrp="1"/>
          </p:cNvSpPr>
          <p:nvPr>
            <p:ph type="sldNum" sz="quarter" idx="12"/>
          </p:nvPr>
        </p:nvSpPr>
        <p:spPr/>
        <p:txBody>
          <a:bodyPr/>
          <a:lstStyle/>
          <a:p>
            <a:fld id="{F4801FD5-11B4-DE43-ACA2-E85EEB9A6F9C}" type="slidenum">
              <a:rPr lang="en-US" smtClean="0"/>
              <a:pPr/>
              <a:t>12</a:t>
            </a:fld>
            <a:endParaRPr lang="en-US" dirty="0"/>
          </a:p>
        </p:txBody>
      </p:sp>
      <p:sp>
        <p:nvSpPr>
          <p:cNvPr id="6" name="TextBox 5"/>
          <p:cNvSpPr txBox="1"/>
          <p:nvPr/>
        </p:nvSpPr>
        <p:spPr>
          <a:xfrm>
            <a:off x="267644" y="2190848"/>
            <a:ext cx="2672503" cy="553998"/>
          </a:xfrm>
          <a:prstGeom prst="rect">
            <a:avLst/>
          </a:prstGeom>
          <a:noFill/>
        </p:spPr>
        <p:txBody>
          <a:bodyPr wrap="square" rtlCol="0">
            <a:spAutoFit/>
          </a:bodyPr>
          <a:lstStyle/>
          <a:p>
            <a:r>
              <a:rPr lang="en-GB" sz="3000" b="1">
                <a:latin typeface="Garamond" panose="02020404030301010803" pitchFamily="18" charset="0"/>
              </a:rPr>
              <a:t>Properties</a:t>
            </a:r>
            <a:endParaRPr lang="en-US" sz="3000" b="1">
              <a:latin typeface="Garamond" panose="02020404030301010803" pitchFamily="18" charset="0"/>
            </a:endParaRPr>
          </a:p>
        </p:txBody>
      </p:sp>
      <p:sp>
        <p:nvSpPr>
          <p:cNvPr id="8" name="Content Placeholder 2"/>
          <p:cNvSpPr txBox="1">
            <a:spLocks/>
          </p:cNvSpPr>
          <p:nvPr/>
        </p:nvSpPr>
        <p:spPr>
          <a:xfrm>
            <a:off x="267644" y="2731036"/>
            <a:ext cx="8488016" cy="3573349"/>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lgn="just"/>
            <a:r>
              <a:rPr lang="en-GB" sz="2300" dirty="0"/>
              <a:t>They usually consist of a matrix and a reinforcement.</a:t>
            </a:r>
          </a:p>
          <a:p>
            <a:pPr algn="just"/>
            <a:r>
              <a:rPr lang="en-GB" sz="2300" dirty="0"/>
              <a:t>They are designed to combine the best properties of each of its components.</a:t>
            </a:r>
          </a:p>
          <a:p>
            <a:pPr marL="0" indent="0" algn="just">
              <a:buNone/>
            </a:pPr>
            <a:endParaRPr lang="en-US" sz="2300" dirty="0"/>
          </a:p>
        </p:txBody>
      </p:sp>
      <p:pic>
        <p:nvPicPr>
          <p:cNvPr id="7" name="Picture 6"/>
          <p:cNvPicPr>
            <a:picLocks noChangeAspect="1"/>
          </p:cNvPicPr>
          <p:nvPr/>
        </p:nvPicPr>
        <p:blipFill>
          <a:blip r:embed="rId2"/>
          <a:stretch>
            <a:fillRect/>
          </a:stretch>
        </p:blipFill>
        <p:spPr>
          <a:xfrm>
            <a:off x="3776517" y="3794647"/>
            <a:ext cx="4368678" cy="2441753"/>
          </a:xfrm>
          <a:prstGeom prst="rect">
            <a:avLst/>
          </a:prstGeom>
        </p:spPr>
      </p:pic>
    </p:spTree>
    <p:extLst>
      <p:ext uri="{BB962C8B-B14F-4D97-AF65-F5344CB8AC3E}">
        <p14:creationId xmlns:p14="http://schemas.microsoft.com/office/powerpoint/2010/main" val="20371379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9272" y="195126"/>
            <a:ext cx="8488016" cy="768971"/>
          </a:xfrm>
        </p:spPr>
        <p:txBody>
          <a:bodyPr/>
          <a:lstStyle/>
          <a:p>
            <a:r>
              <a:rPr lang="en-GB" b="1"/>
              <a:t>Properties of engineering materials</a:t>
            </a:r>
            <a:endParaRPr lang="en-US" b="1"/>
          </a:p>
        </p:txBody>
      </p:sp>
      <p:sp>
        <p:nvSpPr>
          <p:cNvPr id="3" name="Content Placeholder 2"/>
          <p:cNvSpPr>
            <a:spLocks noGrp="1"/>
          </p:cNvSpPr>
          <p:nvPr>
            <p:ph sz="half" idx="1"/>
          </p:nvPr>
        </p:nvSpPr>
        <p:spPr>
          <a:xfrm>
            <a:off x="367748" y="1616692"/>
            <a:ext cx="8488016" cy="2814632"/>
          </a:xfrm>
        </p:spPr>
        <p:txBody>
          <a:bodyPr/>
          <a:lstStyle/>
          <a:p>
            <a:r>
              <a:rPr lang="en-GB" dirty="0"/>
              <a:t>Engineering materials have property profiles</a:t>
            </a:r>
          </a:p>
          <a:p>
            <a:r>
              <a:rPr lang="en-GB" dirty="0"/>
              <a:t>The properties of engineering materials can be classified as physical, mechanical and chemical.</a:t>
            </a:r>
          </a:p>
          <a:p>
            <a:r>
              <a:rPr lang="en-GB" dirty="0"/>
              <a:t>Properties such as density, cost and anisotropy are other properties of engineering materials. </a:t>
            </a:r>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13</a:t>
            </a:fld>
            <a:endParaRPr lang="en-US" dirty="0"/>
          </a:p>
        </p:txBody>
      </p:sp>
      <p:sp>
        <p:nvSpPr>
          <p:cNvPr id="5" name="Rounded Rectangle 4"/>
          <p:cNvSpPr/>
          <p:nvPr/>
        </p:nvSpPr>
        <p:spPr>
          <a:xfrm>
            <a:off x="209995" y="1398513"/>
            <a:ext cx="8606570" cy="2878065"/>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39380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Mechanical properties of materials</a:t>
            </a:r>
            <a:endParaRPr lang="en-US" b="1"/>
          </a:p>
        </p:txBody>
      </p:sp>
      <p:sp>
        <p:nvSpPr>
          <p:cNvPr id="3" name="Content Placeholder 2"/>
          <p:cNvSpPr>
            <a:spLocks noGrp="1"/>
          </p:cNvSpPr>
          <p:nvPr>
            <p:ph sz="half" idx="1"/>
          </p:nvPr>
        </p:nvSpPr>
        <p:spPr>
          <a:xfrm>
            <a:off x="2073294" y="1165458"/>
            <a:ext cx="5076923" cy="5113146"/>
          </a:xfrm>
        </p:spPr>
        <p:txBody>
          <a:bodyPr>
            <a:normAutofit/>
          </a:bodyPr>
          <a:lstStyle/>
          <a:p>
            <a:pPr algn="just" fontAlgn="base"/>
            <a:r>
              <a:rPr lang="en-GB" sz="2400" dirty="0"/>
              <a:t>Tensile Strength</a:t>
            </a:r>
          </a:p>
          <a:p>
            <a:pPr algn="just" fontAlgn="base"/>
            <a:r>
              <a:rPr lang="en-GB" sz="2400" dirty="0"/>
              <a:t>Toughness</a:t>
            </a:r>
          </a:p>
          <a:p>
            <a:pPr algn="just" fontAlgn="base"/>
            <a:r>
              <a:rPr lang="en-GB" sz="2400" dirty="0"/>
              <a:t>Malleability</a:t>
            </a:r>
          </a:p>
          <a:p>
            <a:pPr algn="just" fontAlgn="base"/>
            <a:r>
              <a:rPr lang="en-GB" sz="2400" dirty="0"/>
              <a:t>Hardness</a:t>
            </a:r>
          </a:p>
          <a:p>
            <a:pPr algn="just" fontAlgn="base"/>
            <a:r>
              <a:rPr lang="en-GB" sz="2400" dirty="0"/>
              <a:t>Ductility</a:t>
            </a:r>
          </a:p>
          <a:p>
            <a:pPr algn="just" fontAlgn="base"/>
            <a:r>
              <a:rPr lang="en-GB" sz="2400" dirty="0"/>
              <a:t>Stiffness</a:t>
            </a:r>
          </a:p>
          <a:p>
            <a:pPr algn="just" fontAlgn="base"/>
            <a:r>
              <a:rPr lang="en-GB" sz="2400" dirty="0"/>
              <a:t>Brittleness</a:t>
            </a:r>
          </a:p>
          <a:p>
            <a:pPr algn="just" fontAlgn="base"/>
            <a:r>
              <a:rPr lang="en-GB" sz="2400"/>
              <a:t>Elasticity</a:t>
            </a:r>
            <a:endParaRPr lang="en-GB" sz="2400" dirty="0"/>
          </a:p>
          <a:p>
            <a:pPr algn="just" fontAlgn="base"/>
            <a:r>
              <a:rPr lang="en-GB" sz="2400" dirty="0"/>
              <a:t>Plasticity</a:t>
            </a:r>
          </a:p>
          <a:p>
            <a:pPr algn="just" fontAlgn="base"/>
            <a:r>
              <a:rPr lang="en-GB" sz="2400" dirty="0"/>
              <a:t>Creep</a:t>
            </a:r>
          </a:p>
          <a:p>
            <a:pPr algn="just" fontAlgn="base"/>
            <a:r>
              <a:rPr lang="en-GB" sz="2400" dirty="0"/>
              <a:t>Fatigue</a:t>
            </a:r>
            <a:endParaRPr lang="en-US" sz="2400"/>
          </a:p>
        </p:txBody>
      </p:sp>
      <p:sp>
        <p:nvSpPr>
          <p:cNvPr id="4" name="Slide Number Placeholder 3"/>
          <p:cNvSpPr>
            <a:spLocks noGrp="1"/>
          </p:cNvSpPr>
          <p:nvPr>
            <p:ph type="sldNum" sz="quarter" idx="12"/>
          </p:nvPr>
        </p:nvSpPr>
        <p:spPr/>
        <p:txBody>
          <a:bodyPr/>
          <a:lstStyle/>
          <a:p>
            <a:fld id="{F4801FD5-11B4-DE43-ACA2-E85EEB9A6F9C}" type="slidenum">
              <a:rPr lang="en-US" smtClean="0"/>
              <a:pPr/>
              <a:t>14</a:t>
            </a:fld>
            <a:endParaRPr lang="en-US" dirty="0"/>
          </a:p>
        </p:txBody>
      </p:sp>
    </p:spTree>
    <p:extLst>
      <p:ext uri="{BB962C8B-B14F-4D97-AF65-F5344CB8AC3E}">
        <p14:creationId xmlns:p14="http://schemas.microsoft.com/office/powerpoint/2010/main" val="16679462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Tension Test</a:t>
            </a:r>
            <a:endParaRPr lang="en-US" b="1" dirty="0"/>
          </a:p>
        </p:txBody>
      </p:sp>
      <p:sp>
        <p:nvSpPr>
          <p:cNvPr id="3" name="Content Placeholder 2"/>
          <p:cNvSpPr>
            <a:spLocks noGrp="1"/>
          </p:cNvSpPr>
          <p:nvPr>
            <p:ph sz="half" idx="1"/>
          </p:nvPr>
        </p:nvSpPr>
        <p:spPr>
          <a:xfrm>
            <a:off x="107234" y="1107528"/>
            <a:ext cx="8910157" cy="5025457"/>
          </a:xfrm>
        </p:spPr>
        <p:txBody>
          <a:bodyPr>
            <a:normAutofit/>
          </a:bodyPr>
          <a:lstStyle/>
          <a:p>
            <a:pPr marL="0" indent="0">
              <a:buNone/>
            </a:pPr>
            <a:r>
              <a:rPr lang="en-GB" sz="2400" b="1" dirty="0"/>
              <a:t>Procedure</a:t>
            </a:r>
          </a:p>
          <a:p>
            <a:r>
              <a:rPr lang="en-GB" sz="2400" dirty="0"/>
              <a:t>A material is gripped at both ends by an apparatus, which slowly pulls lengthwise on the piece until it fractures. </a:t>
            </a:r>
          </a:p>
          <a:p>
            <a:r>
              <a:rPr lang="en-GB" sz="2400" dirty="0"/>
              <a:t>The pulling force is called a load, which is plotted against the material length change, or displacement. </a:t>
            </a:r>
          </a:p>
          <a:p>
            <a:r>
              <a:rPr lang="en-GB" sz="2400" dirty="0"/>
              <a:t>The load is converted to a stress value and the displacement is converted to a strain value.</a:t>
            </a:r>
            <a:endParaRPr lang="en-US" sz="2400" b="1"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15</a:t>
            </a:fld>
            <a:endParaRPr lang="en-US" dirty="0"/>
          </a:p>
        </p:txBody>
      </p:sp>
      <p:pic>
        <p:nvPicPr>
          <p:cNvPr id="5" name="Picture 4"/>
          <p:cNvPicPr>
            <a:picLocks noChangeAspect="1"/>
          </p:cNvPicPr>
          <p:nvPr/>
        </p:nvPicPr>
        <p:blipFill>
          <a:blip r:embed="rId2"/>
          <a:stretch>
            <a:fillRect/>
          </a:stretch>
        </p:blipFill>
        <p:spPr>
          <a:xfrm>
            <a:off x="367748" y="4295692"/>
            <a:ext cx="4345924" cy="1154202"/>
          </a:xfrm>
          <a:prstGeom prst="rect">
            <a:avLst/>
          </a:prstGeom>
        </p:spPr>
      </p:pic>
      <p:pic>
        <p:nvPicPr>
          <p:cNvPr id="6" name="Picture 5"/>
          <p:cNvPicPr>
            <a:picLocks noChangeAspect="1"/>
          </p:cNvPicPr>
          <p:nvPr/>
        </p:nvPicPr>
        <p:blipFill>
          <a:blip r:embed="rId3"/>
          <a:stretch>
            <a:fillRect/>
          </a:stretch>
        </p:blipFill>
        <p:spPr>
          <a:xfrm>
            <a:off x="5111262" y="3620256"/>
            <a:ext cx="2438400" cy="2505075"/>
          </a:xfrm>
          <a:prstGeom prst="rect">
            <a:avLst/>
          </a:prstGeom>
        </p:spPr>
      </p:pic>
      <p:sp>
        <p:nvSpPr>
          <p:cNvPr id="7" name="TextBox 6"/>
          <p:cNvSpPr txBox="1"/>
          <p:nvPr/>
        </p:nvSpPr>
        <p:spPr>
          <a:xfrm>
            <a:off x="7501203" y="5057185"/>
            <a:ext cx="1642797" cy="830997"/>
          </a:xfrm>
          <a:prstGeom prst="rect">
            <a:avLst/>
          </a:prstGeom>
          <a:noFill/>
        </p:spPr>
        <p:txBody>
          <a:bodyPr wrap="square" rtlCol="0">
            <a:spAutoFit/>
          </a:bodyPr>
          <a:lstStyle/>
          <a:p>
            <a:r>
              <a:rPr lang="en-GB" sz="1600" b="1" i="1" dirty="0"/>
              <a:t>Fig. Tensile </a:t>
            </a:r>
          </a:p>
          <a:p>
            <a:r>
              <a:rPr lang="en-GB" sz="1600" b="1" i="1" dirty="0"/>
              <a:t>stress-strain Test setup</a:t>
            </a:r>
            <a:endParaRPr lang="en-US" sz="1600" b="1" i="1" dirty="0"/>
          </a:p>
        </p:txBody>
      </p:sp>
      <p:sp>
        <p:nvSpPr>
          <p:cNvPr id="8" name="TextBox 7"/>
          <p:cNvSpPr txBox="1"/>
          <p:nvPr/>
        </p:nvSpPr>
        <p:spPr>
          <a:xfrm>
            <a:off x="606675" y="5632273"/>
            <a:ext cx="2972032" cy="584775"/>
          </a:xfrm>
          <a:prstGeom prst="rect">
            <a:avLst/>
          </a:prstGeom>
          <a:noFill/>
        </p:spPr>
        <p:txBody>
          <a:bodyPr wrap="none" rtlCol="0">
            <a:spAutoFit/>
          </a:bodyPr>
          <a:lstStyle/>
          <a:p>
            <a:r>
              <a:rPr lang="en-GB" sz="1600" b="1" i="1" dirty="0"/>
              <a:t>Fig. A standard tensile specimen </a:t>
            </a:r>
          </a:p>
          <a:p>
            <a:r>
              <a:rPr lang="en-GB" sz="1600" b="1" i="1" dirty="0"/>
              <a:t>       with circular cross section</a:t>
            </a:r>
            <a:endParaRPr lang="en-US" sz="1600" b="1" i="1" dirty="0"/>
          </a:p>
        </p:txBody>
      </p:sp>
    </p:spTree>
    <p:extLst>
      <p:ext uri="{BB962C8B-B14F-4D97-AF65-F5344CB8AC3E}">
        <p14:creationId xmlns:p14="http://schemas.microsoft.com/office/powerpoint/2010/main" val="20635378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135" y="181058"/>
            <a:ext cx="9078969" cy="768971"/>
          </a:xfrm>
        </p:spPr>
        <p:txBody>
          <a:bodyPr/>
          <a:lstStyle/>
          <a:p>
            <a:r>
              <a:rPr lang="en-GB" sz="3500" b="1" dirty="0"/>
              <a:t>Shear and Strain (Tension and Compression)</a:t>
            </a:r>
            <a:endParaRPr lang="en-US" sz="3500" b="1" dirty="0"/>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a:xfrm>
                <a:off x="65031" y="1053982"/>
                <a:ext cx="9013937" cy="5238690"/>
              </a:xfrm>
            </p:spPr>
            <p:txBody>
              <a:bodyPr>
                <a:normAutofit fontScale="77500" lnSpcReduction="20000"/>
              </a:bodyPr>
              <a:lstStyle/>
              <a:p>
                <a:r>
                  <a:rPr lang="en-GB" dirty="0"/>
                  <a:t>To compare specimens of different sizes, the load is calculated per unit area. </a:t>
                </a:r>
              </a:p>
              <a:p>
                <a:pPr marL="0" indent="0">
                  <a:buNone/>
                </a:pPr>
                <a:endParaRPr lang="en-GB" dirty="0"/>
              </a:p>
              <a:p>
                <a:pPr marL="0" indent="0">
                  <a:buNone/>
                </a:pPr>
                <a:r>
                  <a:rPr lang="en-GB" b="1" dirty="0"/>
                  <a:t>Engineering stress is given by </a:t>
                </a:r>
              </a:p>
              <a:p>
                <a:pPr marL="0" indent="0">
                  <a:buNone/>
                </a:pPr>
                <a14:m>
                  <m:oMathPara xmlns:m="http://schemas.openxmlformats.org/officeDocument/2006/math">
                    <m:oMathParaPr>
                      <m:jc m:val="centerGroup"/>
                    </m:oMathParaPr>
                    <m:oMath xmlns:m="http://schemas.openxmlformats.org/officeDocument/2006/math">
                      <m:r>
                        <a:rPr lang="en-GB" b="1" i="0" dirty="0" smtClean="0">
                          <a:solidFill>
                            <a:srgbClr val="FF0000"/>
                          </a:solidFill>
                          <a:latin typeface="Cambria Math" panose="02040503050406030204" pitchFamily="18" charset="0"/>
                        </a:rPr>
                        <m:t>𝛔</m:t>
                      </m:r>
                      <m:r>
                        <a:rPr lang="en-GB" b="1" i="0" dirty="0" smtClean="0">
                          <a:solidFill>
                            <a:srgbClr val="FF0000"/>
                          </a:solidFill>
                          <a:latin typeface="Cambria Math" panose="02040503050406030204" pitchFamily="18" charset="0"/>
                        </a:rPr>
                        <m:t> = </m:t>
                      </m:r>
                      <m:r>
                        <a:rPr lang="en-GB" b="1" i="0" dirty="0" smtClean="0">
                          <a:solidFill>
                            <a:srgbClr val="FF0000"/>
                          </a:solidFill>
                          <a:latin typeface="Cambria Math" panose="02040503050406030204" pitchFamily="18" charset="0"/>
                        </a:rPr>
                        <m:t>𝐅</m:t>
                      </m:r>
                      <m:r>
                        <a:rPr lang="en-GB" b="1" i="0" dirty="0" smtClean="0">
                          <a:solidFill>
                            <a:srgbClr val="FF0000"/>
                          </a:solidFill>
                          <a:latin typeface="Cambria Math" panose="02040503050406030204" pitchFamily="18" charset="0"/>
                        </a:rPr>
                        <m:t> / </m:t>
                      </m:r>
                      <m:sSub>
                        <m:sSubPr>
                          <m:ctrlPr>
                            <a:rPr lang="en-GB" b="1" i="1" dirty="0" smtClean="0">
                              <a:solidFill>
                                <a:srgbClr val="FF0000"/>
                              </a:solidFill>
                              <a:latin typeface="Cambria Math" panose="02040503050406030204" pitchFamily="18" charset="0"/>
                            </a:rPr>
                          </m:ctrlPr>
                        </m:sSubPr>
                        <m:e>
                          <m:r>
                            <a:rPr lang="en-GB" b="1" i="0" dirty="0" smtClean="0">
                              <a:solidFill>
                                <a:srgbClr val="FF0000"/>
                              </a:solidFill>
                              <a:latin typeface="Cambria Math" panose="02040503050406030204" pitchFamily="18" charset="0"/>
                            </a:rPr>
                            <m:t>𝐀</m:t>
                          </m:r>
                        </m:e>
                        <m:sub>
                          <m:r>
                            <a:rPr lang="en-GB" b="1" i="0" dirty="0" smtClean="0">
                              <a:solidFill>
                                <a:srgbClr val="FF0000"/>
                              </a:solidFill>
                              <a:latin typeface="Cambria Math" panose="02040503050406030204" pitchFamily="18" charset="0"/>
                            </a:rPr>
                            <m:t>𝐨</m:t>
                          </m:r>
                        </m:sub>
                      </m:sSub>
                      <m:r>
                        <a:rPr lang="en-GB" b="1" i="0" dirty="0">
                          <a:solidFill>
                            <a:srgbClr val="FF0000"/>
                          </a:solidFill>
                          <a:latin typeface="Cambria Math" panose="02040503050406030204" pitchFamily="18" charset="0"/>
                        </a:rPr>
                        <m:t> </m:t>
                      </m:r>
                    </m:oMath>
                  </m:oMathPara>
                </a14:m>
                <a:endParaRPr lang="en-GB" b="1" dirty="0"/>
              </a:p>
              <a:p>
                <a:pPr marL="0" indent="0">
                  <a:buNone/>
                </a:pPr>
                <a:r>
                  <a:rPr lang="en-GB" dirty="0"/>
                  <a:t>Where </a:t>
                </a:r>
              </a:p>
              <a:p>
                <a:pPr marL="0" indent="0">
                  <a:lnSpc>
                    <a:spcPct val="120000"/>
                  </a:lnSpc>
                  <a:buNone/>
                </a:pPr>
                <a:r>
                  <a:rPr lang="en-GB" b="1" dirty="0">
                    <a:solidFill>
                      <a:srgbClr val="FF0000"/>
                    </a:solidFill>
                  </a:rPr>
                  <a:t>F</a:t>
                </a:r>
                <a:r>
                  <a:rPr lang="en-GB" dirty="0"/>
                  <a:t> is load applied perpendicular to specimen’s cross-section; </a:t>
                </a:r>
              </a:p>
              <a:p>
                <a:pPr marL="0" indent="0">
                  <a:buNone/>
                </a:pPr>
                <a14:m>
                  <m:oMath xmlns:m="http://schemas.openxmlformats.org/officeDocument/2006/math">
                    <m:sSub>
                      <m:sSubPr>
                        <m:ctrlPr>
                          <a:rPr lang="en-GB" b="1" i="1" dirty="0">
                            <a:solidFill>
                              <a:srgbClr val="FF0000"/>
                            </a:solidFill>
                            <a:latin typeface="Cambria Math" panose="02040503050406030204" pitchFamily="18" charset="0"/>
                          </a:rPr>
                        </m:ctrlPr>
                      </m:sSubPr>
                      <m:e>
                        <m:r>
                          <a:rPr lang="en-GB" b="1" dirty="0">
                            <a:solidFill>
                              <a:srgbClr val="FF0000"/>
                            </a:solidFill>
                            <a:latin typeface="Cambria Math" panose="02040503050406030204" pitchFamily="18" charset="0"/>
                          </a:rPr>
                          <m:t>𝐀</m:t>
                        </m:r>
                      </m:e>
                      <m:sub>
                        <m:r>
                          <a:rPr lang="en-GB" b="1" dirty="0">
                            <a:solidFill>
                              <a:srgbClr val="FF0000"/>
                            </a:solidFill>
                            <a:latin typeface="Cambria Math" panose="02040503050406030204" pitchFamily="18" charset="0"/>
                          </a:rPr>
                          <m:t>𝐨</m:t>
                        </m:r>
                      </m:sub>
                    </m:sSub>
                  </m:oMath>
                </a14:m>
                <a:r>
                  <a:rPr lang="en-GB" dirty="0"/>
                  <a:t> is cross-sectional area before application of the load. </a:t>
                </a:r>
              </a:p>
              <a:p>
                <a:pPr marL="0" indent="0">
                  <a:buNone/>
                </a:pPr>
                <a:endParaRPr lang="en-GB" dirty="0"/>
              </a:p>
              <a:p>
                <a:pPr marL="0" indent="0">
                  <a:buNone/>
                </a:pPr>
                <a:r>
                  <a:rPr lang="en-GB" b="1" dirty="0">
                    <a:solidFill>
                      <a:srgbClr val="FF0000"/>
                    </a:solidFill>
                  </a:rPr>
                  <a:t>Engineering strain is given by</a:t>
                </a:r>
              </a:p>
              <a:p>
                <a:pPr marL="0" indent="0" algn="ctr">
                  <a:buNone/>
                </a:pPr>
                <a:r>
                  <a:rPr lang="en-GB" dirty="0"/>
                  <a:t> </a:t>
                </a:r>
                <a14:m>
                  <m:oMath xmlns:m="http://schemas.openxmlformats.org/officeDocument/2006/math">
                    <m:r>
                      <a:rPr lang="en-GB" b="1" i="1" dirty="0" smtClean="0">
                        <a:solidFill>
                          <a:srgbClr val="FF0000"/>
                        </a:solidFill>
                        <a:latin typeface="Cambria Math" panose="02040503050406030204" pitchFamily="18" charset="0"/>
                      </a:rPr>
                      <m:t>𝜺</m:t>
                    </m:r>
                    <m:r>
                      <a:rPr lang="en-GB" b="1" i="1" dirty="0" smtClean="0">
                        <a:solidFill>
                          <a:srgbClr val="FF0000"/>
                        </a:solidFill>
                        <a:latin typeface="Cambria Math" panose="02040503050406030204" pitchFamily="18" charset="0"/>
                      </a:rPr>
                      <m:t> = </m:t>
                    </m:r>
                    <m:r>
                      <a:rPr lang="en-GB" b="1" i="1" dirty="0" err="1">
                        <a:solidFill>
                          <a:srgbClr val="FF0000"/>
                        </a:solidFill>
                        <a:latin typeface="Cambria Math" panose="02040503050406030204" pitchFamily="18" charset="0"/>
                      </a:rPr>
                      <m:t>𝜟</m:t>
                    </m:r>
                    <m:r>
                      <a:rPr lang="en-GB" b="1" i="1" dirty="0" err="1">
                        <a:solidFill>
                          <a:srgbClr val="FF0000"/>
                        </a:solidFill>
                        <a:latin typeface="Cambria Math" panose="02040503050406030204" pitchFamily="18" charset="0"/>
                      </a:rPr>
                      <m:t>𝒍</m:t>
                    </m:r>
                    <m:r>
                      <a:rPr lang="en-GB" b="1" i="1" dirty="0">
                        <a:solidFill>
                          <a:srgbClr val="FF0000"/>
                        </a:solidFill>
                        <a:latin typeface="Cambria Math" panose="02040503050406030204" pitchFamily="18" charset="0"/>
                      </a:rPr>
                      <m:t> /</m:t>
                    </m:r>
                    <m:sSub>
                      <m:sSubPr>
                        <m:ctrlPr>
                          <a:rPr lang="en-GB" b="1" i="1" dirty="0">
                            <a:solidFill>
                              <a:srgbClr val="FF0000"/>
                            </a:solidFill>
                            <a:latin typeface="Cambria Math" panose="02040503050406030204" pitchFamily="18" charset="0"/>
                          </a:rPr>
                        </m:ctrlPr>
                      </m:sSubPr>
                      <m:e>
                        <m:r>
                          <a:rPr lang="en-GB" b="1" i="1" dirty="0" smtClean="0">
                            <a:solidFill>
                              <a:srgbClr val="FF0000"/>
                            </a:solidFill>
                            <a:latin typeface="Cambria Math" panose="02040503050406030204" pitchFamily="18" charset="0"/>
                          </a:rPr>
                          <m:t>𝒍</m:t>
                        </m:r>
                      </m:e>
                      <m:sub>
                        <m:r>
                          <a:rPr lang="en-GB" b="1" i="1" dirty="0">
                            <a:solidFill>
                              <a:srgbClr val="FF0000"/>
                            </a:solidFill>
                            <a:latin typeface="Cambria Math" panose="02040503050406030204" pitchFamily="18" charset="0"/>
                          </a:rPr>
                          <m:t>𝒐</m:t>
                        </m:r>
                      </m:sub>
                    </m:sSub>
                  </m:oMath>
                </a14:m>
                <a:r>
                  <a:rPr lang="en-GB" dirty="0"/>
                  <a:t> </a:t>
                </a:r>
                <a:r>
                  <a:rPr lang="en-GB" b="1" dirty="0">
                    <a:solidFill>
                      <a:srgbClr val="FF0000"/>
                    </a:solidFill>
                  </a:rPr>
                  <a:t>(× 100 %) </a:t>
                </a:r>
              </a:p>
              <a:p>
                <a:pPr marL="0" indent="0">
                  <a:buNone/>
                </a:pPr>
                <a:r>
                  <a:rPr lang="en-GB" dirty="0"/>
                  <a:t>Where </a:t>
                </a:r>
              </a:p>
              <a:p>
                <a:pPr marL="0" indent="0">
                  <a:lnSpc>
                    <a:spcPct val="120000"/>
                  </a:lnSpc>
                  <a:buNone/>
                </a:pPr>
                <a14:m>
                  <m:oMath xmlns:m="http://schemas.openxmlformats.org/officeDocument/2006/math">
                    <m:r>
                      <a:rPr lang="en-GB" b="1" i="0" dirty="0" smtClean="0">
                        <a:solidFill>
                          <a:srgbClr val="FF0000"/>
                        </a:solidFill>
                        <a:latin typeface="Cambria Math" panose="02040503050406030204" pitchFamily="18" charset="0"/>
                      </a:rPr>
                      <m:t>𝚫</m:t>
                    </m:r>
                    <m:r>
                      <a:rPr lang="en-GB" b="1" i="1" dirty="0" err="1" smtClean="0">
                        <a:solidFill>
                          <a:srgbClr val="FF0000"/>
                        </a:solidFill>
                        <a:latin typeface="Cambria Math" panose="02040503050406030204" pitchFamily="18" charset="0"/>
                      </a:rPr>
                      <m:t>𝒍</m:t>
                    </m:r>
                  </m:oMath>
                </a14:m>
                <a:r>
                  <a:rPr lang="en-GB" b="1" dirty="0">
                    <a:solidFill>
                      <a:srgbClr val="FF0000"/>
                    </a:solidFill>
                  </a:rPr>
                  <a:t> </a:t>
                </a:r>
                <a:r>
                  <a:rPr lang="en-GB" dirty="0"/>
                  <a:t>is change in length and </a:t>
                </a:r>
                <a14:m>
                  <m:oMath xmlns:m="http://schemas.openxmlformats.org/officeDocument/2006/math">
                    <m:sSub>
                      <m:sSubPr>
                        <m:ctrlPr>
                          <a:rPr lang="en-GB" b="1" i="1" dirty="0">
                            <a:solidFill>
                              <a:srgbClr val="FF0000"/>
                            </a:solidFill>
                            <a:latin typeface="Cambria Math" panose="02040503050406030204" pitchFamily="18" charset="0"/>
                          </a:rPr>
                        </m:ctrlPr>
                      </m:sSubPr>
                      <m:e>
                        <m:r>
                          <a:rPr lang="en-GB" b="1" i="1" dirty="0" smtClean="0">
                            <a:solidFill>
                              <a:srgbClr val="FF0000"/>
                            </a:solidFill>
                            <a:latin typeface="Cambria Math" panose="02040503050406030204" pitchFamily="18" charset="0"/>
                          </a:rPr>
                          <m:t>𝒍</m:t>
                        </m:r>
                      </m:e>
                      <m:sub>
                        <m:r>
                          <a:rPr lang="en-GB" b="1" dirty="0">
                            <a:solidFill>
                              <a:srgbClr val="FF0000"/>
                            </a:solidFill>
                            <a:latin typeface="Cambria Math" panose="02040503050406030204" pitchFamily="18" charset="0"/>
                          </a:rPr>
                          <m:t>𝐨</m:t>
                        </m:r>
                      </m:sub>
                    </m:sSub>
                  </m:oMath>
                </a14:m>
                <a:r>
                  <a:rPr lang="en-GB" dirty="0"/>
                  <a:t> is the original length. </a:t>
                </a:r>
              </a:p>
              <a:p>
                <a:r>
                  <a:rPr lang="en-GB" dirty="0"/>
                  <a:t>These definitions of stress and strain allow one to compare test results for specimens of different cross-sectional area </a:t>
                </a:r>
                <a14:m>
                  <m:oMath xmlns:m="http://schemas.openxmlformats.org/officeDocument/2006/math">
                    <m:sSub>
                      <m:sSubPr>
                        <m:ctrlPr>
                          <a:rPr lang="en-GB" b="1" i="1" dirty="0">
                            <a:solidFill>
                              <a:srgbClr val="FF0000"/>
                            </a:solidFill>
                            <a:latin typeface="Cambria Math" panose="02040503050406030204" pitchFamily="18" charset="0"/>
                          </a:rPr>
                        </m:ctrlPr>
                      </m:sSubPr>
                      <m:e>
                        <m:r>
                          <a:rPr lang="en-GB" b="1" dirty="0">
                            <a:solidFill>
                              <a:srgbClr val="FF0000"/>
                            </a:solidFill>
                            <a:latin typeface="Cambria Math" panose="02040503050406030204" pitchFamily="18" charset="0"/>
                          </a:rPr>
                          <m:t>𝐀</m:t>
                        </m:r>
                      </m:e>
                      <m:sub>
                        <m:r>
                          <a:rPr lang="en-GB" b="1" dirty="0">
                            <a:solidFill>
                              <a:srgbClr val="FF0000"/>
                            </a:solidFill>
                            <a:latin typeface="Cambria Math" panose="02040503050406030204" pitchFamily="18" charset="0"/>
                          </a:rPr>
                          <m:t>𝐨</m:t>
                        </m:r>
                      </m:sub>
                    </m:sSub>
                  </m:oMath>
                </a14:m>
                <a:r>
                  <a:rPr lang="en-GB" dirty="0"/>
                  <a:t> and of different length </a:t>
                </a:r>
                <a14:m>
                  <m:oMath xmlns:m="http://schemas.openxmlformats.org/officeDocument/2006/math">
                    <m:sSub>
                      <m:sSubPr>
                        <m:ctrlPr>
                          <a:rPr lang="en-GB" b="1" i="1" dirty="0">
                            <a:solidFill>
                              <a:srgbClr val="FF0000"/>
                            </a:solidFill>
                            <a:latin typeface="Cambria Math" panose="02040503050406030204" pitchFamily="18" charset="0"/>
                          </a:rPr>
                        </m:ctrlPr>
                      </m:sSubPr>
                      <m:e>
                        <m:r>
                          <a:rPr lang="en-GB" b="1" i="1" dirty="0" smtClean="0">
                            <a:solidFill>
                              <a:srgbClr val="FF0000"/>
                            </a:solidFill>
                            <a:latin typeface="Cambria Math" panose="02040503050406030204" pitchFamily="18" charset="0"/>
                          </a:rPr>
                          <m:t>𝒍</m:t>
                        </m:r>
                      </m:e>
                      <m:sub>
                        <m:r>
                          <a:rPr lang="en-GB" b="1" dirty="0">
                            <a:solidFill>
                              <a:srgbClr val="FF0000"/>
                            </a:solidFill>
                            <a:latin typeface="Cambria Math" panose="02040503050406030204" pitchFamily="18" charset="0"/>
                          </a:rPr>
                          <m:t>𝐨</m:t>
                        </m:r>
                      </m:sub>
                    </m:sSub>
                  </m:oMath>
                </a14:m>
                <a:r>
                  <a:rPr lang="en-GB" dirty="0"/>
                  <a:t>. </a:t>
                </a:r>
              </a:p>
              <a:p>
                <a:r>
                  <a:rPr lang="en-GB" dirty="0"/>
                  <a:t>Stress and strain are positive for tensile loads, negative for compressive loads</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xfrm>
                <a:off x="65031" y="1053982"/>
                <a:ext cx="9013937" cy="5238690"/>
              </a:xfrm>
              <a:blipFill rotWithShape="0">
                <a:blip r:embed="rId2"/>
                <a:stretch>
                  <a:fillRect l="-880" t="-1863" b="-349"/>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F4801FD5-11B4-DE43-ACA2-E85EEB9A6F9C}" type="slidenum">
              <a:rPr lang="en-US" smtClean="0"/>
              <a:pPr/>
              <a:t>16</a:t>
            </a:fld>
            <a:endParaRPr lang="en-US" dirty="0"/>
          </a:p>
        </p:txBody>
      </p:sp>
    </p:spTree>
    <p:extLst>
      <p:ext uri="{BB962C8B-B14F-4D97-AF65-F5344CB8AC3E}">
        <p14:creationId xmlns:p14="http://schemas.microsoft.com/office/powerpoint/2010/main" val="4172431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Shear and Strain (Shear and Torsion)</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a:xfrm>
                <a:off x="227071" y="1082117"/>
                <a:ext cx="8776252" cy="5025457"/>
              </a:xfrm>
            </p:spPr>
            <p:txBody>
              <a:bodyPr>
                <a:normAutofit/>
              </a:bodyPr>
              <a:lstStyle/>
              <a:p>
                <a:r>
                  <a:rPr lang="en-GB" b="1" dirty="0">
                    <a:solidFill>
                      <a:srgbClr val="FF0000"/>
                    </a:solidFill>
                  </a:rPr>
                  <a:t>Shear stress </a:t>
                </a:r>
                <a:r>
                  <a:rPr lang="en-GB" dirty="0"/>
                  <a:t>is given by </a:t>
                </a:r>
              </a:p>
              <a:p>
                <a:pPr marL="0" indent="0">
                  <a:buNone/>
                </a:pPr>
                <a14:m>
                  <m:oMathPara xmlns:m="http://schemas.openxmlformats.org/officeDocument/2006/math">
                    <m:oMathParaPr>
                      <m:jc m:val="centerGroup"/>
                    </m:oMathParaPr>
                    <m:oMath xmlns:m="http://schemas.openxmlformats.org/officeDocument/2006/math">
                      <m:r>
                        <a:rPr lang="en-GB" b="1" i="1" dirty="0" smtClean="0">
                          <a:solidFill>
                            <a:srgbClr val="FF0000"/>
                          </a:solidFill>
                          <a:latin typeface="Cambria Math" panose="02040503050406030204" pitchFamily="18" charset="0"/>
                        </a:rPr>
                        <m:t>𝝉</m:t>
                      </m:r>
                      <m:r>
                        <a:rPr lang="en-GB" b="1" i="1" dirty="0" smtClean="0">
                          <a:solidFill>
                            <a:srgbClr val="FF0000"/>
                          </a:solidFill>
                          <a:latin typeface="Cambria Math" panose="02040503050406030204" pitchFamily="18" charset="0"/>
                        </a:rPr>
                        <m:t> = </m:t>
                      </m:r>
                      <m:f>
                        <m:fPr>
                          <m:ctrlPr>
                            <a:rPr lang="en-GB" b="1" i="1" dirty="0" smtClean="0">
                              <a:solidFill>
                                <a:srgbClr val="FF0000"/>
                              </a:solidFill>
                              <a:latin typeface="Cambria Math" panose="02040503050406030204" pitchFamily="18" charset="0"/>
                            </a:rPr>
                          </m:ctrlPr>
                        </m:fPr>
                        <m:num>
                          <m:r>
                            <a:rPr lang="en-GB" b="1" i="1" dirty="0" smtClean="0">
                              <a:solidFill>
                                <a:srgbClr val="FF0000"/>
                              </a:solidFill>
                              <a:latin typeface="Cambria Math" panose="02040503050406030204" pitchFamily="18" charset="0"/>
                            </a:rPr>
                            <m:t>𝑭</m:t>
                          </m:r>
                        </m:num>
                        <m:den>
                          <m:sSub>
                            <m:sSubPr>
                              <m:ctrlPr>
                                <a:rPr lang="en-GB" b="1" i="1" dirty="0" smtClean="0">
                                  <a:solidFill>
                                    <a:srgbClr val="FF0000"/>
                                  </a:solidFill>
                                  <a:latin typeface="Cambria Math" panose="02040503050406030204" pitchFamily="18" charset="0"/>
                                </a:rPr>
                              </m:ctrlPr>
                            </m:sSubPr>
                            <m:e>
                              <m:r>
                                <a:rPr lang="en-GB" b="1" i="1" dirty="0" smtClean="0">
                                  <a:solidFill>
                                    <a:srgbClr val="FF0000"/>
                                  </a:solidFill>
                                  <a:latin typeface="Cambria Math" panose="02040503050406030204" pitchFamily="18" charset="0"/>
                                </a:rPr>
                                <m:t>𝑨</m:t>
                              </m:r>
                            </m:e>
                            <m:sub>
                              <m:r>
                                <a:rPr lang="en-GB" b="1" i="1" dirty="0" smtClean="0">
                                  <a:solidFill>
                                    <a:srgbClr val="FF0000"/>
                                  </a:solidFill>
                                  <a:latin typeface="Cambria Math" panose="02040503050406030204" pitchFamily="18" charset="0"/>
                                </a:rPr>
                                <m:t>𝒐</m:t>
                              </m:r>
                            </m:sub>
                          </m:sSub>
                        </m:den>
                      </m:f>
                      <m:r>
                        <a:rPr lang="en-GB" i="1" dirty="0">
                          <a:latin typeface="Cambria Math" panose="02040503050406030204" pitchFamily="18" charset="0"/>
                        </a:rPr>
                        <m:t> </m:t>
                      </m:r>
                    </m:oMath>
                  </m:oMathPara>
                </a14:m>
                <a:endParaRPr lang="en-GB" dirty="0"/>
              </a:p>
              <a:p>
                <a:pPr marL="0" indent="0">
                  <a:buNone/>
                </a:pPr>
                <a:r>
                  <a:rPr lang="en-GB" dirty="0"/>
                  <a:t>Where </a:t>
                </a:r>
                <a:r>
                  <a:rPr lang="en-GB" b="1" dirty="0">
                    <a:solidFill>
                      <a:srgbClr val="FF0000"/>
                    </a:solidFill>
                  </a:rPr>
                  <a:t>F</a:t>
                </a:r>
                <a:r>
                  <a:rPr lang="en-GB" dirty="0"/>
                  <a:t> is load applied parallel to the upper and lower faces each of which has an area </a:t>
                </a:r>
                <a14:m>
                  <m:oMath xmlns:m="http://schemas.openxmlformats.org/officeDocument/2006/math">
                    <m:sSub>
                      <m:sSubPr>
                        <m:ctrlPr>
                          <a:rPr lang="en-GB" b="1" i="1" dirty="0">
                            <a:solidFill>
                              <a:srgbClr val="FF0000"/>
                            </a:solidFill>
                            <a:latin typeface="Cambria Math" panose="02040503050406030204" pitchFamily="18" charset="0"/>
                          </a:rPr>
                        </m:ctrlPr>
                      </m:sSubPr>
                      <m:e>
                        <m:r>
                          <a:rPr lang="en-GB" b="1" i="1" dirty="0">
                            <a:solidFill>
                              <a:srgbClr val="FF0000"/>
                            </a:solidFill>
                            <a:latin typeface="Cambria Math" panose="02040503050406030204" pitchFamily="18" charset="0"/>
                          </a:rPr>
                          <m:t>𝑨</m:t>
                        </m:r>
                      </m:e>
                      <m:sub>
                        <m:r>
                          <a:rPr lang="en-GB" b="1" i="1" dirty="0">
                            <a:solidFill>
                              <a:srgbClr val="FF0000"/>
                            </a:solidFill>
                            <a:latin typeface="Cambria Math" panose="02040503050406030204" pitchFamily="18" charset="0"/>
                          </a:rPr>
                          <m:t>𝒐</m:t>
                        </m:r>
                      </m:sub>
                    </m:sSub>
                  </m:oMath>
                </a14:m>
                <a:r>
                  <a:rPr lang="en-GB" dirty="0"/>
                  <a:t>.</a:t>
                </a:r>
              </a:p>
              <a:p>
                <a:r>
                  <a:rPr lang="en-GB" b="1" dirty="0">
                    <a:solidFill>
                      <a:srgbClr val="FF0000"/>
                    </a:solidFill>
                  </a:rPr>
                  <a:t>Shear strain</a:t>
                </a:r>
                <a:r>
                  <a:rPr lang="en-GB" dirty="0"/>
                  <a:t> is given by </a:t>
                </a:r>
              </a:p>
              <a:p>
                <a:pPr marL="0" indent="0">
                  <a:buNone/>
                </a:pPr>
                <a14:m>
                  <m:oMathPara xmlns:m="http://schemas.openxmlformats.org/officeDocument/2006/math">
                    <m:oMathParaPr>
                      <m:jc m:val="centerGroup"/>
                    </m:oMathParaPr>
                    <m:oMath xmlns:m="http://schemas.openxmlformats.org/officeDocument/2006/math">
                      <m:r>
                        <a:rPr lang="en-GB" b="1" i="1" dirty="0" smtClean="0">
                          <a:solidFill>
                            <a:srgbClr val="FF0000"/>
                          </a:solidFill>
                          <a:latin typeface="Cambria Math" panose="02040503050406030204" pitchFamily="18" charset="0"/>
                        </a:rPr>
                        <m:t>𝜸</m:t>
                      </m:r>
                      <m:r>
                        <a:rPr lang="en-GB" b="1" i="1" dirty="0" smtClean="0">
                          <a:solidFill>
                            <a:srgbClr val="FF0000"/>
                          </a:solidFill>
                          <a:latin typeface="Cambria Math" panose="02040503050406030204" pitchFamily="18" charset="0"/>
                        </a:rPr>
                        <m:t> = </m:t>
                      </m:r>
                      <m:r>
                        <a:rPr lang="en-GB" b="1" i="1" dirty="0" err="1">
                          <a:solidFill>
                            <a:srgbClr val="FF0000"/>
                          </a:solidFill>
                          <a:latin typeface="Cambria Math" panose="02040503050406030204" pitchFamily="18" charset="0"/>
                        </a:rPr>
                        <m:t>𝒕𝒈</m:t>
                      </m:r>
                      <m:r>
                        <a:rPr lang="en-GB" b="1" i="1" dirty="0" err="1">
                          <a:solidFill>
                            <a:srgbClr val="FF0000"/>
                          </a:solidFill>
                          <a:latin typeface="Cambria Math" panose="02040503050406030204" pitchFamily="18" charset="0"/>
                        </a:rPr>
                        <m:t>𝜽</m:t>
                      </m:r>
                      <m:r>
                        <a:rPr lang="en-GB" b="1" i="1" dirty="0">
                          <a:solidFill>
                            <a:srgbClr val="FF0000"/>
                          </a:solidFill>
                          <a:latin typeface="Cambria Math" panose="02040503050406030204" pitchFamily="18" charset="0"/>
                        </a:rPr>
                        <m:t> (× </m:t>
                      </m:r>
                      <m:r>
                        <a:rPr lang="en-GB" b="1" i="1" dirty="0">
                          <a:solidFill>
                            <a:srgbClr val="FF0000"/>
                          </a:solidFill>
                          <a:latin typeface="Cambria Math" panose="02040503050406030204" pitchFamily="18" charset="0"/>
                        </a:rPr>
                        <m:t>𝟏𝟎𝟎</m:t>
                      </m:r>
                      <m:r>
                        <a:rPr lang="en-GB" b="1" i="1" dirty="0">
                          <a:solidFill>
                            <a:srgbClr val="FF0000"/>
                          </a:solidFill>
                          <a:latin typeface="Cambria Math" panose="02040503050406030204" pitchFamily="18" charset="0"/>
                        </a:rPr>
                        <m:t> %) </m:t>
                      </m:r>
                    </m:oMath>
                  </m:oMathPara>
                </a14:m>
                <a:endParaRPr lang="en-GB" b="1" dirty="0">
                  <a:solidFill>
                    <a:srgbClr val="FF0000"/>
                  </a:solidFill>
                </a:endParaRPr>
              </a:p>
              <a:p>
                <a:pPr marL="0" indent="0">
                  <a:buNone/>
                </a:pPr>
                <a:r>
                  <a:rPr lang="en-GB" dirty="0"/>
                  <a:t>Where </a:t>
                </a:r>
                <a:r>
                  <a:rPr lang="en-GB" b="1" dirty="0">
                    <a:solidFill>
                      <a:srgbClr val="FF0000"/>
                    </a:solidFill>
                  </a:rPr>
                  <a:t>θ</a:t>
                </a:r>
                <a:r>
                  <a:rPr lang="en-GB" dirty="0"/>
                  <a:t> is strain angle </a:t>
                </a:r>
              </a:p>
              <a:p>
                <a:pPr marL="0" indent="0">
                  <a:buNone/>
                </a:pPr>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xfrm>
                <a:off x="227071" y="1082117"/>
                <a:ext cx="8776252" cy="5025457"/>
              </a:xfrm>
              <a:blipFill>
                <a:blip r:embed="rId2"/>
                <a:stretch>
                  <a:fillRect l="-1389" t="-1335"/>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p:txBody>
          <a:bodyPr/>
          <a:lstStyle/>
          <a:p>
            <a:fld id="{F4801FD5-11B4-DE43-ACA2-E85EEB9A6F9C}" type="slidenum">
              <a:rPr lang="en-US" smtClean="0"/>
              <a:pPr/>
              <a:t>17</a:t>
            </a:fld>
            <a:endParaRPr lang="en-US" dirty="0"/>
          </a:p>
        </p:txBody>
      </p:sp>
    </p:spTree>
    <p:extLst>
      <p:ext uri="{BB962C8B-B14F-4D97-AF65-F5344CB8AC3E}">
        <p14:creationId xmlns:p14="http://schemas.microsoft.com/office/powerpoint/2010/main" val="8358634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Shear and Strain (Shear and Torsion)</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p:txBody>
              <a:bodyPr/>
              <a:lstStyle/>
              <a:p>
                <a:r>
                  <a:rPr lang="en-GB" b="1" dirty="0">
                    <a:solidFill>
                      <a:srgbClr val="FF0000"/>
                    </a:solidFill>
                  </a:rPr>
                  <a:t>Torsion</a:t>
                </a:r>
                <a:r>
                  <a:rPr lang="en-GB" dirty="0"/>
                  <a:t> is variation of pure shear. </a:t>
                </a:r>
              </a:p>
              <a:p>
                <a:r>
                  <a:rPr lang="en-GB" dirty="0"/>
                  <a:t>The shear stress in this case is a function of applied torque T,</a:t>
                </a:r>
              </a:p>
              <a:p>
                <a:r>
                  <a:rPr lang="en-GB" b="1" dirty="0">
                    <a:solidFill>
                      <a:srgbClr val="FF0000"/>
                    </a:solidFill>
                  </a:rPr>
                  <a:t>Shear strain </a:t>
                </a:r>
                <a:r>
                  <a:rPr lang="en-GB" dirty="0"/>
                  <a:t>is related to the angle of twist, </a:t>
                </a:r>
                <a14:m>
                  <m:oMath xmlns:m="http://schemas.openxmlformats.org/officeDocument/2006/math">
                    <m:r>
                      <a:rPr lang="en-GB" i="1" dirty="0">
                        <a:latin typeface="Cambria Math" panose="02040503050406030204" pitchFamily="18" charset="0"/>
                        <a:ea typeface="Cambria Math" panose="02040503050406030204" pitchFamily="18" charset="0"/>
                      </a:rPr>
                      <m:t>∅</m:t>
                    </m:r>
                  </m:oMath>
                </a14:m>
                <a:r>
                  <a:rPr lang="en-GB" dirty="0"/>
                  <a:t>.</a:t>
                </a:r>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blipFill rotWithShape="0">
                <a:blip r:embed="rId2"/>
                <a:stretch>
                  <a:fillRect l="-1292" t="-1214"/>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F4801FD5-11B4-DE43-ACA2-E85EEB9A6F9C}" type="slidenum">
              <a:rPr lang="en-US" smtClean="0"/>
              <a:pPr/>
              <a:t>18</a:t>
            </a:fld>
            <a:endParaRPr lang="en-US" dirty="0"/>
          </a:p>
        </p:txBody>
      </p:sp>
      <p:pic>
        <p:nvPicPr>
          <p:cNvPr id="5" name="Picture 4"/>
          <p:cNvPicPr>
            <a:picLocks noChangeAspect="1"/>
          </p:cNvPicPr>
          <p:nvPr/>
        </p:nvPicPr>
        <p:blipFill>
          <a:blip r:embed="rId3"/>
          <a:stretch>
            <a:fillRect/>
          </a:stretch>
        </p:blipFill>
        <p:spPr>
          <a:xfrm>
            <a:off x="2066566" y="3430301"/>
            <a:ext cx="5333040" cy="2747613"/>
          </a:xfrm>
          <a:prstGeom prst="rect">
            <a:avLst/>
          </a:prstGeom>
        </p:spPr>
      </p:pic>
    </p:spTree>
    <p:extLst>
      <p:ext uri="{BB962C8B-B14F-4D97-AF65-F5344CB8AC3E}">
        <p14:creationId xmlns:p14="http://schemas.microsoft.com/office/powerpoint/2010/main" val="4439517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Stress-Strain </a:t>
            </a:r>
            <a:r>
              <a:rPr lang="en-US" b="1" dirty="0" err="1"/>
              <a:t>Behaviour</a:t>
            </a:r>
            <a:endParaRPr lang="en-US" b="1" dirty="0"/>
          </a:p>
        </p:txBody>
      </p:sp>
      <p:sp>
        <p:nvSpPr>
          <p:cNvPr id="3" name="Content Placeholder 2"/>
          <p:cNvSpPr>
            <a:spLocks noGrp="1"/>
          </p:cNvSpPr>
          <p:nvPr>
            <p:ph sz="half" idx="1"/>
          </p:nvPr>
        </p:nvSpPr>
        <p:spPr>
          <a:xfrm>
            <a:off x="3699803" y="1152457"/>
            <a:ext cx="5268499" cy="5025457"/>
          </a:xfrm>
        </p:spPr>
        <p:txBody>
          <a:bodyPr>
            <a:normAutofit fontScale="92500" lnSpcReduction="10000"/>
          </a:bodyPr>
          <a:lstStyle/>
          <a:p>
            <a:pPr marL="0" indent="0" algn="just">
              <a:buNone/>
            </a:pPr>
            <a:r>
              <a:rPr lang="en-GB" b="1" dirty="0"/>
              <a:t>Elastic deformation </a:t>
            </a:r>
          </a:p>
          <a:p>
            <a:pPr algn="just"/>
            <a:r>
              <a:rPr lang="en-GB" dirty="0"/>
              <a:t>Reversible: when the stress is removed, the material returns to the dimensions it had before the loading. </a:t>
            </a:r>
          </a:p>
          <a:p>
            <a:pPr algn="just"/>
            <a:r>
              <a:rPr lang="en-GB" dirty="0"/>
              <a:t>Usually strains are small (except for the case of some plastics, e.g. rubber). </a:t>
            </a:r>
          </a:p>
          <a:p>
            <a:pPr algn="just"/>
            <a:endParaRPr lang="en-GB" dirty="0"/>
          </a:p>
          <a:p>
            <a:pPr marL="0" indent="0" algn="just">
              <a:buNone/>
            </a:pPr>
            <a:r>
              <a:rPr lang="en-GB" b="1" dirty="0"/>
              <a:t>Plastic deformation </a:t>
            </a:r>
          </a:p>
          <a:p>
            <a:pPr algn="just"/>
            <a:r>
              <a:rPr lang="en-GB" dirty="0"/>
              <a:t>Irreversible: when the stress is removed, the material does not return to its original dimensions.</a:t>
            </a:r>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19</a:t>
            </a:fld>
            <a:endParaRPr lang="en-US" dirty="0"/>
          </a:p>
        </p:txBody>
      </p:sp>
      <p:pic>
        <p:nvPicPr>
          <p:cNvPr id="6" name="Picture 5"/>
          <p:cNvPicPr>
            <a:picLocks noChangeAspect="1"/>
          </p:cNvPicPr>
          <p:nvPr/>
        </p:nvPicPr>
        <p:blipFill>
          <a:blip r:embed="rId2"/>
          <a:stretch>
            <a:fillRect/>
          </a:stretch>
        </p:blipFill>
        <p:spPr>
          <a:xfrm>
            <a:off x="367748" y="1152457"/>
            <a:ext cx="2978866" cy="5077898"/>
          </a:xfrm>
          <a:prstGeom prst="rect">
            <a:avLst/>
          </a:prstGeom>
        </p:spPr>
      </p:pic>
    </p:spTree>
    <p:extLst>
      <p:ext uri="{BB962C8B-B14F-4D97-AF65-F5344CB8AC3E}">
        <p14:creationId xmlns:p14="http://schemas.microsoft.com/office/powerpoint/2010/main" val="5565674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031" y="165169"/>
            <a:ext cx="8954238" cy="768971"/>
          </a:xfrm>
        </p:spPr>
        <p:txBody>
          <a:bodyPr/>
          <a:lstStyle/>
          <a:p>
            <a:r>
              <a:rPr lang="en-GB" sz="3500" b="1" dirty="0"/>
              <a:t>Stress-Strain Behaviour – Elastic Deformation</a:t>
            </a:r>
            <a:endParaRPr lang="en-US" sz="3500" b="1" dirty="0"/>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a:xfrm>
                <a:off x="109221" y="1093643"/>
                <a:ext cx="8910047" cy="5025457"/>
              </a:xfrm>
            </p:spPr>
            <p:txBody>
              <a:bodyPr>
                <a:normAutofit/>
              </a:bodyPr>
              <a:lstStyle/>
              <a:p>
                <a:r>
                  <a:rPr lang="en-GB" sz="2200" dirty="0"/>
                  <a:t>In tensile tests, if the deformation is elastic, the stress-strain relationship is called Hooke's law and is given by</a:t>
                </a:r>
              </a:p>
              <a:p>
                <a:pPr marL="0" indent="0" algn="ctr">
                  <a:buNone/>
                </a:pPr>
                <a14:m>
                  <m:oMathPara xmlns:m="http://schemas.openxmlformats.org/officeDocument/2006/math">
                    <m:oMathParaPr>
                      <m:jc m:val="centerGroup"/>
                    </m:oMathParaPr>
                    <m:oMath xmlns:m="http://schemas.openxmlformats.org/officeDocument/2006/math">
                      <m:r>
                        <a:rPr lang="el-GR" sz="2200" b="1" i="1" dirty="0" smtClean="0">
                          <a:solidFill>
                            <a:srgbClr val="FF0000"/>
                          </a:solidFill>
                          <a:latin typeface="Cambria Math" panose="02040503050406030204" pitchFamily="18" charset="0"/>
                        </a:rPr>
                        <m:t>𝝈</m:t>
                      </m:r>
                      <m:r>
                        <a:rPr lang="el-GR" sz="2200" b="1" i="1" dirty="0" smtClean="0">
                          <a:solidFill>
                            <a:srgbClr val="FF0000"/>
                          </a:solidFill>
                          <a:latin typeface="Cambria Math" panose="02040503050406030204" pitchFamily="18" charset="0"/>
                        </a:rPr>
                        <m:t> = </m:t>
                      </m:r>
                      <m:r>
                        <a:rPr lang="en-US" sz="2200" b="1" i="1" dirty="0">
                          <a:solidFill>
                            <a:srgbClr val="FF0000"/>
                          </a:solidFill>
                          <a:latin typeface="Cambria Math" panose="02040503050406030204" pitchFamily="18" charset="0"/>
                        </a:rPr>
                        <m:t>𝑬</m:t>
                      </m:r>
                      <m:r>
                        <a:rPr lang="en-US" sz="2200" b="1" i="1" dirty="0">
                          <a:solidFill>
                            <a:srgbClr val="FF0000"/>
                          </a:solidFill>
                          <a:latin typeface="Cambria Math" panose="02040503050406030204" pitchFamily="18" charset="0"/>
                        </a:rPr>
                        <m:t> </m:t>
                      </m:r>
                      <m:r>
                        <a:rPr lang="el-GR" sz="2200" b="1" i="1" dirty="0">
                          <a:solidFill>
                            <a:srgbClr val="FF0000"/>
                          </a:solidFill>
                          <a:latin typeface="Cambria Math" panose="02040503050406030204" pitchFamily="18" charset="0"/>
                        </a:rPr>
                        <m:t>𝜺</m:t>
                      </m:r>
                    </m:oMath>
                  </m:oMathPara>
                </a14:m>
                <a:endParaRPr lang="en-US" sz="2200" b="1" dirty="0">
                  <a:solidFill>
                    <a:srgbClr val="FF0000"/>
                  </a:solidFill>
                </a:endParaRPr>
              </a:p>
              <a:p>
                <a:pPr algn="just"/>
                <a:r>
                  <a:rPr lang="en-GB" sz="2200" b="1" dirty="0">
                    <a:solidFill>
                      <a:srgbClr val="FF0000"/>
                    </a:solidFill>
                  </a:rPr>
                  <a:t>E</a:t>
                </a:r>
                <a:r>
                  <a:rPr lang="en-GB" sz="2200" dirty="0"/>
                  <a:t> is Young's modulus or modulus of elasticity, and has the same units as σ, </a:t>
                </a:r>
                <a14:m>
                  <m:oMath xmlns:m="http://schemas.openxmlformats.org/officeDocument/2006/math">
                    <m:r>
                      <a:rPr lang="en-GB" sz="2200" i="1" dirty="0" smtClean="0">
                        <a:latin typeface="Cambria Math" panose="02040503050406030204" pitchFamily="18" charset="0"/>
                      </a:rPr>
                      <m:t>𝑁</m:t>
                    </m:r>
                    <m:r>
                      <a:rPr lang="en-GB" sz="2200" i="1" dirty="0" smtClean="0">
                        <a:latin typeface="Cambria Math" panose="02040503050406030204" pitchFamily="18" charset="0"/>
                      </a:rPr>
                      <m:t>/</m:t>
                    </m:r>
                    <m:sSup>
                      <m:sSupPr>
                        <m:ctrlPr>
                          <a:rPr lang="en-GB" sz="2200" i="1" dirty="0" smtClean="0">
                            <a:latin typeface="Cambria Math" panose="02040503050406030204" pitchFamily="18" charset="0"/>
                          </a:rPr>
                        </m:ctrlPr>
                      </m:sSupPr>
                      <m:e>
                        <m:r>
                          <a:rPr lang="en-GB" sz="2200" b="0" i="1" dirty="0" smtClean="0">
                            <a:latin typeface="Cambria Math" panose="02040503050406030204" pitchFamily="18" charset="0"/>
                          </a:rPr>
                          <m:t>𝑚</m:t>
                        </m:r>
                      </m:e>
                      <m:sup>
                        <m:r>
                          <a:rPr lang="en-GB" sz="2200" b="0" i="1" dirty="0" smtClean="0">
                            <a:latin typeface="Cambria Math" panose="02040503050406030204" pitchFamily="18" charset="0"/>
                          </a:rPr>
                          <m:t>2</m:t>
                        </m:r>
                      </m:sup>
                    </m:sSup>
                  </m:oMath>
                </a14:m>
                <a:r>
                  <a:rPr lang="en-GB" sz="2200" dirty="0"/>
                  <a:t>or Pa. </a:t>
                </a:r>
              </a:p>
              <a:p>
                <a:pPr algn="just"/>
                <a:r>
                  <a:rPr lang="en-US" sz="2200" dirty="0"/>
                  <a:t>Higher </a:t>
                </a:r>
                <a:r>
                  <a:rPr lang="en-US" sz="2200" b="1" dirty="0">
                    <a:solidFill>
                      <a:srgbClr val="FF0000"/>
                    </a:solidFill>
                  </a:rPr>
                  <a:t>E</a:t>
                </a:r>
                <a:r>
                  <a:rPr lang="en-US" sz="2200" dirty="0"/>
                  <a:t> → higher “stiffness”</a:t>
                </a:r>
              </a:p>
              <a:p>
                <a:pPr algn="just"/>
                <a:r>
                  <a:rPr lang="en-GB" sz="2200" dirty="0"/>
                  <a:t>Deformation in which stress and strain are proportional is called elastic deformation</a:t>
                </a:r>
                <a:endParaRPr lang="en-US" sz="2200" b="1" dirty="0">
                  <a:solidFill>
                    <a:srgbClr val="FF000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xfrm>
                <a:off x="109221" y="1093643"/>
                <a:ext cx="8910047" cy="5025457"/>
              </a:xfrm>
              <a:blipFill rotWithShape="0">
                <a:blip r:embed="rId2"/>
                <a:stretch>
                  <a:fillRect l="-821" t="-727" r="-889"/>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F4801FD5-11B4-DE43-ACA2-E85EEB9A6F9C}" type="slidenum">
              <a:rPr lang="en-US" smtClean="0"/>
              <a:pPr/>
              <a:t>20</a:t>
            </a:fld>
            <a:endParaRPr lang="en-US" dirty="0"/>
          </a:p>
        </p:txBody>
      </p:sp>
      <p:pic>
        <p:nvPicPr>
          <p:cNvPr id="6" name="Picture 5"/>
          <p:cNvPicPr>
            <a:picLocks noChangeAspect="1"/>
          </p:cNvPicPr>
          <p:nvPr/>
        </p:nvPicPr>
        <p:blipFill>
          <a:blip r:embed="rId3"/>
          <a:stretch>
            <a:fillRect/>
          </a:stretch>
        </p:blipFill>
        <p:spPr>
          <a:xfrm>
            <a:off x="3854548" y="3821168"/>
            <a:ext cx="2435028" cy="2457436"/>
          </a:xfrm>
          <a:prstGeom prst="rect">
            <a:avLst/>
          </a:prstGeom>
        </p:spPr>
      </p:pic>
    </p:spTree>
    <p:extLst>
      <p:ext uri="{BB962C8B-B14F-4D97-AF65-F5344CB8AC3E}">
        <p14:creationId xmlns:p14="http://schemas.microsoft.com/office/powerpoint/2010/main" val="41850202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031" y="195126"/>
            <a:ext cx="9078970" cy="768971"/>
          </a:xfrm>
        </p:spPr>
        <p:txBody>
          <a:bodyPr/>
          <a:lstStyle/>
          <a:p>
            <a:r>
              <a:rPr lang="en-GB" sz="3300" b="1" dirty="0"/>
              <a:t>Elastic Deformation: Nonlinear Elastic Behaviour</a:t>
            </a:r>
            <a:endParaRPr lang="en-US" sz="3300" b="1" dirty="0"/>
          </a:p>
        </p:txBody>
      </p:sp>
      <p:sp>
        <p:nvSpPr>
          <p:cNvPr id="3" name="Content Placeholder 2"/>
          <p:cNvSpPr>
            <a:spLocks noGrp="1"/>
          </p:cNvSpPr>
          <p:nvPr>
            <p:ph sz="half" idx="1"/>
          </p:nvPr>
        </p:nvSpPr>
        <p:spPr>
          <a:xfrm>
            <a:off x="367748" y="1025845"/>
            <a:ext cx="8488016" cy="5025457"/>
          </a:xfrm>
        </p:spPr>
        <p:txBody>
          <a:bodyPr/>
          <a:lstStyle/>
          <a:p>
            <a:r>
              <a:rPr lang="en-GB" dirty="0"/>
              <a:t>Elastic deformation is non linear but still reversible in some materials such as polymers and concrete.</a:t>
            </a:r>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21</a:t>
            </a:fld>
            <a:endParaRPr lang="en-US" dirty="0"/>
          </a:p>
        </p:txBody>
      </p:sp>
      <p:pic>
        <p:nvPicPr>
          <p:cNvPr id="5" name="Picture 4"/>
          <p:cNvPicPr>
            <a:picLocks noChangeAspect="1"/>
          </p:cNvPicPr>
          <p:nvPr/>
        </p:nvPicPr>
        <p:blipFill>
          <a:blip r:embed="rId2"/>
          <a:stretch>
            <a:fillRect/>
          </a:stretch>
        </p:blipFill>
        <p:spPr>
          <a:xfrm>
            <a:off x="2023241" y="1897104"/>
            <a:ext cx="5162550" cy="4381500"/>
          </a:xfrm>
          <a:prstGeom prst="rect">
            <a:avLst/>
          </a:prstGeom>
        </p:spPr>
      </p:pic>
    </p:spTree>
    <p:extLst>
      <p:ext uri="{BB962C8B-B14F-4D97-AF65-F5344CB8AC3E}">
        <p14:creationId xmlns:p14="http://schemas.microsoft.com/office/powerpoint/2010/main" val="34890114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Elastic Deformation</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p:txBody>
              <a:bodyPr/>
              <a:lstStyle/>
              <a:p>
                <a:r>
                  <a:rPr lang="en-GB" dirty="0"/>
                  <a:t>For elastic deformation, the relationship between shear stress and shear strain are related by </a:t>
                </a:r>
              </a:p>
              <a:p>
                <a:pPr marL="0" indent="0">
                  <a:spcBef>
                    <a:spcPts val="0"/>
                  </a:spcBef>
                  <a:buNone/>
                </a:pPr>
                <a:endParaRPr lang="en-US" b="1" i="1" dirty="0">
                  <a:solidFill>
                    <a:srgbClr val="FF0000"/>
                  </a:solidFill>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ea typeface="Cambria Math" panose="02040503050406030204" pitchFamily="18" charset="0"/>
                        </a:rPr>
                        <m:t>𝝉</m:t>
                      </m:r>
                      <m:r>
                        <a:rPr lang="en-GB" b="1" i="1" smtClean="0">
                          <a:solidFill>
                            <a:srgbClr val="FF0000"/>
                          </a:solidFill>
                          <a:latin typeface="Cambria Math" panose="02040503050406030204" pitchFamily="18" charset="0"/>
                          <a:ea typeface="Cambria Math" panose="02040503050406030204" pitchFamily="18" charset="0"/>
                        </a:rPr>
                        <m:t>=</m:t>
                      </m:r>
                      <m:r>
                        <a:rPr lang="en-GB" b="1" i="1" smtClean="0">
                          <a:solidFill>
                            <a:srgbClr val="FF0000"/>
                          </a:solidFill>
                          <a:latin typeface="Cambria Math" panose="02040503050406030204" pitchFamily="18" charset="0"/>
                          <a:ea typeface="Cambria Math" panose="02040503050406030204" pitchFamily="18" charset="0"/>
                        </a:rPr>
                        <m:t>𝑮</m:t>
                      </m:r>
                      <m:r>
                        <a:rPr lang="en-GB" b="1" i="1" smtClean="0">
                          <a:solidFill>
                            <a:srgbClr val="FF0000"/>
                          </a:solidFill>
                          <a:latin typeface="Cambria Math" panose="02040503050406030204" pitchFamily="18" charset="0"/>
                          <a:ea typeface="Cambria Math" panose="02040503050406030204" pitchFamily="18" charset="0"/>
                        </a:rPr>
                        <m:t>𝜸</m:t>
                      </m:r>
                    </m:oMath>
                  </m:oMathPara>
                </a14:m>
                <a:endParaRPr lang="en-US" b="1" dirty="0">
                  <a:solidFill>
                    <a:srgbClr val="FF0000"/>
                  </a:solidFill>
                </a:endParaRPr>
              </a:p>
              <a:p>
                <a:pPr marL="0" indent="0">
                  <a:buNone/>
                </a:pPr>
                <a:r>
                  <a:rPr lang="en-GB" dirty="0"/>
                  <a:t>where </a:t>
                </a:r>
                <a:r>
                  <a:rPr lang="en-GB" b="1" dirty="0">
                    <a:solidFill>
                      <a:srgbClr val="C00000"/>
                    </a:solidFill>
                  </a:rPr>
                  <a:t>G</a:t>
                </a:r>
                <a:r>
                  <a:rPr lang="en-GB" dirty="0"/>
                  <a:t> is the shear modulus.</a:t>
                </a:r>
              </a:p>
              <a:p>
                <a:pPr marL="0" indent="0">
                  <a:buNone/>
                </a:pPr>
                <a:endParaRPr lang="en-GB" dirty="0"/>
              </a:p>
              <a:p>
                <a:r>
                  <a:rPr lang="en-GB" dirty="0"/>
                  <a:t>The shear modulus is the slope of the linear elastic region of the shear stress–strain curve</a:t>
                </a:r>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blipFill rotWithShape="0">
                <a:blip r:embed="rId2"/>
                <a:stretch>
                  <a:fillRect l="-1436" t="-1214" r="-2369"/>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F4801FD5-11B4-DE43-ACA2-E85EEB9A6F9C}" type="slidenum">
              <a:rPr lang="en-US" smtClean="0"/>
              <a:pPr/>
              <a:t>22</a:t>
            </a:fld>
            <a:endParaRPr lang="en-US" dirty="0"/>
          </a:p>
        </p:txBody>
      </p:sp>
    </p:spTree>
    <p:extLst>
      <p:ext uri="{BB962C8B-B14F-4D97-AF65-F5344CB8AC3E}">
        <p14:creationId xmlns:p14="http://schemas.microsoft.com/office/powerpoint/2010/main" val="32111951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Elastic Deformation: </a:t>
            </a:r>
            <a:r>
              <a:rPr lang="en-US" b="1" dirty="0" err="1">
                <a:solidFill>
                  <a:srgbClr val="C00000"/>
                </a:solidFill>
              </a:rPr>
              <a:t>Anelasticity</a:t>
            </a:r>
            <a:endParaRPr lang="en-US" b="1" dirty="0">
              <a:solidFill>
                <a:srgbClr val="C00000"/>
              </a:solidFill>
            </a:endParaRPr>
          </a:p>
        </p:txBody>
      </p:sp>
      <p:sp>
        <p:nvSpPr>
          <p:cNvPr id="3" name="Content Placeholder 2"/>
          <p:cNvSpPr>
            <a:spLocks noGrp="1"/>
          </p:cNvSpPr>
          <p:nvPr>
            <p:ph sz="half" idx="1"/>
          </p:nvPr>
        </p:nvSpPr>
        <p:spPr>
          <a:xfrm>
            <a:off x="207698" y="1152457"/>
            <a:ext cx="8635575" cy="5025457"/>
          </a:xfrm>
        </p:spPr>
        <p:txBody>
          <a:bodyPr/>
          <a:lstStyle/>
          <a:p>
            <a:pPr algn="just"/>
            <a:r>
              <a:rPr lang="en-GB" dirty="0"/>
              <a:t>So far we have assumed that elastic deformation is time independent (i.e. applied stress produces instantaneous elastic strain) </a:t>
            </a:r>
          </a:p>
          <a:p>
            <a:pPr algn="just"/>
            <a:r>
              <a:rPr lang="en-GB" dirty="0"/>
              <a:t>However, in reality elastic deformation takes time - continues after initial loading, and after load release. </a:t>
            </a:r>
          </a:p>
          <a:p>
            <a:pPr algn="just"/>
            <a:r>
              <a:rPr lang="en-GB" dirty="0"/>
              <a:t>This time dependent elastic behaviour is known as </a:t>
            </a:r>
            <a:r>
              <a:rPr lang="en-GB" b="1" dirty="0" err="1">
                <a:solidFill>
                  <a:srgbClr val="C00000"/>
                </a:solidFill>
              </a:rPr>
              <a:t>anelasticity</a:t>
            </a:r>
            <a:r>
              <a:rPr lang="en-GB" b="1" dirty="0">
                <a:solidFill>
                  <a:srgbClr val="C00000"/>
                </a:solidFill>
              </a:rPr>
              <a:t>.</a:t>
            </a:r>
          </a:p>
          <a:p>
            <a:pPr algn="just"/>
            <a:r>
              <a:rPr lang="en-GB" dirty="0"/>
              <a:t>The effect is normally small for metals but can be significant for polymers (“</a:t>
            </a:r>
            <a:r>
              <a:rPr lang="en-GB" dirty="0" err="1"/>
              <a:t>visco</a:t>
            </a:r>
            <a:r>
              <a:rPr lang="en-GB" dirty="0"/>
              <a:t>-elastic </a:t>
            </a:r>
            <a:r>
              <a:rPr lang="en-GB" dirty="0" err="1"/>
              <a:t>behavior</a:t>
            </a:r>
            <a:r>
              <a:rPr lang="en-GB" dirty="0"/>
              <a:t>”).</a:t>
            </a:r>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23</a:t>
            </a:fld>
            <a:endParaRPr lang="en-US" dirty="0"/>
          </a:p>
        </p:txBody>
      </p:sp>
    </p:spTree>
    <p:extLst>
      <p:ext uri="{BB962C8B-B14F-4D97-AF65-F5344CB8AC3E}">
        <p14:creationId xmlns:p14="http://schemas.microsoft.com/office/powerpoint/2010/main" val="10415671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Elastic Deformation – Poisson’s Ratio</a:t>
            </a:r>
            <a:endParaRPr lang="en-US" b="1" dirty="0"/>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a:xfrm>
                <a:off x="65031" y="1039913"/>
                <a:ext cx="8952360" cy="5238691"/>
              </a:xfrm>
            </p:spPr>
            <p:txBody>
              <a:bodyPr>
                <a:normAutofit lnSpcReduction="10000"/>
              </a:bodyPr>
              <a:lstStyle/>
              <a:p>
                <a:r>
                  <a:rPr lang="en-GB" dirty="0"/>
                  <a:t>Materials subject to tension shrink laterally. Those subject to compression, bulge. </a:t>
                </a:r>
              </a:p>
              <a:p>
                <a:r>
                  <a:rPr lang="en-GB" dirty="0"/>
                  <a:t>The ratio of lateral and axial strains is called the </a:t>
                </a:r>
                <a:r>
                  <a:rPr lang="en-GB" b="1" dirty="0">
                    <a:solidFill>
                      <a:srgbClr val="FF0000"/>
                    </a:solidFill>
                  </a:rPr>
                  <a:t>Poisson's ratio υ</a:t>
                </a:r>
                <a:r>
                  <a:rPr lang="en-GB" dirty="0"/>
                  <a:t>. </a:t>
                </a:r>
              </a:p>
              <a:p>
                <a:endParaRPr lang="en-GB" dirty="0"/>
              </a:p>
              <a:p>
                <a:endParaRPr lang="en-GB" dirty="0"/>
              </a:p>
              <a:p>
                <a:r>
                  <a:rPr lang="en-GB" dirty="0"/>
                  <a:t>Sign in the above equations shows that </a:t>
                </a:r>
              </a:p>
              <a:p>
                <a:pPr marL="0" indent="0">
                  <a:buNone/>
                </a:pPr>
                <a:r>
                  <a:rPr lang="en-GB" dirty="0"/>
                  <a:t>    lateral strain is in opposite sense to </a:t>
                </a:r>
              </a:p>
              <a:p>
                <a:pPr marL="0" indent="0">
                  <a:buNone/>
                </a:pPr>
                <a:r>
                  <a:rPr lang="en-GB" dirty="0"/>
                  <a:t>    longitudinal strain</a:t>
                </a:r>
              </a:p>
              <a:p>
                <a:r>
                  <a:rPr lang="en-US" dirty="0"/>
                  <a:t>Maximum value of </a:t>
                </a:r>
                <a14:m>
                  <m:oMath xmlns:m="http://schemas.openxmlformats.org/officeDocument/2006/math">
                    <m:r>
                      <a:rPr lang="en-US" i="1" smtClean="0">
                        <a:latin typeface="Cambria Math" panose="02040503050406030204" pitchFamily="18" charset="0"/>
                        <a:ea typeface="Cambria Math" panose="02040503050406030204" pitchFamily="18" charset="0"/>
                      </a:rPr>
                      <m:t>𝜈</m:t>
                    </m:r>
                  </m:oMath>
                </a14:m>
                <a:r>
                  <a:rPr lang="en-US" dirty="0"/>
                  <a:t> is 0.50.</a:t>
                </a:r>
              </a:p>
              <a:p>
                <a:r>
                  <a:rPr lang="en-GB" dirty="0"/>
                  <a:t>For isotropic materials </a:t>
                </a:r>
                <a:r>
                  <a:rPr lang="en-US" b="1" dirty="0">
                    <a:solidFill>
                      <a:srgbClr val="FF0000"/>
                    </a:solidFill>
                  </a:rPr>
                  <a:t>E = 2G(1+</a:t>
                </a:r>
                <a:r>
                  <a:rPr lang="el-GR" b="1" dirty="0">
                    <a:solidFill>
                      <a:srgbClr val="FF0000"/>
                    </a:solidFill>
                  </a:rPr>
                  <a:t>υ) </a:t>
                </a:r>
                <a:endParaRPr lang="en-GB" b="1" dirty="0">
                  <a:solidFill>
                    <a:srgbClr val="FF000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xfrm>
                <a:off x="65031" y="1039913"/>
                <a:ext cx="8952360" cy="5238691"/>
              </a:xfrm>
              <a:blipFill rotWithShape="0">
                <a:blip r:embed="rId2"/>
                <a:stretch>
                  <a:fillRect l="-1226" t="-2095" r="-749"/>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F4801FD5-11B4-DE43-ACA2-E85EEB9A6F9C}" type="slidenum">
              <a:rPr lang="en-US" smtClean="0"/>
              <a:pPr/>
              <a:t>24</a:t>
            </a:fld>
            <a:endParaRPr lang="en-US" dirty="0"/>
          </a:p>
        </p:txBody>
      </p:sp>
      <p:pic>
        <p:nvPicPr>
          <p:cNvPr id="5" name="Picture 4"/>
          <p:cNvPicPr>
            <a:picLocks noChangeAspect="1"/>
          </p:cNvPicPr>
          <p:nvPr/>
        </p:nvPicPr>
        <p:blipFill>
          <a:blip r:embed="rId3"/>
          <a:stretch>
            <a:fillRect/>
          </a:stretch>
        </p:blipFill>
        <p:spPr>
          <a:xfrm>
            <a:off x="5830906" y="2587510"/>
            <a:ext cx="3186485" cy="3450115"/>
          </a:xfrm>
          <a:prstGeom prst="rect">
            <a:avLst/>
          </a:prstGeom>
        </p:spPr>
      </p:pic>
      <p:pic>
        <p:nvPicPr>
          <p:cNvPr id="6" name="Picture 5"/>
          <p:cNvPicPr>
            <a:picLocks noChangeAspect="1"/>
          </p:cNvPicPr>
          <p:nvPr/>
        </p:nvPicPr>
        <p:blipFill>
          <a:blip r:embed="rId4"/>
          <a:stretch>
            <a:fillRect/>
          </a:stretch>
        </p:blipFill>
        <p:spPr>
          <a:xfrm>
            <a:off x="2956616" y="2461030"/>
            <a:ext cx="2712663" cy="1227714"/>
          </a:xfrm>
          <a:prstGeom prst="rect">
            <a:avLst/>
          </a:prstGeom>
        </p:spPr>
      </p:pic>
    </p:spTree>
    <p:extLst>
      <p:ext uri="{BB962C8B-B14F-4D97-AF65-F5344CB8AC3E}">
        <p14:creationId xmlns:p14="http://schemas.microsoft.com/office/powerpoint/2010/main" val="7766623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575" y="195126"/>
            <a:ext cx="8790733" cy="768971"/>
          </a:xfrm>
        </p:spPr>
        <p:txBody>
          <a:bodyPr/>
          <a:lstStyle/>
          <a:p>
            <a:r>
              <a:rPr lang="en-GB" sz="3500" b="1" dirty="0"/>
              <a:t>Plastic Deformation (Stress-strain Behaviour)</a:t>
            </a:r>
            <a:endParaRPr lang="en-US" sz="3500" dirty="0"/>
          </a:p>
        </p:txBody>
      </p:sp>
      <p:sp>
        <p:nvSpPr>
          <p:cNvPr id="3" name="Content Placeholder 2"/>
          <p:cNvSpPr>
            <a:spLocks noGrp="1"/>
          </p:cNvSpPr>
          <p:nvPr>
            <p:ph sz="half" idx="1"/>
          </p:nvPr>
        </p:nvSpPr>
        <p:spPr>
          <a:xfrm>
            <a:off x="135371" y="1039913"/>
            <a:ext cx="8790733" cy="5025457"/>
          </a:xfrm>
        </p:spPr>
        <p:txBody>
          <a:bodyPr>
            <a:normAutofit/>
          </a:bodyPr>
          <a:lstStyle/>
          <a:p>
            <a:r>
              <a:rPr lang="en-GB" dirty="0"/>
              <a:t>For most metallic materials, elastic deformation persists only to strains of about 0.005. </a:t>
            </a:r>
          </a:p>
          <a:p>
            <a:r>
              <a:rPr lang="en-GB" dirty="0"/>
              <a:t>As the material is deformed beyond this point, the stress is no longer proportional to strain, and permanent, non-recoverable, or </a:t>
            </a:r>
            <a:r>
              <a:rPr lang="en-GB" b="1" dirty="0">
                <a:solidFill>
                  <a:srgbClr val="FF0000"/>
                </a:solidFill>
              </a:rPr>
              <a:t>plastic deformation </a:t>
            </a:r>
            <a:r>
              <a:rPr lang="en-GB" dirty="0"/>
              <a:t>occurs. </a:t>
            </a:r>
          </a:p>
          <a:p>
            <a:r>
              <a:rPr lang="en-GB" dirty="0"/>
              <a:t>The transition from elastic to plastic is a gradual process for most metals.</a:t>
            </a:r>
          </a:p>
          <a:p>
            <a:r>
              <a:rPr lang="en-GB" dirty="0"/>
              <a:t>Some curvature results at the onset of plastic deformation, which increases more rapidly with rising stress.</a:t>
            </a:r>
          </a:p>
        </p:txBody>
      </p:sp>
      <p:sp>
        <p:nvSpPr>
          <p:cNvPr id="4" name="Slide Number Placeholder 3"/>
          <p:cNvSpPr>
            <a:spLocks noGrp="1"/>
          </p:cNvSpPr>
          <p:nvPr>
            <p:ph type="sldNum" sz="quarter" idx="12"/>
          </p:nvPr>
        </p:nvSpPr>
        <p:spPr/>
        <p:txBody>
          <a:bodyPr/>
          <a:lstStyle/>
          <a:p>
            <a:fld id="{F4801FD5-11B4-DE43-ACA2-E85EEB9A6F9C}" type="slidenum">
              <a:rPr lang="en-US" smtClean="0"/>
              <a:pPr/>
              <a:t>25</a:t>
            </a:fld>
            <a:endParaRPr lang="en-US" dirty="0"/>
          </a:p>
        </p:txBody>
      </p:sp>
    </p:spTree>
    <p:extLst>
      <p:ext uri="{BB962C8B-B14F-4D97-AF65-F5344CB8AC3E}">
        <p14:creationId xmlns:p14="http://schemas.microsoft.com/office/powerpoint/2010/main" val="9477242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1136" y="195126"/>
            <a:ext cx="8776252" cy="768971"/>
          </a:xfrm>
        </p:spPr>
        <p:txBody>
          <a:bodyPr/>
          <a:lstStyle/>
          <a:p>
            <a:r>
              <a:rPr lang="en-GB" sz="3500" b="1" dirty="0"/>
              <a:t>Plastic Deformation (Stress-strain Behaviour)</a:t>
            </a:r>
            <a:endParaRPr lang="en-US" sz="3500" dirty="0"/>
          </a:p>
        </p:txBody>
      </p:sp>
      <p:sp>
        <p:nvSpPr>
          <p:cNvPr id="3" name="Content Placeholder 2"/>
          <p:cNvSpPr>
            <a:spLocks noGrp="1"/>
          </p:cNvSpPr>
          <p:nvPr>
            <p:ph sz="half" idx="1"/>
          </p:nvPr>
        </p:nvSpPr>
        <p:spPr>
          <a:xfrm>
            <a:off x="71914" y="1412176"/>
            <a:ext cx="4830526" cy="4362078"/>
          </a:xfrm>
        </p:spPr>
        <p:txBody>
          <a:bodyPr>
            <a:normAutofit/>
          </a:bodyPr>
          <a:lstStyle/>
          <a:p>
            <a:pPr algn="just"/>
            <a:r>
              <a:rPr lang="en-GB" sz="2600" dirty="0"/>
              <a:t>From an atomic perspective, plastic deformation corresponds to the breaking of bonds with original atom neighbours and then re-forming bonds with new neighbours as large numbers of atoms or molecules move relative to one another; upon removal of the stress they do not return to their original positions.</a:t>
            </a:r>
            <a:endParaRPr lang="en-US" sz="2600" dirty="0"/>
          </a:p>
          <a:p>
            <a:pPr algn="just"/>
            <a:endParaRPr lang="en-US" sz="2600"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26</a:t>
            </a:fld>
            <a:endParaRPr lang="en-US" dirty="0"/>
          </a:p>
        </p:txBody>
      </p:sp>
      <p:sp>
        <p:nvSpPr>
          <p:cNvPr id="6" name="TextBox 5"/>
          <p:cNvSpPr txBox="1"/>
          <p:nvPr/>
        </p:nvSpPr>
        <p:spPr>
          <a:xfrm>
            <a:off x="5280490" y="5621275"/>
            <a:ext cx="3575274" cy="584775"/>
          </a:xfrm>
          <a:prstGeom prst="rect">
            <a:avLst/>
          </a:prstGeom>
          <a:noFill/>
        </p:spPr>
        <p:txBody>
          <a:bodyPr wrap="none" rtlCol="0">
            <a:spAutoFit/>
          </a:bodyPr>
          <a:lstStyle/>
          <a:p>
            <a:r>
              <a:rPr lang="en-GB" sz="1600" b="1" i="1" dirty="0"/>
              <a:t>Fig. Stress-strain behaviour for a metal </a:t>
            </a:r>
          </a:p>
          <a:p>
            <a:r>
              <a:rPr lang="en-GB" sz="1600" b="1" i="1" dirty="0"/>
              <a:t>showing elastic and plastic deformation</a:t>
            </a:r>
            <a:endParaRPr lang="en-US" sz="1600" b="1" i="1" dirty="0"/>
          </a:p>
        </p:txBody>
      </p:sp>
      <p:pic>
        <p:nvPicPr>
          <p:cNvPr id="7" name="Picture 6"/>
          <p:cNvPicPr>
            <a:picLocks noChangeAspect="1"/>
          </p:cNvPicPr>
          <p:nvPr/>
        </p:nvPicPr>
        <p:blipFill>
          <a:blip r:embed="rId2"/>
          <a:stretch>
            <a:fillRect/>
          </a:stretch>
        </p:blipFill>
        <p:spPr>
          <a:xfrm>
            <a:off x="5593227" y="1152457"/>
            <a:ext cx="2571750" cy="4467225"/>
          </a:xfrm>
          <a:prstGeom prst="rect">
            <a:avLst/>
          </a:prstGeom>
        </p:spPr>
      </p:pic>
    </p:spTree>
    <p:extLst>
      <p:ext uri="{BB962C8B-B14F-4D97-AF65-F5344CB8AC3E}">
        <p14:creationId xmlns:p14="http://schemas.microsoft.com/office/powerpoint/2010/main" val="33648347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678" y="124786"/>
            <a:ext cx="9360323" cy="768971"/>
          </a:xfrm>
        </p:spPr>
        <p:txBody>
          <a:bodyPr/>
          <a:lstStyle/>
          <a:p>
            <a:r>
              <a:rPr lang="en-GB" sz="3500" b="1" dirty="0"/>
              <a:t>Tensile Properties – Yielding and Yield Strength</a:t>
            </a:r>
            <a:endParaRPr lang="en-US" sz="3500" b="1" dirty="0"/>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a:xfrm>
                <a:off x="65031" y="1039913"/>
                <a:ext cx="5970009" cy="5238691"/>
              </a:xfrm>
            </p:spPr>
            <p:txBody>
              <a:bodyPr>
                <a:normAutofit fontScale="92500" lnSpcReduction="10000"/>
              </a:bodyPr>
              <a:lstStyle/>
              <a:p>
                <a:pPr algn="just"/>
                <a:r>
                  <a:rPr lang="en-GB" b="1" dirty="0">
                    <a:solidFill>
                      <a:srgbClr val="FF0000"/>
                    </a:solidFill>
                  </a:rPr>
                  <a:t>Yielding</a:t>
                </a:r>
                <a:r>
                  <a:rPr lang="en-GB" dirty="0"/>
                  <a:t> occurs at the stress level where plastic deformation begins.</a:t>
                </a:r>
              </a:p>
              <a:p>
                <a:pPr algn="just"/>
                <a:r>
                  <a:rPr lang="en-GB" dirty="0"/>
                  <a:t>The yielding point can be determined as the initial departure from linearity of the stress–strain curve, called the </a:t>
                </a:r>
                <a:r>
                  <a:rPr lang="en-GB" b="1" dirty="0">
                    <a:solidFill>
                      <a:srgbClr val="FF0000"/>
                    </a:solidFill>
                  </a:rPr>
                  <a:t>proportional limit.</a:t>
                </a:r>
              </a:p>
              <a:p>
                <a:pPr algn="just"/>
                <a:r>
                  <a:rPr lang="en-GB" b="1" dirty="0">
                    <a:solidFill>
                      <a:srgbClr val="FF0000"/>
                    </a:solidFill>
                  </a:rPr>
                  <a:t>Yield strength </a:t>
                </a:r>
                <a14:m>
                  <m:oMath xmlns:m="http://schemas.openxmlformats.org/officeDocument/2006/math">
                    <m:sSub>
                      <m:sSubPr>
                        <m:ctrlPr>
                          <a:rPr lang="en-GB" b="1" i="1" dirty="0" smtClean="0">
                            <a:solidFill>
                              <a:srgbClr val="FF0000"/>
                            </a:solidFill>
                            <a:latin typeface="Cambria Math" panose="02040503050406030204" pitchFamily="18" charset="0"/>
                          </a:rPr>
                        </m:ctrlPr>
                      </m:sSubPr>
                      <m:e>
                        <m:r>
                          <a:rPr lang="en-GB" b="1" i="1" dirty="0" smtClean="0">
                            <a:solidFill>
                              <a:srgbClr val="FF0000"/>
                            </a:solidFill>
                            <a:latin typeface="Cambria Math" panose="02040503050406030204" pitchFamily="18" charset="0"/>
                            <a:ea typeface="Cambria Math" panose="02040503050406030204" pitchFamily="18" charset="0"/>
                          </a:rPr>
                          <m:t>𝝈</m:t>
                        </m:r>
                      </m:e>
                      <m:sub>
                        <m:r>
                          <a:rPr lang="en-GB" b="1" i="1" dirty="0" smtClean="0">
                            <a:solidFill>
                              <a:srgbClr val="FF0000"/>
                            </a:solidFill>
                            <a:latin typeface="Cambria Math" panose="02040503050406030204" pitchFamily="18" charset="0"/>
                          </a:rPr>
                          <m:t>𝒚</m:t>
                        </m:r>
                      </m:sub>
                    </m:sSub>
                  </m:oMath>
                </a14:m>
                <a:r>
                  <a:rPr lang="en-GB" dirty="0"/>
                  <a:t> is chosen as that causing a permanent strain of 0.002.</a:t>
                </a:r>
              </a:p>
              <a:p>
                <a:pPr algn="just"/>
                <a:r>
                  <a:rPr lang="en-GB" b="1" dirty="0">
                    <a:solidFill>
                      <a:srgbClr val="FF0000"/>
                    </a:solidFill>
                  </a:rPr>
                  <a:t>Yield point P</a:t>
                </a:r>
                <a:r>
                  <a:rPr lang="en-GB" dirty="0"/>
                  <a:t> – The point at which the strain deviates from being proportional to the stress (the proportional limit).</a:t>
                </a:r>
              </a:p>
              <a:p>
                <a:pPr algn="just"/>
                <a:r>
                  <a:rPr lang="en-GB" dirty="0"/>
                  <a:t>The </a:t>
                </a:r>
                <a:r>
                  <a:rPr lang="en-GB" b="1" dirty="0">
                    <a:solidFill>
                      <a:srgbClr val="FF0000"/>
                    </a:solidFill>
                  </a:rPr>
                  <a:t>Yield stress </a:t>
                </a:r>
                <a:r>
                  <a:rPr lang="en-GB" dirty="0"/>
                  <a:t>is a measure of resistance to plastic deformation.</a:t>
                </a:r>
                <a:endParaRPr lang="en-US" b="1" dirty="0">
                  <a:solidFill>
                    <a:srgbClr val="FF000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xfrm>
                <a:off x="65031" y="1039913"/>
                <a:ext cx="5970009" cy="5238691"/>
              </a:xfrm>
              <a:blipFill rotWithShape="0">
                <a:blip r:embed="rId2"/>
                <a:stretch>
                  <a:fillRect l="-1634" t="-1863" r="-1839"/>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F4801FD5-11B4-DE43-ACA2-E85EEB9A6F9C}" type="slidenum">
              <a:rPr lang="en-US" smtClean="0"/>
              <a:pPr/>
              <a:t>27</a:t>
            </a:fld>
            <a:endParaRPr lang="en-US" dirty="0"/>
          </a:p>
        </p:txBody>
      </p:sp>
      <p:pic>
        <p:nvPicPr>
          <p:cNvPr id="5" name="Picture 4"/>
          <p:cNvPicPr>
            <a:picLocks noChangeAspect="1"/>
          </p:cNvPicPr>
          <p:nvPr/>
        </p:nvPicPr>
        <p:blipFill>
          <a:blip r:embed="rId3"/>
          <a:stretch>
            <a:fillRect/>
          </a:stretch>
        </p:blipFill>
        <p:spPr>
          <a:xfrm>
            <a:off x="6141867" y="1275747"/>
            <a:ext cx="2571750" cy="4467225"/>
          </a:xfrm>
          <a:prstGeom prst="rect">
            <a:avLst/>
          </a:prstGeom>
        </p:spPr>
      </p:pic>
    </p:spTree>
    <p:extLst>
      <p:ext uri="{BB962C8B-B14F-4D97-AF65-F5344CB8AC3E}">
        <p14:creationId xmlns:p14="http://schemas.microsoft.com/office/powerpoint/2010/main" val="40579469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542" y="181058"/>
            <a:ext cx="9425354" cy="768971"/>
          </a:xfrm>
        </p:spPr>
        <p:txBody>
          <a:bodyPr/>
          <a:lstStyle/>
          <a:p>
            <a:r>
              <a:rPr lang="en-GB" sz="3500" b="1" dirty="0"/>
              <a:t>Tensile Properties – Yielding and Yield Strength</a:t>
            </a:r>
            <a:endParaRPr lang="en-US" sz="3500" dirty="0"/>
          </a:p>
        </p:txBody>
      </p:sp>
      <p:sp>
        <p:nvSpPr>
          <p:cNvPr id="3" name="Content Placeholder 2"/>
          <p:cNvSpPr>
            <a:spLocks noGrp="1"/>
          </p:cNvSpPr>
          <p:nvPr>
            <p:ph sz="half" idx="1"/>
          </p:nvPr>
        </p:nvSpPr>
        <p:spPr>
          <a:xfrm>
            <a:off x="0" y="1039913"/>
            <a:ext cx="5722199" cy="5238691"/>
          </a:xfrm>
        </p:spPr>
        <p:txBody>
          <a:bodyPr>
            <a:noAutofit/>
          </a:bodyPr>
          <a:lstStyle/>
          <a:p>
            <a:pPr algn="just"/>
            <a:r>
              <a:rPr lang="en-GB" sz="2100" dirty="0"/>
              <a:t>Some steels and other metals (low carbon steels) have the elastic–plastic transition occurring abruptly in a </a:t>
            </a:r>
            <a:r>
              <a:rPr lang="en-GB" sz="2100" b="1" dirty="0">
                <a:solidFill>
                  <a:srgbClr val="FF0000"/>
                </a:solidFill>
              </a:rPr>
              <a:t>yield point phenomenon. </a:t>
            </a:r>
          </a:p>
          <a:p>
            <a:pPr algn="just"/>
            <a:r>
              <a:rPr lang="en-GB" sz="2100" dirty="0"/>
              <a:t>At the upper yield point, plastic deformation is initiated with an apparent decrease in engineering stress. </a:t>
            </a:r>
          </a:p>
          <a:p>
            <a:pPr algn="just"/>
            <a:r>
              <a:rPr lang="en-GB" sz="2100" dirty="0"/>
              <a:t>Continued deformation fluctuates slightly about some constant stress value, termed the lower yield point; stress subsequently rises with increasing strain. </a:t>
            </a:r>
          </a:p>
          <a:p>
            <a:pPr algn="just"/>
            <a:r>
              <a:rPr lang="en-GB" sz="2100" dirty="0"/>
              <a:t>For such metals that display this effect, the yield strength is taken as the average stress that is associated with the lower yield point. </a:t>
            </a:r>
          </a:p>
          <a:p>
            <a:pPr algn="just"/>
            <a:r>
              <a:rPr lang="en-GB" sz="2100" dirty="0"/>
              <a:t>The magnitude of the yield strength for a metal is a measure of its resistance to plastic deformation. </a:t>
            </a:r>
          </a:p>
        </p:txBody>
      </p:sp>
      <p:sp>
        <p:nvSpPr>
          <p:cNvPr id="4" name="Slide Number Placeholder 3"/>
          <p:cNvSpPr>
            <a:spLocks noGrp="1"/>
          </p:cNvSpPr>
          <p:nvPr>
            <p:ph type="sldNum" sz="quarter" idx="12"/>
          </p:nvPr>
        </p:nvSpPr>
        <p:spPr/>
        <p:txBody>
          <a:bodyPr/>
          <a:lstStyle/>
          <a:p>
            <a:fld id="{F4801FD5-11B4-DE43-ACA2-E85EEB9A6F9C}" type="slidenum">
              <a:rPr lang="en-US" smtClean="0"/>
              <a:pPr/>
              <a:t>28</a:t>
            </a:fld>
            <a:endParaRPr lang="en-US" dirty="0"/>
          </a:p>
        </p:txBody>
      </p:sp>
      <p:pic>
        <p:nvPicPr>
          <p:cNvPr id="5" name="Picture 4"/>
          <p:cNvPicPr>
            <a:picLocks noChangeAspect="1"/>
          </p:cNvPicPr>
          <p:nvPr/>
        </p:nvPicPr>
        <p:blipFill>
          <a:blip r:embed="rId2"/>
          <a:stretch>
            <a:fillRect/>
          </a:stretch>
        </p:blipFill>
        <p:spPr>
          <a:xfrm>
            <a:off x="5722200" y="1039913"/>
            <a:ext cx="3376246" cy="4746316"/>
          </a:xfrm>
          <a:prstGeom prst="rect">
            <a:avLst/>
          </a:prstGeom>
        </p:spPr>
      </p:pic>
      <p:sp>
        <p:nvSpPr>
          <p:cNvPr id="6" name="TextBox 5"/>
          <p:cNvSpPr txBox="1"/>
          <p:nvPr/>
        </p:nvSpPr>
        <p:spPr>
          <a:xfrm>
            <a:off x="5827819" y="5742687"/>
            <a:ext cx="3314170" cy="584775"/>
          </a:xfrm>
          <a:prstGeom prst="rect">
            <a:avLst/>
          </a:prstGeom>
          <a:noFill/>
        </p:spPr>
        <p:txBody>
          <a:bodyPr wrap="square" rtlCol="0">
            <a:spAutoFit/>
          </a:bodyPr>
          <a:lstStyle/>
          <a:p>
            <a:r>
              <a:rPr lang="en-GB" sz="1600" b="1" i="1" dirty="0"/>
              <a:t>Fig. Stress–strain behaviour showing</a:t>
            </a:r>
          </a:p>
          <a:p>
            <a:r>
              <a:rPr lang="en-GB" sz="1600" b="1" i="1" dirty="0"/>
              <a:t>the yield point phenomenon</a:t>
            </a:r>
            <a:endParaRPr lang="en-US" sz="1600" b="1" i="1" dirty="0"/>
          </a:p>
        </p:txBody>
      </p:sp>
    </p:spTree>
    <p:extLst>
      <p:ext uri="{BB962C8B-B14F-4D97-AF65-F5344CB8AC3E}">
        <p14:creationId xmlns:p14="http://schemas.microsoft.com/office/powerpoint/2010/main" val="629157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Tensile Strength </a:t>
            </a:r>
          </a:p>
        </p:txBody>
      </p:sp>
      <p:sp>
        <p:nvSpPr>
          <p:cNvPr id="3" name="Content Placeholder 2"/>
          <p:cNvSpPr>
            <a:spLocks noGrp="1"/>
          </p:cNvSpPr>
          <p:nvPr>
            <p:ph sz="half" idx="1"/>
          </p:nvPr>
        </p:nvSpPr>
        <p:spPr>
          <a:xfrm>
            <a:off x="4543864" y="1196857"/>
            <a:ext cx="4431323" cy="5025457"/>
          </a:xfrm>
        </p:spPr>
        <p:txBody>
          <a:bodyPr>
            <a:normAutofit fontScale="77500" lnSpcReduction="20000"/>
          </a:bodyPr>
          <a:lstStyle/>
          <a:p>
            <a:pPr algn="just"/>
            <a:r>
              <a:rPr lang="en-GB" dirty="0"/>
              <a:t>After yielding, the stress necessary to continue plastic deformation in metals increases to a maximum, point M and then decreases to the eventual fracture, point F. </a:t>
            </a:r>
          </a:p>
          <a:p>
            <a:pPr algn="just"/>
            <a:r>
              <a:rPr lang="en-GB" dirty="0"/>
              <a:t>The </a:t>
            </a:r>
            <a:r>
              <a:rPr lang="en-GB" b="1" dirty="0">
                <a:solidFill>
                  <a:srgbClr val="FF0000"/>
                </a:solidFill>
              </a:rPr>
              <a:t>tensile strength </a:t>
            </a:r>
            <a:r>
              <a:rPr lang="en-GB" dirty="0"/>
              <a:t>is the stress at the maximum on the engineering stress–strain curve and it corresponds to the maximum stress that can be sustained by a structure in tension.</a:t>
            </a:r>
          </a:p>
          <a:p>
            <a:pPr algn="just"/>
            <a:r>
              <a:rPr lang="en-GB" dirty="0"/>
              <a:t>If the tensile strength (stress) is applied and maintained, fracture will result.</a:t>
            </a:r>
          </a:p>
          <a:p>
            <a:pPr algn="just"/>
            <a:r>
              <a:rPr lang="en-GB" b="1" dirty="0">
                <a:solidFill>
                  <a:srgbClr val="FF0000"/>
                </a:solidFill>
              </a:rPr>
              <a:t>Necking</a:t>
            </a:r>
            <a:r>
              <a:rPr lang="en-GB" dirty="0"/>
              <a:t> begins at the tensile strength and fracture ultimately occurs at the neck.</a:t>
            </a:r>
          </a:p>
          <a:p>
            <a:pPr algn="just"/>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29</a:t>
            </a:fld>
            <a:endParaRPr lang="en-US" dirty="0"/>
          </a:p>
        </p:txBody>
      </p:sp>
      <p:pic>
        <p:nvPicPr>
          <p:cNvPr id="5" name="Picture 4"/>
          <p:cNvPicPr>
            <a:picLocks noChangeAspect="1"/>
          </p:cNvPicPr>
          <p:nvPr/>
        </p:nvPicPr>
        <p:blipFill>
          <a:blip r:embed="rId2"/>
          <a:stretch>
            <a:fillRect/>
          </a:stretch>
        </p:blipFill>
        <p:spPr>
          <a:xfrm>
            <a:off x="87160" y="1789332"/>
            <a:ext cx="4367804" cy="3790650"/>
          </a:xfrm>
          <a:prstGeom prst="rect">
            <a:avLst/>
          </a:prstGeom>
        </p:spPr>
      </p:pic>
    </p:spTree>
    <p:extLst>
      <p:ext uri="{BB962C8B-B14F-4D97-AF65-F5344CB8AC3E}">
        <p14:creationId xmlns:p14="http://schemas.microsoft.com/office/powerpoint/2010/main" val="9953278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Ductility</a:t>
            </a:r>
            <a:endParaRPr lang="en-US" b="1" dirty="0"/>
          </a:p>
        </p:txBody>
      </p:sp>
      <p:sp>
        <p:nvSpPr>
          <p:cNvPr id="3" name="Content Placeholder 2"/>
          <p:cNvSpPr>
            <a:spLocks noGrp="1"/>
          </p:cNvSpPr>
          <p:nvPr>
            <p:ph sz="half" idx="1"/>
          </p:nvPr>
        </p:nvSpPr>
        <p:spPr>
          <a:xfrm>
            <a:off x="65031" y="1110253"/>
            <a:ext cx="8966427" cy="5126147"/>
          </a:xfrm>
        </p:spPr>
        <p:txBody>
          <a:bodyPr>
            <a:normAutofit/>
          </a:bodyPr>
          <a:lstStyle/>
          <a:p>
            <a:r>
              <a:rPr lang="en-GB" sz="2300" dirty="0"/>
              <a:t>It refers to the capacity of substance to undergo deformation under tension without rupture as in wire drawing, tube drawing operation. </a:t>
            </a:r>
          </a:p>
          <a:p>
            <a:r>
              <a:rPr lang="en-GB" sz="2300" dirty="0"/>
              <a:t>Ductility is a measure of the deformation at fracture</a:t>
            </a:r>
          </a:p>
          <a:p>
            <a:r>
              <a:rPr lang="en-US" sz="2300" dirty="0"/>
              <a:t>Ductility is defined by percent elongation </a:t>
            </a:r>
            <a:r>
              <a:rPr lang="en-GB" sz="2300" dirty="0"/>
              <a:t>as </a:t>
            </a:r>
          </a:p>
          <a:p>
            <a:endParaRPr lang="en-GB" sz="2300" dirty="0"/>
          </a:p>
          <a:p>
            <a:endParaRPr lang="en-GB" sz="2300" dirty="0"/>
          </a:p>
          <a:p>
            <a:endParaRPr lang="en-GB" sz="2300" dirty="0"/>
          </a:p>
          <a:p>
            <a:r>
              <a:rPr lang="en-GB" sz="2300" dirty="0"/>
              <a:t>It is also defined by percent reduction in area as</a:t>
            </a:r>
          </a:p>
          <a:p>
            <a:endParaRPr lang="en-GB" sz="2300" dirty="0"/>
          </a:p>
          <a:p>
            <a:endParaRPr lang="en-GB" sz="2300" dirty="0"/>
          </a:p>
          <a:p>
            <a:r>
              <a:rPr lang="en-GB" sz="2300" dirty="0"/>
              <a:t>For more ductile material </a:t>
            </a:r>
            <a:r>
              <a:rPr lang="en-GB" sz="2300" dirty="0" err="1"/>
              <a:t>ε</a:t>
            </a:r>
            <a:r>
              <a:rPr lang="en-GB" sz="2300" baseline="-25000" dirty="0" err="1"/>
              <a:t>p</a:t>
            </a:r>
            <a:r>
              <a:rPr lang="en-GB" sz="2300" dirty="0"/>
              <a:t> &gt; 15%, for less ductile material </a:t>
            </a:r>
            <a:r>
              <a:rPr lang="en-GB" sz="2300" dirty="0" err="1"/>
              <a:t>ε</a:t>
            </a:r>
            <a:r>
              <a:rPr lang="en-GB" sz="2300" baseline="-25000" dirty="0" err="1"/>
              <a:t>p</a:t>
            </a:r>
            <a:r>
              <a:rPr lang="en-GB" sz="2300" dirty="0"/>
              <a:t> &gt; 5.1 </a:t>
            </a:r>
            <a:r>
              <a:rPr lang="en-GB" sz="2300" dirty="0" err="1"/>
              <a:t>ε</a:t>
            </a:r>
            <a:r>
              <a:rPr lang="en-GB" sz="2300" baseline="-25000" dirty="0" err="1"/>
              <a:t>p</a:t>
            </a:r>
            <a:r>
              <a:rPr lang="en-GB" sz="2300" dirty="0"/>
              <a:t> &lt; 15%.</a:t>
            </a:r>
          </a:p>
          <a:p>
            <a:pPr marL="0" indent="0">
              <a:buNone/>
            </a:pPr>
            <a:endParaRPr lang="en-US" sz="2300"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30</a:t>
            </a:fld>
            <a:endParaRPr lang="en-US" dirty="0"/>
          </a:p>
        </p:txBody>
      </p:sp>
      <p:pic>
        <p:nvPicPr>
          <p:cNvPr id="5" name="Picture 4"/>
          <p:cNvPicPr>
            <a:picLocks noChangeAspect="1"/>
          </p:cNvPicPr>
          <p:nvPr/>
        </p:nvPicPr>
        <p:blipFill>
          <a:blip r:embed="rId2"/>
          <a:stretch>
            <a:fillRect/>
          </a:stretch>
        </p:blipFill>
        <p:spPr>
          <a:xfrm>
            <a:off x="3566577" y="2914704"/>
            <a:ext cx="2315440" cy="894376"/>
          </a:xfrm>
          <a:prstGeom prst="rect">
            <a:avLst/>
          </a:prstGeom>
        </p:spPr>
      </p:pic>
      <p:pic>
        <p:nvPicPr>
          <p:cNvPr id="6" name="Picture 5"/>
          <p:cNvPicPr>
            <a:picLocks noChangeAspect="1"/>
          </p:cNvPicPr>
          <p:nvPr/>
        </p:nvPicPr>
        <p:blipFill>
          <a:blip r:embed="rId3"/>
          <a:stretch>
            <a:fillRect/>
          </a:stretch>
        </p:blipFill>
        <p:spPr>
          <a:xfrm>
            <a:off x="3566577" y="4430181"/>
            <a:ext cx="2090357" cy="822711"/>
          </a:xfrm>
          <a:prstGeom prst="rect">
            <a:avLst/>
          </a:prstGeom>
        </p:spPr>
      </p:pic>
      <p:pic>
        <p:nvPicPr>
          <p:cNvPr id="7" name="Picture 6"/>
          <p:cNvPicPr>
            <a:picLocks noChangeAspect="1"/>
          </p:cNvPicPr>
          <p:nvPr/>
        </p:nvPicPr>
        <p:blipFill>
          <a:blip r:embed="rId4"/>
          <a:stretch>
            <a:fillRect/>
          </a:stretch>
        </p:blipFill>
        <p:spPr>
          <a:xfrm>
            <a:off x="6101886" y="2466364"/>
            <a:ext cx="2753878" cy="1791056"/>
          </a:xfrm>
          <a:prstGeom prst="rect">
            <a:avLst/>
          </a:prstGeom>
        </p:spPr>
      </p:pic>
    </p:spTree>
    <p:extLst>
      <p:ext uri="{BB962C8B-B14F-4D97-AF65-F5344CB8AC3E}">
        <p14:creationId xmlns:p14="http://schemas.microsoft.com/office/powerpoint/2010/main" val="7400558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Toughness</a:t>
            </a:r>
            <a:endParaRPr lang="en-US" b="1"/>
          </a:p>
        </p:txBody>
      </p:sp>
      <p:sp>
        <p:nvSpPr>
          <p:cNvPr id="3" name="Content Placeholder 2"/>
          <p:cNvSpPr>
            <a:spLocks noGrp="1"/>
          </p:cNvSpPr>
          <p:nvPr>
            <p:ph sz="half" idx="1"/>
          </p:nvPr>
        </p:nvSpPr>
        <p:spPr>
          <a:xfrm>
            <a:off x="367748" y="1618273"/>
            <a:ext cx="8247692" cy="3854060"/>
          </a:xfrm>
        </p:spPr>
        <p:txBody>
          <a:bodyPr/>
          <a:lstStyle/>
          <a:p>
            <a:pPr algn="just"/>
            <a:r>
              <a:rPr lang="en-GB" dirty="0"/>
              <a:t>It is the ability of the materials to withstand bending or it is the application of shear stresses without fracture. </a:t>
            </a:r>
          </a:p>
          <a:p>
            <a:pPr algn="just"/>
            <a:r>
              <a:rPr lang="en-GB" dirty="0"/>
              <a:t>For example, if a rod is made of high-carbon steel then it will bend without breaking under the impact of the hammer, while if a rod is made of glass then it will break by impact loading.</a:t>
            </a:r>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31</a:t>
            </a:fld>
            <a:endParaRPr lang="en-US" dirty="0"/>
          </a:p>
        </p:txBody>
      </p:sp>
      <p:sp>
        <p:nvSpPr>
          <p:cNvPr id="5" name="Rounded Rectangle 4"/>
          <p:cNvSpPr/>
          <p:nvPr/>
        </p:nvSpPr>
        <p:spPr>
          <a:xfrm>
            <a:off x="249194" y="1524151"/>
            <a:ext cx="8606570" cy="3666827"/>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062833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Malleability</a:t>
            </a:r>
            <a:endParaRPr lang="en-US" b="1"/>
          </a:p>
        </p:txBody>
      </p:sp>
      <p:sp>
        <p:nvSpPr>
          <p:cNvPr id="3" name="Content Placeholder 2"/>
          <p:cNvSpPr>
            <a:spLocks noGrp="1"/>
          </p:cNvSpPr>
          <p:nvPr>
            <p:ph sz="half" idx="1"/>
          </p:nvPr>
        </p:nvSpPr>
        <p:spPr>
          <a:xfrm>
            <a:off x="365760" y="1322846"/>
            <a:ext cx="8299938" cy="2896491"/>
          </a:xfrm>
        </p:spPr>
        <p:txBody>
          <a:bodyPr>
            <a:normAutofit/>
          </a:bodyPr>
          <a:lstStyle/>
          <a:p>
            <a:pPr algn="just"/>
            <a:r>
              <a:rPr lang="en-GB" sz="2600"/>
              <a:t>It is the capacity of substance to withstand deformation under compression without rupture or the malleable material allows a useful amount of plastic deformation to occur under compressive loading before fracture occurs. </a:t>
            </a:r>
          </a:p>
          <a:p>
            <a:pPr algn="just"/>
            <a:r>
              <a:rPr lang="en-GB" sz="2600" dirty="0"/>
              <a:t>Such a material is required for manipulation by such processes as forging, rolling and rivet heading.</a:t>
            </a:r>
            <a:endParaRPr lang="en-US" sz="2600"/>
          </a:p>
        </p:txBody>
      </p:sp>
      <p:sp>
        <p:nvSpPr>
          <p:cNvPr id="4" name="Slide Number Placeholder 3"/>
          <p:cNvSpPr>
            <a:spLocks noGrp="1"/>
          </p:cNvSpPr>
          <p:nvPr>
            <p:ph type="sldNum" sz="quarter" idx="12"/>
          </p:nvPr>
        </p:nvSpPr>
        <p:spPr/>
        <p:txBody>
          <a:bodyPr/>
          <a:lstStyle/>
          <a:p>
            <a:fld id="{F4801FD5-11B4-DE43-ACA2-E85EEB9A6F9C}" type="slidenum">
              <a:rPr lang="en-US" smtClean="0"/>
              <a:pPr/>
              <a:t>32</a:t>
            </a:fld>
            <a:endParaRPr lang="en-US" dirty="0"/>
          </a:p>
        </p:txBody>
      </p:sp>
      <p:pic>
        <p:nvPicPr>
          <p:cNvPr id="5" name="Picture 4"/>
          <p:cNvPicPr>
            <a:picLocks noChangeAspect="1"/>
          </p:cNvPicPr>
          <p:nvPr/>
        </p:nvPicPr>
        <p:blipFill>
          <a:blip r:embed="rId2"/>
          <a:stretch>
            <a:fillRect/>
          </a:stretch>
        </p:blipFill>
        <p:spPr>
          <a:xfrm>
            <a:off x="3396978" y="4048948"/>
            <a:ext cx="2429556" cy="2229656"/>
          </a:xfrm>
          <a:prstGeom prst="rect">
            <a:avLst/>
          </a:prstGeom>
        </p:spPr>
      </p:pic>
      <p:sp>
        <p:nvSpPr>
          <p:cNvPr id="6" name="Rounded Rectangle 5"/>
          <p:cNvSpPr/>
          <p:nvPr/>
        </p:nvSpPr>
        <p:spPr>
          <a:xfrm>
            <a:off x="249194" y="1230008"/>
            <a:ext cx="8606570" cy="2818940"/>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932813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Hardness</a:t>
            </a:r>
            <a:endParaRPr lang="en-US" b="1"/>
          </a:p>
        </p:txBody>
      </p:sp>
      <p:sp>
        <p:nvSpPr>
          <p:cNvPr id="3" name="Content Placeholder 2"/>
          <p:cNvSpPr>
            <a:spLocks noGrp="1"/>
          </p:cNvSpPr>
          <p:nvPr>
            <p:ph sz="half" idx="1"/>
          </p:nvPr>
        </p:nvSpPr>
        <p:spPr>
          <a:xfrm>
            <a:off x="459774" y="1253147"/>
            <a:ext cx="8185410" cy="5025457"/>
          </a:xfrm>
        </p:spPr>
        <p:txBody>
          <a:bodyPr>
            <a:normAutofit/>
          </a:bodyPr>
          <a:lstStyle/>
          <a:p>
            <a:pPr algn="just" fontAlgn="base"/>
            <a:r>
              <a:rPr lang="en-GB" sz="2600"/>
              <a:t>It is the ability of a material to withstand scratching (abrasion) or indentation by another hard body, it is an indication of the wear resistance of the material.</a:t>
            </a:r>
          </a:p>
          <a:p>
            <a:pPr algn="just" fontAlgn="base"/>
            <a:r>
              <a:rPr lang="en-GB" sz="2600" dirty="0"/>
              <a:t>The ball only makes a small indentation in the hard material but it makes a very much deeper impression in the softer material.</a:t>
            </a:r>
          </a:p>
          <a:p>
            <a:pPr marL="0" indent="0" algn="just">
              <a:buNone/>
            </a:pPr>
            <a:endParaRPr lang="en-US" sz="2600"/>
          </a:p>
        </p:txBody>
      </p:sp>
      <p:sp>
        <p:nvSpPr>
          <p:cNvPr id="4" name="Slide Number Placeholder 3"/>
          <p:cNvSpPr>
            <a:spLocks noGrp="1"/>
          </p:cNvSpPr>
          <p:nvPr>
            <p:ph type="sldNum" sz="quarter" idx="12"/>
          </p:nvPr>
        </p:nvSpPr>
        <p:spPr/>
        <p:txBody>
          <a:bodyPr/>
          <a:lstStyle/>
          <a:p>
            <a:fld id="{F4801FD5-11B4-DE43-ACA2-E85EEB9A6F9C}" type="slidenum">
              <a:rPr lang="en-US" smtClean="0"/>
              <a:pPr/>
              <a:t>33</a:t>
            </a:fld>
            <a:endParaRPr lang="en-US" dirty="0"/>
          </a:p>
        </p:txBody>
      </p:sp>
      <p:pic>
        <p:nvPicPr>
          <p:cNvPr id="5" name="Picture 4"/>
          <p:cNvPicPr>
            <a:picLocks noChangeAspect="1"/>
          </p:cNvPicPr>
          <p:nvPr/>
        </p:nvPicPr>
        <p:blipFill>
          <a:blip r:embed="rId2"/>
          <a:stretch>
            <a:fillRect/>
          </a:stretch>
        </p:blipFill>
        <p:spPr>
          <a:xfrm>
            <a:off x="2511229" y="4065872"/>
            <a:ext cx="4665399" cy="2212732"/>
          </a:xfrm>
          <a:prstGeom prst="rect">
            <a:avLst/>
          </a:prstGeom>
        </p:spPr>
      </p:pic>
      <p:sp>
        <p:nvSpPr>
          <p:cNvPr id="6" name="Rounded Rectangle 5"/>
          <p:cNvSpPr/>
          <p:nvPr/>
        </p:nvSpPr>
        <p:spPr>
          <a:xfrm>
            <a:off x="249194" y="1152457"/>
            <a:ext cx="8606570" cy="2712035"/>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623833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Stiffness</a:t>
            </a:r>
            <a:endParaRPr lang="en-US" b="1" dirty="0"/>
          </a:p>
        </p:txBody>
      </p:sp>
      <p:sp>
        <p:nvSpPr>
          <p:cNvPr id="3" name="Content Placeholder 2"/>
          <p:cNvSpPr>
            <a:spLocks noGrp="1"/>
          </p:cNvSpPr>
          <p:nvPr>
            <p:ph sz="half" idx="1"/>
          </p:nvPr>
        </p:nvSpPr>
        <p:spPr>
          <a:xfrm>
            <a:off x="163508" y="1138389"/>
            <a:ext cx="8685074" cy="5025457"/>
          </a:xfrm>
        </p:spPr>
        <p:txBody>
          <a:bodyPr>
            <a:normAutofit/>
          </a:bodyPr>
          <a:lstStyle/>
          <a:p>
            <a:pPr algn="just" fontAlgn="base"/>
            <a:r>
              <a:rPr lang="en-GB" sz="2400" dirty="0"/>
              <a:t>It is the measure of a material’s ability not to deflect under an applied load.</a:t>
            </a:r>
          </a:p>
          <a:p>
            <a:pPr algn="just" fontAlgn="base"/>
            <a:r>
              <a:rPr lang="en-GB" sz="2400" dirty="0"/>
              <a:t>For example, steel is very much stronger than cast iron, then the cast iron is preferred for machine beds and frames because it is more rigid and less likely to deflect with consequent loss of alignment and accuracy.</a:t>
            </a:r>
          </a:p>
          <a:p>
            <a:pPr algn="just"/>
            <a:endParaRPr lang="en-US" sz="2400"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34</a:t>
            </a:fld>
            <a:endParaRPr lang="en-US" dirty="0"/>
          </a:p>
        </p:txBody>
      </p:sp>
      <p:pic>
        <p:nvPicPr>
          <p:cNvPr id="5" name="Picture 4"/>
          <p:cNvPicPr>
            <a:picLocks noChangeAspect="1"/>
          </p:cNvPicPr>
          <p:nvPr/>
        </p:nvPicPr>
        <p:blipFill>
          <a:blip r:embed="rId2"/>
          <a:stretch>
            <a:fillRect/>
          </a:stretch>
        </p:blipFill>
        <p:spPr>
          <a:xfrm>
            <a:off x="2161589" y="3548915"/>
            <a:ext cx="5297244" cy="2707480"/>
          </a:xfrm>
          <a:prstGeom prst="rect">
            <a:avLst/>
          </a:prstGeom>
        </p:spPr>
      </p:pic>
      <p:sp>
        <p:nvSpPr>
          <p:cNvPr id="6" name="Rounded Rectangle 5"/>
          <p:cNvSpPr/>
          <p:nvPr/>
        </p:nvSpPr>
        <p:spPr>
          <a:xfrm>
            <a:off x="65030" y="1149196"/>
            <a:ext cx="8966427" cy="2329380"/>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030343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Brittleness</a:t>
            </a:r>
            <a:endParaRPr lang="en-US" b="1"/>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a:xfrm>
                <a:off x="142610" y="1437153"/>
                <a:ext cx="8938292" cy="4360960"/>
              </a:xfrm>
            </p:spPr>
            <p:txBody>
              <a:bodyPr/>
              <a:lstStyle/>
              <a:p>
                <a:pPr fontAlgn="base"/>
                <a:r>
                  <a:rPr lang="en-GB"/>
                  <a:t>It is the property of a material that shows little or no plastic deformation before fracture when a force is applied. </a:t>
                </a:r>
              </a:p>
              <a:p>
                <a:pPr fontAlgn="base"/>
                <a:r>
                  <a:rPr lang="en-GB" dirty="0"/>
                  <a:t>Also it is usually said as the opposite of ductility and malleability.</a:t>
                </a:r>
              </a:p>
              <a:p>
                <a:pPr fontAlgn="base"/>
                <a:r>
                  <a:rPr lang="en-GB" dirty="0"/>
                  <a:t>For brittle material </a:t>
                </a:r>
                <a:r>
                  <a:rPr lang="en-GB" dirty="0" err="1"/>
                  <a:t>ε</a:t>
                </a:r>
                <a:r>
                  <a:rPr lang="en-GB" baseline="-25000" dirty="0" err="1"/>
                  <a:t>D</a:t>
                </a:r>
                <a:r>
                  <a:rPr lang="en-GB" dirty="0"/>
                  <a:t> &lt; 5%.</a:t>
                </a:r>
              </a:p>
              <a:p>
                <a:pPr marL="0" indent="0" fontAlgn="base">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m:rPr>
                              <m:sty m:val="p"/>
                            </m:rPr>
                            <a:rPr lang="en-US" b="0" i="0" smtClean="0">
                              <a:latin typeface="Cambria Math" panose="02040503050406030204" pitchFamily="18" charset="0"/>
                              <a:ea typeface="Cambria Math" panose="02040503050406030204" pitchFamily="18" charset="0"/>
                            </a:rPr>
                            <m:t>ε</m:t>
                          </m:r>
                        </m:e>
                        <m:sub>
                          <m:r>
                            <m:rPr>
                              <m:sty m:val="p"/>
                            </m:rPr>
                            <a:rPr lang="en-GB" b="0" i="0" smtClean="0">
                              <a:latin typeface="Cambria Math" panose="02040503050406030204" pitchFamily="18" charset="0"/>
                            </a:rPr>
                            <m:t>p</m:t>
                          </m:r>
                        </m:sub>
                      </m:sSub>
                      <m:r>
                        <a:rPr lang="en-GB" b="0" i="0" smtClean="0">
                          <a:latin typeface="Cambria Math" panose="02040503050406030204" pitchFamily="18" charset="0"/>
                        </a:rPr>
                        <m:t>=</m:t>
                      </m:r>
                      <m:f>
                        <m:fPr>
                          <m:ctrlPr>
                            <a:rPr lang="en-GB" i="1" smtClean="0">
                              <a:latin typeface="Cambria Math" panose="02040503050406030204" pitchFamily="18" charset="0"/>
                            </a:rPr>
                          </m:ctrlPr>
                        </m:fPr>
                        <m:num>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𝑙</m:t>
                          </m:r>
                        </m:num>
                        <m:den>
                          <m:r>
                            <a:rPr lang="en-GB" b="0" i="1" smtClean="0">
                              <a:latin typeface="Cambria Math" panose="02040503050406030204" pitchFamily="18" charset="0"/>
                            </a:rPr>
                            <m:t>𝑙</m:t>
                          </m:r>
                        </m:den>
                      </m:f>
                      <m:r>
                        <a:rPr lang="en-GB" b="0" i="0" smtClean="0">
                          <a:latin typeface="Cambria Math" panose="02040503050406030204" pitchFamily="18" charset="0"/>
                        </a:rPr>
                        <m:t>=</m:t>
                      </m:r>
                      <m:f>
                        <m:fPr>
                          <m:ctrlPr>
                            <a:rPr lang="en-GB" i="1" smtClean="0">
                              <a:latin typeface="Cambria Math" panose="02040503050406030204" pitchFamily="18" charset="0"/>
                            </a:rPr>
                          </m:ctrlPr>
                        </m:fPr>
                        <m:num>
                          <m:r>
                            <m:rPr>
                              <m:sty m:val="p"/>
                            </m:rPr>
                            <a:rPr lang="en-GB" b="0" i="0" smtClean="0">
                              <a:latin typeface="Cambria Math" panose="02040503050406030204" pitchFamily="18" charset="0"/>
                            </a:rPr>
                            <m:t>Change</m:t>
                          </m:r>
                          <m:r>
                            <a:rPr lang="en-GB" b="0" i="0" smtClean="0">
                              <a:latin typeface="Cambria Math" panose="02040503050406030204" pitchFamily="18" charset="0"/>
                            </a:rPr>
                            <m:t> </m:t>
                          </m:r>
                          <m:r>
                            <m:rPr>
                              <m:sty m:val="p"/>
                            </m:rPr>
                            <a:rPr lang="en-GB" b="0" i="0" smtClean="0">
                              <a:latin typeface="Cambria Math" panose="02040503050406030204" pitchFamily="18" charset="0"/>
                            </a:rPr>
                            <m:t>in</m:t>
                          </m:r>
                          <m:r>
                            <a:rPr lang="en-GB" b="0" i="0" smtClean="0">
                              <a:latin typeface="Cambria Math" panose="02040503050406030204" pitchFamily="18" charset="0"/>
                            </a:rPr>
                            <m:t> </m:t>
                          </m:r>
                          <m:r>
                            <m:rPr>
                              <m:sty m:val="p"/>
                            </m:rPr>
                            <a:rPr lang="en-GB" b="0" i="0" smtClean="0">
                              <a:latin typeface="Cambria Math" panose="02040503050406030204" pitchFamily="18" charset="0"/>
                            </a:rPr>
                            <m:t>length</m:t>
                          </m:r>
                        </m:num>
                        <m:den>
                          <m:r>
                            <m:rPr>
                              <m:sty m:val="p"/>
                            </m:rPr>
                            <a:rPr lang="en-GB" b="0" i="0" smtClean="0">
                              <a:latin typeface="Cambria Math" panose="02040503050406030204" pitchFamily="18" charset="0"/>
                            </a:rPr>
                            <m:t>Original</m:t>
                          </m:r>
                          <m:r>
                            <a:rPr lang="en-GB" b="0" i="0" smtClean="0">
                              <a:latin typeface="Cambria Math" panose="02040503050406030204" pitchFamily="18" charset="0"/>
                            </a:rPr>
                            <m:t> </m:t>
                          </m:r>
                          <m:r>
                            <m:rPr>
                              <m:sty m:val="p"/>
                            </m:rPr>
                            <a:rPr lang="en-GB" b="0" i="0" smtClean="0">
                              <a:latin typeface="Cambria Math" panose="02040503050406030204" pitchFamily="18" charset="0"/>
                            </a:rPr>
                            <m:t>length</m:t>
                          </m:r>
                        </m:den>
                      </m:f>
                    </m:oMath>
                  </m:oMathPara>
                </a14:m>
                <a:endParaRPr lang="en-US"/>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xfrm>
                <a:off x="142610" y="1437153"/>
                <a:ext cx="8938292" cy="4360960"/>
              </a:xfrm>
              <a:blipFill rotWithShape="0">
                <a:blip r:embed="rId2"/>
                <a:stretch>
                  <a:fillRect l="-1227" t="-1538" r="-204"/>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F4801FD5-11B4-DE43-ACA2-E85EEB9A6F9C}" type="slidenum">
              <a:rPr lang="en-US" smtClean="0"/>
              <a:pPr/>
              <a:t>35</a:t>
            </a:fld>
            <a:endParaRPr lang="en-US" dirty="0"/>
          </a:p>
        </p:txBody>
      </p:sp>
      <p:sp>
        <p:nvSpPr>
          <p:cNvPr id="6" name="Rounded Rectangle 5"/>
          <p:cNvSpPr/>
          <p:nvPr/>
        </p:nvSpPr>
        <p:spPr>
          <a:xfrm>
            <a:off x="65032" y="1247671"/>
            <a:ext cx="8938293" cy="4266867"/>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65581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Creep</a:t>
            </a:r>
            <a:endParaRPr lang="en-US" b="1"/>
          </a:p>
        </p:txBody>
      </p:sp>
      <p:sp>
        <p:nvSpPr>
          <p:cNvPr id="3" name="Content Placeholder 2"/>
          <p:cNvSpPr>
            <a:spLocks noGrp="1"/>
          </p:cNvSpPr>
          <p:nvPr>
            <p:ph sz="half" idx="1"/>
          </p:nvPr>
        </p:nvSpPr>
        <p:spPr>
          <a:xfrm>
            <a:off x="126607" y="1180593"/>
            <a:ext cx="8820443" cy="5025457"/>
          </a:xfrm>
        </p:spPr>
        <p:txBody>
          <a:bodyPr>
            <a:normAutofit/>
          </a:bodyPr>
          <a:lstStyle/>
          <a:p>
            <a:pPr algn="just" fontAlgn="base"/>
            <a:r>
              <a:rPr lang="en-GB" sz="2500" dirty="0"/>
              <a:t>The permanent deformation (strain) of a material under steady load as a function of time is called creep.</a:t>
            </a:r>
          </a:p>
          <a:p>
            <a:pPr algn="just" fontAlgn="base"/>
            <a:r>
              <a:rPr lang="en-GB" sz="2500" dirty="0"/>
              <a:t>Length of our waist belt increases after some duration, is due to creep effect.</a:t>
            </a:r>
          </a:p>
          <a:p>
            <a:pPr algn="just" fontAlgn="base"/>
            <a:r>
              <a:rPr lang="en-GB" sz="2500" dirty="0"/>
              <a:t>Creep is a thermally actuated process, and hence is influenced by temperature. It is appreciable at temperature above 0.4. T</a:t>
            </a:r>
            <a:r>
              <a:rPr lang="en-GB" sz="2500" baseline="-25000" dirty="0"/>
              <a:t>m,</a:t>
            </a:r>
            <a:r>
              <a:rPr lang="en-GB" sz="2500" dirty="0"/>
              <a:t> where T</a:t>
            </a:r>
            <a:r>
              <a:rPr lang="en-GB" sz="2500" baseline="-25000" dirty="0"/>
              <a:t>m</a:t>
            </a:r>
            <a:r>
              <a:rPr lang="en-GB" sz="2500" dirty="0"/>
              <a:t> is melting point of material in degree kelvin.</a:t>
            </a:r>
          </a:p>
          <a:p>
            <a:pPr algn="just" fontAlgn="base"/>
            <a:r>
              <a:rPr lang="en-GB" sz="2500" dirty="0"/>
              <a:t>Creep occurs at room temperature in many materials such as lead, zinc, solder wire (an alloy of </a:t>
            </a:r>
            <a:r>
              <a:rPr lang="en-GB" sz="2500" dirty="0" err="1"/>
              <a:t>Pb</a:t>
            </a:r>
            <a:r>
              <a:rPr lang="en-GB" sz="2500" dirty="0"/>
              <a:t> and Sn), white metals, rubber, plastics and leather etc. </a:t>
            </a:r>
          </a:p>
          <a:p>
            <a:pPr marL="0" indent="0" algn="just">
              <a:buNone/>
            </a:pPr>
            <a:endParaRPr lang="en-US" sz="2500"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36</a:t>
            </a:fld>
            <a:endParaRPr lang="en-US" dirty="0"/>
          </a:p>
        </p:txBody>
      </p:sp>
    </p:spTree>
    <p:extLst>
      <p:ext uri="{BB962C8B-B14F-4D97-AF65-F5344CB8AC3E}">
        <p14:creationId xmlns:p14="http://schemas.microsoft.com/office/powerpoint/2010/main" val="26994708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Fatigue</a:t>
            </a:r>
            <a:endParaRPr lang="en-US" b="1"/>
          </a:p>
        </p:txBody>
      </p:sp>
      <p:sp>
        <p:nvSpPr>
          <p:cNvPr id="3" name="Content Placeholder 2"/>
          <p:cNvSpPr>
            <a:spLocks noGrp="1"/>
          </p:cNvSpPr>
          <p:nvPr>
            <p:ph sz="half" idx="1"/>
          </p:nvPr>
        </p:nvSpPr>
        <p:spPr>
          <a:xfrm>
            <a:off x="367748" y="1476014"/>
            <a:ext cx="8333381" cy="4235469"/>
          </a:xfrm>
        </p:spPr>
        <p:txBody>
          <a:bodyPr/>
          <a:lstStyle/>
          <a:p>
            <a:pPr algn="just"/>
            <a:r>
              <a:rPr lang="en-GB"/>
              <a:t>The behavior of materials under fluctuating and reversing loads (or stresses) is termed as fatigue. </a:t>
            </a:r>
            <a:r>
              <a:rPr lang="en-GB" dirty="0"/>
              <a:t>This behaviour is different from that under the steady load. </a:t>
            </a:r>
          </a:p>
          <a:p>
            <a:pPr algn="just"/>
            <a:r>
              <a:rPr lang="en-GB" dirty="0"/>
              <a:t>Fatigue is, however, not a dynamic effect. </a:t>
            </a:r>
          </a:p>
          <a:p>
            <a:pPr algn="just"/>
            <a:r>
              <a:rPr lang="en-GB" dirty="0"/>
              <a:t>The rate of loading is usually not a factor of fatigue behaviour. </a:t>
            </a:r>
          </a:p>
          <a:p>
            <a:pPr algn="just"/>
            <a:r>
              <a:rPr lang="en-GB" dirty="0"/>
              <a:t>Fatigue behaviour is experienced by all materials whether metals, plastics, concretes, or composites.</a:t>
            </a:r>
            <a:endParaRPr lang="en-US"/>
          </a:p>
        </p:txBody>
      </p:sp>
      <p:sp>
        <p:nvSpPr>
          <p:cNvPr id="4" name="Slide Number Placeholder 3"/>
          <p:cNvSpPr>
            <a:spLocks noGrp="1"/>
          </p:cNvSpPr>
          <p:nvPr>
            <p:ph type="sldNum" sz="quarter" idx="12"/>
          </p:nvPr>
        </p:nvSpPr>
        <p:spPr/>
        <p:txBody>
          <a:bodyPr/>
          <a:lstStyle/>
          <a:p>
            <a:fld id="{F4801FD5-11B4-DE43-ACA2-E85EEB9A6F9C}" type="slidenum">
              <a:rPr lang="en-US" smtClean="0"/>
              <a:pPr/>
              <a:t>37</a:t>
            </a:fld>
            <a:endParaRPr lang="en-US" dirty="0"/>
          </a:p>
        </p:txBody>
      </p:sp>
      <p:sp>
        <p:nvSpPr>
          <p:cNvPr id="5" name="Rounded Rectangle 4"/>
          <p:cNvSpPr/>
          <p:nvPr/>
        </p:nvSpPr>
        <p:spPr>
          <a:xfrm>
            <a:off x="213004" y="1265002"/>
            <a:ext cx="8606570" cy="4235466"/>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372817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Effects of fatigue</a:t>
            </a:r>
            <a:endParaRPr lang="en-US" b="1"/>
          </a:p>
        </p:txBody>
      </p:sp>
      <p:sp>
        <p:nvSpPr>
          <p:cNvPr id="3" name="Content Placeholder 2"/>
          <p:cNvSpPr>
            <a:spLocks noGrp="1"/>
          </p:cNvSpPr>
          <p:nvPr>
            <p:ph sz="half" idx="1"/>
          </p:nvPr>
        </p:nvSpPr>
        <p:spPr>
          <a:xfrm>
            <a:off x="427025" y="1536351"/>
            <a:ext cx="8488016" cy="2167518"/>
          </a:xfrm>
        </p:spPr>
        <p:txBody>
          <a:bodyPr/>
          <a:lstStyle/>
          <a:p>
            <a:pPr fontAlgn="base"/>
            <a:r>
              <a:rPr lang="en-GB"/>
              <a:t>Loss of ductility,</a:t>
            </a:r>
          </a:p>
          <a:p>
            <a:pPr fontAlgn="base"/>
            <a:r>
              <a:rPr lang="en-GB" dirty="0"/>
              <a:t>Loss of strength, and</a:t>
            </a:r>
          </a:p>
          <a:p>
            <a:pPr fontAlgn="base"/>
            <a:r>
              <a:rPr lang="en-GB" dirty="0"/>
              <a:t>Enhanced uncertainty in strength and the service life of materials.</a:t>
            </a:r>
          </a:p>
          <a:p>
            <a:endParaRPr lang="en-US"/>
          </a:p>
        </p:txBody>
      </p:sp>
      <p:sp>
        <p:nvSpPr>
          <p:cNvPr id="4" name="Slide Number Placeholder 3"/>
          <p:cNvSpPr>
            <a:spLocks noGrp="1"/>
          </p:cNvSpPr>
          <p:nvPr>
            <p:ph type="sldNum" sz="quarter" idx="12"/>
          </p:nvPr>
        </p:nvSpPr>
        <p:spPr/>
        <p:txBody>
          <a:bodyPr/>
          <a:lstStyle/>
          <a:p>
            <a:fld id="{F4801FD5-11B4-DE43-ACA2-E85EEB9A6F9C}" type="slidenum">
              <a:rPr lang="en-US" smtClean="0"/>
              <a:pPr/>
              <a:t>38</a:t>
            </a:fld>
            <a:endParaRPr lang="en-US" dirty="0"/>
          </a:p>
        </p:txBody>
      </p:sp>
      <p:sp>
        <p:nvSpPr>
          <p:cNvPr id="5" name="Rounded Rectangle 4"/>
          <p:cNvSpPr/>
          <p:nvPr/>
        </p:nvSpPr>
        <p:spPr>
          <a:xfrm>
            <a:off x="308471" y="1293134"/>
            <a:ext cx="8606570" cy="2653953"/>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390357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Features of fatigue</a:t>
            </a:r>
            <a:endParaRPr lang="en-US" b="1"/>
          </a:p>
        </p:txBody>
      </p:sp>
      <p:sp>
        <p:nvSpPr>
          <p:cNvPr id="3" name="Content Placeholder 2"/>
          <p:cNvSpPr>
            <a:spLocks noGrp="1"/>
          </p:cNvSpPr>
          <p:nvPr>
            <p:ph sz="half" idx="1"/>
          </p:nvPr>
        </p:nvSpPr>
        <p:spPr>
          <a:xfrm>
            <a:off x="36895" y="1169889"/>
            <a:ext cx="3550366" cy="4972596"/>
          </a:xfrm>
        </p:spPr>
        <p:txBody>
          <a:bodyPr>
            <a:noAutofit/>
          </a:bodyPr>
          <a:lstStyle/>
          <a:p>
            <a:pPr algn="just" fontAlgn="base"/>
            <a:r>
              <a:rPr lang="en-GB" sz="2200"/>
              <a:t>Fatigue occurs at stresses well within the elastic range. </a:t>
            </a:r>
            <a:r>
              <a:rPr lang="en-GB" sz="2200" dirty="0"/>
              <a:t>Various types of fluctuating and reversing stresses are shown in figure (a-d) in a simplified manner.</a:t>
            </a:r>
          </a:p>
          <a:p>
            <a:pPr algn="just" fontAlgn="base"/>
            <a:r>
              <a:rPr lang="en-GB" sz="2200" dirty="0"/>
              <a:t>In practical situations the stress variations may be drastic, unpredictable and complex. One such example, Figure (d), is that of an aeroplane during its take-off, flight and landing.</a:t>
            </a:r>
          </a:p>
          <a:p>
            <a:pPr algn="just"/>
            <a:endParaRPr lang="en-US" sz="2200"/>
          </a:p>
        </p:txBody>
      </p:sp>
      <p:sp>
        <p:nvSpPr>
          <p:cNvPr id="4" name="Slide Number Placeholder 3"/>
          <p:cNvSpPr>
            <a:spLocks noGrp="1"/>
          </p:cNvSpPr>
          <p:nvPr>
            <p:ph type="sldNum" sz="quarter" idx="12"/>
          </p:nvPr>
        </p:nvSpPr>
        <p:spPr/>
        <p:txBody>
          <a:bodyPr/>
          <a:lstStyle/>
          <a:p>
            <a:fld id="{F4801FD5-11B4-DE43-ACA2-E85EEB9A6F9C}" type="slidenum">
              <a:rPr lang="en-US" smtClean="0"/>
              <a:pPr/>
              <a:t>39</a:t>
            </a:fld>
            <a:endParaRPr lang="en-US" dirty="0"/>
          </a:p>
        </p:txBody>
      </p:sp>
      <p:pic>
        <p:nvPicPr>
          <p:cNvPr id="5" name="Picture 4"/>
          <p:cNvPicPr>
            <a:picLocks noChangeAspect="1"/>
          </p:cNvPicPr>
          <p:nvPr/>
        </p:nvPicPr>
        <p:blipFill>
          <a:blip r:embed="rId2"/>
          <a:stretch>
            <a:fillRect/>
          </a:stretch>
        </p:blipFill>
        <p:spPr>
          <a:xfrm>
            <a:off x="3513609" y="1257632"/>
            <a:ext cx="5616323" cy="4348676"/>
          </a:xfrm>
          <a:prstGeom prst="rect">
            <a:avLst/>
          </a:prstGeom>
        </p:spPr>
      </p:pic>
    </p:spTree>
    <p:extLst>
      <p:ext uri="{BB962C8B-B14F-4D97-AF65-F5344CB8AC3E}">
        <p14:creationId xmlns:p14="http://schemas.microsoft.com/office/powerpoint/2010/main" val="10625739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4027"/>
            <a:ext cx="9144000" cy="1095794"/>
          </a:xfrm>
        </p:spPr>
        <p:txBody>
          <a:bodyPr/>
          <a:lstStyle/>
          <a:p>
            <a:r>
              <a:rPr lang="en-US" sz="3500" b="1" dirty="0"/>
              <a:t>Fatigue Limit (or Endurance Stress) and S-N Diagram</a:t>
            </a:r>
            <a:endParaRPr lang="en-US" sz="3500" dirty="0"/>
          </a:p>
        </p:txBody>
      </p:sp>
      <p:sp>
        <p:nvSpPr>
          <p:cNvPr id="3" name="Content Placeholder 2"/>
          <p:cNvSpPr>
            <a:spLocks noGrp="1"/>
          </p:cNvSpPr>
          <p:nvPr>
            <p:ph sz="half" idx="1"/>
          </p:nvPr>
        </p:nvSpPr>
        <p:spPr>
          <a:xfrm>
            <a:off x="107235" y="1124321"/>
            <a:ext cx="8790733" cy="5025457"/>
          </a:xfrm>
        </p:spPr>
        <p:txBody>
          <a:bodyPr>
            <a:noAutofit/>
          </a:bodyPr>
          <a:lstStyle/>
          <a:p>
            <a:pPr algn="just"/>
            <a:r>
              <a:rPr lang="en-GB"/>
              <a:t>Total number of cycles N required to bring about fracture in a material (or its specimen) under an applied stress defines its basic fatigue life. </a:t>
            </a:r>
          </a:p>
          <a:p>
            <a:pPr algn="just"/>
            <a:r>
              <a:rPr lang="en-GB" dirty="0"/>
              <a:t>Fatigue life of a material is expressed in percent survival out of large number of specimens. </a:t>
            </a:r>
          </a:p>
          <a:p>
            <a:pPr algn="just"/>
            <a:r>
              <a:rPr lang="en-GB" dirty="0"/>
              <a:t>Generally median fatigue life is estimated at 50% survival.</a:t>
            </a:r>
          </a:p>
          <a:p>
            <a:pPr algn="just"/>
            <a:r>
              <a:rPr lang="en-GB" dirty="0"/>
              <a:t>Ferrous metals usually have a fatigue limit but non-ferrous metals and non-metals often do not. </a:t>
            </a:r>
          </a:p>
          <a:p>
            <a:pPr algn="just"/>
            <a:r>
              <a:rPr lang="en-GB" dirty="0"/>
              <a:t>Fatigue response of these materials is specified for a number of stress cycle normally 10</a:t>
            </a:r>
            <a:r>
              <a:rPr lang="en-GB" baseline="30000" dirty="0"/>
              <a:t>7</a:t>
            </a:r>
            <a:r>
              <a:rPr lang="en-GB" dirty="0"/>
              <a:t> and known as fatigue strength.</a:t>
            </a:r>
            <a:endParaRPr lang="en-US"/>
          </a:p>
        </p:txBody>
      </p:sp>
      <p:sp>
        <p:nvSpPr>
          <p:cNvPr id="4" name="Slide Number Placeholder 3"/>
          <p:cNvSpPr>
            <a:spLocks noGrp="1"/>
          </p:cNvSpPr>
          <p:nvPr>
            <p:ph type="sldNum" sz="quarter" idx="12"/>
          </p:nvPr>
        </p:nvSpPr>
        <p:spPr/>
        <p:txBody>
          <a:bodyPr/>
          <a:lstStyle/>
          <a:p>
            <a:fld id="{F4801FD5-11B4-DE43-ACA2-E85EEB9A6F9C}" type="slidenum">
              <a:rPr lang="en-US" smtClean="0"/>
              <a:pPr/>
              <a:t>40</a:t>
            </a:fld>
            <a:endParaRPr lang="en-US" dirty="0"/>
          </a:p>
        </p:txBody>
      </p:sp>
    </p:spTree>
    <p:extLst>
      <p:ext uri="{BB962C8B-B14F-4D97-AF65-F5344CB8AC3E}">
        <p14:creationId xmlns:p14="http://schemas.microsoft.com/office/powerpoint/2010/main" val="22653369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5126"/>
            <a:ext cx="9094915" cy="768971"/>
          </a:xfrm>
        </p:spPr>
        <p:txBody>
          <a:bodyPr/>
          <a:lstStyle/>
          <a:p>
            <a:r>
              <a:rPr lang="en-GB" sz="3800" b="1"/>
              <a:t>Critical Applications of Fatigue Bahaviour</a:t>
            </a:r>
            <a:endParaRPr lang="en-US" sz="3800"/>
          </a:p>
        </p:txBody>
      </p:sp>
      <p:sp>
        <p:nvSpPr>
          <p:cNvPr id="3" name="Content Placeholder 2"/>
          <p:cNvSpPr>
            <a:spLocks noGrp="1"/>
          </p:cNvSpPr>
          <p:nvPr>
            <p:ph sz="half" idx="1"/>
          </p:nvPr>
        </p:nvSpPr>
        <p:spPr>
          <a:xfrm>
            <a:off x="494358" y="1335338"/>
            <a:ext cx="8488016" cy="3264798"/>
          </a:xfrm>
        </p:spPr>
        <p:txBody>
          <a:bodyPr/>
          <a:lstStyle/>
          <a:p>
            <a:pPr fontAlgn="base"/>
            <a:r>
              <a:rPr lang="en-GB" dirty="0"/>
              <a:t>Wings of aeroplanes and other aircrafts.</a:t>
            </a:r>
          </a:p>
          <a:p>
            <a:pPr fontAlgn="base"/>
            <a:r>
              <a:rPr lang="en-GB" dirty="0"/>
              <a:t>Leaf springs used on automobiles and railways rolling stocks.</a:t>
            </a:r>
          </a:p>
          <a:p>
            <a:pPr fontAlgn="base"/>
            <a:r>
              <a:rPr lang="en-GB" dirty="0"/>
              <a:t>Connecting rods of internal combustion engines.</a:t>
            </a:r>
          </a:p>
          <a:p>
            <a:pPr fontAlgn="base"/>
            <a:r>
              <a:rPr lang="en-GB" dirty="0"/>
              <a:t>Rotating shafts and </a:t>
            </a:r>
            <a:r>
              <a:rPr lang="en-GB"/>
              <a:t>machine parts.</a:t>
            </a:r>
            <a:endParaRPr lang="en-GB" dirty="0"/>
          </a:p>
          <a:p>
            <a:endParaRPr lang="en-US"/>
          </a:p>
        </p:txBody>
      </p:sp>
      <p:sp>
        <p:nvSpPr>
          <p:cNvPr id="4" name="Slide Number Placeholder 3"/>
          <p:cNvSpPr>
            <a:spLocks noGrp="1"/>
          </p:cNvSpPr>
          <p:nvPr>
            <p:ph type="sldNum" sz="quarter" idx="12"/>
          </p:nvPr>
        </p:nvSpPr>
        <p:spPr/>
        <p:txBody>
          <a:bodyPr/>
          <a:lstStyle/>
          <a:p>
            <a:fld id="{F4801FD5-11B4-DE43-ACA2-E85EEB9A6F9C}" type="slidenum">
              <a:rPr lang="en-US" smtClean="0"/>
              <a:pPr/>
              <a:t>41</a:t>
            </a:fld>
            <a:endParaRPr lang="en-US" dirty="0"/>
          </a:p>
        </p:txBody>
      </p:sp>
      <p:sp>
        <p:nvSpPr>
          <p:cNvPr id="5" name="Rounded Rectangle 4"/>
          <p:cNvSpPr/>
          <p:nvPr/>
        </p:nvSpPr>
        <p:spPr>
          <a:xfrm>
            <a:off x="244172" y="1201874"/>
            <a:ext cx="8606570" cy="2708946"/>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930205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117" y="240592"/>
            <a:ext cx="8790733" cy="768971"/>
          </a:xfrm>
        </p:spPr>
        <p:txBody>
          <a:bodyPr/>
          <a:lstStyle/>
          <a:p>
            <a:r>
              <a:rPr lang="en-GB" sz="3500" b="1"/>
              <a:t>Physical Properties of engineering materials</a:t>
            </a:r>
            <a:endParaRPr lang="en-US" sz="3500" b="1"/>
          </a:p>
        </p:txBody>
      </p:sp>
      <p:sp>
        <p:nvSpPr>
          <p:cNvPr id="3" name="Content Placeholder 2"/>
          <p:cNvSpPr>
            <a:spLocks noGrp="1"/>
          </p:cNvSpPr>
          <p:nvPr>
            <p:ph sz="half" idx="1"/>
          </p:nvPr>
        </p:nvSpPr>
        <p:spPr>
          <a:xfrm>
            <a:off x="367748" y="2011134"/>
            <a:ext cx="8488016" cy="1717352"/>
          </a:xfrm>
        </p:spPr>
        <p:txBody>
          <a:bodyPr/>
          <a:lstStyle/>
          <a:p>
            <a:r>
              <a:rPr lang="en-GB"/>
              <a:t>These are concerned with such properties as melting, temperature, electrical conductivity, thermal conductivity, density, corrosion resistance, magnetic properties, etc.</a:t>
            </a:r>
            <a:endParaRPr lang="en-US"/>
          </a:p>
        </p:txBody>
      </p:sp>
      <p:sp>
        <p:nvSpPr>
          <p:cNvPr id="4" name="Slide Number Placeholder 3"/>
          <p:cNvSpPr>
            <a:spLocks noGrp="1"/>
          </p:cNvSpPr>
          <p:nvPr>
            <p:ph type="sldNum" sz="quarter" idx="12"/>
          </p:nvPr>
        </p:nvSpPr>
        <p:spPr/>
        <p:txBody>
          <a:bodyPr/>
          <a:lstStyle/>
          <a:p>
            <a:fld id="{F4801FD5-11B4-DE43-ACA2-E85EEB9A6F9C}" type="slidenum">
              <a:rPr lang="en-US" smtClean="0"/>
              <a:pPr/>
              <a:t>42</a:t>
            </a:fld>
            <a:endParaRPr lang="en-US" dirty="0"/>
          </a:p>
        </p:txBody>
      </p:sp>
      <p:sp>
        <p:nvSpPr>
          <p:cNvPr id="5" name="Rounded Rectangle 4"/>
          <p:cNvSpPr/>
          <p:nvPr/>
        </p:nvSpPr>
        <p:spPr>
          <a:xfrm>
            <a:off x="249194" y="1844942"/>
            <a:ext cx="8606570" cy="1827272"/>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039566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Density</a:t>
            </a:r>
            <a:endParaRPr lang="en-US" b="1"/>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a:xfrm>
                <a:off x="98472" y="1152457"/>
                <a:ext cx="8961120" cy="5025457"/>
              </a:xfrm>
            </p:spPr>
            <p:txBody>
              <a:bodyPr>
                <a:normAutofit lnSpcReduction="10000"/>
              </a:bodyPr>
              <a:lstStyle/>
              <a:p>
                <a:r>
                  <a:rPr lang="en-GB" dirty="0"/>
                  <a:t>Density is defined as mass per unit volume for a material. The derived unit usually used by engineers is the kg/m</a:t>
                </a:r>
                <a:r>
                  <a:rPr lang="en-GB" baseline="30000" dirty="0"/>
                  <a:t>3</a:t>
                </a:r>
                <a:r>
                  <a:rPr lang="en-GB" dirty="0"/>
                  <a:t>. </a:t>
                </a:r>
              </a:p>
              <a:p>
                <a:r>
                  <a:rPr lang="en-GB" dirty="0"/>
                  <a:t>Relative density is the density of the material compared with the density of the water at 4°C.</a:t>
                </a:r>
              </a:p>
              <a:p>
                <a:pPr fontAlgn="base"/>
                <a:r>
                  <a:rPr lang="en-GB" b="1" dirty="0"/>
                  <a:t>The formulae of density and relative density are:</a:t>
                </a:r>
              </a:p>
              <a:p>
                <a:pPr marL="0" indent="0" fontAlgn="base">
                  <a:buNone/>
                </a:pPr>
                <a:endParaRPr lang="en-GB" b="1" dirty="0"/>
              </a:p>
              <a:p>
                <a:pPr marL="0" indent="0" fontAlgn="base">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𝐷𝑒𝑛𝑠𝑖𝑡𝑦</m:t>
                      </m:r>
                      <m:r>
                        <a:rPr lang="en-GB" b="0" i="1" smtClean="0">
                          <a:latin typeface="Cambria Math" panose="02040503050406030204" pitchFamily="18" charset="0"/>
                        </a:rPr>
                        <m:t> </m:t>
                      </m:r>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𝜌</m:t>
                          </m:r>
                        </m:e>
                      </m:d>
                      <m:r>
                        <a:rPr lang="en-GB" b="0" i="1" smtClean="0">
                          <a:latin typeface="Cambria Math" panose="02040503050406030204" pitchFamily="18" charset="0"/>
                          <a:ea typeface="Cambria Math" panose="02040503050406030204" pitchFamily="18" charset="0"/>
                        </a:rPr>
                        <m:t>=</m:t>
                      </m:r>
                      <m:f>
                        <m:fPr>
                          <m:ctrlPr>
                            <a:rPr lang="en-GB" b="0" i="1" smtClean="0">
                              <a:latin typeface="Cambria Math" panose="02040503050406030204" pitchFamily="18" charset="0"/>
                              <a:ea typeface="Cambria Math" panose="02040503050406030204" pitchFamily="18" charset="0"/>
                            </a:rPr>
                          </m:ctrlPr>
                        </m:fPr>
                        <m:num>
                          <m:r>
                            <a:rPr lang="en-GB" b="0" i="1" smtClean="0">
                              <a:latin typeface="Cambria Math" panose="02040503050406030204" pitchFamily="18" charset="0"/>
                              <a:ea typeface="Cambria Math" panose="02040503050406030204" pitchFamily="18" charset="0"/>
                            </a:rPr>
                            <m:t>𝑀𝑎𝑠𝑠</m:t>
                          </m:r>
                        </m:num>
                        <m:den>
                          <m:r>
                            <a:rPr lang="en-GB" b="0" i="1" smtClean="0">
                              <a:latin typeface="Cambria Math" panose="02040503050406030204" pitchFamily="18" charset="0"/>
                              <a:ea typeface="Cambria Math" panose="02040503050406030204" pitchFamily="18" charset="0"/>
                            </a:rPr>
                            <m:t>𝑉𝑜𝑙𝑢𝑚𝑒</m:t>
                          </m:r>
                        </m:den>
                      </m:f>
                    </m:oMath>
                  </m:oMathPara>
                </a14:m>
                <a:endParaRPr lang="en-GB" dirty="0"/>
              </a:p>
              <a:p>
                <a:pPr marL="0" indent="0" fontAlgn="base">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𝑅𝑒𝑙𝑎𝑡𝑖𝑣𝑒</m:t>
                      </m:r>
                      <m:r>
                        <a:rPr lang="en-GB" b="0" i="1" smtClean="0">
                          <a:latin typeface="Cambria Math" panose="02040503050406030204" pitchFamily="18" charset="0"/>
                        </a:rPr>
                        <m:t> </m:t>
                      </m:r>
                      <m:r>
                        <a:rPr lang="en-GB" b="0" i="1" smtClean="0">
                          <a:latin typeface="Cambria Math" panose="02040503050406030204" pitchFamily="18" charset="0"/>
                        </a:rPr>
                        <m:t>𝑑𝑒𝑛𝑠𝑖𝑡𝑦</m:t>
                      </m:r>
                      <m:r>
                        <a:rPr lang="en-GB" b="0" i="1" smtClean="0">
                          <a:latin typeface="Cambria Math" panose="02040503050406030204" pitchFamily="18" charset="0"/>
                        </a:rPr>
                        <m:t> </m:t>
                      </m:r>
                      <m:d>
                        <m:dPr>
                          <m:ctrlPr>
                            <a:rPr lang="en-GB" i="1" smtClean="0">
                              <a:latin typeface="Cambria Math" panose="02040503050406030204" pitchFamily="18" charset="0"/>
                            </a:rPr>
                          </m:ctrlPr>
                        </m:dPr>
                        <m:e>
                          <m:r>
                            <a:rPr lang="en-GB" b="0" i="1" smtClean="0">
                              <a:latin typeface="Cambria Math" panose="02040503050406030204" pitchFamily="18" charset="0"/>
                            </a:rPr>
                            <m:t>𝑑</m:t>
                          </m:r>
                        </m:e>
                      </m:d>
                      <m:r>
                        <a:rPr lang="en-GB" b="0" i="1" smtClean="0">
                          <a:latin typeface="Cambria Math" panose="02040503050406030204" pitchFamily="18" charset="0"/>
                        </a:rPr>
                        <m:t>= </m:t>
                      </m:r>
                      <m:f>
                        <m:fPr>
                          <m:ctrlPr>
                            <a:rPr lang="en-GB" i="1" smtClean="0">
                              <a:latin typeface="Cambria Math" panose="02040503050406030204" pitchFamily="18" charset="0"/>
                            </a:rPr>
                          </m:ctrlPr>
                        </m:fPr>
                        <m:num>
                          <m:r>
                            <a:rPr lang="en-GB" b="0" i="1" smtClean="0">
                              <a:latin typeface="Cambria Math" panose="02040503050406030204" pitchFamily="18" charset="0"/>
                            </a:rPr>
                            <m:t>𝐷𝑒𝑛𝑠𝑖𝑡𝑦</m:t>
                          </m:r>
                          <m:r>
                            <a:rPr lang="en-GB" b="0" i="1" smtClean="0">
                              <a:latin typeface="Cambria Math" panose="02040503050406030204" pitchFamily="18" charset="0"/>
                            </a:rPr>
                            <m:t> </m:t>
                          </m:r>
                          <m:r>
                            <a:rPr lang="en-GB" b="0" i="1" smtClean="0">
                              <a:latin typeface="Cambria Math" panose="02040503050406030204" pitchFamily="18" charset="0"/>
                            </a:rPr>
                            <m:t>𝑜𝑓</m:t>
                          </m:r>
                          <m:r>
                            <a:rPr lang="en-GB" b="0" i="1" smtClean="0">
                              <a:latin typeface="Cambria Math" panose="02040503050406030204" pitchFamily="18" charset="0"/>
                            </a:rPr>
                            <m:t> </m:t>
                          </m:r>
                          <m:r>
                            <a:rPr lang="en-GB" b="0" i="1" smtClean="0">
                              <a:latin typeface="Cambria Math" panose="02040503050406030204" pitchFamily="18" charset="0"/>
                            </a:rPr>
                            <m:t>𝑡h𝑒</m:t>
                          </m:r>
                          <m:r>
                            <a:rPr lang="en-GB" b="0" i="1" smtClean="0">
                              <a:latin typeface="Cambria Math" panose="02040503050406030204" pitchFamily="18" charset="0"/>
                            </a:rPr>
                            <m:t> </m:t>
                          </m:r>
                          <m:r>
                            <a:rPr lang="en-GB" b="0" i="1" smtClean="0">
                              <a:latin typeface="Cambria Math" panose="02040503050406030204" pitchFamily="18" charset="0"/>
                            </a:rPr>
                            <m:t>𝑚𝑎𝑡𝑒𝑟𝑖𝑎𝑙</m:t>
                          </m:r>
                        </m:num>
                        <m:den>
                          <m:r>
                            <a:rPr lang="en-GB" b="0" i="1" smtClean="0">
                              <a:latin typeface="Cambria Math" panose="02040503050406030204" pitchFamily="18" charset="0"/>
                            </a:rPr>
                            <m:t>𝐷𝑒𝑛𝑠𝑖𝑡𝑦</m:t>
                          </m:r>
                          <m:r>
                            <a:rPr lang="en-GB" b="0" i="1" smtClean="0">
                              <a:latin typeface="Cambria Math" panose="02040503050406030204" pitchFamily="18" charset="0"/>
                            </a:rPr>
                            <m:t> </m:t>
                          </m:r>
                          <m:r>
                            <a:rPr lang="en-GB" b="0" i="1" smtClean="0">
                              <a:latin typeface="Cambria Math" panose="02040503050406030204" pitchFamily="18" charset="0"/>
                            </a:rPr>
                            <m:t>𝑜𝑓</m:t>
                          </m:r>
                          <m:r>
                            <a:rPr lang="en-GB" b="0" i="1" smtClean="0">
                              <a:latin typeface="Cambria Math" panose="02040503050406030204" pitchFamily="18" charset="0"/>
                            </a:rPr>
                            <m:t> </m:t>
                          </m:r>
                          <m:r>
                            <a:rPr lang="en-GB" b="0" i="1" smtClean="0">
                              <a:latin typeface="Cambria Math" panose="02040503050406030204" pitchFamily="18" charset="0"/>
                            </a:rPr>
                            <m:t>𝑝𝑢𝑟𝑒</m:t>
                          </m:r>
                          <m:r>
                            <a:rPr lang="en-GB" b="0" i="1" smtClean="0">
                              <a:latin typeface="Cambria Math" panose="02040503050406030204" pitchFamily="18" charset="0"/>
                            </a:rPr>
                            <m:t> </m:t>
                          </m:r>
                          <m:r>
                            <a:rPr lang="en-GB" b="0" i="1" smtClean="0">
                              <a:latin typeface="Cambria Math" panose="02040503050406030204" pitchFamily="18" charset="0"/>
                            </a:rPr>
                            <m:t>𝑤𝑎𝑡𝑒𝑟</m:t>
                          </m:r>
                          <m:r>
                            <a:rPr lang="en-GB" b="0" i="1" smtClean="0">
                              <a:latin typeface="Cambria Math" panose="02040503050406030204" pitchFamily="18" charset="0"/>
                            </a:rPr>
                            <m:t> </m:t>
                          </m:r>
                          <m:r>
                            <a:rPr lang="en-GB" b="0" i="1" smtClean="0">
                              <a:latin typeface="Cambria Math" panose="02040503050406030204" pitchFamily="18" charset="0"/>
                            </a:rPr>
                            <m:t>𝑎𝑡</m:t>
                          </m:r>
                          <m:r>
                            <a:rPr lang="en-GB" b="0" i="1" smtClean="0">
                              <a:latin typeface="Cambria Math" panose="02040503050406030204" pitchFamily="18" charset="0"/>
                            </a:rPr>
                            <m:t> 4℃</m:t>
                          </m:r>
                        </m:den>
                      </m:f>
                    </m:oMath>
                  </m:oMathPara>
                </a14:m>
                <a:endParaRPr lang="en-GB" i="1" dirty="0"/>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xfrm>
                <a:off x="98472" y="1152457"/>
                <a:ext cx="8961120" cy="5025457"/>
              </a:xfrm>
              <a:blipFill rotWithShape="0">
                <a:blip r:embed="rId2"/>
                <a:stretch>
                  <a:fillRect l="-1224" t="-2063" r="-884"/>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F4801FD5-11B4-DE43-ACA2-E85EEB9A6F9C}" type="slidenum">
              <a:rPr lang="en-US" smtClean="0"/>
              <a:pPr/>
              <a:t>43</a:t>
            </a:fld>
            <a:endParaRPr lang="en-US" dirty="0"/>
          </a:p>
        </p:txBody>
      </p:sp>
      <p:sp>
        <p:nvSpPr>
          <p:cNvPr id="5" name="Rounded Rectangle 4"/>
          <p:cNvSpPr/>
          <p:nvPr/>
        </p:nvSpPr>
        <p:spPr>
          <a:xfrm>
            <a:off x="98472" y="1096185"/>
            <a:ext cx="8961120" cy="5126147"/>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31024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Electrical Conductivity</a:t>
            </a:r>
            <a:endParaRPr lang="en-US" dirty="0"/>
          </a:p>
        </p:txBody>
      </p:sp>
      <p:sp>
        <p:nvSpPr>
          <p:cNvPr id="3" name="Content Placeholder 2"/>
          <p:cNvSpPr>
            <a:spLocks noGrp="1"/>
          </p:cNvSpPr>
          <p:nvPr>
            <p:ph sz="half" idx="1"/>
          </p:nvPr>
        </p:nvSpPr>
        <p:spPr>
          <a:xfrm>
            <a:off x="276050" y="1279069"/>
            <a:ext cx="8530329" cy="5025457"/>
          </a:xfrm>
        </p:spPr>
        <p:txBody>
          <a:bodyPr>
            <a:normAutofit/>
          </a:bodyPr>
          <a:lstStyle/>
          <a:p>
            <a:pPr algn="just"/>
            <a:r>
              <a:rPr lang="en-GB" sz="2300" dirty="0"/>
              <a:t>Figure shows a piece of electrical cable. In this example copper wire has been chosen for the conductor or core of the cable because copper has the property of very good electrical conductivity.</a:t>
            </a:r>
          </a:p>
          <a:p>
            <a:pPr algn="just"/>
            <a:r>
              <a:rPr lang="en-GB" sz="2300" dirty="0"/>
              <a:t>That is, it offers very little resistance to the flow of electrons (electric current) through the wire. A plastic materials such as polymerized has been chosen for the insulating sheathing surrounding the wire conductor.</a:t>
            </a:r>
            <a:endParaRPr lang="en-US" sz="2300"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44</a:t>
            </a:fld>
            <a:endParaRPr lang="en-US" dirty="0"/>
          </a:p>
        </p:txBody>
      </p:sp>
      <p:pic>
        <p:nvPicPr>
          <p:cNvPr id="5" name="Picture 4"/>
          <p:cNvPicPr>
            <a:picLocks noChangeAspect="1"/>
          </p:cNvPicPr>
          <p:nvPr/>
        </p:nvPicPr>
        <p:blipFill>
          <a:blip r:embed="rId2"/>
          <a:stretch>
            <a:fillRect/>
          </a:stretch>
        </p:blipFill>
        <p:spPr>
          <a:xfrm>
            <a:off x="2897650" y="4011958"/>
            <a:ext cx="4142113" cy="2230369"/>
          </a:xfrm>
          <a:prstGeom prst="rect">
            <a:avLst/>
          </a:prstGeom>
        </p:spPr>
      </p:pic>
      <p:sp>
        <p:nvSpPr>
          <p:cNvPr id="6" name="Rounded Rectangle 5"/>
          <p:cNvSpPr/>
          <p:nvPr/>
        </p:nvSpPr>
        <p:spPr>
          <a:xfrm>
            <a:off x="249194" y="1121059"/>
            <a:ext cx="8606570" cy="2770214"/>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36050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Thermal Conductivity</a:t>
            </a:r>
            <a:endParaRPr lang="en-US" dirty="0"/>
          </a:p>
        </p:txBody>
      </p:sp>
      <p:sp>
        <p:nvSpPr>
          <p:cNvPr id="3" name="Content Placeholder 2"/>
          <p:cNvSpPr>
            <a:spLocks noGrp="1"/>
          </p:cNvSpPr>
          <p:nvPr>
            <p:ph sz="half" idx="1"/>
          </p:nvPr>
        </p:nvSpPr>
        <p:spPr>
          <a:xfrm>
            <a:off x="163507" y="1208729"/>
            <a:ext cx="8790733" cy="5025457"/>
          </a:xfrm>
        </p:spPr>
        <p:txBody>
          <a:bodyPr>
            <a:normAutofit/>
          </a:bodyPr>
          <a:lstStyle/>
          <a:p>
            <a:pPr algn="just"/>
            <a:r>
              <a:rPr lang="en-GB" sz="2400" dirty="0"/>
              <a:t>This is the ability of the material to transmit heat energy by conduction. Figure shows a soldering iron. </a:t>
            </a:r>
          </a:p>
          <a:p>
            <a:pPr algn="just"/>
            <a:r>
              <a:rPr lang="en-GB" sz="2400" dirty="0"/>
              <a:t>The bit is made from copper which is a good conductor of heat and so will allow the heat energy stored in it to travel easily down to the tip and into the work being soldered. </a:t>
            </a:r>
          </a:p>
          <a:p>
            <a:pPr algn="just"/>
            <a:r>
              <a:rPr lang="en-GB" sz="2400" dirty="0"/>
              <a:t>The wooden handle remains cool as it has a low thermal conductivity and resists the flow of heat energy.</a:t>
            </a:r>
            <a:endParaRPr lang="en-US" sz="2400"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45</a:t>
            </a:fld>
            <a:endParaRPr lang="en-US" dirty="0"/>
          </a:p>
        </p:txBody>
      </p:sp>
      <p:pic>
        <p:nvPicPr>
          <p:cNvPr id="5" name="Picture 4"/>
          <p:cNvPicPr>
            <a:picLocks noChangeAspect="1"/>
          </p:cNvPicPr>
          <p:nvPr/>
        </p:nvPicPr>
        <p:blipFill>
          <a:blip r:embed="rId2"/>
          <a:stretch>
            <a:fillRect/>
          </a:stretch>
        </p:blipFill>
        <p:spPr>
          <a:xfrm>
            <a:off x="2864608" y="4107766"/>
            <a:ext cx="3892062" cy="2128634"/>
          </a:xfrm>
          <a:prstGeom prst="rect">
            <a:avLst/>
          </a:prstGeom>
        </p:spPr>
      </p:pic>
      <p:sp>
        <p:nvSpPr>
          <p:cNvPr id="6" name="Rounded Rectangle 5"/>
          <p:cNvSpPr/>
          <p:nvPr/>
        </p:nvSpPr>
        <p:spPr>
          <a:xfrm>
            <a:off x="163507" y="1121059"/>
            <a:ext cx="8790733" cy="285461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015570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Fusibility</a:t>
            </a:r>
            <a:endParaRPr lang="en-US" b="1"/>
          </a:p>
        </p:txBody>
      </p:sp>
      <p:sp>
        <p:nvSpPr>
          <p:cNvPr id="3" name="Content Placeholder 2"/>
          <p:cNvSpPr>
            <a:spLocks noGrp="1"/>
          </p:cNvSpPr>
          <p:nvPr>
            <p:ph sz="half" idx="1"/>
          </p:nvPr>
        </p:nvSpPr>
        <p:spPr>
          <a:xfrm>
            <a:off x="79099" y="1166525"/>
            <a:ext cx="8924224" cy="5025457"/>
          </a:xfrm>
        </p:spPr>
        <p:txBody>
          <a:bodyPr>
            <a:normAutofit/>
          </a:bodyPr>
          <a:lstStyle/>
          <a:p>
            <a:pPr algn="just" fontAlgn="base"/>
            <a:r>
              <a:rPr lang="en-GB" sz="2400"/>
              <a:t>This is the ease with which materials will melt. </a:t>
            </a:r>
          </a:p>
          <a:p>
            <a:pPr algn="just" fontAlgn="base"/>
            <a:r>
              <a:rPr lang="en-GB" sz="2400" dirty="0"/>
              <a:t>It can be seen from figure that solder melts easily and so has the property of high fusibility. </a:t>
            </a:r>
          </a:p>
          <a:p>
            <a:pPr algn="just" fontAlgn="base"/>
            <a:r>
              <a:rPr lang="en-GB" sz="2400" dirty="0"/>
              <a:t>On the other hand, fire bricks used for furnace linings only melt at very high temperatures and so have the properties of low fusibility.</a:t>
            </a:r>
          </a:p>
          <a:p>
            <a:pPr marL="0" indent="0" algn="just">
              <a:buNone/>
            </a:pPr>
            <a:endParaRPr lang="en-US" sz="2400"/>
          </a:p>
        </p:txBody>
      </p:sp>
      <p:sp>
        <p:nvSpPr>
          <p:cNvPr id="4" name="Slide Number Placeholder 3"/>
          <p:cNvSpPr>
            <a:spLocks noGrp="1"/>
          </p:cNvSpPr>
          <p:nvPr>
            <p:ph type="sldNum" sz="quarter" idx="12"/>
          </p:nvPr>
        </p:nvSpPr>
        <p:spPr/>
        <p:txBody>
          <a:bodyPr/>
          <a:lstStyle/>
          <a:p>
            <a:fld id="{F4801FD5-11B4-DE43-ACA2-E85EEB9A6F9C}" type="slidenum">
              <a:rPr lang="en-US" smtClean="0"/>
              <a:pPr/>
              <a:t>46</a:t>
            </a:fld>
            <a:endParaRPr lang="en-US" dirty="0"/>
          </a:p>
        </p:txBody>
      </p:sp>
      <p:pic>
        <p:nvPicPr>
          <p:cNvPr id="5" name="Picture 4"/>
          <p:cNvPicPr>
            <a:picLocks noChangeAspect="1"/>
          </p:cNvPicPr>
          <p:nvPr/>
        </p:nvPicPr>
        <p:blipFill>
          <a:blip r:embed="rId2"/>
          <a:stretch>
            <a:fillRect/>
          </a:stretch>
        </p:blipFill>
        <p:spPr>
          <a:xfrm>
            <a:off x="765606" y="3498469"/>
            <a:ext cx="7523073" cy="2763853"/>
          </a:xfrm>
          <a:prstGeom prst="rect">
            <a:avLst/>
          </a:prstGeom>
        </p:spPr>
      </p:pic>
      <p:sp>
        <p:nvSpPr>
          <p:cNvPr id="6" name="Rounded Rectangle 5"/>
          <p:cNvSpPr/>
          <p:nvPr/>
        </p:nvSpPr>
        <p:spPr>
          <a:xfrm>
            <a:off x="93167" y="1109063"/>
            <a:ext cx="8924224" cy="2192453"/>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32321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Reluctance (Magnetic Properties)</a:t>
            </a:r>
            <a:endParaRPr lang="en-US" dirty="0"/>
          </a:p>
        </p:txBody>
      </p:sp>
      <p:sp>
        <p:nvSpPr>
          <p:cNvPr id="3" name="Content Placeholder 2"/>
          <p:cNvSpPr>
            <a:spLocks noGrp="1"/>
          </p:cNvSpPr>
          <p:nvPr>
            <p:ph sz="half" idx="1"/>
          </p:nvPr>
        </p:nvSpPr>
        <p:spPr>
          <a:xfrm>
            <a:off x="237136" y="1349406"/>
            <a:ext cx="8468751" cy="4685635"/>
          </a:xfrm>
        </p:spPr>
        <p:txBody>
          <a:bodyPr>
            <a:normAutofit/>
          </a:bodyPr>
          <a:lstStyle/>
          <a:p>
            <a:pPr algn="just" fontAlgn="base"/>
            <a:r>
              <a:rPr lang="en-GB" sz="2600" dirty="0"/>
              <a:t>Just as some materials are good or bad conductors of electricity, some materials can be good or bad conductors of magnetism. </a:t>
            </a:r>
          </a:p>
          <a:p>
            <a:pPr algn="just" fontAlgn="base"/>
            <a:r>
              <a:rPr lang="en-GB" sz="2600" dirty="0"/>
              <a:t>The resistance of magnetic circuit is referred to as reluctance.</a:t>
            </a:r>
          </a:p>
          <a:p>
            <a:pPr algn="just" fontAlgn="base"/>
            <a:r>
              <a:rPr lang="en-GB" sz="2600" dirty="0"/>
              <a:t>The good magnetic conductors have low reluctance and examples are the ferromagnetic materials which get their name from the fact that they are made from iron, steel and associated alloying elements such as cobalt and nickel. </a:t>
            </a:r>
          </a:p>
          <a:p>
            <a:pPr algn="just" fontAlgn="base"/>
            <a:r>
              <a:rPr lang="en-GB" sz="2600" dirty="0"/>
              <a:t>All other materials are non-magnetic and offer a high reluctance to the magnetic flux felid.</a:t>
            </a:r>
          </a:p>
          <a:p>
            <a:pPr marL="0" indent="0" algn="just">
              <a:buNone/>
            </a:pPr>
            <a:endParaRPr lang="en-US" sz="2600"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47</a:t>
            </a:fld>
            <a:endParaRPr lang="en-US" dirty="0"/>
          </a:p>
        </p:txBody>
      </p:sp>
      <p:sp>
        <p:nvSpPr>
          <p:cNvPr id="5" name="Rounded Rectangle 4"/>
          <p:cNvSpPr/>
          <p:nvPr/>
        </p:nvSpPr>
        <p:spPr>
          <a:xfrm>
            <a:off x="122585" y="1166525"/>
            <a:ext cx="8894806" cy="4741907"/>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690547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Material selection and Processing</a:t>
            </a:r>
            <a:endParaRPr lang="en-US" b="1"/>
          </a:p>
        </p:txBody>
      </p:sp>
      <p:sp>
        <p:nvSpPr>
          <p:cNvPr id="3" name="Content Placeholder 2"/>
          <p:cNvSpPr>
            <a:spLocks noGrp="1"/>
          </p:cNvSpPr>
          <p:nvPr>
            <p:ph sz="half" idx="1"/>
          </p:nvPr>
        </p:nvSpPr>
        <p:spPr>
          <a:xfrm>
            <a:off x="367748" y="1461947"/>
            <a:ext cx="8488016" cy="1731420"/>
          </a:xfrm>
        </p:spPr>
        <p:txBody>
          <a:bodyPr/>
          <a:lstStyle/>
          <a:p>
            <a:r>
              <a:rPr lang="en-GB" dirty="0"/>
              <a:t>The selection of the best material for a particular design is associated with the decisions of how to process the material or manufacture a part.</a:t>
            </a:r>
          </a:p>
          <a:p>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48</a:t>
            </a:fld>
            <a:endParaRPr lang="en-US" dirty="0"/>
          </a:p>
        </p:txBody>
      </p:sp>
      <p:sp>
        <p:nvSpPr>
          <p:cNvPr id="5" name="Rounded Rectangle 4"/>
          <p:cNvSpPr/>
          <p:nvPr/>
        </p:nvSpPr>
        <p:spPr>
          <a:xfrm>
            <a:off x="249194" y="1366095"/>
            <a:ext cx="8606570" cy="1616256"/>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835926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Selecting a manufacturing process</a:t>
            </a:r>
            <a:endParaRPr lang="en-US" b="1"/>
          </a:p>
        </p:txBody>
      </p:sp>
      <p:sp>
        <p:nvSpPr>
          <p:cNvPr id="3" name="Content Placeholder 2"/>
          <p:cNvSpPr>
            <a:spLocks noGrp="1"/>
          </p:cNvSpPr>
          <p:nvPr>
            <p:ph sz="half" idx="1"/>
          </p:nvPr>
        </p:nvSpPr>
        <p:spPr>
          <a:xfrm>
            <a:off x="564694" y="1180594"/>
            <a:ext cx="8488016" cy="3475814"/>
          </a:xfrm>
        </p:spPr>
        <p:txBody>
          <a:bodyPr/>
          <a:lstStyle/>
          <a:p>
            <a:r>
              <a:rPr lang="en-GB" dirty="0"/>
              <a:t>Consider the cost</a:t>
            </a:r>
          </a:p>
          <a:p>
            <a:r>
              <a:rPr lang="en-GB" dirty="0"/>
              <a:t>Access the capabilities of a manufacturing method</a:t>
            </a:r>
          </a:p>
          <a:p>
            <a:r>
              <a:rPr lang="en-GB" dirty="0"/>
              <a:t>Remember that appearance matters</a:t>
            </a:r>
          </a:p>
          <a:p>
            <a:r>
              <a:rPr lang="en-GB" dirty="0"/>
              <a:t>Think of the type of materials you have</a:t>
            </a:r>
          </a:p>
          <a:p>
            <a:r>
              <a:rPr lang="en-GB" dirty="0"/>
              <a:t>Decide whether you require automation</a:t>
            </a:r>
          </a:p>
          <a:p>
            <a:r>
              <a:rPr lang="en-GB" dirty="0"/>
              <a:t>Do not forget the finishing needs.</a:t>
            </a:r>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49</a:t>
            </a:fld>
            <a:endParaRPr lang="en-US" dirty="0"/>
          </a:p>
        </p:txBody>
      </p:sp>
      <p:sp>
        <p:nvSpPr>
          <p:cNvPr id="5" name="Rounded Rectangle 4"/>
          <p:cNvSpPr/>
          <p:nvPr/>
        </p:nvSpPr>
        <p:spPr>
          <a:xfrm>
            <a:off x="249194" y="1152457"/>
            <a:ext cx="8177354" cy="3180392"/>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980801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3C507-C597-B862-7FAF-4661B9AD5F00}"/>
              </a:ext>
            </a:extLst>
          </p:cNvPr>
          <p:cNvSpPr>
            <a:spLocks noGrp="1"/>
          </p:cNvSpPr>
          <p:nvPr>
            <p:ph type="title"/>
          </p:nvPr>
        </p:nvSpPr>
        <p:spPr>
          <a:xfrm>
            <a:off x="327992" y="-73815"/>
            <a:ext cx="8488016" cy="768971"/>
          </a:xfrm>
        </p:spPr>
        <p:txBody>
          <a:bodyPr/>
          <a:lstStyle/>
          <a:p>
            <a:r>
              <a:rPr lang="en-US" sz="3500" b="1" dirty="0"/>
              <a:t>Factors to consider when selecting a manufacturing process</a:t>
            </a:r>
          </a:p>
        </p:txBody>
      </p:sp>
      <p:sp>
        <p:nvSpPr>
          <p:cNvPr id="3" name="Content Placeholder 2">
            <a:extLst>
              <a:ext uri="{FF2B5EF4-FFF2-40B4-BE49-F238E27FC236}">
                <a16:creationId xmlns:a16="http://schemas.microsoft.com/office/drawing/2014/main" id="{68F0E95A-D897-D30E-1EC9-490DFDB3FAFF}"/>
              </a:ext>
            </a:extLst>
          </p:cNvPr>
          <p:cNvSpPr>
            <a:spLocks noGrp="1"/>
          </p:cNvSpPr>
          <p:nvPr>
            <p:ph sz="half" idx="1"/>
          </p:nvPr>
        </p:nvSpPr>
        <p:spPr/>
        <p:txBody>
          <a:bodyPr>
            <a:normAutofit lnSpcReduction="10000"/>
          </a:bodyPr>
          <a:lstStyle/>
          <a:p>
            <a:r>
              <a:rPr lang="en-US" dirty="0"/>
              <a:t>Cost</a:t>
            </a:r>
          </a:p>
          <a:p>
            <a:r>
              <a:rPr lang="en-US" dirty="0"/>
              <a:t>Materials to be used</a:t>
            </a:r>
          </a:p>
          <a:p>
            <a:r>
              <a:rPr lang="en-US" dirty="0"/>
              <a:t>Quality and durability</a:t>
            </a:r>
          </a:p>
          <a:p>
            <a:r>
              <a:rPr lang="en-US" dirty="0"/>
              <a:t>Available skills and resources</a:t>
            </a:r>
          </a:p>
          <a:p>
            <a:r>
              <a:rPr lang="en-US" dirty="0"/>
              <a:t>Scalability</a:t>
            </a:r>
          </a:p>
          <a:p>
            <a:r>
              <a:rPr lang="en-US" dirty="0"/>
              <a:t>Time to market</a:t>
            </a:r>
          </a:p>
          <a:p>
            <a:r>
              <a:rPr lang="en-US" dirty="0" err="1"/>
              <a:t>Customisation</a:t>
            </a:r>
            <a:r>
              <a:rPr lang="en-US" dirty="0"/>
              <a:t> and flexibility</a:t>
            </a:r>
          </a:p>
          <a:p>
            <a:r>
              <a:rPr lang="en-US" dirty="0"/>
              <a:t>Sustainability and environmental impact</a:t>
            </a:r>
          </a:p>
          <a:p>
            <a:r>
              <a:rPr lang="en-US" dirty="0"/>
              <a:t>Compliance to regulatory and standard requirements</a:t>
            </a:r>
          </a:p>
          <a:p>
            <a:r>
              <a:rPr lang="en-US" dirty="0"/>
              <a:t>Risk assessment</a:t>
            </a:r>
          </a:p>
        </p:txBody>
      </p:sp>
      <p:sp>
        <p:nvSpPr>
          <p:cNvPr id="4" name="Slide Number Placeholder 3">
            <a:extLst>
              <a:ext uri="{FF2B5EF4-FFF2-40B4-BE49-F238E27FC236}">
                <a16:creationId xmlns:a16="http://schemas.microsoft.com/office/drawing/2014/main" id="{E683F7DA-17B4-6E96-841F-E839C36E6AF0}"/>
              </a:ext>
            </a:extLst>
          </p:cNvPr>
          <p:cNvSpPr>
            <a:spLocks noGrp="1"/>
          </p:cNvSpPr>
          <p:nvPr>
            <p:ph type="sldNum" sz="quarter" idx="12"/>
          </p:nvPr>
        </p:nvSpPr>
        <p:spPr/>
        <p:txBody>
          <a:bodyPr/>
          <a:lstStyle/>
          <a:p>
            <a:fld id="{F4801FD5-11B4-DE43-ACA2-E85EEB9A6F9C}" type="slidenum">
              <a:rPr lang="en-US" smtClean="0"/>
              <a:pPr/>
              <a:t>50</a:t>
            </a:fld>
            <a:endParaRPr lang="en-US" dirty="0"/>
          </a:p>
        </p:txBody>
      </p:sp>
      <p:sp>
        <p:nvSpPr>
          <p:cNvPr id="5" name="Rounded Rectangle 4">
            <a:extLst>
              <a:ext uri="{FF2B5EF4-FFF2-40B4-BE49-F238E27FC236}">
                <a16:creationId xmlns:a16="http://schemas.microsoft.com/office/drawing/2014/main" id="{FC3C1AF4-8535-DE74-0477-4FF25E3C986D}"/>
              </a:ext>
            </a:extLst>
          </p:cNvPr>
          <p:cNvSpPr/>
          <p:nvPr/>
        </p:nvSpPr>
        <p:spPr>
          <a:xfrm>
            <a:off x="249194" y="1058327"/>
            <a:ext cx="8177354" cy="5025457"/>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45623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CADC5-6C9E-A798-73BE-A950DF0E8244}"/>
              </a:ext>
            </a:extLst>
          </p:cNvPr>
          <p:cNvSpPr>
            <a:spLocks noGrp="1"/>
          </p:cNvSpPr>
          <p:nvPr>
            <p:ph type="title"/>
          </p:nvPr>
        </p:nvSpPr>
        <p:spPr/>
        <p:txBody>
          <a:bodyPr/>
          <a:lstStyle/>
          <a:p>
            <a:r>
              <a:rPr lang="en-US" b="1" dirty="0"/>
              <a:t>Case Study</a:t>
            </a:r>
          </a:p>
        </p:txBody>
      </p:sp>
      <p:sp>
        <p:nvSpPr>
          <p:cNvPr id="3" name="Content Placeholder 2">
            <a:extLst>
              <a:ext uri="{FF2B5EF4-FFF2-40B4-BE49-F238E27FC236}">
                <a16:creationId xmlns:a16="http://schemas.microsoft.com/office/drawing/2014/main" id="{A57F9DBA-726A-D92A-1621-FE7A34854FD6}"/>
              </a:ext>
            </a:extLst>
          </p:cNvPr>
          <p:cNvSpPr>
            <a:spLocks noGrp="1"/>
          </p:cNvSpPr>
          <p:nvPr>
            <p:ph sz="half" idx="1"/>
          </p:nvPr>
        </p:nvSpPr>
        <p:spPr>
          <a:xfrm>
            <a:off x="268941" y="1125563"/>
            <a:ext cx="8680952" cy="5025457"/>
          </a:xfrm>
        </p:spPr>
        <p:txBody>
          <a:bodyPr/>
          <a:lstStyle/>
          <a:p>
            <a:pPr marL="0" indent="0" algn="just">
              <a:buNone/>
            </a:pPr>
            <a:r>
              <a:rPr lang="en-US" b="0" i="0" dirty="0">
                <a:effectLst/>
              </a:rPr>
              <a:t>You are tasked to design and manufacture a desk to be used by KNUST students. The desk needs to meet various criteria such as </a:t>
            </a:r>
            <a:r>
              <a:rPr lang="en-US" b="1" i="0" dirty="0">
                <a:effectLst/>
              </a:rPr>
              <a:t>affordability</a:t>
            </a:r>
            <a:r>
              <a:rPr lang="en-US" b="0" i="0" dirty="0">
                <a:effectLst/>
              </a:rPr>
              <a:t>, </a:t>
            </a:r>
            <a:r>
              <a:rPr lang="en-US" b="1" i="0" dirty="0">
                <a:effectLst/>
              </a:rPr>
              <a:t>durability,</a:t>
            </a:r>
            <a:r>
              <a:rPr lang="en-US" b="0" i="0" dirty="0">
                <a:effectLst/>
              </a:rPr>
              <a:t> </a:t>
            </a:r>
            <a:r>
              <a:rPr lang="en-US" b="1" i="0" dirty="0">
                <a:effectLst/>
              </a:rPr>
              <a:t>ergonomics</a:t>
            </a:r>
            <a:r>
              <a:rPr lang="en-US" b="0" i="0" dirty="0">
                <a:effectLst/>
              </a:rPr>
              <a:t>, and </a:t>
            </a:r>
            <a:r>
              <a:rPr lang="en-US" b="1" i="0" dirty="0">
                <a:effectLst/>
              </a:rPr>
              <a:t>ease of assembly</a:t>
            </a:r>
            <a:r>
              <a:rPr lang="en-US" b="0" i="0" dirty="0">
                <a:effectLst/>
              </a:rPr>
              <a:t>. To ensure the successful production of the desk, carefully evaluate different manufacturing methods and select the most suitable one.</a:t>
            </a:r>
            <a:endParaRPr lang="en-US" dirty="0"/>
          </a:p>
        </p:txBody>
      </p:sp>
      <p:sp>
        <p:nvSpPr>
          <p:cNvPr id="4" name="Slide Number Placeholder 3">
            <a:extLst>
              <a:ext uri="{FF2B5EF4-FFF2-40B4-BE49-F238E27FC236}">
                <a16:creationId xmlns:a16="http://schemas.microsoft.com/office/drawing/2014/main" id="{9B3314CD-CE23-8A64-9343-93FF188FB624}"/>
              </a:ext>
            </a:extLst>
          </p:cNvPr>
          <p:cNvSpPr>
            <a:spLocks noGrp="1"/>
          </p:cNvSpPr>
          <p:nvPr>
            <p:ph type="sldNum" sz="quarter" idx="12"/>
          </p:nvPr>
        </p:nvSpPr>
        <p:spPr/>
        <p:txBody>
          <a:bodyPr/>
          <a:lstStyle/>
          <a:p>
            <a:fld id="{F4801FD5-11B4-DE43-ACA2-E85EEB9A6F9C}" type="slidenum">
              <a:rPr lang="en-US" smtClean="0"/>
              <a:pPr/>
              <a:t>51</a:t>
            </a:fld>
            <a:endParaRPr lang="en-US" dirty="0"/>
          </a:p>
        </p:txBody>
      </p:sp>
    </p:spTree>
    <p:extLst>
      <p:ext uri="{BB962C8B-B14F-4D97-AF65-F5344CB8AC3E}">
        <p14:creationId xmlns:p14="http://schemas.microsoft.com/office/powerpoint/2010/main" val="42789882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BAB85-C960-D81D-7241-6FFF68647576}"/>
              </a:ext>
            </a:extLst>
          </p:cNvPr>
          <p:cNvSpPr>
            <a:spLocks noGrp="1"/>
          </p:cNvSpPr>
          <p:nvPr>
            <p:ph type="title"/>
          </p:nvPr>
        </p:nvSpPr>
        <p:spPr/>
        <p:txBody>
          <a:bodyPr/>
          <a:lstStyle/>
          <a:p>
            <a:r>
              <a:rPr lang="en-US" b="1" dirty="0"/>
              <a:t>Case Study cont. (Method)</a:t>
            </a:r>
          </a:p>
        </p:txBody>
      </p:sp>
      <p:graphicFrame>
        <p:nvGraphicFramePr>
          <p:cNvPr id="5" name="Table 5">
            <a:extLst>
              <a:ext uri="{FF2B5EF4-FFF2-40B4-BE49-F238E27FC236}">
                <a16:creationId xmlns:a16="http://schemas.microsoft.com/office/drawing/2014/main" id="{0283615F-CB3C-08D4-0EB4-8D2FE61A7F6C}"/>
              </a:ext>
            </a:extLst>
          </p:cNvPr>
          <p:cNvGraphicFramePr>
            <a:graphicFrameLocks noGrp="1"/>
          </p:cNvGraphicFramePr>
          <p:nvPr>
            <p:ph sz="half" idx="1"/>
            <p:extLst>
              <p:ext uri="{D42A27DB-BD31-4B8C-83A1-F6EECF244321}">
                <p14:modId xmlns:p14="http://schemas.microsoft.com/office/powerpoint/2010/main" val="3423815543"/>
              </p:ext>
            </p:extLst>
          </p:nvPr>
        </p:nvGraphicFramePr>
        <p:xfrm>
          <a:off x="367748" y="1542490"/>
          <a:ext cx="8486772" cy="2936240"/>
        </p:xfrm>
        <a:graphic>
          <a:graphicData uri="http://schemas.openxmlformats.org/drawingml/2006/table">
            <a:tbl>
              <a:tblPr firstRow="1" bandRow="1">
                <a:tableStyleId>{5C22544A-7EE6-4342-B048-85BDC9FD1C3A}</a:tableStyleId>
              </a:tblPr>
              <a:tblGrid>
                <a:gridCol w="2121693">
                  <a:extLst>
                    <a:ext uri="{9D8B030D-6E8A-4147-A177-3AD203B41FA5}">
                      <a16:colId xmlns:a16="http://schemas.microsoft.com/office/drawing/2014/main" val="2321803011"/>
                    </a:ext>
                  </a:extLst>
                </a:gridCol>
                <a:gridCol w="2121693">
                  <a:extLst>
                    <a:ext uri="{9D8B030D-6E8A-4147-A177-3AD203B41FA5}">
                      <a16:colId xmlns:a16="http://schemas.microsoft.com/office/drawing/2014/main" val="1796709573"/>
                    </a:ext>
                  </a:extLst>
                </a:gridCol>
                <a:gridCol w="2121693">
                  <a:extLst>
                    <a:ext uri="{9D8B030D-6E8A-4147-A177-3AD203B41FA5}">
                      <a16:colId xmlns:a16="http://schemas.microsoft.com/office/drawing/2014/main" val="4115254317"/>
                    </a:ext>
                  </a:extLst>
                </a:gridCol>
                <a:gridCol w="2121693">
                  <a:extLst>
                    <a:ext uri="{9D8B030D-6E8A-4147-A177-3AD203B41FA5}">
                      <a16:colId xmlns:a16="http://schemas.microsoft.com/office/drawing/2014/main" val="4223246176"/>
                    </a:ext>
                  </a:extLst>
                </a:gridCol>
              </a:tblGrid>
              <a:tr h="370840">
                <a:tc>
                  <a:txBody>
                    <a:bodyPr/>
                    <a:lstStyle/>
                    <a:p>
                      <a:r>
                        <a:rPr lang="en-US" dirty="0"/>
                        <a:t>Cost (Cost effective)</a:t>
                      </a:r>
                    </a:p>
                  </a:txBody>
                  <a:tcPr/>
                </a:tc>
                <a:tc>
                  <a:txBody>
                    <a:bodyPr/>
                    <a:lstStyle/>
                    <a:p>
                      <a:r>
                        <a:rPr lang="en-US" dirty="0"/>
                        <a:t>Durability (strong and long lasting)</a:t>
                      </a:r>
                    </a:p>
                  </a:txBody>
                  <a:tcPr/>
                </a:tc>
                <a:tc>
                  <a:txBody>
                    <a:bodyPr/>
                    <a:lstStyle/>
                    <a:p>
                      <a:r>
                        <a:rPr lang="en-US" dirty="0"/>
                        <a:t>Ergonomics (Comfort and safety)</a:t>
                      </a:r>
                    </a:p>
                  </a:txBody>
                  <a:tcPr/>
                </a:tc>
                <a:tc>
                  <a:txBody>
                    <a:bodyPr/>
                    <a:lstStyle/>
                    <a:p>
                      <a:r>
                        <a:rPr lang="en-US" dirty="0"/>
                        <a:t>Assembly (Easy and efficient assembly processes)</a:t>
                      </a:r>
                    </a:p>
                  </a:txBody>
                  <a:tcPr/>
                </a:tc>
                <a:extLst>
                  <a:ext uri="{0D108BD9-81ED-4DB2-BD59-A6C34878D82A}">
                    <a16:rowId xmlns:a16="http://schemas.microsoft.com/office/drawing/2014/main" val="3606266715"/>
                  </a:ext>
                </a:extLst>
              </a:tr>
              <a:tr h="370840">
                <a:tc>
                  <a:txBody>
                    <a:bodyPr/>
                    <a:lstStyle/>
                    <a:p>
                      <a:r>
                        <a:rPr lang="en-US" dirty="0"/>
                        <a:t>Material cost</a:t>
                      </a:r>
                    </a:p>
                  </a:txBody>
                  <a:tcPr/>
                </a:tc>
                <a:tc>
                  <a:txBody>
                    <a:bodyPr/>
                    <a:lstStyle/>
                    <a:p>
                      <a:r>
                        <a:rPr lang="en-US" dirty="0"/>
                        <a:t>Structural integrity</a:t>
                      </a:r>
                    </a:p>
                  </a:txBody>
                  <a:tcPr/>
                </a:tc>
                <a:tc>
                  <a:txBody>
                    <a:bodyPr/>
                    <a:lstStyle/>
                    <a:p>
                      <a:r>
                        <a:rPr lang="en-US" dirty="0"/>
                        <a:t>Adjustable features</a:t>
                      </a:r>
                    </a:p>
                  </a:txBody>
                  <a:tcPr/>
                </a:tc>
                <a:tc>
                  <a:txBody>
                    <a:bodyPr/>
                    <a:lstStyle/>
                    <a:p>
                      <a:r>
                        <a:rPr lang="en-US" dirty="0"/>
                        <a:t>Easy assembly steps</a:t>
                      </a:r>
                    </a:p>
                  </a:txBody>
                  <a:tcPr/>
                </a:tc>
                <a:extLst>
                  <a:ext uri="{0D108BD9-81ED-4DB2-BD59-A6C34878D82A}">
                    <a16:rowId xmlns:a16="http://schemas.microsoft.com/office/drawing/2014/main" val="3651449176"/>
                  </a:ext>
                </a:extLst>
              </a:tr>
              <a:tr h="370840">
                <a:tc>
                  <a:txBody>
                    <a:bodyPr/>
                    <a:lstStyle/>
                    <a:p>
                      <a:r>
                        <a:rPr lang="en-US" dirty="0" err="1"/>
                        <a:t>Labour</a:t>
                      </a:r>
                      <a:r>
                        <a:rPr lang="en-US" dirty="0"/>
                        <a:t> cost</a:t>
                      </a:r>
                    </a:p>
                  </a:txBody>
                  <a:tcPr/>
                </a:tc>
                <a:tc>
                  <a:txBody>
                    <a:bodyPr/>
                    <a:lstStyle/>
                    <a:p>
                      <a:r>
                        <a:rPr lang="en-US" dirty="0"/>
                        <a:t>Durability</a:t>
                      </a:r>
                    </a:p>
                  </a:txBody>
                  <a:tcPr/>
                </a:tc>
                <a:tc>
                  <a:txBody>
                    <a:bodyPr/>
                    <a:lstStyle/>
                    <a:p>
                      <a:r>
                        <a:rPr lang="en-US" dirty="0"/>
                        <a:t>Adjustable height etc.</a:t>
                      </a:r>
                    </a:p>
                  </a:txBody>
                  <a:tcPr/>
                </a:tc>
                <a:tc>
                  <a:txBody>
                    <a:bodyPr/>
                    <a:lstStyle/>
                    <a:p>
                      <a:r>
                        <a:rPr lang="en-US" dirty="0"/>
                        <a:t>Simple tools</a:t>
                      </a:r>
                    </a:p>
                  </a:txBody>
                  <a:tcPr/>
                </a:tc>
                <a:extLst>
                  <a:ext uri="{0D108BD9-81ED-4DB2-BD59-A6C34878D82A}">
                    <a16:rowId xmlns:a16="http://schemas.microsoft.com/office/drawing/2014/main" val="1279185862"/>
                  </a:ext>
                </a:extLst>
              </a:tr>
              <a:tr h="370840">
                <a:tc>
                  <a:txBody>
                    <a:bodyPr/>
                    <a:lstStyle/>
                    <a:p>
                      <a:r>
                        <a:rPr lang="en-US" dirty="0"/>
                        <a:t>Equipment investment</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670308889"/>
                  </a:ext>
                </a:extLst>
              </a:tr>
              <a:tr h="370840">
                <a:tc>
                  <a:txBody>
                    <a:bodyPr/>
                    <a:lstStyle/>
                    <a:p>
                      <a:r>
                        <a:rPr lang="en-US" dirty="0"/>
                        <a:t>Economies of scale</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304421135"/>
                  </a:ext>
                </a:extLst>
              </a:tr>
            </a:tbl>
          </a:graphicData>
        </a:graphic>
      </p:graphicFrame>
      <p:sp>
        <p:nvSpPr>
          <p:cNvPr id="4" name="Slide Number Placeholder 3">
            <a:extLst>
              <a:ext uri="{FF2B5EF4-FFF2-40B4-BE49-F238E27FC236}">
                <a16:creationId xmlns:a16="http://schemas.microsoft.com/office/drawing/2014/main" id="{BE8D9FEE-B44C-D138-30B2-DEC67A5C4402}"/>
              </a:ext>
            </a:extLst>
          </p:cNvPr>
          <p:cNvSpPr>
            <a:spLocks noGrp="1"/>
          </p:cNvSpPr>
          <p:nvPr>
            <p:ph type="sldNum" sz="quarter" idx="12"/>
          </p:nvPr>
        </p:nvSpPr>
        <p:spPr/>
        <p:txBody>
          <a:bodyPr/>
          <a:lstStyle/>
          <a:p>
            <a:fld id="{F4801FD5-11B4-DE43-ACA2-E85EEB9A6F9C}" type="slidenum">
              <a:rPr lang="en-US" smtClean="0"/>
              <a:pPr/>
              <a:t>52</a:t>
            </a:fld>
            <a:endParaRPr lang="en-US" dirty="0"/>
          </a:p>
        </p:txBody>
      </p:sp>
    </p:spTree>
    <p:extLst>
      <p:ext uri="{BB962C8B-B14F-4D97-AF65-F5344CB8AC3E}">
        <p14:creationId xmlns:p14="http://schemas.microsoft.com/office/powerpoint/2010/main" val="4830801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C8CA8-F578-F3CF-53A8-E74495E9B2A9}"/>
              </a:ext>
            </a:extLst>
          </p:cNvPr>
          <p:cNvSpPr>
            <a:spLocks noGrp="1"/>
          </p:cNvSpPr>
          <p:nvPr>
            <p:ph type="title"/>
          </p:nvPr>
        </p:nvSpPr>
        <p:spPr/>
        <p:txBody>
          <a:bodyPr/>
          <a:lstStyle/>
          <a:p>
            <a:r>
              <a:rPr lang="en-US" sz="3700" b="1" dirty="0"/>
              <a:t>Evaluation of Manufacturing Methods</a:t>
            </a:r>
          </a:p>
        </p:txBody>
      </p:sp>
      <p:graphicFrame>
        <p:nvGraphicFramePr>
          <p:cNvPr id="5" name="Table 5">
            <a:extLst>
              <a:ext uri="{FF2B5EF4-FFF2-40B4-BE49-F238E27FC236}">
                <a16:creationId xmlns:a16="http://schemas.microsoft.com/office/drawing/2014/main" id="{3561C704-9DFB-6162-2EC5-4EB0A1549981}"/>
              </a:ext>
            </a:extLst>
          </p:cNvPr>
          <p:cNvGraphicFramePr>
            <a:graphicFrameLocks noGrp="1"/>
          </p:cNvGraphicFramePr>
          <p:nvPr>
            <p:ph sz="half" idx="1"/>
            <p:extLst>
              <p:ext uri="{D42A27DB-BD31-4B8C-83A1-F6EECF244321}">
                <p14:modId xmlns:p14="http://schemas.microsoft.com/office/powerpoint/2010/main" val="1164709922"/>
              </p:ext>
            </p:extLst>
          </p:nvPr>
        </p:nvGraphicFramePr>
        <p:xfrm>
          <a:off x="126645" y="1070094"/>
          <a:ext cx="8890710" cy="5154722"/>
        </p:xfrm>
        <a:graphic>
          <a:graphicData uri="http://schemas.openxmlformats.org/drawingml/2006/table">
            <a:tbl>
              <a:tblPr firstRow="1" bandRow="1">
                <a:tableStyleId>{5C22544A-7EE6-4342-B048-85BDC9FD1C3A}</a:tableStyleId>
              </a:tblPr>
              <a:tblGrid>
                <a:gridCol w="2222678">
                  <a:extLst>
                    <a:ext uri="{9D8B030D-6E8A-4147-A177-3AD203B41FA5}">
                      <a16:colId xmlns:a16="http://schemas.microsoft.com/office/drawing/2014/main" val="3498481417"/>
                    </a:ext>
                  </a:extLst>
                </a:gridCol>
                <a:gridCol w="2222678">
                  <a:extLst>
                    <a:ext uri="{9D8B030D-6E8A-4147-A177-3AD203B41FA5}">
                      <a16:colId xmlns:a16="http://schemas.microsoft.com/office/drawing/2014/main" val="355758645"/>
                    </a:ext>
                  </a:extLst>
                </a:gridCol>
                <a:gridCol w="2327617">
                  <a:extLst>
                    <a:ext uri="{9D8B030D-6E8A-4147-A177-3AD203B41FA5}">
                      <a16:colId xmlns:a16="http://schemas.microsoft.com/office/drawing/2014/main" val="1773631640"/>
                    </a:ext>
                  </a:extLst>
                </a:gridCol>
                <a:gridCol w="2117737">
                  <a:extLst>
                    <a:ext uri="{9D8B030D-6E8A-4147-A177-3AD203B41FA5}">
                      <a16:colId xmlns:a16="http://schemas.microsoft.com/office/drawing/2014/main" val="1584393994"/>
                    </a:ext>
                  </a:extLst>
                </a:gridCol>
              </a:tblGrid>
              <a:tr h="610320">
                <a:tc>
                  <a:txBody>
                    <a:bodyPr/>
                    <a:lstStyle/>
                    <a:p>
                      <a:r>
                        <a:rPr lang="en-US" sz="1800" dirty="0"/>
                        <a:t>Woodworking</a:t>
                      </a:r>
                    </a:p>
                  </a:txBody>
                  <a:tcPr/>
                </a:tc>
                <a:tc>
                  <a:txBody>
                    <a:bodyPr/>
                    <a:lstStyle/>
                    <a:p>
                      <a:r>
                        <a:rPr lang="en-US" sz="1800" dirty="0"/>
                        <a:t>Sheet metal fabrication</a:t>
                      </a:r>
                    </a:p>
                  </a:txBody>
                  <a:tcPr/>
                </a:tc>
                <a:tc>
                  <a:txBody>
                    <a:bodyPr/>
                    <a:lstStyle/>
                    <a:p>
                      <a:r>
                        <a:rPr lang="en-US" sz="1800" dirty="0"/>
                        <a:t>Injection molding</a:t>
                      </a:r>
                    </a:p>
                  </a:txBody>
                  <a:tcPr/>
                </a:tc>
                <a:tc>
                  <a:txBody>
                    <a:bodyPr/>
                    <a:lstStyle/>
                    <a:p>
                      <a:r>
                        <a:rPr lang="en-US" sz="1800" dirty="0"/>
                        <a:t>Hybrid</a:t>
                      </a:r>
                    </a:p>
                  </a:txBody>
                  <a:tcPr/>
                </a:tc>
                <a:extLst>
                  <a:ext uri="{0D108BD9-81ED-4DB2-BD59-A6C34878D82A}">
                    <a16:rowId xmlns:a16="http://schemas.microsoft.com/office/drawing/2014/main" val="3701356971"/>
                  </a:ext>
                </a:extLst>
              </a:tr>
              <a:tr h="1395018">
                <a:tc>
                  <a:txBody>
                    <a:bodyPr/>
                    <a:lstStyle/>
                    <a:p>
                      <a:r>
                        <a:rPr lang="en-US" sz="1800" dirty="0"/>
                        <a:t>Traditional wood working using wood.</a:t>
                      </a:r>
                    </a:p>
                  </a:txBody>
                  <a:tcPr/>
                </a:tc>
                <a:tc>
                  <a:txBody>
                    <a:bodyPr/>
                    <a:lstStyle/>
                    <a:p>
                      <a:r>
                        <a:rPr lang="en-US" sz="1800" b="0" i="0" kern="1200" dirty="0">
                          <a:solidFill>
                            <a:schemeClr val="dk1"/>
                          </a:solidFill>
                          <a:effectLst/>
                          <a:latin typeface="+mn-lt"/>
                          <a:ea typeface="+mn-ea"/>
                          <a:cs typeface="+mn-cs"/>
                        </a:rPr>
                        <a:t>Cutting, bending, and assembling metal sheets to form the desk structure.</a:t>
                      </a:r>
                      <a:endParaRPr lang="en-US" sz="1800" dirty="0"/>
                    </a:p>
                  </a:txBody>
                  <a:tcPr/>
                </a:tc>
                <a:tc>
                  <a:txBody>
                    <a:bodyPr/>
                    <a:lstStyle/>
                    <a:p>
                      <a:r>
                        <a:rPr lang="en-US" sz="1800" b="0" i="0" kern="1200" dirty="0">
                          <a:solidFill>
                            <a:schemeClr val="dk1"/>
                          </a:solidFill>
                          <a:effectLst/>
                          <a:latin typeface="+mn-lt"/>
                          <a:ea typeface="+mn-ea"/>
                          <a:cs typeface="+mn-cs"/>
                        </a:rPr>
                        <a:t>Plastic manufacturing process suitable for large-scale production</a:t>
                      </a:r>
                      <a:endParaRPr lang="en-US" sz="1800" dirty="0"/>
                    </a:p>
                  </a:txBody>
                  <a:tcPr/>
                </a:tc>
                <a:tc>
                  <a:txBody>
                    <a:bodyPr/>
                    <a:lstStyle/>
                    <a:p>
                      <a:r>
                        <a:rPr lang="en-US" sz="1800" b="0" i="0" kern="1200" dirty="0">
                          <a:solidFill>
                            <a:schemeClr val="dk1"/>
                          </a:solidFill>
                          <a:effectLst/>
                          <a:latin typeface="+mn-lt"/>
                          <a:ea typeface="+mn-ea"/>
                          <a:cs typeface="+mn-cs"/>
                        </a:rPr>
                        <a:t>Sheet metal for the desk structure and wood for the work surface</a:t>
                      </a:r>
                      <a:endParaRPr lang="en-US" sz="1800" dirty="0"/>
                    </a:p>
                  </a:txBody>
                  <a:tcPr/>
                </a:tc>
                <a:extLst>
                  <a:ext uri="{0D108BD9-81ED-4DB2-BD59-A6C34878D82A}">
                    <a16:rowId xmlns:a16="http://schemas.microsoft.com/office/drawing/2014/main" val="4218529131"/>
                  </a:ext>
                </a:extLst>
              </a:tr>
              <a:tr h="139501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High level of customization and aesthetics.</a:t>
                      </a:r>
                      <a:endParaRPr lang="en-US" sz="1800" dirty="0"/>
                    </a:p>
                  </a:txBody>
                  <a:tcPr/>
                </a:tc>
                <a:tc>
                  <a:txBody>
                    <a:bodyPr/>
                    <a:lstStyle/>
                    <a:p>
                      <a:r>
                        <a:rPr lang="en-US" sz="1800" b="0" i="0" kern="1200" dirty="0">
                          <a:solidFill>
                            <a:schemeClr val="dk1"/>
                          </a:solidFill>
                          <a:effectLst/>
                          <a:latin typeface="+mn-lt"/>
                          <a:ea typeface="+mn-ea"/>
                          <a:cs typeface="+mn-cs"/>
                        </a:rPr>
                        <a:t>Excellent durability, a wide range of design possibilities, and cost-effective mass production</a:t>
                      </a:r>
                      <a:endParaRPr lang="en-US" sz="1800" dirty="0"/>
                    </a:p>
                  </a:txBody>
                  <a:tcPr/>
                </a:tc>
                <a:tc>
                  <a:txBody>
                    <a:bodyPr/>
                    <a:lstStyle/>
                    <a:p>
                      <a:r>
                        <a:rPr lang="en-US" sz="1800" b="0" i="0" kern="1200" dirty="0">
                          <a:solidFill>
                            <a:schemeClr val="dk1"/>
                          </a:solidFill>
                          <a:effectLst/>
                          <a:latin typeface="+mn-lt"/>
                          <a:ea typeface="+mn-ea"/>
                          <a:cs typeface="+mn-cs"/>
                        </a:rPr>
                        <a:t>design flexibility, cost-effectiveness, and rapid production.</a:t>
                      </a:r>
                      <a:endParaRPr lang="en-US" sz="1800" dirty="0"/>
                    </a:p>
                  </a:txBody>
                  <a:tcPr/>
                </a:tc>
                <a:tc>
                  <a:txBody>
                    <a:bodyPr/>
                    <a:lstStyle/>
                    <a:p>
                      <a:r>
                        <a:rPr lang="en-US" sz="1800" b="0" i="0" kern="1200" dirty="0">
                          <a:solidFill>
                            <a:schemeClr val="dk1"/>
                          </a:solidFill>
                          <a:effectLst/>
                          <a:latin typeface="+mn-lt"/>
                          <a:ea typeface="+mn-ea"/>
                          <a:cs typeface="+mn-cs"/>
                        </a:rPr>
                        <a:t>could provide a balance between durability, aesthetics, and cost-effectiveness.</a:t>
                      </a:r>
                      <a:endParaRPr lang="en-US" sz="1800" dirty="0"/>
                    </a:p>
                  </a:txBody>
                  <a:tcPr/>
                </a:tc>
                <a:extLst>
                  <a:ext uri="{0D108BD9-81ED-4DB2-BD59-A6C34878D82A}">
                    <a16:rowId xmlns:a16="http://schemas.microsoft.com/office/drawing/2014/main" val="3886865040"/>
                  </a:ext>
                </a:extLst>
              </a:tr>
              <a:tr h="1656584">
                <a:tc>
                  <a:txBody>
                    <a:bodyPr/>
                    <a:lstStyle/>
                    <a:p>
                      <a:r>
                        <a:rPr lang="en-US" sz="1800" b="0" i="0" kern="1200" dirty="0">
                          <a:solidFill>
                            <a:schemeClr val="dk1"/>
                          </a:solidFill>
                          <a:effectLst/>
                          <a:latin typeface="+mn-lt"/>
                          <a:ea typeface="+mn-ea"/>
                          <a:cs typeface="+mn-cs"/>
                        </a:rPr>
                        <a:t>May involve higher material costs, longer production time, skilled labor, and may not be sustainable.</a:t>
                      </a:r>
                      <a:endParaRPr lang="en-US" sz="1800" dirty="0"/>
                    </a:p>
                  </a:txBody>
                  <a:tcPr/>
                </a:tc>
                <a:tc>
                  <a:txBody>
                    <a:bodyPr/>
                    <a:lstStyle/>
                    <a:p>
                      <a:r>
                        <a:rPr lang="en-US" sz="1800" b="0" i="0" kern="1200" dirty="0">
                          <a:solidFill>
                            <a:schemeClr val="dk1"/>
                          </a:solidFill>
                          <a:effectLst/>
                          <a:latin typeface="+mn-lt"/>
                          <a:ea typeface="+mn-ea"/>
                          <a:cs typeface="+mn-cs"/>
                        </a:rPr>
                        <a:t>Ergonomics considerations and ease of assembly may be more challenging to achieve.</a:t>
                      </a:r>
                      <a:endParaRPr lang="en-US" sz="1800" dirty="0"/>
                    </a:p>
                  </a:txBody>
                  <a:tcPr/>
                </a:tc>
                <a:tc>
                  <a:txBody>
                    <a:bodyPr/>
                    <a:lstStyle/>
                    <a:p>
                      <a:r>
                        <a:rPr lang="en-US" sz="1800" b="0" i="0" kern="1200" dirty="0">
                          <a:solidFill>
                            <a:schemeClr val="dk1"/>
                          </a:solidFill>
                          <a:effectLst/>
                          <a:latin typeface="+mn-lt"/>
                          <a:ea typeface="+mn-ea"/>
                          <a:cs typeface="+mn-cs"/>
                        </a:rPr>
                        <a:t>limitations in structural strength and the environmental impact of plastics</a:t>
                      </a:r>
                      <a:endParaRPr lang="en-US" sz="1800" dirty="0"/>
                    </a:p>
                  </a:txBody>
                  <a:tcPr/>
                </a:tc>
                <a:tc>
                  <a:txBody>
                    <a:bodyPr/>
                    <a:lstStyle/>
                    <a:p>
                      <a:endParaRPr lang="en-US" sz="1800" dirty="0"/>
                    </a:p>
                  </a:txBody>
                  <a:tcPr/>
                </a:tc>
                <a:extLst>
                  <a:ext uri="{0D108BD9-81ED-4DB2-BD59-A6C34878D82A}">
                    <a16:rowId xmlns:a16="http://schemas.microsoft.com/office/drawing/2014/main" val="748274949"/>
                  </a:ext>
                </a:extLst>
              </a:tr>
            </a:tbl>
          </a:graphicData>
        </a:graphic>
      </p:graphicFrame>
      <p:sp>
        <p:nvSpPr>
          <p:cNvPr id="4" name="Slide Number Placeholder 3">
            <a:extLst>
              <a:ext uri="{FF2B5EF4-FFF2-40B4-BE49-F238E27FC236}">
                <a16:creationId xmlns:a16="http://schemas.microsoft.com/office/drawing/2014/main" id="{91CECA60-4A05-1D58-33F5-6C3F848F7880}"/>
              </a:ext>
            </a:extLst>
          </p:cNvPr>
          <p:cNvSpPr>
            <a:spLocks noGrp="1"/>
          </p:cNvSpPr>
          <p:nvPr>
            <p:ph type="sldNum" sz="quarter" idx="12"/>
          </p:nvPr>
        </p:nvSpPr>
        <p:spPr/>
        <p:txBody>
          <a:bodyPr/>
          <a:lstStyle/>
          <a:p>
            <a:fld id="{F4801FD5-11B4-DE43-ACA2-E85EEB9A6F9C}" type="slidenum">
              <a:rPr lang="en-US" smtClean="0"/>
              <a:pPr/>
              <a:t>53</a:t>
            </a:fld>
            <a:endParaRPr lang="en-US" dirty="0"/>
          </a:p>
        </p:txBody>
      </p:sp>
    </p:spTree>
    <p:extLst>
      <p:ext uri="{BB962C8B-B14F-4D97-AF65-F5344CB8AC3E}">
        <p14:creationId xmlns:p14="http://schemas.microsoft.com/office/powerpoint/2010/main" val="13794389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9C00D-60F5-151B-223C-FC37FB18DA0C}"/>
              </a:ext>
            </a:extLst>
          </p:cNvPr>
          <p:cNvSpPr>
            <a:spLocks noGrp="1"/>
          </p:cNvSpPr>
          <p:nvPr>
            <p:ph type="title"/>
          </p:nvPr>
        </p:nvSpPr>
        <p:spPr/>
        <p:txBody>
          <a:bodyPr/>
          <a:lstStyle/>
          <a:p>
            <a:r>
              <a:rPr lang="en-US" b="1" dirty="0"/>
              <a:t>Selected Manufacturing Method</a:t>
            </a:r>
          </a:p>
        </p:txBody>
      </p:sp>
      <p:sp>
        <p:nvSpPr>
          <p:cNvPr id="3" name="Content Placeholder 2">
            <a:extLst>
              <a:ext uri="{FF2B5EF4-FFF2-40B4-BE49-F238E27FC236}">
                <a16:creationId xmlns:a16="http://schemas.microsoft.com/office/drawing/2014/main" id="{06023FEB-A831-2224-CA11-50A976249838}"/>
              </a:ext>
            </a:extLst>
          </p:cNvPr>
          <p:cNvSpPr>
            <a:spLocks noGrp="1"/>
          </p:cNvSpPr>
          <p:nvPr>
            <p:ph sz="half" idx="1"/>
          </p:nvPr>
        </p:nvSpPr>
        <p:spPr>
          <a:xfrm>
            <a:off x="367748" y="1340717"/>
            <a:ext cx="8488016" cy="1375590"/>
          </a:xfrm>
        </p:spPr>
        <p:txBody>
          <a:bodyPr/>
          <a:lstStyle/>
          <a:p>
            <a:r>
              <a:rPr lang="en-US" b="1" dirty="0"/>
              <a:t>Hybrid Approach </a:t>
            </a:r>
            <a:r>
              <a:rPr lang="en-US" dirty="0"/>
              <a:t>using </a:t>
            </a:r>
            <a:r>
              <a:rPr lang="en-US" b="0" i="0" dirty="0">
                <a:effectLst/>
              </a:rPr>
              <a:t>metal fabrication for the desk structure and wood working for the work surface.</a:t>
            </a:r>
            <a:endParaRPr lang="en-US" dirty="0"/>
          </a:p>
        </p:txBody>
      </p:sp>
      <p:sp>
        <p:nvSpPr>
          <p:cNvPr id="4" name="Slide Number Placeholder 3">
            <a:extLst>
              <a:ext uri="{FF2B5EF4-FFF2-40B4-BE49-F238E27FC236}">
                <a16:creationId xmlns:a16="http://schemas.microsoft.com/office/drawing/2014/main" id="{487569F8-39B0-09D4-102C-D6AF11CDF921}"/>
              </a:ext>
            </a:extLst>
          </p:cNvPr>
          <p:cNvSpPr>
            <a:spLocks noGrp="1"/>
          </p:cNvSpPr>
          <p:nvPr>
            <p:ph type="sldNum" sz="quarter" idx="12"/>
          </p:nvPr>
        </p:nvSpPr>
        <p:spPr/>
        <p:txBody>
          <a:bodyPr/>
          <a:lstStyle/>
          <a:p>
            <a:fld id="{F4801FD5-11B4-DE43-ACA2-E85EEB9A6F9C}" type="slidenum">
              <a:rPr lang="en-US" smtClean="0"/>
              <a:pPr/>
              <a:t>54</a:t>
            </a:fld>
            <a:endParaRPr lang="en-US" dirty="0"/>
          </a:p>
        </p:txBody>
      </p:sp>
    </p:spTree>
    <p:extLst>
      <p:ext uri="{BB962C8B-B14F-4D97-AF65-F5344CB8AC3E}">
        <p14:creationId xmlns:p14="http://schemas.microsoft.com/office/powerpoint/2010/main" val="5215669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F5E53-BFE0-6A65-F229-99E4FC901D75}"/>
              </a:ext>
            </a:extLst>
          </p:cNvPr>
          <p:cNvSpPr>
            <a:spLocks noGrp="1"/>
          </p:cNvSpPr>
          <p:nvPr>
            <p:ph type="title"/>
          </p:nvPr>
        </p:nvSpPr>
        <p:spPr/>
        <p:txBody>
          <a:bodyPr/>
          <a:lstStyle/>
          <a:p>
            <a:r>
              <a:rPr lang="en-US" b="1" dirty="0"/>
              <a:t>Justification</a:t>
            </a:r>
          </a:p>
        </p:txBody>
      </p:sp>
      <p:sp>
        <p:nvSpPr>
          <p:cNvPr id="3" name="Content Placeholder 2">
            <a:extLst>
              <a:ext uri="{FF2B5EF4-FFF2-40B4-BE49-F238E27FC236}">
                <a16:creationId xmlns:a16="http://schemas.microsoft.com/office/drawing/2014/main" id="{4824F631-F008-5DCA-1DC9-272ACC870C52}"/>
              </a:ext>
            </a:extLst>
          </p:cNvPr>
          <p:cNvSpPr>
            <a:spLocks noGrp="1"/>
          </p:cNvSpPr>
          <p:nvPr>
            <p:ph sz="half" idx="1"/>
          </p:nvPr>
        </p:nvSpPr>
        <p:spPr>
          <a:xfrm>
            <a:off x="268941" y="1152457"/>
            <a:ext cx="8586823" cy="5025457"/>
          </a:xfrm>
        </p:spPr>
        <p:txBody>
          <a:bodyPr>
            <a:normAutofit lnSpcReduction="10000"/>
          </a:bodyPr>
          <a:lstStyle/>
          <a:p>
            <a:pPr algn="just">
              <a:buFont typeface="Arial" panose="020B0604020202020204" pitchFamily="34" charset="0"/>
              <a:buChar char="•"/>
            </a:pPr>
            <a:r>
              <a:rPr lang="en-US" b="1" i="0" dirty="0">
                <a:effectLst/>
              </a:rPr>
              <a:t>Cost-effectiveness: </a:t>
            </a:r>
            <a:r>
              <a:rPr lang="en-US" b="0" i="0" dirty="0">
                <a:effectLst/>
              </a:rPr>
              <a:t>Sheet metal fabrication allows for efficient mass production, reducing overall manufacturing costs.</a:t>
            </a:r>
          </a:p>
          <a:p>
            <a:pPr algn="just">
              <a:buFont typeface="Arial" panose="020B0604020202020204" pitchFamily="34" charset="0"/>
              <a:buChar char="•"/>
            </a:pPr>
            <a:r>
              <a:rPr lang="en-US" b="1" dirty="0">
                <a:effectLst/>
              </a:rPr>
              <a:t>Durability:</a:t>
            </a:r>
            <a:r>
              <a:rPr lang="en-US" b="0" i="0" dirty="0">
                <a:effectLst/>
              </a:rPr>
              <a:t> The metal frame provides sturdy support, while the wooden work surface adds warmth and visual appeal.</a:t>
            </a:r>
          </a:p>
          <a:p>
            <a:pPr algn="just">
              <a:buFont typeface="Arial" panose="020B0604020202020204" pitchFamily="34" charset="0"/>
              <a:buChar char="•"/>
            </a:pPr>
            <a:r>
              <a:rPr lang="en-US" b="1" i="0" dirty="0">
                <a:effectLst/>
              </a:rPr>
              <a:t>Ergonomics:</a:t>
            </a:r>
            <a:r>
              <a:rPr lang="en-US" b="0" i="0" dirty="0">
                <a:effectLst/>
              </a:rPr>
              <a:t> The desk could incorporate height-adjustable features, ensuring ergonomic comfort for a variety of users.</a:t>
            </a:r>
          </a:p>
          <a:p>
            <a:pPr algn="just">
              <a:buFont typeface="Arial" panose="020B0604020202020204" pitchFamily="34" charset="0"/>
              <a:buChar char="•"/>
            </a:pPr>
            <a:r>
              <a:rPr lang="en-US" b="1" i="0" dirty="0">
                <a:effectLst/>
              </a:rPr>
              <a:t>Assembly:</a:t>
            </a:r>
            <a:r>
              <a:rPr lang="en-US" b="0" i="0" dirty="0">
                <a:effectLst/>
              </a:rPr>
              <a:t> The hybrid approach simplifies the assembly process, as the metal structure could be pre-fabricated, and the wooden work surface could be easily attached.</a:t>
            </a:r>
          </a:p>
          <a:p>
            <a:pPr algn="just"/>
            <a:endParaRPr lang="en-US" dirty="0"/>
          </a:p>
        </p:txBody>
      </p:sp>
      <p:sp>
        <p:nvSpPr>
          <p:cNvPr id="4" name="Slide Number Placeholder 3">
            <a:extLst>
              <a:ext uri="{FF2B5EF4-FFF2-40B4-BE49-F238E27FC236}">
                <a16:creationId xmlns:a16="http://schemas.microsoft.com/office/drawing/2014/main" id="{B5202A0D-D2CF-8FC9-A77E-28FE0181BA73}"/>
              </a:ext>
            </a:extLst>
          </p:cNvPr>
          <p:cNvSpPr>
            <a:spLocks noGrp="1"/>
          </p:cNvSpPr>
          <p:nvPr>
            <p:ph type="sldNum" sz="quarter" idx="12"/>
          </p:nvPr>
        </p:nvSpPr>
        <p:spPr/>
        <p:txBody>
          <a:bodyPr/>
          <a:lstStyle/>
          <a:p>
            <a:fld id="{F4801FD5-11B4-DE43-ACA2-E85EEB9A6F9C}" type="slidenum">
              <a:rPr lang="en-US" smtClean="0"/>
              <a:pPr/>
              <a:t>55</a:t>
            </a:fld>
            <a:endParaRPr lang="en-US" dirty="0"/>
          </a:p>
        </p:txBody>
      </p:sp>
    </p:spTree>
    <p:extLst>
      <p:ext uri="{BB962C8B-B14F-4D97-AF65-F5344CB8AC3E}">
        <p14:creationId xmlns:p14="http://schemas.microsoft.com/office/powerpoint/2010/main" val="314277007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Assignment</a:t>
            </a:r>
          </a:p>
        </p:txBody>
      </p:sp>
      <p:sp>
        <p:nvSpPr>
          <p:cNvPr id="3" name="Content Placeholder 2"/>
          <p:cNvSpPr>
            <a:spLocks noGrp="1"/>
          </p:cNvSpPr>
          <p:nvPr>
            <p:ph sz="half" idx="1"/>
          </p:nvPr>
        </p:nvSpPr>
        <p:spPr>
          <a:xfrm>
            <a:off x="367748" y="1152457"/>
            <a:ext cx="8488016" cy="2276543"/>
          </a:xfrm>
        </p:spPr>
        <p:txBody>
          <a:bodyPr/>
          <a:lstStyle/>
          <a:p>
            <a:pPr marL="0" indent="0">
              <a:buNone/>
            </a:pPr>
            <a:r>
              <a:rPr lang="en-GB" dirty="0"/>
              <a:t>You have been contracted to design a food processing product, such as a blender for the Engineering Guest House restaurant. Provide a step-by-step approach for the selection of the right material for the manufacturing of the blender.</a:t>
            </a:r>
          </a:p>
          <a:p>
            <a:endParaRPr lang="en-GB"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56</a:t>
            </a:fld>
            <a:endParaRPr lang="en-US" dirty="0"/>
          </a:p>
        </p:txBody>
      </p:sp>
    </p:spTree>
    <p:extLst>
      <p:ext uri="{BB962C8B-B14F-4D97-AF65-F5344CB8AC3E}">
        <p14:creationId xmlns:p14="http://schemas.microsoft.com/office/powerpoint/2010/main" val="9841086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7748" y="2656972"/>
            <a:ext cx="8488016" cy="986560"/>
          </a:xfrm>
        </p:spPr>
        <p:txBody>
          <a:bodyPr/>
          <a:lstStyle/>
          <a:p>
            <a:r>
              <a:rPr lang="en-GB" sz="6000" b="1" dirty="0"/>
              <a:t>Thank You</a:t>
            </a:r>
            <a:endParaRPr lang="en-US" sz="6000" b="1"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57</a:t>
            </a:fld>
            <a:endParaRPr lang="en-US" dirty="0"/>
          </a:p>
        </p:txBody>
      </p:sp>
    </p:spTree>
    <p:extLst>
      <p:ext uri="{BB962C8B-B14F-4D97-AF65-F5344CB8AC3E}">
        <p14:creationId xmlns:p14="http://schemas.microsoft.com/office/powerpoint/2010/main" val="19419769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32612</TotalTime>
  <Words>3358</Words>
  <Application>Microsoft Office PowerPoint</Application>
  <PresentationFormat>On-screen Show (4:3)</PresentationFormat>
  <Paragraphs>383</Paragraphs>
  <Slides>57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57</vt:i4>
      </vt:variant>
    </vt:vector>
  </HeadingPairs>
  <TitlesOfParts>
    <vt:vector size="63" baseType="lpstr">
      <vt:lpstr>Arial</vt:lpstr>
      <vt:lpstr>Calibri</vt:lpstr>
      <vt:lpstr>Cambria Math</vt:lpstr>
      <vt:lpstr>Garamond</vt:lpstr>
      <vt:lpstr>Helvetica</vt:lpstr>
      <vt:lpstr>Office Theme</vt:lpstr>
      <vt:lpstr>ME 270  Manufacturing Technology</vt:lpstr>
      <vt:lpstr>Course Content</vt:lpstr>
      <vt:lpstr>Lesson Objectives</vt:lpstr>
      <vt:lpstr>Classification of engineering materials</vt:lpstr>
      <vt:lpstr>Metals and alloys</vt:lpstr>
      <vt:lpstr>Metals and alloys</vt:lpstr>
      <vt:lpstr>Ceramics and glasses</vt:lpstr>
      <vt:lpstr>Ceramics and glasses</vt:lpstr>
      <vt:lpstr>Polymers</vt:lpstr>
      <vt:lpstr>Polymers</vt:lpstr>
      <vt:lpstr>Stress-strain behaviour of polymers</vt:lpstr>
      <vt:lpstr>Composites</vt:lpstr>
      <vt:lpstr>Properties of engineering materials</vt:lpstr>
      <vt:lpstr>Mechanical properties of materials</vt:lpstr>
      <vt:lpstr>Tension Test</vt:lpstr>
      <vt:lpstr>Shear and Strain (Tension and Compression)</vt:lpstr>
      <vt:lpstr>Shear and Strain (Shear and Torsion)</vt:lpstr>
      <vt:lpstr>Shear and Strain (Shear and Torsion)</vt:lpstr>
      <vt:lpstr>Stress-Strain Behaviour</vt:lpstr>
      <vt:lpstr>Stress-Strain Behaviour – Elastic Deformation</vt:lpstr>
      <vt:lpstr>Elastic Deformation: Nonlinear Elastic Behaviour</vt:lpstr>
      <vt:lpstr>Elastic Deformation</vt:lpstr>
      <vt:lpstr>Elastic Deformation: Anelasticity</vt:lpstr>
      <vt:lpstr>Elastic Deformation – Poisson’s Ratio</vt:lpstr>
      <vt:lpstr>Plastic Deformation (Stress-strain Behaviour)</vt:lpstr>
      <vt:lpstr>Plastic Deformation (Stress-strain Behaviour)</vt:lpstr>
      <vt:lpstr>Tensile Properties – Yielding and Yield Strength</vt:lpstr>
      <vt:lpstr>Tensile Properties – Yielding and Yield Strength</vt:lpstr>
      <vt:lpstr>Tensile Strength </vt:lpstr>
      <vt:lpstr>Ductility</vt:lpstr>
      <vt:lpstr>Toughness</vt:lpstr>
      <vt:lpstr>Malleability</vt:lpstr>
      <vt:lpstr>Hardness</vt:lpstr>
      <vt:lpstr>Stiffness</vt:lpstr>
      <vt:lpstr>Brittleness</vt:lpstr>
      <vt:lpstr>Creep</vt:lpstr>
      <vt:lpstr>Fatigue</vt:lpstr>
      <vt:lpstr>Effects of fatigue</vt:lpstr>
      <vt:lpstr>Features of fatigue</vt:lpstr>
      <vt:lpstr>Fatigue Limit (or Endurance Stress) and S-N Diagram</vt:lpstr>
      <vt:lpstr>Critical Applications of Fatigue Bahaviour</vt:lpstr>
      <vt:lpstr>Physical Properties of engineering materials</vt:lpstr>
      <vt:lpstr>Density</vt:lpstr>
      <vt:lpstr>Electrical Conductivity</vt:lpstr>
      <vt:lpstr> Thermal Conductivity</vt:lpstr>
      <vt:lpstr>Fusibility</vt:lpstr>
      <vt:lpstr>Reluctance (Magnetic Properties)</vt:lpstr>
      <vt:lpstr>Material selection and Processing</vt:lpstr>
      <vt:lpstr>Selecting a manufacturing process</vt:lpstr>
      <vt:lpstr>Factors to consider when selecting a manufacturing process</vt:lpstr>
      <vt:lpstr>Case Study</vt:lpstr>
      <vt:lpstr>Case Study cont. (Method)</vt:lpstr>
      <vt:lpstr>Evaluation of Manufacturing Methods</vt:lpstr>
      <vt:lpstr>Selected Manufacturing Method</vt:lpstr>
      <vt:lpstr>Justification</vt:lpstr>
      <vt:lpstr>Assignment</vt:lpstr>
      <vt:lpstr>Thank You</vt:lpstr>
    </vt:vector>
  </TitlesOfParts>
  <Company>UPK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KNUST Press</dc:creator>
  <cp:lastModifiedBy>Samuel Boahen</cp:lastModifiedBy>
  <cp:revision>407</cp:revision>
  <dcterms:created xsi:type="dcterms:W3CDTF">2016-11-07T15:28:41Z</dcterms:created>
  <dcterms:modified xsi:type="dcterms:W3CDTF">2023-06-02T07:59:27Z</dcterms:modified>
</cp:coreProperties>
</file>