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9" r:id="rId1"/>
    <p:sldMasterId id="2147483743" r:id="rId2"/>
    <p:sldMasterId id="2147483747" r:id="rId3"/>
  </p:sldMasterIdLst>
  <p:notesMasterIdLst>
    <p:notesMasterId r:id="rId48"/>
  </p:notesMasterIdLst>
  <p:sldIdLst>
    <p:sldId id="476" r:id="rId4"/>
    <p:sldId id="481" r:id="rId5"/>
    <p:sldId id="477" r:id="rId6"/>
    <p:sldId id="478" r:id="rId7"/>
    <p:sldId id="479" r:id="rId8"/>
    <p:sldId id="480" r:id="rId9"/>
    <p:sldId id="534" r:id="rId10"/>
    <p:sldId id="507" r:id="rId11"/>
    <p:sldId id="482" r:id="rId12"/>
    <p:sldId id="483" r:id="rId13"/>
    <p:sldId id="484" r:id="rId14"/>
    <p:sldId id="485" r:id="rId15"/>
    <p:sldId id="486" r:id="rId16"/>
    <p:sldId id="487" r:id="rId17"/>
    <p:sldId id="488" r:id="rId18"/>
    <p:sldId id="489" r:id="rId19"/>
    <p:sldId id="490" r:id="rId20"/>
    <p:sldId id="491" r:id="rId21"/>
    <p:sldId id="492" r:id="rId22"/>
    <p:sldId id="493" r:id="rId23"/>
    <p:sldId id="494" r:id="rId24"/>
    <p:sldId id="495" r:id="rId25"/>
    <p:sldId id="496" r:id="rId26"/>
    <p:sldId id="497" r:id="rId27"/>
    <p:sldId id="498" r:id="rId28"/>
    <p:sldId id="499" r:id="rId29"/>
    <p:sldId id="501" r:id="rId30"/>
    <p:sldId id="502" r:id="rId31"/>
    <p:sldId id="503" r:id="rId32"/>
    <p:sldId id="504" r:id="rId33"/>
    <p:sldId id="505" r:id="rId34"/>
    <p:sldId id="506" r:id="rId35"/>
    <p:sldId id="535" r:id="rId36"/>
    <p:sldId id="536" r:id="rId37"/>
    <p:sldId id="537" r:id="rId38"/>
    <p:sldId id="538" r:id="rId39"/>
    <p:sldId id="511" r:id="rId40"/>
    <p:sldId id="539" r:id="rId41"/>
    <p:sldId id="540" r:id="rId42"/>
    <p:sldId id="516" r:id="rId43"/>
    <p:sldId id="541" r:id="rId44"/>
    <p:sldId id="542" r:id="rId45"/>
    <p:sldId id="543" r:id="rId46"/>
    <p:sldId id="474"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 P. Y. Andoh" initials="DPYA" lastIdx="1" clrIdx="0">
    <p:extLst>
      <p:ext uri="{19B8F6BF-5375-455C-9EA6-DF929625EA0E}">
        <p15:presenceInfo xmlns:p15="http://schemas.microsoft.com/office/powerpoint/2012/main" userId="DR. P. Y. Andoh"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6" autoAdjust="0"/>
    <p:restoredTop sz="94631" autoAdjust="0"/>
  </p:normalViewPr>
  <p:slideViewPr>
    <p:cSldViewPr>
      <p:cViewPr varScale="1">
        <p:scale>
          <a:sx n="72" d="100"/>
          <a:sy n="72" d="100"/>
        </p:scale>
        <p:origin x="1242" y="60"/>
      </p:cViewPr>
      <p:guideLst>
        <p:guide orient="horz" pos="2160"/>
        <p:guide pos="2880"/>
      </p:guideLst>
    </p:cSldViewPr>
  </p:slideViewPr>
  <p:outlineViewPr>
    <p:cViewPr>
      <p:scale>
        <a:sx n="33" d="100"/>
        <a:sy n="33" d="100"/>
      </p:scale>
      <p:origin x="0" y="-2466"/>
    </p:cViewPr>
    <p:sldLst>
      <p:sld r:id="rId1" collapse="1"/>
    </p:sldLst>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bleStyles" Target="tableStyle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commentAuthors" Target="commentAuthors.xml"/></Relationships>
</file>

<file path=ppt/_rels/viewProps.xml.rels><?xml version="1.0" encoding="UTF-8" standalone="yes"?>
<Relationships xmlns="http://schemas.openxmlformats.org/package/2006/relationships"><Relationship Id="rId1" Type="http://schemas.openxmlformats.org/officeDocument/2006/relationships/slide" Target="slides/slide3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wmf"/><Relationship Id="rId4"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5" Type="http://schemas.openxmlformats.org/officeDocument/2006/relationships/image" Target="../media/image19.wmf"/><Relationship Id="rId4" Type="http://schemas.openxmlformats.org/officeDocument/2006/relationships/image" Target="../media/image18.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 Id="rId5" Type="http://schemas.openxmlformats.org/officeDocument/2006/relationships/image" Target="../media/image30.wmf"/><Relationship Id="rId4"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33.wmf"/><Relationship Id="rId7" Type="http://schemas.openxmlformats.org/officeDocument/2006/relationships/image" Target="../media/image37.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5" Type="http://schemas.openxmlformats.org/officeDocument/2006/relationships/image" Target="../media/image35.wmf"/><Relationship Id="rId10" Type="http://schemas.openxmlformats.org/officeDocument/2006/relationships/image" Target="../media/image40.wmf"/><Relationship Id="rId4" Type="http://schemas.openxmlformats.org/officeDocument/2006/relationships/image" Target="../media/image34.wmf"/><Relationship Id="rId9"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45.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9.wmf"/><Relationship Id="rId7" Type="http://schemas.openxmlformats.org/officeDocument/2006/relationships/image" Target="../media/image63.wmf"/><Relationship Id="rId2" Type="http://schemas.openxmlformats.org/officeDocument/2006/relationships/image" Target="../media/image58.wmf"/><Relationship Id="rId1" Type="http://schemas.openxmlformats.org/officeDocument/2006/relationships/image" Target="../media/image57.wmf"/><Relationship Id="rId6" Type="http://schemas.openxmlformats.org/officeDocument/2006/relationships/image" Target="../media/image62.wmf"/><Relationship Id="rId5" Type="http://schemas.openxmlformats.org/officeDocument/2006/relationships/image" Target="../media/image61.wmf"/><Relationship Id="rId4" Type="http://schemas.openxmlformats.org/officeDocument/2006/relationships/image" Target="../media/image60.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74.wmf"/><Relationship Id="rId2" Type="http://schemas.openxmlformats.org/officeDocument/2006/relationships/image" Target="../media/image73.wmf"/><Relationship Id="rId1" Type="http://schemas.openxmlformats.org/officeDocument/2006/relationships/image" Target="../media/image72.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77.wmf"/><Relationship Id="rId2" Type="http://schemas.openxmlformats.org/officeDocument/2006/relationships/image" Target="../media/image76.wmf"/><Relationship Id="rId1" Type="http://schemas.openxmlformats.org/officeDocument/2006/relationships/image" Target="../media/image75.wmf"/><Relationship Id="rId5" Type="http://schemas.openxmlformats.org/officeDocument/2006/relationships/image" Target="../media/image79.wmf"/><Relationship Id="rId4" Type="http://schemas.openxmlformats.org/officeDocument/2006/relationships/image" Target="../media/image78.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2.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98A9C7-AAA9-44E4-861E-BB29C1D6B150}" type="datetimeFigureOut">
              <a:rPr lang="en-US" smtClean="0"/>
              <a:pPr/>
              <a:t>8/27/2017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61BE1AA-4FC7-4F76-96EA-17E9F9E091A4}" type="slidenum">
              <a:rPr lang="en-US" smtClean="0"/>
              <a:pPr/>
              <a:t>‹#›</a:t>
            </a:fld>
            <a:endParaRPr lang="en-US"/>
          </a:p>
        </p:txBody>
      </p:sp>
    </p:spTree>
    <p:extLst>
      <p:ext uri="{BB962C8B-B14F-4D97-AF65-F5344CB8AC3E}">
        <p14:creationId xmlns:p14="http://schemas.microsoft.com/office/powerpoint/2010/main" val="3388390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61BE1AA-4FC7-4F76-96EA-17E9F9E091A4}" type="slidenum">
              <a:rPr lang="en-US" smtClean="0"/>
              <a:pPr/>
              <a:t>2</a:t>
            </a:fld>
            <a:endParaRPr lang="en-US"/>
          </a:p>
        </p:txBody>
      </p:sp>
    </p:spTree>
    <p:extLst>
      <p:ext uri="{BB962C8B-B14F-4D97-AF65-F5344CB8AC3E}">
        <p14:creationId xmlns:p14="http://schemas.microsoft.com/office/powerpoint/2010/main" val="20053820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61BE1AA-4FC7-4F76-96EA-17E9F9E091A4}" type="slidenum">
              <a:rPr lang="en-US" smtClean="0"/>
              <a:pPr/>
              <a:t>8</a:t>
            </a:fld>
            <a:endParaRPr lang="en-US"/>
          </a:p>
        </p:txBody>
      </p:sp>
    </p:spTree>
    <p:extLst>
      <p:ext uri="{BB962C8B-B14F-4D97-AF65-F5344CB8AC3E}">
        <p14:creationId xmlns:p14="http://schemas.microsoft.com/office/powerpoint/2010/main" val="4218702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61BE1AA-4FC7-4F76-96EA-17E9F9E091A4}" type="slidenum">
              <a:rPr lang="en-US" smtClean="0"/>
              <a:pPr/>
              <a:t>9</a:t>
            </a:fld>
            <a:endParaRPr lang="en-US"/>
          </a:p>
        </p:txBody>
      </p:sp>
    </p:spTree>
    <p:extLst>
      <p:ext uri="{BB962C8B-B14F-4D97-AF65-F5344CB8AC3E}">
        <p14:creationId xmlns:p14="http://schemas.microsoft.com/office/powerpoint/2010/main" val="3830340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61BE1AA-4FC7-4F76-96EA-17E9F9E091A4}" type="slidenum">
              <a:rPr lang="en-US" smtClean="0"/>
              <a:pPr/>
              <a:t>18</a:t>
            </a:fld>
            <a:endParaRPr lang="en-US"/>
          </a:p>
        </p:txBody>
      </p:sp>
    </p:spTree>
    <p:extLst>
      <p:ext uri="{BB962C8B-B14F-4D97-AF65-F5344CB8AC3E}">
        <p14:creationId xmlns:p14="http://schemas.microsoft.com/office/powerpoint/2010/main" val="3206299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61BE1AA-4FC7-4F76-96EA-17E9F9E091A4}" type="slidenum">
              <a:rPr lang="en-US" smtClean="0"/>
              <a:pPr/>
              <a:t>22</a:t>
            </a:fld>
            <a:endParaRPr lang="en-US"/>
          </a:p>
        </p:txBody>
      </p:sp>
    </p:spTree>
    <p:extLst>
      <p:ext uri="{BB962C8B-B14F-4D97-AF65-F5344CB8AC3E}">
        <p14:creationId xmlns:p14="http://schemas.microsoft.com/office/powerpoint/2010/main" val="6479512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cs typeface="Arial" panose="020B0604020202020204" pitchFamily="34" charset="0"/>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cs typeface="Arial" panose="020B0604020202020204" pitchFamily="34" charset="0"/>
              </a:defRPr>
            </a:lvl1pPr>
            <a:lvl2pPr marL="758825" indent="-292100" defTabSz="931863">
              <a:spcBef>
                <a:spcPct val="30000"/>
              </a:spcBef>
              <a:defRPr sz="1200">
                <a:solidFill>
                  <a:schemeClr val="tx1"/>
                </a:solidFill>
                <a:latin typeface="Times New Roman" panose="02020603050405020304" pitchFamily="18" charset="0"/>
                <a:cs typeface="Arial" panose="020B0604020202020204" pitchFamily="34" charset="0"/>
              </a:defRPr>
            </a:lvl2pPr>
            <a:lvl3pPr marL="1168400" indent="-233363" defTabSz="931863">
              <a:spcBef>
                <a:spcPct val="30000"/>
              </a:spcBef>
              <a:defRPr sz="1200">
                <a:solidFill>
                  <a:schemeClr val="tx1"/>
                </a:solidFill>
                <a:latin typeface="Times New Roman" panose="02020603050405020304" pitchFamily="18" charset="0"/>
                <a:cs typeface="Arial" panose="020B0604020202020204" pitchFamily="34" charset="0"/>
              </a:defRPr>
            </a:lvl3pPr>
            <a:lvl4pPr marL="1636713" indent="-233363" defTabSz="931863">
              <a:spcBef>
                <a:spcPct val="30000"/>
              </a:spcBef>
              <a:defRPr sz="1200">
                <a:solidFill>
                  <a:schemeClr val="tx1"/>
                </a:solidFill>
                <a:latin typeface="Times New Roman" panose="02020603050405020304" pitchFamily="18" charset="0"/>
                <a:cs typeface="Arial" panose="020B0604020202020204" pitchFamily="34" charset="0"/>
              </a:defRPr>
            </a:lvl4pPr>
            <a:lvl5pPr marL="2103438" indent="-233363" defTabSz="931863">
              <a:spcBef>
                <a:spcPct val="30000"/>
              </a:spcBef>
              <a:defRPr sz="1200">
                <a:solidFill>
                  <a:schemeClr val="tx1"/>
                </a:solidFill>
                <a:latin typeface="Times New Roman" panose="02020603050405020304" pitchFamily="18" charset="0"/>
                <a:cs typeface="Arial" panose="020B0604020202020204" pitchFamily="34" charset="0"/>
              </a:defRPr>
            </a:lvl5pPr>
            <a:lvl6pPr marL="2560638" indent="-233363" defTabSz="931863"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3017838" indent="-233363" defTabSz="931863"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75038" indent="-233363" defTabSz="931863"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932238" indent="-233363" defTabSz="931863"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4FB40501-A476-4F6E-B677-465EEE77B1FC}" type="slidenum">
              <a:rPr lang="en-US" altLang="en-US" smtClean="0"/>
              <a:pPr>
                <a:spcBef>
                  <a:spcPct val="0"/>
                </a:spcBef>
              </a:pPr>
              <a:t>37</a:t>
            </a:fld>
            <a:endParaRPr lang="en-US" altLang="en-US" smtClean="0"/>
          </a:p>
        </p:txBody>
      </p:sp>
    </p:spTree>
    <p:extLst>
      <p:ext uri="{BB962C8B-B14F-4D97-AF65-F5344CB8AC3E}">
        <p14:creationId xmlns:p14="http://schemas.microsoft.com/office/powerpoint/2010/main" val="10469666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ln/>
        </p:spPr>
      </p:sp>
      <p:sp>
        <p:nvSpPr>
          <p:cNvPr id="317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cs typeface="Arial" panose="020B0604020202020204" pitchFamily="34" charset="0"/>
            </a:endParaRPr>
          </a:p>
        </p:txBody>
      </p:sp>
      <p:sp>
        <p:nvSpPr>
          <p:cNvPr id="317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cs typeface="Arial" panose="020B0604020202020204" pitchFamily="34" charset="0"/>
              </a:defRPr>
            </a:lvl1pPr>
            <a:lvl2pPr marL="758825" indent="-292100" defTabSz="931863">
              <a:spcBef>
                <a:spcPct val="30000"/>
              </a:spcBef>
              <a:defRPr sz="1200">
                <a:solidFill>
                  <a:schemeClr val="tx1"/>
                </a:solidFill>
                <a:latin typeface="Times New Roman" panose="02020603050405020304" pitchFamily="18" charset="0"/>
                <a:cs typeface="Arial" panose="020B0604020202020204" pitchFamily="34" charset="0"/>
              </a:defRPr>
            </a:lvl2pPr>
            <a:lvl3pPr marL="1168400" indent="-233363" defTabSz="931863">
              <a:spcBef>
                <a:spcPct val="30000"/>
              </a:spcBef>
              <a:defRPr sz="1200">
                <a:solidFill>
                  <a:schemeClr val="tx1"/>
                </a:solidFill>
                <a:latin typeface="Times New Roman" panose="02020603050405020304" pitchFamily="18" charset="0"/>
                <a:cs typeface="Arial" panose="020B0604020202020204" pitchFamily="34" charset="0"/>
              </a:defRPr>
            </a:lvl3pPr>
            <a:lvl4pPr marL="1636713" indent="-233363" defTabSz="931863">
              <a:spcBef>
                <a:spcPct val="30000"/>
              </a:spcBef>
              <a:defRPr sz="1200">
                <a:solidFill>
                  <a:schemeClr val="tx1"/>
                </a:solidFill>
                <a:latin typeface="Times New Roman" panose="02020603050405020304" pitchFamily="18" charset="0"/>
                <a:cs typeface="Arial" panose="020B0604020202020204" pitchFamily="34" charset="0"/>
              </a:defRPr>
            </a:lvl4pPr>
            <a:lvl5pPr marL="2103438" indent="-233363" defTabSz="931863">
              <a:spcBef>
                <a:spcPct val="30000"/>
              </a:spcBef>
              <a:defRPr sz="1200">
                <a:solidFill>
                  <a:schemeClr val="tx1"/>
                </a:solidFill>
                <a:latin typeface="Times New Roman" panose="02020603050405020304" pitchFamily="18" charset="0"/>
                <a:cs typeface="Arial" panose="020B0604020202020204" pitchFamily="34" charset="0"/>
              </a:defRPr>
            </a:lvl5pPr>
            <a:lvl6pPr marL="2560638" indent="-233363" defTabSz="931863"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6pPr>
            <a:lvl7pPr marL="3017838" indent="-233363" defTabSz="931863"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7pPr>
            <a:lvl8pPr marL="3475038" indent="-233363" defTabSz="931863"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8pPr>
            <a:lvl9pPr marL="3932238" indent="-233363" defTabSz="931863" eaLnBrk="0" fontAlgn="base" hangingPunct="0">
              <a:spcBef>
                <a:spcPct val="30000"/>
              </a:spcBef>
              <a:spcAft>
                <a:spcPct val="0"/>
              </a:spcAft>
              <a:defRPr sz="1200">
                <a:solidFill>
                  <a:schemeClr val="tx1"/>
                </a:solidFill>
                <a:latin typeface="Times New Roman" panose="02020603050405020304" pitchFamily="18" charset="0"/>
                <a:cs typeface="Arial" panose="020B0604020202020204" pitchFamily="34" charset="0"/>
              </a:defRPr>
            </a:lvl9pPr>
          </a:lstStyle>
          <a:p>
            <a:pPr>
              <a:spcBef>
                <a:spcPct val="0"/>
              </a:spcBef>
            </a:pPr>
            <a:fld id="{B047ABA3-6D84-479A-87CC-5DDE5AA7FAEF}" type="slidenum">
              <a:rPr lang="en-US" altLang="en-US" smtClean="0"/>
              <a:pPr>
                <a:spcBef>
                  <a:spcPct val="0"/>
                </a:spcBef>
              </a:pPr>
              <a:t>40</a:t>
            </a:fld>
            <a:endParaRPr lang="en-US" altLang="en-US" smtClean="0"/>
          </a:p>
        </p:txBody>
      </p:sp>
    </p:spTree>
    <p:extLst>
      <p:ext uri="{BB962C8B-B14F-4D97-AF65-F5344CB8AC3E}">
        <p14:creationId xmlns:p14="http://schemas.microsoft.com/office/powerpoint/2010/main" val="3296873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Shigley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lvl1pPr>
              <a:defRPr sz="2400" b="1">
                <a:latin typeface="+mn-lt"/>
              </a:defRPr>
            </a:lvl1pPr>
            <a:extLst/>
          </a:lstStyle>
          <a:p>
            <a:r>
              <a:rPr kumimoji="0" lang="en-US" smtClean="0"/>
              <a:t>Click to edit Master title style</a:t>
            </a:r>
            <a:endParaRPr kumimoji="0" lang="en-US" dirty="0"/>
          </a:p>
        </p:txBody>
      </p:sp>
      <p:sp>
        <p:nvSpPr>
          <p:cNvPr id="3" name="Content Placeholder 2"/>
          <p:cNvSpPr>
            <a:spLocks noGrp="1"/>
          </p:cNvSpPr>
          <p:nvPr>
            <p:ph idx="1"/>
          </p:nvPr>
        </p:nvSpPr>
        <p:spPr>
          <a:xfrm>
            <a:off x="381000" y="838200"/>
            <a:ext cx="4191000" cy="6019800"/>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cxnSp>
        <p:nvCxnSpPr>
          <p:cNvPr id="8" name="Straight Connector 7"/>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0479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higley Title">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lvl1pPr>
              <a:defRPr sz="2400" b="1">
                <a:latin typeface="+mn-lt"/>
              </a:defRPr>
            </a:lvl1pPr>
            <a:extLst/>
          </a:lstStyle>
          <a:p>
            <a:r>
              <a:rPr kumimoji="0" lang="en-US" smtClean="0"/>
              <a:t>Click to edit Master title style</a:t>
            </a:r>
            <a:endParaRPr kumimoji="0" lang="en-US" dirty="0"/>
          </a:p>
        </p:txBody>
      </p:sp>
      <p:cxnSp>
        <p:nvCxnSpPr>
          <p:cNvPr id="8" name="Straight Connector 7"/>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9220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higle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264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Shigley Title">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lvl1pPr>
              <a:defRPr sz="2400" b="1">
                <a:latin typeface="+mn-lt"/>
              </a:defRPr>
            </a:lvl1pPr>
            <a:extLst/>
          </a:lstStyle>
          <a:p>
            <a:r>
              <a:rPr kumimoji="0" lang="en-US" dirty="0" smtClean="0"/>
              <a:t>Click to edit Master title style</a:t>
            </a:r>
            <a:endParaRPr kumimoji="0" lang="en-US" dirty="0"/>
          </a:p>
        </p:txBody>
      </p:sp>
      <p:cxnSp>
        <p:nvCxnSpPr>
          <p:cNvPr id="8" name="Straight Connector 7"/>
          <p:cNvCxnSpPr/>
          <p:nvPr userDrawn="1"/>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higley Blank">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Shigley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lvl1pPr>
              <a:defRPr sz="2400" b="1">
                <a:latin typeface="+mn-lt"/>
              </a:defRPr>
            </a:lvl1pPr>
            <a:extLst/>
          </a:lstStyle>
          <a:p>
            <a:r>
              <a:rPr kumimoji="0" lang="en-US" smtClean="0"/>
              <a:t>Click to edit Master title style</a:t>
            </a:r>
            <a:endParaRPr kumimoji="0" lang="en-US" dirty="0"/>
          </a:p>
        </p:txBody>
      </p:sp>
      <p:sp>
        <p:nvSpPr>
          <p:cNvPr id="3" name="Content Placeholder 2"/>
          <p:cNvSpPr>
            <a:spLocks noGrp="1"/>
          </p:cNvSpPr>
          <p:nvPr>
            <p:ph idx="1"/>
          </p:nvPr>
        </p:nvSpPr>
        <p:spPr>
          <a:xfrm>
            <a:off x="381000" y="838200"/>
            <a:ext cx="4191000" cy="6019800"/>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cxnSp>
        <p:nvCxnSpPr>
          <p:cNvPr id="8" name="Straight Connector 7"/>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624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higley Title">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lvl1pPr>
              <a:defRPr sz="2400" b="1">
                <a:latin typeface="+mn-lt"/>
              </a:defRPr>
            </a:lvl1pPr>
            <a:extLst/>
          </a:lstStyle>
          <a:p>
            <a:r>
              <a:rPr kumimoji="0" lang="en-US" smtClean="0"/>
              <a:t>Click to edit Master title style</a:t>
            </a:r>
            <a:endParaRPr kumimoji="0" lang="en-US" dirty="0"/>
          </a:p>
        </p:txBody>
      </p:sp>
      <p:cxnSp>
        <p:nvCxnSpPr>
          <p:cNvPr id="8" name="Straight Connector 7"/>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012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higle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4166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Shigley 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lvl1pPr>
              <a:defRPr sz="2400" b="1">
                <a:latin typeface="+mn-lt"/>
              </a:defRPr>
            </a:lvl1pPr>
            <a:extLst/>
          </a:lstStyle>
          <a:p>
            <a:r>
              <a:rPr kumimoji="0" lang="en-US" smtClean="0"/>
              <a:t>Click to edit Master title style</a:t>
            </a:r>
            <a:endParaRPr kumimoji="0" lang="en-US" dirty="0"/>
          </a:p>
        </p:txBody>
      </p:sp>
      <p:sp>
        <p:nvSpPr>
          <p:cNvPr id="3" name="Content Placeholder 2"/>
          <p:cNvSpPr>
            <a:spLocks noGrp="1"/>
          </p:cNvSpPr>
          <p:nvPr>
            <p:ph idx="1"/>
          </p:nvPr>
        </p:nvSpPr>
        <p:spPr>
          <a:xfrm>
            <a:off x="381000" y="838200"/>
            <a:ext cx="4191000" cy="6019800"/>
          </a:xfrm>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dirty="0"/>
          </a:p>
        </p:txBody>
      </p:sp>
      <p:cxnSp>
        <p:nvCxnSpPr>
          <p:cNvPr id="8" name="Straight Connector 7"/>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8223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higley Title">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lvl1pPr>
              <a:defRPr sz="2400" b="1">
                <a:latin typeface="+mn-lt"/>
              </a:defRPr>
            </a:lvl1pPr>
            <a:extLst/>
          </a:lstStyle>
          <a:p>
            <a:r>
              <a:rPr kumimoji="0" lang="en-US" smtClean="0"/>
              <a:t>Click to edit Master title style</a:t>
            </a:r>
            <a:endParaRPr kumimoji="0" lang="en-US" dirty="0"/>
          </a:p>
        </p:txBody>
      </p:sp>
      <p:cxnSp>
        <p:nvCxnSpPr>
          <p:cNvPr id="8" name="Straight Connector 7"/>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p:nvCxnSpPr>
        <p:spPr>
          <a:xfrm rot="10800000">
            <a:off x="609600" y="685800"/>
            <a:ext cx="8229600" cy="0"/>
          </a:xfrm>
          <a:prstGeom prst="line">
            <a:avLst/>
          </a:prstGeom>
          <a:ln w="34925">
            <a:solidFill>
              <a:schemeClr val="accent6">
                <a:lumMod val="40000"/>
                <a:lumOff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753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higley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676868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40000">
              <a:schemeClr val="accent6">
                <a:lumMod val="20000"/>
                <a:lumOff val="80000"/>
              </a:schemeClr>
            </a:gs>
            <a:gs pos="40000">
              <a:schemeClr val="accent6">
                <a:lumMod val="60000"/>
                <a:lumOff val="40000"/>
              </a:schemeClr>
            </a:gs>
          </a:gsLst>
          <a:lin ang="8100000" scaled="1"/>
          <a:tileRect/>
        </a:gradFill>
        <a:effectLst/>
      </p:bgPr>
    </p:bg>
    <p:spTree>
      <p:nvGrpSpPr>
        <p:cNvPr id="1" name=""/>
        <p:cNvGrpSpPr/>
        <p:nvPr/>
      </p:nvGrpSpPr>
      <p:grpSpPr>
        <a:xfrm>
          <a:off x="0" y="0"/>
          <a:ext cx="0" cy="0"/>
          <a:chOff x="0" y="0"/>
          <a:chExt cx="0" cy="0"/>
        </a:xfrm>
      </p:grpSpPr>
      <p:sp>
        <p:nvSpPr>
          <p:cNvPr id="12" name="Rectangle 11"/>
          <p:cNvSpPr/>
          <p:nvPr/>
        </p:nvSpPr>
        <p:spPr>
          <a:xfrm>
            <a:off x="386862" y="-76200"/>
            <a:ext cx="8763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838200" y="152400"/>
            <a:ext cx="7498080" cy="523220"/>
          </a:xfrm>
          <a:prstGeom prst="rect">
            <a:avLst/>
          </a:prstGeom>
          <a:noFill/>
          <a:ln>
            <a:noFill/>
          </a:ln>
        </p:spPr>
        <p:txBody>
          <a:bodyPr anchor="ctr">
            <a:spAutoFit/>
          </a:bodyPr>
          <a:lstStyle>
            <a:extLst/>
          </a:lstStyle>
          <a:p>
            <a:r>
              <a:rPr kumimoji="0" lang="en-US" smtClean="0"/>
              <a:t>Click to edit Master title style</a:t>
            </a:r>
            <a:endParaRPr kumimoji="0" lang="en-US" dirty="0"/>
          </a:p>
        </p:txBody>
      </p:sp>
      <p:sp>
        <p:nvSpPr>
          <p:cNvPr id="9" name="Text Placeholder 8"/>
          <p:cNvSpPr>
            <a:spLocks noGrp="1"/>
          </p:cNvSpPr>
          <p:nvPr>
            <p:ph type="body" idx="1"/>
          </p:nvPr>
        </p:nvSpPr>
        <p:spPr>
          <a:xfrm>
            <a:off x="381000" y="685800"/>
            <a:ext cx="4191000" cy="53340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15" name="Rectangle 14"/>
          <p:cNvSpPr/>
          <p:nvPr/>
        </p:nvSpPr>
        <p:spPr bwMode="invGray">
          <a:xfrm>
            <a:off x="381000" y="0"/>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extBox 1"/>
          <p:cNvSpPr txBox="1"/>
          <p:nvPr/>
        </p:nvSpPr>
        <p:spPr>
          <a:xfrm>
            <a:off x="1066800" y="6504111"/>
            <a:ext cx="7772400" cy="707886"/>
          </a:xfrm>
          <a:prstGeom prst="rect">
            <a:avLst/>
          </a:prstGeom>
          <a:noFill/>
        </p:spPr>
        <p:txBody>
          <a:bodyPr wrap="square" rtlCol="0">
            <a:spAutoFit/>
          </a:bodyPr>
          <a:lstStyle/>
          <a:p>
            <a:r>
              <a:rPr lang="en-US" sz="800" dirty="0" smtClean="0"/>
              <a:t>Copyright © 2015 McGraw-Hill Education. All rights reserved. No reproduction or distribution without the prior written consent of McGraw-Hill Education.         </a:t>
            </a:r>
          </a:p>
          <a:p>
            <a:r>
              <a:rPr lang="en-US" sz="800" dirty="0" err="1" smtClean="0"/>
              <a:t>Shigley’s</a:t>
            </a:r>
            <a:r>
              <a:rPr lang="en-US" sz="800" dirty="0" smtClean="0"/>
              <a:t> Mechanical Engineering Design</a:t>
            </a:r>
          </a:p>
          <a:p>
            <a:endParaRPr lang="en-US" sz="2400" dirty="0" smtClean="0"/>
          </a:p>
        </p:txBody>
      </p:sp>
    </p:spTree>
    <p:extLst>
      <p:ext uri="{BB962C8B-B14F-4D97-AF65-F5344CB8AC3E}">
        <p14:creationId xmlns:p14="http://schemas.microsoft.com/office/powerpoint/2010/main" val="3658626896"/>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33" r:id="rId4"/>
    <p:sldLayoutId id="2147483734" r:id="rId5"/>
  </p:sldLayoutIdLst>
  <p:hf hdr="0" ftr="0" dt="0"/>
  <p:txStyles>
    <p:titleStyle>
      <a:lvl1pPr algn="ctr" rtl="0" eaLnBrk="1" latinLnBrk="0" hangingPunct="1">
        <a:spcBef>
          <a:spcPct val="0"/>
        </a:spcBef>
        <a:buNone/>
        <a:defRPr kumimoji="0" sz="2800" kern="1200">
          <a:solidFill>
            <a:schemeClr val="tx1"/>
          </a:solidFill>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24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4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40000">
              <a:schemeClr val="accent6">
                <a:lumMod val="20000"/>
                <a:lumOff val="80000"/>
              </a:schemeClr>
            </a:gs>
            <a:gs pos="40000">
              <a:schemeClr val="accent6">
                <a:lumMod val="60000"/>
                <a:lumOff val="40000"/>
              </a:schemeClr>
            </a:gs>
          </a:gsLst>
          <a:lin ang="8100000" scaled="1"/>
          <a:tileRect/>
        </a:gradFill>
        <a:effectLst/>
      </p:bgPr>
    </p:bg>
    <p:spTree>
      <p:nvGrpSpPr>
        <p:cNvPr id="1" name=""/>
        <p:cNvGrpSpPr/>
        <p:nvPr/>
      </p:nvGrpSpPr>
      <p:grpSpPr>
        <a:xfrm>
          <a:off x="0" y="0"/>
          <a:ext cx="0" cy="0"/>
          <a:chOff x="0" y="0"/>
          <a:chExt cx="0" cy="0"/>
        </a:xfrm>
      </p:grpSpPr>
      <p:sp>
        <p:nvSpPr>
          <p:cNvPr id="12" name="Rectangle 11"/>
          <p:cNvSpPr/>
          <p:nvPr/>
        </p:nvSpPr>
        <p:spPr>
          <a:xfrm>
            <a:off x="386862" y="-76200"/>
            <a:ext cx="8763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838200" y="152400"/>
            <a:ext cx="7498080" cy="523220"/>
          </a:xfrm>
          <a:prstGeom prst="rect">
            <a:avLst/>
          </a:prstGeom>
          <a:noFill/>
          <a:ln>
            <a:noFill/>
          </a:ln>
        </p:spPr>
        <p:txBody>
          <a:bodyPr anchor="ctr">
            <a:spAutoFit/>
          </a:bodyPr>
          <a:lstStyle>
            <a:extLst/>
          </a:lstStyle>
          <a:p>
            <a:r>
              <a:rPr kumimoji="0" lang="en-US" smtClean="0"/>
              <a:t>Click to edit Master title style</a:t>
            </a:r>
            <a:endParaRPr kumimoji="0" lang="en-US" dirty="0"/>
          </a:p>
        </p:txBody>
      </p:sp>
      <p:sp>
        <p:nvSpPr>
          <p:cNvPr id="9" name="Text Placeholder 8"/>
          <p:cNvSpPr>
            <a:spLocks noGrp="1"/>
          </p:cNvSpPr>
          <p:nvPr>
            <p:ph type="body" idx="1"/>
          </p:nvPr>
        </p:nvSpPr>
        <p:spPr>
          <a:xfrm>
            <a:off x="381000" y="685800"/>
            <a:ext cx="4191000" cy="53340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15" name="Rectangle 14"/>
          <p:cNvSpPr/>
          <p:nvPr/>
        </p:nvSpPr>
        <p:spPr bwMode="invGray">
          <a:xfrm>
            <a:off x="381000" y="0"/>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extBox 1"/>
          <p:cNvSpPr txBox="1"/>
          <p:nvPr/>
        </p:nvSpPr>
        <p:spPr>
          <a:xfrm>
            <a:off x="1066800" y="6504111"/>
            <a:ext cx="7772400" cy="707886"/>
          </a:xfrm>
          <a:prstGeom prst="rect">
            <a:avLst/>
          </a:prstGeom>
          <a:noFill/>
        </p:spPr>
        <p:txBody>
          <a:bodyPr wrap="square" rtlCol="0">
            <a:spAutoFit/>
          </a:bodyPr>
          <a:lstStyle/>
          <a:p>
            <a:r>
              <a:rPr lang="en-US" sz="800" dirty="0" smtClean="0"/>
              <a:t>Copyright © 2015 McGraw-Hill Education. All rights reserved. No reproduction or distribution without the prior written consent of McGraw-Hill Education.         </a:t>
            </a:r>
          </a:p>
          <a:p>
            <a:r>
              <a:rPr lang="en-US" sz="800" dirty="0" err="1" smtClean="0"/>
              <a:t>Shigley’s</a:t>
            </a:r>
            <a:r>
              <a:rPr lang="en-US" sz="800" dirty="0" smtClean="0"/>
              <a:t> Mechanical Engineering Design</a:t>
            </a:r>
          </a:p>
          <a:p>
            <a:endParaRPr lang="en-US" sz="2400" dirty="0" smtClean="0"/>
          </a:p>
        </p:txBody>
      </p:sp>
      <p:sp>
        <p:nvSpPr>
          <p:cNvPr id="7" name="TextBox 6"/>
          <p:cNvSpPr txBox="1"/>
          <p:nvPr/>
        </p:nvSpPr>
        <p:spPr>
          <a:xfrm>
            <a:off x="1066800" y="6504111"/>
            <a:ext cx="7772400" cy="707886"/>
          </a:xfrm>
          <a:prstGeom prst="rect">
            <a:avLst/>
          </a:prstGeom>
          <a:noFill/>
        </p:spPr>
        <p:txBody>
          <a:bodyPr wrap="square" rtlCol="0">
            <a:spAutoFit/>
          </a:bodyPr>
          <a:lstStyle/>
          <a:p>
            <a:r>
              <a:rPr lang="en-US" sz="800" dirty="0" smtClean="0"/>
              <a:t>Copyright © 2015 McGraw-Hill Education. All rights reserved. No reproduction or distribution without the prior written consent of McGraw-Hill Education.         </a:t>
            </a:r>
          </a:p>
          <a:p>
            <a:r>
              <a:rPr lang="en-US" sz="800" dirty="0" err="1" smtClean="0"/>
              <a:t>Shigley’s</a:t>
            </a:r>
            <a:r>
              <a:rPr lang="en-US" sz="800" dirty="0" smtClean="0"/>
              <a:t> Mechanical Engineering Design</a:t>
            </a:r>
          </a:p>
          <a:p>
            <a:endParaRPr lang="en-US" sz="2400" dirty="0" smtClean="0"/>
          </a:p>
        </p:txBody>
      </p:sp>
    </p:spTree>
    <p:extLst>
      <p:ext uri="{BB962C8B-B14F-4D97-AF65-F5344CB8AC3E}">
        <p14:creationId xmlns:p14="http://schemas.microsoft.com/office/powerpoint/2010/main" val="321471891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Lst>
  <p:hf hdr="0" ftr="0" dt="0"/>
  <p:txStyles>
    <p:titleStyle>
      <a:lvl1pPr algn="ctr" rtl="0" eaLnBrk="1" latinLnBrk="0" hangingPunct="1">
        <a:spcBef>
          <a:spcPct val="0"/>
        </a:spcBef>
        <a:buNone/>
        <a:defRPr kumimoji="0" sz="2800" kern="1200">
          <a:solidFill>
            <a:schemeClr val="tx1"/>
          </a:solidFill>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24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4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40000">
              <a:schemeClr val="accent6">
                <a:lumMod val="20000"/>
                <a:lumOff val="80000"/>
              </a:schemeClr>
            </a:gs>
            <a:gs pos="40000">
              <a:schemeClr val="accent6">
                <a:lumMod val="60000"/>
                <a:lumOff val="40000"/>
              </a:schemeClr>
            </a:gs>
          </a:gsLst>
          <a:lin ang="8100000" scaled="1"/>
          <a:tileRect/>
        </a:gradFill>
        <a:effectLst/>
      </p:bgPr>
    </p:bg>
    <p:spTree>
      <p:nvGrpSpPr>
        <p:cNvPr id="1" name=""/>
        <p:cNvGrpSpPr/>
        <p:nvPr/>
      </p:nvGrpSpPr>
      <p:grpSpPr>
        <a:xfrm>
          <a:off x="0" y="0"/>
          <a:ext cx="0" cy="0"/>
          <a:chOff x="0" y="0"/>
          <a:chExt cx="0" cy="0"/>
        </a:xfrm>
      </p:grpSpPr>
      <p:sp>
        <p:nvSpPr>
          <p:cNvPr id="12" name="Rectangle 11"/>
          <p:cNvSpPr/>
          <p:nvPr/>
        </p:nvSpPr>
        <p:spPr>
          <a:xfrm>
            <a:off x="386862" y="-76200"/>
            <a:ext cx="8763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838200" y="152400"/>
            <a:ext cx="7498080" cy="523220"/>
          </a:xfrm>
          <a:prstGeom prst="rect">
            <a:avLst/>
          </a:prstGeom>
          <a:noFill/>
          <a:ln>
            <a:noFill/>
          </a:ln>
        </p:spPr>
        <p:txBody>
          <a:bodyPr anchor="ctr">
            <a:spAutoFit/>
          </a:bodyPr>
          <a:lstStyle>
            <a:extLst/>
          </a:lstStyle>
          <a:p>
            <a:r>
              <a:rPr kumimoji="0" lang="en-US" smtClean="0"/>
              <a:t>Click to edit Master title style</a:t>
            </a:r>
            <a:endParaRPr kumimoji="0" lang="en-US" dirty="0"/>
          </a:p>
        </p:txBody>
      </p:sp>
      <p:sp>
        <p:nvSpPr>
          <p:cNvPr id="9" name="Text Placeholder 8"/>
          <p:cNvSpPr>
            <a:spLocks noGrp="1"/>
          </p:cNvSpPr>
          <p:nvPr>
            <p:ph type="body" idx="1"/>
          </p:nvPr>
        </p:nvSpPr>
        <p:spPr>
          <a:xfrm>
            <a:off x="381000" y="685800"/>
            <a:ext cx="4191000" cy="53340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dirty="0"/>
          </a:p>
        </p:txBody>
      </p:sp>
      <p:sp>
        <p:nvSpPr>
          <p:cNvPr id="15" name="Rectangle 14"/>
          <p:cNvSpPr/>
          <p:nvPr/>
        </p:nvSpPr>
        <p:spPr bwMode="invGray">
          <a:xfrm>
            <a:off x="381000" y="0"/>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extBox 1"/>
          <p:cNvSpPr txBox="1"/>
          <p:nvPr/>
        </p:nvSpPr>
        <p:spPr>
          <a:xfrm>
            <a:off x="1066800" y="6504111"/>
            <a:ext cx="7772400" cy="707886"/>
          </a:xfrm>
          <a:prstGeom prst="rect">
            <a:avLst/>
          </a:prstGeom>
          <a:noFill/>
        </p:spPr>
        <p:txBody>
          <a:bodyPr wrap="square" rtlCol="0">
            <a:spAutoFit/>
          </a:bodyPr>
          <a:lstStyle/>
          <a:p>
            <a:r>
              <a:rPr lang="en-US" sz="800" dirty="0" smtClean="0"/>
              <a:t>Copyright © 2015 McGraw-Hill Education. All rights reserved. No reproduction or distribution without the prior written consent of McGraw-Hill Education.         </a:t>
            </a:r>
          </a:p>
          <a:p>
            <a:r>
              <a:rPr lang="en-US" sz="800" dirty="0" err="1" smtClean="0"/>
              <a:t>Shigley’s</a:t>
            </a:r>
            <a:r>
              <a:rPr lang="en-US" sz="800" dirty="0" smtClean="0"/>
              <a:t> Mechanical Engineering Design</a:t>
            </a:r>
          </a:p>
          <a:p>
            <a:endParaRPr lang="en-US" sz="2400" dirty="0" smtClean="0"/>
          </a:p>
        </p:txBody>
      </p:sp>
      <p:sp>
        <p:nvSpPr>
          <p:cNvPr id="7" name="TextBox 6"/>
          <p:cNvSpPr txBox="1"/>
          <p:nvPr/>
        </p:nvSpPr>
        <p:spPr>
          <a:xfrm>
            <a:off x="1066800" y="6504111"/>
            <a:ext cx="7772400" cy="707886"/>
          </a:xfrm>
          <a:prstGeom prst="rect">
            <a:avLst/>
          </a:prstGeom>
          <a:noFill/>
        </p:spPr>
        <p:txBody>
          <a:bodyPr wrap="square" rtlCol="0">
            <a:spAutoFit/>
          </a:bodyPr>
          <a:lstStyle/>
          <a:p>
            <a:r>
              <a:rPr lang="en-US" sz="800" dirty="0" smtClean="0"/>
              <a:t>Copyright © 2015 McGraw-Hill Education. All rights reserved. No reproduction or distribution without the prior written consent of McGraw-Hill Education.         </a:t>
            </a:r>
          </a:p>
          <a:p>
            <a:r>
              <a:rPr lang="en-US" sz="800" dirty="0" err="1" smtClean="0"/>
              <a:t>Shigley’s</a:t>
            </a:r>
            <a:r>
              <a:rPr lang="en-US" sz="800" dirty="0" smtClean="0"/>
              <a:t> Mechanical Engineering Design</a:t>
            </a:r>
          </a:p>
          <a:p>
            <a:endParaRPr lang="en-US" sz="2400" dirty="0" smtClean="0"/>
          </a:p>
        </p:txBody>
      </p:sp>
    </p:spTree>
    <p:extLst>
      <p:ext uri="{BB962C8B-B14F-4D97-AF65-F5344CB8AC3E}">
        <p14:creationId xmlns:p14="http://schemas.microsoft.com/office/powerpoint/2010/main" val="1789003733"/>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Lst>
  <p:hf hdr="0" ftr="0" dt="0"/>
  <p:txStyles>
    <p:titleStyle>
      <a:lvl1pPr algn="ctr" rtl="0" eaLnBrk="1" latinLnBrk="0" hangingPunct="1">
        <a:spcBef>
          <a:spcPct val="0"/>
        </a:spcBef>
        <a:buNone/>
        <a:defRPr kumimoji="0" sz="2800" kern="1200">
          <a:solidFill>
            <a:schemeClr val="tx1"/>
          </a:solidFill>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24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4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ndohp_2@yahoo.com" TargetMode="External"/><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hyperlink" Target="mailto:pyandoh.coe@knust.edu.gh"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xml"/><Relationship Id="rId1" Type="http://schemas.openxmlformats.org/officeDocument/2006/relationships/vmlDrawing" Target="../drawings/vmlDrawing2.vml"/><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notesSlide" Target="../notesSlides/notesSlide3.xml"/><Relationship Id="rId7" Type="http://schemas.openxmlformats.org/officeDocument/2006/relationships/oleObject" Target="../embeddings/oleObject4.bin"/><Relationship Id="rId12" Type="http://schemas.openxmlformats.org/officeDocument/2006/relationships/image" Target="../media/image8.wmf"/><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5.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7.wmf"/><Relationship Id="rId4" Type="http://schemas.openxmlformats.org/officeDocument/2006/relationships/image" Target="../media/image9.wmf"/><Relationship Id="rId9" Type="http://schemas.openxmlformats.org/officeDocument/2006/relationships/oleObject" Target="../embeddings/oleObject5.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1.wmf"/><Relationship Id="rId5" Type="http://schemas.openxmlformats.org/officeDocument/2006/relationships/oleObject" Target="../embeddings/oleObject8.bin"/><Relationship Id="rId4" Type="http://schemas.openxmlformats.org/officeDocument/2006/relationships/image" Target="../media/image10.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9.bin"/><Relationship Id="rId7" Type="http://schemas.openxmlformats.org/officeDocument/2006/relationships/image" Target="../media/image14.wmf"/><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3.wmf"/><Relationship Id="rId5" Type="http://schemas.openxmlformats.org/officeDocument/2006/relationships/oleObject" Target="../embeddings/oleObject10.bin"/><Relationship Id="rId4" Type="http://schemas.openxmlformats.org/officeDocument/2006/relationships/image" Target="../media/image12.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19.wmf"/><Relationship Id="rId3" Type="http://schemas.openxmlformats.org/officeDocument/2006/relationships/image" Target="../media/image20.wmf"/><Relationship Id="rId7" Type="http://schemas.openxmlformats.org/officeDocument/2006/relationships/image" Target="../media/image16.wmf"/><Relationship Id="rId12" Type="http://schemas.openxmlformats.org/officeDocument/2006/relationships/oleObject" Target="../embeddings/oleObject15.bin"/><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oleObject" Target="../embeddings/oleObject12.bin"/><Relationship Id="rId11" Type="http://schemas.openxmlformats.org/officeDocument/2006/relationships/image" Target="../media/image18.wmf"/><Relationship Id="rId5" Type="http://schemas.openxmlformats.org/officeDocument/2006/relationships/image" Target="../media/image15.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7.wmf"/></Relationships>
</file>

<file path=ppt/slides/_rels/slide13.x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24.wmf"/><Relationship Id="rId7"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5.wmf"/><Relationship Id="rId5" Type="http://schemas.openxmlformats.org/officeDocument/2006/relationships/image" Target="../media/image21.wmf"/><Relationship Id="rId10" Type="http://schemas.openxmlformats.org/officeDocument/2006/relationships/image" Target="../media/image23.wmf"/><Relationship Id="rId4" Type="http://schemas.openxmlformats.org/officeDocument/2006/relationships/oleObject" Target="../embeddings/oleObject16.bin"/><Relationship Id="rId9"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9.bin"/><Relationship Id="rId7" Type="http://schemas.openxmlformats.org/officeDocument/2006/relationships/oleObject" Target="../embeddings/oleObject21.bin"/><Relationship Id="rId12" Type="http://schemas.openxmlformats.org/officeDocument/2006/relationships/image" Target="../media/image30.wmf"/><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27.wmf"/><Relationship Id="rId11" Type="http://schemas.openxmlformats.org/officeDocument/2006/relationships/oleObject" Target="../embeddings/oleObject23.bin"/><Relationship Id="rId5" Type="http://schemas.openxmlformats.org/officeDocument/2006/relationships/oleObject" Target="../embeddings/oleObject20.bin"/><Relationship Id="rId10" Type="http://schemas.openxmlformats.org/officeDocument/2006/relationships/image" Target="../media/image29.wmf"/><Relationship Id="rId4" Type="http://schemas.openxmlformats.org/officeDocument/2006/relationships/image" Target="../media/image26.wmf"/><Relationship Id="rId9"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5.wmf"/><Relationship Id="rId18" Type="http://schemas.openxmlformats.org/officeDocument/2006/relationships/oleObject" Target="../embeddings/oleObject31.bin"/><Relationship Id="rId3" Type="http://schemas.openxmlformats.org/officeDocument/2006/relationships/oleObject" Target="../embeddings/oleObject24.bin"/><Relationship Id="rId21" Type="http://schemas.openxmlformats.org/officeDocument/2006/relationships/image" Target="../media/image39.wmf"/><Relationship Id="rId7" Type="http://schemas.openxmlformats.org/officeDocument/2006/relationships/image" Target="../media/image41.wmf"/><Relationship Id="rId12" Type="http://schemas.openxmlformats.org/officeDocument/2006/relationships/oleObject" Target="../embeddings/oleObject28.bin"/><Relationship Id="rId17" Type="http://schemas.openxmlformats.org/officeDocument/2006/relationships/image" Target="../media/image37.wmf"/><Relationship Id="rId2" Type="http://schemas.openxmlformats.org/officeDocument/2006/relationships/slideLayout" Target="../slideLayouts/slideLayout1.xml"/><Relationship Id="rId16" Type="http://schemas.openxmlformats.org/officeDocument/2006/relationships/oleObject" Target="../embeddings/oleObject30.bin"/><Relationship Id="rId20" Type="http://schemas.openxmlformats.org/officeDocument/2006/relationships/oleObject" Target="../embeddings/oleObject32.bin"/><Relationship Id="rId1" Type="http://schemas.openxmlformats.org/officeDocument/2006/relationships/vmlDrawing" Target="../drawings/vmlDrawing9.vml"/><Relationship Id="rId6" Type="http://schemas.openxmlformats.org/officeDocument/2006/relationships/image" Target="../media/image32.wmf"/><Relationship Id="rId11" Type="http://schemas.openxmlformats.org/officeDocument/2006/relationships/image" Target="../media/image34.wmf"/><Relationship Id="rId5" Type="http://schemas.openxmlformats.org/officeDocument/2006/relationships/oleObject" Target="../embeddings/oleObject25.bin"/><Relationship Id="rId15" Type="http://schemas.openxmlformats.org/officeDocument/2006/relationships/image" Target="../media/image36.wmf"/><Relationship Id="rId23" Type="http://schemas.openxmlformats.org/officeDocument/2006/relationships/image" Target="../media/image40.wmf"/><Relationship Id="rId10" Type="http://schemas.openxmlformats.org/officeDocument/2006/relationships/oleObject" Target="../embeddings/oleObject27.bin"/><Relationship Id="rId19" Type="http://schemas.openxmlformats.org/officeDocument/2006/relationships/image" Target="../media/image38.wmf"/><Relationship Id="rId4" Type="http://schemas.openxmlformats.org/officeDocument/2006/relationships/image" Target="../media/image31.wmf"/><Relationship Id="rId9" Type="http://schemas.openxmlformats.org/officeDocument/2006/relationships/image" Target="../media/image33.wmf"/><Relationship Id="rId14" Type="http://schemas.openxmlformats.org/officeDocument/2006/relationships/oleObject" Target="../embeddings/oleObject29.bin"/><Relationship Id="rId22" Type="http://schemas.openxmlformats.org/officeDocument/2006/relationships/oleObject" Target="../embeddings/oleObject33.bin"/></Relationships>
</file>

<file path=ppt/slides/_rels/slide16.x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42.wmf"/><Relationship Id="rId5" Type="http://schemas.openxmlformats.org/officeDocument/2006/relationships/oleObject" Target="../embeddings/oleObject34.bin"/><Relationship Id="rId4" Type="http://schemas.openxmlformats.org/officeDocument/2006/relationships/image" Target="../media/image44.wmf"/></Relationships>
</file>

<file path=ppt/slides/_rels/slide17.xml.rels><?xml version="1.0" encoding="UTF-8" standalone="yes"?>
<Relationships xmlns="http://schemas.openxmlformats.org/package/2006/relationships"><Relationship Id="rId8" Type="http://schemas.openxmlformats.org/officeDocument/2006/relationships/image" Target="../media/image47.wmf"/><Relationship Id="rId3" Type="http://schemas.openxmlformats.org/officeDocument/2006/relationships/oleObject" Target="../embeddings/oleObject35.bin"/><Relationship Id="rId7"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46.wmf"/><Relationship Id="rId5" Type="http://schemas.openxmlformats.org/officeDocument/2006/relationships/oleObject" Target="../embeddings/oleObject36.bin"/><Relationship Id="rId4" Type="http://schemas.openxmlformats.org/officeDocument/2006/relationships/image" Target="../media/image45.wmf"/></Relationships>
</file>

<file path=ppt/slides/_rels/slide18.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9.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51.wmf"/><Relationship Id="rId5" Type="http://schemas.openxmlformats.org/officeDocument/2006/relationships/oleObject" Target="../embeddings/oleObject39.bin"/><Relationship Id="rId4" Type="http://schemas.openxmlformats.org/officeDocument/2006/relationships/image" Target="../media/image50.wmf"/></Relationships>
</file>

<file path=ppt/slides/_rels/slide20.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40.bin"/><Relationship Id="rId7" Type="http://schemas.openxmlformats.org/officeDocument/2006/relationships/oleObject" Target="../embeddings/oleObject42.bin"/><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53.wmf"/><Relationship Id="rId5" Type="http://schemas.openxmlformats.org/officeDocument/2006/relationships/oleObject" Target="../embeddings/oleObject41.bin"/><Relationship Id="rId10" Type="http://schemas.openxmlformats.org/officeDocument/2006/relationships/image" Target="../media/image56.wmf"/><Relationship Id="rId4" Type="http://schemas.openxmlformats.org/officeDocument/2006/relationships/image" Target="../media/image52.wmf"/><Relationship Id="rId9" Type="http://schemas.openxmlformats.org/officeDocument/2006/relationships/image" Target="../media/image55.wmf"/></Relationships>
</file>

<file path=ppt/slides/_rels/slide21.xml.rels><?xml version="1.0" encoding="UTF-8" standalone="yes"?>
<Relationships xmlns="http://schemas.openxmlformats.org/package/2006/relationships"><Relationship Id="rId8" Type="http://schemas.openxmlformats.org/officeDocument/2006/relationships/image" Target="../media/image59.wmf"/><Relationship Id="rId13" Type="http://schemas.openxmlformats.org/officeDocument/2006/relationships/oleObject" Target="../embeddings/oleObject48.bin"/><Relationship Id="rId3" Type="http://schemas.openxmlformats.org/officeDocument/2006/relationships/oleObject" Target="../embeddings/oleObject43.bin"/><Relationship Id="rId7" Type="http://schemas.openxmlformats.org/officeDocument/2006/relationships/oleObject" Target="../embeddings/oleObject45.bin"/><Relationship Id="rId12" Type="http://schemas.openxmlformats.org/officeDocument/2006/relationships/image" Target="../media/image61.wmf"/><Relationship Id="rId2" Type="http://schemas.openxmlformats.org/officeDocument/2006/relationships/slideLayout" Target="../slideLayouts/slideLayout1.xml"/><Relationship Id="rId16" Type="http://schemas.openxmlformats.org/officeDocument/2006/relationships/image" Target="../media/image63.wmf"/><Relationship Id="rId1" Type="http://schemas.openxmlformats.org/officeDocument/2006/relationships/vmlDrawing" Target="../drawings/vmlDrawing14.vml"/><Relationship Id="rId6" Type="http://schemas.openxmlformats.org/officeDocument/2006/relationships/image" Target="../media/image58.wmf"/><Relationship Id="rId11" Type="http://schemas.openxmlformats.org/officeDocument/2006/relationships/oleObject" Target="../embeddings/oleObject47.bin"/><Relationship Id="rId5" Type="http://schemas.openxmlformats.org/officeDocument/2006/relationships/oleObject" Target="../embeddings/oleObject44.bin"/><Relationship Id="rId15" Type="http://schemas.openxmlformats.org/officeDocument/2006/relationships/oleObject" Target="../embeddings/oleObject49.bin"/><Relationship Id="rId10" Type="http://schemas.openxmlformats.org/officeDocument/2006/relationships/image" Target="../media/image60.wmf"/><Relationship Id="rId4" Type="http://schemas.openxmlformats.org/officeDocument/2006/relationships/image" Target="../media/image57.wmf"/><Relationship Id="rId9" Type="http://schemas.openxmlformats.org/officeDocument/2006/relationships/oleObject" Target="../embeddings/oleObject46.bin"/><Relationship Id="rId14" Type="http://schemas.openxmlformats.org/officeDocument/2006/relationships/image" Target="../media/image62.wmf"/></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64.wmf"/><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oleObject" Target="../embeddings/oleObject50.bin"/><Relationship Id="rId5" Type="http://schemas.openxmlformats.org/officeDocument/2006/relationships/image" Target="../media/image66.wmf"/><Relationship Id="rId4" Type="http://schemas.openxmlformats.org/officeDocument/2006/relationships/image" Target="../media/image65.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68.wmf"/><Relationship Id="rId5" Type="http://schemas.openxmlformats.org/officeDocument/2006/relationships/oleObject" Target="../embeddings/oleObject52.bin"/><Relationship Id="rId4" Type="http://schemas.openxmlformats.org/officeDocument/2006/relationships/image" Target="../media/image67.wmf"/></Relationships>
</file>

<file path=ppt/slides/_rels/slide24.x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slideLayout" Target="../slideLayouts/slideLayout1.xml"/><Relationship Id="rId1" Type="http://schemas.openxmlformats.org/officeDocument/2006/relationships/vmlDrawing" Target="../drawings/vmlDrawing17.vml"/><Relationship Id="rId6" Type="http://schemas.openxmlformats.org/officeDocument/2006/relationships/image" Target="../media/image71.wmf"/><Relationship Id="rId5" Type="http://schemas.openxmlformats.org/officeDocument/2006/relationships/image" Target="../media/image69.wmf"/><Relationship Id="rId4" Type="http://schemas.openxmlformats.org/officeDocument/2006/relationships/oleObject" Target="../embeddings/oleObject53.bin"/></Relationships>
</file>

<file path=ppt/slides/_rels/slide25.x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73.wmf"/><Relationship Id="rId5" Type="http://schemas.openxmlformats.org/officeDocument/2006/relationships/oleObject" Target="../embeddings/oleObject55.bin"/><Relationship Id="rId4" Type="http://schemas.openxmlformats.org/officeDocument/2006/relationships/image" Target="../media/image72.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image" Target="../media/image79.wmf"/><Relationship Id="rId3" Type="http://schemas.openxmlformats.org/officeDocument/2006/relationships/oleObject" Target="../embeddings/oleObject57.bin"/><Relationship Id="rId7" Type="http://schemas.openxmlformats.org/officeDocument/2006/relationships/image" Target="../media/image76.wmf"/><Relationship Id="rId12" Type="http://schemas.openxmlformats.org/officeDocument/2006/relationships/oleObject" Target="../embeddings/oleObject61.bin"/><Relationship Id="rId2" Type="http://schemas.openxmlformats.org/officeDocument/2006/relationships/slideLayout" Target="../slideLayouts/slideLayout1.xml"/><Relationship Id="rId1" Type="http://schemas.openxmlformats.org/officeDocument/2006/relationships/vmlDrawing" Target="../drawings/vmlDrawing19.vml"/><Relationship Id="rId6" Type="http://schemas.openxmlformats.org/officeDocument/2006/relationships/oleObject" Target="../embeddings/oleObject58.bin"/><Relationship Id="rId11" Type="http://schemas.openxmlformats.org/officeDocument/2006/relationships/image" Target="../media/image78.wmf"/><Relationship Id="rId5" Type="http://schemas.openxmlformats.org/officeDocument/2006/relationships/image" Target="../media/image80.wmf"/><Relationship Id="rId10" Type="http://schemas.openxmlformats.org/officeDocument/2006/relationships/oleObject" Target="../embeddings/oleObject60.bin"/><Relationship Id="rId4" Type="http://schemas.openxmlformats.org/officeDocument/2006/relationships/image" Target="../media/image75.wmf"/><Relationship Id="rId9" Type="http://schemas.openxmlformats.org/officeDocument/2006/relationships/image" Target="../media/image77.wmf"/></Relationships>
</file>

<file path=ppt/slides/_rels/slide27.x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83.wmf"/><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82.wmf"/><Relationship Id="rId4" Type="http://schemas.openxmlformats.org/officeDocument/2006/relationships/oleObject" Target="../embeddings/oleObject62.bin"/></Relationships>
</file>

<file path=ppt/slides/_rels/slide29.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63.bin"/><Relationship Id="rId7" Type="http://schemas.openxmlformats.org/officeDocument/2006/relationships/oleObject" Target="../embeddings/oleObject65.bin"/><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image" Target="../media/image85.wmf"/><Relationship Id="rId5" Type="http://schemas.openxmlformats.org/officeDocument/2006/relationships/oleObject" Target="../embeddings/oleObject64.bin"/><Relationship Id="rId4" Type="http://schemas.openxmlformats.org/officeDocument/2006/relationships/image" Target="../media/image84.wmf"/></Relationships>
</file>

<file path=ppt/slides/_rels/slide30.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88.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9.emf"/><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90.emf"/><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2.jpeg"/></Relationships>
</file>

<file path=ppt/slides/_rels/slide38.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image" Target="../media/image9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image" Target="../media/image96.jpeg"/><Relationship Id="rId1" Type="http://schemas.openxmlformats.org/officeDocument/2006/relationships/slideLayout" Target="../slideLayouts/slideLayout2.xml"/><Relationship Id="rId4" Type="http://schemas.openxmlformats.org/officeDocument/2006/relationships/image" Target="../media/image98.jpeg"/></Relationships>
</file>

<file path=ppt/slides/_rels/slide42.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299" name="Picture 3" descr="Budnyas"/>
          <p:cNvPicPr>
            <a:picLocks noChangeAspect="1" noChangeArrowheads="1"/>
          </p:cNvPicPr>
          <p:nvPr/>
        </p:nvPicPr>
        <p:blipFill>
          <a:blip r:embed="rId2" cstate="print"/>
          <a:srcRect/>
          <a:stretch>
            <a:fillRect/>
          </a:stretch>
        </p:blipFill>
        <p:spPr bwMode="auto">
          <a:xfrm>
            <a:off x="-76765" y="-25401"/>
            <a:ext cx="9147175" cy="6861175"/>
          </a:xfrm>
          <a:prstGeom prst="rect">
            <a:avLst/>
          </a:prstGeom>
          <a:noFill/>
        </p:spPr>
      </p:pic>
      <p:sp>
        <p:nvSpPr>
          <p:cNvPr id="55298" name="Rectangle 2"/>
          <p:cNvSpPr>
            <a:spLocks noGrp="1" noChangeArrowheads="1"/>
          </p:cNvSpPr>
          <p:nvPr>
            <p:ph idx="1"/>
          </p:nvPr>
        </p:nvSpPr>
        <p:spPr>
          <a:xfrm>
            <a:off x="-93330" y="2362200"/>
            <a:ext cx="3293729" cy="2154436"/>
          </a:xfrm>
        </p:spPr>
        <p:txBody>
          <a:bodyPr wrap="square">
            <a:spAutoFit/>
          </a:bodyPr>
          <a:lstStyle/>
          <a:p>
            <a:pPr algn="ctr">
              <a:buFontTx/>
              <a:buNone/>
            </a:pPr>
            <a:r>
              <a:rPr lang="en-US" b="1" dirty="0" smtClean="0">
                <a:solidFill>
                  <a:schemeClr val="bg1"/>
                </a:solidFill>
                <a:latin typeface="Arial Black" panose="020B0A04020102020204" pitchFamily="34" charset="0"/>
              </a:rPr>
              <a:t>LECTURE </a:t>
            </a:r>
            <a:r>
              <a:rPr lang="en-US" sz="4000" b="1" dirty="0" smtClean="0">
                <a:solidFill>
                  <a:schemeClr val="bg1"/>
                </a:solidFill>
                <a:latin typeface="Arial Black" panose="020B0A04020102020204" pitchFamily="34" charset="0"/>
              </a:rPr>
              <a:t>1</a:t>
            </a:r>
          </a:p>
          <a:p>
            <a:pPr algn="ctr">
              <a:buFontTx/>
              <a:buNone/>
            </a:pPr>
            <a:endParaRPr lang="en-US" b="1" dirty="0" smtClean="0">
              <a:solidFill>
                <a:schemeClr val="bg1"/>
              </a:solidFill>
              <a:latin typeface="Arial Black" panose="020B0A04020102020204" pitchFamily="34" charset="0"/>
            </a:endParaRPr>
          </a:p>
          <a:p>
            <a:pPr marL="1588" indent="-1588" algn="ctr">
              <a:buFontTx/>
              <a:buNone/>
            </a:pPr>
            <a:r>
              <a:rPr lang="en-GB" sz="3600" kern="1600" dirty="0" smtClean="0">
                <a:solidFill>
                  <a:schemeClr val="bg1"/>
                </a:solidFill>
                <a:latin typeface="Arial Black" panose="020B0A04020102020204" pitchFamily="34" charset="0"/>
              </a:rPr>
              <a:t>I</a:t>
            </a:r>
            <a:r>
              <a:rPr lang="en-GB" kern="1600" dirty="0" smtClean="0">
                <a:solidFill>
                  <a:schemeClr val="bg1"/>
                </a:solidFill>
                <a:latin typeface="Arial Black" panose="020B0A04020102020204" pitchFamily="34" charset="0"/>
              </a:rPr>
              <a:t>NTRODUCTION</a:t>
            </a:r>
            <a:r>
              <a:rPr lang="en-GB" kern="1600" dirty="0" smtClean="0">
                <a:solidFill>
                  <a:schemeClr val="bg1"/>
                </a:solidFill>
                <a:latin typeface="Arial Black" panose="020B0A04020102020204" pitchFamily="34" charset="0"/>
              </a:rPr>
              <a:t/>
            </a:r>
            <a:br>
              <a:rPr lang="en-GB" kern="1600" dirty="0" smtClean="0">
                <a:solidFill>
                  <a:schemeClr val="bg1"/>
                </a:solidFill>
                <a:latin typeface="Arial Black" panose="020B0A04020102020204" pitchFamily="34" charset="0"/>
              </a:rPr>
            </a:br>
            <a:endParaRPr lang="en-US" b="1" dirty="0">
              <a:solidFill>
                <a:schemeClr val="bg1"/>
              </a:solidFill>
              <a:latin typeface="Arial Black" panose="020B0A04020102020204" pitchFamily="34" charset="0"/>
            </a:endParaRPr>
          </a:p>
        </p:txBody>
      </p:sp>
      <p:sp>
        <p:nvSpPr>
          <p:cNvPr id="9" name="Text Box 2"/>
          <p:cNvSpPr txBox="1">
            <a:spLocks noChangeArrowheads="1"/>
          </p:cNvSpPr>
          <p:nvPr/>
        </p:nvSpPr>
        <p:spPr bwMode="auto">
          <a:xfrm>
            <a:off x="5066687" y="-16565"/>
            <a:ext cx="4046792" cy="6838950"/>
          </a:xfrm>
          <a:prstGeom prst="rect">
            <a:avLst/>
          </a:prstGeom>
          <a:solidFill>
            <a:schemeClr val="bg1">
              <a:lumMod val="50000"/>
            </a:schemeClr>
          </a:solidFill>
          <a:ln w="9525">
            <a:solidFill>
              <a:srgbClr val="000000"/>
            </a:solidFill>
            <a:miter lim="800000"/>
            <a:headEnd/>
            <a:tailEnd/>
          </a:ln>
        </p:spPr>
        <p:txBody>
          <a:bodyPr rot="0" vert="horz" wrap="square" lIns="91440" tIns="45720" rIns="91440" bIns="45720" anchor="t" anchorCtr="0">
            <a:noAutofit/>
          </a:bodyPr>
          <a:lstStyle/>
          <a:p>
            <a:pPr algn="r">
              <a:lnSpc>
                <a:spcPct val="107000"/>
              </a:lnSpc>
              <a:spcAft>
                <a:spcPts val="800"/>
              </a:spcAft>
            </a:pPr>
            <a:endParaRPr lang="en-US" sz="1100" dirty="0">
              <a:latin typeface="Calibri" panose="020F0502020204030204" pitchFamily="34" charset="0"/>
              <a:ea typeface="Calibri" panose="020F0502020204030204" pitchFamily="34" charset="0"/>
              <a:cs typeface="Times New Roman" panose="02020603050405020304" pitchFamily="18" charset="0"/>
            </a:endParaRPr>
          </a:p>
          <a:p>
            <a:pPr algn="r">
              <a:lnSpc>
                <a:spcPct val="107000"/>
              </a:lnSpc>
              <a:spcAft>
                <a:spcPts val="800"/>
              </a:spcAft>
            </a:pPr>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5" name="TextBox 4"/>
          <p:cNvSpPr txBox="1"/>
          <p:nvPr/>
        </p:nvSpPr>
        <p:spPr>
          <a:xfrm>
            <a:off x="5363527" y="2514600"/>
            <a:ext cx="3617848" cy="3170099"/>
          </a:xfrm>
          <a:prstGeom prst="rect">
            <a:avLst/>
          </a:prstGeom>
          <a:noFill/>
        </p:spPr>
        <p:txBody>
          <a:bodyPr wrap="square" rtlCol="0">
            <a:spAutoFit/>
          </a:bodyPr>
          <a:lstStyle/>
          <a:p>
            <a:pPr algn="ctr"/>
            <a:r>
              <a:rPr lang="en-US" sz="4000" dirty="0">
                <a:latin typeface="Arial Black" panose="020B0A04020102020204" pitchFamily="34" charset="0"/>
              </a:rPr>
              <a:t>ME </a:t>
            </a:r>
            <a:r>
              <a:rPr lang="en-US" sz="4000" dirty="0" smtClean="0">
                <a:latin typeface="Arial Black" panose="020B0A04020102020204" pitchFamily="34" charset="0"/>
              </a:rPr>
              <a:t>255: STRENGTH OF MATERIALS I</a:t>
            </a:r>
            <a:endParaRPr lang="en-US" sz="4000" dirty="0">
              <a:latin typeface="Arial Black" panose="020B0A04020102020204" pitchFamily="34" charset="0"/>
            </a:endParaRPr>
          </a:p>
        </p:txBody>
      </p:sp>
      <p:sp>
        <p:nvSpPr>
          <p:cNvPr id="12" name="Text Box 2"/>
          <p:cNvSpPr txBox="1">
            <a:spLocks noChangeArrowheads="1"/>
          </p:cNvSpPr>
          <p:nvPr/>
        </p:nvSpPr>
        <p:spPr bwMode="auto">
          <a:xfrm>
            <a:off x="3200401" y="-1"/>
            <a:ext cx="2163126" cy="6835775"/>
          </a:xfrm>
          <a:prstGeom prst="rect">
            <a:avLst/>
          </a:prstGeom>
          <a:solidFill>
            <a:sysClr val="windowText" lastClr="000000"/>
          </a:solidFill>
          <a:ln w="9525">
            <a:solidFill>
              <a:srgbClr val="000000"/>
            </a:solidFill>
            <a:miter lim="800000"/>
            <a:headEnd/>
            <a:tailEnd/>
          </a:ln>
        </p:spPr>
        <p:txBody>
          <a:bodyPr rot="0" vert="horz" wrap="square" lIns="91440" tIns="45720" rIns="91440" bIns="45720" anchor="t" anchorCtr="0">
            <a:noAutofit/>
          </a:bodyPr>
          <a:lstStyle/>
          <a:p>
            <a:pPr algn="r">
              <a:lnSpc>
                <a:spcPct val="107000"/>
              </a:lnSpc>
              <a:spcAft>
                <a:spcPts val="800"/>
              </a:spcAft>
            </a:pPr>
            <a:r>
              <a:rPr lang="en-US" sz="1100" dirty="0">
                <a:latin typeface="Calibri" panose="020F0502020204030204" pitchFamily="34" charset="0"/>
                <a:ea typeface="Calibri" panose="020F0502020204030204" pitchFamily="34" charset="0"/>
                <a:cs typeface="Times New Roman" panose="02020603050405020304" pitchFamily="18" charset="0"/>
              </a:rPr>
              <a:t> </a:t>
            </a:r>
          </a:p>
          <a:p>
            <a:pPr algn="r">
              <a:lnSpc>
                <a:spcPct val="107000"/>
              </a:lnSpc>
              <a:spcAft>
                <a:spcPts val="800"/>
              </a:spcAft>
            </a:pPr>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p:sp>
        <p:nvSpPr>
          <p:cNvPr id="7" name="TextBox 6"/>
          <p:cNvSpPr txBox="1"/>
          <p:nvPr/>
        </p:nvSpPr>
        <p:spPr>
          <a:xfrm>
            <a:off x="3200400" y="195758"/>
            <a:ext cx="2163127" cy="6463308"/>
          </a:xfrm>
          <a:prstGeom prst="rect">
            <a:avLst/>
          </a:prstGeom>
          <a:noFill/>
        </p:spPr>
        <p:txBody>
          <a:bodyPr wrap="square" rtlCol="0">
            <a:spAutoFit/>
          </a:bodyPr>
          <a:lstStyle/>
          <a:p>
            <a:pPr algn="ctr"/>
            <a:r>
              <a:rPr lang="en-US" dirty="0" smtClean="0">
                <a:solidFill>
                  <a:schemeClr val="tx1">
                    <a:lumMod val="50000"/>
                    <a:lumOff val="50000"/>
                  </a:schemeClr>
                </a:solidFill>
              </a:rPr>
              <a:t>Ing. Dr. P. Y. Andoh, PhD, MGhIE</a:t>
            </a:r>
          </a:p>
          <a:p>
            <a:pPr algn="ctr"/>
            <a:endParaRPr lang="en-US" dirty="0">
              <a:solidFill>
                <a:schemeClr val="tx1">
                  <a:lumMod val="50000"/>
                  <a:lumOff val="50000"/>
                </a:schemeClr>
              </a:solidFill>
            </a:endParaRPr>
          </a:p>
          <a:p>
            <a:pPr algn="ctr"/>
            <a:r>
              <a:rPr lang="en-US" dirty="0" smtClean="0">
                <a:solidFill>
                  <a:schemeClr val="tx1">
                    <a:lumMod val="50000"/>
                    <a:lumOff val="50000"/>
                  </a:schemeClr>
                </a:solidFill>
              </a:rPr>
              <a:t>Mechanical Engineering Dept.</a:t>
            </a:r>
          </a:p>
          <a:p>
            <a:pPr algn="ctr"/>
            <a:r>
              <a:rPr lang="en-US" dirty="0" smtClean="0">
                <a:solidFill>
                  <a:schemeClr val="tx1">
                    <a:lumMod val="50000"/>
                    <a:lumOff val="50000"/>
                  </a:schemeClr>
                </a:solidFill>
              </a:rPr>
              <a:t>Kwame Nkrumah University of Science and Technology, Kumasi</a:t>
            </a:r>
          </a:p>
          <a:p>
            <a:pPr algn="ctr"/>
            <a:endParaRPr lang="en-US" dirty="0">
              <a:solidFill>
                <a:schemeClr val="tx1">
                  <a:lumMod val="50000"/>
                  <a:lumOff val="50000"/>
                </a:schemeClr>
              </a:solidFill>
            </a:endParaRPr>
          </a:p>
          <a:p>
            <a:pPr algn="ctr"/>
            <a:endParaRPr lang="en-US" dirty="0" smtClean="0">
              <a:solidFill>
                <a:schemeClr val="tx1">
                  <a:lumMod val="50000"/>
                  <a:lumOff val="50000"/>
                </a:schemeClr>
              </a:solidFill>
            </a:endParaRPr>
          </a:p>
          <a:p>
            <a:pPr algn="ctr"/>
            <a:r>
              <a:rPr lang="en-US" dirty="0" smtClean="0">
                <a:solidFill>
                  <a:schemeClr val="tx1">
                    <a:lumMod val="50000"/>
                    <a:lumOff val="50000"/>
                  </a:schemeClr>
                </a:solidFill>
              </a:rPr>
              <a:t>Phone: 024 2235674; 020  0960067</a:t>
            </a:r>
          </a:p>
          <a:p>
            <a:pPr algn="ctr"/>
            <a:endParaRPr lang="en-US" dirty="0">
              <a:solidFill>
                <a:schemeClr val="tx1">
                  <a:lumMod val="50000"/>
                  <a:lumOff val="50000"/>
                </a:schemeClr>
              </a:solidFill>
            </a:endParaRPr>
          </a:p>
          <a:p>
            <a:pPr algn="ctr"/>
            <a:r>
              <a:rPr lang="en-US" dirty="0" err="1" smtClean="0">
                <a:solidFill>
                  <a:schemeClr val="tx1">
                    <a:lumMod val="50000"/>
                    <a:lumOff val="50000"/>
                  </a:schemeClr>
                </a:solidFill>
              </a:rPr>
              <a:t>Whatsapp</a:t>
            </a:r>
            <a:r>
              <a:rPr lang="en-US" dirty="0" smtClean="0">
                <a:solidFill>
                  <a:schemeClr val="tx1">
                    <a:lumMod val="50000"/>
                    <a:lumOff val="50000"/>
                  </a:schemeClr>
                </a:solidFill>
              </a:rPr>
              <a:t>: 026 1099725</a:t>
            </a:r>
          </a:p>
          <a:p>
            <a:pPr algn="ctr"/>
            <a:endParaRPr lang="en-US" dirty="0">
              <a:solidFill>
                <a:schemeClr val="tx1">
                  <a:lumMod val="50000"/>
                  <a:lumOff val="50000"/>
                </a:schemeClr>
              </a:solidFill>
            </a:endParaRPr>
          </a:p>
          <a:p>
            <a:pPr algn="ctr"/>
            <a:r>
              <a:rPr lang="en-US" dirty="0" smtClean="0">
                <a:solidFill>
                  <a:schemeClr val="tx1">
                    <a:lumMod val="50000"/>
                    <a:lumOff val="50000"/>
                  </a:schemeClr>
                </a:solidFill>
              </a:rPr>
              <a:t>Email: </a:t>
            </a:r>
            <a:r>
              <a:rPr lang="en-US" dirty="0" smtClean="0">
                <a:solidFill>
                  <a:schemeClr val="tx1">
                    <a:lumMod val="50000"/>
                    <a:lumOff val="50000"/>
                  </a:schemeClr>
                </a:solidFill>
                <a:hlinkClick r:id="rId3"/>
              </a:rPr>
              <a:t>andohp_2@yahoo.com</a:t>
            </a:r>
            <a:r>
              <a:rPr lang="en-US" dirty="0" smtClean="0">
                <a:solidFill>
                  <a:schemeClr val="tx1">
                    <a:lumMod val="50000"/>
                    <a:lumOff val="50000"/>
                  </a:schemeClr>
                </a:solidFill>
              </a:rPr>
              <a:t>; </a:t>
            </a:r>
            <a:r>
              <a:rPr lang="en-US" dirty="0" smtClean="0">
                <a:solidFill>
                  <a:schemeClr val="tx1">
                    <a:lumMod val="50000"/>
                    <a:lumOff val="50000"/>
                  </a:schemeClr>
                </a:solidFill>
                <a:hlinkClick r:id="rId4"/>
              </a:rPr>
              <a:t>pyandoh.coe@knust.edu.gh</a:t>
            </a:r>
            <a:endParaRPr lang="en-US" dirty="0" smtClean="0">
              <a:solidFill>
                <a:schemeClr val="tx1">
                  <a:lumMod val="50000"/>
                  <a:lumOff val="50000"/>
                </a:schemeClr>
              </a:solidFill>
            </a:endParaRPr>
          </a:p>
          <a:p>
            <a:pPr algn="ctr"/>
            <a:endParaRPr lang="en-US" dirty="0">
              <a:solidFill>
                <a:schemeClr val="tx1">
                  <a:lumMod val="50000"/>
                  <a:lumOff val="50000"/>
                </a:schemeClr>
              </a:solidFill>
            </a:endParaRPr>
          </a:p>
        </p:txBody>
      </p:sp>
    </p:spTree>
    <p:extLst>
      <p:ext uri="{BB962C8B-B14F-4D97-AF65-F5344CB8AC3E}">
        <p14:creationId xmlns:p14="http://schemas.microsoft.com/office/powerpoint/2010/main" val="11457024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160"/>
            <a:ext cx="7498080" cy="461665"/>
          </a:xfrm>
        </p:spPr>
        <p:txBody>
          <a:bodyPr/>
          <a:lstStyle/>
          <a:p>
            <a:r>
              <a:rPr lang="en-US" b="1" dirty="0" smtClean="0">
                <a:solidFill>
                  <a:schemeClr val="accent6"/>
                </a:solidFill>
              </a:rPr>
              <a:t>Lecture Outline</a:t>
            </a:r>
            <a:endParaRPr lang="en-US" b="1" dirty="0">
              <a:solidFill>
                <a:schemeClr val="accent6"/>
              </a:solidFill>
            </a:endParaRPr>
          </a:p>
        </p:txBody>
      </p:sp>
      <p:sp>
        <p:nvSpPr>
          <p:cNvPr id="5" name="Rectangle 4"/>
          <p:cNvSpPr/>
          <p:nvPr/>
        </p:nvSpPr>
        <p:spPr>
          <a:xfrm>
            <a:off x="467677" y="1447800"/>
            <a:ext cx="8239125" cy="3323987"/>
          </a:xfrm>
          <a:prstGeom prst="rect">
            <a:avLst/>
          </a:prstGeom>
        </p:spPr>
        <p:txBody>
          <a:bodyPr wrap="square">
            <a:spAutoFit/>
          </a:bodyPr>
          <a:lstStyle/>
          <a:p>
            <a:pPr marL="1200150">
              <a:lnSpc>
                <a:spcPct val="250000"/>
              </a:lnSpc>
            </a:pPr>
            <a:r>
              <a:rPr lang="en-US" sz="2100" dirty="0" smtClean="0">
                <a:latin typeface="Times New Roman" panose="02020603050405020304" pitchFamily="18" charset="0"/>
                <a:cs typeface="Times New Roman" panose="02020603050405020304" pitchFamily="18" charset="0"/>
              </a:rPr>
              <a:t>Stress and Strain</a:t>
            </a:r>
          </a:p>
          <a:p>
            <a:pPr marL="1200150">
              <a:lnSpc>
                <a:spcPct val="250000"/>
              </a:lnSpc>
            </a:pPr>
            <a:r>
              <a:rPr lang="en-US" sz="2100" dirty="0" smtClean="0">
                <a:latin typeface="Times New Roman" panose="02020603050405020304" pitchFamily="18" charset="0"/>
                <a:cs typeface="Times New Roman" panose="02020603050405020304" pitchFamily="18" charset="0"/>
              </a:rPr>
              <a:t>Review of Moment of Area</a:t>
            </a:r>
          </a:p>
          <a:p>
            <a:pPr marL="1200150">
              <a:lnSpc>
                <a:spcPct val="250000"/>
              </a:lnSpc>
            </a:pPr>
            <a:r>
              <a:rPr lang="en-US" sz="2100" dirty="0" smtClean="0">
                <a:latin typeface="Times New Roman" panose="02020603050405020304" pitchFamily="18" charset="0"/>
                <a:cs typeface="Times New Roman" panose="02020603050405020304" pitchFamily="18" charset="0"/>
              </a:rPr>
              <a:t>Review of Equilibrium of Rigid Bodies</a:t>
            </a:r>
            <a:endParaRPr lang="en-US" sz="2100" dirty="0">
              <a:latin typeface="Times New Roman" panose="02020603050405020304" pitchFamily="18" charset="0"/>
              <a:cs typeface="Times New Roman" panose="02020603050405020304" pitchFamily="18" charset="0"/>
            </a:endParaRPr>
          </a:p>
          <a:p>
            <a:pPr>
              <a:lnSpc>
                <a:spcPct val="250000"/>
              </a:lnSpc>
            </a:pPr>
            <a:r>
              <a:rPr lang="en-US" sz="21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194532162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Classification </a:t>
            </a:r>
            <a:r>
              <a:rPr lang="en-US" b="1" dirty="0"/>
              <a:t>of Stresses and </a:t>
            </a:r>
            <a:r>
              <a:rPr lang="en-US" b="1" dirty="0" smtClean="0"/>
              <a:t>Strains</a:t>
            </a:r>
            <a:endParaRPr lang="en-US" dirty="0"/>
          </a:p>
        </p:txBody>
      </p:sp>
      <p:sp>
        <p:nvSpPr>
          <p:cNvPr id="5" name="Rectangle 4"/>
          <p:cNvSpPr/>
          <p:nvPr/>
        </p:nvSpPr>
        <p:spPr>
          <a:xfrm>
            <a:off x="609600" y="1143000"/>
            <a:ext cx="8382000" cy="4939814"/>
          </a:xfrm>
          <a:prstGeom prst="rect">
            <a:avLst/>
          </a:prstGeom>
        </p:spPr>
        <p:txBody>
          <a:bodyPr wrap="square">
            <a:spAutoFit/>
          </a:bodyPr>
          <a:lstStyle/>
          <a:p>
            <a:pPr marL="514350" indent="-514350" algn="just">
              <a:buFont typeface="Wingdings" panose="05000000000000000000" pitchFamily="2" charset="2"/>
              <a:buChar char="q"/>
            </a:pPr>
            <a:r>
              <a:rPr lang="en-US" sz="2100" dirty="0">
                <a:latin typeface="Times New Roman" panose="02020603050405020304" pitchFamily="18" charset="0"/>
                <a:ea typeface="Times New Roman" panose="02020603050405020304" pitchFamily="18" charset="0"/>
              </a:rPr>
              <a:t>Stresses can be classified based on two conditions. </a:t>
            </a:r>
          </a:p>
          <a:p>
            <a:pPr marL="514350" indent="-514350" algn="just">
              <a:buFont typeface="Wingdings" panose="05000000000000000000" pitchFamily="2" charset="2"/>
              <a:buChar char="q"/>
            </a:pPr>
            <a:r>
              <a:rPr lang="en-US" sz="2100" dirty="0">
                <a:latin typeface="Times New Roman" panose="02020603050405020304" pitchFamily="18" charset="0"/>
                <a:ea typeface="Times New Roman" panose="02020603050405020304" pitchFamily="18" charset="0"/>
              </a:rPr>
              <a:t>These are:</a:t>
            </a:r>
          </a:p>
          <a:p>
            <a:pPr marL="1076325" indent="-561975" algn="just">
              <a:buFont typeface="+mj-lt"/>
              <a:buAutoNum type="arabicPeriod"/>
              <a:tabLst>
                <a:tab pos="171450" algn="l"/>
              </a:tabLst>
            </a:pPr>
            <a:r>
              <a:rPr lang="en-US" sz="2100" dirty="0">
                <a:latin typeface="Times New Roman" panose="02020603050405020304" pitchFamily="18" charset="0"/>
                <a:ea typeface="Times New Roman" panose="02020603050405020304" pitchFamily="18" charset="0"/>
              </a:rPr>
              <a:t>The type of loading in the machine member or the structure. Therefore, the following types of stresses can be identified with the corresponding type of loading</a:t>
            </a:r>
            <a:r>
              <a:rPr lang="en-US" sz="2100" dirty="0" smtClean="0">
                <a:latin typeface="Times New Roman" panose="02020603050405020304" pitchFamily="18" charset="0"/>
                <a:ea typeface="Times New Roman" panose="02020603050405020304" pitchFamily="18" charset="0"/>
              </a:rPr>
              <a:t>;</a:t>
            </a:r>
          </a:p>
          <a:p>
            <a:pPr marL="1076325" indent="-561975" algn="just">
              <a:buFont typeface="+mj-lt"/>
              <a:buAutoNum type="arabicPeriod"/>
              <a:tabLst>
                <a:tab pos="171450" algn="l"/>
              </a:tabLst>
            </a:pPr>
            <a:endParaRPr lang="en-US" sz="2100" dirty="0">
              <a:latin typeface="Times New Roman" panose="02020603050405020304" pitchFamily="18" charset="0"/>
              <a:ea typeface="Times New Roman" panose="02020603050405020304" pitchFamily="18" charset="0"/>
            </a:endParaRPr>
          </a:p>
          <a:p>
            <a:pPr marL="1676400" lvl="1" indent="-561975" algn="just">
              <a:lnSpc>
                <a:spcPct val="150000"/>
              </a:lnSpc>
              <a:buFont typeface="+mj-lt"/>
              <a:buAutoNum type="alphaLcPeriod"/>
              <a:tabLst>
                <a:tab pos="342900" algn="l"/>
              </a:tabLst>
            </a:pPr>
            <a:r>
              <a:rPr lang="en-US" sz="2100" dirty="0">
                <a:latin typeface="Times New Roman" panose="02020603050405020304" pitchFamily="18" charset="0"/>
                <a:ea typeface="Times New Roman" panose="02020603050405020304" pitchFamily="18" charset="0"/>
              </a:rPr>
              <a:t>Axial stress due to axial loading,</a:t>
            </a:r>
          </a:p>
          <a:p>
            <a:pPr marL="1676400" lvl="1" indent="-561975" algn="just">
              <a:lnSpc>
                <a:spcPct val="150000"/>
              </a:lnSpc>
              <a:buFont typeface="+mj-lt"/>
              <a:buAutoNum type="alphaLcPeriod"/>
              <a:tabLst>
                <a:tab pos="342900" algn="l"/>
              </a:tabLst>
            </a:pPr>
            <a:r>
              <a:rPr lang="en-US" sz="2100" dirty="0">
                <a:latin typeface="Times New Roman" panose="02020603050405020304" pitchFamily="18" charset="0"/>
                <a:ea typeface="Times New Roman" panose="02020603050405020304" pitchFamily="18" charset="0"/>
              </a:rPr>
              <a:t>Bending stress due to bending in beams,</a:t>
            </a:r>
          </a:p>
          <a:p>
            <a:pPr marL="1676400" lvl="1" indent="-561975" algn="just">
              <a:lnSpc>
                <a:spcPct val="150000"/>
              </a:lnSpc>
              <a:buFont typeface="+mj-lt"/>
              <a:buAutoNum type="alphaLcPeriod"/>
              <a:tabLst>
                <a:tab pos="342900" algn="l"/>
              </a:tabLst>
            </a:pPr>
            <a:r>
              <a:rPr lang="en-US" sz="2100" dirty="0">
                <a:latin typeface="Times New Roman" panose="02020603050405020304" pitchFamily="18" charset="0"/>
                <a:ea typeface="Times New Roman" panose="02020603050405020304" pitchFamily="18" charset="0"/>
              </a:rPr>
              <a:t>Shearing stress due to torsion in shafts,</a:t>
            </a:r>
          </a:p>
          <a:p>
            <a:pPr marL="1676400" lvl="1" indent="-561975" algn="just">
              <a:lnSpc>
                <a:spcPct val="150000"/>
              </a:lnSpc>
              <a:buFont typeface="+mj-lt"/>
              <a:buAutoNum type="alphaLcPeriod"/>
              <a:tabLst>
                <a:tab pos="342900" algn="l"/>
              </a:tabLst>
            </a:pPr>
            <a:r>
              <a:rPr lang="en-US" sz="2100" dirty="0">
                <a:latin typeface="Times New Roman" panose="02020603050405020304" pitchFamily="18" charset="0"/>
                <a:ea typeface="Times New Roman" panose="02020603050405020304" pitchFamily="18" charset="0"/>
              </a:rPr>
              <a:t>Shearing stress due to transverse or shear load</a:t>
            </a:r>
          </a:p>
          <a:p>
            <a:pPr marL="1676400" lvl="1" indent="-561975" algn="just">
              <a:lnSpc>
                <a:spcPct val="150000"/>
              </a:lnSpc>
              <a:buFont typeface="+mj-lt"/>
              <a:buAutoNum type="alphaLcPeriod"/>
              <a:tabLst>
                <a:tab pos="342900" algn="l"/>
              </a:tabLst>
            </a:pPr>
            <a:r>
              <a:rPr lang="en-US" sz="2100" dirty="0">
                <a:latin typeface="Times New Roman" panose="02020603050405020304" pitchFamily="18" charset="0"/>
                <a:ea typeface="Times New Roman" panose="02020603050405020304" pitchFamily="18" charset="0"/>
              </a:rPr>
              <a:t>Hood/Transverse stress in pressure vessels</a:t>
            </a:r>
          </a:p>
          <a:p>
            <a:pPr marL="1676400" lvl="1" indent="-561975" algn="just">
              <a:lnSpc>
                <a:spcPct val="150000"/>
              </a:lnSpc>
              <a:buFont typeface="+mj-lt"/>
              <a:buAutoNum type="alphaLcPeriod"/>
              <a:tabLst>
                <a:tab pos="342900" algn="l"/>
              </a:tabLst>
            </a:pPr>
            <a:r>
              <a:rPr lang="en-US" sz="2100" dirty="0">
                <a:latin typeface="Times New Roman" panose="02020603050405020304" pitchFamily="18" charset="0"/>
                <a:ea typeface="Times New Roman" panose="02020603050405020304" pitchFamily="18" charset="0"/>
              </a:rPr>
              <a:t>Axial stress in pressure vessels</a:t>
            </a:r>
          </a:p>
        </p:txBody>
      </p:sp>
    </p:spTree>
    <p:extLst>
      <p:ext uri="{BB962C8B-B14F-4D97-AF65-F5344CB8AC3E}">
        <p14:creationId xmlns:p14="http://schemas.microsoft.com/office/powerpoint/2010/main" val="3213686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111223" y="5705805"/>
            <a:ext cx="306851" cy="273844"/>
          </a:xfrm>
          <a:prstGeom prst="rect">
            <a:avLst/>
          </a:prstGeom>
        </p:spPr>
        <p:txBody>
          <a:bodyPr/>
          <a:lstStyle/>
          <a:p>
            <a:fld id="{7E50C373-F1D0-494F-8D6D-366C958B3429}" type="slidenum">
              <a:rPr lang="en-GB" smtClean="0"/>
              <a:t>4</a:t>
            </a:fld>
            <a:endParaRPr lang="en-GB"/>
          </a:p>
        </p:txBody>
      </p:sp>
      <p:sp>
        <p:nvSpPr>
          <p:cNvPr id="5" name="Rectangle 4"/>
          <p:cNvSpPr/>
          <p:nvPr/>
        </p:nvSpPr>
        <p:spPr>
          <a:xfrm>
            <a:off x="923924" y="1902031"/>
            <a:ext cx="8067676" cy="2677656"/>
          </a:xfrm>
          <a:prstGeom prst="rect">
            <a:avLst/>
          </a:prstGeom>
        </p:spPr>
        <p:txBody>
          <a:bodyPr wrap="square">
            <a:spAutoFit/>
          </a:bodyPr>
          <a:lstStyle/>
          <a:p>
            <a:pPr marL="385763" indent="-385763" algn="just">
              <a:buFont typeface="+mj-lt"/>
              <a:buAutoNum type="arabicPeriod" startAt="2"/>
              <a:tabLst>
                <a:tab pos="171450" algn="l"/>
              </a:tabLst>
            </a:pPr>
            <a:r>
              <a:rPr lang="en-US" sz="2100" dirty="0">
                <a:latin typeface="Times New Roman" panose="02020603050405020304" pitchFamily="18" charset="0"/>
                <a:ea typeface="Times New Roman" panose="02020603050405020304" pitchFamily="18" charset="0"/>
              </a:rPr>
              <a:t>How the force-couple acts on the surface of the machine or structure. </a:t>
            </a:r>
          </a:p>
          <a:p>
            <a:pPr marL="342900" algn="just">
              <a:tabLst>
                <a:tab pos="171450" algn="l"/>
              </a:tabLst>
            </a:pPr>
            <a:r>
              <a:rPr lang="en-US" sz="2100" dirty="0">
                <a:latin typeface="Times New Roman" panose="02020603050405020304" pitchFamily="18" charset="0"/>
                <a:ea typeface="Times New Roman" panose="02020603050405020304" pitchFamily="18" charset="0"/>
              </a:rPr>
              <a:t>Thus, we have:</a:t>
            </a:r>
          </a:p>
          <a:p>
            <a:pPr marL="966788" lvl="1" indent="-622300" algn="just">
              <a:lnSpc>
                <a:spcPct val="200000"/>
              </a:lnSpc>
              <a:buFont typeface="+mj-lt"/>
              <a:buAutoNum type="alphaLcPeriod"/>
              <a:tabLst>
                <a:tab pos="342900" algn="l"/>
              </a:tabLst>
            </a:pPr>
            <a:r>
              <a:rPr lang="en-US" sz="2100" dirty="0">
                <a:latin typeface="Times New Roman" panose="02020603050405020304" pitchFamily="18" charset="0"/>
                <a:ea typeface="Times New Roman" panose="02020603050405020304" pitchFamily="18" charset="0"/>
              </a:rPr>
              <a:t>Normal stress acting perpendicular to the surface area</a:t>
            </a:r>
          </a:p>
          <a:p>
            <a:pPr marL="966788" lvl="1" indent="-622300" algn="just">
              <a:lnSpc>
                <a:spcPct val="200000"/>
              </a:lnSpc>
              <a:buFont typeface="+mj-lt"/>
              <a:buAutoNum type="alphaLcPeriod"/>
              <a:tabLst>
                <a:tab pos="342900" algn="l"/>
              </a:tabLst>
            </a:pPr>
            <a:r>
              <a:rPr lang="en-US" sz="2100" dirty="0">
                <a:latin typeface="Times New Roman" panose="02020603050405020304" pitchFamily="18" charset="0"/>
                <a:ea typeface="Times New Roman" panose="02020603050405020304" pitchFamily="18" charset="0"/>
              </a:rPr>
              <a:t>Shearing stress acting tangential to the surface area</a:t>
            </a:r>
          </a:p>
          <a:p>
            <a:pPr marL="966788" lvl="1" indent="-622300" algn="just">
              <a:lnSpc>
                <a:spcPct val="200000"/>
              </a:lnSpc>
              <a:buFont typeface="+mj-lt"/>
              <a:buAutoNum type="alphaLcPeriod"/>
              <a:tabLst>
                <a:tab pos="342900" algn="l"/>
              </a:tabLst>
            </a:pPr>
            <a:r>
              <a:rPr lang="en-US" sz="2100" dirty="0">
                <a:latin typeface="Times New Roman" panose="02020603050405020304" pitchFamily="18" charset="0"/>
                <a:ea typeface="Times New Roman" panose="02020603050405020304" pitchFamily="18" charset="0"/>
              </a:rPr>
              <a:t>Bearing stress acting on connecting members (bolts. rivets, pins)</a:t>
            </a:r>
            <a:endParaRPr lang="en-US" sz="1350" dirty="0"/>
          </a:p>
        </p:txBody>
      </p:sp>
    </p:spTree>
    <p:extLst>
      <p:ext uri="{BB962C8B-B14F-4D97-AF65-F5344CB8AC3E}">
        <p14:creationId xmlns:p14="http://schemas.microsoft.com/office/powerpoint/2010/main" val="383831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111223" y="5705805"/>
            <a:ext cx="306851" cy="273844"/>
          </a:xfrm>
          <a:prstGeom prst="rect">
            <a:avLst/>
          </a:prstGeom>
        </p:spPr>
        <p:txBody>
          <a:bodyPr/>
          <a:lstStyle/>
          <a:p>
            <a:fld id="{7E50C373-F1D0-494F-8D6D-366C958B3429}" type="slidenum">
              <a:rPr lang="en-GB" smtClean="0"/>
              <a:t>5</a:t>
            </a:fld>
            <a:endParaRPr lang="en-GB"/>
          </a:p>
        </p:txBody>
      </p:sp>
      <p:sp>
        <p:nvSpPr>
          <p:cNvPr id="6" name="Rectangle 2"/>
          <p:cNvSpPr>
            <a:spLocks noChangeArrowheads="1"/>
          </p:cNvSpPr>
          <p:nvPr/>
        </p:nvSpPr>
        <p:spPr bwMode="auto">
          <a:xfrm>
            <a:off x="2657476" y="2442776"/>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7" name="Object 6"/>
          <p:cNvGraphicFramePr>
            <a:graphicFrameLocks noChangeAspect="1"/>
          </p:cNvGraphicFramePr>
          <p:nvPr>
            <p:extLst/>
          </p:nvPr>
        </p:nvGraphicFramePr>
        <p:xfrm>
          <a:off x="418074" y="1219200"/>
          <a:ext cx="8278252" cy="4228842"/>
        </p:xfrm>
        <a:graphic>
          <a:graphicData uri="http://schemas.openxmlformats.org/presentationml/2006/ole">
            <mc:AlternateContent xmlns:mc="http://schemas.openxmlformats.org/markup-compatibility/2006">
              <mc:Choice xmlns:v="urn:schemas-microsoft-com:vml" Requires="v">
                <p:oleObj spid="_x0000_s23557" name="VISIO" r:id="rId3" imgW="7491240" imgH="5304600" progId="Visio.Drawing.6">
                  <p:embed/>
                </p:oleObj>
              </mc:Choice>
              <mc:Fallback>
                <p:oleObj name="VISIO" r:id="rId3" imgW="7491240" imgH="530460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074" y="1219200"/>
                        <a:ext cx="8278252" cy="4228842"/>
                      </a:xfrm>
                      <a:prstGeom prst="rect">
                        <a:avLst/>
                      </a:prstGeom>
                      <a:noFill/>
                    </p:spPr>
                  </p:pic>
                </p:oleObj>
              </mc:Fallback>
            </mc:AlternateContent>
          </a:graphicData>
        </a:graphic>
      </p:graphicFrame>
    </p:spTree>
    <p:extLst>
      <p:ext uri="{BB962C8B-B14F-4D97-AF65-F5344CB8AC3E}">
        <p14:creationId xmlns:p14="http://schemas.microsoft.com/office/powerpoint/2010/main" val="35224480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4294967295"/>
          </p:nvPr>
        </p:nvSpPr>
        <p:spPr>
          <a:xfrm>
            <a:off x="111223" y="5705805"/>
            <a:ext cx="306851" cy="273844"/>
          </a:xfrm>
          <a:prstGeom prst="rect">
            <a:avLst/>
          </a:prstGeom>
        </p:spPr>
        <p:txBody>
          <a:bodyPr/>
          <a:lstStyle/>
          <a:p>
            <a:fld id="{7E50C373-F1D0-494F-8D6D-366C958B3429}" type="slidenum">
              <a:rPr lang="en-GB" smtClean="0"/>
              <a:t>6</a:t>
            </a:fld>
            <a:endParaRPr lang="en-GB"/>
          </a:p>
        </p:txBody>
      </p:sp>
      <p:sp>
        <p:nvSpPr>
          <p:cNvPr id="5" name="Rectangle 4"/>
          <p:cNvSpPr/>
          <p:nvPr/>
        </p:nvSpPr>
        <p:spPr>
          <a:xfrm>
            <a:off x="590550" y="1405451"/>
            <a:ext cx="7477125" cy="738664"/>
          </a:xfrm>
          <a:prstGeom prst="rect">
            <a:avLst/>
          </a:prstGeom>
        </p:spPr>
        <p:txBody>
          <a:bodyPr wrap="square">
            <a:spAutoFit/>
          </a:bodyPr>
          <a:lstStyle/>
          <a:p>
            <a:pPr algn="just"/>
            <a:r>
              <a:rPr lang="en-US" sz="2100" dirty="0">
                <a:latin typeface="Times New Roman" panose="02020603050405020304" pitchFamily="18" charset="0"/>
                <a:ea typeface="Times New Roman" panose="02020603050405020304" pitchFamily="18" charset="0"/>
              </a:rPr>
              <a:t>Similarly, strains can be classified and presented in the figure below.</a:t>
            </a:r>
          </a:p>
        </p:txBody>
      </p:sp>
      <p:sp>
        <p:nvSpPr>
          <p:cNvPr id="6" name="Rectangle 2"/>
          <p:cNvSpPr>
            <a:spLocks noChangeArrowheads="1"/>
          </p:cNvSpPr>
          <p:nvPr/>
        </p:nvSpPr>
        <p:spPr bwMode="auto">
          <a:xfrm>
            <a:off x="2695576" y="31000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7" name="Object 6"/>
          <p:cNvGraphicFramePr>
            <a:graphicFrameLocks noChangeAspect="1"/>
          </p:cNvGraphicFramePr>
          <p:nvPr>
            <p:extLst/>
          </p:nvPr>
        </p:nvGraphicFramePr>
        <p:xfrm>
          <a:off x="1935774" y="2762250"/>
          <a:ext cx="5627077" cy="1981200"/>
        </p:xfrm>
        <a:graphic>
          <a:graphicData uri="http://schemas.openxmlformats.org/presentationml/2006/ole">
            <mc:AlternateContent xmlns:mc="http://schemas.openxmlformats.org/markup-compatibility/2006">
              <mc:Choice xmlns:v="urn:schemas-microsoft-com:vml" Requires="v">
                <p:oleObj spid="_x0000_s24581" name="VISIO" r:id="rId3" imgW="5709240" imgH="2009880" progId="Visio.Drawing.6">
                  <p:embed/>
                </p:oleObj>
              </mc:Choice>
              <mc:Fallback>
                <p:oleObj name="VISIO" r:id="rId3" imgW="5709240" imgH="2009880" progId="Visio.Drawing.6">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5774" y="2762250"/>
                        <a:ext cx="5627077" cy="1981200"/>
                      </a:xfrm>
                      <a:prstGeom prst="rect">
                        <a:avLst/>
                      </a:prstGeom>
                      <a:noFill/>
                    </p:spPr>
                  </p:pic>
                </p:oleObj>
              </mc:Fallback>
            </mc:AlternateContent>
          </a:graphicData>
        </a:graphic>
      </p:graphicFrame>
    </p:spTree>
    <p:extLst>
      <p:ext uri="{BB962C8B-B14F-4D97-AF65-F5344CB8AC3E}">
        <p14:creationId xmlns:p14="http://schemas.microsoft.com/office/powerpoint/2010/main" val="17280372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751185">
            <a:off x="915954" y="3174559"/>
            <a:ext cx="7498080" cy="584775"/>
          </a:xfrm>
        </p:spPr>
        <p:txBody>
          <a:bodyPr/>
          <a:lstStyle/>
          <a:p>
            <a:r>
              <a:rPr lang="en-US" sz="3200" dirty="0" smtClean="0">
                <a:solidFill>
                  <a:srgbClr val="002060"/>
                </a:solidFill>
                <a:latin typeface="Arial Black" panose="020B0A04020102020204" pitchFamily="34" charset="0"/>
              </a:rPr>
              <a:t>Review of Moment of Area</a:t>
            </a:r>
            <a:endParaRPr lang="en-US" sz="3200" dirty="0">
              <a:solidFill>
                <a:srgbClr val="002060"/>
              </a:solidFill>
              <a:latin typeface="Arial Black" panose="020B0A04020102020204" pitchFamily="34" charset="0"/>
            </a:endParaRPr>
          </a:p>
        </p:txBody>
      </p:sp>
    </p:spTree>
    <p:extLst>
      <p:ext uri="{BB962C8B-B14F-4D97-AF65-F5344CB8AC3E}">
        <p14:creationId xmlns:p14="http://schemas.microsoft.com/office/powerpoint/2010/main" val="14437161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160"/>
            <a:ext cx="7498080" cy="461665"/>
          </a:xfrm>
        </p:spPr>
        <p:txBody>
          <a:bodyPr/>
          <a:lstStyle/>
          <a:p>
            <a:r>
              <a:rPr lang="en-US" b="1" dirty="0" smtClean="0">
                <a:solidFill>
                  <a:schemeClr val="accent6"/>
                </a:solidFill>
              </a:rPr>
              <a:t>Section </a:t>
            </a:r>
            <a:r>
              <a:rPr lang="en-US" b="1" dirty="0" smtClean="0">
                <a:solidFill>
                  <a:schemeClr val="accent6"/>
                </a:solidFill>
              </a:rPr>
              <a:t>Outline</a:t>
            </a:r>
            <a:endParaRPr lang="en-US" b="1" dirty="0">
              <a:solidFill>
                <a:schemeClr val="accent6"/>
              </a:solidFill>
            </a:endParaRPr>
          </a:p>
        </p:txBody>
      </p:sp>
      <p:sp>
        <p:nvSpPr>
          <p:cNvPr id="5" name="Rectangle 4"/>
          <p:cNvSpPr/>
          <p:nvPr/>
        </p:nvSpPr>
        <p:spPr>
          <a:xfrm>
            <a:off x="467677" y="685800"/>
            <a:ext cx="8239125" cy="4939814"/>
          </a:xfrm>
          <a:prstGeom prst="rect">
            <a:avLst/>
          </a:prstGeom>
        </p:spPr>
        <p:txBody>
          <a:bodyPr wrap="square">
            <a:spAutoFit/>
          </a:bodyPr>
          <a:lstStyle/>
          <a:p>
            <a:pPr marL="1200150">
              <a:lnSpc>
                <a:spcPct val="250000"/>
              </a:lnSpc>
            </a:pPr>
            <a:r>
              <a:rPr lang="en-US" sz="2100" dirty="0" smtClean="0">
                <a:latin typeface="Times New Roman" panose="02020603050405020304" pitchFamily="18" charset="0"/>
                <a:cs typeface="Times New Roman" panose="02020603050405020304" pitchFamily="18" charset="0"/>
              </a:rPr>
              <a:t>First Moment and Centroid of an Area</a:t>
            </a:r>
          </a:p>
          <a:p>
            <a:pPr marL="1200150">
              <a:lnSpc>
                <a:spcPct val="250000"/>
              </a:lnSpc>
            </a:pPr>
            <a:r>
              <a:rPr lang="en-US" sz="2100" dirty="0" smtClean="0">
                <a:latin typeface="Times New Roman" panose="02020603050405020304" pitchFamily="18" charset="0"/>
                <a:cs typeface="Times New Roman" panose="02020603050405020304" pitchFamily="18" charset="0"/>
              </a:rPr>
              <a:t>First Moment and Centroid of a Composite Area</a:t>
            </a:r>
          </a:p>
          <a:p>
            <a:pPr marL="1200150">
              <a:lnSpc>
                <a:spcPct val="250000"/>
              </a:lnSpc>
            </a:pPr>
            <a:r>
              <a:rPr lang="en-US" sz="2100" dirty="0" smtClean="0">
                <a:latin typeface="Times New Roman" panose="02020603050405020304" pitchFamily="18" charset="0"/>
                <a:cs typeface="Times New Roman" panose="02020603050405020304" pitchFamily="18" charset="0"/>
              </a:rPr>
              <a:t>Second Moment of Area and Radius of Gyration </a:t>
            </a:r>
          </a:p>
          <a:p>
            <a:pPr marL="1200150">
              <a:lnSpc>
                <a:spcPct val="250000"/>
              </a:lnSpc>
            </a:pPr>
            <a:r>
              <a:rPr lang="en-US" sz="2100" dirty="0" smtClean="0">
                <a:latin typeface="Times New Roman" panose="02020603050405020304" pitchFamily="18" charset="0"/>
                <a:cs typeface="Times New Roman" panose="02020603050405020304" pitchFamily="18" charset="0"/>
              </a:rPr>
              <a:t>Parallel-Axis Theorem</a:t>
            </a:r>
          </a:p>
          <a:p>
            <a:pPr marL="1200150">
              <a:lnSpc>
                <a:spcPct val="250000"/>
              </a:lnSpc>
            </a:pPr>
            <a:r>
              <a:rPr lang="en-US" sz="2100" dirty="0" smtClean="0">
                <a:latin typeface="Times New Roman" panose="02020603050405020304" pitchFamily="18" charset="0"/>
                <a:cs typeface="Times New Roman" panose="02020603050405020304" pitchFamily="18" charset="0"/>
              </a:rPr>
              <a:t>Moment of Inertia of a Composite Area</a:t>
            </a:r>
          </a:p>
          <a:p>
            <a:pPr>
              <a:lnSpc>
                <a:spcPct val="250000"/>
              </a:lnSpc>
            </a:pPr>
            <a:r>
              <a:rPr lang="en-US" sz="21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9860342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chemeClr val="accent6"/>
                </a:solidFill>
              </a:rPr>
              <a:t>First </a:t>
            </a:r>
            <a:r>
              <a:rPr lang="en-US" b="1" dirty="0">
                <a:solidFill>
                  <a:schemeClr val="accent6"/>
                </a:solidFill>
              </a:rPr>
              <a:t>Moment and Centroid of an </a:t>
            </a:r>
            <a:r>
              <a:rPr lang="en-US" b="1" dirty="0" smtClean="0">
                <a:solidFill>
                  <a:schemeClr val="accent6"/>
                </a:solidFill>
              </a:rPr>
              <a:t>Area</a:t>
            </a:r>
            <a:endParaRPr lang="en-US" dirty="0">
              <a:solidFill>
                <a:schemeClr val="accent6"/>
              </a:solidFill>
            </a:endParaRPr>
          </a:p>
        </p:txBody>
      </p:sp>
      <p:sp>
        <p:nvSpPr>
          <p:cNvPr id="5" name="Rectangle 4"/>
          <p:cNvSpPr/>
          <p:nvPr/>
        </p:nvSpPr>
        <p:spPr>
          <a:xfrm>
            <a:off x="441265" y="644842"/>
            <a:ext cx="4368246" cy="4524315"/>
          </a:xfrm>
          <a:prstGeom prst="rect">
            <a:avLst/>
          </a:prstGeom>
        </p:spPr>
        <p:txBody>
          <a:bodyPr wrap="square">
            <a:spAutoFit/>
          </a:bodyPr>
          <a:lstStyle/>
          <a:p>
            <a:pPr algn="just"/>
            <a:r>
              <a:rPr lang="en-US" sz="2400" dirty="0">
                <a:ea typeface="Times New Roman" panose="02020603050405020304" pitchFamily="18" charset="0"/>
              </a:rPr>
              <a:t>Consider an area A located in the </a:t>
            </a:r>
            <a:r>
              <a:rPr lang="en-US" sz="2400" dirty="0" err="1">
                <a:ea typeface="Times New Roman" panose="02020603050405020304" pitchFamily="18" charset="0"/>
              </a:rPr>
              <a:t>xy</a:t>
            </a:r>
            <a:r>
              <a:rPr lang="en-US" sz="2400" dirty="0">
                <a:ea typeface="Times New Roman" panose="02020603050405020304" pitchFamily="18" charset="0"/>
              </a:rPr>
              <a:t> plane as shown in Figure </a:t>
            </a:r>
            <a:r>
              <a:rPr lang="en-US" sz="2400" dirty="0" smtClean="0">
                <a:ea typeface="Times New Roman" panose="02020603050405020304" pitchFamily="18" charset="0"/>
              </a:rPr>
              <a:t>1-1</a:t>
            </a:r>
            <a:r>
              <a:rPr lang="en-US" sz="2400" dirty="0" smtClean="0">
                <a:ea typeface="Times New Roman" panose="02020603050405020304" pitchFamily="18" charset="0"/>
              </a:rPr>
              <a:t>.</a:t>
            </a:r>
            <a:endParaRPr lang="en-US" sz="2400" dirty="0">
              <a:ea typeface="Times New Roman" panose="02020603050405020304" pitchFamily="18" charset="0"/>
            </a:endParaRP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smtClean="0"/>
          </a:p>
          <a:p>
            <a:pPr algn="just"/>
            <a:endParaRPr lang="en-US" sz="2400" dirty="0"/>
          </a:p>
          <a:p>
            <a:pPr algn="just"/>
            <a:endParaRPr lang="en-US" sz="2400" dirty="0" smtClean="0"/>
          </a:p>
          <a:p>
            <a:pPr algn="just"/>
            <a:r>
              <a:rPr lang="en-US" sz="2400" dirty="0" smtClean="0"/>
              <a:t>The </a:t>
            </a:r>
            <a:r>
              <a:rPr lang="en-US" sz="2400" dirty="0"/>
              <a:t>first moment of area A about x-axis as the integral</a:t>
            </a:r>
          </a:p>
        </p:txBody>
      </p:sp>
      <p:pic>
        <p:nvPicPr>
          <p:cNvPr id="307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l="18040" b="7742"/>
          <a:stretch>
            <a:fillRect/>
          </a:stretch>
        </p:blipFill>
        <p:spPr bwMode="auto">
          <a:xfrm>
            <a:off x="1085913" y="1483232"/>
            <a:ext cx="3297819" cy="2593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Object 6"/>
          <p:cNvGraphicFramePr>
            <a:graphicFrameLocks noChangeAspect="1"/>
          </p:cNvGraphicFramePr>
          <p:nvPr>
            <p:extLst>
              <p:ext uri="{D42A27DB-BD31-4B8C-83A1-F6EECF244321}">
                <p14:modId xmlns:p14="http://schemas.microsoft.com/office/powerpoint/2010/main" val="1148666133"/>
              </p:ext>
            </p:extLst>
          </p:nvPr>
        </p:nvGraphicFramePr>
        <p:xfrm>
          <a:off x="831202" y="5257480"/>
          <a:ext cx="2554166" cy="989739"/>
        </p:xfrm>
        <a:graphic>
          <a:graphicData uri="http://schemas.openxmlformats.org/presentationml/2006/ole">
            <mc:AlternateContent xmlns:mc="http://schemas.openxmlformats.org/markup-compatibility/2006">
              <mc:Choice xmlns:v="urn:schemas-microsoft-com:vml" Requires="v">
                <p:oleObj spid="_x0000_s25620" name="Equation" r:id="rId5" imgW="761669" imgH="291973" progId="Equation.DSMT4">
                  <p:embed/>
                </p:oleObj>
              </mc:Choice>
              <mc:Fallback>
                <p:oleObj name="Equation" r:id="rId5" imgW="761669" imgH="291973"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1202" y="5257480"/>
                        <a:ext cx="2554166" cy="989739"/>
                      </a:xfrm>
                      <a:prstGeom prst="rect">
                        <a:avLst/>
                      </a:prstGeom>
                      <a:noFill/>
                    </p:spPr>
                  </p:pic>
                </p:oleObj>
              </mc:Fallback>
            </mc:AlternateContent>
          </a:graphicData>
        </a:graphic>
      </p:graphicFrame>
      <p:sp>
        <p:nvSpPr>
          <p:cNvPr id="8" name="Rectangle 7"/>
          <p:cNvSpPr/>
          <p:nvPr/>
        </p:nvSpPr>
        <p:spPr>
          <a:xfrm>
            <a:off x="4895218" y="740617"/>
            <a:ext cx="4196284" cy="2677656"/>
          </a:xfrm>
          <a:prstGeom prst="rect">
            <a:avLst/>
          </a:prstGeom>
        </p:spPr>
        <p:txBody>
          <a:bodyPr wrap="square">
            <a:spAutoFit/>
          </a:bodyPr>
          <a:lstStyle/>
          <a:p>
            <a:pPr algn="just"/>
            <a:r>
              <a:rPr lang="en-US" sz="2400" dirty="0" smtClean="0">
                <a:ea typeface="Times New Roman" panose="02020603050405020304" pitchFamily="18" charset="0"/>
              </a:rPr>
              <a:t>The </a:t>
            </a:r>
            <a:r>
              <a:rPr lang="en-US" sz="2400" dirty="0">
                <a:ea typeface="Times New Roman" panose="02020603050405020304" pitchFamily="18" charset="0"/>
              </a:rPr>
              <a:t>first moment of area A about y axis as the </a:t>
            </a:r>
            <a:r>
              <a:rPr lang="en-US" sz="2400" dirty="0" smtClean="0">
                <a:ea typeface="Times New Roman" panose="02020603050405020304" pitchFamily="18" charset="0"/>
              </a:rPr>
              <a:t>integral</a:t>
            </a:r>
          </a:p>
          <a:p>
            <a:pPr algn="just"/>
            <a:endParaRPr lang="en-US" sz="2400" dirty="0">
              <a:ea typeface="Times New Roman" panose="02020603050405020304" pitchFamily="18" charset="0"/>
            </a:endParaRPr>
          </a:p>
          <a:p>
            <a:pPr algn="just"/>
            <a:endParaRPr lang="en-US" sz="2400" dirty="0">
              <a:ea typeface="Times New Roman" panose="02020603050405020304" pitchFamily="18" charset="0"/>
            </a:endParaRPr>
          </a:p>
          <a:p>
            <a:pPr algn="just"/>
            <a:endParaRPr lang="en-US" sz="2400" dirty="0"/>
          </a:p>
          <a:p>
            <a:pPr algn="just"/>
            <a:endParaRPr lang="en-US" sz="2400" dirty="0" smtClean="0"/>
          </a:p>
          <a:p>
            <a:pPr algn="just"/>
            <a:r>
              <a:rPr lang="en-US" sz="2400" dirty="0" smtClean="0"/>
              <a:t>However,</a:t>
            </a:r>
            <a:endParaRPr lang="en-US" sz="2400" dirty="0"/>
          </a:p>
        </p:txBody>
      </p:sp>
      <p:graphicFrame>
        <p:nvGraphicFramePr>
          <p:cNvPr id="10" name="Object 9"/>
          <p:cNvGraphicFramePr>
            <a:graphicFrameLocks noChangeAspect="1"/>
          </p:cNvGraphicFramePr>
          <p:nvPr>
            <p:extLst/>
          </p:nvPr>
        </p:nvGraphicFramePr>
        <p:xfrm>
          <a:off x="6361990" y="1613743"/>
          <a:ext cx="2311817" cy="942978"/>
        </p:xfrm>
        <a:graphic>
          <a:graphicData uri="http://schemas.openxmlformats.org/presentationml/2006/ole">
            <mc:AlternateContent xmlns:mc="http://schemas.openxmlformats.org/markup-compatibility/2006">
              <mc:Choice xmlns:v="urn:schemas-microsoft-com:vml" Requires="v">
                <p:oleObj spid="_x0000_s25621" name="Equation" r:id="rId7" imgW="723586" imgH="291973" progId="Equation.DSMT4">
                  <p:embed/>
                </p:oleObj>
              </mc:Choice>
              <mc:Fallback>
                <p:oleObj name="Equation" r:id="rId7" imgW="723586" imgH="29197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61990" y="1613743"/>
                        <a:ext cx="2311817" cy="942978"/>
                      </a:xfrm>
                      <a:prstGeom prst="rect">
                        <a:avLst/>
                      </a:prstGeom>
                      <a:noFill/>
                    </p:spPr>
                  </p:pic>
                </p:oleObj>
              </mc:Fallback>
            </mc:AlternateContent>
          </a:graphicData>
        </a:graphic>
      </p:graphicFrame>
      <p:sp>
        <p:nvSpPr>
          <p:cNvPr id="16" name="Rectangle 15"/>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20" name="Rectangle 19"/>
          <p:cNvSpPr>
            <a:spLocks noChangeArrowheads="1"/>
          </p:cNvSpPr>
          <p:nvPr/>
        </p:nvSpPr>
        <p:spPr bwMode="auto">
          <a:xfrm>
            <a:off x="3657601" y="4935097"/>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21" name="Object 20"/>
          <p:cNvGraphicFramePr>
            <a:graphicFrameLocks noChangeAspect="1"/>
          </p:cNvGraphicFramePr>
          <p:nvPr>
            <p:extLst>
              <p:ext uri="{D42A27DB-BD31-4B8C-83A1-F6EECF244321}">
                <p14:modId xmlns:p14="http://schemas.microsoft.com/office/powerpoint/2010/main" val="2250388397"/>
              </p:ext>
            </p:extLst>
          </p:nvPr>
        </p:nvGraphicFramePr>
        <p:xfrm>
          <a:off x="6089561" y="5143365"/>
          <a:ext cx="2556957" cy="1312122"/>
        </p:xfrm>
        <a:graphic>
          <a:graphicData uri="http://schemas.openxmlformats.org/presentationml/2006/ole">
            <mc:AlternateContent xmlns:mc="http://schemas.openxmlformats.org/markup-compatibility/2006">
              <mc:Choice xmlns:v="urn:schemas-microsoft-com:vml" Requires="v">
                <p:oleObj spid="_x0000_s25622" name="Equation" r:id="rId9" imgW="723586" imgH="368140" progId="Equation.DSMT4">
                  <p:embed/>
                </p:oleObj>
              </mc:Choice>
              <mc:Fallback>
                <p:oleObj name="Equation" r:id="rId9" imgW="723586" imgH="36814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89561" y="5143365"/>
                        <a:ext cx="2556957" cy="1312122"/>
                      </a:xfrm>
                      <a:prstGeom prst="rect">
                        <a:avLst/>
                      </a:prstGeom>
                      <a:noFill/>
                    </p:spPr>
                  </p:pic>
                </p:oleObj>
              </mc:Fallback>
            </mc:AlternateContent>
          </a:graphicData>
        </a:graphic>
      </p:graphicFrame>
      <p:sp>
        <p:nvSpPr>
          <p:cNvPr id="22" name="Rectangle 21"/>
          <p:cNvSpPr>
            <a:spLocks noChangeArrowheads="1"/>
          </p:cNvSpPr>
          <p:nvPr/>
        </p:nvSpPr>
        <p:spPr bwMode="auto">
          <a:xfrm>
            <a:off x="5062538" y="4991376"/>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23" name="Object 22"/>
          <p:cNvGraphicFramePr>
            <a:graphicFrameLocks noChangeAspect="1"/>
          </p:cNvGraphicFramePr>
          <p:nvPr>
            <p:extLst>
              <p:ext uri="{D42A27DB-BD31-4B8C-83A1-F6EECF244321}">
                <p14:modId xmlns:p14="http://schemas.microsoft.com/office/powerpoint/2010/main" val="1886017191"/>
              </p:ext>
            </p:extLst>
          </p:nvPr>
        </p:nvGraphicFramePr>
        <p:xfrm>
          <a:off x="6058289" y="3577525"/>
          <a:ext cx="2277991" cy="1168969"/>
        </p:xfrm>
        <a:graphic>
          <a:graphicData uri="http://schemas.openxmlformats.org/presentationml/2006/ole">
            <mc:AlternateContent xmlns:mc="http://schemas.openxmlformats.org/markup-compatibility/2006">
              <mc:Choice xmlns:v="urn:schemas-microsoft-com:vml" Requires="v">
                <p:oleObj spid="_x0000_s25623" name="Equation" r:id="rId11" imgW="723600" imgH="368280" progId="Equation.DSMT4">
                  <p:embed/>
                </p:oleObj>
              </mc:Choice>
              <mc:Fallback>
                <p:oleObj name="Equation" r:id="rId11" imgW="723600" imgH="368280" progId="Equation.DSMT4">
                  <p:embed/>
                  <p:pic>
                    <p:nvPicPr>
                      <p:cNvPr id="0" name=""/>
                      <p:cNvPicPr>
                        <a:picLocks noChangeAspect="1" noChangeArrowheads="1"/>
                      </p:cNvPicPr>
                      <p:nvPr/>
                    </p:nvPicPr>
                    <p:blipFill>
                      <a:blip r:embed="rId12"/>
                      <a:srcRect/>
                      <a:stretch>
                        <a:fillRect/>
                      </a:stretch>
                    </p:blipFill>
                    <p:spPr bwMode="auto">
                      <a:xfrm>
                        <a:off x="6058289" y="3577525"/>
                        <a:ext cx="2277991" cy="1168969"/>
                      </a:xfrm>
                      <a:prstGeom prst="rect">
                        <a:avLst/>
                      </a:prstGeom>
                      <a:noFill/>
                    </p:spPr>
                  </p:pic>
                </p:oleObj>
              </mc:Fallback>
            </mc:AlternateContent>
          </a:graphicData>
        </a:graphic>
      </p:graphicFrame>
      <p:sp>
        <p:nvSpPr>
          <p:cNvPr id="24" name="Rectangle 23"/>
          <p:cNvSpPr>
            <a:spLocks noChangeArrowheads="1"/>
          </p:cNvSpPr>
          <p:nvPr/>
        </p:nvSpPr>
        <p:spPr bwMode="auto">
          <a:xfrm>
            <a:off x="7229476" y="2385092"/>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26" name="Rectangle 25"/>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Tree>
    <p:extLst>
      <p:ext uri="{BB962C8B-B14F-4D97-AF65-F5344CB8AC3E}">
        <p14:creationId xmlns:p14="http://schemas.microsoft.com/office/powerpoint/2010/main" val="15587079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p:txBody>
          <a:bodyPr>
            <a:normAutofit/>
          </a:bodyPr>
          <a:lstStyle/>
          <a:p>
            <a:r>
              <a:rPr lang="en-US" b="1" dirty="0" smtClean="0">
                <a:solidFill>
                  <a:schemeClr val="accent6"/>
                </a:solidFill>
              </a:rPr>
              <a:t>First </a:t>
            </a:r>
            <a:r>
              <a:rPr lang="en-US" b="1" dirty="0">
                <a:solidFill>
                  <a:schemeClr val="accent6"/>
                </a:solidFill>
              </a:rPr>
              <a:t>Moment and Centroid of an </a:t>
            </a:r>
            <a:r>
              <a:rPr lang="en-US" b="1" dirty="0" smtClean="0">
                <a:solidFill>
                  <a:schemeClr val="accent6"/>
                </a:solidFill>
              </a:rPr>
              <a:t>Area</a:t>
            </a:r>
            <a:endParaRPr lang="en-US" dirty="0">
              <a:solidFill>
                <a:schemeClr val="accent6"/>
              </a:solidFill>
            </a:endParaRPr>
          </a:p>
        </p:txBody>
      </p:sp>
      <p:sp>
        <p:nvSpPr>
          <p:cNvPr id="4" name="Rectangle 3"/>
          <p:cNvSpPr/>
          <p:nvPr/>
        </p:nvSpPr>
        <p:spPr>
          <a:xfrm>
            <a:off x="990600" y="1004522"/>
            <a:ext cx="7543800" cy="830997"/>
          </a:xfrm>
          <a:prstGeom prst="rect">
            <a:avLst/>
          </a:prstGeom>
        </p:spPr>
        <p:txBody>
          <a:bodyPr wrap="square">
            <a:spAutoFit/>
          </a:bodyPr>
          <a:lstStyle/>
          <a:p>
            <a:pPr algn="just"/>
            <a:r>
              <a:rPr lang="en-US" sz="2400" dirty="0">
                <a:latin typeface="Times New Roman" panose="02020603050405020304" pitchFamily="18" charset="0"/>
                <a:ea typeface="Times New Roman" panose="02020603050405020304" pitchFamily="18" charset="0"/>
              </a:rPr>
              <a:t>Comparing equations </a:t>
            </a:r>
            <a:r>
              <a:rPr lang="en-US" sz="2400" dirty="0" smtClean="0">
                <a:latin typeface="Times New Roman" panose="02020603050405020304" pitchFamily="18" charset="0"/>
                <a:ea typeface="Times New Roman" panose="02020603050405020304" pitchFamily="18" charset="0"/>
              </a:rPr>
              <a:t>1-1 </a:t>
            </a:r>
            <a:r>
              <a:rPr lang="en-US" sz="2400" dirty="0">
                <a:latin typeface="Times New Roman" panose="02020603050405020304" pitchFamily="18" charset="0"/>
                <a:ea typeface="Times New Roman" panose="02020603050405020304" pitchFamily="18" charset="0"/>
              </a:rPr>
              <a:t>and </a:t>
            </a:r>
            <a:r>
              <a:rPr lang="en-US" sz="2400" dirty="0" smtClean="0">
                <a:latin typeface="Times New Roman" panose="02020603050405020304" pitchFamily="18" charset="0"/>
                <a:ea typeface="Times New Roman" panose="02020603050405020304" pitchFamily="18" charset="0"/>
              </a:rPr>
              <a:t>1-2 </a:t>
            </a:r>
            <a:r>
              <a:rPr lang="en-US" sz="2400" dirty="0">
                <a:latin typeface="Times New Roman" panose="02020603050405020304" pitchFamily="18" charset="0"/>
                <a:ea typeface="Times New Roman" panose="02020603050405020304" pitchFamily="18" charset="0"/>
              </a:rPr>
              <a:t>with equations </a:t>
            </a:r>
            <a:r>
              <a:rPr lang="en-US" sz="2400" dirty="0" smtClean="0">
                <a:latin typeface="Times New Roman" panose="02020603050405020304" pitchFamily="18" charset="0"/>
                <a:ea typeface="Times New Roman" panose="02020603050405020304" pitchFamily="18" charset="0"/>
              </a:rPr>
              <a:t>1-3 </a:t>
            </a:r>
            <a:r>
              <a:rPr lang="en-US" sz="2400" dirty="0">
                <a:latin typeface="Times New Roman" panose="02020603050405020304" pitchFamily="18" charset="0"/>
                <a:ea typeface="Times New Roman" panose="02020603050405020304" pitchFamily="18" charset="0"/>
              </a:rPr>
              <a:t>and </a:t>
            </a:r>
            <a:r>
              <a:rPr lang="en-US" sz="2400" dirty="0" smtClean="0">
                <a:latin typeface="Times New Roman" panose="02020603050405020304" pitchFamily="18" charset="0"/>
                <a:ea typeface="Times New Roman" panose="02020603050405020304" pitchFamily="18" charset="0"/>
              </a:rPr>
              <a:t>1-4</a:t>
            </a:r>
            <a:r>
              <a:rPr lang="en-US" sz="2400" dirty="0">
                <a:latin typeface="Times New Roman" panose="02020603050405020304" pitchFamily="18" charset="0"/>
                <a:ea typeface="Times New Roman" panose="02020603050405020304" pitchFamily="18" charset="0"/>
              </a:rPr>
              <a:t>, </a:t>
            </a:r>
            <a:endParaRPr lang="en-US" sz="2400" dirty="0"/>
          </a:p>
        </p:txBody>
      </p:sp>
      <p:graphicFrame>
        <p:nvGraphicFramePr>
          <p:cNvPr id="5" name="Object 4"/>
          <p:cNvGraphicFramePr>
            <a:graphicFrameLocks noChangeAspect="1"/>
          </p:cNvGraphicFramePr>
          <p:nvPr>
            <p:extLst>
              <p:ext uri="{D42A27DB-BD31-4B8C-83A1-F6EECF244321}">
                <p14:modId xmlns:p14="http://schemas.microsoft.com/office/powerpoint/2010/main" val="655545534"/>
              </p:ext>
            </p:extLst>
          </p:nvPr>
        </p:nvGraphicFramePr>
        <p:xfrm>
          <a:off x="3733800" y="1845458"/>
          <a:ext cx="2960813" cy="868934"/>
        </p:xfrm>
        <a:graphic>
          <a:graphicData uri="http://schemas.openxmlformats.org/presentationml/2006/ole">
            <mc:AlternateContent xmlns:mc="http://schemas.openxmlformats.org/markup-compatibility/2006">
              <mc:Choice xmlns:v="urn:schemas-microsoft-com:vml" Requires="v">
                <p:oleObj spid="_x0000_s26634" name="Equation" r:id="rId3" imgW="875920" imgH="253890" progId="Equation.DSMT4">
                  <p:embed/>
                </p:oleObj>
              </mc:Choice>
              <mc:Fallback>
                <p:oleObj name="Equation" r:id="rId3" imgW="875920" imgH="25389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1845458"/>
                        <a:ext cx="2960813" cy="868934"/>
                      </a:xfrm>
                      <a:prstGeom prst="rect">
                        <a:avLst/>
                      </a:prstGeom>
                      <a:noFill/>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1507415821"/>
              </p:ext>
            </p:extLst>
          </p:nvPr>
        </p:nvGraphicFramePr>
        <p:xfrm>
          <a:off x="3429000" y="3352800"/>
          <a:ext cx="4256316" cy="1295400"/>
        </p:xfrm>
        <a:graphic>
          <a:graphicData uri="http://schemas.openxmlformats.org/presentationml/2006/ole">
            <mc:AlternateContent xmlns:mc="http://schemas.openxmlformats.org/markup-compatibility/2006">
              <mc:Choice xmlns:v="urn:schemas-microsoft-com:vml" Requires="v">
                <p:oleObj spid="_x0000_s26635" name="Equation" r:id="rId5" imgW="875920" imgH="266584" progId="Equation.DSMT4">
                  <p:embed/>
                </p:oleObj>
              </mc:Choice>
              <mc:Fallback>
                <p:oleObj name="Equation" r:id="rId5" imgW="875920" imgH="266584"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3352800"/>
                        <a:ext cx="4256316" cy="1295400"/>
                      </a:xfrm>
                      <a:prstGeom prst="rect">
                        <a:avLst/>
                      </a:prstGeom>
                      <a:noFill/>
                    </p:spPr>
                  </p:pic>
                </p:oleObj>
              </mc:Fallback>
            </mc:AlternateContent>
          </a:graphicData>
        </a:graphic>
      </p:graphicFrame>
    </p:spTree>
    <p:extLst>
      <p:ext uri="{BB962C8B-B14F-4D97-AF65-F5344CB8AC3E}">
        <p14:creationId xmlns:p14="http://schemas.microsoft.com/office/powerpoint/2010/main" val="102026770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33840" y="857250"/>
            <a:ext cx="4572000" cy="4524315"/>
          </a:xfrm>
          <a:prstGeom prst="rect">
            <a:avLst/>
          </a:prstGeom>
        </p:spPr>
        <p:txBody>
          <a:bodyPr>
            <a:spAutoFit/>
          </a:bodyPr>
          <a:lstStyle/>
          <a:p>
            <a:pPr marL="514350" indent="-514350" algn="just">
              <a:buFont typeface="Wingdings" panose="05000000000000000000" pitchFamily="2" charset="2"/>
              <a:buChar char="q"/>
            </a:pPr>
            <a:r>
              <a:rPr lang="en-US" sz="2400" dirty="0">
                <a:ea typeface="Times New Roman" panose="02020603050405020304" pitchFamily="18" charset="0"/>
              </a:rPr>
              <a:t>When an area possesses an axis of symmetry, </a:t>
            </a:r>
          </a:p>
          <a:p>
            <a:pPr marL="819150" indent="-304800" algn="just">
              <a:buFont typeface="Wingdings" panose="05000000000000000000" pitchFamily="2" charset="2"/>
              <a:buChar char="Ø"/>
            </a:pPr>
            <a:r>
              <a:rPr lang="en-US" sz="2400" dirty="0">
                <a:ea typeface="Times New Roman" panose="02020603050405020304" pitchFamily="18" charset="0"/>
              </a:rPr>
              <a:t>the first moment of area with respect to that axis is zero. </a:t>
            </a:r>
          </a:p>
          <a:p>
            <a:pPr marL="819150" indent="-304800" algn="just">
              <a:buFont typeface="Wingdings" panose="05000000000000000000" pitchFamily="2" charset="2"/>
              <a:buChar char="Ø"/>
            </a:pPr>
            <a:endParaRPr lang="en-US" sz="2400" dirty="0">
              <a:ea typeface="Times New Roman" panose="02020603050405020304" pitchFamily="18" charset="0"/>
            </a:endParaRPr>
          </a:p>
          <a:p>
            <a:pPr marL="819150" indent="-304800" algn="just">
              <a:buFont typeface="Wingdings" panose="05000000000000000000" pitchFamily="2" charset="2"/>
              <a:buChar char="Ø"/>
            </a:pPr>
            <a:r>
              <a:rPr lang="en-US" sz="2400" dirty="0"/>
              <a:t>It follows that the integral in equation </a:t>
            </a:r>
            <a:r>
              <a:rPr lang="en-US" sz="2400" dirty="0" smtClean="0"/>
              <a:t>2-2 </a:t>
            </a:r>
            <a:r>
              <a:rPr lang="en-US" sz="2400" dirty="0"/>
              <a:t>is zero, that is </a:t>
            </a:r>
          </a:p>
          <a:p>
            <a:pPr marL="819150" indent="-304800" algn="just">
              <a:buFont typeface="Wingdings" panose="05000000000000000000" pitchFamily="2" charset="2"/>
              <a:buChar char="Ø"/>
            </a:pPr>
            <a:endParaRPr lang="en-US" sz="2400" dirty="0"/>
          </a:p>
          <a:p>
            <a:pPr marL="819150" indent="-304800" algn="just">
              <a:buFont typeface="Wingdings" panose="05000000000000000000" pitchFamily="2" charset="2"/>
              <a:buChar char="Ø"/>
            </a:pPr>
            <a:endParaRPr lang="en-US" sz="2400" dirty="0"/>
          </a:p>
          <a:p>
            <a:pPr marL="819150" indent="-304800" algn="just">
              <a:buFont typeface="Wingdings" panose="05000000000000000000" pitchFamily="2" charset="2"/>
              <a:buChar char="Ø"/>
            </a:pPr>
            <a:endParaRPr lang="en-US" sz="2400" dirty="0"/>
          </a:p>
          <a:p>
            <a:pPr marL="819150" indent="-304800" algn="just">
              <a:buFont typeface="Wingdings" panose="05000000000000000000" pitchFamily="2" charset="2"/>
              <a:buChar char="Ø"/>
            </a:pPr>
            <a:r>
              <a:rPr lang="en-US" sz="2400" dirty="0"/>
              <a:t>It also follows from the equation 1-3 that</a:t>
            </a:r>
          </a:p>
        </p:txBody>
      </p:sp>
      <p:sp>
        <p:nvSpPr>
          <p:cNvPr id="11" name="Rectangle 7"/>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2" name="Object 11"/>
          <p:cNvGraphicFramePr>
            <a:graphicFrameLocks noChangeAspect="1"/>
          </p:cNvGraphicFramePr>
          <p:nvPr>
            <p:extLst>
              <p:ext uri="{D42A27DB-BD31-4B8C-83A1-F6EECF244321}">
                <p14:modId xmlns:p14="http://schemas.microsoft.com/office/powerpoint/2010/main" val="1682570802"/>
              </p:ext>
            </p:extLst>
          </p:nvPr>
        </p:nvGraphicFramePr>
        <p:xfrm>
          <a:off x="1982184" y="3706523"/>
          <a:ext cx="1422303" cy="740783"/>
        </p:xfrm>
        <a:graphic>
          <a:graphicData uri="http://schemas.openxmlformats.org/presentationml/2006/ole">
            <mc:AlternateContent xmlns:mc="http://schemas.openxmlformats.org/markup-compatibility/2006">
              <mc:Choice xmlns:v="urn:schemas-microsoft-com:vml" Requires="v">
                <p:oleObj spid="_x0000_s27658" name="Equation" r:id="rId3" imgW="457200" imgH="241300" progId="Equation.DSMT4">
                  <p:embed/>
                </p:oleObj>
              </mc:Choice>
              <mc:Fallback>
                <p:oleObj name="Equation" r:id="rId3" imgW="457200" imgH="2413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2184" y="3706523"/>
                        <a:ext cx="1422303" cy="740783"/>
                      </a:xfrm>
                      <a:prstGeom prst="rect">
                        <a:avLst/>
                      </a:prstGeom>
                      <a:noFill/>
                    </p:spPr>
                  </p:pic>
                </p:oleObj>
              </mc:Fallback>
            </mc:AlternateContent>
          </a:graphicData>
        </a:graphic>
      </p:graphicFrame>
      <p:sp>
        <p:nvSpPr>
          <p:cNvPr id="13" name="Rectangle 9"/>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4" name="Object 13"/>
          <p:cNvGraphicFramePr>
            <a:graphicFrameLocks noChangeAspect="1"/>
          </p:cNvGraphicFramePr>
          <p:nvPr>
            <p:extLst>
              <p:ext uri="{D42A27DB-BD31-4B8C-83A1-F6EECF244321}">
                <p14:modId xmlns:p14="http://schemas.microsoft.com/office/powerpoint/2010/main" val="1197982589"/>
              </p:ext>
            </p:extLst>
          </p:nvPr>
        </p:nvGraphicFramePr>
        <p:xfrm>
          <a:off x="2192924" y="5593973"/>
          <a:ext cx="1211563" cy="753134"/>
        </p:xfrm>
        <a:graphic>
          <a:graphicData uri="http://schemas.openxmlformats.org/presentationml/2006/ole">
            <mc:AlternateContent xmlns:mc="http://schemas.openxmlformats.org/markup-compatibility/2006">
              <mc:Choice xmlns:v="urn:schemas-microsoft-com:vml" Requires="v">
                <p:oleObj spid="_x0000_s27659" name="Equation" r:id="rId5" imgW="355292" imgH="215713" progId="Equation.DSMT4">
                  <p:embed/>
                </p:oleObj>
              </mc:Choice>
              <mc:Fallback>
                <p:oleObj name="Equation" r:id="rId5" imgW="355292" imgH="215713"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2924" y="5593973"/>
                        <a:ext cx="1211563" cy="753134"/>
                      </a:xfrm>
                      <a:prstGeom prst="rect">
                        <a:avLst/>
                      </a:prstGeom>
                      <a:noFill/>
                    </p:spPr>
                  </p:pic>
                </p:oleObj>
              </mc:Fallback>
            </mc:AlternateContent>
          </a:graphicData>
        </a:graphic>
      </p:graphicFrame>
      <p:pic>
        <p:nvPicPr>
          <p:cNvPr id="4106" name="Picture 1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06086" y="1295401"/>
            <a:ext cx="32512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14"/>
          <p:cNvSpPr/>
          <p:nvPr/>
        </p:nvSpPr>
        <p:spPr>
          <a:xfrm>
            <a:off x="5715000" y="3615250"/>
            <a:ext cx="3267075" cy="1569660"/>
          </a:xfrm>
          <a:prstGeom prst="rect">
            <a:avLst/>
          </a:prstGeom>
        </p:spPr>
        <p:txBody>
          <a:bodyPr wrap="square">
            <a:spAutoFit/>
          </a:bodyPr>
          <a:lstStyle/>
          <a:p>
            <a:pPr algn="just"/>
            <a:r>
              <a:rPr lang="en-US" sz="2400" dirty="0">
                <a:latin typeface="Times New Roman" panose="02020603050405020304" pitchFamily="18" charset="0"/>
                <a:ea typeface="Times New Roman" panose="02020603050405020304" pitchFamily="18" charset="0"/>
              </a:rPr>
              <a:t>Thus, if an area A possesses an axis of symmetry, its centroid C is located on that axis.</a:t>
            </a:r>
          </a:p>
        </p:txBody>
      </p:sp>
      <p:sp>
        <p:nvSpPr>
          <p:cNvPr id="9" name="Title 1"/>
          <p:cNvSpPr>
            <a:spLocks noGrp="1"/>
          </p:cNvSpPr>
          <p:nvPr>
            <p:ph type="title"/>
          </p:nvPr>
        </p:nvSpPr>
        <p:spPr>
          <a:xfrm>
            <a:off x="838200" y="183177"/>
            <a:ext cx="7498080" cy="461665"/>
          </a:xfrm>
        </p:spPr>
        <p:txBody>
          <a:bodyPr>
            <a:normAutofit/>
          </a:bodyPr>
          <a:lstStyle/>
          <a:p>
            <a:r>
              <a:rPr lang="en-US" b="1" dirty="0" smtClean="0">
                <a:solidFill>
                  <a:schemeClr val="accent6"/>
                </a:solidFill>
              </a:rPr>
              <a:t>First </a:t>
            </a:r>
            <a:r>
              <a:rPr lang="en-US" b="1" dirty="0">
                <a:solidFill>
                  <a:schemeClr val="accent6"/>
                </a:solidFill>
              </a:rPr>
              <a:t>Moment and Centroid of an </a:t>
            </a:r>
            <a:r>
              <a:rPr lang="en-US" b="1" dirty="0" smtClean="0">
                <a:solidFill>
                  <a:schemeClr val="accent6"/>
                </a:solidFill>
              </a:rPr>
              <a:t>Area</a:t>
            </a:r>
            <a:endParaRPr lang="en-US" dirty="0">
              <a:solidFill>
                <a:schemeClr val="accent6"/>
              </a:solidFill>
            </a:endParaRPr>
          </a:p>
        </p:txBody>
      </p:sp>
    </p:spTree>
    <p:extLst>
      <p:ext uri="{BB962C8B-B14F-4D97-AF65-F5344CB8AC3E}">
        <p14:creationId xmlns:p14="http://schemas.microsoft.com/office/powerpoint/2010/main" val="33345633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71559" y="728241"/>
            <a:ext cx="3847870" cy="3785652"/>
          </a:xfrm>
          <a:prstGeom prst="rect">
            <a:avLst/>
          </a:prstGeom>
        </p:spPr>
        <p:txBody>
          <a:bodyPr wrap="square">
            <a:spAutoFit/>
          </a:bodyPr>
          <a:lstStyle/>
          <a:p>
            <a:pPr algn="just"/>
            <a:r>
              <a:rPr lang="en-US" sz="2400" dirty="0" smtClean="0">
                <a:ea typeface="Times New Roman" panose="02020603050405020304" pitchFamily="18" charset="0"/>
              </a:rPr>
              <a:t>Determine </a:t>
            </a:r>
            <a:r>
              <a:rPr lang="en-US" sz="2400" dirty="0">
                <a:ea typeface="Times New Roman" panose="02020603050405020304" pitchFamily="18" charset="0"/>
              </a:rPr>
              <a:t>the first moments of area of a rectangular area as shown in Figure </a:t>
            </a:r>
            <a:r>
              <a:rPr lang="en-US" sz="2400" dirty="0" smtClean="0">
                <a:ea typeface="Times New Roman" panose="02020603050405020304" pitchFamily="18" charset="0"/>
              </a:rPr>
              <a:t>E1-1</a:t>
            </a:r>
            <a:endParaRPr lang="en-US" sz="2400" dirty="0">
              <a:ea typeface="Times New Roman" panose="02020603050405020304" pitchFamily="18" charset="0"/>
            </a:endParaRPr>
          </a:p>
          <a:p>
            <a:pPr algn="just"/>
            <a:endParaRPr lang="en-US" sz="2400" dirty="0">
              <a:ea typeface="Times New Roman" panose="02020603050405020304" pitchFamily="18" charset="0"/>
            </a:endParaRPr>
          </a:p>
          <a:p>
            <a:pPr algn="just"/>
            <a:endParaRPr lang="en-US" sz="2400" b="1" dirty="0"/>
          </a:p>
          <a:p>
            <a:pPr algn="just"/>
            <a:endParaRPr lang="en-US" sz="2400" b="1" dirty="0"/>
          </a:p>
          <a:p>
            <a:pPr algn="just"/>
            <a:endParaRPr lang="en-US" sz="2400" b="1" dirty="0"/>
          </a:p>
          <a:p>
            <a:pPr algn="just"/>
            <a:endParaRPr lang="en-US" sz="2400" b="1" dirty="0"/>
          </a:p>
          <a:p>
            <a:pPr algn="just"/>
            <a:endParaRPr lang="en-US" sz="2400" b="1" dirty="0"/>
          </a:p>
          <a:p>
            <a:pPr algn="just"/>
            <a:endParaRPr lang="en-US" sz="2400" b="1" dirty="0"/>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l="12709" r="4013" b="5753"/>
          <a:stretch>
            <a:fillRect/>
          </a:stretch>
        </p:blipFill>
        <p:spPr bwMode="auto">
          <a:xfrm>
            <a:off x="591180" y="2143490"/>
            <a:ext cx="3108036" cy="3278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439050" y="713135"/>
            <a:ext cx="4572000" cy="4893647"/>
          </a:xfrm>
          <a:prstGeom prst="rect">
            <a:avLst/>
          </a:prstGeom>
        </p:spPr>
        <p:txBody>
          <a:bodyPr>
            <a:spAutoFit/>
          </a:bodyPr>
          <a:lstStyle/>
          <a:p>
            <a:pPr algn="just"/>
            <a:r>
              <a:rPr lang="en-US" sz="2400" b="1" dirty="0">
                <a:latin typeface="Times New Roman" panose="02020603050405020304" pitchFamily="18" charset="0"/>
                <a:cs typeface="Times New Roman" panose="02020603050405020304" pitchFamily="18" charset="0"/>
              </a:rPr>
              <a:t>Solution</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We know that  </a:t>
            </a:r>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Thus</a:t>
            </a:r>
            <a:r>
              <a:rPr lang="en-US" sz="2400" dirty="0">
                <a:latin typeface="Times New Roman" panose="02020603050405020304" pitchFamily="18" charset="0"/>
                <a:cs typeface="Times New Roman" panose="02020603050405020304" pitchFamily="18" charset="0"/>
              </a:rPr>
              <a:t>,</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smtClean="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Similarly</a:t>
            </a:r>
            <a:r>
              <a:rPr lang="en-US" sz="2400" dirty="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7" name="Rectangle 4"/>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8" name="Object 7"/>
          <p:cNvGraphicFramePr>
            <a:graphicFrameLocks noChangeAspect="1"/>
          </p:cNvGraphicFramePr>
          <p:nvPr>
            <p:extLst/>
          </p:nvPr>
        </p:nvGraphicFramePr>
        <p:xfrm>
          <a:off x="6629399" y="914401"/>
          <a:ext cx="1443189" cy="571262"/>
        </p:xfrm>
        <a:graphic>
          <a:graphicData uri="http://schemas.openxmlformats.org/presentationml/2006/ole">
            <mc:AlternateContent xmlns:mc="http://schemas.openxmlformats.org/markup-compatibility/2006">
              <mc:Choice xmlns:v="urn:schemas-microsoft-com:vml" Requires="v">
                <p:oleObj spid="_x0000_s28694" name="Equation" r:id="rId4" imgW="457002" imgH="177723" progId="Equation.DSMT4">
                  <p:embed/>
                </p:oleObj>
              </mc:Choice>
              <mc:Fallback>
                <p:oleObj name="Equation" r:id="rId4" imgW="457002" imgH="177723"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29399" y="914401"/>
                        <a:ext cx="1443189" cy="571262"/>
                      </a:xfrm>
                      <a:prstGeom prst="rect">
                        <a:avLst/>
                      </a:prstGeom>
                      <a:noFill/>
                    </p:spPr>
                  </p:pic>
                </p:oleObj>
              </mc:Fallback>
            </mc:AlternateContent>
          </a:graphicData>
        </a:graphic>
      </p:graphicFrame>
      <p:sp>
        <p:nvSpPr>
          <p:cNvPr id="9" name="Rectangle 6"/>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0" name="Object 9"/>
          <p:cNvGraphicFramePr>
            <a:graphicFrameLocks noChangeAspect="1"/>
          </p:cNvGraphicFramePr>
          <p:nvPr>
            <p:extLst/>
          </p:nvPr>
        </p:nvGraphicFramePr>
        <p:xfrm>
          <a:off x="6721737" y="2397229"/>
          <a:ext cx="1541179" cy="726971"/>
        </p:xfrm>
        <a:graphic>
          <a:graphicData uri="http://schemas.openxmlformats.org/presentationml/2006/ole">
            <mc:AlternateContent xmlns:mc="http://schemas.openxmlformats.org/markup-compatibility/2006">
              <mc:Choice xmlns:v="urn:schemas-microsoft-com:vml" Requires="v">
                <p:oleObj spid="_x0000_s28695" name="Equation" r:id="rId6" imgW="508000" imgH="241300" progId="Equation.DSMT4">
                  <p:embed/>
                </p:oleObj>
              </mc:Choice>
              <mc:Fallback>
                <p:oleObj name="Equation" r:id="rId6" imgW="508000" imgH="2413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21737" y="2397229"/>
                        <a:ext cx="1541179" cy="726971"/>
                      </a:xfrm>
                      <a:prstGeom prst="rect">
                        <a:avLst/>
                      </a:prstGeom>
                      <a:noFill/>
                    </p:spPr>
                  </p:pic>
                </p:oleObj>
              </mc:Fallback>
            </mc:AlternateContent>
          </a:graphicData>
        </a:graphic>
      </p:graphicFrame>
      <p:sp>
        <p:nvSpPr>
          <p:cNvPr id="11" name="Rectangle 8"/>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2" name="Object 11"/>
          <p:cNvGraphicFramePr>
            <a:graphicFrameLocks noChangeAspect="1"/>
          </p:cNvGraphicFramePr>
          <p:nvPr>
            <p:extLst/>
          </p:nvPr>
        </p:nvGraphicFramePr>
        <p:xfrm>
          <a:off x="6628166" y="1638937"/>
          <a:ext cx="1394734" cy="670546"/>
        </p:xfrm>
        <a:graphic>
          <a:graphicData uri="http://schemas.openxmlformats.org/presentationml/2006/ole">
            <mc:AlternateContent xmlns:mc="http://schemas.openxmlformats.org/markup-compatibility/2006">
              <mc:Choice xmlns:v="urn:schemas-microsoft-com:vml" Requires="v">
                <p:oleObj spid="_x0000_s28696" name="Equation" r:id="rId8" imgW="495085" imgH="241195" progId="Equation.DSMT4">
                  <p:embed/>
                </p:oleObj>
              </mc:Choice>
              <mc:Fallback>
                <p:oleObj name="Equation" r:id="rId8" imgW="495085" imgH="241195"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28166" y="1638937"/>
                        <a:ext cx="1394734" cy="670546"/>
                      </a:xfrm>
                      <a:prstGeom prst="rect">
                        <a:avLst/>
                      </a:prstGeom>
                      <a:noFill/>
                    </p:spPr>
                  </p:pic>
                </p:oleObj>
              </mc:Fallback>
            </mc:AlternateContent>
          </a:graphicData>
        </a:graphic>
      </p:graphicFrame>
      <p:sp>
        <p:nvSpPr>
          <p:cNvPr id="13" name="Rectangle 10"/>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4" name="Object 13"/>
          <p:cNvGraphicFramePr>
            <a:graphicFrameLocks noChangeAspect="1"/>
          </p:cNvGraphicFramePr>
          <p:nvPr>
            <p:extLst/>
          </p:nvPr>
        </p:nvGraphicFramePr>
        <p:xfrm>
          <a:off x="3990635" y="3774105"/>
          <a:ext cx="5080235" cy="766292"/>
        </p:xfrm>
        <a:graphic>
          <a:graphicData uri="http://schemas.openxmlformats.org/presentationml/2006/ole">
            <mc:AlternateContent xmlns:mc="http://schemas.openxmlformats.org/markup-compatibility/2006">
              <mc:Choice xmlns:v="urn:schemas-microsoft-com:vml" Requires="v">
                <p:oleObj spid="_x0000_s28697" name="Equation" r:id="rId10" imgW="1701800" imgH="254000" progId="Equation.DSMT4">
                  <p:embed/>
                </p:oleObj>
              </mc:Choice>
              <mc:Fallback>
                <p:oleObj name="Equation" r:id="rId10" imgW="1701800" imgH="2540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90635" y="3774105"/>
                        <a:ext cx="5080235" cy="766292"/>
                      </a:xfrm>
                      <a:prstGeom prst="rect">
                        <a:avLst/>
                      </a:prstGeom>
                      <a:noFill/>
                    </p:spPr>
                  </p:pic>
                </p:oleObj>
              </mc:Fallback>
            </mc:AlternateContent>
          </a:graphicData>
        </a:graphic>
      </p:graphicFrame>
      <p:sp>
        <p:nvSpPr>
          <p:cNvPr id="15" name="Rectangle 12"/>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6" name="Object 15"/>
          <p:cNvGraphicFramePr>
            <a:graphicFrameLocks noChangeAspect="1"/>
          </p:cNvGraphicFramePr>
          <p:nvPr>
            <p:extLst/>
          </p:nvPr>
        </p:nvGraphicFramePr>
        <p:xfrm>
          <a:off x="3786635" y="5514436"/>
          <a:ext cx="5357365" cy="808094"/>
        </p:xfrm>
        <a:graphic>
          <a:graphicData uri="http://schemas.openxmlformats.org/presentationml/2006/ole">
            <mc:AlternateContent xmlns:mc="http://schemas.openxmlformats.org/markup-compatibility/2006">
              <mc:Choice xmlns:v="urn:schemas-microsoft-com:vml" Requires="v">
                <p:oleObj spid="_x0000_s28698" name="Equation" r:id="rId12" imgW="1701800" imgH="254000" progId="Equation.DSMT4">
                  <p:embed/>
                </p:oleObj>
              </mc:Choice>
              <mc:Fallback>
                <p:oleObj name="Equation" r:id="rId12" imgW="1701800" imgH="2540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86635" y="5514436"/>
                        <a:ext cx="5357365" cy="808094"/>
                      </a:xfrm>
                      <a:prstGeom prst="rect">
                        <a:avLst/>
                      </a:prstGeom>
                      <a:noFill/>
                    </p:spPr>
                  </p:pic>
                </p:oleObj>
              </mc:Fallback>
            </mc:AlternateContent>
          </a:graphicData>
        </a:graphic>
      </p:graphicFrame>
      <p:sp>
        <p:nvSpPr>
          <p:cNvPr id="21" name="Rectangle 17"/>
          <p:cNvSpPr>
            <a:spLocks noChangeArrowheads="1"/>
          </p:cNvSpPr>
          <p:nvPr/>
        </p:nvSpPr>
        <p:spPr bwMode="auto">
          <a:xfrm>
            <a:off x="5019676" y="5145090"/>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2" name="Rectangle 1"/>
          <p:cNvSpPr/>
          <p:nvPr/>
        </p:nvSpPr>
        <p:spPr>
          <a:xfrm>
            <a:off x="3254554" y="226679"/>
            <a:ext cx="1911101" cy="461665"/>
          </a:xfrm>
          <a:prstGeom prst="rect">
            <a:avLst/>
          </a:prstGeom>
        </p:spPr>
        <p:txBody>
          <a:bodyPr wrap="none">
            <a:spAutoFit/>
          </a:bodyPr>
          <a:lstStyle/>
          <a:p>
            <a:pPr algn="just"/>
            <a:r>
              <a:rPr lang="en-US" sz="2400" b="1" dirty="0">
                <a:solidFill>
                  <a:schemeClr val="accent6"/>
                </a:solidFill>
                <a:latin typeface="Times New Roman" panose="02020603050405020304" pitchFamily="18" charset="0"/>
                <a:ea typeface="Times New Roman" panose="02020603050405020304" pitchFamily="18" charset="0"/>
              </a:rPr>
              <a:t>Example </a:t>
            </a:r>
            <a:r>
              <a:rPr lang="en-US" sz="2400" b="1" dirty="0" smtClean="0">
                <a:solidFill>
                  <a:schemeClr val="accent6"/>
                </a:solidFill>
                <a:latin typeface="Times New Roman" panose="02020603050405020304" pitchFamily="18" charset="0"/>
                <a:ea typeface="Times New Roman" panose="02020603050405020304" pitchFamily="18" charset="0"/>
              </a:rPr>
              <a:t>1-1 </a:t>
            </a:r>
            <a:endParaRPr lang="en-US" sz="2400" b="1" dirty="0">
              <a:solidFill>
                <a:schemeClr val="accent6"/>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20967521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p>
            <a:r>
              <a:rPr lang="en-US" dirty="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Example </a:t>
            </a:r>
            <a:r>
              <a:rPr lang="en-US" dirty="0" smtClean="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1-2</a:t>
            </a:r>
            <a:endParaRPr lang="en-US" dirty="0">
              <a:solidFill>
                <a:schemeClr val="accent6"/>
              </a:solidFill>
            </a:endParaRPr>
          </a:p>
        </p:txBody>
      </p:sp>
      <p:sp>
        <p:nvSpPr>
          <p:cNvPr id="3" name="Rectangle 2"/>
          <p:cNvSpPr/>
          <p:nvPr/>
        </p:nvSpPr>
        <p:spPr>
          <a:xfrm>
            <a:off x="533400" y="838200"/>
            <a:ext cx="3276600" cy="2308324"/>
          </a:xfrm>
          <a:prstGeom prst="rect">
            <a:avLst/>
          </a:prstGeom>
        </p:spPr>
        <p:txBody>
          <a:bodyPr wrap="square">
            <a:spAutoFit/>
          </a:bodyPr>
          <a:lstStyle/>
          <a:p>
            <a:pPr algn="just"/>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For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 triangular area of Figure </a:t>
            </a: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E1-2</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determine </a:t>
            </a:r>
          </a:p>
          <a:p>
            <a:pPr marL="257175" indent="-257175" algn="just">
              <a:buFont typeface="+mj-lt"/>
              <a:buAutoNum type="alphaLcPeriod"/>
              <a:tabLst>
                <a:tab pos="171450" algn="l"/>
              </a:tabLs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the first moment </a:t>
            </a:r>
            <a:r>
              <a:rPr lang="en-US" sz="2400" dirty="0" err="1">
                <a:latin typeface="Times New Roman" panose="02020603050405020304" pitchFamily="18" charset="0"/>
                <a:ea typeface="Times New Roman" panose="02020603050405020304" pitchFamily="18" charset="0"/>
                <a:cs typeface="Times New Roman" panose="02020603050405020304" pitchFamily="18" charset="0"/>
              </a:rPr>
              <a:t>Q</a:t>
            </a:r>
            <a:r>
              <a:rPr lang="en-US" sz="2400" baseline="-25000" dirty="0" err="1">
                <a:latin typeface="Times New Roman" panose="02020603050405020304" pitchFamily="18" charset="0"/>
                <a:ea typeface="Times New Roman" panose="02020603050405020304" pitchFamily="18" charset="0"/>
                <a:cs typeface="Times New Roman" panose="02020603050405020304" pitchFamily="18" charset="0"/>
              </a:rPr>
              <a:t>x</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 of the area </a:t>
            </a:r>
          </a:p>
          <a:p>
            <a:pPr marL="257175" indent="-257175" algn="just">
              <a:buFont typeface="+mj-lt"/>
              <a:buAutoNum type="alphaLcPeriod"/>
              <a:tabLst>
                <a:tab pos="171450" algn="l"/>
              </a:tabLs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 the ordinate    </a:t>
            </a:r>
            <a:r>
              <a:rPr lang="en-US" sz="2400" dirty="0">
                <a:latin typeface="Times New Roman" panose="02020603050405020304" pitchFamily="18" charset="0"/>
                <a:cs typeface="Times New Roman" panose="02020603050405020304" pitchFamily="18" charset="0"/>
              </a:rPr>
              <a:t>of the centroid of the area.</a:t>
            </a:r>
          </a:p>
        </p:txBody>
      </p:sp>
      <p:pic>
        <p:nvPicPr>
          <p:cNvPr id="4" name="Picture 1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3505200"/>
            <a:ext cx="3052386"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4"/>
          <p:cNvGraphicFramePr>
            <a:graphicFrameLocks noChangeAspect="1"/>
          </p:cNvGraphicFramePr>
          <p:nvPr>
            <p:extLst/>
          </p:nvPr>
        </p:nvGraphicFramePr>
        <p:xfrm>
          <a:off x="2590800" y="2362200"/>
          <a:ext cx="219075" cy="365125"/>
        </p:xfrm>
        <a:graphic>
          <a:graphicData uri="http://schemas.openxmlformats.org/presentationml/2006/ole">
            <mc:AlternateContent xmlns:mc="http://schemas.openxmlformats.org/markup-compatibility/2006">
              <mc:Choice xmlns:v="urn:schemas-microsoft-com:vml" Requires="v">
                <p:oleObj spid="_x0000_s29710" name="Equation" r:id="rId4" imgW="139639" imgH="241195" progId="Equation.DSMT4">
                  <p:embed/>
                </p:oleObj>
              </mc:Choice>
              <mc:Fallback>
                <p:oleObj name="Equation" r:id="rId4" imgW="139639" imgH="241195" progId="Equation.DSMT4">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2362200"/>
                        <a:ext cx="219075" cy="365125"/>
                      </a:xfrm>
                      <a:prstGeom prst="rect">
                        <a:avLst/>
                      </a:prstGeom>
                      <a:noFill/>
                    </p:spPr>
                  </p:pic>
                </p:oleObj>
              </mc:Fallback>
            </mc:AlternateContent>
          </a:graphicData>
        </a:graphic>
      </p:graphicFrame>
      <p:pic>
        <p:nvPicPr>
          <p:cNvPr id="6" name="Picture 4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34000" y="943212"/>
            <a:ext cx="3670906" cy="25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3810000" y="3802898"/>
            <a:ext cx="5334000" cy="2677656"/>
          </a:xfrm>
          <a:prstGeom prst="rect">
            <a:avLst/>
          </a:prstGeom>
        </p:spPr>
        <p:txBody>
          <a:bodyPr wrap="square">
            <a:spAutoFit/>
          </a:bodyPr>
          <a:lstStyle/>
          <a:p>
            <a:pPr marL="342900" indent="-342900" algn="just">
              <a:buAutoNum type="alphaLcParenBoth"/>
            </a:pPr>
            <a:r>
              <a:rPr lang="en-US" sz="2400" dirty="0" smtClean="0">
                <a:ea typeface="Times New Roman" panose="02020603050405020304" pitchFamily="18" charset="0"/>
              </a:rPr>
              <a:t> From </a:t>
            </a:r>
            <a:r>
              <a:rPr lang="en-US" sz="2400" dirty="0">
                <a:ea typeface="Times New Roman" panose="02020603050405020304" pitchFamily="18" charset="0"/>
              </a:rPr>
              <a:t>similar triangles, we have</a:t>
            </a:r>
          </a:p>
          <a:p>
            <a:pPr marL="342900" indent="-342900" algn="just">
              <a:buAutoNum type="alphaLcParenBoth"/>
            </a:pPr>
            <a:endParaRPr lang="en-US" sz="2400" dirty="0">
              <a:ea typeface="Times New Roman" panose="02020603050405020304" pitchFamily="18" charset="0"/>
            </a:endParaRPr>
          </a:p>
          <a:p>
            <a:pPr marL="342900" indent="-342900" algn="just">
              <a:buAutoNum type="alphaLcParenBoth"/>
            </a:pPr>
            <a:endParaRPr lang="en-US" sz="2400" dirty="0">
              <a:ea typeface="Times New Roman" panose="02020603050405020304" pitchFamily="18" charset="0"/>
            </a:endParaRPr>
          </a:p>
          <a:p>
            <a:pPr algn="just"/>
            <a:endParaRPr lang="en-US" sz="2400" dirty="0" smtClean="0"/>
          </a:p>
          <a:p>
            <a:pPr algn="just"/>
            <a:r>
              <a:rPr lang="en-US" sz="2400" dirty="0" smtClean="0"/>
              <a:t>and</a:t>
            </a:r>
            <a:endParaRPr lang="en-US" sz="2400" dirty="0"/>
          </a:p>
          <a:p>
            <a:pPr algn="just"/>
            <a:endParaRPr lang="en-US" sz="2400" dirty="0">
              <a:ea typeface="Times New Roman" panose="02020603050405020304" pitchFamily="18" charset="0"/>
            </a:endParaRPr>
          </a:p>
          <a:p>
            <a:pPr algn="just"/>
            <a:endParaRPr lang="en-US" sz="2400" dirty="0">
              <a:ea typeface="Times New Roman" panose="02020603050405020304" pitchFamily="18" charset="0"/>
            </a:endParaRPr>
          </a:p>
        </p:txBody>
      </p:sp>
      <p:graphicFrame>
        <p:nvGraphicFramePr>
          <p:cNvPr id="8" name="Object 7"/>
          <p:cNvGraphicFramePr>
            <a:graphicFrameLocks noChangeAspect="1"/>
          </p:cNvGraphicFramePr>
          <p:nvPr>
            <p:extLst/>
          </p:nvPr>
        </p:nvGraphicFramePr>
        <p:xfrm>
          <a:off x="4858510" y="4337576"/>
          <a:ext cx="3510900" cy="894080"/>
        </p:xfrm>
        <a:graphic>
          <a:graphicData uri="http://schemas.openxmlformats.org/presentationml/2006/ole">
            <mc:AlternateContent xmlns:mc="http://schemas.openxmlformats.org/markup-compatibility/2006">
              <mc:Choice xmlns:v="urn:schemas-microsoft-com:vml" Requires="v">
                <p:oleObj spid="_x0000_s29711" name="Equation" r:id="rId7" imgW="1536033" imgH="393529" progId="Equation.DSMT4">
                  <p:embed/>
                </p:oleObj>
              </mc:Choice>
              <mc:Fallback>
                <p:oleObj name="Equation" r:id="rId7" imgW="1536033" imgH="393529"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58510" y="4337576"/>
                        <a:ext cx="3510900" cy="894080"/>
                      </a:xfrm>
                      <a:prstGeom prst="rect">
                        <a:avLst/>
                      </a:prstGeom>
                      <a:noFill/>
                    </p:spPr>
                  </p:pic>
                </p:oleObj>
              </mc:Fallback>
            </mc:AlternateContent>
          </a:graphicData>
        </a:graphic>
      </p:graphicFrame>
      <p:graphicFrame>
        <p:nvGraphicFramePr>
          <p:cNvPr id="9" name="Object 8"/>
          <p:cNvGraphicFramePr>
            <a:graphicFrameLocks noChangeAspect="1"/>
          </p:cNvGraphicFramePr>
          <p:nvPr>
            <p:extLst/>
          </p:nvPr>
        </p:nvGraphicFramePr>
        <p:xfrm>
          <a:off x="5268529" y="5529355"/>
          <a:ext cx="3067751" cy="879566"/>
        </p:xfrm>
        <a:graphic>
          <a:graphicData uri="http://schemas.openxmlformats.org/presentationml/2006/ole">
            <mc:AlternateContent xmlns:mc="http://schemas.openxmlformats.org/markup-compatibility/2006">
              <mc:Choice xmlns:v="urn:schemas-microsoft-com:vml" Requires="v">
                <p:oleObj spid="_x0000_s29712" name="Equation" r:id="rId9" imgW="1358310" imgH="393529" progId="Equation.DSMT4">
                  <p:embed/>
                </p:oleObj>
              </mc:Choice>
              <mc:Fallback>
                <p:oleObj name="Equation" r:id="rId9" imgW="1358310" imgH="393529"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68529" y="5529355"/>
                        <a:ext cx="3067751" cy="879566"/>
                      </a:xfrm>
                      <a:prstGeom prst="rect">
                        <a:avLst/>
                      </a:prstGeom>
                      <a:noFill/>
                    </p:spPr>
                  </p:pic>
                </p:oleObj>
              </mc:Fallback>
            </mc:AlternateContent>
          </a:graphicData>
        </a:graphic>
      </p:graphicFrame>
    </p:spTree>
    <p:extLst>
      <p:ext uri="{BB962C8B-B14F-4D97-AF65-F5344CB8AC3E}">
        <p14:creationId xmlns:p14="http://schemas.microsoft.com/office/powerpoint/2010/main" val="40512444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5"/>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1" name="Rectangle 7"/>
          <p:cNvSpPr>
            <a:spLocks noChangeArrowheads="1"/>
          </p:cNvSpPr>
          <p:nvPr/>
        </p:nvSpPr>
        <p:spPr bwMode="auto">
          <a:xfrm>
            <a:off x="1419897" y="233084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3" name="Rectangle 9"/>
          <p:cNvSpPr>
            <a:spLocks noChangeArrowheads="1"/>
          </p:cNvSpPr>
          <p:nvPr/>
        </p:nvSpPr>
        <p:spPr bwMode="auto">
          <a:xfrm>
            <a:off x="907961" y="3240934"/>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4" name="Object 13"/>
          <p:cNvGraphicFramePr>
            <a:graphicFrameLocks noChangeAspect="1"/>
          </p:cNvGraphicFramePr>
          <p:nvPr>
            <p:extLst/>
          </p:nvPr>
        </p:nvGraphicFramePr>
        <p:xfrm>
          <a:off x="814830" y="1336010"/>
          <a:ext cx="6111688" cy="938655"/>
        </p:xfrm>
        <a:graphic>
          <a:graphicData uri="http://schemas.openxmlformats.org/presentationml/2006/ole">
            <mc:AlternateContent xmlns:mc="http://schemas.openxmlformats.org/markup-compatibility/2006">
              <mc:Choice xmlns:v="urn:schemas-microsoft-com:vml" Requires="v">
                <p:oleObj spid="_x0000_s30742" name="Equation" r:id="rId3" imgW="2794000" imgH="431800" progId="Equation.DSMT4">
                  <p:embed/>
                </p:oleObj>
              </mc:Choice>
              <mc:Fallback>
                <p:oleObj name="Equation" r:id="rId3" imgW="27940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4830" y="1336010"/>
                        <a:ext cx="6111688" cy="938655"/>
                      </a:xfrm>
                      <a:prstGeom prst="rect">
                        <a:avLst/>
                      </a:prstGeom>
                      <a:noFill/>
                    </p:spPr>
                  </p:pic>
                </p:oleObj>
              </mc:Fallback>
            </mc:AlternateContent>
          </a:graphicData>
        </a:graphic>
      </p:graphicFrame>
      <p:sp>
        <p:nvSpPr>
          <p:cNvPr id="15" name="Rectangle 11"/>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6" name="Object 15"/>
          <p:cNvGraphicFramePr>
            <a:graphicFrameLocks noChangeAspect="1"/>
          </p:cNvGraphicFramePr>
          <p:nvPr>
            <p:extLst/>
          </p:nvPr>
        </p:nvGraphicFramePr>
        <p:xfrm>
          <a:off x="900396" y="2304709"/>
          <a:ext cx="5881404" cy="1521558"/>
        </p:xfrm>
        <a:graphic>
          <a:graphicData uri="http://schemas.openxmlformats.org/presentationml/2006/ole">
            <mc:AlternateContent xmlns:mc="http://schemas.openxmlformats.org/markup-compatibility/2006">
              <mc:Choice xmlns:v="urn:schemas-microsoft-com:vml" Requires="v">
                <p:oleObj spid="_x0000_s30743" name="Equation" r:id="rId5" imgW="1955800" imgH="508000" progId="Equation.DSMT4">
                  <p:embed/>
                </p:oleObj>
              </mc:Choice>
              <mc:Fallback>
                <p:oleObj name="Equation" r:id="rId5" imgW="1955800" imgH="508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396" y="2304709"/>
                        <a:ext cx="5881404" cy="1521558"/>
                      </a:xfrm>
                      <a:prstGeom prst="rect">
                        <a:avLst/>
                      </a:prstGeom>
                      <a:noFill/>
                    </p:spPr>
                  </p:pic>
                </p:oleObj>
              </mc:Fallback>
            </mc:AlternateContent>
          </a:graphicData>
        </a:graphic>
      </p:graphicFrame>
      <p:sp>
        <p:nvSpPr>
          <p:cNvPr id="17" name="Rectangle 13"/>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8" name="Object 17"/>
          <p:cNvGraphicFramePr>
            <a:graphicFrameLocks noChangeAspect="1"/>
          </p:cNvGraphicFramePr>
          <p:nvPr>
            <p:extLst/>
          </p:nvPr>
        </p:nvGraphicFramePr>
        <p:xfrm>
          <a:off x="714266" y="4574023"/>
          <a:ext cx="1688390" cy="686804"/>
        </p:xfrm>
        <a:graphic>
          <a:graphicData uri="http://schemas.openxmlformats.org/presentationml/2006/ole">
            <mc:AlternateContent xmlns:mc="http://schemas.openxmlformats.org/markup-compatibility/2006">
              <mc:Choice xmlns:v="urn:schemas-microsoft-com:vml" Requires="v">
                <p:oleObj spid="_x0000_s30744" name="Equation" r:id="rId7" imgW="558800" imgH="228600" progId="Equation.DSMT4">
                  <p:embed/>
                </p:oleObj>
              </mc:Choice>
              <mc:Fallback>
                <p:oleObj name="Equation" r:id="rId7" imgW="558800" imgH="2286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4266" y="4574023"/>
                        <a:ext cx="1688390" cy="686804"/>
                      </a:xfrm>
                      <a:prstGeom prst="rect">
                        <a:avLst/>
                      </a:prstGeom>
                      <a:noFill/>
                    </p:spPr>
                  </p:pic>
                </p:oleObj>
              </mc:Fallback>
            </mc:AlternateContent>
          </a:graphicData>
        </a:graphic>
      </p:graphicFrame>
      <p:sp>
        <p:nvSpPr>
          <p:cNvPr id="19" name="Rectangle 15"/>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20" name="Object 19"/>
          <p:cNvGraphicFramePr>
            <a:graphicFrameLocks noChangeAspect="1"/>
          </p:cNvGraphicFramePr>
          <p:nvPr>
            <p:extLst/>
          </p:nvPr>
        </p:nvGraphicFramePr>
        <p:xfrm>
          <a:off x="785013" y="5841389"/>
          <a:ext cx="2237057" cy="656528"/>
        </p:xfrm>
        <a:graphic>
          <a:graphicData uri="http://schemas.openxmlformats.org/presentationml/2006/ole">
            <mc:AlternateContent xmlns:mc="http://schemas.openxmlformats.org/markup-compatibility/2006">
              <mc:Choice xmlns:v="urn:schemas-microsoft-com:vml" Requires="v">
                <p:oleObj spid="_x0000_s30745" name="Equation" r:id="rId9" imgW="875920" imgH="253890" progId="Equation.DSMT4">
                  <p:embed/>
                </p:oleObj>
              </mc:Choice>
              <mc:Fallback>
                <p:oleObj name="Equation" r:id="rId9" imgW="875920" imgH="25389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85013" y="5841389"/>
                        <a:ext cx="2237057" cy="656528"/>
                      </a:xfrm>
                      <a:prstGeom prst="rect">
                        <a:avLst/>
                      </a:prstGeom>
                      <a:noFill/>
                    </p:spPr>
                  </p:pic>
                </p:oleObj>
              </mc:Fallback>
            </mc:AlternateContent>
          </a:graphicData>
        </a:graphic>
      </p:graphicFrame>
      <p:sp>
        <p:nvSpPr>
          <p:cNvPr id="21" name="Rectangle 17"/>
          <p:cNvSpPr>
            <a:spLocks noChangeArrowheads="1"/>
          </p:cNvSpPr>
          <p:nvPr/>
        </p:nvSpPr>
        <p:spPr bwMode="auto">
          <a:xfrm>
            <a:off x="1705967" y="5478577"/>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22" name="Object 21"/>
          <p:cNvGraphicFramePr>
            <a:graphicFrameLocks noChangeAspect="1"/>
          </p:cNvGraphicFramePr>
          <p:nvPr>
            <p:extLst/>
          </p:nvPr>
        </p:nvGraphicFramePr>
        <p:xfrm>
          <a:off x="3323601" y="5235147"/>
          <a:ext cx="5820400" cy="1262770"/>
        </p:xfrm>
        <a:graphic>
          <a:graphicData uri="http://schemas.openxmlformats.org/presentationml/2006/ole">
            <mc:AlternateContent xmlns:mc="http://schemas.openxmlformats.org/markup-compatibility/2006">
              <mc:Choice xmlns:v="urn:schemas-microsoft-com:vml" Requires="v">
                <p:oleObj spid="_x0000_s30746" name="Equation" r:id="rId11" imgW="1955800" imgH="393700" progId="Equation.DSMT4">
                  <p:embed/>
                </p:oleObj>
              </mc:Choice>
              <mc:Fallback>
                <p:oleObj name="Equation" r:id="rId11" imgW="1955800" imgH="3937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23601" y="5235147"/>
                        <a:ext cx="5820400" cy="1262770"/>
                      </a:xfrm>
                      <a:prstGeom prst="rect">
                        <a:avLst/>
                      </a:prstGeom>
                      <a:noFill/>
                    </p:spPr>
                  </p:pic>
                </p:oleObj>
              </mc:Fallback>
            </mc:AlternateContent>
          </a:graphicData>
        </a:graphic>
      </p:graphicFrame>
      <p:sp>
        <p:nvSpPr>
          <p:cNvPr id="23" name="Rectangle 22"/>
          <p:cNvSpPr/>
          <p:nvPr/>
        </p:nvSpPr>
        <p:spPr>
          <a:xfrm>
            <a:off x="473544" y="4047212"/>
            <a:ext cx="3869856" cy="1938992"/>
          </a:xfrm>
          <a:prstGeom prst="rect">
            <a:avLst/>
          </a:prstGeom>
        </p:spPr>
        <p:txBody>
          <a:bodyPr wrap="square">
            <a:spAutoFit/>
          </a:bodyPr>
          <a:lstStyle/>
          <a:p>
            <a:pPr algn="just"/>
            <a:r>
              <a:rPr lang="en-US" sz="2400" dirty="0">
                <a:latin typeface="Times New Roman" panose="02020603050405020304" pitchFamily="18" charset="0"/>
                <a:cs typeface="Times New Roman" panose="02020603050405020304" pitchFamily="18" charset="0"/>
              </a:rPr>
              <a:t>The area of a triangle is </a:t>
            </a: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a:p>
            <a:pPr algn="just"/>
            <a:r>
              <a:rPr lang="en-US" sz="2400" dirty="0" smtClean="0">
                <a:latin typeface="Times New Roman" panose="02020603050405020304" pitchFamily="18" charset="0"/>
                <a:cs typeface="Times New Roman" panose="02020603050405020304" pitchFamily="18" charset="0"/>
              </a:rPr>
              <a:t>From </a:t>
            </a:r>
            <a:r>
              <a:rPr lang="en-US" sz="2400" dirty="0">
                <a:latin typeface="Times New Roman" panose="02020603050405020304" pitchFamily="18" charset="0"/>
                <a:cs typeface="Times New Roman" panose="02020603050405020304" pitchFamily="18" charset="0"/>
              </a:rPr>
              <a:t>equation </a:t>
            </a:r>
            <a:r>
              <a:rPr lang="en-US" sz="2400" dirty="0" smtClean="0">
                <a:latin typeface="Times New Roman" panose="02020603050405020304" pitchFamily="18" charset="0"/>
                <a:cs typeface="Times New Roman" panose="02020603050405020304" pitchFamily="18" charset="0"/>
              </a:rPr>
              <a:t>2-5</a:t>
            </a:r>
            <a:r>
              <a:rPr lang="en-US" sz="2400" dirty="0">
                <a:latin typeface="Times New Roman" panose="02020603050405020304" pitchFamily="18" charset="0"/>
                <a:cs typeface="Times New Roman" panose="02020603050405020304" pitchFamily="18" charset="0"/>
              </a:rPr>
              <a:t>,</a:t>
            </a:r>
          </a:p>
        </p:txBody>
      </p:sp>
      <p:sp>
        <p:nvSpPr>
          <p:cNvPr id="2" name="Rectangle 1"/>
          <p:cNvSpPr/>
          <p:nvPr/>
        </p:nvSpPr>
        <p:spPr>
          <a:xfrm>
            <a:off x="473544" y="789387"/>
            <a:ext cx="8518055" cy="830997"/>
          </a:xfrm>
          <a:prstGeom prst="rect">
            <a:avLst/>
          </a:prstGeom>
        </p:spPr>
        <p:txBody>
          <a:bodyPr wrap="square">
            <a:spAutoFit/>
          </a:bodyPr>
          <a:lstStyle/>
          <a:p>
            <a:pPr algn="just"/>
            <a:r>
              <a:rPr lang="en-US" sz="2400" dirty="0"/>
              <a:t>The first moment of the with respect to the x-axis is </a:t>
            </a:r>
          </a:p>
          <a:p>
            <a:pPr algn="just"/>
            <a:endParaRPr lang="en-US" sz="2400" dirty="0">
              <a:ea typeface="Times New Roman" panose="02020603050405020304" pitchFamily="18" charset="0"/>
            </a:endParaRPr>
          </a:p>
        </p:txBody>
      </p:sp>
      <p:sp>
        <p:nvSpPr>
          <p:cNvPr id="24" name="Title 1"/>
          <p:cNvSpPr>
            <a:spLocks noGrp="1"/>
          </p:cNvSpPr>
          <p:nvPr>
            <p:ph type="title"/>
          </p:nvPr>
        </p:nvSpPr>
        <p:spPr>
          <a:xfrm>
            <a:off x="838200" y="183177"/>
            <a:ext cx="7498080" cy="461665"/>
          </a:xfrm>
        </p:spPr>
        <p:txBody>
          <a:bodyPr/>
          <a:lstStyle/>
          <a:p>
            <a:r>
              <a:rPr lang="en-US" dirty="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Example </a:t>
            </a:r>
            <a:r>
              <a:rPr lang="en-US" dirty="0" smtClean="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1-2 </a:t>
            </a:r>
            <a:r>
              <a:rPr lang="en-US" dirty="0" smtClean="0">
                <a:solidFill>
                  <a:schemeClr val="accent6"/>
                </a:solidFill>
                <a:latin typeface="Times New Roman" panose="02020603050405020304" pitchFamily="18" charset="0"/>
                <a:ea typeface="Times New Roman" panose="02020603050405020304" pitchFamily="18" charset="0"/>
                <a:cs typeface="Times New Roman" panose="02020603050405020304" pitchFamily="18" charset="0"/>
              </a:rPr>
              <a:t>Continues</a:t>
            </a:r>
            <a:endParaRPr lang="en-US" dirty="0">
              <a:solidFill>
                <a:schemeClr val="accent6"/>
              </a:solidFill>
            </a:endParaRPr>
          </a:p>
        </p:txBody>
      </p:sp>
    </p:spTree>
    <p:extLst>
      <p:ext uri="{BB962C8B-B14F-4D97-AF65-F5344CB8AC3E}">
        <p14:creationId xmlns:p14="http://schemas.microsoft.com/office/powerpoint/2010/main" val="325769000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270" y="0"/>
            <a:ext cx="8404128" cy="676809"/>
          </a:xfrm>
        </p:spPr>
        <p:txBody>
          <a:bodyPr>
            <a:normAutofit/>
          </a:bodyPr>
          <a:lstStyle/>
          <a:p>
            <a:r>
              <a:rPr lang="en-US" b="1" dirty="0" smtClean="0">
                <a:solidFill>
                  <a:schemeClr val="accent6"/>
                </a:solidFill>
              </a:rPr>
              <a:t>First </a:t>
            </a:r>
            <a:r>
              <a:rPr lang="en-US" b="1" dirty="0">
                <a:solidFill>
                  <a:schemeClr val="accent6"/>
                </a:solidFill>
              </a:rPr>
              <a:t>Moment and Centroid of a Composite </a:t>
            </a:r>
            <a:r>
              <a:rPr lang="en-US" b="1" dirty="0" smtClean="0">
                <a:solidFill>
                  <a:schemeClr val="accent6"/>
                </a:solidFill>
              </a:rPr>
              <a:t>Area</a:t>
            </a:r>
            <a:endParaRPr lang="en-US" dirty="0">
              <a:solidFill>
                <a:schemeClr val="accent6"/>
              </a:solidFill>
            </a:endParaRPr>
          </a:p>
        </p:txBody>
      </p:sp>
      <p:sp>
        <p:nvSpPr>
          <p:cNvPr id="5" name="Rectangle 4"/>
          <p:cNvSpPr/>
          <p:nvPr/>
        </p:nvSpPr>
        <p:spPr>
          <a:xfrm>
            <a:off x="339086" y="764836"/>
            <a:ext cx="8804913" cy="830997"/>
          </a:xfrm>
          <a:prstGeom prst="rect">
            <a:avLst/>
          </a:prstGeom>
        </p:spPr>
        <p:txBody>
          <a:bodyPr wrap="square">
            <a:spAutoFit/>
          </a:bodyPr>
          <a:lstStyle/>
          <a:p>
            <a:pPr algn="just"/>
            <a:r>
              <a:rPr lang="en-US" sz="2400" dirty="0">
                <a:latin typeface="Times New Roman" panose="02020603050405020304" pitchFamily="18" charset="0"/>
                <a:ea typeface="Times New Roman" panose="02020603050405020304" pitchFamily="18" charset="0"/>
              </a:rPr>
              <a:t>Consider an A, such that the trapezoidal area shown in Figure </a:t>
            </a:r>
            <a:r>
              <a:rPr lang="en-US" sz="2400" dirty="0" smtClean="0">
                <a:latin typeface="Times New Roman" panose="02020603050405020304" pitchFamily="18" charset="0"/>
                <a:ea typeface="Times New Roman" panose="02020603050405020304" pitchFamily="18" charset="0"/>
              </a:rPr>
              <a:t>1-2 </a:t>
            </a:r>
            <a:r>
              <a:rPr lang="en-US" sz="2400" dirty="0">
                <a:latin typeface="Times New Roman" panose="02020603050405020304" pitchFamily="18" charset="0"/>
                <a:ea typeface="Times New Roman" panose="02020603050405020304" pitchFamily="18" charset="0"/>
              </a:rPr>
              <a:t>which may be divided into simple geometric shapes.</a:t>
            </a:r>
            <a:endParaRPr lang="en-US" sz="2400" dirty="0"/>
          </a:p>
        </p:txBody>
      </p:sp>
      <p:graphicFrame>
        <p:nvGraphicFramePr>
          <p:cNvPr id="7" name="Object 6"/>
          <p:cNvGraphicFramePr>
            <a:graphicFrameLocks noChangeAspect="1"/>
          </p:cNvGraphicFramePr>
          <p:nvPr>
            <p:extLst/>
          </p:nvPr>
        </p:nvGraphicFramePr>
        <p:xfrm>
          <a:off x="325835" y="3812890"/>
          <a:ext cx="4535223" cy="798044"/>
        </p:xfrm>
        <a:graphic>
          <a:graphicData uri="http://schemas.openxmlformats.org/presentationml/2006/ole">
            <mc:AlternateContent xmlns:mc="http://schemas.openxmlformats.org/markup-compatibility/2006">
              <mc:Choice xmlns:v="urn:schemas-microsoft-com:vml" Requires="v">
                <p:oleObj spid="_x0000_s31786" name="Equation" r:id="rId3" imgW="2222500" imgH="393700" progId="Equation.DSMT4">
                  <p:embed/>
                </p:oleObj>
              </mc:Choice>
              <mc:Fallback>
                <p:oleObj name="Equation" r:id="rId3" imgW="2222500" imgH="3937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5835" y="3812890"/>
                        <a:ext cx="4535223" cy="798044"/>
                      </a:xfrm>
                      <a:prstGeom prst="rect">
                        <a:avLst/>
                      </a:prstGeom>
                      <a:noFill/>
                    </p:spPr>
                  </p:pic>
                </p:oleObj>
              </mc:Fallback>
            </mc:AlternateContent>
          </a:graphicData>
        </a:graphic>
      </p:graphicFrame>
      <p:sp>
        <p:nvSpPr>
          <p:cNvPr id="8" name="Rectangle 4"/>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9" name="Object 8"/>
          <p:cNvGraphicFramePr>
            <a:graphicFrameLocks noChangeAspect="1"/>
          </p:cNvGraphicFramePr>
          <p:nvPr>
            <p:extLst/>
          </p:nvPr>
        </p:nvGraphicFramePr>
        <p:xfrm>
          <a:off x="609600" y="5193398"/>
          <a:ext cx="3373100" cy="538898"/>
        </p:xfrm>
        <a:graphic>
          <a:graphicData uri="http://schemas.openxmlformats.org/presentationml/2006/ole">
            <mc:AlternateContent xmlns:mc="http://schemas.openxmlformats.org/markup-compatibility/2006">
              <mc:Choice xmlns:v="urn:schemas-microsoft-com:vml" Requires="v">
                <p:oleObj spid="_x0000_s31787" name="Equation" r:id="rId5" imgW="1612900" imgH="254000" progId="Equation.DSMT4">
                  <p:embed/>
                </p:oleObj>
              </mc:Choice>
              <mc:Fallback>
                <p:oleObj name="Equation" r:id="rId5" imgW="1612900" imgH="254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5193398"/>
                        <a:ext cx="3373100" cy="538898"/>
                      </a:xfrm>
                      <a:prstGeom prst="rect">
                        <a:avLst/>
                      </a:prstGeom>
                      <a:noFill/>
                    </p:spPr>
                  </p:pic>
                </p:oleObj>
              </mc:Fallback>
            </mc:AlternateContent>
          </a:graphicData>
        </a:graphic>
      </p:graphicFrame>
      <p:pic>
        <p:nvPicPr>
          <p:cNvPr id="7173" name="Picture 5"/>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1194" y="1790086"/>
            <a:ext cx="4871018" cy="1725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7"/>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1" name="Object 10"/>
          <p:cNvGraphicFramePr>
            <a:graphicFrameLocks noChangeAspect="1"/>
          </p:cNvGraphicFramePr>
          <p:nvPr>
            <p:extLst/>
          </p:nvPr>
        </p:nvGraphicFramePr>
        <p:xfrm>
          <a:off x="5660264" y="1994155"/>
          <a:ext cx="1433520" cy="456120"/>
        </p:xfrm>
        <a:graphic>
          <a:graphicData uri="http://schemas.openxmlformats.org/presentationml/2006/ole">
            <mc:AlternateContent xmlns:mc="http://schemas.openxmlformats.org/markup-compatibility/2006">
              <mc:Choice xmlns:v="urn:schemas-microsoft-com:vml" Requires="v">
                <p:oleObj spid="_x0000_s31788" name="Equation" r:id="rId8" imgW="837836" imgH="266584" progId="Equation.DSMT4">
                  <p:embed/>
                </p:oleObj>
              </mc:Choice>
              <mc:Fallback>
                <p:oleObj name="Equation" r:id="rId8" imgW="837836" imgH="266584"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60264" y="1994155"/>
                        <a:ext cx="1433520" cy="456120"/>
                      </a:xfrm>
                      <a:prstGeom prst="rect">
                        <a:avLst/>
                      </a:prstGeom>
                      <a:noFill/>
                    </p:spPr>
                  </p:pic>
                </p:oleObj>
              </mc:Fallback>
            </mc:AlternateContent>
          </a:graphicData>
        </a:graphic>
      </p:graphicFrame>
      <p:sp>
        <p:nvSpPr>
          <p:cNvPr id="12" name="Rectangle 9"/>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3" name="Object 12"/>
          <p:cNvGraphicFramePr>
            <a:graphicFrameLocks noChangeAspect="1"/>
          </p:cNvGraphicFramePr>
          <p:nvPr>
            <p:extLst/>
          </p:nvPr>
        </p:nvGraphicFramePr>
        <p:xfrm>
          <a:off x="7338446" y="2025027"/>
          <a:ext cx="1464761" cy="466061"/>
        </p:xfrm>
        <a:graphic>
          <a:graphicData uri="http://schemas.openxmlformats.org/presentationml/2006/ole">
            <mc:AlternateContent xmlns:mc="http://schemas.openxmlformats.org/markup-compatibility/2006">
              <mc:Choice xmlns:v="urn:schemas-microsoft-com:vml" Requires="v">
                <p:oleObj spid="_x0000_s31789" name="Equation" r:id="rId10" imgW="837836" imgH="266584" progId="Equation.DSMT4">
                  <p:embed/>
                </p:oleObj>
              </mc:Choice>
              <mc:Fallback>
                <p:oleObj name="Equation" r:id="rId10" imgW="837836" imgH="266584"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38446" y="2025027"/>
                        <a:ext cx="1464761" cy="466061"/>
                      </a:xfrm>
                      <a:prstGeom prst="rect">
                        <a:avLst/>
                      </a:prstGeom>
                      <a:noFill/>
                    </p:spPr>
                  </p:pic>
                </p:oleObj>
              </mc:Fallback>
            </mc:AlternateContent>
          </a:graphicData>
        </a:graphic>
      </p:graphicFrame>
      <p:sp>
        <p:nvSpPr>
          <p:cNvPr id="14" name="Rectangle 11"/>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5" name="Object 14"/>
          <p:cNvGraphicFramePr>
            <a:graphicFrameLocks noChangeAspect="1"/>
          </p:cNvGraphicFramePr>
          <p:nvPr>
            <p:extLst/>
          </p:nvPr>
        </p:nvGraphicFramePr>
        <p:xfrm>
          <a:off x="5792949" y="2790682"/>
          <a:ext cx="978396" cy="433061"/>
        </p:xfrm>
        <a:graphic>
          <a:graphicData uri="http://schemas.openxmlformats.org/presentationml/2006/ole">
            <mc:AlternateContent xmlns:mc="http://schemas.openxmlformats.org/markup-compatibility/2006">
              <mc:Choice xmlns:v="urn:schemas-microsoft-com:vml" Requires="v">
                <p:oleObj spid="_x0000_s31790" name="Equation" r:id="rId12" imgW="583947" imgH="253890" progId="Equation.DSMT4">
                  <p:embed/>
                </p:oleObj>
              </mc:Choice>
              <mc:Fallback>
                <p:oleObj name="Equation" r:id="rId12" imgW="583947" imgH="25389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792949" y="2790682"/>
                        <a:ext cx="978396" cy="433061"/>
                      </a:xfrm>
                      <a:prstGeom prst="rect">
                        <a:avLst/>
                      </a:prstGeom>
                      <a:noFill/>
                    </p:spPr>
                  </p:pic>
                </p:oleObj>
              </mc:Fallback>
            </mc:AlternateContent>
          </a:graphicData>
        </a:graphic>
      </p:graphicFrame>
      <p:sp>
        <p:nvSpPr>
          <p:cNvPr id="16" name="Rectangle 13"/>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7" name="Object 16"/>
          <p:cNvGraphicFramePr>
            <a:graphicFrameLocks noChangeAspect="1"/>
          </p:cNvGraphicFramePr>
          <p:nvPr>
            <p:extLst/>
          </p:nvPr>
        </p:nvGraphicFramePr>
        <p:xfrm>
          <a:off x="7756301" y="2803443"/>
          <a:ext cx="927280" cy="399443"/>
        </p:xfrm>
        <a:graphic>
          <a:graphicData uri="http://schemas.openxmlformats.org/presentationml/2006/ole">
            <mc:AlternateContent xmlns:mc="http://schemas.openxmlformats.org/markup-compatibility/2006">
              <mc:Choice xmlns:v="urn:schemas-microsoft-com:vml" Requires="v">
                <p:oleObj spid="_x0000_s31791" name="Equation" r:id="rId14" imgW="622030" imgH="266584" progId="Equation.DSMT4">
                  <p:embed/>
                </p:oleObj>
              </mc:Choice>
              <mc:Fallback>
                <p:oleObj name="Equation" r:id="rId14" imgW="622030" imgH="266584"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56301" y="2803443"/>
                        <a:ext cx="927280" cy="399443"/>
                      </a:xfrm>
                      <a:prstGeom prst="rect">
                        <a:avLst/>
                      </a:prstGeom>
                      <a:noFill/>
                    </p:spPr>
                  </p:pic>
                </p:oleObj>
              </mc:Fallback>
            </mc:AlternateContent>
          </a:graphicData>
        </a:graphic>
      </p:graphicFrame>
      <p:sp>
        <p:nvSpPr>
          <p:cNvPr id="18" name="Rectangle 15"/>
          <p:cNvSpPr>
            <a:spLocks noChangeArrowheads="1"/>
          </p:cNvSpPr>
          <p:nvPr/>
        </p:nvSpPr>
        <p:spPr bwMode="auto">
          <a:xfrm>
            <a:off x="5911403" y="3425652"/>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9" name="Object 18"/>
          <p:cNvGraphicFramePr>
            <a:graphicFrameLocks noChangeAspect="1"/>
          </p:cNvGraphicFramePr>
          <p:nvPr>
            <p:extLst/>
          </p:nvPr>
        </p:nvGraphicFramePr>
        <p:xfrm>
          <a:off x="5360666" y="3431381"/>
          <a:ext cx="1472405" cy="616743"/>
        </p:xfrm>
        <a:graphic>
          <a:graphicData uri="http://schemas.openxmlformats.org/presentationml/2006/ole">
            <mc:AlternateContent xmlns:mc="http://schemas.openxmlformats.org/markup-compatibility/2006">
              <mc:Choice xmlns:v="urn:schemas-microsoft-com:vml" Requires="v">
                <p:oleObj spid="_x0000_s31792" name="Equation" r:id="rId16" imgW="838080" imgH="355320" progId="Equation.DSMT4">
                  <p:embed/>
                </p:oleObj>
              </mc:Choice>
              <mc:Fallback>
                <p:oleObj name="Equation" r:id="rId16" imgW="838080" imgH="355320" progId="Equation.DSMT4">
                  <p:embed/>
                  <p:pic>
                    <p:nvPicPr>
                      <p:cNvPr id="0" name=""/>
                      <p:cNvPicPr>
                        <a:picLocks noChangeAspect="1" noChangeArrowheads="1"/>
                      </p:cNvPicPr>
                      <p:nvPr/>
                    </p:nvPicPr>
                    <p:blipFill>
                      <a:blip r:embed="rId17"/>
                      <a:srcRect/>
                      <a:stretch>
                        <a:fillRect/>
                      </a:stretch>
                    </p:blipFill>
                    <p:spPr bwMode="auto">
                      <a:xfrm>
                        <a:off x="5360666" y="3431381"/>
                        <a:ext cx="1472405" cy="616743"/>
                      </a:xfrm>
                      <a:prstGeom prst="rect">
                        <a:avLst/>
                      </a:prstGeom>
                      <a:noFill/>
                    </p:spPr>
                  </p:pic>
                </p:oleObj>
              </mc:Fallback>
            </mc:AlternateContent>
          </a:graphicData>
        </a:graphic>
      </p:graphicFrame>
      <p:sp>
        <p:nvSpPr>
          <p:cNvPr id="20" name="Rectangle 17"/>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21" name="Object 20"/>
          <p:cNvGraphicFramePr>
            <a:graphicFrameLocks noChangeAspect="1"/>
          </p:cNvGraphicFramePr>
          <p:nvPr>
            <p:extLst/>
          </p:nvPr>
        </p:nvGraphicFramePr>
        <p:xfrm>
          <a:off x="7408141" y="3515240"/>
          <a:ext cx="1347014" cy="532885"/>
        </p:xfrm>
        <a:graphic>
          <a:graphicData uri="http://schemas.openxmlformats.org/presentationml/2006/ole">
            <mc:AlternateContent xmlns:mc="http://schemas.openxmlformats.org/markup-compatibility/2006">
              <mc:Choice xmlns:v="urn:schemas-microsoft-com:vml" Requires="v">
                <p:oleObj spid="_x0000_s31793" name="Equation" r:id="rId18" imgW="863225" imgH="342751" progId="Equation.DSMT4">
                  <p:embed/>
                </p:oleObj>
              </mc:Choice>
              <mc:Fallback>
                <p:oleObj name="Equation" r:id="rId18" imgW="863225" imgH="342751"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408141" y="3515240"/>
                        <a:ext cx="1347014" cy="532885"/>
                      </a:xfrm>
                      <a:prstGeom prst="rect">
                        <a:avLst/>
                      </a:prstGeom>
                      <a:noFill/>
                    </p:spPr>
                  </p:pic>
                </p:oleObj>
              </mc:Fallback>
            </mc:AlternateContent>
          </a:graphicData>
        </a:graphic>
      </p:graphicFrame>
      <p:sp>
        <p:nvSpPr>
          <p:cNvPr id="22" name="Rectangle 19"/>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23" name="Object 22"/>
          <p:cNvGraphicFramePr>
            <a:graphicFrameLocks noChangeAspect="1"/>
          </p:cNvGraphicFramePr>
          <p:nvPr>
            <p:extLst/>
          </p:nvPr>
        </p:nvGraphicFramePr>
        <p:xfrm>
          <a:off x="5324567" y="4488716"/>
          <a:ext cx="1508504" cy="1217089"/>
        </p:xfrm>
        <a:graphic>
          <a:graphicData uri="http://schemas.openxmlformats.org/presentationml/2006/ole">
            <mc:AlternateContent xmlns:mc="http://schemas.openxmlformats.org/markup-compatibility/2006">
              <mc:Choice xmlns:v="urn:schemas-microsoft-com:vml" Requires="v">
                <p:oleObj spid="_x0000_s31794" name="Equation" r:id="rId20" imgW="837836" imgH="672808" progId="Equation.DSMT4">
                  <p:embed/>
                </p:oleObj>
              </mc:Choice>
              <mc:Fallback>
                <p:oleObj name="Equation" r:id="rId20" imgW="837836" imgH="672808" progId="Equation.DSMT4">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24567" y="4488716"/>
                        <a:ext cx="1508504" cy="1217089"/>
                      </a:xfrm>
                      <a:prstGeom prst="rect">
                        <a:avLst/>
                      </a:prstGeom>
                      <a:noFill/>
                    </p:spPr>
                  </p:pic>
                </p:oleObj>
              </mc:Fallback>
            </mc:AlternateContent>
          </a:graphicData>
        </a:graphic>
      </p:graphicFrame>
      <p:sp>
        <p:nvSpPr>
          <p:cNvPr id="24" name="Rectangle 21"/>
          <p:cNvSpPr>
            <a:spLocks noChangeArrowheads="1"/>
          </p:cNvSpPr>
          <p:nvPr/>
        </p:nvSpPr>
        <p:spPr bwMode="auto">
          <a:xfrm>
            <a:off x="7336393" y="4610934"/>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25" name="Object 24"/>
          <p:cNvGraphicFramePr>
            <a:graphicFrameLocks noChangeAspect="1"/>
          </p:cNvGraphicFramePr>
          <p:nvPr>
            <p:extLst/>
          </p:nvPr>
        </p:nvGraphicFramePr>
        <p:xfrm>
          <a:off x="7264819" y="4449187"/>
          <a:ext cx="1418762" cy="1185084"/>
        </p:xfrm>
        <a:graphic>
          <a:graphicData uri="http://schemas.openxmlformats.org/presentationml/2006/ole">
            <mc:AlternateContent xmlns:mc="http://schemas.openxmlformats.org/markup-compatibility/2006">
              <mc:Choice xmlns:v="urn:schemas-microsoft-com:vml" Requires="v">
                <p:oleObj spid="_x0000_s31795" name="Equation" r:id="rId22" imgW="812447" imgH="672808" progId="Equation.DSMT4">
                  <p:embed/>
                </p:oleObj>
              </mc:Choice>
              <mc:Fallback>
                <p:oleObj name="Equation" r:id="rId22" imgW="812447" imgH="672808" progId="Equation.DSMT4">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7264819" y="4449187"/>
                        <a:ext cx="1418762" cy="1185084"/>
                      </a:xfrm>
                      <a:prstGeom prst="rect">
                        <a:avLst/>
                      </a:prstGeom>
                      <a:noFill/>
                    </p:spPr>
                  </p:pic>
                </p:oleObj>
              </mc:Fallback>
            </mc:AlternateContent>
          </a:graphicData>
        </a:graphic>
      </p:graphicFrame>
    </p:spTree>
    <p:extLst>
      <p:ext uri="{BB962C8B-B14F-4D97-AF65-F5344CB8AC3E}">
        <p14:creationId xmlns:p14="http://schemas.microsoft.com/office/powerpoint/2010/main" val="325624930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47447" y="838200"/>
            <a:ext cx="4572000" cy="1569660"/>
          </a:xfrm>
          <a:prstGeom prst="rect">
            <a:avLst/>
          </a:prstGeom>
        </p:spPr>
        <p:txBody>
          <a:bodyPr>
            <a:spAutoFit/>
          </a:bodyPr>
          <a:lstStyle/>
          <a:p>
            <a:pPr algn="just">
              <a:tabLst>
                <a:tab pos="2023110" algn="ctr"/>
              </a:tabLst>
            </a:pPr>
            <a:r>
              <a:rPr lang="en-US" sz="2400" dirty="0" smtClean="0">
                <a:latin typeface="Times New Roman" panose="02020603050405020304" pitchFamily="18" charset="0"/>
                <a:ea typeface="Times New Roman" panose="02020603050405020304" pitchFamily="18" charset="0"/>
              </a:rPr>
              <a:t>Determine </a:t>
            </a:r>
            <a:r>
              <a:rPr lang="en-US" sz="2400" dirty="0">
                <a:latin typeface="Times New Roman" panose="02020603050405020304" pitchFamily="18" charset="0"/>
                <a:ea typeface="Times New Roman" panose="02020603050405020304" pitchFamily="18" charset="0"/>
              </a:rPr>
              <a:t>the first moments through the centroidal axes and hence locate the centroid C of the area A as shown in Figure </a:t>
            </a:r>
            <a:r>
              <a:rPr lang="en-US" sz="2400" dirty="0" smtClean="0">
                <a:latin typeface="Times New Roman" panose="02020603050405020304" pitchFamily="18" charset="0"/>
                <a:ea typeface="Times New Roman" panose="02020603050405020304" pitchFamily="18" charset="0"/>
              </a:rPr>
              <a:t>E1-3. </a:t>
            </a:r>
            <a:endParaRPr lang="en-US" sz="2400" dirty="0">
              <a:latin typeface="Times New Roman" panose="02020603050405020304" pitchFamily="18" charset="0"/>
              <a:ea typeface="Times New Roman" panose="02020603050405020304" pitchFamily="18" charset="0"/>
            </a:endParaRPr>
          </a:p>
        </p:txBody>
      </p:sp>
      <p:pic>
        <p:nvPicPr>
          <p:cNvPr id="81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9600" y="2671132"/>
            <a:ext cx="3227546" cy="3501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056159" y="773465"/>
            <a:ext cx="3661829" cy="3795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038600" y="4738009"/>
            <a:ext cx="5033747" cy="1938992"/>
          </a:xfrm>
          <a:prstGeom prst="rect">
            <a:avLst/>
          </a:prstGeom>
        </p:spPr>
        <p:txBody>
          <a:bodyPr wrap="square">
            <a:spAutoFit/>
          </a:bodyPr>
          <a:lstStyle/>
          <a:p>
            <a:pPr algn="just">
              <a:tabLst>
                <a:tab pos="2023110" algn="ctr"/>
              </a:tabLst>
            </a:pPr>
            <a:r>
              <a:rPr lang="en-US" sz="2400" b="1" i="1" dirty="0">
                <a:latin typeface="Times New Roman" panose="02020603050405020304" pitchFamily="18" charset="0"/>
                <a:ea typeface="Times New Roman" panose="02020603050405020304" pitchFamily="18" charset="0"/>
              </a:rPr>
              <a:t>Solution</a:t>
            </a:r>
            <a:endParaRPr lang="en-US" sz="2400" dirty="0">
              <a:latin typeface="Times New Roman" panose="02020603050405020304" pitchFamily="18" charset="0"/>
              <a:ea typeface="Times New Roman" panose="02020603050405020304" pitchFamily="18" charset="0"/>
            </a:endParaRPr>
          </a:p>
          <a:p>
            <a:pPr algn="just"/>
            <a:r>
              <a:rPr lang="en-US" sz="2400" dirty="0">
                <a:latin typeface="Times New Roman" panose="02020603050405020304" pitchFamily="18" charset="0"/>
                <a:ea typeface="Times New Roman" panose="02020603050405020304" pitchFamily="18" charset="0"/>
              </a:rPr>
              <a:t>Selecting the coordinate axes shown below, we note that the centroid C must be located on the y-axis, since this axis is an axis of symmetry, thus, </a:t>
            </a:r>
            <a:endParaRPr lang="en-US" sz="2400" dirty="0"/>
          </a:p>
        </p:txBody>
      </p:sp>
      <p:sp>
        <p:nvSpPr>
          <p:cNvPr id="7" name="Rectangle 5"/>
          <p:cNvSpPr>
            <a:spLocks noChangeArrowheads="1"/>
          </p:cNvSpPr>
          <p:nvPr/>
        </p:nvSpPr>
        <p:spPr bwMode="auto">
          <a:xfrm>
            <a:off x="6486526" y="287140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8" name="Object 7"/>
          <p:cNvGraphicFramePr>
            <a:graphicFrameLocks noChangeAspect="1"/>
          </p:cNvGraphicFramePr>
          <p:nvPr>
            <p:extLst/>
          </p:nvPr>
        </p:nvGraphicFramePr>
        <p:xfrm>
          <a:off x="7772400" y="6218938"/>
          <a:ext cx="619125" cy="323633"/>
        </p:xfrm>
        <a:graphic>
          <a:graphicData uri="http://schemas.openxmlformats.org/presentationml/2006/ole">
            <mc:AlternateContent xmlns:mc="http://schemas.openxmlformats.org/markup-compatibility/2006">
              <mc:Choice xmlns:v="urn:schemas-microsoft-com:vml" Requires="v">
                <p:oleObj spid="_x0000_s32774" name="Equation" r:id="rId5" imgW="418918" imgH="215806" progId="Equation.DSMT4">
                  <p:embed/>
                </p:oleObj>
              </mc:Choice>
              <mc:Fallback>
                <p:oleObj name="Equation" r:id="rId5" imgW="418918" imgH="21580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2400" y="6218938"/>
                        <a:ext cx="619125" cy="323633"/>
                      </a:xfrm>
                      <a:prstGeom prst="rect">
                        <a:avLst/>
                      </a:prstGeom>
                      <a:noFill/>
                    </p:spPr>
                  </p:pic>
                </p:oleObj>
              </mc:Fallback>
            </mc:AlternateContent>
          </a:graphicData>
        </a:graphic>
      </p:graphicFrame>
      <p:sp>
        <p:nvSpPr>
          <p:cNvPr id="12" name="Rectangle 9"/>
          <p:cNvSpPr>
            <a:spLocks noChangeArrowheads="1"/>
          </p:cNvSpPr>
          <p:nvPr/>
        </p:nvSpPr>
        <p:spPr bwMode="auto">
          <a:xfrm>
            <a:off x="5177371" y="5060099"/>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2" name="Rectangle 1"/>
          <p:cNvSpPr/>
          <p:nvPr/>
        </p:nvSpPr>
        <p:spPr>
          <a:xfrm>
            <a:off x="3404834" y="207324"/>
            <a:ext cx="1911101" cy="461665"/>
          </a:xfrm>
          <a:prstGeom prst="rect">
            <a:avLst/>
          </a:prstGeom>
        </p:spPr>
        <p:txBody>
          <a:bodyPr wrap="none">
            <a:spAutoFit/>
          </a:bodyPr>
          <a:lstStyle/>
          <a:p>
            <a:pPr algn="just">
              <a:tabLst>
                <a:tab pos="2023110" algn="ctr"/>
              </a:tabLst>
            </a:pPr>
            <a:r>
              <a:rPr lang="en-US" sz="2400" b="1" dirty="0">
                <a:solidFill>
                  <a:schemeClr val="accent6"/>
                </a:solidFill>
                <a:latin typeface="Times New Roman" panose="02020603050405020304" pitchFamily="18" charset="0"/>
                <a:ea typeface="Times New Roman" panose="02020603050405020304" pitchFamily="18" charset="0"/>
              </a:rPr>
              <a:t>Example </a:t>
            </a:r>
            <a:r>
              <a:rPr lang="en-US" sz="2400" b="1" dirty="0" smtClean="0">
                <a:solidFill>
                  <a:schemeClr val="accent6"/>
                </a:solidFill>
                <a:latin typeface="Times New Roman" panose="02020603050405020304" pitchFamily="18" charset="0"/>
                <a:ea typeface="Times New Roman" panose="02020603050405020304" pitchFamily="18" charset="0"/>
              </a:rPr>
              <a:t>1-3 </a:t>
            </a:r>
            <a:endParaRPr lang="en-US" sz="2400" b="1" dirty="0">
              <a:solidFill>
                <a:schemeClr val="accent6"/>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821276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p>
            <a:r>
              <a:rPr lang="en-US" dirty="0">
                <a:solidFill>
                  <a:schemeClr val="accent6"/>
                </a:solidFill>
                <a:latin typeface="Times New Roman" panose="02020603050405020304" pitchFamily="18" charset="0"/>
                <a:ea typeface="Times New Roman" panose="02020603050405020304" pitchFamily="18" charset="0"/>
              </a:rPr>
              <a:t>Example </a:t>
            </a:r>
            <a:r>
              <a:rPr lang="en-US" dirty="0" smtClean="0">
                <a:solidFill>
                  <a:schemeClr val="accent6"/>
                </a:solidFill>
                <a:latin typeface="Times New Roman" panose="02020603050405020304" pitchFamily="18" charset="0"/>
                <a:ea typeface="Times New Roman" panose="02020603050405020304" pitchFamily="18" charset="0"/>
              </a:rPr>
              <a:t>1-3  </a:t>
            </a:r>
            <a:r>
              <a:rPr lang="en-US" dirty="0" smtClean="0">
                <a:solidFill>
                  <a:schemeClr val="accent6"/>
                </a:solidFill>
                <a:latin typeface="Times New Roman" panose="02020603050405020304" pitchFamily="18" charset="0"/>
                <a:ea typeface="Times New Roman" panose="02020603050405020304" pitchFamily="18" charset="0"/>
              </a:rPr>
              <a:t>Continue</a:t>
            </a:r>
            <a:endParaRPr lang="en-US" dirty="0"/>
          </a:p>
        </p:txBody>
      </p:sp>
      <p:graphicFrame>
        <p:nvGraphicFramePr>
          <p:cNvPr id="3" name="Table 2"/>
          <p:cNvGraphicFramePr>
            <a:graphicFrameLocks noGrp="1"/>
          </p:cNvGraphicFramePr>
          <p:nvPr>
            <p:extLst/>
          </p:nvPr>
        </p:nvGraphicFramePr>
        <p:xfrm>
          <a:off x="990600" y="914400"/>
          <a:ext cx="5855409" cy="3019928"/>
        </p:xfrm>
        <a:graphic>
          <a:graphicData uri="http://schemas.openxmlformats.org/drawingml/2006/table">
            <a:tbl>
              <a:tblPr firstRow="1" firstCol="1" lastRow="1" lastCol="1" bandRow="1" bandCol="1">
                <a:tableStyleId>{5C22544A-7EE6-4342-B048-85BDC9FD1C3A}</a:tableStyleId>
              </a:tblPr>
              <a:tblGrid>
                <a:gridCol w="1185446"/>
                <a:gridCol w="1247971"/>
                <a:gridCol w="1444841"/>
                <a:gridCol w="1977151"/>
              </a:tblGrid>
              <a:tr h="1060114">
                <a:tc>
                  <a:txBody>
                    <a:bodyPr/>
                    <a:lstStyle/>
                    <a:p>
                      <a:pPr marL="0" marR="0" algn="ctr">
                        <a:spcBef>
                          <a:spcPts val="0"/>
                        </a:spcBef>
                        <a:spcAft>
                          <a:spcPts val="0"/>
                        </a:spcAft>
                        <a:tabLst>
                          <a:tab pos="2697480" algn="ctr"/>
                        </a:tabLst>
                      </a:pPr>
                      <a:r>
                        <a:rPr lang="en-US" sz="900" baseline="30000" dirty="0">
                          <a:effectLst/>
                        </a:rPr>
                        <a:t> </a:t>
                      </a:r>
                      <a:endParaRPr lang="en-US" sz="900" dirty="0">
                        <a:effectLst/>
                        <a:latin typeface="Times New Roman" panose="02020603050405020304" pitchFamily="18" charset="0"/>
                        <a:ea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500" dirty="0" smtClean="0">
                          <a:effectLst/>
                          <a:latin typeface="Times New Roman" panose="02020603050405020304" pitchFamily="18" charset="0"/>
                          <a:cs typeface="Times New Roman" panose="02020603050405020304" pitchFamily="18" charset="0"/>
                        </a:rPr>
                        <a:t>A, mm</a:t>
                      </a:r>
                      <a:r>
                        <a:rPr lang="en-US" sz="1500" baseline="30000" dirty="0" smtClean="0">
                          <a:effectLst/>
                          <a:latin typeface="Times New Roman" panose="02020603050405020304" pitchFamily="18" charset="0"/>
                          <a:cs typeface="Times New Roman" panose="02020603050405020304" pitchFamily="18" charset="0"/>
                        </a:rPr>
                        <a:t>2</a:t>
                      </a:r>
                      <a:endParaRPr lang="en-US" sz="15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endParaRPr lang="en-US" sz="900" dirty="0">
                        <a:effectLst/>
                      </a:endParaRPr>
                    </a:p>
                    <a:p>
                      <a:pPr marL="0" marR="0" algn="ctr">
                        <a:spcBef>
                          <a:spcPts val="0"/>
                        </a:spcBef>
                        <a:spcAft>
                          <a:spcPts val="0"/>
                        </a:spcAft>
                        <a:tabLst>
                          <a:tab pos="2697480" algn="ctr"/>
                        </a:tabLst>
                      </a:pPr>
                      <a:r>
                        <a:rPr lang="en-US" sz="1800" dirty="0" smtClean="0">
                          <a:effectLst/>
                          <a:latin typeface="Times New Roman" panose="02020603050405020304" pitchFamily="18" charset="0"/>
                          <a:cs typeface="Times New Roman" panose="02020603050405020304" pitchFamily="18" charset="0"/>
                        </a:rPr>
                        <a:t>    mm</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endParaRPr lang="en-US" sz="900" dirty="0">
                        <a:effectLst/>
                      </a:endParaRPr>
                    </a:p>
                    <a:p>
                      <a:pPr marL="0" marR="0" algn="ctr">
                        <a:spcBef>
                          <a:spcPts val="0"/>
                        </a:spcBef>
                        <a:spcAft>
                          <a:spcPts val="0"/>
                        </a:spcAft>
                        <a:tabLst>
                          <a:tab pos="2697480" algn="ctr"/>
                        </a:tabLst>
                      </a:pPr>
                      <a:r>
                        <a:rPr lang="en-US" sz="900" dirty="0" smtClean="0">
                          <a:effectLst/>
                        </a:rPr>
                        <a:t>                </a:t>
                      </a:r>
                      <a:r>
                        <a:rPr lang="en-US" sz="1800" dirty="0" smtClean="0">
                          <a:effectLst/>
                          <a:latin typeface="Times New Roman" panose="02020603050405020304" pitchFamily="18" charset="0"/>
                          <a:cs typeface="Times New Roman" panose="02020603050405020304" pitchFamily="18" charset="0"/>
                        </a:rPr>
                        <a:t>mm</a:t>
                      </a:r>
                      <a:r>
                        <a:rPr lang="en-US" sz="1800" baseline="30000" dirty="0" smtClean="0">
                          <a:effectLst/>
                          <a:latin typeface="Times New Roman" panose="02020603050405020304" pitchFamily="18" charset="0"/>
                          <a:cs typeface="Times New Roman" panose="02020603050405020304" pitchFamily="18" charset="0"/>
                        </a:rPr>
                        <a:t>3</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r>
              <a:tr h="530056">
                <a:tc>
                  <a:txBody>
                    <a:bodyPr/>
                    <a:lstStyle/>
                    <a:p>
                      <a:pPr marL="0" marR="0" algn="ctr">
                        <a:spcBef>
                          <a:spcPts val="0"/>
                        </a:spcBef>
                        <a:spcAft>
                          <a:spcPts val="0"/>
                        </a:spcAft>
                        <a:tabLst>
                          <a:tab pos="2697480" algn="ctr"/>
                        </a:tabLst>
                      </a:pPr>
                      <a:r>
                        <a:rPr lang="en-US" sz="1800" dirty="0">
                          <a:effectLst/>
                          <a:latin typeface="Times New Roman" panose="02020603050405020304" pitchFamily="18" charset="0"/>
                          <a:cs typeface="Times New Roman" panose="02020603050405020304" pitchFamily="18" charset="0"/>
                        </a:rPr>
                        <a:t>A</a:t>
                      </a:r>
                      <a:r>
                        <a:rPr lang="en-US" sz="1800" baseline="-25000" dirty="0">
                          <a:effectLst/>
                          <a:latin typeface="Times New Roman" panose="02020603050405020304" pitchFamily="18" charset="0"/>
                          <a:cs typeface="Times New Roman" panose="02020603050405020304" pitchFamily="18" charset="0"/>
                        </a:rPr>
                        <a:t>1</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800" dirty="0">
                          <a:effectLst/>
                          <a:latin typeface="Times New Roman" panose="02020603050405020304" pitchFamily="18" charset="0"/>
                          <a:cs typeface="Times New Roman" panose="02020603050405020304" pitchFamily="18" charset="0"/>
                        </a:rPr>
                        <a:t>1600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800" dirty="0">
                          <a:effectLst/>
                          <a:latin typeface="Times New Roman" panose="02020603050405020304" pitchFamily="18" charset="0"/>
                          <a:cs typeface="Times New Roman" panose="02020603050405020304" pitchFamily="18" charset="0"/>
                        </a:rPr>
                        <a:t>70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800">
                          <a:effectLst/>
                          <a:latin typeface="Times New Roman" panose="02020603050405020304" pitchFamily="18" charset="0"/>
                          <a:cs typeface="Times New Roman" panose="02020603050405020304" pitchFamily="18" charset="0"/>
                        </a:rPr>
                        <a:t>112000</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r>
              <a:tr h="530056">
                <a:tc>
                  <a:txBody>
                    <a:bodyPr/>
                    <a:lstStyle/>
                    <a:p>
                      <a:pPr marL="0" marR="0" algn="ctr">
                        <a:spcBef>
                          <a:spcPts val="0"/>
                        </a:spcBef>
                        <a:spcAft>
                          <a:spcPts val="0"/>
                        </a:spcAft>
                        <a:tabLst>
                          <a:tab pos="2697480" algn="ctr"/>
                        </a:tabLst>
                      </a:pPr>
                      <a:r>
                        <a:rPr lang="en-US" sz="1800">
                          <a:effectLst/>
                          <a:latin typeface="Times New Roman" panose="02020603050405020304" pitchFamily="18" charset="0"/>
                          <a:cs typeface="Times New Roman" panose="02020603050405020304" pitchFamily="18" charset="0"/>
                        </a:rPr>
                        <a:t>A</a:t>
                      </a:r>
                      <a:r>
                        <a:rPr lang="en-US" sz="1800" baseline="-25000">
                          <a:effectLst/>
                          <a:latin typeface="Times New Roman" panose="02020603050405020304" pitchFamily="18" charset="0"/>
                          <a:cs typeface="Times New Roman" panose="02020603050405020304" pitchFamily="18" charset="0"/>
                        </a:rPr>
                        <a:t>2</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800">
                          <a:effectLst/>
                          <a:latin typeface="Times New Roman" panose="02020603050405020304" pitchFamily="18" charset="0"/>
                          <a:cs typeface="Times New Roman" panose="02020603050405020304" pitchFamily="18" charset="0"/>
                        </a:rPr>
                        <a:t>2400</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800" dirty="0">
                          <a:effectLst/>
                          <a:latin typeface="Times New Roman" panose="02020603050405020304" pitchFamily="18" charset="0"/>
                          <a:cs typeface="Times New Roman" panose="02020603050405020304" pitchFamily="18" charset="0"/>
                        </a:rPr>
                        <a:t>30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800" dirty="0">
                          <a:effectLst/>
                          <a:latin typeface="Times New Roman" panose="02020603050405020304" pitchFamily="18" charset="0"/>
                          <a:cs typeface="Times New Roman" panose="02020603050405020304" pitchFamily="18" charset="0"/>
                        </a:rPr>
                        <a:t>72000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r>
              <a:tr h="899702">
                <a:tc>
                  <a:txBody>
                    <a:bodyPr/>
                    <a:lstStyle/>
                    <a:p>
                      <a:pPr marL="0" marR="0" algn="ctr">
                        <a:spcBef>
                          <a:spcPts val="0"/>
                        </a:spcBef>
                        <a:spcAft>
                          <a:spcPts val="0"/>
                        </a:spcAft>
                        <a:tabLst>
                          <a:tab pos="2697480" algn="ctr"/>
                        </a:tabLst>
                      </a:pPr>
                      <a:r>
                        <a:rPr lang="en-US" sz="1800">
                          <a:effectLst/>
                          <a:latin typeface="Times New Roman" panose="02020603050405020304" pitchFamily="18" charset="0"/>
                          <a:cs typeface="Times New Roman" panose="02020603050405020304" pitchFamily="18" charset="0"/>
                        </a:rPr>
                        <a:t>Summation</a:t>
                      </a:r>
                      <a:endParaRPr lang="en-US"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800" dirty="0">
                          <a:effectLst/>
                          <a:latin typeface="Times New Roman" panose="02020603050405020304" pitchFamily="18" charset="0"/>
                          <a:cs typeface="Times New Roman" panose="02020603050405020304" pitchFamily="18" charset="0"/>
                        </a:rPr>
                        <a:t>4000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800" dirty="0">
                          <a:effectLst/>
                          <a:latin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c>
                  <a:txBody>
                    <a:bodyPr/>
                    <a:lstStyle/>
                    <a:p>
                      <a:pPr marL="0" marR="0" algn="ctr">
                        <a:spcBef>
                          <a:spcPts val="0"/>
                        </a:spcBef>
                        <a:spcAft>
                          <a:spcPts val="0"/>
                        </a:spcAft>
                        <a:tabLst>
                          <a:tab pos="2697480" algn="ctr"/>
                        </a:tabLst>
                      </a:pPr>
                      <a:r>
                        <a:rPr lang="en-US" sz="1800" dirty="0">
                          <a:effectLst/>
                          <a:latin typeface="Times New Roman" panose="02020603050405020304" pitchFamily="18" charset="0"/>
                          <a:cs typeface="Times New Roman" panose="02020603050405020304" pitchFamily="18" charset="0"/>
                        </a:rPr>
                        <a:t>184000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51435" marR="51435" marT="0" marB="0" anchor="ctr"/>
                </a:tc>
              </a:tr>
            </a:tbl>
          </a:graphicData>
        </a:graphic>
      </p:graphicFrame>
      <p:graphicFrame>
        <p:nvGraphicFramePr>
          <p:cNvPr id="4" name="Object 3"/>
          <p:cNvGraphicFramePr>
            <a:graphicFrameLocks noChangeAspect="1"/>
          </p:cNvGraphicFramePr>
          <p:nvPr>
            <p:extLst/>
          </p:nvPr>
        </p:nvGraphicFramePr>
        <p:xfrm>
          <a:off x="1447800" y="4419600"/>
          <a:ext cx="5971042" cy="1759104"/>
        </p:xfrm>
        <a:graphic>
          <a:graphicData uri="http://schemas.openxmlformats.org/presentationml/2006/ole">
            <mc:AlternateContent xmlns:mc="http://schemas.openxmlformats.org/markup-compatibility/2006">
              <mc:Choice xmlns:v="urn:schemas-microsoft-com:vml" Requires="v">
                <p:oleObj spid="_x0000_s33806" name="Equation" r:id="rId3" imgW="2298700" imgH="673100" progId="Equation.DSMT4">
                  <p:embed/>
                </p:oleObj>
              </mc:Choice>
              <mc:Fallback>
                <p:oleObj name="Equation" r:id="rId3" imgW="2298700" imgH="6731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47800" y="4419600"/>
                        <a:ext cx="5971042" cy="1759104"/>
                      </a:xfrm>
                      <a:prstGeom prst="rect">
                        <a:avLst/>
                      </a:prstGeom>
                      <a:noFill/>
                    </p:spPr>
                  </p:pic>
                </p:oleObj>
              </mc:Fallback>
            </mc:AlternateContent>
          </a:graphicData>
        </a:graphic>
      </p:graphicFrame>
      <p:graphicFrame>
        <p:nvGraphicFramePr>
          <p:cNvPr id="5" name="Object 4"/>
          <p:cNvGraphicFramePr>
            <a:graphicFrameLocks noChangeAspect="1"/>
          </p:cNvGraphicFramePr>
          <p:nvPr>
            <p:extLst/>
          </p:nvPr>
        </p:nvGraphicFramePr>
        <p:xfrm>
          <a:off x="3598440" y="1323230"/>
          <a:ext cx="319864" cy="454543"/>
        </p:xfrm>
        <a:graphic>
          <a:graphicData uri="http://schemas.openxmlformats.org/presentationml/2006/ole">
            <mc:AlternateContent xmlns:mc="http://schemas.openxmlformats.org/markup-compatibility/2006">
              <mc:Choice xmlns:v="urn:schemas-microsoft-com:vml" Requires="v">
                <p:oleObj spid="_x0000_s33807" name="Equation" r:id="rId5" imgW="177569" imgH="253670" progId="Equation.DSMT4">
                  <p:embed/>
                </p:oleObj>
              </mc:Choice>
              <mc:Fallback>
                <p:oleObj name="Equation" r:id="rId5" imgW="177569" imgH="25367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98440" y="1323230"/>
                        <a:ext cx="319864" cy="454543"/>
                      </a:xfrm>
                      <a:prstGeom prst="rect">
                        <a:avLst/>
                      </a:prstGeom>
                      <a:noFill/>
                    </p:spPr>
                  </p:pic>
                </p:oleObj>
              </mc:Fallback>
            </mc:AlternateContent>
          </a:graphicData>
        </a:graphic>
      </p:graphicFrame>
      <p:graphicFrame>
        <p:nvGraphicFramePr>
          <p:cNvPr id="6" name="Object 5"/>
          <p:cNvGraphicFramePr>
            <a:graphicFrameLocks noChangeAspect="1"/>
          </p:cNvGraphicFramePr>
          <p:nvPr>
            <p:extLst/>
          </p:nvPr>
        </p:nvGraphicFramePr>
        <p:xfrm>
          <a:off x="5104380" y="1323229"/>
          <a:ext cx="555552" cy="454543"/>
        </p:xfrm>
        <a:graphic>
          <a:graphicData uri="http://schemas.openxmlformats.org/presentationml/2006/ole">
            <mc:AlternateContent xmlns:mc="http://schemas.openxmlformats.org/markup-compatibility/2006">
              <mc:Choice xmlns:v="urn:schemas-microsoft-com:vml" Requires="v">
                <p:oleObj spid="_x0000_s33808" name="Equation" r:id="rId7" imgW="317225" imgH="253780" progId="Equation.DSMT4">
                  <p:embed/>
                </p:oleObj>
              </mc:Choice>
              <mc:Fallback>
                <p:oleObj name="Equation" r:id="rId7" imgW="317225" imgH="25378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04380" y="1323229"/>
                        <a:ext cx="555552" cy="454543"/>
                      </a:xfrm>
                      <a:prstGeom prst="rect">
                        <a:avLst/>
                      </a:prstGeom>
                      <a:noFill/>
                    </p:spPr>
                  </p:pic>
                </p:oleObj>
              </mc:Fallback>
            </mc:AlternateContent>
          </a:graphicData>
        </a:graphic>
      </p:graphicFrame>
    </p:spTree>
    <p:extLst>
      <p:ext uri="{BB962C8B-B14F-4D97-AF65-F5344CB8AC3E}">
        <p14:creationId xmlns:p14="http://schemas.microsoft.com/office/powerpoint/2010/main" val="25064523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418074" y="718751"/>
            <a:ext cx="3010926" cy="1569660"/>
          </a:xfrm>
          <a:prstGeom prst="rect">
            <a:avLst/>
          </a:prstGeom>
        </p:spPr>
        <p:txBody>
          <a:bodyPr wrap="square">
            <a:spAutoFit/>
          </a:bodyPr>
          <a:lstStyle/>
          <a:p>
            <a:pPr algn="just">
              <a:tabLst>
                <a:tab pos="2023110" algn="ctr"/>
              </a:tabLst>
            </a:pPr>
            <a:r>
              <a:rPr lang="en-US" sz="2400" dirty="0" smtClean="0">
                <a:latin typeface="Times New Roman" panose="02020603050405020304" pitchFamily="18" charset="0"/>
                <a:ea typeface="Times New Roman" panose="02020603050405020304" pitchFamily="18" charset="0"/>
              </a:rPr>
              <a:t>Determine </a:t>
            </a:r>
            <a:r>
              <a:rPr lang="en-US" sz="2400" dirty="0">
                <a:latin typeface="Times New Roman" panose="02020603050405020304" pitchFamily="18" charset="0"/>
                <a:ea typeface="Times New Roman" panose="02020603050405020304" pitchFamily="18" charset="0"/>
              </a:rPr>
              <a:t>the first moment of A' with respect to the x' axis as shown in Figure </a:t>
            </a:r>
            <a:r>
              <a:rPr lang="en-US" sz="2400" dirty="0" smtClean="0">
                <a:latin typeface="Times New Roman" panose="02020603050405020304" pitchFamily="18" charset="0"/>
                <a:ea typeface="Times New Roman" panose="02020603050405020304" pitchFamily="18" charset="0"/>
              </a:rPr>
              <a:t>E1-4</a:t>
            </a:r>
            <a:r>
              <a:rPr lang="en-US" sz="2400" dirty="0">
                <a:latin typeface="Times New Roman" panose="02020603050405020304" pitchFamily="18" charset="0"/>
                <a:ea typeface="Times New Roman" panose="02020603050405020304" pitchFamily="18" charset="0"/>
              </a:rPr>
              <a:t>.</a:t>
            </a:r>
          </a:p>
        </p:txBody>
      </p:sp>
      <p:pic>
        <p:nvPicPr>
          <p:cNvPr id="922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8074" y="2853201"/>
            <a:ext cx="2909331" cy="2772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3736613" y="786491"/>
            <a:ext cx="5407388" cy="1754326"/>
          </a:xfrm>
          <a:prstGeom prst="rect">
            <a:avLst/>
          </a:prstGeom>
        </p:spPr>
        <p:txBody>
          <a:bodyPr wrap="square">
            <a:spAutoFit/>
          </a:bodyPr>
          <a:lstStyle/>
          <a:p>
            <a:pPr algn="just">
              <a:tabLst>
                <a:tab pos="2023110" algn="ctr"/>
              </a:tabLst>
            </a:pPr>
            <a:r>
              <a:rPr lang="en-US" b="1" i="1" dirty="0">
                <a:latin typeface="Times New Roman" panose="02020603050405020304" pitchFamily="18" charset="0"/>
                <a:ea typeface="Times New Roman" panose="02020603050405020304" pitchFamily="18" charset="0"/>
              </a:rPr>
              <a:t>Solution</a:t>
            </a:r>
            <a:endParaRPr lang="en-US" dirty="0">
              <a:latin typeface="Times New Roman" panose="02020603050405020304" pitchFamily="18" charset="0"/>
              <a:ea typeface="Times New Roman" panose="02020603050405020304" pitchFamily="18" charset="0"/>
            </a:endParaRPr>
          </a:p>
          <a:p>
            <a:pPr marL="342900" indent="-342900" algn="just">
              <a:buFont typeface="+mj-lt"/>
              <a:buAutoNum type="arabicPeriod"/>
              <a:tabLst>
                <a:tab pos="2023110" algn="ctr"/>
              </a:tabLst>
            </a:pPr>
            <a:r>
              <a:rPr lang="en-US" dirty="0">
                <a:latin typeface="Times New Roman" panose="02020603050405020304" pitchFamily="18" charset="0"/>
                <a:ea typeface="Times New Roman" panose="02020603050405020304" pitchFamily="18" charset="0"/>
              </a:rPr>
              <a:t>Referring to the area A as in example </a:t>
            </a:r>
            <a:r>
              <a:rPr lang="en-US" dirty="0" smtClean="0">
                <a:latin typeface="Times New Roman" panose="02020603050405020304" pitchFamily="18" charset="0"/>
                <a:ea typeface="Times New Roman" panose="02020603050405020304" pitchFamily="18" charset="0"/>
              </a:rPr>
              <a:t>2-3</a:t>
            </a:r>
            <a:r>
              <a:rPr lang="en-US" dirty="0">
                <a:latin typeface="Times New Roman" panose="02020603050405020304" pitchFamily="18" charset="0"/>
                <a:ea typeface="Times New Roman" panose="02020603050405020304" pitchFamily="18" charset="0"/>
              </a:rPr>
              <a:t>, we consider the horizontal x' axis through its centroid C. </a:t>
            </a:r>
          </a:p>
          <a:p>
            <a:pPr marL="342900" indent="-342900" algn="just">
              <a:buFont typeface="+mj-lt"/>
              <a:buAutoNum type="arabicPeriod"/>
              <a:tabLst>
                <a:tab pos="2023110" algn="ctr"/>
              </a:tabLst>
            </a:pPr>
            <a:r>
              <a:rPr lang="en-US" dirty="0">
                <a:latin typeface="Times New Roman" panose="02020603050405020304" pitchFamily="18" charset="0"/>
                <a:ea typeface="Times New Roman" panose="02020603050405020304" pitchFamily="18" charset="0"/>
              </a:rPr>
              <a:t>Such an axis is called a centroidal axis. </a:t>
            </a:r>
          </a:p>
          <a:p>
            <a:pPr marL="342900" indent="-342900" algn="just">
              <a:buFont typeface="+mj-lt"/>
              <a:buAutoNum type="arabicPeriod"/>
              <a:tabLst>
                <a:tab pos="2023110" algn="ctr"/>
              </a:tabLst>
            </a:pPr>
            <a:r>
              <a:rPr lang="en-US" dirty="0">
                <a:latin typeface="Times New Roman" panose="02020603050405020304" pitchFamily="18" charset="0"/>
                <a:ea typeface="Times New Roman" panose="02020603050405020304" pitchFamily="18" charset="0"/>
              </a:rPr>
              <a:t>Denoting by A' the portion of A located above that axis as shown in Figure (a), </a:t>
            </a:r>
          </a:p>
        </p:txBody>
      </p:sp>
      <p:sp>
        <p:nvSpPr>
          <p:cNvPr id="9" name="Rectangle 8"/>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1" name="Rectangle 10"/>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pic>
        <p:nvPicPr>
          <p:cNvPr id="13" name="Picture 6"/>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29000" y="2540817"/>
            <a:ext cx="5760814" cy="3917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3746552" y="257086"/>
            <a:ext cx="1834156" cy="461665"/>
          </a:xfrm>
          <a:prstGeom prst="rect">
            <a:avLst/>
          </a:prstGeom>
        </p:spPr>
        <p:txBody>
          <a:bodyPr wrap="none">
            <a:spAutoFit/>
          </a:bodyPr>
          <a:lstStyle/>
          <a:p>
            <a:pPr algn="just">
              <a:tabLst>
                <a:tab pos="2023110" algn="ctr"/>
              </a:tabLst>
            </a:pPr>
            <a:r>
              <a:rPr lang="en-US" sz="2400" b="1" dirty="0">
                <a:solidFill>
                  <a:schemeClr val="accent6"/>
                </a:solidFill>
                <a:latin typeface="Times New Roman" panose="02020603050405020304" pitchFamily="18" charset="0"/>
                <a:ea typeface="Times New Roman" panose="02020603050405020304" pitchFamily="18" charset="0"/>
              </a:rPr>
              <a:t>Example </a:t>
            </a:r>
            <a:r>
              <a:rPr lang="en-US" sz="2400" b="1" dirty="0" smtClean="0">
                <a:solidFill>
                  <a:schemeClr val="accent6"/>
                </a:solidFill>
                <a:latin typeface="Times New Roman" panose="02020603050405020304" pitchFamily="18" charset="0"/>
                <a:ea typeface="Times New Roman" panose="02020603050405020304" pitchFamily="18" charset="0"/>
              </a:rPr>
              <a:t>1-4</a:t>
            </a:r>
            <a:endParaRPr lang="en-US" sz="2400" b="1" dirty="0">
              <a:solidFill>
                <a:schemeClr val="accent6"/>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071453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p>
            <a:r>
              <a:rPr lang="en-US" dirty="0">
                <a:solidFill>
                  <a:schemeClr val="accent6"/>
                </a:solidFill>
                <a:latin typeface="Times New Roman" panose="02020603050405020304" pitchFamily="18" charset="0"/>
                <a:ea typeface="Times New Roman" panose="02020603050405020304" pitchFamily="18" charset="0"/>
              </a:rPr>
              <a:t>Example </a:t>
            </a:r>
            <a:r>
              <a:rPr lang="en-US" dirty="0" smtClean="0">
                <a:solidFill>
                  <a:schemeClr val="accent6"/>
                </a:solidFill>
                <a:latin typeface="Times New Roman" panose="02020603050405020304" pitchFamily="18" charset="0"/>
                <a:ea typeface="Times New Roman" panose="02020603050405020304" pitchFamily="18" charset="0"/>
              </a:rPr>
              <a:t>1-4 </a:t>
            </a:r>
            <a:r>
              <a:rPr lang="en-US" dirty="0" smtClean="0">
                <a:solidFill>
                  <a:schemeClr val="accent6"/>
                </a:solidFill>
                <a:latin typeface="Times New Roman" panose="02020603050405020304" pitchFamily="18" charset="0"/>
                <a:ea typeface="Times New Roman" panose="02020603050405020304" pitchFamily="18" charset="0"/>
              </a:rPr>
              <a:t>Continues</a:t>
            </a:r>
            <a:endParaRPr lang="en-US" dirty="0">
              <a:solidFill>
                <a:schemeClr val="accent6"/>
              </a:solidFill>
            </a:endParaRPr>
          </a:p>
        </p:txBody>
      </p:sp>
      <p:graphicFrame>
        <p:nvGraphicFramePr>
          <p:cNvPr id="3" name="Object 2"/>
          <p:cNvGraphicFramePr>
            <a:graphicFrameLocks noChangeAspect="1"/>
          </p:cNvGraphicFramePr>
          <p:nvPr>
            <p:extLst/>
          </p:nvPr>
        </p:nvGraphicFramePr>
        <p:xfrm>
          <a:off x="2057400" y="2057400"/>
          <a:ext cx="5017907" cy="1066800"/>
        </p:xfrm>
        <a:graphic>
          <a:graphicData uri="http://schemas.openxmlformats.org/presentationml/2006/ole">
            <mc:AlternateContent xmlns:mc="http://schemas.openxmlformats.org/markup-compatibility/2006">
              <mc:Choice xmlns:v="urn:schemas-microsoft-com:vml" Requires="v">
                <p:oleObj spid="_x0000_s34826" name="Equation" r:id="rId3" imgW="1205977" imgH="253890" progId="Equation.DSMT4">
                  <p:embed/>
                </p:oleObj>
              </mc:Choice>
              <mc:Fallback>
                <p:oleObj name="Equation" r:id="rId3" imgW="1205977" imgH="25389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2057400"/>
                        <a:ext cx="5017907" cy="1066800"/>
                      </a:xfrm>
                      <a:prstGeom prst="rect">
                        <a:avLst/>
                      </a:prstGeom>
                      <a:noFill/>
                    </p:spPr>
                  </p:pic>
                </p:oleObj>
              </mc:Fallback>
            </mc:AlternateContent>
          </a:graphicData>
        </a:graphic>
      </p:graphicFrame>
      <p:graphicFrame>
        <p:nvGraphicFramePr>
          <p:cNvPr id="4" name="Object 3"/>
          <p:cNvGraphicFramePr>
            <a:graphicFrameLocks noChangeAspect="1"/>
          </p:cNvGraphicFramePr>
          <p:nvPr>
            <p:extLst/>
          </p:nvPr>
        </p:nvGraphicFramePr>
        <p:xfrm>
          <a:off x="1142999" y="4114800"/>
          <a:ext cx="6731205" cy="1524000"/>
        </p:xfrm>
        <a:graphic>
          <a:graphicData uri="http://schemas.openxmlformats.org/presentationml/2006/ole">
            <mc:AlternateContent xmlns:mc="http://schemas.openxmlformats.org/markup-compatibility/2006">
              <mc:Choice xmlns:v="urn:schemas-microsoft-com:vml" Requires="v">
                <p:oleObj spid="_x0000_s34827" name="Equation" r:id="rId5" imgW="2108160" imgH="482400" progId="Equation.DSMT4">
                  <p:embed/>
                </p:oleObj>
              </mc:Choice>
              <mc:Fallback>
                <p:oleObj name="Equation" r:id="rId5" imgW="2108160" imgH="482400" progId="Equation.DSMT4">
                  <p:embed/>
                  <p:pic>
                    <p:nvPicPr>
                      <p:cNvPr id="0" name=""/>
                      <p:cNvPicPr>
                        <a:picLocks noChangeAspect="1" noChangeArrowheads="1"/>
                      </p:cNvPicPr>
                      <p:nvPr/>
                    </p:nvPicPr>
                    <p:blipFill>
                      <a:blip r:embed="rId6"/>
                      <a:srcRect/>
                      <a:stretch>
                        <a:fillRect/>
                      </a:stretch>
                    </p:blipFill>
                    <p:spPr bwMode="auto">
                      <a:xfrm>
                        <a:off x="1142999" y="4114800"/>
                        <a:ext cx="6731205" cy="1524000"/>
                      </a:xfrm>
                      <a:prstGeom prst="rect">
                        <a:avLst/>
                      </a:prstGeom>
                      <a:noFill/>
                    </p:spPr>
                  </p:pic>
                </p:oleObj>
              </mc:Fallback>
            </mc:AlternateContent>
          </a:graphicData>
        </a:graphic>
      </p:graphicFrame>
    </p:spTree>
    <p:extLst>
      <p:ext uri="{BB962C8B-B14F-4D97-AF65-F5344CB8AC3E}">
        <p14:creationId xmlns:p14="http://schemas.microsoft.com/office/powerpoint/2010/main" val="244230126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565" y="-3582"/>
            <a:ext cx="8404128" cy="676809"/>
          </a:xfrm>
        </p:spPr>
        <p:txBody>
          <a:bodyPr>
            <a:normAutofit/>
          </a:bodyPr>
          <a:lstStyle/>
          <a:p>
            <a:r>
              <a:rPr lang="en-US" b="1" dirty="0" smtClean="0">
                <a:solidFill>
                  <a:schemeClr val="accent6"/>
                </a:solidFill>
              </a:rPr>
              <a:t>Second </a:t>
            </a:r>
            <a:r>
              <a:rPr lang="en-US" b="1" dirty="0">
                <a:solidFill>
                  <a:schemeClr val="accent6"/>
                </a:solidFill>
              </a:rPr>
              <a:t>Moment of Area and Radius of </a:t>
            </a:r>
            <a:r>
              <a:rPr lang="en-US" b="1" dirty="0" smtClean="0">
                <a:solidFill>
                  <a:schemeClr val="accent6"/>
                </a:solidFill>
              </a:rPr>
              <a:t>Gyration</a:t>
            </a:r>
            <a:endParaRPr lang="en-US" dirty="0">
              <a:solidFill>
                <a:schemeClr val="accent6"/>
              </a:solidFill>
            </a:endParaRPr>
          </a:p>
        </p:txBody>
      </p:sp>
      <p:sp>
        <p:nvSpPr>
          <p:cNvPr id="5" name="Rectangle 4"/>
          <p:cNvSpPr/>
          <p:nvPr/>
        </p:nvSpPr>
        <p:spPr>
          <a:xfrm>
            <a:off x="271273" y="786525"/>
            <a:ext cx="4183528" cy="4893647"/>
          </a:xfrm>
          <a:prstGeom prst="rect">
            <a:avLst/>
          </a:prstGeom>
        </p:spPr>
        <p:txBody>
          <a:bodyPr wrap="square">
            <a:spAutoFit/>
          </a:bodyPr>
          <a:lstStyle/>
          <a:p>
            <a:pPr marL="514350" indent="-514350" algn="just">
              <a:buFont typeface="Wingdings" panose="05000000000000000000" pitchFamily="2" charset="2"/>
              <a:buChar char="q"/>
            </a:pPr>
            <a:r>
              <a:rPr lang="en-US" sz="2400" dirty="0">
                <a:latin typeface="Times New Roman" panose="02020603050405020304" pitchFamily="18" charset="0"/>
                <a:ea typeface="Times New Roman" panose="02020603050405020304" pitchFamily="18" charset="0"/>
              </a:rPr>
              <a:t>The second moment, or moment of inertia, of the area A with respect to the x-axis is defined </a:t>
            </a:r>
          </a:p>
          <a:p>
            <a:pPr marL="514350" indent="-514350" algn="just">
              <a:buFont typeface="Wingdings" panose="05000000000000000000" pitchFamily="2" charset="2"/>
              <a:buChar char="q"/>
            </a:pPr>
            <a:endParaRPr lang="en-US" sz="2400" dirty="0">
              <a:latin typeface="Times New Roman" panose="02020603050405020304" pitchFamily="18" charset="0"/>
              <a:ea typeface="Times New Roman" panose="02020603050405020304" pitchFamily="18" charset="0"/>
            </a:endParaRPr>
          </a:p>
          <a:p>
            <a:pPr marL="514350" indent="-514350" algn="just">
              <a:buFont typeface="Wingdings" panose="05000000000000000000" pitchFamily="2" charset="2"/>
              <a:buChar char="q"/>
            </a:pPr>
            <a:endParaRPr lang="en-US" sz="2400" dirty="0">
              <a:latin typeface="Times New Roman" panose="02020603050405020304" pitchFamily="18" charset="0"/>
              <a:ea typeface="Times New Roman" panose="02020603050405020304" pitchFamily="18" charset="0"/>
            </a:endParaRPr>
          </a:p>
          <a:p>
            <a:pPr marL="514350" indent="-514350" algn="just">
              <a:buFont typeface="Wingdings" panose="05000000000000000000" pitchFamily="2" charset="2"/>
              <a:buChar char="q"/>
            </a:pPr>
            <a:endParaRPr lang="en-US" sz="2400" dirty="0">
              <a:latin typeface="Times New Roman" panose="02020603050405020304" pitchFamily="18" charset="0"/>
              <a:ea typeface="Times New Roman" panose="02020603050405020304" pitchFamily="18" charset="0"/>
            </a:endParaRPr>
          </a:p>
          <a:p>
            <a:pPr marL="514350" indent="-514350" algn="just">
              <a:buFont typeface="Wingdings" panose="05000000000000000000" pitchFamily="2" charset="2"/>
              <a:buChar char="q"/>
            </a:pPr>
            <a:endParaRPr lang="en-US" sz="2400" dirty="0">
              <a:latin typeface="Times New Roman" panose="02020603050405020304" pitchFamily="18" charset="0"/>
              <a:ea typeface="Times New Roman" panose="02020603050405020304" pitchFamily="18" charset="0"/>
            </a:endParaRPr>
          </a:p>
          <a:p>
            <a:pPr marL="514350" indent="-514350" algn="just">
              <a:buFont typeface="Wingdings" panose="05000000000000000000" pitchFamily="2" charset="2"/>
              <a:buChar char="q"/>
            </a:pPr>
            <a:endParaRPr lang="en-US" sz="2400" dirty="0" smtClean="0">
              <a:latin typeface="Times New Roman" panose="02020603050405020304" pitchFamily="18" charset="0"/>
              <a:ea typeface="Times New Roman" panose="02020603050405020304" pitchFamily="18" charset="0"/>
            </a:endParaRPr>
          </a:p>
          <a:p>
            <a:pPr marL="514350" indent="-514350" algn="just">
              <a:buFont typeface="Wingdings" panose="05000000000000000000" pitchFamily="2" charset="2"/>
              <a:buChar char="q"/>
            </a:pPr>
            <a:r>
              <a:rPr lang="en-US" sz="2400" dirty="0" smtClean="0">
                <a:latin typeface="Times New Roman" panose="02020603050405020304" pitchFamily="18" charset="0"/>
                <a:ea typeface="Times New Roman" panose="02020603050405020304" pitchFamily="18" charset="0"/>
              </a:rPr>
              <a:t>The </a:t>
            </a:r>
            <a:r>
              <a:rPr lang="en-US" sz="2400" dirty="0">
                <a:latin typeface="Times New Roman" panose="02020603050405020304" pitchFamily="18" charset="0"/>
                <a:ea typeface="Times New Roman" panose="02020603050405020304" pitchFamily="18" charset="0"/>
              </a:rPr>
              <a:t>second moment or moment of inertia, of A with respect to the y axis is defined as:</a:t>
            </a:r>
            <a:endParaRPr lang="en-US" sz="2400" dirty="0"/>
          </a:p>
        </p:txBody>
      </p:sp>
      <p:sp>
        <p:nvSpPr>
          <p:cNvPr id="6" name="Rectangle 2"/>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7" name="Object 6"/>
          <p:cNvGraphicFramePr>
            <a:graphicFrameLocks noChangeAspect="1"/>
          </p:cNvGraphicFramePr>
          <p:nvPr>
            <p:extLst/>
          </p:nvPr>
        </p:nvGraphicFramePr>
        <p:xfrm>
          <a:off x="1362527" y="2544778"/>
          <a:ext cx="1847850" cy="681944"/>
        </p:xfrm>
        <a:graphic>
          <a:graphicData uri="http://schemas.openxmlformats.org/presentationml/2006/ole">
            <mc:AlternateContent xmlns:mc="http://schemas.openxmlformats.org/markup-compatibility/2006">
              <mc:Choice xmlns:v="urn:schemas-microsoft-com:vml" Requires="v">
                <p:oleObj spid="_x0000_s35851" name="Equation" r:id="rId3" imgW="799753" imgH="291973" progId="Equation.DSMT4">
                  <p:embed/>
                </p:oleObj>
              </mc:Choice>
              <mc:Fallback>
                <p:oleObj name="Equation" r:id="rId3" imgW="799753" imgH="291973"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2527" y="2544778"/>
                        <a:ext cx="1847850" cy="681944"/>
                      </a:xfrm>
                      <a:prstGeom prst="rect">
                        <a:avLst/>
                      </a:prstGeom>
                      <a:noFill/>
                    </p:spPr>
                  </p:pic>
                </p:oleObj>
              </mc:Fallback>
            </mc:AlternateContent>
          </a:graphicData>
        </a:graphic>
      </p:graphicFrame>
      <p:sp>
        <p:nvSpPr>
          <p:cNvPr id="8" name="Rectangle 5"/>
          <p:cNvSpPr>
            <a:spLocks noChangeArrowheads="1"/>
          </p:cNvSpPr>
          <p:nvPr/>
        </p:nvSpPr>
        <p:spPr bwMode="auto">
          <a:xfrm>
            <a:off x="1223963" y="4596198"/>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9" name="Object 8"/>
          <p:cNvGraphicFramePr>
            <a:graphicFrameLocks noChangeAspect="1"/>
          </p:cNvGraphicFramePr>
          <p:nvPr>
            <p:extLst/>
          </p:nvPr>
        </p:nvGraphicFramePr>
        <p:xfrm>
          <a:off x="1387580" y="5643729"/>
          <a:ext cx="2002787" cy="739124"/>
        </p:xfrm>
        <a:graphic>
          <a:graphicData uri="http://schemas.openxmlformats.org/presentationml/2006/ole">
            <mc:AlternateContent xmlns:mc="http://schemas.openxmlformats.org/markup-compatibility/2006">
              <mc:Choice xmlns:v="urn:schemas-microsoft-com:vml" Requires="v">
                <p:oleObj spid="_x0000_s35852" name="Equation" r:id="rId5" imgW="799753" imgH="291973" progId="Equation.DSMT4">
                  <p:embed/>
                </p:oleObj>
              </mc:Choice>
              <mc:Fallback>
                <p:oleObj name="Equation" r:id="rId5" imgW="799753" imgH="291973"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7580" y="5643729"/>
                        <a:ext cx="2002787" cy="739124"/>
                      </a:xfrm>
                      <a:prstGeom prst="rect">
                        <a:avLst/>
                      </a:prstGeom>
                      <a:noFill/>
                    </p:spPr>
                  </p:pic>
                </p:oleObj>
              </mc:Fallback>
            </mc:AlternateContent>
          </a:graphicData>
        </a:graphic>
      </p:graphicFrame>
      <p:sp>
        <p:nvSpPr>
          <p:cNvPr id="10" name="Rectangle 9"/>
          <p:cNvSpPr/>
          <p:nvPr/>
        </p:nvSpPr>
        <p:spPr>
          <a:xfrm>
            <a:off x="5020012" y="1414831"/>
            <a:ext cx="4047100" cy="1200329"/>
          </a:xfrm>
          <a:prstGeom prst="rect">
            <a:avLst/>
          </a:prstGeom>
        </p:spPr>
        <p:txBody>
          <a:bodyPr wrap="square">
            <a:spAutoFit/>
          </a:bodyPr>
          <a:lstStyle/>
          <a:p>
            <a:pPr marL="514350" indent="-514350" algn="just">
              <a:buFont typeface="Wingdings" panose="05000000000000000000" pitchFamily="2" charset="2"/>
              <a:buChar char="q"/>
            </a:pPr>
            <a:r>
              <a:rPr lang="en-US" sz="2400" dirty="0">
                <a:latin typeface="Times New Roman" panose="02020603050405020304" pitchFamily="18" charset="0"/>
                <a:ea typeface="Times New Roman" panose="02020603050405020304" pitchFamily="18" charset="0"/>
              </a:rPr>
              <a:t>The polar moment of inertia of the area A with respect to point O as </a:t>
            </a:r>
            <a:endParaRPr lang="en-US" sz="2400" dirty="0"/>
          </a:p>
        </p:txBody>
      </p:sp>
      <p:sp>
        <p:nvSpPr>
          <p:cNvPr id="11" name="Rectangle 7"/>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2" name="Object 11"/>
          <p:cNvGraphicFramePr>
            <a:graphicFrameLocks noChangeAspect="1"/>
          </p:cNvGraphicFramePr>
          <p:nvPr>
            <p:extLst/>
          </p:nvPr>
        </p:nvGraphicFramePr>
        <p:xfrm>
          <a:off x="6062754" y="2849957"/>
          <a:ext cx="2096231" cy="738445"/>
        </p:xfrm>
        <a:graphic>
          <a:graphicData uri="http://schemas.openxmlformats.org/presentationml/2006/ole">
            <mc:AlternateContent xmlns:mc="http://schemas.openxmlformats.org/markup-compatibility/2006">
              <mc:Choice xmlns:v="urn:schemas-microsoft-com:vml" Requires="v">
                <p:oleObj spid="_x0000_s35853" name="Equation" r:id="rId7" imgW="837836" imgH="291973" progId="Equation.DSMT4">
                  <p:embed/>
                </p:oleObj>
              </mc:Choice>
              <mc:Fallback>
                <p:oleObj name="Equation" r:id="rId7" imgW="837836" imgH="291973"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62754" y="2849957"/>
                        <a:ext cx="2096231" cy="738445"/>
                      </a:xfrm>
                      <a:prstGeom prst="rect">
                        <a:avLst/>
                      </a:prstGeom>
                      <a:noFill/>
                    </p:spPr>
                  </p:pic>
                </p:oleObj>
              </mc:Fallback>
            </mc:AlternateContent>
          </a:graphicData>
        </a:graphic>
      </p:graphicFrame>
      <p:pic>
        <p:nvPicPr>
          <p:cNvPr id="10248" name="Picture 8"/>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48175" y="3980911"/>
            <a:ext cx="2283867" cy="1879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9"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110870" y="3980911"/>
            <a:ext cx="1916548" cy="1724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329349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34465" y="691773"/>
            <a:ext cx="1662635" cy="4801314"/>
          </a:xfrm>
          <a:prstGeom prst="rect">
            <a:avLst/>
          </a:prstGeom>
        </p:spPr>
        <p:txBody>
          <a:bodyPr wrap="none">
            <a:spAutoFit/>
          </a:bodyPr>
          <a:lstStyle/>
          <a:p>
            <a:pPr marL="428625" indent="-428625">
              <a:buFont typeface="Wingdings" panose="05000000000000000000" pitchFamily="2" charset="2"/>
              <a:buChar char="q"/>
            </a:pPr>
            <a:r>
              <a:rPr lang="en-US" dirty="0">
                <a:latin typeface="Times New Roman" panose="02020603050405020304" pitchFamily="18" charset="0"/>
                <a:ea typeface="Times New Roman" panose="02020603050405020304" pitchFamily="18" charset="0"/>
              </a:rPr>
              <a:t>Noting that</a:t>
            </a:r>
          </a:p>
          <a:p>
            <a:pPr marL="428625" indent="-428625">
              <a:buFont typeface="Wingdings" panose="05000000000000000000" pitchFamily="2" charset="2"/>
              <a:buChar char="q"/>
            </a:pPr>
            <a:endParaRPr lang="en-US" dirty="0">
              <a:latin typeface="Times New Roman" panose="02020603050405020304" pitchFamily="18" charset="0"/>
              <a:ea typeface="Times New Roman" panose="02020603050405020304" pitchFamily="18" charset="0"/>
            </a:endParaRPr>
          </a:p>
          <a:p>
            <a:pPr marL="428625" indent="-428625">
              <a:buFont typeface="Wingdings" panose="05000000000000000000" pitchFamily="2" charset="2"/>
              <a:buChar char="q"/>
            </a:pPr>
            <a:endParaRPr lang="en-US" dirty="0">
              <a:latin typeface="Times New Roman" panose="02020603050405020304" pitchFamily="18" charset="0"/>
              <a:ea typeface="Times New Roman" panose="02020603050405020304" pitchFamily="18" charset="0"/>
            </a:endParaRPr>
          </a:p>
          <a:p>
            <a:pPr marL="428625" indent="-428625">
              <a:buFont typeface="Wingdings" panose="05000000000000000000" pitchFamily="2" charset="2"/>
              <a:buChar char="q"/>
            </a:pPr>
            <a:endParaRPr lang="en-US" dirty="0" smtClean="0">
              <a:latin typeface="Times New Roman" panose="02020603050405020304" pitchFamily="18" charset="0"/>
              <a:ea typeface="Times New Roman" panose="02020603050405020304" pitchFamily="18" charset="0"/>
            </a:endParaRPr>
          </a:p>
          <a:p>
            <a:pPr marL="428625" indent="-428625">
              <a:buFont typeface="Wingdings" panose="05000000000000000000" pitchFamily="2" charset="2"/>
              <a:buChar char="q"/>
            </a:pPr>
            <a:endParaRPr lang="en-US" dirty="0">
              <a:latin typeface="Times New Roman" panose="02020603050405020304" pitchFamily="18" charset="0"/>
              <a:ea typeface="Times New Roman" panose="02020603050405020304" pitchFamily="18" charset="0"/>
            </a:endParaRPr>
          </a:p>
          <a:p>
            <a:pPr marL="428625" indent="-428625">
              <a:buFont typeface="Wingdings" panose="05000000000000000000" pitchFamily="2" charset="2"/>
              <a:buChar char="q"/>
            </a:pPr>
            <a:r>
              <a:rPr lang="en-US" dirty="0"/>
              <a:t>we write </a:t>
            </a:r>
            <a:endParaRPr lang="en-US" dirty="0" smtClean="0"/>
          </a:p>
          <a:p>
            <a:pPr marL="428625" indent="-428625">
              <a:buFont typeface="Wingdings" panose="05000000000000000000" pitchFamily="2" charset="2"/>
              <a:buChar char="q"/>
            </a:pPr>
            <a:endParaRPr lang="en-US" dirty="0"/>
          </a:p>
          <a:p>
            <a:pPr marL="428625" indent="-428625">
              <a:buFont typeface="Wingdings" panose="05000000000000000000" pitchFamily="2" charset="2"/>
              <a:buChar char="q"/>
            </a:pPr>
            <a:endParaRPr lang="en-US" dirty="0" smtClean="0"/>
          </a:p>
          <a:p>
            <a:pPr marL="428625" indent="-428625">
              <a:buFont typeface="Wingdings" panose="05000000000000000000" pitchFamily="2" charset="2"/>
              <a:buChar char="q"/>
            </a:pPr>
            <a:endParaRPr lang="en-US" dirty="0"/>
          </a:p>
          <a:p>
            <a:pPr marL="428625" indent="-428625">
              <a:buFont typeface="Wingdings" panose="05000000000000000000" pitchFamily="2" charset="2"/>
              <a:buChar char="q"/>
            </a:pPr>
            <a:endParaRPr lang="en-US" dirty="0">
              <a:latin typeface="Times New Roman" panose="02020603050405020304" pitchFamily="18" charset="0"/>
              <a:ea typeface="Times New Roman" panose="02020603050405020304" pitchFamily="18" charset="0"/>
            </a:endParaRPr>
          </a:p>
          <a:p>
            <a:pPr marL="428625" indent="-428625">
              <a:buFont typeface="Wingdings" panose="05000000000000000000" pitchFamily="2" charset="2"/>
              <a:buChar char="q"/>
            </a:pPr>
            <a:endParaRPr lang="en-US" dirty="0">
              <a:latin typeface="Times New Roman" panose="02020603050405020304" pitchFamily="18" charset="0"/>
              <a:ea typeface="Times New Roman" panose="02020603050405020304" pitchFamily="18" charset="0"/>
            </a:endParaRPr>
          </a:p>
          <a:p>
            <a:pPr marL="428625" indent="-428625">
              <a:buFont typeface="Wingdings" panose="05000000000000000000" pitchFamily="2" charset="2"/>
              <a:buChar char="q"/>
            </a:pPr>
            <a:endParaRPr lang="en-US" dirty="0">
              <a:latin typeface="Times New Roman" panose="02020603050405020304" pitchFamily="18" charset="0"/>
              <a:ea typeface="Times New Roman" panose="02020603050405020304" pitchFamily="18" charset="0"/>
            </a:endParaRPr>
          </a:p>
          <a:p>
            <a:pPr marL="428625" indent="-428625">
              <a:buFont typeface="Wingdings" panose="05000000000000000000" pitchFamily="2" charset="2"/>
              <a:buChar char="q"/>
            </a:pPr>
            <a:endParaRPr lang="en-US" dirty="0">
              <a:latin typeface="Times New Roman" panose="02020603050405020304" pitchFamily="18" charset="0"/>
              <a:ea typeface="Times New Roman" panose="02020603050405020304" pitchFamily="18" charset="0"/>
            </a:endParaRPr>
          </a:p>
          <a:p>
            <a:pPr marL="428625" indent="-428625">
              <a:buFont typeface="Wingdings" panose="05000000000000000000" pitchFamily="2" charset="2"/>
              <a:buChar char="q"/>
            </a:pPr>
            <a:endParaRPr lang="en-US" dirty="0">
              <a:latin typeface="Times New Roman" panose="02020603050405020304" pitchFamily="18" charset="0"/>
              <a:ea typeface="Times New Roman" panose="02020603050405020304" pitchFamily="18" charset="0"/>
            </a:endParaRPr>
          </a:p>
          <a:p>
            <a:pPr marL="428625" indent="-428625">
              <a:buFont typeface="Wingdings" panose="05000000000000000000" pitchFamily="2" charset="2"/>
              <a:buChar char="q"/>
            </a:pPr>
            <a:r>
              <a:rPr lang="en-US" dirty="0">
                <a:latin typeface="Times New Roman" panose="02020603050405020304" pitchFamily="18" charset="0"/>
                <a:ea typeface="Times New Roman" panose="02020603050405020304" pitchFamily="18" charset="0"/>
              </a:rPr>
              <a:t> </a:t>
            </a:r>
          </a:p>
          <a:p>
            <a:pPr marL="428625" indent="-428625">
              <a:buFont typeface="Wingdings" panose="05000000000000000000" pitchFamily="2" charset="2"/>
              <a:buChar char="q"/>
            </a:pPr>
            <a:endParaRPr lang="en-US" dirty="0">
              <a:latin typeface="Times New Roman" panose="02020603050405020304" pitchFamily="18" charset="0"/>
            </a:endParaRPr>
          </a:p>
          <a:p>
            <a:pPr marL="428625" indent="-428625">
              <a:buFont typeface="Wingdings" panose="05000000000000000000" pitchFamily="2" charset="2"/>
              <a:buChar char="q"/>
            </a:pPr>
            <a:endParaRPr lang="en-US" dirty="0"/>
          </a:p>
        </p:txBody>
      </p:sp>
      <p:sp>
        <p:nvSpPr>
          <p:cNvPr id="6" name="Rectangle 2"/>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7" name="Object 6"/>
          <p:cNvGraphicFramePr>
            <a:graphicFrameLocks noChangeAspect="1"/>
          </p:cNvGraphicFramePr>
          <p:nvPr>
            <p:extLst/>
          </p:nvPr>
        </p:nvGraphicFramePr>
        <p:xfrm>
          <a:off x="572481" y="1144492"/>
          <a:ext cx="2788524" cy="760507"/>
        </p:xfrm>
        <a:graphic>
          <a:graphicData uri="http://schemas.openxmlformats.org/presentationml/2006/ole">
            <mc:AlternateContent xmlns:mc="http://schemas.openxmlformats.org/markup-compatibility/2006">
              <mc:Choice xmlns:v="urn:schemas-microsoft-com:vml" Requires="v">
                <p:oleObj spid="_x0000_s36887" name="Equation" r:id="rId3" imgW="838200" imgH="228600" progId="Equation.DSMT4">
                  <p:embed/>
                </p:oleObj>
              </mc:Choice>
              <mc:Fallback>
                <p:oleObj name="Equation" r:id="rId3" imgW="838200" imgH="228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2481" y="1144492"/>
                        <a:ext cx="2788524" cy="760507"/>
                      </a:xfrm>
                      <a:prstGeom prst="rect">
                        <a:avLst/>
                      </a:prstGeom>
                      <a:noFill/>
                    </p:spPr>
                  </p:pic>
                </p:oleObj>
              </mc:Fallback>
            </mc:AlternateContent>
          </a:graphicData>
        </a:graphic>
      </p:graphicFrame>
      <p:sp>
        <p:nvSpPr>
          <p:cNvPr id="8" name="Rectangle 4"/>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9" name="Object 8"/>
          <p:cNvGraphicFramePr>
            <a:graphicFrameLocks noChangeAspect="1"/>
          </p:cNvGraphicFramePr>
          <p:nvPr>
            <p:extLst/>
          </p:nvPr>
        </p:nvGraphicFramePr>
        <p:xfrm>
          <a:off x="504755" y="2353872"/>
          <a:ext cx="3927872" cy="1585913"/>
        </p:xfrm>
        <a:graphic>
          <a:graphicData uri="http://schemas.openxmlformats.org/presentationml/2006/ole">
            <mc:AlternateContent xmlns:mc="http://schemas.openxmlformats.org/markup-compatibility/2006">
              <mc:Choice xmlns:v="urn:schemas-microsoft-com:vml" Requires="v">
                <p:oleObj spid="_x0000_s36888" name="Equation" r:id="rId5" imgW="1968480" imgH="787320" progId="Equation.DSMT4">
                  <p:embed/>
                </p:oleObj>
              </mc:Choice>
              <mc:Fallback>
                <p:oleObj name="Equation" r:id="rId5" imgW="1968480" imgH="787320" progId="Equation.DSMT4">
                  <p:embed/>
                  <p:pic>
                    <p:nvPicPr>
                      <p:cNvPr id="0" name=""/>
                      <p:cNvPicPr>
                        <a:picLocks noChangeAspect="1" noChangeArrowheads="1"/>
                      </p:cNvPicPr>
                      <p:nvPr/>
                    </p:nvPicPr>
                    <p:blipFill>
                      <a:blip r:embed="rId6"/>
                      <a:srcRect/>
                      <a:stretch>
                        <a:fillRect/>
                      </a:stretch>
                    </p:blipFill>
                    <p:spPr bwMode="auto">
                      <a:xfrm>
                        <a:off x="504755" y="2353872"/>
                        <a:ext cx="3927872" cy="1585913"/>
                      </a:xfrm>
                      <a:prstGeom prst="rect">
                        <a:avLst/>
                      </a:prstGeom>
                      <a:noFill/>
                    </p:spPr>
                  </p:pic>
                </p:oleObj>
              </mc:Fallback>
            </mc:AlternateContent>
          </a:graphicData>
        </a:graphic>
      </p:graphicFrame>
      <p:sp>
        <p:nvSpPr>
          <p:cNvPr id="10" name="Rectangle 6"/>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1" name="Object 10"/>
          <p:cNvGraphicFramePr>
            <a:graphicFrameLocks noChangeAspect="1"/>
          </p:cNvGraphicFramePr>
          <p:nvPr>
            <p:extLst/>
          </p:nvPr>
        </p:nvGraphicFramePr>
        <p:xfrm>
          <a:off x="572480" y="4982582"/>
          <a:ext cx="3292237" cy="814910"/>
        </p:xfrm>
        <a:graphic>
          <a:graphicData uri="http://schemas.openxmlformats.org/presentationml/2006/ole">
            <mc:AlternateContent xmlns:mc="http://schemas.openxmlformats.org/markup-compatibility/2006">
              <mc:Choice xmlns:v="urn:schemas-microsoft-com:vml" Requires="v">
                <p:oleObj spid="_x0000_s36889" name="Equation" r:id="rId7" imgW="965200" imgH="241300" progId="Equation.DSMT4">
                  <p:embed/>
                </p:oleObj>
              </mc:Choice>
              <mc:Fallback>
                <p:oleObj name="Equation" r:id="rId7" imgW="965200" imgH="2413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2480" y="4982582"/>
                        <a:ext cx="3292237" cy="814910"/>
                      </a:xfrm>
                      <a:prstGeom prst="rect">
                        <a:avLst/>
                      </a:prstGeom>
                      <a:noFill/>
                    </p:spPr>
                  </p:pic>
                </p:oleObj>
              </mc:Fallback>
            </mc:AlternateContent>
          </a:graphicData>
        </a:graphic>
      </p:graphicFrame>
      <p:sp>
        <p:nvSpPr>
          <p:cNvPr id="12" name="Rectangle 11"/>
          <p:cNvSpPr/>
          <p:nvPr/>
        </p:nvSpPr>
        <p:spPr>
          <a:xfrm>
            <a:off x="4434140" y="735265"/>
            <a:ext cx="4572000" cy="4247317"/>
          </a:xfrm>
          <a:prstGeom prst="rect">
            <a:avLst/>
          </a:prstGeom>
        </p:spPr>
        <p:txBody>
          <a:bodyPr>
            <a:spAutoFit/>
          </a:bodyPr>
          <a:lstStyle/>
          <a:p>
            <a:pPr marL="390525" indent="-390525" algn="just">
              <a:buFont typeface="Wingdings" panose="05000000000000000000" pitchFamily="2" charset="2"/>
              <a:buChar char="q"/>
              <a:tabLst>
                <a:tab pos="2023110" algn="ctr"/>
              </a:tabLst>
            </a:pPr>
            <a:r>
              <a:rPr lang="en-US" dirty="0">
                <a:latin typeface="Times New Roman" panose="02020603050405020304" pitchFamily="18" charset="0"/>
                <a:ea typeface="Times New Roman" panose="02020603050405020304" pitchFamily="18" charset="0"/>
              </a:rPr>
              <a:t>The radius of gyration of an area A with respect to the x axis is defined as the quantity r</a:t>
            </a:r>
            <a:r>
              <a:rPr lang="en-US" baseline="-25000" dirty="0">
                <a:latin typeface="Times New Roman" panose="02020603050405020304" pitchFamily="18" charset="0"/>
                <a:ea typeface="Times New Roman" panose="02020603050405020304" pitchFamily="18" charset="0"/>
              </a:rPr>
              <a:t>x</a:t>
            </a:r>
            <a:r>
              <a:rPr lang="en-US" dirty="0">
                <a:latin typeface="Times New Roman" panose="02020603050405020304" pitchFamily="18" charset="0"/>
                <a:ea typeface="Times New Roman" panose="02020603050405020304" pitchFamily="18" charset="0"/>
              </a:rPr>
              <a:t> that satisfies the relation</a:t>
            </a:r>
          </a:p>
          <a:p>
            <a:pPr marL="390525" indent="-390525" algn="just">
              <a:buFont typeface="Wingdings" panose="05000000000000000000" pitchFamily="2" charset="2"/>
              <a:buChar char="q"/>
              <a:tabLst>
                <a:tab pos="2023110" algn="ctr"/>
              </a:tabLst>
            </a:pPr>
            <a:endParaRPr lang="en-US" dirty="0">
              <a:latin typeface="Times New Roman" panose="02020603050405020304" pitchFamily="18" charset="0"/>
              <a:ea typeface="Times New Roman" panose="02020603050405020304" pitchFamily="18" charset="0"/>
            </a:endParaRPr>
          </a:p>
          <a:p>
            <a:pPr marL="390525" indent="-390525" algn="just">
              <a:buFont typeface="Wingdings" panose="05000000000000000000" pitchFamily="2" charset="2"/>
              <a:buChar char="q"/>
              <a:tabLst>
                <a:tab pos="2023110" algn="ctr"/>
              </a:tabLst>
            </a:pPr>
            <a:endParaRPr lang="en-US" dirty="0">
              <a:latin typeface="Times New Roman" panose="02020603050405020304" pitchFamily="18" charset="0"/>
              <a:ea typeface="Times New Roman" panose="02020603050405020304" pitchFamily="18" charset="0"/>
            </a:endParaRPr>
          </a:p>
          <a:p>
            <a:pPr marL="390525" indent="-390525" algn="just">
              <a:buFont typeface="Wingdings" panose="05000000000000000000" pitchFamily="2" charset="2"/>
              <a:buChar char="q"/>
              <a:tabLst>
                <a:tab pos="2023110" algn="ctr"/>
              </a:tabLst>
            </a:pPr>
            <a:endParaRPr lang="en-US" dirty="0">
              <a:latin typeface="Times New Roman" panose="02020603050405020304" pitchFamily="18" charset="0"/>
              <a:ea typeface="Times New Roman" panose="02020603050405020304" pitchFamily="18" charset="0"/>
            </a:endParaRPr>
          </a:p>
          <a:p>
            <a:pPr marL="390525" indent="-390525" algn="just">
              <a:buFont typeface="Wingdings" panose="05000000000000000000" pitchFamily="2" charset="2"/>
              <a:buChar char="q"/>
              <a:tabLst>
                <a:tab pos="2023110" algn="ctr"/>
              </a:tabLst>
            </a:pPr>
            <a:r>
              <a:rPr lang="en-US" dirty="0">
                <a:latin typeface="Times New Roman" panose="02020603050405020304" pitchFamily="18" charset="0"/>
                <a:ea typeface="Times New Roman" panose="02020603050405020304" pitchFamily="18" charset="0"/>
              </a:rPr>
              <a:t>Similarly</a:t>
            </a:r>
          </a:p>
          <a:p>
            <a:pPr marL="390525" indent="-390525" algn="just">
              <a:buFont typeface="Wingdings" panose="05000000000000000000" pitchFamily="2" charset="2"/>
              <a:buChar char="q"/>
              <a:tabLst>
                <a:tab pos="2023110" algn="ctr"/>
              </a:tabLst>
            </a:pPr>
            <a:endParaRPr lang="en-US" dirty="0">
              <a:latin typeface="Times New Roman" panose="02020603050405020304" pitchFamily="18" charset="0"/>
              <a:ea typeface="Times New Roman" panose="02020603050405020304" pitchFamily="18" charset="0"/>
            </a:endParaRPr>
          </a:p>
          <a:p>
            <a:pPr marL="390525" indent="-390525" algn="just">
              <a:buFont typeface="Wingdings" panose="05000000000000000000" pitchFamily="2" charset="2"/>
              <a:buChar char="q"/>
              <a:tabLst>
                <a:tab pos="2023110" algn="ctr"/>
              </a:tabLst>
            </a:pPr>
            <a:endParaRPr lang="en-US" dirty="0">
              <a:latin typeface="Times New Roman" panose="02020603050405020304" pitchFamily="18" charset="0"/>
              <a:ea typeface="Times New Roman" panose="02020603050405020304" pitchFamily="18" charset="0"/>
            </a:endParaRPr>
          </a:p>
          <a:p>
            <a:pPr marL="390525" indent="-390525" algn="just">
              <a:buFont typeface="Wingdings" panose="05000000000000000000" pitchFamily="2" charset="2"/>
              <a:buChar char="q"/>
              <a:tabLst>
                <a:tab pos="2023110" algn="ctr"/>
              </a:tabLst>
            </a:pPr>
            <a:endParaRPr lang="en-US" dirty="0">
              <a:latin typeface="Times New Roman" panose="02020603050405020304" pitchFamily="18" charset="0"/>
              <a:ea typeface="Times New Roman" panose="02020603050405020304" pitchFamily="18" charset="0"/>
            </a:endParaRPr>
          </a:p>
          <a:p>
            <a:pPr marL="390525" indent="-390525" algn="just">
              <a:buFont typeface="Wingdings" panose="05000000000000000000" pitchFamily="2" charset="2"/>
              <a:buChar char="q"/>
              <a:tabLst>
                <a:tab pos="2023110" algn="ctr"/>
              </a:tabLst>
            </a:pPr>
            <a:r>
              <a:rPr lang="en-US" dirty="0">
                <a:latin typeface="Times New Roman" panose="02020603050405020304" pitchFamily="18" charset="0"/>
                <a:ea typeface="Times New Roman" panose="02020603050405020304" pitchFamily="18" charset="0"/>
              </a:rPr>
              <a:t>Also,</a:t>
            </a:r>
          </a:p>
          <a:p>
            <a:pPr marL="390525" indent="-390525" algn="just">
              <a:buFont typeface="Wingdings" panose="05000000000000000000" pitchFamily="2" charset="2"/>
              <a:buChar char="q"/>
              <a:tabLst>
                <a:tab pos="2023110" algn="ctr"/>
              </a:tabLst>
            </a:pPr>
            <a:endParaRPr lang="en-US" dirty="0">
              <a:latin typeface="Times New Roman" panose="02020603050405020304" pitchFamily="18" charset="0"/>
              <a:ea typeface="Times New Roman" panose="02020603050405020304" pitchFamily="18" charset="0"/>
            </a:endParaRPr>
          </a:p>
          <a:p>
            <a:pPr marL="390525" indent="-390525" algn="just">
              <a:buFont typeface="Wingdings" panose="05000000000000000000" pitchFamily="2" charset="2"/>
              <a:buChar char="q"/>
              <a:tabLst>
                <a:tab pos="2023110" algn="ctr"/>
              </a:tabLst>
            </a:pPr>
            <a:endParaRPr lang="en-US" dirty="0">
              <a:latin typeface="Times New Roman" panose="02020603050405020304" pitchFamily="18" charset="0"/>
              <a:ea typeface="Times New Roman" panose="02020603050405020304" pitchFamily="18" charset="0"/>
            </a:endParaRPr>
          </a:p>
          <a:p>
            <a:pPr marL="390525" indent="-390525" algn="just">
              <a:buFont typeface="Wingdings" panose="05000000000000000000" pitchFamily="2" charset="2"/>
              <a:buChar char="q"/>
              <a:tabLst>
                <a:tab pos="2023110" algn="ctr"/>
              </a:tabLst>
            </a:pPr>
            <a:endParaRPr lang="en-US" dirty="0">
              <a:latin typeface="Times New Roman" panose="02020603050405020304" pitchFamily="18" charset="0"/>
              <a:ea typeface="Times New Roman" panose="02020603050405020304" pitchFamily="18" charset="0"/>
            </a:endParaRPr>
          </a:p>
          <a:p>
            <a:pPr marL="390525" indent="-390525" algn="just">
              <a:buFont typeface="Wingdings" panose="05000000000000000000" pitchFamily="2" charset="2"/>
              <a:buChar char="q"/>
              <a:tabLst>
                <a:tab pos="2023110" algn="ctr"/>
              </a:tabLst>
            </a:pPr>
            <a:r>
              <a:rPr lang="en-US" dirty="0">
                <a:latin typeface="Times New Roman" panose="02020603050405020304" pitchFamily="18" charset="0"/>
                <a:ea typeface="Times New Roman" panose="02020603050405020304" pitchFamily="18" charset="0"/>
              </a:rPr>
              <a:t>Then,</a:t>
            </a:r>
          </a:p>
        </p:txBody>
      </p:sp>
      <p:sp>
        <p:nvSpPr>
          <p:cNvPr id="13" name="Rectangle 8"/>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4" name="Object 13"/>
          <p:cNvGraphicFramePr>
            <a:graphicFrameLocks noChangeAspect="1"/>
          </p:cNvGraphicFramePr>
          <p:nvPr>
            <p:extLst/>
          </p:nvPr>
        </p:nvGraphicFramePr>
        <p:xfrm>
          <a:off x="6159745" y="1683264"/>
          <a:ext cx="2408171" cy="822519"/>
        </p:xfrm>
        <a:graphic>
          <a:graphicData uri="http://schemas.openxmlformats.org/presentationml/2006/ole">
            <mc:AlternateContent xmlns:mc="http://schemas.openxmlformats.org/markup-compatibility/2006">
              <mc:Choice xmlns:v="urn:schemas-microsoft-com:vml" Requires="v">
                <p:oleObj spid="_x0000_s36890" name="Equation" r:id="rId9" imgW="1295280" imgH="444240" progId="Equation.DSMT4">
                  <p:embed/>
                </p:oleObj>
              </mc:Choice>
              <mc:Fallback>
                <p:oleObj name="Equation" r:id="rId9" imgW="1295280" imgH="444240" progId="Equation.DSMT4">
                  <p:embed/>
                  <p:pic>
                    <p:nvPicPr>
                      <p:cNvPr id="0" name=""/>
                      <p:cNvPicPr>
                        <a:picLocks noChangeAspect="1" noChangeArrowheads="1"/>
                      </p:cNvPicPr>
                      <p:nvPr/>
                    </p:nvPicPr>
                    <p:blipFill>
                      <a:blip r:embed="rId10"/>
                      <a:srcRect/>
                      <a:stretch>
                        <a:fillRect/>
                      </a:stretch>
                    </p:blipFill>
                    <p:spPr bwMode="auto">
                      <a:xfrm>
                        <a:off x="6159745" y="1683264"/>
                        <a:ext cx="2408171" cy="822519"/>
                      </a:xfrm>
                      <a:prstGeom prst="rect">
                        <a:avLst/>
                      </a:prstGeom>
                      <a:noFill/>
                    </p:spPr>
                  </p:pic>
                </p:oleObj>
              </mc:Fallback>
            </mc:AlternateContent>
          </a:graphicData>
        </a:graphic>
      </p:graphicFrame>
      <p:graphicFrame>
        <p:nvGraphicFramePr>
          <p:cNvPr id="15" name="Object 14"/>
          <p:cNvGraphicFramePr>
            <a:graphicFrameLocks noChangeAspect="1"/>
          </p:cNvGraphicFramePr>
          <p:nvPr>
            <p:extLst/>
          </p:nvPr>
        </p:nvGraphicFramePr>
        <p:xfrm>
          <a:off x="6024056" y="2694843"/>
          <a:ext cx="2358540" cy="820586"/>
        </p:xfrm>
        <a:graphic>
          <a:graphicData uri="http://schemas.openxmlformats.org/presentationml/2006/ole">
            <mc:AlternateContent xmlns:mc="http://schemas.openxmlformats.org/markup-compatibility/2006">
              <mc:Choice xmlns:v="urn:schemas-microsoft-com:vml" Requires="v">
                <p:oleObj spid="_x0000_s36891" name="Equation" r:id="rId11" imgW="1307880" imgH="457200" progId="Equation.DSMT4">
                  <p:embed/>
                </p:oleObj>
              </mc:Choice>
              <mc:Fallback>
                <p:oleObj name="Equation" r:id="rId11" imgW="1307880" imgH="457200" progId="Equation.DSMT4">
                  <p:embed/>
                  <p:pic>
                    <p:nvPicPr>
                      <p:cNvPr id="0" name=""/>
                      <p:cNvPicPr>
                        <a:picLocks noChangeAspect="1" noChangeArrowheads="1"/>
                      </p:cNvPicPr>
                      <p:nvPr/>
                    </p:nvPicPr>
                    <p:blipFill>
                      <a:blip r:embed="rId12"/>
                      <a:srcRect/>
                      <a:stretch>
                        <a:fillRect/>
                      </a:stretch>
                    </p:blipFill>
                    <p:spPr bwMode="auto">
                      <a:xfrm>
                        <a:off x="6024056" y="2694843"/>
                        <a:ext cx="2358540" cy="820586"/>
                      </a:xfrm>
                      <a:prstGeom prst="rect">
                        <a:avLst/>
                      </a:prstGeom>
                      <a:noFill/>
                    </p:spPr>
                  </p:pic>
                </p:oleObj>
              </mc:Fallback>
            </mc:AlternateContent>
          </a:graphicData>
        </a:graphic>
      </p:graphicFrame>
      <p:graphicFrame>
        <p:nvGraphicFramePr>
          <p:cNvPr id="16" name="Object 15"/>
          <p:cNvGraphicFramePr>
            <a:graphicFrameLocks noChangeAspect="1"/>
          </p:cNvGraphicFramePr>
          <p:nvPr>
            <p:extLst/>
          </p:nvPr>
        </p:nvGraphicFramePr>
        <p:xfrm>
          <a:off x="5867400" y="3716572"/>
          <a:ext cx="2700516" cy="931628"/>
        </p:xfrm>
        <a:graphic>
          <a:graphicData uri="http://schemas.openxmlformats.org/presentationml/2006/ole">
            <mc:AlternateContent xmlns:mc="http://schemas.openxmlformats.org/markup-compatibility/2006">
              <mc:Choice xmlns:v="urn:schemas-microsoft-com:vml" Requires="v">
                <p:oleObj spid="_x0000_s36892" name="Equation" r:id="rId13" imgW="1282680" imgH="444240" progId="Equation.DSMT4">
                  <p:embed/>
                </p:oleObj>
              </mc:Choice>
              <mc:Fallback>
                <p:oleObj name="Equation" r:id="rId13" imgW="1282680" imgH="444240" progId="Equation.DSMT4">
                  <p:embed/>
                  <p:pic>
                    <p:nvPicPr>
                      <p:cNvPr id="0" name=""/>
                      <p:cNvPicPr>
                        <a:picLocks noChangeAspect="1" noChangeArrowheads="1"/>
                      </p:cNvPicPr>
                      <p:nvPr/>
                    </p:nvPicPr>
                    <p:blipFill>
                      <a:blip r:embed="rId14"/>
                      <a:srcRect/>
                      <a:stretch>
                        <a:fillRect/>
                      </a:stretch>
                    </p:blipFill>
                    <p:spPr bwMode="auto">
                      <a:xfrm>
                        <a:off x="5867400" y="3716572"/>
                        <a:ext cx="2700516" cy="931628"/>
                      </a:xfrm>
                      <a:prstGeom prst="rect">
                        <a:avLst/>
                      </a:prstGeom>
                      <a:noFill/>
                    </p:spPr>
                  </p:pic>
                </p:oleObj>
              </mc:Fallback>
            </mc:AlternateContent>
          </a:graphicData>
        </a:graphic>
      </p:graphicFrame>
      <p:sp>
        <p:nvSpPr>
          <p:cNvPr id="17" name="Rectangle 16"/>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8" name="Object 17"/>
          <p:cNvGraphicFramePr>
            <a:graphicFrameLocks noChangeAspect="1"/>
          </p:cNvGraphicFramePr>
          <p:nvPr>
            <p:extLst/>
          </p:nvPr>
        </p:nvGraphicFramePr>
        <p:xfrm>
          <a:off x="6037320" y="5015733"/>
          <a:ext cx="2345276" cy="781759"/>
        </p:xfrm>
        <a:graphic>
          <a:graphicData uri="http://schemas.openxmlformats.org/presentationml/2006/ole">
            <mc:AlternateContent xmlns:mc="http://schemas.openxmlformats.org/markup-compatibility/2006">
              <mc:Choice xmlns:v="urn:schemas-microsoft-com:vml" Requires="v">
                <p:oleObj spid="_x0000_s36893" name="Equation" r:id="rId15" imgW="774364" imgH="253890" progId="Equation.DSMT4">
                  <p:embed/>
                </p:oleObj>
              </mc:Choice>
              <mc:Fallback>
                <p:oleObj name="Equation" r:id="rId15" imgW="774364" imgH="253890" progId="Equation.DSMT4">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37320" y="5015733"/>
                        <a:ext cx="2345276" cy="781759"/>
                      </a:xfrm>
                      <a:prstGeom prst="rect">
                        <a:avLst/>
                      </a:prstGeom>
                      <a:noFill/>
                    </p:spPr>
                  </p:pic>
                </p:oleObj>
              </mc:Fallback>
            </mc:AlternateContent>
          </a:graphicData>
        </a:graphic>
      </p:graphicFrame>
      <p:sp>
        <p:nvSpPr>
          <p:cNvPr id="19" name="Title 1"/>
          <p:cNvSpPr>
            <a:spLocks noGrp="1"/>
          </p:cNvSpPr>
          <p:nvPr>
            <p:ph type="title"/>
          </p:nvPr>
        </p:nvSpPr>
        <p:spPr>
          <a:xfrm>
            <a:off x="138565" y="-3582"/>
            <a:ext cx="8404128" cy="676809"/>
          </a:xfrm>
        </p:spPr>
        <p:txBody>
          <a:bodyPr>
            <a:normAutofit/>
          </a:bodyPr>
          <a:lstStyle/>
          <a:p>
            <a:r>
              <a:rPr lang="en-US" b="1" dirty="0" smtClean="0">
                <a:solidFill>
                  <a:schemeClr val="accent6"/>
                </a:solidFill>
              </a:rPr>
              <a:t>Second </a:t>
            </a:r>
            <a:r>
              <a:rPr lang="en-US" b="1" dirty="0">
                <a:solidFill>
                  <a:schemeClr val="accent6"/>
                </a:solidFill>
              </a:rPr>
              <a:t>Moment of Area and Radius of </a:t>
            </a:r>
            <a:r>
              <a:rPr lang="en-US" b="1" dirty="0" smtClean="0">
                <a:solidFill>
                  <a:schemeClr val="accent6"/>
                </a:solidFill>
              </a:rPr>
              <a:t>Gyration</a:t>
            </a:r>
            <a:endParaRPr lang="en-US" dirty="0">
              <a:solidFill>
                <a:schemeClr val="accent6"/>
              </a:solidFill>
            </a:endParaRPr>
          </a:p>
        </p:txBody>
      </p:sp>
    </p:spTree>
    <p:extLst>
      <p:ext uri="{BB962C8B-B14F-4D97-AF65-F5344CB8AC3E}">
        <p14:creationId xmlns:p14="http://schemas.microsoft.com/office/powerpoint/2010/main" val="102894444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9802" y="748801"/>
            <a:ext cx="4212198" cy="2677656"/>
          </a:xfrm>
          <a:prstGeom prst="rect">
            <a:avLst/>
          </a:prstGeom>
        </p:spPr>
        <p:txBody>
          <a:bodyPr wrap="square">
            <a:spAutoFit/>
          </a:bodyPr>
          <a:lstStyle/>
          <a:p>
            <a:pPr algn="just">
              <a:tabLst>
                <a:tab pos="2023110" algn="ctr"/>
              </a:tabLst>
            </a:pPr>
            <a:r>
              <a:rPr lang="en-US" sz="2400" dirty="0" smtClean="0">
                <a:latin typeface="Times New Roman" panose="02020603050405020304" pitchFamily="18" charset="0"/>
                <a:ea typeface="Times New Roman" panose="02020603050405020304" pitchFamily="18" charset="0"/>
              </a:rPr>
              <a:t>For </a:t>
            </a:r>
            <a:r>
              <a:rPr lang="en-US" sz="2400" dirty="0">
                <a:latin typeface="Times New Roman" panose="02020603050405020304" pitchFamily="18" charset="0"/>
                <a:ea typeface="Times New Roman" panose="02020603050405020304" pitchFamily="18" charset="0"/>
              </a:rPr>
              <a:t>the rectangular area of Figure </a:t>
            </a:r>
            <a:r>
              <a:rPr lang="en-US" sz="2400" dirty="0" smtClean="0">
                <a:latin typeface="Times New Roman" panose="02020603050405020304" pitchFamily="18" charset="0"/>
                <a:ea typeface="Times New Roman" panose="02020603050405020304" pitchFamily="18" charset="0"/>
              </a:rPr>
              <a:t>E1-5</a:t>
            </a:r>
            <a:r>
              <a:rPr lang="en-US" sz="2400" dirty="0">
                <a:latin typeface="Times New Roman" panose="02020603050405020304" pitchFamily="18" charset="0"/>
                <a:ea typeface="Times New Roman" panose="02020603050405020304" pitchFamily="18" charset="0"/>
              </a:rPr>
              <a:t>, determine</a:t>
            </a:r>
          </a:p>
          <a:p>
            <a:pPr marL="257175" indent="-257175" algn="just">
              <a:buFont typeface="+mj-lt"/>
              <a:buAutoNum type="alphaLcPeriod"/>
              <a:tabLst>
                <a:tab pos="171450" algn="l"/>
                <a:tab pos="2023110" algn="ctr"/>
              </a:tabLst>
            </a:pPr>
            <a:r>
              <a:rPr lang="en-US" sz="2400" dirty="0">
                <a:latin typeface="Times New Roman" panose="02020603050405020304" pitchFamily="18" charset="0"/>
                <a:ea typeface="Times New Roman" panose="02020603050405020304" pitchFamily="18" charset="0"/>
              </a:rPr>
              <a:t>the moment of inertia I</a:t>
            </a:r>
            <a:r>
              <a:rPr lang="en-US" sz="2400" baseline="-25000" dirty="0">
                <a:latin typeface="Times New Roman" panose="02020603050405020304" pitchFamily="18" charset="0"/>
                <a:ea typeface="Times New Roman" panose="02020603050405020304" pitchFamily="18" charset="0"/>
              </a:rPr>
              <a:t>x</a:t>
            </a:r>
            <a:r>
              <a:rPr lang="en-US" sz="2400" dirty="0">
                <a:latin typeface="Times New Roman" panose="02020603050405020304" pitchFamily="18" charset="0"/>
                <a:ea typeface="Times New Roman" panose="02020603050405020304" pitchFamily="18" charset="0"/>
              </a:rPr>
              <a:t> of the area with respect to the centroidal x axis,</a:t>
            </a:r>
          </a:p>
          <a:p>
            <a:pPr marL="257175" indent="-257175" algn="just">
              <a:buFont typeface="+mj-lt"/>
              <a:buAutoNum type="alphaLcPeriod"/>
              <a:tabLst>
                <a:tab pos="171450" algn="l"/>
                <a:tab pos="2023110" algn="ctr"/>
              </a:tabLst>
            </a:pPr>
            <a:r>
              <a:rPr lang="en-US" sz="2400" dirty="0">
                <a:latin typeface="Times New Roman" panose="02020603050405020304" pitchFamily="18" charset="0"/>
                <a:ea typeface="Times New Roman" panose="02020603050405020304" pitchFamily="18" charset="0"/>
              </a:rPr>
              <a:t>the corresponding radius of gyration r</a:t>
            </a:r>
            <a:r>
              <a:rPr lang="en-US" sz="2400" baseline="-25000" dirty="0">
                <a:latin typeface="Times New Roman" panose="02020603050405020304" pitchFamily="18" charset="0"/>
                <a:ea typeface="Times New Roman" panose="02020603050405020304" pitchFamily="18" charset="0"/>
              </a:rPr>
              <a:t>x</a:t>
            </a:r>
            <a:r>
              <a:rPr lang="en-US" sz="2400" dirty="0">
                <a:latin typeface="Times New Roman" panose="02020603050405020304" pitchFamily="18" charset="0"/>
                <a:ea typeface="Times New Roman" panose="02020603050405020304" pitchFamily="18" charset="0"/>
              </a:rPr>
              <a:t>.</a:t>
            </a:r>
          </a:p>
        </p:txBody>
      </p:sp>
      <p:pic>
        <p:nvPicPr>
          <p:cNvPr id="1229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l="9914" b="1433"/>
          <a:stretch>
            <a:fillRect/>
          </a:stretch>
        </p:blipFill>
        <p:spPr bwMode="auto">
          <a:xfrm>
            <a:off x="796763" y="3426457"/>
            <a:ext cx="3053400" cy="3260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5002176" y="706587"/>
            <a:ext cx="4141824" cy="4893647"/>
          </a:xfrm>
          <a:prstGeom prst="rect">
            <a:avLst/>
          </a:prstGeom>
        </p:spPr>
        <p:txBody>
          <a:bodyPr wrap="square">
            <a:spAutoFit/>
          </a:bodyPr>
          <a:lstStyle/>
          <a:p>
            <a:pPr algn="just">
              <a:tabLst>
                <a:tab pos="2023110" algn="ctr"/>
              </a:tabLst>
            </a:pPr>
            <a:r>
              <a:rPr lang="en-US" sz="2400" b="1" i="1" dirty="0">
                <a:ea typeface="Times New Roman" panose="02020603050405020304" pitchFamily="18" charset="0"/>
              </a:rPr>
              <a:t>Solution</a:t>
            </a:r>
            <a:endParaRPr lang="en-US" sz="2400" dirty="0">
              <a:ea typeface="Times New Roman" panose="02020603050405020304" pitchFamily="18" charset="0"/>
            </a:endParaRPr>
          </a:p>
          <a:p>
            <a:pPr algn="just">
              <a:tabLst>
                <a:tab pos="2023110" algn="ctr"/>
              </a:tabLst>
            </a:pPr>
            <a:r>
              <a:rPr lang="en-US" sz="2400" b="1" i="1" dirty="0">
                <a:ea typeface="Times New Roman" panose="02020603050405020304" pitchFamily="18" charset="0"/>
              </a:rPr>
              <a:t>a. Moment of inertia I</a:t>
            </a:r>
            <a:r>
              <a:rPr lang="en-US" sz="2400" b="1" i="1" baseline="-25000" dirty="0">
                <a:ea typeface="Times New Roman" panose="02020603050405020304" pitchFamily="18" charset="0"/>
              </a:rPr>
              <a:t>x</a:t>
            </a:r>
            <a:endParaRPr lang="en-US" sz="2400" dirty="0">
              <a:ea typeface="Times New Roman" panose="02020603050405020304" pitchFamily="18" charset="0"/>
            </a:endParaRPr>
          </a:p>
          <a:p>
            <a:pPr algn="just">
              <a:tabLst>
                <a:tab pos="2023110" algn="ctr"/>
              </a:tabLst>
            </a:pPr>
            <a:r>
              <a:rPr lang="en-US" sz="2400" dirty="0">
                <a:ea typeface="Times New Roman" panose="02020603050405020304" pitchFamily="18" charset="0"/>
              </a:rPr>
              <a:t>We select as an element of area a horizontal strip of length b and thickness dy as shown below.</a:t>
            </a:r>
          </a:p>
          <a:p>
            <a:pPr algn="just">
              <a:tabLst>
                <a:tab pos="2023110" algn="ctr"/>
              </a:tabLst>
            </a:pPr>
            <a:endParaRPr lang="en-US" sz="2400" dirty="0" smtClean="0">
              <a:ea typeface="Times New Roman" panose="02020603050405020304" pitchFamily="18" charset="0"/>
            </a:endParaRPr>
          </a:p>
          <a:p>
            <a:pPr algn="just">
              <a:tabLst>
                <a:tab pos="2023110" algn="ctr"/>
              </a:tabLst>
            </a:pPr>
            <a:endParaRPr lang="en-US" sz="2400" dirty="0">
              <a:ea typeface="Times New Roman" panose="02020603050405020304" pitchFamily="18" charset="0"/>
            </a:endParaRPr>
          </a:p>
          <a:p>
            <a:pPr algn="just">
              <a:tabLst>
                <a:tab pos="2023110" algn="ctr"/>
              </a:tabLst>
            </a:pPr>
            <a:endParaRPr lang="en-US" sz="2400" dirty="0" smtClean="0">
              <a:ea typeface="Times New Roman" panose="02020603050405020304" pitchFamily="18" charset="0"/>
            </a:endParaRPr>
          </a:p>
          <a:p>
            <a:pPr algn="just">
              <a:tabLst>
                <a:tab pos="2023110" algn="ctr"/>
              </a:tabLst>
            </a:pPr>
            <a:endParaRPr lang="en-US" sz="2400" dirty="0">
              <a:ea typeface="Times New Roman" panose="02020603050405020304" pitchFamily="18" charset="0"/>
            </a:endParaRPr>
          </a:p>
          <a:p>
            <a:pPr algn="just">
              <a:tabLst>
                <a:tab pos="2023110" algn="ctr"/>
              </a:tabLst>
            </a:pPr>
            <a:endParaRPr lang="en-US" sz="2400" dirty="0" smtClean="0">
              <a:ea typeface="Times New Roman" panose="02020603050405020304" pitchFamily="18" charset="0"/>
            </a:endParaRPr>
          </a:p>
          <a:p>
            <a:pPr algn="just">
              <a:tabLst>
                <a:tab pos="2023110" algn="ctr"/>
              </a:tabLst>
            </a:pPr>
            <a:endParaRPr lang="en-US" sz="2400" dirty="0">
              <a:ea typeface="Times New Roman" panose="02020603050405020304" pitchFamily="18" charset="0"/>
            </a:endParaRPr>
          </a:p>
          <a:p>
            <a:pPr algn="just">
              <a:tabLst>
                <a:tab pos="2023110" algn="ctr"/>
              </a:tabLst>
            </a:pPr>
            <a:r>
              <a:rPr lang="en-US" sz="2400" dirty="0" smtClean="0">
                <a:ea typeface="Times New Roman" panose="02020603050405020304" pitchFamily="18" charset="0"/>
              </a:rPr>
              <a:t>Then,</a:t>
            </a:r>
            <a:endParaRPr lang="en-US" sz="2400" dirty="0">
              <a:ea typeface="Times New Roman" panose="02020603050405020304" pitchFamily="18" charset="0"/>
            </a:endParaRPr>
          </a:p>
        </p:txBody>
      </p:sp>
      <p:pic>
        <p:nvPicPr>
          <p:cNvPr id="12291"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74200" y="2611057"/>
            <a:ext cx="3149921" cy="3225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5"/>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8" name="Object 7"/>
          <p:cNvGraphicFramePr>
            <a:graphicFrameLocks noChangeAspect="1"/>
          </p:cNvGraphicFramePr>
          <p:nvPr>
            <p:extLst/>
          </p:nvPr>
        </p:nvGraphicFramePr>
        <p:xfrm>
          <a:off x="4203160" y="5762435"/>
          <a:ext cx="4920962" cy="668609"/>
        </p:xfrm>
        <a:graphic>
          <a:graphicData uri="http://schemas.openxmlformats.org/presentationml/2006/ole">
            <mc:AlternateContent xmlns:mc="http://schemas.openxmlformats.org/markup-compatibility/2006">
              <mc:Choice xmlns:v="urn:schemas-microsoft-com:vml" Requires="v">
                <p:oleObj spid="_x0000_s37894" name="Equation" r:id="rId6" imgW="1752600" imgH="241300" progId="Equation.DSMT4">
                  <p:embed/>
                </p:oleObj>
              </mc:Choice>
              <mc:Fallback>
                <p:oleObj name="Equation" r:id="rId6" imgW="1752600" imgH="2413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03160" y="5762435"/>
                        <a:ext cx="4920962" cy="668609"/>
                      </a:xfrm>
                      <a:prstGeom prst="rect">
                        <a:avLst/>
                      </a:prstGeom>
                      <a:noFill/>
                    </p:spPr>
                  </p:pic>
                </p:oleObj>
              </mc:Fallback>
            </mc:AlternateContent>
          </a:graphicData>
        </a:graphic>
      </p:graphicFrame>
      <p:sp>
        <p:nvSpPr>
          <p:cNvPr id="9" name="Rectangle 7"/>
          <p:cNvSpPr>
            <a:spLocks noChangeArrowheads="1"/>
          </p:cNvSpPr>
          <p:nvPr/>
        </p:nvSpPr>
        <p:spPr bwMode="auto">
          <a:xfrm>
            <a:off x="3207380" y="439921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2" name="Rectangle 11"/>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2" name="TextBox 1"/>
          <p:cNvSpPr txBox="1"/>
          <p:nvPr/>
        </p:nvSpPr>
        <p:spPr>
          <a:xfrm>
            <a:off x="1066800" y="6629400"/>
            <a:ext cx="6605990" cy="461665"/>
          </a:xfrm>
          <a:prstGeom prst="rect">
            <a:avLst/>
          </a:prstGeom>
          <a:noFill/>
        </p:spPr>
        <p:txBody>
          <a:bodyPr wrap="square" rtlCol="0">
            <a:spAutoFit/>
          </a:bodyPr>
          <a:lstStyle/>
          <a:p>
            <a:endParaRPr lang="en-US" sz="2400" dirty="0" smtClean="0"/>
          </a:p>
        </p:txBody>
      </p:sp>
      <p:sp>
        <p:nvSpPr>
          <p:cNvPr id="3" name="Rectangle 2"/>
          <p:cNvSpPr/>
          <p:nvPr/>
        </p:nvSpPr>
        <p:spPr>
          <a:xfrm>
            <a:off x="3414245" y="211117"/>
            <a:ext cx="1911101" cy="461665"/>
          </a:xfrm>
          <a:prstGeom prst="rect">
            <a:avLst/>
          </a:prstGeom>
        </p:spPr>
        <p:txBody>
          <a:bodyPr wrap="none">
            <a:spAutoFit/>
          </a:bodyPr>
          <a:lstStyle/>
          <a:p>
            <a:pPr algn="just">
              <a:tabLst>
                <a:tab pos="2023110" algn="ctr"/>
              </a:tabLst>
            </a:pPr>
            <a:r>
              <a:rPr lang="en-US" sz="2400" b="1" dirty="0">
                <a:solidFill>
                  <a:schemeClr val="accent6"/>
                </a:solidFill>
                <a:latin typeface="Times New Roman" panose="02020603050405020304" pitchFamily="18" charset="0"/>
                <a:ea typeface="Times New Roman" panose="02020603050405020304" pitchFamily="18" charset="0"/>
              </a:rPr>
              <a:t>Example </a:t>
            </a:r>
            <a:r>
              <a:rPr lang="en-US" sz="2400" b="1" dirty="0" smtClean="0">
                <a:solidFill>
                  <a:schemeClr val="accent6"/>
                </a:solidFill>
                <a:latin typeface="Times New Roman" panose="02020603050405020304" pitchFamily="18" charset="0"/>
                <a:ea typeface="Times New Roman" panose="02020603050405020304" pitchFamily="18" charset="0"/>
              </a:rPr>
              <a:t>1-5 </a:t>
            </a:r>
            <a:endParaRPr lang="en-US" sz="2400" b="1" dirty="0">
              <a:solidFill>
                <a:schemeClr val="accent6"/>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976226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p>
            <a:r>
              <a:rPr lang="en-US" dirty="0">
                <a:solidFill>
                  <a:schemeClr val="accent6"/>
                </a:solidFill>
                <a:latin typeface="Times New Roman" panose="02020603050405020304" pitchFamily="18" charset="0"/>
                <a:ea typeface="Times New Roman" panose="02020603050405020304" pitchFamily="18" charset="0"/>
              </a:rPr>
              <a:t>Example </a:t>
            </a:r>
            <a:r>
              <a:rPr lang="en-US" dirty="0" smtClean="0">
                <a:solidFill>
                  <a:schemeClr val="accent6"/>
                </a:solidFill>
                <a:latin typeface="Times New Roman" panose="02020603050405020304" pitchFamily="18" charset="0"/>
                <a:ea typeface="Times New Roman" panose="02020603050405020304" pitchFamily="18" charset="0"/>
              </a:rPr>
              <a:t>1-5 </a:t>
            </a:r>
            <a:r>
              <a:rPr lang="en-US" dirty="0" smtClean="0">
                <a:solidFill>
                  <a:schemeClr val="accent6"/>
                </a:solidFill>
                <a:latin typeface="Times New Roman" panose="02020603050405020304" pitchFamily="18" charset="0"/>
                <a:ea typeface="Times New Roman" panose="02020603050405020304" pitchFamily="18" charset="0"/>
              </a:rPr>
              <a:t>Continues</a:t>
            </a:r>
            <a:endParaRPr lang="en-US" dirty="0"/>
          </a:p>
        </p:txBody>
      </p:sp>
      <p:sp>
        <p:nvSpPr>
          <p:cNvPr id="3" name="Rectangle 2"/>
          <p:cNvSpPr/>
          <p:nvPr/>
        </p:nvSpPr>
        <p:spPr>
          <a:xfrm>
            <a:off x="1482905" y="3509928"/>
            <a:ext cx="6322103" cy="830997"/>
          </a:xfrm>
          <a:prstGeom prst="rect">
            <a:avLst/>
          </a:prstGeom>
        </p:spPr>
        <p:txBody>
          <a:bodyPr wrap="square">
            <a:spAutoFit/>
          </a:bodyPr>
          <a:lstStyle/>
          <a:p>
            <a:pPr algn="just">
              <a:tabLst>
                <a:tab pos="2023110" algn="ctr"/>
              </a:tabLst>
            </a:pPr>
            <a:r>
              <a:rPr lang="en-US" sz="2400" dirty="0">
                <a:latin typeface="Times New Roman" panose="02020603050405020304" pitchFamily="18" charset="0"/>
                <a:ea typeface="Times New Roman" panose="02020603050405020304" pitchFamily="18" charset="0"/>
              </a:rPr>
              <a:t>b. </a:t>
            </a:r>
            <a:r>
              <a:rPr lang="en-US" sz="2400" b="1" i="1" dirty="0">
                <a:latin typeface="Times New Roman" panose="02020603050405020304" pitchFamily="18" charset="0"/>
                <a:ea typeface="Times New Roman" panose="02020603050405020304" pitchFamily="18" charset="0"/>
              </a:rPr>
              <a:t>Radius of Gyration r</a:t>
            </a:r>
            <a:r>
              <a:rPr lang="en-US" sz="2400" b="1" i="1" baseline="-25000" dirty="0">
                <a:latin typeface="Times New Roman" panose="02020603050405020304" pitchFamily="18" charset="0"/>
                <a:ea typeface="Times New Roman" panose="02020603050405020304" pitchFamily="18" charset="0"/>
              </a:rPr>
              <a:t>x</a:t>
            </a:r>
            <a:r>
              <a:rPr lang="en-US" sz="2400" dirty="0">
                <a:latin typeface="Times New Roman" panose="02020603050405020304" pitchFamily="18" charset="0"/>
                <a:ea typeface="Times New Roman" panose="02020603050405020304" pitchFamily="18" charset="0"/>
              </a:rPr>
              <a:t>.</a:t>
            </a:r>
          </a:p>
          <a:p>
            <a:pPr algn="just">
              <a:tabLst>
                <a:tab pos="2023110" algn="ctr"/>
              </a:tabLst>
            </a:pPr>
            <a:r>
              <a:rPr lang="en-US" sz="2400" dirty="0">
                <a:latin typeface="Times New Roman" panose="02020603050405020304" pitchFamily="18" charset="0"/>
                <a:ea typeface="Times New Roman" panose="02020603050405020304" pitchFamily="18" charset="0"/>
              </a:rPr>
              <a:t>From equation </a:t>
            </a:r>
            <a:r>
              <a:rPr lang="en-US" sz="2400" dirty="0" smtClean="0">
                <a:latin typeface="Times New Roman" panose="02020603050405020304" pitchFamily="18" charset="0"/>
                <a:ea typeface="Times New Roman" panose="02020603050405020304" pitchFamily="18" charset="0"/>
              </a:rPr>
              <a:t>2-17, </a:t>
            </a:r>
            <a:r>
              <a:rPr lang="en-US" sz="2400" dirty="0">
                <a:latin typeface="Times New Roman" panose="02020603050405020304" pitchFamily="18" charset="0"/>
                <a:ea typeface="Times New Roman" panose="02020603050405020304" pitchFamily="18" charset="0"/>
              </a:rPr>
              <a:t>we have </a:t>
            </a:r>
          </a:p>
        </p:txBody>
      </p:sp>
      <p:graphicFrame>
        <p:nvGraphicFramePr>
          <p:cNvPr id="4" name="Object 3"/>
          <p:cNvGraphicFramePr>
            <a:graphicFrameLocks noChangeAspect="1"/>
          </p:cNvGraphicFramePr>
          <p:nvPr>
            <p:extLst/>
          </p:nvPr>
        </p:nvGraphicFramePr>
        <p:xfrm>
          <a:off x="1752599" y="4648200"/>
          <a:ext cx="5610693" cy="1519563"/>
        </p:xfrm>
        <a:graphic>
          <a:graphicData uri="http://schemas.openxmlformats.org/presentationml/2006/ole">
            <mc:AlternateContent xmlns:mc="http://schemas.openxmlformats.org/markup-compatibility/2006">
              <mc:Choice xmlns:v="urn:schemas-microsoft-com:vml" Requires="v">
                <p:oleObj spid="_x0000_s38922" name="Equation" r:id="rId3" imgW="1828800" imgH="495300" progId="Equation.DSMT4">
                  <p:embed/>
                </p:oleObj>
              </mc:Choice>
              <mc:Fallback>
                <p:oleObj name="Equation" r:id="rId3" imgW="1828800" imgH="4953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599" y="4648200"/>
                        <a:ext cx="5610693" cy="1519563"/>
                      </a:xfrm>
                      <a:prstGeom prst="rect">
                        <a:avLst/>
                      </a:prstGeom>
                      <a:noFill/>
                    </p:spPr>
                  </p:pic>
                </p:oleObj>
              </mc:Fallback>
            </mc:AlternateContent>
          </a:graphicData>
        </a:graphic>
      </p:graphicFrame>
      <p:graphicFrame>
        <p:nvGraphicFramePr>
          <p:cNvPr id="5" name="Object 4"/>
          <p:cNvGraphicFramePr>
            <a:graphicFrameLocks noChangeAspect="1"/>
          </p:cNvGraphicFramePr>
          <p:nvPr>
            <p:extLst/>
          </p:nvPr>
        </p:nvGraphicFramePr>
        <p:xfrm>
          <a:off x="3015391" y="878597"/>
          <a:ext cx="4789618" cy="2424080"/>
        </p:xfrm>
        <a:graphic>
          <a:graphicData uri="http://schemas.openxmlformats.org/presentationml/2006/ole">
            <mc:AlternateContent xmlns:mc="http://schemas.openxmlformats.org/markup-compatibility/2006">
              <mc:Choice xmlns:v="urn:schemas-microsoft-com:vml" Requires="v">
                <p:oleObj spid="_x0000_s38923" name="Equation" r:id="rId5" imgW="1765080" imgH="888840" progId="Equation.DSMT4">
                  <p:embed/>
                </p:oleObj>
              </mc:Choice>
              <mc:Fallback>
                <p:oleObj name="Equation" r:id="rId5" imgW="1765080" imgH="888840" progId="Equation.DSMT4">
                  <p:embed/>
                  <p:pic>
                    <p:nvPicPr>
                      <p:cNvPr id="0" name=""/>
                      <p:cNvPicPr>
                        <a:picLocks noChangeAspect="1" noChangeArrowheads="1"/>
                      </p:cNvPicPr>
                      <p:nvPr/>
                    </p:nvPicPr>
                    <p:blipFill>
                      <a:blip r:embed="rId6"/>
                      <a:srcRect/>
                      <a:stretch>
                        <a:fillRect/>
                      </a:stretch>
                    </p:blipFill>
                    <p:spPr bwMode="auto">
                      <a:xfrm>
                        <a:off x="3015391" y="878597"/>
                        <a:ext cx="4789618" cy="2424080"/>
                      </a:xfrm>
                      <a:prstGeom prst="rect">
                        <a:avLst/>
                      </a:prstGeom>
                      <a:noFill/>
                    </p:spPr>
                  </p:pic>
                </p:oleObj>
              </mc:Fallback>
            </mc:AlternateContent>
          </a:graphicData>
        </a:graphic>
      </p:graphicFrame>
      <p:sp>
        <p:nvSpPr>
          <p:cNvPr id="6" name="Rectangle 5"/>
          <p:cNvSpPr/>
          <p:nvPr/>
        </p:nvSpPr>
        <p:spPr>
          <a:xfrm>
            <a:off x="533400" y="878597"/>
            <a:ext cx="1609736" cy="461665"/>
          </a:xfrm>
          <a:prstGeom prst="rect">
            <a:avLst/>
          </a:prstGeom>
        </p:spPr>
        <p:txBody>
          <a:bodyPr wrap="none">
            <a:spAutoFit/>
          </a:bodyPr>
          <a:lstStyle/>
          <a:p>
            <a:pPr algn="just">
              <a:tabLst>
                <a:tab pos="2023110" algn="ctr"/>
              </a:tabLst>
            </a:pPr>
            <a:r>
              <a:rPr lang="en-US" sz="2400" dirty="0"/>
              <a:t> Integrating</a:t>
            </a:r>
            <a:endParaRPr lang="en-US" sz="2400" dirty="0">
              <a:ea typeface="Times New Roman" panose="02020603050405020304" pitchFamily="18" charset="0"/>
            </a:endParaRPr>
          </a:p>
        </p:txBody>
      </p:sp>
    </p:spTree>
    <p:extLst>
      <p:ext uri="{BB962C8B-B14F-4D97-AF65-F5344CB8AC3E}">
        <p14:creationId xmlns:p14="http://schemas.microsoft.com/office/powerpoint/2010/main" val="37503654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50428" y="718751"/>
            <a:ext cx="2926172" cy="2677656"/>
          </a:xfrm>
          <a:prstGeom prst="rect">
            <a:avLst/>
          </a:prstGeom>
        </p:spPr>
        <p:txBody>
          <a:bodyPr wrap="square">
            <a:spAutoFit/>
          </a:bodyPr>
          <a:lstStyle/>
          <a:p>
            <a:pPr algn="just">
              <a:tabLst>
                <a:tab pos="2023110" algn="ctr"/>
              </a:tabLst>
            </a:pPr>
            <a:r>
              <a:rPr lang="en-US" sz="2400" dirty="0" smtClean="0">
                <a:latin typeface="Times New Roman" panose="02020603050405020304" pitchFamily="18" charset="0"/>
                <a:ea typeface="Times New Roman" panose="02020603050405020304" pitchFamily="18" charset="0"/>
              </a:rPr>
              <a:t>For </a:t>
            </a:r>
            <a:r>
              <a:rPr lang="en-US" sz="2400" dirty="0">
                <a:latin typeface="Times New Roman" panose="02020603050405020304" pitchFamily="18" charset="0"/>
                <a:ea typeface="Times New Roman" panose="02020603050405020304" pitchFamily="18" charset="0"/>
              </a:rPr>
              <a:t>the circular area of Figure </a:t>
            </a:r>
            <a:r>
              <a:rPr lang="en-US" sz="2400" dirty="0" smtClean="0">
                <a:latin typeface="Times New Roman" panose="02020603050405020304" pitchFamily="18" charset="0"/>
                <a:ea typeface="Times New Roman" panose="02020603050405020304" pitchFamily="18" charset="0"/>
              </a:rPr>
              <a:t>E2-6</a:t>
            </a:r>
            <a:r>
              <a:rPr lang="en-US" sz="2400" dirty="0">
                <a:latin typeface="Times New Roman" panose="02020603050405020304" pitchFamily="18" charset="0"/>
                <a:ea typeface="Times New Roman" panose="02020603050405020304" pitchFamily="18" charset="0"/>
              </a:rPr>
              <a:t>, determine (a) the polar moment of inertia Jo; (b) the rectangular moment of inertia I</a:t>
            </a:r>
            <a:r>
              <a:rPr lang="en-US" sz="2400" baseline="-25000" dirty="0">
                <a:latin typeface="Times New Roman" panose="02020603050405020304" pitchFamily="18" charset="0"/>
                <a:ea typeface="Times New Roman" panose="02020603050405020304" pitchFamily="18" charset="0"/>
              </a:rPr>
              <a:t>x</a:t>
            </a:r>
            <a:r>
              <a:rPr lang="en-US" sz="2400" dirty="0">
                <a:latin typeface="Times New Roman" panose="02020603050405020304" pitchFamily="18" charset="0"/>
                <a:ea typeface="Times New Roman" panose="02020603050405020304" pitchFamily="18" charset="0"/>
              </a:rPr>
              <a:t> and I</a:t>
            </a:r>
            <a:r>
              <a:rPr lang="en-US" sz="2400" baseline="-25000" dirty="0">
                <a:latin typeface="Times New Roman" panose="02020603050405020304" pitchFamily="18" charset="0"/>
                <a:ea typeface="Times New Roman" panose="02020603050405020304" pitchFamily="18" charset="0"/>
              </a:rPr>
              <a:t>y</a:t>
            </a:r>
            <a:r>
              <a:rPr lang="en-US" sz="2400" dirty="0">
                <a:latin typeface="Times New Roman" panose="02020603050405020304" pitchFamily="18" charset="0"/>
                <a:ea typeface="Times New Roman" panose="02020603050405020304" pitchFamily="18" charset="0"/>
              </a:rPr>
              <a:t>.</a:t>
            </a:r>
          </a:p>
        </p:txBody>
      </p:sp>
      <p:pic>
        <p:nvPicPr>
          <p:cNvPr id="1331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4454" y="3611221"/>
            <a:ext cx="2721084" cy="25090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488463" y="778436"/>
            <a:ext cx="5503137" cy="5262979"/>
          </a:xfrm>
          <a:prstGeom prst="rect">
            <a:avLst/>
          </a:prstGeom>
        </p:spPr>
        <p:txBody>
          <a:bodyPr wrap="square">
            <a:spAutoFit/>
          </a:bodyPr>
          <a:lstStyle/>
          <a:p>
            <a:pPr algn="just">
              <a:tabLst>
                <a:tab pos="2023110" algn="ctr"/>
              </a:tabLst>
            </a:pPr>
            <a:r>
              <a:rPr lang="en-US" sz="2400" b="1" dirty="0">
                <a:ea typeface="Times New Roman" panose="02020603050405020304" pitchFamily="18" charset="0"/>
              </a:rPr>
              <a:t>Solution</a:t>
            </a:r>
            <a:endParaRPr lang="en-US" sz="2400" dirty="0">
              <a:ea typeface="Times New Roman" panose="02020603050405020304" pitchFamily="18" charset="0"/>
            </a:endParaRPr>
          </a:p>
          <a:p>
            <a:pPr algn="just">
              <a:tabLst>
                <a:tab pos="2023110" algn="ctr"/>
              </a:tabLst>
            </a:pPr>
            <a:r>
              <a:rPr lang="en-US" sz="2400" dirty="0">
                <a:ea typeface="Times New Roman" panose="02020603050405020304" pitchFamily="18" charset="0"/>
              </a:rPr>
              <a:t> </a:t>
            </a:r>
          </a:p>
          <a:p>
            <a:pPr algn="just">
              <a:tabLst>
                <a:tab pos="2023110" algn="ctr"/>
              </a:tabLst>
            </a:pPr>
            <a:r>
              <a:rPr lang="en-US" sz="2400" b="1" i="1" dirty="0">
                <a:ea typeface="Times New Roman" panose="02020603050405020304" pitchFamily="18" charset="0"/>
              </a:rPr>
              <a:t>a. Polar Moment of Inertia</a:t>
            </a:r>
            <a:endParaRPr lang="en-US" sz="2400" dirty="0">
              <a:ea typeface="Times New Roman" panose="02020603050405020304" pitchFamily="18" charset="0"/>
            </a:endParaRPr>
          </a:p>
          <a:p>
            <a:pPr algn="just">
              <a:tabLst>
                <a:tab pos="2023110" algn="ctr"/>
              </a:tabLst>
            </a:pPr>
            <a:r>
              <a:rPr lang="en-US" sz="2400" dirty="0">
                <a:ea typeface="Times New Roman" panose="02020603050405020304" pitchFamily="18" charset="0"/>
              </a:rPr>
              <a:t>We select as an element of area and ring of radius p and thickness dρ as shown in the Figure</a:t>
            </a:r>
            <a:r>
              <a:rPr lang="en-US" sz="2400" dirty="0" smtClean="0">
                <a:ea typeface="Times New Roman" panose="02020603050405020304" pitchFamily="18" charset="0"/>
              </a:rPr>
              <a:t>.</a:t>
            </a:r>
          </a:p>
          <a:p>
            <a:pPr algn="just">
              <a:tabLst>
                <a:tab pos="2023110" algn="ctr"/>
              </a:tabLst>
            </a:pPr>
            <a:endParaRPr lang="en-US" sz="2400" dirty="0">
              <a:ea typeface="Times New Roman" panose="02020603050405020304" pitchFamily="18" charset="0"/>
            </a:endParaRPr>
          </a:p>
          <a:p>
            <a:pPr algn="just">
              <a:tabLst>
                <a:tab pos="2023110" algn="ctr"/>
              </a:tabLst>
            </a:pPr>
            <a:endParaRPr lang="en-US" sz="2400" dirty="0">
              <a:ea typeface="Times New Roman" panose="02020603050405020304" pitchFamily="18" charset="0"/>
            </a:endParaRPr>
          </a:p>
          <a:p>
            <a:pPr algn="just">
              <a:tabLst>
                <a:tab pos="2023110" algn="ctr"/>
              </a:tabLst>
            </a:pPr>
            <a:endParaRPr lang="en-US" sz="2400" dirty="0">
              <a:ea typeface="Times New Roman" panose="02020603050405020304" pitchFamily="18" charset="0"/>
            </a:endParaRPr>
          </a:p>
          <a:p>
            <a:pPr algn="just">
              <a:tabLst>
                <a:tab pos="2023110" algn="ctr"/>
              </a:tabLst>
            </a:pPr>
            <a:endParaRPr lang="en-US" sz="2400" dirty="0" smtClean="0"/>
          </a:p>
          <a:p>
            <a:pPr algn="just">
              <a:tabLst>
                <a:tab pos="2023110" algn="ctr"/>
              </a:tabLst>
            </a:pPr>
            <a:endParaRPr lang="en-US" sz="2400" dirty="0" smtClean="0"/>
          </a:p>
          <a:p>
            <a:pPr algn="just">
              <a:tabLst>
                <a:tab pos="2023110" algn="ctr"/>
              </a:tabLst>
            </a:pPr>
            <a:endParaRPr lang="en-US" sz="2400" dirty="0" smtClean="0"/>
          </a:p>
          <a:p>
            <a:pPr algn="just">
              <a:tabLst>
                <a:tab pos="2023110" algn="ctr"/>
              </a:tabLst>
            </a:pPr>
            <a:endParaRPr lang="en-US" sz="2400" dirty="0" smtClean="0"/>
          </a:p>
          <a:p>
            <a:pPr algn="just">
              <a:tabLst>
                <a:tab pos="2023110" algn="ctr"/>
              </a:tabLst>
            </a:pPr>
            <a:r>
              <a:rPr lang="en-US" sz="2400" dirty="0" smtClean="0"/>
              <a:t>The </a:t>
            </a:r>
            <a:r>
              <a:rPr lang="en-US" sz="2400" dirty="0"/>
              <a:t>polar moment of inertia of the ring is </a:t>
            </a:r>
          </a:p>
        </p:txBody>
      </p:sp>
      <p:sp>
        <p:nvSpPr>
          <p:cNvPr id="7" name="Rectangle 4"/>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8" name="Object 7"/>
          <p:cNvGraphicFramePr>
            <a:graphicFrameLocks noChangeAspect="1"/>
          </p:cNvGraphicFramePr>
          <p:nvPr>
            <p:extLst/>
          </p:nvPr>
        </p:nvGraphicFramePr>
        <p:xfrm>
          <a:off x="3411537" y="6118697"/>
          <a:ext cx="3997325" cy="442912"/>
        </p:xfrm>
        <a:graphic>
          <a:graphicData uri="http://schemas.openxmlformats.org/presentationml/2006/ole">
            <mc:AlternateContent xmlns:mc="http://schemas.openxmlformats.org/markup-compatibility/2006">
              <mc:Choice xmlns:v="urn:schemas-microsoft-com:vml" Requires="v">
                <p:oleObj spid="_x0000_s39942" name="Equation" r:id="rId4" imgW="2273040" imgH="253800" progId="Equation.DSMT4">
                  <p:embed/>
                </p:oleObj>
              </mc:Choice>
              <mc:Fallback>
                <p:oleObj name="Equation" r:id="rId4" imgW="2273040" imgH="253800" progId="Equation.DSMT4">
                  <p:embed/>
                  <p:pic>
                    <p:nvPicPr>
                      <p:cNvPr id="0" name=""/>
                      <p:cNvPicPr>
                        <a:picLocks noChangeAspect="1" noChangeArrowheads="1"/>
                      </p:cNvPicPr>
                      <p:nvPr/>
                    </p:nvPicPr>
                    <p:blipFill>
                      <a:blip r:embed="rId5"/>
                      <a:srcRect/>
                      <a:stretch>
                        <a:fillRect/>
                      </a:stretch>
                    </p:blipFill>
                    <p:spPr bwMode="auto">
                      <a:xfrm>
                        <a:off x="3411537" y="6118697"/>
                        <a:ext cx="3997325" cy="442912"/>
                      </a:xfrm>
                      <a:prstGeom prst="rect">
                        <a:avLst/>
                      </a:prstGeom>
                      <a:noFill/>
                    </p:spPr>
                  </p:pic>
                </p:oleObj>
              </mc:Fallback>
            </mc:AlternateContent>
          </a:graphicData>
        </a:graphic>
      </p:graphicFrame>
      <p:sp>
        <p:nvSpPr>
          <p:cNvPr id="9" name="Rectangle 6"/>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2" name="Rectangle 8"/>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14" name="Rectangle 13"/>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2" name="Rectangle 1"/>
          <p:cNvSpPr/>
          <p:nvPr/>
        </p:nvSpPr>
        <p:spPr>
          <a:xfrm>
            <a:off x="3657600" y="227269"/>
            <a:ext cx="1911101" cy="461665"/>
          </a:xfrm>
          <a:prstGeom prst="rect">
            <a:avLst/>
          </a:prstGeom>
        </p:spPr>
        <p:txBody>
          <a:bodyPr wrap="none">
            <a:spAutoFit/>
          </a:bodyPr>
          <a:lstStyle/>
          <a:p>
            <a:pPr algn="just">
              <a:tabLst>
                <a:tab pos="2023110" algn="ctr"/>
              </a:tabLst>
            </a:pPr>
            <a:r>
              <a:rPr lang="en-US" sz="2400" b="1" dirty="0">
                <a:solidFill>
                  <a:schemeClr val="accent6"/>
                </a:solidFill>
                <a:latin typeface="Times New Roman" panose="02020603050405020304" pitchFamily="18" charset="0"/>
                <a:ea typeface="Times New Roman" panose="02020603050405020304" pitchFamily="18" charset="0"/>
              </a:rPr>
              <a:t>Example </a:t>
            </a:r>
            <a:r>
              <a:rPr lang="en-US" sz="2400" b="1" dirty="0" smtClean="0">
                <a:solidFill>
                  <a:schemeClr val="accent6"/>
                </a:solidFill>
                <a:latin typeface="Times New Roman" panose="02020603050405020304" pitchFamily="18" charset="0"/>
                <a:ea typeface="Times New Roman" panose="02020603050405020304" pitchFamily="18" charset="0"/>
              </a:rPr>
              <a:t>1-6 </a:t>
            </a:r>
            <a:endParaRPr lang="en-US" sz="2400" b="1" dirty="0">
              <a:solidFill>
                <a:schemeClr val="accent6"/>
              </a:solidFill>
              <a:latin typeface="Times New Roman" panose="02020603050405020304" pitchFamily="18" charset="0"/>
              <a:ea typeface="Times New Roman" panose="02020603050405020304" pitchFamily="18" charset="0"/>
            </a:endParaRPr>
          </a:p>
        </p:txBody>
      </p:sp>
      <p:pic>
        <p:nvPicPr>
          <p:cNvPr id="13370" name="Picture 58"/>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78521" y="2819400"/>
            <a:ext cx="2923019" cy="2714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160943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77"/>
            <a:ext cx="7498080" cy="461665"/>
          </a:xfrm>
        </p:spPr>
        <p:txBody>
          <a:bodyPr/>
          <a:lstStyle/>
          <a:p>
            <a:r>
              <a:rPr lang="en-US" dirty="0">
                <a:solidFill>
                  <a:schemeClr val="accent6"/>
                </a:solidFill>
                <a:latin typeface="Times New Roman" panose="02020603050405020304" pitchFamily="18" charset="0"/>
                <a:ea typeface="Times New Roman" panose="02020603050405020304" pitchFamily="18" charset="0"/>
              </a:rPr>
              <a:t>Example </a:t>
            </a:r>
            <a:r>
              <a:rPr lang="en-US" dirty="0" smtClean="0">
                <a:solidFill>
                  <a:schemeClr val="accent6"/>
                </a:solidFill>
                <a:latin typeface="Times New Roman" panose="02020603050405020304" pitchFamily="18" charset="0"/>
                <a:ea typeface="Times New Roman" panose="02020603050405020304" pitchFamily="18" charset="0"/>
              </a:rPr>
              <a:t>1-6 </a:t>
            </a:r>
            <a:r>
              <a:rPr lang="en-US" dirty="0" smtClean="0">
                <a:solidFill>
                  <a:schemeClr val="accent6"/>
                </a:solidFill>
                <a:latin typeface="Times New Roman" panose="02020603050405020304" pitchFamily="18" charset="0"/>
                <a:ea typeface="Times New Roman" panose="02020603050405020304" pitchFamily="18" charset="0"/>
              </a:rPr>
              <a:t>Continues</a:t>
            </a:r>
            <a:endParaRPr lang="en-US" dirty="0"/>
          </a:p>
        </p:txBody>
      </p:sp>
      <p:sp>
        <p:nvSpPr>
          <p:cNvPr id="3" name="Rectangle 2"/>
          <p:cNvSpPr/>
          <p:nvPr/>
        </p:nvSpPr>
        <p:spPr>
          <a:xfrm>
            <a:off x="609600" y="949270"/>
            <a:ext cx="8534400" cy="3785652"/>
          </a:xfrm>
          <a:prstGeom prst="rect">
            <a:avLst/>
          </a:prstGeom>
        </p:spPr>
        <p:txBody>
          <a:bodyPr wrap="square">
            <a:spAutoFit/>
          </a:bodyPr>
          <a:lstStyle/>
          <a:p>
            <a:pPr algn="just">
              <a:tabLst>
                <a:tab pos="2023110" algn="ctr"/>
              </a:tabLst>
            </a:pPr>
            <a:r>
              <a:rPr lang="en-US" sz="2400" dirty="0"/>
              <a:t>Integrating in p from 0 to c, </a:t>
            </a:r>
          </a:p>
          <a:p>
            <a:pPr algn="just">
              <a:tabLst>
                <a:tab pos="2023110" algn="ctr"/>
              </a:tabLst>
            </a:pPr>
            <a:r>
              <a:rPr lang="en-US" sz="2400" dirty="0"/>
              <a:t>we  write</a:t>
            </a:r>
          </a:p>
          <a:p>
            <a:pPr algn="just">
              <a:tabLst>
                <a:tab pos="2023110" algn="ctr"/>
              </a:tabLst>
            </a:pPr>
            <a:endParaRPr lang="en-US" sz="2400" b="1" i="1" dirty="0">
              <a:ea typeface="Times New Roman" panose="02020603050405020304" pitchFamily="18" charset="0"/>
            </a:endParaRPr>
          </a:p>
          <a:p>
            <a:pPr algn="just">
              <a:tabLst>
                <a:tab pos="2023110" algn="ctr"/>
              </a:tabLst>
            </a:pPr>
            <a:endParaRPr lang="en-US" sz="2400" b="1" i="1" dirty="0">
              <a:ea typeface="Times New Roman" panose="02020603050405020304" pitchFamily="18" charset="0"/>
            </a:endParaRPr>
          </a:p>
          <a:p>
            <a:pPr algn="just">
              <a:tabLst>
                <a:tab pos="2023110" algn="ctr"/>
              </a:tabLst>
            </a:pPr>
            <a:endParaRPr lang="en-US" sz="2400" b="1" i="1" dirty="0" smtClean="0">
              <a:ea typeface="Times New Roman" panose="02020603050405020304" pitchFamily="18" charset="0"/>
            </a:endParaRPr>
          </a:p>
          <a:p>
            <a:pPr algn="just">
              <a:tabLst>
                <a:tab pos="2023110" algn="ctr"/>
              </a:tabLst>
            </a:pPr>
            <a:endParaRPr lang="en-US" sz="2400" b="1" i="1" dirty="0">
              <a:ea typeface="Times New Roman" panose="02020603050405020304" pitchFamily="18" charset="0"/>
            </a:endParaRPr>
          </a:p>
          <a:p>
            <a:pPr algn="just">
              <a:tabLst>
                <a:tab pos="2023110" algn="ctr"/>
              </a:tabLst>
            </a:pPr>
            <a:endParaRPr lang="en-US" sz="2400" b="1" i="1" dirty="0">
              <a:ea typeface="Times New Roman" panose="02020603050405020304" pitchFamily="18" charset="0"/>
            </a:endParaRPr>
          </a:p>
          <a:p>
            <a:pPr algn="just">
              <a:tabLst>
                <a:tab pos="2023110" algn="ctr"/>
              </a:tabLst>
            </a:pPr>
            <a:r>
              <a:rPr lang="en-US" sz="2400" b="1" i="1" dirty="0">
                <a:ea typeface="Times New Roman" panose="02020603050405020304" pitchFamily="18" charset="0"/>
              </a:rPr>
              <a:t>b. Rectangular Moments of Inertia</a:t>
            </a:r>
            <a:endParaRPr lang="en-US" sz="2400" dirty="0">
              <a:ea typeface="Times New Roman" panose="02020603050405020304" pitchFamily="18" charset="0"/>
            </a:endParaRPr>
          </a:p>
          <a:p>
            <a:pPr algn="just">
              <a:tabLst>
                <a:tab pos="2023110" algn="ctr"/>
              </a:tabLst>
            </a:pPr>
            <a:r>
              <a:rPr lang="en-US" sz="2400" dirty="0">
                <a:ea typeface="Times New Roman" panose="02020603050405020304" pitchFamily="18" charset="0"/>
              </a:rPr>
              <a:t>Because of the symmetry of the circular area, we have I</a:t>
            </a:r>
            <a:r>
              <a:rPr lang="en-US" sz="2400" baseline="-25000" dirty="0">
                <a:ea typeface="Times New Roman" panose="02020603050405020304" pitchFamily="18" charset="0"/>
              </a:rPr>
              <a:t>x</a:t>
            </a:r>
            <a:r>
              <a:rPr lang="en-US" sz="2400" dirty="0">
                <a:ea typeface="Times New Roman" panose="02020603050405020304" pitchFamily="18" charset="0"/>
              </a:rPr>
              <a:t> = </a:t>
            </a:r>
            <a:r>
              <a:rPr lang="en-US" sz="2400" dirty="0" err="1">
                <a:ea typeface="Times New Roman" panose="02020603050405020304" pitchFamily="18" charset="0"/>
              </a:rPr>
              <a:t>I</a:t>
            </a:r>
            <a:r>
              <a:rPr lang="en-US" sz="2400" baseline="-25000" dirty="0" err="1">
                <a:ea typeface="Times New Roman" panose="02020603050405020304" pitchFamily="18" charset="0"/>
              </a:rPr>
              <a:t>y</a:t>
            </a:r>
            <a:r>
              <a:rPr lang="en-US" sz="2400" dirty="0">
                <a:ea typeface="Times New Roman" panose="02020603050405020304" pitchFamily="18" charset="0"/>
              </a:rPr>
              <a:t>. Recalling equation </a:t>
            </a:r>
            <a:r>
              <a:rPr lang="en-US" sz="2400" dirty="0" smtClean="0">
                <a:ea typeface="Times New Roman" panose="02020603050405020304" pitchFamily="18" charset="0"/>
              </a:rPr>
              <a:t>2-15, </a:t>
            </a:r>
            <a:r>
              <a:rPr lang="en-US" sz="2400" dirty="0">
                <a:ea typeface="Times New Roman" panose="02020603050405020304" pitchFamily="18" charset="0"/>
              </a:rPr>
              <a:t>we write</a:t>
            </a:r>
          </a:p>
        </p:txBody>
      </p:sp>
      <p:graphicFrame>
        <p:nvGraphicFramePr>
          <p:cNvPr id="4" name="Object 3"/>
          <p:cNvGraphicFramePr>
            <a:graphicFrameLocks noChangeAspect="1"/>
          </p:cNvGraphicFramePr>
          <p:nvPr>
            <p:extLst/>
          </p:nvPr>
        </p:nvGraphicFramePr>
        <p:xfrm>
          <a:off x="2057400" y="4835401"/>
          <a:ext cx="5230699" cy="626651"/>
        </p:xfrm>
        <a:graphic>
          <a:graphicData uri="http://schemas.openxmlformats.org/presentationml/2006/ole">
            <mc:AlternateContent xmlns:mc="http://schemas.openxmlformats.org/markup-compatibility/2006">
              <mc:Choice xmlns:v="urn:schemas-microsoft-com:vml" Requires="v">
                <p:oleObj spid="_x0000_s40974" name="Equation" r:id="rId3" imgW="2171700" imgH="254000" progId="Equation.DSMT4">
                  <p:embed/>
                </p:oleObj>
              </mc:Choice>
              <mc:Fallback>
                <p:oleObj name="Equation" r:id="rId3" imgW="2171700" imgH="254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7400" y="4835401"/>
                        <a:ext cx="5230699" cy="626651"/>
                      </a:xfrm>
                      <a:prstGeom prst="rect">
                        <a:avLst/>
                      </a:prstGeom>
                      <a:noFill/>
                    </p:spPr>
                  </p:pic>
                </p:oleObj>
              </mc:Fallback>
            </mc:AlternateContent>
          </a:graphicData>
        </a:graphic>
      </p:graphicFrame>
      <p:graphicFrame>
        <p:nvGraphicFramePr>
          <p:cNvPr id="5" name="Object 4"/>
          <p:cNvGraphicFramePr>
            <a:graphicFrameLocks noChangeAspect="1"/>
          </p:cNvGraphicFramePr>
          <p:nvPr>
            <p:extLst/>
          </p:nvPr>
        </p:nvGraphicFramePr>
        <p:xfrm>
          <a:off x="3504318" y="5752239"/>
          <a:ext cx="3658481" cy="878030"/>
        </p:xfrm>
        <a:graphic>
          <a:graphicData uri="http://schemas.openxmlformats.org/presentationml/2006/ole">
            <mc:AlternateContent xmlns:mc="http://schemas.openxmlformats.org/markup-compatibility/2006">
              <mc:Choice xmlns:v="urn:schemas-microsoft-com:vml" Requires="v">
                <p:oleObj spid="_x0000_s40975" name="Equation" r:id="rId5" imgW="952087" imgH="253890" progId="Equation.DSMT4">
                  <p:embed/>
                </p:oleObj>
              </mc:Choice>
              <mc:Fallback>
                <p:oleObj name="Equation" r:id="rId5" imgW="952087" imgH="25389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4318" y="5752239"/>
                        <a:ext cx="3658481" cy="878030"/>
                      </a:xfrm>
                      <a:prstGeom prst="rect">
                        <a:avLst/>
                      </a:prstGeom>
                      <a:noFill/>
                    </p:spPr>
                  </p:pic>
                </p:oleObj>
              </mc:Fallback>
            </mc:AlternateContent>
          </a:graphicData>
        </a:graphic>
      </p:graphicFrame>
      <p:graphicFrame>
        <p:nvGraphicFramePr>
          <p:cNvPr id="6" name="Object 5"/>
          <p:cNvGraphicFramePr>
            <a:graphicFrameLocks noChangeAspect="1"/>
          </p:cNvGraphicFramePr>
          <p:nvPr>
            <p:extLst/>
          </p:nvPr>
        </p:nvGraphicFramePr>
        <p:xfrm>
          <a:off x="2362200" y="1676400"/>
          <a:ext cx="5359879" cy="1219200"/>
        </p:xfrm>
        <a:graphic>
          <a:graphicData uri="http://schemas.openxmlformats.org/presentationml/2006/ole">
            <mc:AlternateContent xmlns:mc="http://schemas.openxmlformats.org/markup-compatibility/2006">
              <mc:Choice xmlns:v="urn:schemas-microsoft-com:vml" Requires="v">
                <p:oleObj spid="_x0000_s40976" name="Equation" r:id="rId7" imgW="2222500" imgH="508000" progId="Equation.DSMT4">
                  <p:embed/>
                </p:oleObj>
              </mc:Choice>
              <mc:Fallback>
                <p:oleObj name="Equation" r:id="rId7" imgW="2222500" imgH="5080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1676400"/>
                        <a:ext cx="5359879" cy="1219200"/>
                      </a:xfrm>
                      <a:prstGeom prst="rect">
                        <a:avLst/>
                      </a:prstGeom>
                      <a:noFill/>
                    </p:spPr>
                  </p:pic>
                </p:oleObj>
              </mc:Fallback>
            </mc:AlternateContent>
          </a:graphicData>
        </a:graphic>
      </p:graphicFrame>
    </p:spTree>
    <p:extLst>
      <p:ext uri="{BB962C8B-B14F-4D97-AF65-F5344CB8AC3E}">
        <p14:creationId xmlns:p14="http://schemas.microsoft.com/office/powerpoint/2010/main" val="37284577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solidFill>
                  <a:schemeClr val="accent6"/>
                </a:solidFill>
              </a:rPr>
              <a:t>Parallel-Axis Theorem</a:t>
            </a:r>
            <a:endParaRPr lang="en-US" dirty="0">
              <a:solidFill>
                <a:schemeClr val="accent6"/>
              </a:solidFill>
            </a:endParaRPr>
          </a:p>
        </p:txBody>
      </p:sp>
      <p:sp>
        <p:nvSpPr>
          <p:cNvPr id="5" name="Rectangle 4"/>
          <p:cNvSpPr/>
          <p:nvPr/>
        </p:nvSpPr>
        <p:spPr>
          <a:xfrm>
            <a:off x="449148" y="685376"/>
            <a:ext cx="4046652" cy="3416320"/>
          </a:xfrm>
          <a:prstGeom prst="rect">
            <a:avLst/>
          </a:prstGeom>
        </p:spPr>
        <p:txBody>
          <a:bodyPr wrap="square">
            <a:spAutoFit/>
          </a:bodyPr>
          <a:lstStyle/>
          <a:p>
            <a:pPr marL="514350" indent="-514350" algn="just">
              <a:buFont typeface="Wingdings" panose="05000000000000000000" pitchFamily="2" charset="2"/>
              <a:buChar char="q"/>
            </a:pPr>
            <a:r>
              <a:rPr lang="en-US" sz="2400" dirty="0">
                <a:latin typeface="Times New Roman" panose="02020603050405020304" pitchFamily="18" charset="0"/>
                <a:ea typeface="Times New Roman" panose="02020603050405020304" pitchFamily="18" charset="0"/>
              </a:rPr>
              <a:t>Consider the moment of inertia I</a:t>
            </a:r>
            <a:r>
              <a:rPr lang="en-US" sz="2400" baseline="-25000" dirty="0">
                <a:latin typeface="Times New Roman" panose="02020603050405020304" pitchFamily="18" charset="0"/>
                <a:ea typeface="Times New Roman" panose="02020603050405020304" pitchFamily="18" charset="0"/>
              </a:rPr>
              <a:t>x</a:t>
            </a:r>
            <a:r>
              <a:rPr lang="en-US" sz="2400" dirty="0">
                <a:latin typeface="Times New Roman" panose="02020603050405020304" pitchFamily="18" charset="0"/>
                <a:ea typeface="Times New Roman" panose="02020603050405020304" pitchFamily="18" charset="0"/>
              </a:rPr>
              <a:t> of an area A with respect to an arbitrary x-axis as shown in Figure </a:t>
            </a:r>
            <a:r>
              <a:rPr lang="en-US" sz="2400" dirty="0" smtClean="0">
                <a:latin typeface="Times New Roman" panose="02020603050405020304" pitchFamily="18" charset="0"/>
                <a:ea typeface="Times New Roman" panose="02020603050405020304" pitchFamily="18" charset="0"/>
              </a:rPr>
              <a:t>1-11</a:t>
            </a:r>
            <a:endParaRPr lang="en-US" sz="2400" dirty="0">
              <a:latin typeface="Times New Roman" panose="02020603050405020304" pitchFamily="18" charset="0"/>
              <a:ea typeface="Times New Roman" panose="02020603050405020304" pitchFamily="18" charset="0"/>
            </a:endParaRPr>
          </a:p>
          <a:p>
            <a:pPr marL="514350" indent="-514350" algn="just">
              <a:buFont typeface="Wingdings" panose="05000000000000000000" pitchFamily="2" charset="2"/>
              <a:buChar char="q"/>
            </a:pPr>
            <a:endParaRPr lang="en-US" sz="2400" dirty="0">
              <a:latin typeface="Times New Roman" panose="02020603050405020304" pitchFamily="18" charset="0"/>
              <a:ea typeface="Times New Roman" panose="02020603050405020304" pitchFamily="18" charset="0"/>
            </a:endParaRPr>
          </a:p>
          <a:p>
            <a:pPr marL="514350" indent="-514350" algn="just">
              <a:buFont typeface="Wingdings" panose="05000000000000000000" pitchFamily="2" charset="2"/>
              <a:buChar char="q"/>
              <a:tabLst>
                <a:tab pos="2023110" algn="ctr"/>
              </a:tabLst>
            </a:pPr>
            <a:r>
              <a:rPr lang="en-US" sz="2400" dirty="0">
                <a:latin typeface="Times New Roman" panose="02020603050405020304" pitchFamily="18" charset="0"/>
                <a:ea typeface="Times New Roman" panose="02020603050405020304" pitchFamily="18" charset="0"/>
              </a:rPr>
              <a:t>Denoting by y the distance from an element of area dA to that axis we recall that</a:t>
            </a:r>
          </a:p>
        </p:txBody>
      </p:sp>
      <p:sp>
        <p:nvSpPr>
          <p:cNvPr id="6" name="Rectangle 2"/>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7" name="Object 6"/>
          <p:cNvGraphicFramePr>
            <a:graphicFrameLocks noChangeAspect="1"/>
          </p:cNvGraphicFramePr>
          <p:nvPr>
            <p:extLst>
              <p:ext uri="{D42A27DB-BD31-4B8C-83A1-F6EECF244321}">
                <p14:modId xmlns:p14="http://schemas.microsoft.com/office/powerpoint/2010/main" val="914761520"/>
              </p:ext>
            </p:extLst>
          </p:nvPr>
        </p:nvGraphicFramePr>
        <p:xfrm>
          <a:off x="1392123" y="4131790"/>
          <a:ext cx="1343025" cy="654725"/>
        </p:xfrm>
        <a:graphic>
          <a:graphicData uri="http://schemas.openxmlformats.org/presentationml/2006/ole">
            <mc:AlternateContent xmlns:mc="http://schemas.openxmlformats.org/markup-compatibility/2006">
              <mc:Choice xmlns:v="urn:schemas-microsoft-com:vml" Requires="v">
                <p:oleObj spid="_x0000_s42011" name="Equation" r:id="rId3" imgW="761669" imgH="368140" progId="Equation.DSMT4">
                  <p:embed/>
                </p:oleObj>
              </mc:Choice>
              <mc:Fallback>
                <p:oleObj name="Equation" r:id="rId3" imgW="761669" imgH="36814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123" y="4131790"/>
                        <a:ext cx="1343025" cy="654725"/>
                      </a:xfrm>
                      <a:prstGeom prst="rect">
                        <a:avLst/>
                      </a:prstGeom>
                      <a:noFill/>
                    </p:spPr>
                  </p:pic>
                </p:oleObj>
              </mc:Fallback>
            </mc:AlternateContent>
          </a:graphicData>
        </a:graphic>
      </p:graphicFrame>
      <p:pic>
        <p:nvPicPr>
          <p:cNvPr id="14339"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1626" y="4900784"/>
            <a:ext cx="3438272" cy="1934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5064222" y="765834"/>
            <a:ext cx="4079778" cy="4893647"/>
          </a:xfrm>
          <a:prstGeom prst="rect">
            <a:avLst/>
          </a:prstGeom>
        </p:spPr>
        <p:txBody>
          <a:bodyPr wrap="square">
            <a:spAutoFit/>
          </a:bodyPr>
          <a:lstStyle/>
          <a:p>
            <a:pPr marL="514350" indent="-514350">
              <a:buFont typeface="Wingdings" panose="05000000000000000000" pitchFamily="2" charset="2"/>
              <a:buChar char="q"/>
            </a:pPr>
            <a:r>
              <a:rPr lang="en-US" sz="2400" dirty="0">
                <a:ea typeface="Times New Roman" panose="02020603050405020304" pitchFamily="18" charset="0"/>
                <a:cs typeface="Times New Roman" panose="02020603050405020304" pitchFamily="18" charset="0"/>
              </a:rPr>
              <a:t>Denoting by y' the distance from the element dA to that axis</a:t>
            </a:r>
          </a:p>
          <a:p>
            <a:pPr marL="514350" indent="-514350">
              <a:buFont typeface="Wingdings" panose="05000000000000000000" pitchFamily="2" charset="2"/>
              <a:buChar char="q"/>
            </a:pPr>
            <a:endParaRPr lang="en-US" sz="2400" dirty="0">
              <a:cs typeface="Times New Roman" panose="02020603050405020304" pitchFamily="18" charset="0"/>
            </a:endParaRPr>
          </a:p>
          <a:p>
            <a:pPr marL="514350" indent="-514350">
              <a:buFont typeface="Wingdings" panose="05000000000000000000" pitchFamily="2" charset="2"/>
              <a:buChar char="q"/>
            </a:pPr>
            <a:endParaRPr lang="en-US" sz="2400" dirty="0">
              <a:cs typeface="Times New Roman" panose="02020603050405020304" pitchFamily="18" charset="0"/>
            </a:endParaRPr>
          </a:p>
          <a:p>
            <a:pPr marL="514350" indent="-514350">
              <a:buFont typeface="Wingdings" panose="05000000000000000000" pitchFamily="2" charset="2"/>
              <a:buChar char="q"/>
            </a:pPr>
            <a:r>
              <a:rPr lang="en-US" sz="2400" dirty="0" smtClean="0">
                <a:cs typeface="Times New Roman" panose="02020603050405020304" pitchFamily="18" charset="0"/>
              </a:rPr>
              <a:t>we </a:t>
            </a:r>
            <a:r>
              <a:rPr lang="en-US" sz="2400" dirty="0">
                <a:cs typeface="Times New Roman" panose="02020603050405020304" pitchFamily="18" charset="0"/>
              </a:rPr>
              <a:t>write</a:t>
            </a:r>
          </a:p>
          <a:p>
            <a:pPr marL="514350" indent="-514350">
              <a:buFont typeface="Wingdings" panose="05000000000000000000" pitchFamily="2" charset="2"/>
              <a:buChar char="q"/>
            </a:pPr>
            <a:endParaRPr lang="en-US" sz="2400" dirty="0">
              <a:cs typeface="Times New Roman" panose="02020603050405020304" pitchFamily="18" charset="0"/>
            </a:endParaRPr>
          </a:p>
          <a:p>
            <a:pPr marL="514350" indent="-514350">
              <a:buFont typeface="Wingdings" panose="05000000000000000000" pitchFamily="2" charset="2"/>
              <a:buChar char="q"/>
            </a:pPr>
            <a:endParaRPr lang="en-US" sz="2400" dirty="0">
              <a:cs typeface="Times New Roman" panose="02020603050405020304" pitchFamily="18" charset="0"/>
            </a:endParaRPr>
          </a:p>
          <a:p>
            <a:pPr marL="514350" indent="-514350">
              <a:buFont typeface="Wingdings" panose="05000000000000000000" pitchFamily="2" charset="2"/>
              <a:buChar char="q"/>
            </a:pPr>
            <a:endParaRPr lang="en-US" sz="2400" dirty="0">
              <a:cs typeface="Times New Roman" panose="02020603050405020304" pitchFamily="18" charset="0"/>
            </a:endParaRPr>
          </a:p>
          <a:p>
            <a:pPr marL="514350" indent="-514350">
              <a:buFont typeface="Wingdings" panose="05000000000000000000" pitchFamily="2" charset="2"/>
              <a:buChar char="q"/>
            </a:pPr>
            <a:endParaRPr lang="en-US" sz="2400" dirty="0">
              <a:cs typeface="Times New Roman" panose="02020603050405020304" pitchFamily="18" charset="0"/>
            </a:endParaRPr>
          </a:p>
          <a:p>
            <a:pPr marL="514350" indent="-514350">
              <a:buFont typeface="Wingdings" panose="05000000000000000000" pitchFamily="2" charset="2"/>
              <a:buChar char="q"/>
            </a:pPr>
            <a:endParaRPr lang="en-US" sz="2400" dirty="0">
              <a:cs typeface="Times New Roman" panose="02020603050405020304" pitchFamily="18" charset="0"/>
            </a:endParaRPr>
          </a:p>
          <a:p>
            <a:pPr marL="514350" indent="-514350">
              <a:buFont typeface="Wingdings" panose="05000000000000000000" pitchFamily="2" charset="2"/>
              <a:buChar char="q"/>
            </a:pPr>
            <a:endParaRPr lang="en-US" sz="2400" dirty="0">
              <a:cs typeface="Times New Roman" panose="02020603050405020304" pitchFamily="18" charset="0"/>
            </a:endParaRPr>
          </a:p>
          <a:p>
            <a:pPr marL="514350" indent="-514350">
              <a:buFont typeface="Wingdings" panose="05000000000000000000" pitchFamily="2" charset="2"/>
              <a:buChar char="q"/>
            </a:pPr>
            <a:r>
              <a:rPr lang="en-US" sz="2400" dirty="0"/>
              <a:t>We have, therefore,</a:t>
            </a:r>
            <a:endParaRPr lang="en-US" sz="2400" dirty="0">
              <a:cs typeface="Times New Roman" panose="02020603050405020304" pitchFamily="18" charset="0"/>
            </a:endParaRPr>
          </a:p>
        </p:txBody>
      </p:sp>
      <p:sp>
        <p:nvSpPr>
          <p:cNvPr id="9" name="Rectangle 5"/>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0" name="Object 9"/>
          <p:cNvGraphicFramePr>
            <a:graphicFrameLocks noChangeAspect="1"/>
          </p:cNvGraphicFramePr>
          <p:nvPr>
            <p:extLst/>
          </p:nvPr>
        </p:nvGraphicFramePr>
        <p:xfrm>
          <a:off x="6439840" y="1449014"/>
          <a:ext cx="1656167" cy="504051"/>
        </p:xfrm>
        <a:graphic>
          <a:graphicData uri="http://schemas.openxmlformats.org/presentationml/2006/ole">
            <mc:AlternateContent xmlns:mc="http://schemas.openxmlformats.org/markup-compatibility/2006">
              <mc:Choice xmlns:v="urn:schemas-microsoft-com:vml" Requires="v">
                <p:oleObj spid="_x0000_s42012" name="Equation" r:id="rId6" imgW="660113" imgH="203112" progId="Equation.DSMT4">
                  <p:embed/>
                </p:oleObj>
              </mc:Choice>
              <mc:Fallback>
                <p:oleObj name="Equation" r:id="rId6" imgW="660113" imgH="203112"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39840" y="1449014"/>
                        <a:ext cx="1656167" cy="504051"/>
                      </a:xfrm>
                      <a:prstGeom prst="rect">
                        <a:avLst/>
                      </a:prstGeom>
                      <a:noFill/>
                    </p:spPr>
                  </p:pic>
                </p:oleObj>
              </mc:Fallback>
            </mc:AlternateContent>
          </a:graphicData>
        </a:graphic>
      </p:graphicFrame>
      <p:sp>
        <p:nvSpPr>
          <p:cNvPr id="11" name="Rectangle 7"/>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2" name="Object 11"/>
          <p:cNvGraphicFramePr>
            <a:graphicFrameLocks noChangeAspect="1"/>
          </p:cNvGraphicFramePr>
          <p:nvPr>
            <p:extLst>
              <p:ext uri="{D42A27DB-BD31-4B8C-83A1-F6EECF244321}">
                <p14:modId xmlns:p14="http://schemas.microsoft.com/office/powerpoint/2010/main" val="935914860"/>
              </p:ext>
            </p:extLst>
          </p:nvPr>
        </p:nvGraphicFramePr>
        <p:xfrm>
          <a:off x="4902497" y="3145395"/>
          <a:ext cx="3739113" cy="898223"/>
        </p:xfrm>
        <a:graphic>
          <a:graphicData uri="http://schemas.openxmlformats.org/presentationml/2006/ole">
            <mc:AlternateContent xmlns:mc="http://schemas.openxmlformats.org/markup-compatibility/2006">
              <mc:Choice xmlns:v="urn:schemas-microsoft-com:vml" Requires="v">
                <p:oleObj spid="_x0000_s42013" name="Equation" r:id="rId8" imgW="1701800" imgH="406400" progId="Equation.DSMT4">
                  <p:embed/>
                </p:oleObj>
              </mc:Choice>
              <mc:Fallback>
                <p:oleObj name="Equation" r:id="rId8" imgW="1701800" imgH="4064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02497" y="3145395"/>
                        <a:ext cx="3739113" cy="898223"/>
                      </a:xfrm>
                      <a:prstGeom prst="rect">
                        <a:avLst/>
                      </a:prstGeom>
                      <a:noFill/>
                    </p:spPr>
                  </p:pic>
                </p:oleObj>
              </mc:Fallback>
            </mc:AlternateContent>
          </a:graphicData>
        </a:graphic>
      </p:graphicFrame>
      <p:sp>
        <p:nvSpPr>
          <p:cNvPr id="13" name="Rectangle 9"/>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4" name="Object 13"/>
          <p:cNvGraphicFramePr>
            <a:graphicFrameLocks noChangeAspect="1"/>
          </p:cNvGraphicFramePr>
          <p:nvPr>
            <p:extLst>
              <p:ext uri="{D42A27DB-BD31-4B8C-83A1-F6EECF244321}">
                <p14:modId xmlns:p14="http://schemas.microsoft.com/office/powerpoint/2010/main" val="4269060452"/>
              </p:ext>
            </p:extLst>
          </p:nvPr>
        </p:nvGraphicFramePr>
        <p:xfrm>
          <a:off x="4353299" y="4185353"/>
          <a:ext cx="4699827" cy="864590"/>
        </p:xfrm>
        <a:graphic>
          <a:graphicData uri="http://schemas.openxmlformats.org/presentationml/2006/ole">
            <mc:AlternateContent xmlns:mc="http://schemas.openxmlformats.org/markup-compatibility/2006">
              <mc:Choice xmlns:v="urn:schemas-microsoft-com:vml" Requires="v">
                <p:oleObj spid="_x0000_s42014" name="Equation" r:id="rId10" imgW="2019300" imgH="368300" progId="Equation.DSMT4">
                  <p:embed/>
                </p:oleObj>
              </mc:Choice>
              <mc:Fallback>
                <p:oleObj name="Equation" r:id="rId10" imgW="2019300" imgH="368300"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53299" y="4185353"/>
                        <a:ext cx="4699827" cy="864590"/>
                      </a:xfrm>
                      <a:prstGeom prst="rect">
                        <a:avLst/>
                      </a:prstGeom>
                      <a:noFill/>
                    </p:spPr>
                  </p:pic>
                </p:oleObj>
              </mc:Fallback>
            </mc:AlternateContent>
          </a:graphicData>
        </a:graphic>
      </p:graphicFrame>
      <p:sp>
        <p:nvSpPr>
          <p:cNvPr id="15" name="Rectangle 15"/>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6" name="Object 15"/>
          <p:cNvGraphicFramePr>
            <a:graphicFrameLocks noChangeAspect="1"/>
          </p:cNvGraphicFramePr>
          <p:nvPr>
            <p:extLst>
              <p:ext uri="{D42A27DB-BD31-4B8C-83A1-F6EECF244321}">
                <p14:modId xmlns:p14="http://schemas.microsoft.com/office/powerpoint/2010/main" val="3242684980"/>
              </p:ext>
            </p:extLst>
          </p:nvPr>
        </p:nvGraphicFramePr>
        <p:xfrm>
          <a:off x="4495800" y="5743138"/>
          <a:ext cx="4182253" cy="1077900"/>
        </p:xfrm>
        <a:graphic>
          <a:graphicData uri="http://schemas.openxmlformats.org/presentationml/2006/ole">
            <mc:AlternateContent xmlns:mc="http://schemas.openxmlformats.org/markup-compatibility/2006">
              <mc:Choice xmlns:v="urn:schemas-microsoft-com:vml" Requires="v">
                <p:oleObj spid="_x0000_s42015" name="Equation" r:id="rId12" imgW="927100" imgH="241300" progId="Equation.DSMT4">
                  <p:embed/>
                </p:oleObj>
              </mc:Choice>
              <mc:Fallback>
                <p:oleObj name="Equation" r:id="rId12" imgW="927100" imgH="241300"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95800" y="5743138"/>
                        <a:ext cx="4182253" cy="1077900"/>
                      </a:xfrm>
                      <a:prstGeom prst="rect">
                        <a:avLst/>
                      </a:prstGeom>
                      <a:noFill/>
                    </p:spPr>
                  </p:pic>
                </p:oleObj>
              </mc:Fallback>
            </mc:AlternateContent>
          </a:graphicData>
        </a:graphic>
      </p:graphicFrame>
    </p:spTree>
    <p:extLst>
      <p:ext uri="{BB962C8B-B14F-4D97-AF65-F5344CB8AC3E}">
        <p14:creationId xmlns:p14="http://schemas.microsoft.com/office/powerpoint/2010/main" val="204490188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83378" y="762000"/>
            <a:ext cx="3326622" cy="2308324"/>
          </a:xfrm>
          <a:prstGeom prst="rect">
            <a:avLst/>
          </a:prstGeom>
        </p:spPr>
        <p:txBody>
          <a:bodyPr wrap="square">
            <a:spAutoFit/>
          </a:bodyPr>
          <a:lstStyle/>
          <a:p>
            <a:pPr algn="just">
              <a:tabLst>
                <a:tab pos="2023110" algn="ctr"/>
              </a:tabLst>
            </a:pPr>
            <a:r>
              <a:rPr lang="en-US" sz="2400" dirty="0" smtClean="0">
                <a:latin typeface="Times New Roman" panose="02020603050405020304" pitchFamily="18" charset="0"/>
                <a:ea typeface="Times New Roman" panose="02020603050405020304" pitchFamily="18" charset="0"/>
              </a:rPr>
              <a:t>Determine </a:t>
            </a:r>
            <a:r>
              <a:rPr lang="en-US" sz="2400" dirty="0">
                <a:latin typeface="Times New Roman" panose="02020603050405020304" pitchFamily="18" charset="0"/>
                <a:ea typeface="Times New Roman" panose="02020603050405020304" pitchFamily="18" charset="0"/>
              </a:rPr>
              <a:t>the moment of inertia I</a:t>
            </a:r>
            <a:r>
              <a:rPr lang="en-US" sz="2400" baseline="-25000" dirty="0">
                <a:latin typeface="Times New Roman" panose="02020603050405020304" pitchFamily="18" charset="0"/>
                <a:ea typeface="Times New Roman" panose="02020603050405020304" pitchFamily="18" charset="0"/>
              </a:rPr>
              <a:t>x</a:t>
            </a:r>
            <a:r>
              <a:rPr lang="en-US" sz="2400" dirty="0">
                <a:latin typeface="Times New Roman" panose="02020603050405020304" pitchFamily="18" charset="0"/>
                <a:ea typeface="Times New Roman" panose="02020603050405020304" pitchFamily="18" charset="0"/>
              </a:rPr>
              <a:t> of the area shown with respect to the centroidal x-axis as shown in Figure </a:t>
            </a:r>
            <a:r>
              <a:rPr lang="en-US" sz="2400" dirty="0" smtClean="0">
                <a:latin typeface="Times New Roman" panose="02020603050405020304" pitchFamily="18" charset="0"/>
                <a:ea typeface="Times New Roman" panose="02020603050405020304" pitchFamily="18" charset="0"/>
              </a:rPr>
              <a:t>E1-7</a:t>
            </a:r>
            <a:r>
              <a:rPr lang="en-US" sz="2400" dirty="0">
                <a:latin typeface="Times New Roman" panose="02020603050405020304" pitchFamily="18" charset="0"/>
                <a:ea typeface="Times New Roman" panose="02020603050405020304" pitchFamily="18" charset="0"/>
              </a:rPr>
              <a:t>.</a:t>
            </a:r>
          </a:p>
          <a:p>
            <a:pPr algn="just">
              <a:tabLst>
                <a:tab pos="2023110" algn="ctr"/>
              </a:tabLst>
            </a:pPr>
            <a:r>
              <a:rPr lang="en-US" sz="2400" dirty="0">
                <a:latin typeface="Times New Roman" panose="02020603050405020304" pitchFamily="18" charset="0"/>
                <a:ea typeface="Times New Roman" panose="02020603050405020304" pitchFamily="18" charset="0"/>
              </a:rPr>
              <a:t> </a:t>
            </a:r>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3378" y="2971799"/>
            <a:ext cx="3098022" cy="334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4114800" y="762000"/>
            <a:ext cx="4772025" cy="4524315"/>
          </a:xfrm>
          <a:prstGeom prst="rect">
            <a:avLst/>
          </a:prstGeom>
        </p:spPr>
        <p:txBody>
          <a:bodyPr wrap="square">
            <a:spAutoFit/>
          </a:bodyPr>
          <a:lstStyle/>
          <a:p>
            <a:pPr algn="just">
              <a:tabLst>
                <a:tab pos="2023110" algn="ctr"/>
              </a:tabLst>
            </a:pPr>
            <a:r>
              <a:rPr lang="en-US" sz="2400" b="1" dirty="0">
                <a:latin typeface="Times New Roman" panose="02020603050405020304" pitchFamily="18" charset="0"/>
                <a:ea typeface="Times New Roman" panose="02020603050405020304" pitchFamily="18" charset="0"/>
              </a:rPr>
              <a:t>Solution</a:t>
            </a:r>
            <a:endParaRPr lang="en-US" sz="2400" dirty="0">
              <a:latin typeface="Times New Roman" panose="02020603050405020304" pitchFamily="18" charset="0"/>
              <a:ea typeface="Times New Roman" panose="02020603050405020304" pitchFamily="18" charset="0"/>
            </a:endParaRPr>
          </a:p>
          <a:p>
            <a:pPr algn="just">
              <a:tabLst>
                <a:tab pos="2023110" algn="ctr"/>
              </a:tabLst>
            </a:pPr>
            <a:r>
              <a:rPr lang="en-US" sz="2400" b="1" dirty="0">
                <a:latin typeface="Times New Roman" panose="02020603050405020304" pitchFamily="18" charset="0"/>
                <a:ea typeface="Times New Roman" panose="02020603050405020304" pitchFamily="18" charset="0"/>
              </a:rPr>
              <a:t>Location of centroid</a:t>
            </a:r>
            <a:endParaRPr lang="en-US" sz="2400" dirty="0">
              <a:latin typeface="Times New Roman" panose="02020603050405020304" pitchFamily="18" charset="0"/>
              <a:ea typeface="Times New Roman" panose="02020603050405020304" pitchFamily="18" charset="0"/>
            </a:endParaRPr>
          </a:p>
          <a:p>
            <a:pPr marL="342900" indent="-342900" algn="just">
              <a:buFont typeface="+mj-lt"/>
              <a:buAutoNum type="arabicPeriod"/>
              <a:tabLst>
                <a:tab pos="2023110" algn="ctr"/>
              </a:tabLst>
            </a:pPr>
            <a:r>
              <a:rPr lang="en-US" sz="2400" dirty="0">
                <a:latin typeface="Times New Roman" panose="02020603050405020304" pitchFamily="18" charset="0"/>
                <a:ea typeface="Times New Roman" panose="02020603050405020304" pitchFamily="18" charset="0"/>
              </a:rPr>
              <a:t>The centroid C of the area must first be located. </a:t>
            </a:r>
            <a:endParaRPr lang="en-US" sz="2400" dirty="0" smtClean="0">
              <a:latin typeface="Times New Roman" panose="02020603050405020304" pitchFamily="18" charset="0"/>
              <a:ea typeface="Times New Roman" panose="02020603050405020304" pitchFamily="18" charset="0"/>
            </a:endParaRPr>
          </a:p>
          <a:p>
            <a:pPr marL="342900" indent="-342900" algn="just">
              <a:buFont typeface="+mj-lt"/>
              <a:buAutoNum type="arabicPeriod"/>
              <a:tabLst>
                <a:tab pos="2023110" algn="ctr"/>
              </a:tabLst>
            </a:pPr>
            <a:endParaRPr lang="en-US" sz="2400" dirty="0">
              <a:latin typeface="Times New Roman" panose="02020603050405020304" pitchFamily="18" charset="0"/>
              <a:ea typeface="Times New Roman" panose="02020603050405020304" pitchFamily="18" charset="0"/>
            </a:endParaRPr>
          </a:p>
          <a:p>
            <a:pPr marL="342900" indent="-342900" algn="just">
              <a:buFont typeface="+mj-lt"/>
              <a:buAutoNum type="arabicPeriod"/>
              <a:tabLst>
                <a:tab pos="2023110" algn="ctr"/>
              </a:tabLst>
            </a:pPr>
            <a:r>
              <a:rPr lang="en-US" sz="2400" dirty="0">
                <a:latin typeface="Times New Roman" panose="02020603050405020304" pitchFamily="18" charset="0"/>
                <a:ea typeface="Times New Roman" panose="02020603050405020304" pitchFamily="18" charset="0"/>
              </a:rPr>
              <a:t>However, this has already been done in example </a:t>
            </a:r>
            <a:r>
              <a:rPr lang="en-US" sz="2400" dirty="0" smtClean="0">
                <a:latin typeface="Times New Roman" panose="02020603050405020304" pitchFamily="18" charset="0"/>
                <a:ea typeface="Times New Roman" panose="02020603050405020304" pitchFamily="18" charset="0"/>
              </a:rPr>
              <a:t>1-3 </a:t>
            </a:r>
            <a:r>
              <a:rPr lang="en-US" sz="2400" dirty="0">
                <a:latin typeface="Times New Roman" panose="02020603050405020304" pitchFamily="18" charset="0"/>
                <a:ea typeface="Times New Roman" panose="02020603050405020304" pitchFamily="18" charset="0"/>
              </a:rPr>
              <a:t>for the given area. </a:t>
            </a:r>
            <a:endParaRPr lang="en-US" sz="2400" dirty="0" smtClean="0">
              <a:latin typeface="Times New Roman" panose="02020603050405020304" pitchFamily="18" charset="0"/>
              <a:ea typeface="Times New Roman" panose="02020603050405020304" pitchFamily="18" charset="0"/>
            </a:endParaRPr>
          </a:p>
          <a:p>
            <a:pPr marL="342900" indent="-342900" algn="just">
              <a:buFont typeface="+mj-lt"/>
              <a:buAutoNum type="arabicPeriod"/>
              <a:tabLst>
                <a:tab pos="2023110" algn="ctr"/>
              </a:tabLst>
            </a:pPr>
            <a:endParaRPr lang="en-US" sz="2400" dirty="0">
              <a:latin typeface="Times New Roman" panose="02020603050405020304" pitchFamily="18" charset="0"/>
              <a:ea typeface="Times New Roman" panose="02020603050405020304" pitchFamily="18" charset="0"/>
            </a:endParaRPr>
          </a:p>
          <a:p>
            <a:pPr marL="342900" indent="-342900" algn="just">
              <a:buFont typeface="+mj-lt"/>
              <a:buAutoNum type="arabicPeriod"/>
              <a:tabLst>
                <a:tab pos="2023110" algn="ctr"/>
              </a:tabLst>
            </a:pPr>
            <a:r>
              <a:rPr lang="en-US" sz="2400" dirty="0">
                <a:latin typeface="Times New Roman" panose="02020603050405020304" pitchFamily="18" charset="0"/>
                <a:ea typeface="Times New Roman" panose="02020603050405020304" pitchFamily="18" charset="0"/>
              </a:rPr>
              <a:t>We recall from that example hat c is located 46 mm above the lower edge of the area A.</a:t>
            </a:r>
          </a:p>
        </p:txBody>
      </p:sp>
      <p:sp>
        <p:nvSpPr>
          <p:cNvPr id="2" name="Rectangle 1"/>
          <p:cNvSpPr/>
          <p:nvPr/>
        </p:nvSpPr>
        <p:spPr>
          <a:xfrm>
            <a:off x="3505200" y="263892"/>
            <a:ext cx="1834156" cy="461665"/>
          </a:xfrm>
          <a:prstGeom prst="rect">
            <a:avLst/>
          </a:prstGeom>
        </p:spPr>
        <p:txBody>
          <a:bodyPr wrap="none">
            <a:spAutoFit/>
          </a:bodyPr>
          <a:lstStyle/>
          <a:p>
            <a:pPr algn="just">
              <a:tabLst>
                <a:tab pos="2023110" algn="ctr"/>
              </a:tabLst>
            </a:pPr>
            <a:r>
              <a:rPr lang="en-US" sz="2400" b="1" dirty="0">
                <a:solidFill>
                  <a:schemeClr val="accent6"/>
                </a:solidFill>
                <a:latin typeface="Times New Roman" panose="02020603050405020304" pitchFamily="18" charset="0"/>
                <a:ea typeface="Times New Roman" panose="02020603050405020304" pitchFamily="18" charset="0"/>
              </a:rPr>
              <a:t>Example </a:t>
            </a:r>
            <a:r>
              <a:rPr lang="en-US" sz="2400" b="1" dirty="0" smtClean="0">
                <a:solidFill>
                  <a:schemeClr val="accent6"/>
                </a:solidFill>
                <a:latin typeface="Times New Roman" panose="02020603050405020304" pitchFamily="18" charset="0"/>
                <a:ea typeface="Times New Roman" panose="02020603050405020304" pitchFamily="18" charset="0"/>
              </a:rPr>
              <a:t>1-7</a:t>
            </a:r>
            <a:endParaRPr lang="en-US" sz="2400" b="1" dirty="0">
              <a:solidFill>
                <a:schemeClr val="accent6"/>
              </a:solidFill>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931789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824132"/>
            <a:ext cx="4191000" cy="2677656"/>
          </a:xfrm>
          <a:prstGeom prst="rect">
            <a:avLst/>
          </a:prstGeom>
        </p:spPr>
        <p:txBody>
          <a:bodyPr wrap="square">
            <a:spAutoFit/>
          </a:bodyPr>
          <a:lstStyle/>
          <a:p>
            <a:pPr algn="just">
              <a:tabLst>
                <a:tab pos="2023110" algn="ctr"/>
              </a:tabLst>
            </a:pPr>
            <a:r>
              <a:rPr lang="en-US" sz="2400" b="1" i="1" dirty="0">
                <a:latin typeface="Times New Roman" panose="02020603050405020304" pitchFamily="18" charset="0"/>
                <a:ea typeface="Times New Roman" panose="02020603050405020304" pitchFamily="18" charset="0"/>
              </a:rPr>
              <a:t>Computation of Moments of Inertia</a:t>
            </a:r>
            <a:endParaRPr lang="en-US" sz="2400" dirty="0">
              <a:latin typeface="Times New Roman" panose="02020603050405020304" pitchFamily="18" charset="0"/>
              <a:ea typeface="Times New Roman" panose="02020603050405020304" pitchFamily="18" charset="0"/>
            </a:endParaRPr>
          </a:p>
          <a:p>
            <a:pPr algn="just">
              <a:tabLst>
                <a:tab pos="2023110" algn="ctr"/>
              </a:tabLst>
            </a:pPr>
            <a:r>
              <a:rPr lang="en-US" sz="2400" dirty="0">
                <a:latin typeface="Times New Roman" panose="02020603050405020304" pitchFamily="18" charset="0"/>
                <a:ea typeface="Times New Roman" panose="02020603050405020304" pitchFamily="18" charset="0"/>
              </a:rPr>
              <a:t>We divide the area a into the two rectangular areas A</a:t>
            </a:r>
            <a:r>
              <a:rPr lang="en-US" sz="2400" baseline="-25000" dirty="0">
                <a:latin typeface="Times New Roman" panose="02020603050405020304" pitchFamily="18" charset="0"/>
                <a:ea typeface="Times New Roman" panose="02020603050405020304" pitchFamily="18" charset="0"/>
              </a:rPr>
              <a:t>1</a:t>
            </a:r>
            <a:r>
              <a:rPr lang="en-US" sz="2400" dirty="0">
                <a:latin typeface="Times New Roman" panose="02020603050405020304" pitchFamily="18" charset="0"/>
                <a:ea typeface="Times New Roman" panose="02020603050405020304" pitchFamily="18" charset="0"/>
              </a:rPr>
              <a:t> and A</a:t>
            </a:r>
            <a:r>
              <a:rPr lang="en-US" sz="2400" baseline="-25000" dirty="0">
                <a:latin typeface="Times New Roman" panose="02020603050405020304" pitchFamily="18" charset="0"/>
                <a:ea typeface="Times New Roman" panose="02020603050405020304" pitchFamily="18" charset="0"/>
              </a:rPr>
              <a:t>2</a:t>
            </a:r>
            <a:r>
              <a:rPr lang="en-US" sz="2400" dirty="0">
                <a:latin typeface="Times New Roman" panose="02020603050405020304" pitchFamily="18" charset="0"/>
                <a:ea typeface="Times New Roman" panose="02020603050405020304" pitchFamily="18" charset="0"/>
              </a:rPr>
              <a:t> in the figure below, and compute the moments of inertia of the area with respect to the x-axis.</a:t>
            </a:r>
          </a:p>
        </p:txBody>
      </p:sp>
      <p:pic>
        <p:nvPicPr>
          <p:cNvPr id="4"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l="8360" b="815"/>
          <a:stretch>
            <a:fillRect/>
          </a:stretch>
        </p:blipFill>
        <p:spPr bwMode="auto">
          <a:xfrm>
            <a:off x="381000" y="3521180"/>
            <a:ext cx="3657600" cy="3316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4876800" y="644842"/>
            <a:ext cx="4267200" cy="2677656"/>
          </a:xfrm>
          <a:prstGeom prst="rect">
            <a:avLst/>
          </a:prstGeom>
        </p:spPr>
        <p:txBody>
          <a:bodyPr wrap="square">
            <a:spAutoFit/>
          </a:bodyPr>
          <a:lstStyle/>
          <a:p>
            <a:pPr algn="just">
              <a:tabLst>
                <a:tab pos="2023110" algn="ctr"/>
              </a:tabLst>
            </a:pPr>
            <a:r>
              <a:rPr lang="en-US" sz="2400" b="1" i="1" dirty="0">
                <a:latin typeface="Times New Roman" panose="02020603050405020304" pitchFamily="18" charset="0"/>
                <a:ea typeface="Times New Roman" panose="02020603050405020304" pitchFamily="18" charset="0"/>
              </a:rPr>
              <a:t>Rectangular area A</a:t>
            </a:r>
            <a:r>
              <a:rPr lang="en-US" sz="2400" b="1" i="1" baseline="-25000" dirty="0">
                <a:latin typeface="Times New Roman" panose="02020603050405020304" pitchFamily="18" charset="0"/>
                <a:ea typeface="Times New Roman" panose="02020603050405020304" pitchFamily="18" charset="0"/>
              </a:rPr>
              <a:t>1</a:t>
            </a:r>
            <a:endParaRPr lang="en-US" sz="2400" dirty="0">
              <a:latin typeface="Times New Roman" panose="02020603050405020304" pitchFamily="18" charset="0"/>
              <a:ea typeface="Times New Roman" panose="02020603050405020304" pitchFamily="18" charset="0"/>
            </a:endParaRPr>
          </a:p>
          <a:p>
            <a:pPr algn="just">
              <a:tabLst>
                <a:tab pos="2023110" algn="ctr"/>
              </a:tabLst>
            </a:pPr>
            <a:r>
              <a:rPr lang="en-US" sz="2400" dirty="0">
                <a:latin typeface="Times New Roman" panose="02020603050405020304" pitchFamily="18" charset="0"/>
                <a:ea typeface="Times New Roman" panose="02020603050405020304" pitchFamily="18" charset="0"/>
              </a:rPr>
              <a:t>To the obtained the moment of inertia (I</a:t>
            </a:r>
            <a:r>
              <a:rPr lang="en-US" sz="2400" baseline="-25000" dirty="0">
                <a:latin typeface="Times New Roman" panose="02020603050405020304" pitchFamily="18" charset="0"/>
                <a:ea typeface="Times New Roman" panose="02020603050405020304" pitchFamily="18" charset="0"/>
              </a:rPr>
              <a:t>x</a:t>
            </a:r>
            <a:r>
              <a:rPr lang="en-US" sz="2400" dirty="0">
                <a:latin typeface="Times New Roman" panose="02020603050405020304" pitchFamily="18" charset="0"/>
                <a:ea typeface="Times New Roman" panose="02020603050405020304" pitchFamily="18" charset="0"/>
              </a:rPr>
              <a:t>)</a:t>
            </a:r>
            <a:r>
              <a:rPr lang="en-US" sz="2400" baseline="-25000" dirty="0">
                <a:latin typeface="Times New Roman" panose="02020603050405020304" pitchFamily="18" charset="0"/>
                <a:ea typeface="Times New Roman" panose="02020603050405020304" pitchFamily="18" charset="0"/>
              </a:rPr>
              <a:t>1</a:t>
            </a:r>
            <a:r>
              <a:rPr lang="en-US" sz="2400" dirty="0">
                <a:latin typeface="Times New Roman" panose="02020603050405020304" pitchFamily="18" charset="0"/>
                <a:ea typeface="Times New Roman" panose="02020603050405020304" pitchFamily="18" charset="0"/>
              </a:rPr>
              <a:t> of A</a:t>
            </a:r>
            <a:r>
              <a:rPr lang="en-US" sz="2400" baseline="-25000" dirty="0">
                <a:latin typeface="Times New Roman" panose="02020603050405020304" pitchFamily="18" charset="0"/>
                <a:ea typeface="Times New Roman" panose="02020603050405020304" pitchFamily="18" charset="0"/>
              </a:rPr>
              <a:t>1</a:t>
            </a:r>
            <a:r>
              <a:rPr lang="en-US" sz="2400" dirty="0">
                <a:latin typeface="Times New Roman" panose="02020603050405020304" pitchFamily="18" charset="0"/>
                <a:ea typeface="Times New Roman" panose="02020603050405020304" pitchFamily="18" charset="0"/>
              </a:rPr>
              <a:t> with respect to the x axis , we first compute the moments of inertia of A</a:t>
            </a:r>
            <a:r>
              <a:rPr lang="en-US" sz="2400" baseline="-25000" dirty="0">
                <a:latin typeface="Times New Roman" panose="02020603050405020304" pitchFamily="18" charset="0"/>
                <a:ea typeface="Times New Roman" panose="02020603050405020304" pitchFamily="18" charset="0"/>
              </a:rPr>
              <a:t>1</a:t>
            </a:r>
            <a:r>
              <a:rPr lang="en-US" sz="2400" dirty="0">
                <a:latin typeface="Times New Roman" panose="02020603050405020304" pitchFamily="18" charset="0"/>
                <a:ea typeface="Times New Roman" panose="02020603050405020304" pitchFamily="18" charset="0"/>
              </a:rPr>
              <a:t> using the parallel axis theorem (Eq. ), we have</a:t>
            </a:r>
          </a:p>
        </p:txBody>
      </p:sp>
      <p:graphicFrame>
        <p:nvGraphicFramePr>
          <p:cNvPr id="6" name="Object 5"/>
          <p:cNvGraphicFramePr>
            <a:graphicFrameLocks noChangeAspect="1"/>
          </p:cNvGraphicFramePr>
          <p:nvPr>
            <p:extLst/>
          </p:nvPr>
        </p:nvGraphicFramePr>
        <p:xfrm>
          <a:off x="5300663" y="3432175"/>
          <a:ext cx="3806890" cy="2968625"/>
        </p:xfrm>
        <a:graphic>
          <a:graphicData uri="http://schemas.openxmlformats.org/presentationml/2006/ole">
            <mc:AlternateContent xmlns:mc="http://schemas.openxmlformats.org/markup-compatibility/2006">
              <mc:Choice xmlns:v="urn:schemas-microsoft-com:vml" Requires="v">
                <p:oleObj spid="_x0000_s43014" name="Equation" r:id="rId4" imgW="1511280" imgH="1180800" progId="Equation.DSMT4">
                  <p:embed/>
                </p:oleObj>
              </mc:Choice>
              <mc:Fallback>
                <p:oleObj name="Equation" r:id="rId4" imgW="1511280" imgH="1180800" progId="Equation.DSMT4">
                  <p:embed/>
                  <p:pic>
                    <p:nvPicPr>
                      <p:cNvPr id="0" name=""/>
                      <p:cNvPicPr>
                        <a:picLocks noChangeAspect="1" noChangeArrowheads="1"/>
                      </p:cNvPicPr>
                      <p:nvPr/>
                    </p:nvPicPr>
                    <p:blipFill>
                      <a:blip r:embed="rId5"/>
                      <a:srcRect/>
                      <a:stretch>
                        <a:fillRect/>
                      </a:stretch>
                    </p:blipFill>
                    <p:spPr bwMode="auto">
                      <a:xfrm>
                        <a:off x="5300663" y="3432175"/>
                        <a:ext cx="3806890" cy="2968625"/>
                      </a:xfrm>
                      <a:prstGeom prst="rect">
                        <a:avLst/>
                      </a:prstGeom>
                      <a:noFill/>
                    </p:spPr>
                  </p:pic>
                </p:oleObj>
              </mc:Fallback>
            </mc:AlternateContent>
          </a:graphicData>
        </a:graphic>
      </p:graphicFrame>
      <p:sp>
        <p:nvSpPr>
          <p:cNvPr id="7" name="Title 2"/>
          <p:cNvSpPr>
            <a:spLocks noGrp="1"/>
          </p:cNvSpPr>
          <p:nvPr>
            <p:ph type="title"/>
          </p:nvPr>
        </p:nvSpPr>
        <p:spPr>
          <a:xfrm>
            <a:off x="838200" y="183177"/>
            <a:ext cx="7498080" cy="461665"/>
          </a:xfrm>
        </p:spPr>
        <p:txBody>
          <a:bodyPr/>
          <a:lstStyle/>
          <a:p>
            <a:r>
              <a:rPr lang="en-US" dirty="0">
                <a:solidFill>
                  <a:schemeClr val="accent6"/>
                </a:solidFill>
              </a:rPr>
              <a:t>Example </a:t>
            </a:r>
            <a:r>
              <a:rPr lang="en-US" dirty="0" smtClean="0">
                <a:solidFill>
                  <a:schemeClr val="accent6"/>
                </a:solidFill>
              </a:rPr>
              <a:t>1.7 </a:t>
            </a:r>
            <a:r>
              <a:rPr lang="en-US" dirty="0" smtClean="0">
                <a:solidFill>
                  <a:schemeClr val="accent6"/>
                </a:solidFill>
              </a:rPr>
              <a:t>Continues</a:t>
            </a:r>
            <a:endParaRPr lang="en-US" dirty="0"/>
          </a:p>
        </p:txBody>
      </p:sp>
    </p:spTree>
    <p:extLst>
      <p:ext uri="{BB962C8B-B14F-4D97-AF65-F5344CB8AC3E}">
        <p14:creationId xmlns:p14="http://schemas.microsoft.com/office/powerpoint/2010/main" val="4002418509"/>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sp>
        <p:nvSpPr>
          <p:cNvPr id="8" name="Rectangle 7"/>
          <p:cNvSpPr/>
          <p:nvPr/>
        </p:nvSpPr>
        <p:spPr>
          <a:xfrm>
            <a:off x="441724" y="718751"/>
            <a:ext cx="3977875" cy="2677656"/>
          </a:xfrm>
          <a:prstGeom prst="rect">
            <a:avLst/>
          </a:prstGeom>
        </p:spPr>
        <p:txBody>
          <a:bodyPr wrap="square">
            <a:spAutoFit/>
          </a:bodyPr>
          <a:lstStyle/>
          <a:p>
            <a:pPr algn="just">
              <a:tabLst>
                <a:tab pos="2023110" algn="ctr"/>
              </a:tabLst>
            </a:pPr>
            <a:r>
              <a:rPr lang="en-US" sz="2400" b="1" i="1" dirty="0">
                <a:latin typeface="Times New Roman" panose="02020603050405020304" pitchFamily="18" charset="0"/>
                <a:ea typeface="Times New Roman" panose="02020603050405020304" pitchFamily="18" charset="0"/>
              </a:rPr>
              <a:t>Rectangular Area A</a:t>
            </a:r>
            <a:r>
              <a:rPr lang="en-US" sz="2400" b="1" i="1" baseline="-25000" dirty="0">
                <a:latin typeface="Times New Roman" panose="02020603050405020304" pitchFamily="18" charset="0"/>
                <a:ea typeface="Times New Roman" panose="02020603050405020304" pitchFamily="18" charset="0"/>
              </a:rPr>
              <a:t>2</a:t>
            </a:r>
            <a:endParaRPr lang="en-US" sz="2400" dirty="0">
              <a:latin typeface="Times New Roman" panose="02020603050405020304" pitchFamily="18" charset="0"/>
              <a:ea typeface="Times New Roman" panose="02020603050405020304" pitchFamily="18" charset="0"/>
            </a:endParaRPr>
          </a:p>
          <a:p>
            <a:pPr algn="just">
              <a:tabLst>
                <a:tab pos="2023110" algn="ctr"/>
              </a:tabLst>
            </a:pPr>
            <a:r>
              <a:rPr lang="en-US" sz="2400" dirty="0">
                <a:latin typeface="Times New Roman" panose="02020603050405020304" pitchFamily="18" charset="0"/>
                <a:ea typeface="Times New Roman" panose="02020603050405020304" pitchFamily="18" charset="0"/>
              </a:rPr>
              <a:t>Computing the moments of inertia of A</a:t>
            </a:r>
            <a:r>
              <a:rPr lang="en-US" sz="2400" baseline="-25000" dirty="0">
                <a:latin typeface="Times New Roman" panose="02020603050405020304" pitchFamily="18" charset="0"/>
                <a:ea typeface="Times New Roman" panose="02020603050405020304" pitchFamily="18" charset="0"/>
              </a:rPr>
              <a:t>2</a:t>
            </a:r>
            <a:r>
              <a:rPr lang="en-US" sz="2400" dirty="0">
                <a:latin typeface="Times New Roman" panose="02020603050405020304" pitchFamily="18" charset="0"/>
                <a:ea typeface="Times New Roman" panose="02020603050405020304" pitchFamily="18" charset="0"/>
              </a:rPr>
              <a:t> with respect to its centroidal axis, and using the parallel axis theorem to transfer it to the x-axis we have</a:t>
            </a:r>
          </a:p>
        </p:txBody>
      </p:sp>
      <p:sp>
        <p:nvSpPr>
          <p:cNvPr id="9" name="Rectangle 4"/>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0" name="Object 9"/>
          <p:cNvGraphicFramePr>
            <a:graphicFrameLocks noChangeAspect="1"/>
          </p:cNvGraphicFramePr>
          <p:nvPr>
            <p:extLst/>
          </p:nvPr>
        </p:nvGraphicFramePr>
        <p:xfrm>
          <a:off x="454976" y="3501308"/>
          <a:ext cx="3812224" cy="3168753"/>
        </p:xfrm>
        <a:graphic>
          <a:graphicData uri="http://schemas.openxmlformats.org/presentationml/2006/ole">
            <mc:AlternateContent xmlns:mc="http://schemas.openxmlformats.org/markup-compatibility/2006">
              <mc:Choice xmlns:v="urn:schemas-microsoft-com:vml" Requires="v">
                <p:oleObj spid="_x0000_s44046" name="Equation" r:id="rId3" imgW="1460160" imgH="1218960" progId="Equation.DSMT4">
                  <p:embed/>
                </p:oleObj>
              </mc:Choice>
              <mc:Fallback>
                <p:oleObj name="Equation" r:id="rId3" imgW="1460160" imgH="1218960" progId="Equation.DSMT4">
                  <p:embed/>
                  <p:pic>
                    <p:nvPicPr>
                      <p:cNvPr id="0" name=""/>
                      <p:cNvPicPr>
                        <a:picLocks noChangeAspect="1" noChangeArrowheads="1"/>
                      </p:cNvPicPr>
                      <p:nvPr/>
                    </p:nvPicPr>
                    <p:blipFill>
                      <a:blip r:embed="rId4"/>
                      <a:srcRect/>
                      <a:stretch>
                        <a:fillRect/>
                      </a:stretch>
                    </p:blipFill>
                    <p:spPr bwMode="auto">
                      <a:xfrm>
                        <a:off x="454976" y="3501308"/>
                        <a:ext cx="3812224" cy="3168753"/>
                      </a:xfrm>
                      <a:prstGeom prst="rect">
                        <a:avLst/>
                      </a:prstGeom>
                      <a:noFill/>
                    </p:spPr>
                  </p:pic>
                </p:oleObj>
              </mc:Fallback>
            </mc:AlternateContent>
          </a:graphicData>
        </a:graphic>
      </p:graphicFrame>
      <p:sp>
        <p:nvSpPr>
          <p:cNvPr id="11" name="Rectangle 10"/>
          <p:cNvSpPr/>
          <p:nvPr/>
        </p:nvSpPr>
        <p:spPr>
          <a:xfrm>
            <a:off x="4722759" y="718751"/>
            <a:ext cx="4286760" cy="2308324"/>
          </a:xfrm>
          <a:prstGeom prst="rect">
            <a:avLst/>
          </a:prstGeom>
        </p:spPr>
        <p:txBody>
          <a:bodyPr wrap="square">
            <a:spAutoFit/>
          </a:bodyPr>
          <a:lstStyle/>
          <a:p>
            <a:pPr algn="just">
              <a:tabLst>
                <a:tab pos="2023110" algn="ctr"/>
              </a:tabLst>
            </a:pPr>
            <a:r>
              <a:rPr lang="en-US" sz="2400" b="1" i="1" dirty="0">
                <a:latin typeface="Times New Roman" panose="02020603050405020304" pitchFamily="18" charset="0"/>
                <a:ea typeface="Times New Roman" panose="02020603050405020304" pitchFamily="18" charset="0"/>
              </a:rPr>
              <a:t>Entire Area A</a:t>
            </a:r>
            <a:endParaRPr lang="en-US" sz="2400" dirty="0">
              <a:latin typeface="Times New Roman" panose="02020603050405020304" pitchFamily="18" charset="0"/>
              <a:ea typeface="Times New Roman" panose="02020603050405020304" pitchFamily="18" charset="0"/>
            </a:endParaRPr>
          </a:p>
          <a:p>
            <a:pPr algn="just">
              <a:tabLst>
                <a:tab pos="2023110" algn="ctr"/>
              </a:tabLst>
            </a:pPr>
            <a:r>
              <a:rPr lang="en-US" sz="2400" dirty="0">
                <a:latin typeface="Times New Roman" panose="02020603050405020304" pitchFamily="18" charset="0"/>
                <a:ea typeface="Times New Roman" panose="02020603050405020304" pitchFamily="18" charset="0"/>
              </a:rPr>
              <a:t>Adding the values computed for the moments of inertia of A</a:t>
            </a:r>
            <a:r>
              <a:rPr lang="en-US" sz="2400" baseline="-25000" dirty="0">
                <a:latin typeface="Times New Roman" panose="02020603050405020304" pitchFamily="18" charset="0"/>
                <a:ea typeface="Times New Roman" panose="02020603050405020304" pitchFamily="18" charset="0"/>
              </a:rPr>
              <a:t>1</a:t>
            </a:r>
            <a:r>
              <a:rPr lang="en-US" sz="2400" dirty="0">
                <a:latin typeface="Times New Roman" panose="02020603050405020304" pitchFamily="18" charset="0"/>
                <a:ea typeface="Times New Roman" panose="02020603050405020304" pitchFamily="18" charset="0"/>
              </a:rPr>
              <a:t> and A</a:t>
            </a:r>
            <a:r>
              <a:rPr lang="en-US" sz="2400" baseline="-25000" dirty="0">
                <a:latin typeface="Times New Roman" panose="02020603050405020304" pitchFamily="18" charset="0"/>
                <a:ea typeface="Times New Roman" panose="02020603050405020304" pitchFamily="18" charset="0"/>
              </a:rPr>
              <a:t>2</a:t>
            </a:r>
            <a:r>
              <a:rPr lang="en-US" sz="2400" dirty="0">
                <a:latin typeface="Times New Roman" panose="02020603050405020304" pitchFamily="18" charset="0"/>
                <a:ea typeface="Times New Roman" panose="02020603050405020304" pitchFamily="18" charset="0"/>
              </a:rPr>
              <a:t> with respect to the x axis, we obtain the moment of inertia I</a:t>
            </a:r>
            <a:r>
              <a:rPr lang="en-US" sz="2400" baseline="-25000" dirty="0">
                <a:latin typeface="Times New Roman" panose="02020603050405020304" pitchFamily="18" charset="0"/>
                <a:ea typeface="Times New Roman" panose="02020603050405020304" pitchFamily="18" charset="0"/>
              </a:rPr>
              <a:t>x</a:t>
            </a:r>
            <a:r>
              <a:rPr lang="en-US" sz="2400" dirty="0">
                <a:latin typeface="Times New Roman" panose="02020603050405020304" pitchFamily="18" charset="0"/>
                <a:ea typeface="Times New Roman" panose="02020603050405020304" pitchFamily="18" charset="0"/>
              </a:rPr>
              <a:t> of the entire area:</a:t>
            </a:r>
          </a:p>
        </p:txBody>
      </p:sp>
      <p:sp>
        <p:nvSpPr>
          <p:cNvPr id="12" name="Rectangle 8"/>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3" name="Object 12"/>
          <p:cNvGraphicFramePr>
            <a:graphicFrameLocks noChangeAspect="1"/>
          </p:cNvGraphicFramePr>
          <p:nvPr>
            <p:extLst/>
          </p:nvPr>
        </p:nvGraphicFramePr>
        <p:xfrm>
          <a:off x="4724271" y="3057684"/>
          <a:ext cx="4352304" cy="1285715"/>
        </p:xfrm>
        <a:graphic>
          <a:graphicData uri="http://schemas.openxmlformats.org/presentationml/2006/ole">
            <mc:AlternateContent xmlns:mc="http://schemas.openxmlformats.org/markup-compatibility/2006">
              <mc:Choice xmlns:v="urn:schemas-microsoft-com:vml" Requires="v">
                <p:oleObj spid="_x0000_s44047" name="Equation" r:id="rId5" imgW="1701720" imgH="507960" progId="Equation.DSMT4">
                  <p:embed/>
                </p:oleObj>
              </mc:Choice>
              <mc:Fallback>
                <p:oleObj name="Equation" r:id="rId5" imgW="1701720" imgH="507960" progId="Equation.DSMT4">
                  <p:embed/>
                  <p:pic>
                    <p:nvPicPr>
                      <p:cNvPr id="0" name=""/>
                      <p:cNvPicPr>
                        <a:picLocks noChangeAspect="1" noChangeArrowheads="1"/>
                      </p:cNvPicPr>
                      <p:nvPr/>
                    </p:nvPicPr>
                    <p:blipFill>
                      <a:blip r:embed="rId6"/>
                      <a:srcRect/>
                      <a:stretch>
                        <a:fillRect/>
                      </a:stretch>
                    </p:blipFill>
                    <p:spPr bwMode="auto">
                      <a:xfrm>
                        <a:off x="4724271" y="3057684"/>
                        <a:ext cx="4352304" cy="1285715"/>
                      </a:xfrm>
                      <a:prstGeom prst="rect">
                        <a:avLst/>
                      </a:prstGeom>
                      <a:noFill/>
                    </p:spPr>
                  </p:pic>
                </p:oleObj>
              </mc:Fallback>
            </mc:AlternateContent>
          </a:graphicData>
        </a:graphic>
      </p:graphicFrame>
      <p:sp>
        <p:nvSpPr>
          <p:cNvPr id="14" name="Rectangle 10"/>
          <p:cNvSpPr>
            <a:spLocks noChangeArrowheads="1"/>
          </p:cNvSpPr>
          <p:nvPr/>
        </p:nvSpPr>
        <p:spPr bwMode="auto">
          <a:xfrm>
            <a:off x="1" y="718751"/>
            <a:ext cx="13856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endParaRPr lang="en-US" sz="1350"/>
          </a:p>
        </p:txBody>
      </p:sp>
      <p:graphicFrame>
        <p:nvGraphicFramePr>
          <p:cNvPr id="15" name="Object 14"/>
          <p:cNvGraphicFramePr>
            <a:graphicFrameLocks noChangeAspect="1"/>
          </p:cNvGraphicFramePr>
          <p:nvPr>
            <p:extLst/>
          </p:nvPr>
        </p:nvGraphicFramePr>
        <p:xfrm>
          <a:off x="4876800" y="4800600"/>
          <a:ext cx="4279392" cy="685800"/>
        </p:xfrm>
        <a:graphic>
          <a:graphicData uri="http://schemas.openxmlformats.org/presentationml/2006/ole">
            <mc:AlternateContent xmlns:mc="http://schemas.openxmlformats.org/markup-compatibility/2006">
              <mc:Choice xmlns:v="urn:schemas-microsoft-com:vml" Requires="v">
                <p:oleObj spid="_x0000_s44048" name="Equation" r:id="rId7" imgW="1485900" imgH="241300" progId="Equation.DSMT4">
                  <p:embed/>
                </p:oleObj>
              </mc:Choice>
              <mc:Fallback>
                <p:oleObj name="Equation" r:id="rId7" imgW="1485900" imgH="2413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76800" y="4800600"/>
                        <a:ext cx="4279392" cy="685800"/>
                      </a:xfrm>
                      <a:prstGeom prst="rect">
                        <a:avLst/>
                      </a:prstGeom>
                      <a:noFill/>
                    </p:spPr>
                  </p:pic>
                </p:oleObj>
              </mc:Fallback>
            </mc:AlternateContent>
          </a:graphicData>
        </a:graphic>
      </p:graphicFrame>
      <p:sp>
        <p:nvSpPr>
          <p:cNvPr id="16" name="Title 2"/>
          <p:cNvSpPr>
            <a:spLocks noGrp="1"/>
          </p:cNvSpPr>
          <p:nvPr>
            <p:ph type="title"/>
          </p:nvPr>
        </p:nvSpPr>
        <p:spPr>
          <a:xfrm>
            <a:off x="838200" y="183177"/>
            <a:ext cx="7498080" cy="461665"/>
          </a:xfrm>
        </p:spPr>
        <p:txBody>
          <a:bodyPr/>
          <a:lstStyle/>
          <a:p>
            <a:r>
              <a:rPr lang="en-US" dirty="0">
                <a:solidFill>
                  <a:schemeClr val="accent6"/>
                </a:solidFill>
              </a:rPr>
              <a:t>Example </a:t>
            </a:r>
            <a:r>
              <a:rPr lang="en-US" dirty="0" smtClean="0">
                <a:solidFill>
                  <a:schemeClr val="accent6"/>
                </a:solidFill>
              </a:rPr>
              <a:t>1.7 </a:t>
            </a:r>
            <a:r>
              <a:rPr lang="en-US" dirty="0" smtClean="0">
                <a:solidFill>
                  <a:schemeClr val="accent6"/>
                </a:solidFill>
              </a:rPr>
              <a:t>Continues</a:t>
            </a:r>
            <a:endParaRPr lang="en-US" dirty="0"/>
          </a:p>
        </p:txBody>
      </p:sp>
    </p:spTree>
    <p:extLst>
      <p:ext uri="{BB962C8B-B14F-4D97-AF65-F5344CB8AC3E}">
        <p14:creationId xmlns:p14="http://schemas.microsoft.com/office/powerpoint/2010/main" val="206650612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9867" y="304800"/>
            <a:ext cx="7886700" cy="348245"/>
          </a:xfrm>
        </p:spPr>
        <p:txBody>
          <a:bodyPr>
            <a:noAutofit/>
          </a:bodyPr>
          <a:lstStyle/>
          <a:p>
            <a:r>
              <a:rPr lang="en-US" b="1" dirty="0">
                <a:solidFill>
                  <a:schemeClr val="accent6"/>
                </a:solidFill>
              </a:rPr>
              <a:t>Example </a:t>
            </a:r>
            <a:r>
              <a:rPr lang="en-US" b="1" dirty="0" smtClean="0">
                <a:solidFill>
                  <a:schemeClr val="accent6"/>
                </a:solidFill>
              </a:rPr>
              <a:t>1-8</a:t>
            </a:r>
            <a:endParaRPr lang="en-US" dirty="0">
              <a:solidFill>
                <a:schemeClr val="accent6"/>
              </a:solidFill>
            </a:endParaRPr>
          </a:p>
        </p:txBody>
      </p:sp>
      <p:sp>
        <p:nvSpPr>
          <p:cNvPr id="3" name="Content Placeholder 2"/>
          <p:cNvSpPr>
            <a:spLocks noGrp="1"/>
          </p:cNvSpPr>
          <p:nvPr>
            <p:ph idx="1"/>
          </p:nvPr>
        </p:nvSpPr>
        <p:spPr>
          <a:xfrm>
            <a:off x="381000" y="689488"/>
            <a:ext cx="8612687" cy="4011461"/>
          </a:xfrm>
        </p:spPr>
        <p:txBody>
          <a:bodyPr>
            <a:normAutofit/>
          </a:bodyPr>
          <a:lstStyle/>
          <a:p>
            <a:pPr marL="82296" indent="0">
              <a:buNone/>
            </a:pPr>
            <a:r>
              <a:rPr lang="en-US" dirty="0"/>
              <a:t>Determine the centroid and the moment of inertia of the composite area in Figure </a:t>
            </a:r>
            <a:r>
              <a:rPr lang="en-US" dirty="0" smtClean="0"/>
              <a:t>E </a:t>
            </a:r>
            <a:r>
              <a:rPr lang="en-US" dirty="0" smtClean="0"/>
              <a:t>1-</a:t>
            </a:r>
            <a:r>
              <a:rPr lang="en-US" dirty="0" smtClean="0"/>
              <a:t>8</a:t>
            </a:r>
            <a:r>
              <a:rPr lang="en-US" dirty="0" smtClean="0"/>
              <a:t>.</a:t>
            </a:r>
            <a:endParaRPr lang="en-US" dirty="0"/>
          </a:p>
          <a:p>
            <a:endParaRPr lang="en-US" dirty="0"/>
          </a:p>
          <a:p>
            <a:endParaRPr lang="en-US" dirty="0"/>
          </a:p>
        </p:txBody>
      </p:sp>
      <p:pic>
        <p:nvPicPr>
          <p:cNvPr id="4" name="Picture 3"/>
          <p:cNvPicPr/>
          <p:nvPr/>
        </p:nvPicPr>
        <p:blipFill>
          <a:blip r:embed="rId2"/>
          <a:srcRect/>
          <a:stretch>
            <a:fillRect/>
          </a:stretch>
        </p:blipFill>
        <p:spPr bwMode="auto">
          <a:xfrm>
            <a:off x="1382217" y="1905000"/>
            <a:ext cx="6121999" cy="4114800"/>
          </a:xfrm>
          <a:prstGeom prst="rect">
            <a:avLst/>
          </a:prstGeom>
          <a:noFill/>
          <a:ln w="9525">
            <a:noFill/>
            <a:miter lim="800000"/>
            <a:headEnd/>
            <a:tailEnd/>
          </a:ln>
        </p:spPr>
      </p:pic>
      <p:sp>
        <p:nvSpPr>
          <p:cNvPr id="5" name="Rectangle 4"/>
          <p:cNvSpPr/>
          <p:nvPr/>
        </p:nvSpPr>
        <p:spPr>
          <a:xfrm>
            <a:off x="2630628" y="5359888"/>
            <a:ext cx="2042547" cy="300082"/>
          </a:xfrm>
          <a:prstGeom prst="rect">
            <a:avLst/>
          </a:prstGeom>
        </p:spPr>
        <p:txBody>
          <a:bodyPr wrap="none">
            <a:spAutoFit/>
          </a:bodyPr>
          <a:lstStyle/>
          <a:p>
            <a:r>
              <a:rPr lang="en-US" sz="1350" dirty="0">
                <a:solidFill>
                  <a:srgbClr val="000000"/>
                </a:solidFill>
                <a:latin typeface="Times New Roman" panose="02020603050405020304" pitchFamily="18" charset="0"/>
                <a:ea typeface="Times New Roman" panose="02020603050405020304" pitchFamily="18" charset="0"/>
              </a:rPr>
              <a:t>	</a:t>
            </a:r>
            <a:r>
              <a:rPr lang="en-US" sz="1350" dirty="0">
                <a:latin typeface="Century Gothic" panose="020B0502020202020204" pitchFamily="34" charset="0"/>
              </a:rPr>
              <a:t>Figure </a:t>
            </a:r>
            <a:r>
              <a:rPr lang="en-US" sz="1350" dirty="0" smtClean="0">
                <a:latin typeface="Century Gothic" panose="020B0502020202020204" pitchFamily="34" charset="0"/>
              </a:rPr>
              <a:t>E 2.8</a:t>
            </a:r>
            <a:endParaRPr lang="en-US" sz="1350" dirty="0">
              <a:latin typeface="Century Gothic" panose="020B0502020202020204" pitchFamily="34" charset="0"/>
            </a:endParaRPr>
          </a:p>
        </p:txBody>
      </p:sp>
    </p:spTree>
    <p:extLst>
      <p:ext uri="{BB962C8B-B14F-4D97-AF65-F5344CB8AC3E}">
        <p14:creationId xmlns:p14="http://schemas.microsoft.com/office/powerpoint/2010/main" val="167598469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5" name="Content Placeholder 44"/>
              <p:cNvGraphicFramePr>
                <a:graphicFrameLocks noGrp="1"/>
              </p:cNvGraphicFramePr>
              <p:nvPr>
                <p:ph idx="1"/>
                <p:extLst/>
              </p:nvPr>
            </p:nvGraphicFramePr>
            <p:xfrm>
              <a:off x="1066800" y="1752600"/>
              <a:ext cx="7391400" cy="3113035"/>
            </p:xfrm>
            <a:graphic>
              <a:graphicData uri="http://schemas.openxmlformats.org/drawingml/2006/table">
                <a:tbl>
                  <a:tblPr firstRow="1" firstCol="1" bandRow="1">
                    <a:tableStyleId>{5C22544A-7EE6-4342-B048-85BDC9FD1C3A}</a:tableStyleId>
                  </a:tblPr>
                  <a:tblGrid>
                    <a:gridCol w="1372688"/>
                    <a:gridCol w="2455001"/>
                    <a:gridCol w="1583872"/>
                    <a:gridCol w="1979839"/>
                  </a:tblGrid>
                  <a:tr h="622607">
                    <a:tc>
                      <a:txBody>
                        <a:bodyPr/>
                        <a:lstStyle/>
                        <a:p>
                          <a:pPr marL="0" marR="0">
                            <a:lnSpc>
                              <a:spcPct val="115000"/>
                            </a:lnSpc>
                            <a:spcBef>
                              <a:spcPts val="0"/>
                            </a:spcBef>
                            <a:spcAft>
                              <a:spcPts val="1000"/>
                            </a:spcAft>
                          </a:pPr>
                          <a:r>
                            <a:rPr lang="en-US" sz="2400" dirty="0">
                              <a:effectLst/>
                              <a:latin typeface="+mn-lt"/>
                            </a:rPr>
                            <a:t>Section</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Area [cm</a:t>
                          </a:r>
                          <a:r>
                            <a:rPr lang="en-US" sz="2400" baseline="30000">
                              <a:effectLst/>
                              <a:latin typeface="+mn-lt"/>
                            </a:rPr>
                            <a:t>2</a:t>
                          </a:r>
                          <a:r>
                            <a:rPr lang="en-US" sz="2400">
                              <a:effectLst/>
                              <a:latin typeface="+mn-lt"/>
                            </a:rPr>
                            <a:t>]</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14:m>
                            <m:oMath xmlns:m="http://schemas.openxmlformats.org/officeDocument/2006/math">
                              <m:acc>
                                <m:accPr>
                                  <m:chr m:val="̅"/>
                                  <m:ctrlPr>
                                    <a:rPr lang="en-US" sz="2400" i="1">
                                      <a:effectLst/>
                                      <a:latin typeface="Cambria Math" panose="02040503050406030204" pitchFamily="18" charset="0"/>
                                    </a:rPr>
                                  </m:ctrlPr>
                                </m:accPr>
                                <m:e>
                                  <m:r>
                                    <a:rPr lang="en-US" sz="2400">
                                      <a:effectLst/>
                                      <a:latin typeface="Cambria Math" panose="02040503050406030204" pitchFamily="18" charset="0"/>
                                    </a:rPr>
                                    <m:t>𝑌</m:t>
                                  </m:r>
                                </m:e>
                              </m:acc>
                            </m:oMath>
                          </a14:m>
                          <a:r>
                            <a:rPr lang="en-US" sz="2400">
                              <a:effectLst/>
                              <a:latin typeface="+mn-lt"/>
                            </a:rPr>
                            <a:t> [cm]</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14:m>
                            <m:oMath xmlns:m="http://schemas.openxmlformats.org/officeDocument/2006/math">
                              <m:acc>
                                <m:accPr>
                                  <m:chr m:val="̅"/>
                                  <m:ctrlPr>
                                    <a:rPr lang="en-US" sz="2400" i="1">
                                      <a:effectLst/>
                                      <a:latin typeface="Cambria Math" panose="02040503050406030204" pitchFamily="18" charset="0"/>
                                    </a:rPr>
                                  </m:ctrlPr>
                                </m:accPr>
                                <m:e>
                                  <m:r>
                                    <a:rPr lang="en-US" sz="2400">
                                      <a:effectLst/>
                                      <a:latin typeface="Cambria Math" panose="02040503050406030204" pitchFamily="18" charset="0"/>
                                    </a:rPr>
                                    <m:t>𝑌</m:t>
                                  </m:r>
                                </m:e>
                              </m:acc>
                            </m:oMath>
                          </a14:m>
                          <a:r>
                            <a:rPr lang="en-US" sz="2400" dirty="0">
                              <a:effectLst/>
                              <a:latin typeface="+mn-lt"/>
                            </a:rPr>
                            <a:t>A [cm</a:t>
                          </a:r>
                          <a:r>
                            <a:rPr lang="en-US" sz="2400" baseline="30000" dirty="0">
                              <a:effectLst/>
                              <a:latin typeface="+mn-lt"/>
                            </a:rPr>
                            <a:t>3</a:t>
                          </a:r>
                          <a:r>
                            <a:rPr lang="en-US" sz="2400" dirty="0">
                              <a:effectLst/>
                              <a:latin typeface="+mn-lt"/>
                            </a:rPr>
                            <a:t>]</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r>
                  <a:tr h="622607">
                    <a:tc>
                      <a:txBody>
                        <a:bodyPr/>
                        <a:lstStyle/>
                        <a:p>
                          <a:pPr marL="0" marR="0">
                            <a:lnSpc>
                              <a:spcPct val="115000"/>
                            </a:lnSpc>
                            <a:spcBef>
                              <a:spcPts val="0"/>
                            </a:spcBef>
                            <a:spcAft>
                              <a:spcPts val="1000"/>
                            </a:spcAft>
                          </a:pPr>
                          <a:r>
                            <a:rPr lang="en-US" sz="2400">
                              <a:effectLst/>
                              <a:latin typeface="+mn-lt"/>
                            </a:rPr>
                            <a:t>A</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5 x 30 = 150</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2.5</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375</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r>
                  <a:tr h="622607">
                    <a:tc>
                      <a:txBody>
                        <a:bodyPr/>
                        <a:lstStyle/>
                        <a:p>
                          <a:pPr marL="0" marR="0">
                            <a:lnSpc>
                              <a:spcPct val="115000"/>
                            </a:lnSpc>
                            <a:spcBef>
                              <a:spcPts val="0"/>
                            </a:spcBef>
                            <a:spcAft>
                              <a:spcPts val="1000"/>
                            </a:spcAft>
                          </a:pPr>
                          <a:r>
                            <a:rPr lang="en-US" sz="2400">
                              <a:effectLst/>
                              <a:latin typeface="+mn-lt"/>
                            </a:rPr>
                            <a:t>B</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dirty="0">
                              <a:effectLst/>
                              <a:latin typeface="+mn-lt"/>
                            </a:rPr>
                            <a:t>5 x 20 = 100</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7.5</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750</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r>
                  <a:tr h="622607">
                    <a:tc>
                      <a:txBody>
                        <a:bodyPr/>
                        <a:lstStyle/>
                        <a:p>
                          <a:pPr marL="0" marR="0">
                            <a:lnSpc>
                              <a:spcPct val="115000"/>
                            </a:lnSpc>
                            <a:spcBef>
                              <a:spcPts val="0"/>
                            </a:spcBef>
                            <a:spcAft>
                              <a:spcPts val="1000"/>
                            </a:spcAft>
                          </a:pPr>
                          <a:r>
                            <a:rPr lang="en-US" sz="2400">
                              <a:effectLst/>
                              <a:latin typeface="+mn-lt"/>
                            </a:rPr>
                            <a:t>C</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dirty="0">
                              <a:effectLst/>
                              <a:latin typeface="+mn-lt"/>
                            </a:rPr>
                            <a:t>5 x 10 = 50</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12.5</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dirty="0">
                              <a:effectLst/>
                              <a:latin typeface="+mn-lt"/>
                            </a:rPr>
                            <a:t>625</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r>
                  <a:tr h="622607">
                    <a:tc>
                      <a:txBody>
                        <a:bodyPr/>
                        <a:lstStyle/>
                        <a:p>
                          <a:pPr marL="0" marR="0">
                            <a:lnSpc>
                              <a:spcPct val="115000"/>
                            </a:lnSpc>
                            <a:spcBef>
                              <a:spcPts val="0"/>
                            </a:spcBef>
                            <a:spcAft>
                              <a:spcPts val="1000"/>
                            </a:spcAft>
                          </a:pPr>
                          <a:r>
                            <a:rPr lang="en-US" sz="2400">
                              <a:effectLst/>
                              <a:latin typeface="+mn-lt"/>
                            </a:rPr>
                            <a:t>Sum</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300</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 </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dirty="0">
                              <a:effectLst/>
                              <a:latin typeface="+mn-lt"/>
                            </a:rPr>
                            <a:t>1750</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r>
                </a:tbl>
              </a:graphicData>
            </a:graphic>
          </p:graphicFrame>
        </mc:Choice>
        <mc:Fallback xmlns="">
          <p:graphicFrame>
            <p:nvGraphicFramePr>
              <p:cNvPr id="45" name="Content Placeholder 44"/>
              <p:cNvGraphicFramePr>
                <a:graphicFrameLocks noGrp="1"/>
              </p:cNvGraphicFramePr>
              <p:nvPr>
                <p:ph idx="1"/>
                <p:extLst>
                  <p:ext uri="{D42A27DB-BD31-4B8C-83A1-F6EECF244321}">
                    <p14:modId xmlns:p14="http://schemas.microsoft.com/office/powerpoint/2010/main" val="2566849476"/>
                  </p:ext>
                </p:extLst>
              </p:nvPr>
            </p:nvGraphicFramePr>
            <p:xfrm>
              <a:off x="1066800" y="1752600"/>
              <a:ext cx="7391400" cy="3113035"/>
            </p:xfrm>
            <a:graphic>
              <a:graphicData uri="http://schemas.openxmlformats.org/drawingml/2006/table">
                <a:tbl>
                  <a:tblPr firstRow="1" firstCol="1" bandRow="1">
                    <a:tableStyleId>{5C22544A-7EE6-4342-B048-85BDC9FD1C3A}</a:tableStyleId>
                  </a:tblPr>
                  <a:tblGrid>
                    <a:gridCol w="1372688"/>
                    <a:gridCol w="2455001"/>
                    <a:gridCol w="1583872"/>
                    <a:gridCol w="1979839"/>
                  </a:tblGrid>
                  <a:tr h="622607">
                    <a:tc>
                      <a:txBody>
                        <a:bodyPr/>
                        <a:lstStyle/>
                        <a:p>
                          <a:pPr marL="0" marR="0">
                            <a:lnSpc>
                              <a:spcPct val="115000"/>
                            </a:lnSpc>
                            <a:spcBef>
                              <a:spcPts val="0"/>
                            </a:spcBef>
                            <a:spcAft>
                              <a:spcPts val="1000"/>
                            </a:spcAft>
                          </a:pPr>
                          <a:r>
                            <a:rPr lang="en-US" sz="2400" dirty="0">
                              <a:effectLst/>
                              <a:latin typeface="+mn-lt"/>
                            </a:rPr>
                            <a:t>Section</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Area [cm</a:t>
                          </a:r>
                          <a:r>
                            <a:rPr lang="en-US" sz="2400" baseline="30000">
                              <a:effectLst/>
                              <a:latin typeface="+mn-lt"/>
                            </a:rPr>
                            <a:t>2</a:t>
                          </a:r>
                          <a:r>
                            <a:rPr lang="en-US" sz="2400">
                              <a:effectLst/>
                              <a:latin typeface="+mn-lt"/>
                            </a:rPr>
                            <a:t>]</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endParaRPr lang="en-US"/>
                        </a:p>
                      </a:txBody>
                      <a:tcPr marL="51435" marR="51435" marT="0" marB="0">
                        <a:blipFill rotWithShape="0">
                          <a:blip r:embed="rId2"/>
                          <a:stretch>
                            <a:fillRect l="-242308" t="-10784" r="-126538" b="-403922"/>
                          </a:stretch>
                        </a:blipFill>
                      </a:tcPr>
                    </a:tc>
                    <a:tc>
                      <a:txBody>
                        <a:bodyPr/>
                        <a:lstStyle/>
                        <a:p>
                          <a:endParaRPr lang="en-US"/>
                        </a:p>
                      </a:txBody>
                      <a:tcPr marL="51435" marR="51435" marT="0" marB="0">
                        <a:blipFill rotWithShape="0">
                          <a:blip r:embed="rId2"/>
                          <a:stretch>
                            <a:fillRect l="-273846" t="-10784" r="-1231" b="-403922"/>
                          </a:stretch>
                        </a:blipFill>
                      </a:tcPr>
                    </a:tc>
                  </a:tr>
                  <a:tr h="622607">
                    <a:tc>
                      <a:txBody>
                        <a:bodyPr/>
                        <a:lstStyle/>
                        <a:p>
                          <a:pPr marL="0" marR="0">
                            <a:lnSpc>
                              <a:spcPct val="115000"/>
                            </a:lnSpc>
                            <a:spcBef>
                              <a:spcPts val="0"/>
                            </a:spcBef>
                            <a:spcAft>
                              <a:spcPts val="1000"/>
                            </a:spcAft>
                          </a:pPr>
                          <a:r>
                            <a:rPr lang="en-US" sz="2400">
                              <a:effectLst/>
                              <a:latin typeface="+mn-lt"/>
                            </a:rPr>
                            <a:t>A</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5 x 30 = 150</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2.5</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375</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r>
                  <a:tr h="622607">
                    <a:tc>
                      <a:txBody>
                        <a:bodyPr/>
                        <a:lstStyle/>
                        <a:p>
                          <a:pPr marL="0" marR="0">
                            <a:lnSpc>
                              <a:spcPct val="115000"/>
                            </a:lnSpc>
                            <a:spcBef>
                              <a:spcPts val="0"/>
                            </a:spcBef>
                            <a:spcAft>
                              <a:spcPts val="1000"/>
                            </a:spcAft>
                          </a:pPr>
                          <a:r>
                            <a:rPr lang="en-US" sz="2400">
                              <a:effectLst/>
                              <a:latin typeface="+mn-lt"/>
                            </a:rPr>
                            <a:t>B</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dirty="0">
                              <a:effectLst/>
                              <a:latin typeface="+mn-lt"/>
                            </a:rPr>
                            <a:t>5 x 20 = 100</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7.5</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750</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r>
                  <a:tr h="622607">
                    <a:tc>
                      <a:txBody>
                        <a:bodyPr/>
                        <a:lstStyle/>
                        <a:p>
                          <a:pPr marL="0" marR="0">
                            <a:lnSpc>
                              <a:spcPct val="115000"/>
                            </a:lnSpc>
                            <a:spcBef>
                              <a:spcPts val="0"/>
                            </a:spcBef>
                            <a:spcAft>
                              <a:spcPts val="1000"/>
                            </a:spcAft>
                          </a:pPr>
                          <a:r>
                            <a:rPr lang="en-US" sz="2400">
                              <a:effectLst/>
                              <a:latin typeface="+mn-lt"/>
                            </a:rPr>
                            <a:t>C</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dirty="0">
                              <a:effectLst/>
                              <a:latin typeface="+mn-lt"/>
                            </a:rPr>
                            <a:t>5 x 10 = 50</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12.5</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dirty="0">
                              <a:effectLst/>
                              <a:latin typeface="+mn-lt"/>
                            </a:rPr>
                            <a:t>625</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r>
                  <a:tr h="622607">
                    <a:tc>
                      <a:txBody>
                        <a:bodyPr/>
                        <a:lstStyle/>
                        <a:p>
                          <a:pPr marL="0" marR="0">
                            <a:lnSpc>
                              <a:spcPct val="115000"/>
                            </a:lnSpc>
                            <a:spcBef>
                              <a:spcPts val="0"/>
                            </a:spcBef>
                            <a:spcAft>
                              <a:spcPts val="1000"/>
                            </a:spcAft>
                          </a:pPr>
                          <a:r>
                            <a:rPr lang="en-US" sz="2400">
                              <a:effectLst/>
                              <a:latin typeface="+mn-lt"/>
                            </a:rPr>
                            <a:t>Sum</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300</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a:effectLst/>
                              <a:latin typeface="+mn-lt"/>
                            </a:rPr>
                            <a:t> </a:t>
                          </a:r>
                          <a:endParaRPr lang="en-US" sz="2400">
                            <a:effectLst/>
                            <a:latin typeface="+mn-lt"/>
                            <a:ea typeface="Times New Roman" panose="02020603050405020304" pitchFamily="18" charset="0"/>
                            <a:cs typeface="Times New Roman" panose="02020603050405020304" pitchFamily="18" charset="0"/>
                          </a:endParaRPr>
                        </a:p>
                      </a:txBody>
                      <a:tcPr marL="51435" marR="51435" marT="0" marB="0"/>
                    </a:tc>
                    <a:tc>
                      <a:txBody>
                        <a:bodyPr/>
                        <a:lstStyle/>
                        <a:p>
                          <a:pPr marL="0" marR="0">
                            <a:lnSpc>
                              <a:spcPct val="115000"/>
                            </a:lnSpc>
                            <a:spcBef>
                              <a:spcPts val="0"/>
                            </a:spcBef>
                            <a:spcAft>
                              <a:spcPts val="1000"/>
                            </a:spcAft>
                          </a:pPr>
                          <a:r>
                            <a:rPr lang="en-US" sz="2400" dirty="0">
                              <a:effectLst/>
                              <a:latin typeface="+mn-lt"/>
                            </a:rPr>
                            <a:t>1750</a:t>
                          </a:r>
                          <a:endParaRPr lang="en-US" sz="2400" dirty="0">
                            <a:effectLst/>
                            <a:latin typeface="+mn-lt"/>
                            <a:ea typeface="Times New Roman" panose="02020603050405020304" pitchFamily="18" charset="0"/>
                            <a:cs typeface="Times New Roman" panose="02020603050405020304" pitchFamily="18" charset="0"/>
                          </a:endParaRPr>
                        </a:p>
                      </a:txBody>
                      <a:tcPr marL="51435" marR="51435" marT="0" marB="0"/>
                    </a:tc>
                  </a:tr>
                </a:tbl>
              </a:graphicData>
            </a:graphic>
          </p:graphicFrame>
        </mc:Fallback>
      </mc:AlternateContent>
      <p:sp>
        <p:nvSpPr>
          <p:cNvPr id="3" name="Title 2"/>
          <p:cNvSpPr>
            <a:spLocks noGrp="1"/>
          </p:cNvSpPr>
          <p:nvPr>
            <p:ph type="title"/>
          </p:nvPr>
        </p:nvSpPr>
        <p:spPr/>
        <p:txBody>
          <a:bodyPr/>
          <a:lstStyle/>
          <a:p>
            <a:r>
              <a:rPr lang="en-US" dirty="0">
                <a:solidFill>
                  <a:schemeClr val="accent6"/>
                </a:solidFill>
              </a:rPr>
              <a:t>Example </a:t>
            </a:r>
            <a:r>
              <a:rPr lang="en-US" dirty="0" smtClean="0">
                <a:solidFill>
                  <a:schemeClr val="accent6"/>
                </a:solidFill>
              </a:rPr>
              <a:t>2.8 Continues</a:t>
            </a:r>
            <a:endParaRPr lang="en-US" dirty="0"/>
          </a:p>
        </p:txBody>
      </p:sp>
    </p:spTree>
    <p:extLst>
      <p:ext uri="{BB962C8B-B14F-4D97-AF65-F5344CB8AC3E}">
        <p14:creationId xmlns:p14="http://schemas.microsoft.com/office/powerpoint/2010/main" val="110102633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6"/>
                </a:solidFill>
              </a:rPr>
              <a:t>Example </a:t>
            </a:r>
            <a:r>
              <a:rPr lang="en-US" dirty="0" smtClean="0">
                <a:solidFill>
                  <a:schemeClr val="accent6"/>
                </a:solidFill>
              </a:rPr>
              <a:t>2-8 </a:t>
            </a:r>
            <a:r>
              <a:rPr lang="en-US" dirty="0">
                <a:solidFill>
                  <a:schemeClr val="accent6"/>
                </a:solidFill>
              </a:rPr>
              <a:t>Continues</a:t>
            </a:r>
            <a:endParaRPr lang="en-US" dirty="0"/>
          </a:p>
        </p:txBody>
      </p:sp>
      <p:pic>
        <p:nvPicPr>
          <p:cNvPr id="3" name="Picture 2"/>
          <p:cNvPicPr>
            <a:picLocks noChangeAspect="1"/>
          </p:cNvPicPr>
          <p:nvPr/>
        </p:nvPicPr>
        <p:blipFill rotWithShape="1">
          <a:blip r:embed="rId2"/>
          <a:srcRect r="28191"/>
          <a:stretch/>
        </p:blipFill>
        <p:spPr>
          <a:xfrm>
            <a:off x="380999" y="644842"/>
            <a:ext cx="8634763" cy="5679758"/>
          </a:xfrm>
          <a:prstGeom prst="rect">
            <a:avLst/>
          </a:prstGeom>
        </p:spPr>
      </p:pic>
    </p:spTree>
    <p:extLst>
      <p:ext uri="{BB962C8B-B14F-4D97-AF65-F5344CB8AC3E}">
        <p14:creationId xmlns:p14="http://schemas.microsoft.com/office/powerpoint/2010/main" val="25027080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9215741">
            <a:off x="397969" y="3288731"/>
            <a:ext cx="8771087" cy="1077218"/>
          </a:xfrm>
        </p:spPr>
        <p:txBody>
          <a:bodyPr/>
          <a:lstStyle/>
          <a:p>
            <a:r>
              <a:rPr lang="en-US" altLang="en-US" sz="3200" dirty="0">
                <a:solidFill>
                  <a:srgbClr val="002060"/>
                </a:solidFill>
                <a:latin typeface="Arial Black" panose="020B0A04020102020204" pitchFamily="34" charset="0"/>
              </a:rPr>
              <a:t>Review </a:t>
            </a:r>
            <a:r>
              <a:rPr lang="en-US" altLang="en-US" sz="3200" dirty="0" smtClean="0">
                <a:solidFill>
                  <a:srgbClr val="002060"/>
                </a:solidFill>
                <a:latin typeface="Arial Black" panose="020B0A04020102020204" pitchFamily="34" charset="0"/>
              </a:rPr>
              <a:t>of </a:t>
            </a:r>
            <a:r>
              <a:rPr lang="en-US" altLang="en-US" sz="3200" dirty="0">
                <a:solidFill>
                  <a:srgbClr val="002060"/>
                </a:solidFill>
                <a:latin typeface="Arial Black" panose="020B0A04020102020204" pitchFamily="34" charset="0"/>
              </a:rPr>
              <a:t>Equilibrium </a:t>
            </a:r>
            <a:r>
              <a:rPr lang="en-US" altLang="en-US" sz="3200" dirty="0" smtClean="0">
                <a:solidFill>
                  <a:srgbClr val="002060"/>
                </a:solidFill>
                <a:latin typeface="Arial Black" panose="020B0A04020102020204" pitchFamily="34" charset="0"/>
              </a:rPr>
              <a:t>of </a:t>
            </a:r>
            <a:r>
              <a:rPr lang="en-US" altLang="en-US" sz="3200" dirty="0">
                <a:solidFill>
                  <a:srgbClr val="002060"/>
                </a:solidFill>
                <a:latin typeface="Arial Black" panose="020B0A04020102020204" pitchFamily="34" charset="0"/>
              </a:rPr>
              <a:t>Rigid Bodies</a:t>
            </a:r>
            <a:endParaRPr lang="en-US" sz="3200" dirty="0">
              <a:solidFill>
                <a:srgbClr val="002060"/>
              </a:solidFill>
              <a:latin typeface="Arial Black" panose="020B0A04020102020204" pitchFamily="34" charset="0"/>
            </a:endParaRPr>
          </a:p>
        </p:txBody>
      </p:sp>
    </p:spTree>
    <p:extLst>
      <p:ext uri="{BB962C8B-B14F-4D97-AF65-F5344CB8AC3E}">
        <p14:creationId xmlns:p14="http://schemas.microsoft.com/office/powerpoint/2010/main" val="183141357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solidFill>
                  <a:srgbClr val="002060"/>
                </a:solidFill>
              </a:rPr>
              <a:t>Section Outline</a:t>
            </a:r>
            <a:endParaRPr lang="en-US" dirty="0">
              <a:solidFill>
                <a:srgbClr val="002060"/>
              </a:solidFill>
            </a:endParaRPr>
          </a:p>
        </p:txBody>
      </p:sp>
      <p:sp>
        <p:nvSpPr>
          <p:cNvPr id="3" name="Rectangle 2"/>
          <p:cNvSpPr/>
          <p:nvPr/>
        </p:nvSpPr>
        <p:spPr>
          <a:xfrm>
            <a:off x="1143000" y="1524000"/>
            <a:ext cx="7315200" cy="2862322"/>
          </a:xfrm>
          <a:prstGeom prst="rect">
            <a:avLst/>
          </a:prstGeom>
        </p:spPr>
        <p:txBody>
          <a:bodyPr wrap="square">
            <a:spAutoFit/>
          </a:bodyPr>
          <a:lstStyle/>
          <a:p>
            <a:pPr marL="463550">
              <a:lnSpc>
                <a:spcPct val="250000"/>
              </a:lnSpc>
              <a:defRPr/>
            </a:pPr>
            <a:r>
              <a:rPr lang="en-US" altLang="en-US" sz="2400" dirty="0"/>
              <a:t>Free-body Diagram</a:t>
            </a:r>
          </a:p>
          <a:p>
            <a:pPr marL="463550">
              <a:lnSpc>
                <a:spcPct val="250000"/>
              </a:lnSpc>
              <a:defRPr/>
            </a:pPr>
            <a:r>
              <a:rPr lang="en-US" altLang="en-US" sz="2400" dirty="0"/>
              <a:t>Reactions at Supports and Connections </a:t>
            </a:r>
            <a:r>
              <a:rPr lang="en-US" altLang="en-US" sz="2400" dirty="0" smtClean="0"/>
              <a:t>for 2D </a:t>
            </a:r>
            <a:r>
              <a:rPr lang="en-US" altLang="en-US" sz="2400" dirty="0"/>
              <a:t>Bodies</a:t>
            </a:r>
          </a:p>
          <a:p>
            <a:pPr marL="463550">
              <a:lnSpc>
                <a:spcPct val="250000"/>
              </a:lnSpc>
              <a:defRPr/>
            </a:pPr>
            <a:r>
              <a:rPr lang="en-US" altLang="en-US" sz="2400" dirty="0" smtClean="0"/>
              <a:t>Equilibrium Conditions Two-force body</a:t>
            </a:r>
            <a:endParaRPr lang="en-US" altLang="en-US" sz="2400" dirty="0"/>
          </a:p>
        </p:txBody>
      </p:sp>
    </p:spTree>
    <p:extLst>
      <p:ext uri="{BB962C8B-B14F-4D97-AF65-F5344CB8AC3E}">
        <p14:creationId xmlns:p14="http://schemas.microsoft.com/office/powerpoint/2010/main" val="347367289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02060"/>
                </a:solidFill>
              </a:rPr>
              <a:t>Free-Body Diagram</a:t>
            </a:r>
            <a:endParaRPr lang="en-US" dirty="0">
              <a:solidFill>
                <a:srgbClr val="002060"/>
              </a:solidFill>
            </a:endParaRPr>
          </a:p>
        </p:txBody>
      </p:sp>
      <p:pic>
        <p:nvPicPr>
          <p:cNvPr id="11" name="Picture 10"/>
          <p:cNvPicPr>
            <a:picLocks noChangeAspect="1"/>
          </p:cNvPicPr>
          <p:nvPr/>
        </p:nvPicPr>
        <p:blipFill>
          <a:blip r:embed="rId2"/>
          <a:stretch>
            <a:fillRect/>
          </a:stretch>
        </p:blipFill>
        <p:spPr>
          <a:xfrm>
            <a:off x="533400" y="838200"/>
            <a:ext cx="1981200" cy="2536210"/>
          </a:xfrm>
          <a:prstGeom prst="rect">
            <a:avLst/>
          </a:prstGeom>
        </p:spPr>
      </p:pic>
      <p:sp>
        <p:nvSpPr>
          <p:cNvPr id="12" name="Rectangle 3"/>
          <p:cNvSpPr txBox="1">
            <a:spLocks noRot="1" noChangeArrowheads="1"/>
          </p:cNvSpPr>
          <p:nvPr/>
        </p:nvSpPr>
        <p:spPr>
          <a:xfrm>
            <a:off x="2514600" y="644842"/>
            <a:ext cx="6629400" cy="5275263"/>
          </a:xfrm>
          <a:prstGeom prst="rect">
            <a:avLst/>
          </a:prstGeom>
        </p:spPr>
        <p:txBody>
          <a:bodyPr/>
          <a:lstStyle>
            <a:lvl1pPr marL="365760" indent="-283464" algn="l" rtl="0" eaLnBrk="1" latinLnBrk="0" hangingPunct="1">
              <a:lnSpc>
                <a:spcPct val="100000"/>
              </a:lnSpc>
              <a:spcBef>
                <a:spcPts val="600"/>
              </a:spcBef>
              <a:buClr>
                <a:schemeClr val="accent1"/>
              </a:buClr>
              <a:buSzPct val="80000"/>
              <a:buFont typeface="Wingdings 2"/>
              <a:buChar char=""/>
              <a:defRPr kumimoji="0" sz="24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4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a:lstStyle>
          <a:p>
            <a:pPr marL="82296" indent="0" algn="just">
              <a:lnSpc>
                <a:spcPct val="90000"/>
              </a:lnSpc>
              <a:spcBef>
                <a:spcPct val="50000"/>
              </a:spcBef>
              <a:buNone/>
            </a:pPr>
            <a:r>
              <a:rPr lang="en-US" altLang="en-US" dirty="0" smtClean="0"/>
              <a:t>Steps for Drawing a Free-body Diagram</a:t>
            </a:r>
          </a:p>
          <a:p>
            <a:pPr marL="425196" indent="-342900" algn="just">
              <a:lnSpc>
                <a:spcPct val="90000"/>
              </a:lnSpc>
              <a:spcBef>
                <a:spcPct val="50000"/>
              </a:spcBef>
              <a:buFont typeface="+mj-lt"/>
              <a:buAutoNum type="arabicPeriod"/>
            </a:pPr>
            <a:r>
              <a:rPr lang="en-US" altLang="en-US" dirty="0" smtClean="0"/>
              <a:t>Decide which body (or group of bodies) is under consideration , imagine it to be isolated from all other bodies, and sketch the outlined shape of the body.</a:t>
            </a:r>
          </a:p>
          <a:p>
            <a:pPr marL="425196" indent="-342900" algn="just">
              <a:lnSpc>
                <a:spcPct val="90000"/>
              </a:lnSpc>
              <a:spcBef>
                <a:spcPct val="50000"/>
              </a:spcBef>
              <a:buFont typeface="+mj-lt"/>
              <a:buAutoNum type="arabicPeriod"/>
            </a:pPr>
            <a:r>
              <a:rPr lang="en-US" altLang="en-US" dirty="0" smtClean="0"/>
              <a:t>Indicate by means of arrows all external forces and moments acting on the body. This should include (a) the weight of the body, (b) all external forces (c) reactions at supports and other contacts with other bodies.</a:t>
            </a:r>
          </a:p>
          <a:p>
            <a:pPr marL="425196" indent="-342900" algn="just">
              <a:lnSpc>
                <a:spcPct val="90000"/>
              </a:lnSpc>
              <a:spcBef>
                <a:spcPct val="50000"/>
              </a:spcBef>
              <a:buClr>
                <a:schemeClr val="bg1"/>
              </a:buClr>
              <a:buFont typeface="+mj-lt"/>
              <a:buAutoNum type="arabicPeriod"/>
            </a:pPr>
            <a:endParaRPr lang="en-US" altLang="en-US" dirty="0" smtClean="0"/>
          </a:p>
          <a:p>
            <a:pPr>
              <a:lnSpc>
                <a:spcPct val="80000"/>
              </a:lnSpc>
              <a:buFont typeface="+mj-lt"/>
              <a:buAutoNum type="arabicPeriod"/>
            </a:pPr>
            <a:endParaRPr lang="en-US" altLang="en-US" dirty="0" smtClean="0"/>
          </a:p>
        </p:txBody>
      </p:sp>
      <p:sp>
        <p:nvSpPr>
          <p:cNvPr id="13" name="Rectangle 12"/>
          <p:cNvSpPr/>
          <p:nvPr/>
        </p:nvSpPr>
        <p:spPr>
          <a:xfrm>
            <a:off x="457200" y="4783061"/>
            <a:ext cx="8686800" cy="1606594"/>
          </a:xfrm>
          <a:prstGeom prst="rect">
            <a:avLst/>
          </a:prstGeom>
        </p:spPr>
        <p:txBody>
          <a:bodyPr wrap="square">
            <a:spAutoFit/>
          </a:bodyPr>
          <a:lstStyle/>
          <a:p>
            <a:pPr marL="539496" indent="-457200" algn="just">
              <a:lnSpc>
                <a:spcPct val="90000"/>
              </a:lnSpc>
              <a:spcBef>
                <a:spcPct val="50000"/>
              </a:spcBef>
              <a:buFont typeface="+mj-lt"/>
              <a:buAutoNum type="arabicPeriod" startAt="3"/>
            </a:pPr>
            <a:r>
              <a:rPr lang="en-US" altLang="en-US" sz="2400" dirty="0"/>
              <a:t>For each unknown force, indicate its point of application and assumed a direction, if it is unknown.</a:t>
            </a:r>
          </a:p>
          <a:p>
            <a:pPr marL="539496" indent="-457200" algn="just">
              <a:lnSpc>
                <a:spcPct val="90000"/>
              </a:lnSpc>
              <a:spcBef>
                <a:spcPct val="50000"/>
              </a:spcBef>
              <a:buFont typeface="+mj-lt"/>
              <a:buAutoNum type="arabicPeriod" startAt="3"/>
            </a:pPr>
            <a:r>
              <a:rPr lang="en-US" altLang="en-US" sz="2400" dirty="0"/>
              <a:t>Include the dimensions and angles needed for  computing moments of forces and resolving forces</a:t>
            </a:r>
            <a:r>
              <a:rPr lang="en-US" altLang="en-US" sz="2400" dirty="0" smtClean="0"/>
              <a:t>.</a:t>
            </a:r>
            <a:endParaRPr lang="en-US" altLang="en-US" sz="2400" dirty="0"/>
          </a:p>
        </p:txBody>
      </p:sp>
    </p:spTree>
    <p:extLst>
      <p:ext uri="{BB962C8B-B14F-4D97-AF65-F5344CB8AC3E}">
        <p14:creationId xmlns:p14="http://schemas.microsoft.com/office/powerpoint/2010/main" val="310032436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315200" y="1219200"/>
            <a:ext cx="1447306" cy="4710538"/>
          </a:xfrm>
          <a:prstGeom prst="rect">
            <a:avLst/>
          </a:prstGeom>
        </p:spPr>
      </p:pic>
      <p:sp>
        <p:nvSpPr>
          <p:cNvPr id="5" name="Rectangle 4"/>
          <p:cNvSpPr/>
          <p:nvPr/>
        </p:nvSpPr>
        <p:spPr>
          <a:xfrm>
            <a:off x="381000" y="1447800"/>
            <a:ext cx="6400800" cy="4302716"/>
          </a:xfrm>
          <a:prstGeom prst="rect">
            <a:avLst/>
          </a:prstGeom>
        </p:spPr>
        <p:txBody>
          <a:bodyPr wrap="square">
            <a:spAutoFit/>
          </a:bodyPr>
          <a:lstStyle/>
          <a:p>
            <a:pPr marL="539496" indent="-457200" algn="just">
              <a:lnSpc>
                <a:spcPct val="90000"/>
              </a:lnSpc>
              <a:spcBef>
                <a:spcPct val="50000"/>
              </a:spcBef>
              <a:buFont typeface="+mj-lt"/>
              <a:buAutoNum type="arabicPeriod" startAt="5"/>
            </a:pPr>
            <a:r>
              <a:rPr lang="en-US" altLang="en-US" sz="2400" dirty="0"/>
              <a:t>The weight of a body always acts vertically downward through the centre of gravity of the body</a:t>
            </a:r>
            <a:r>
              <a:rPr lang="en-US" altLang="en-US" sz="2400" dirty="0" smtClean="0"/>
              <a:t>.</a:t>
            </a:r>
          </a:p>
          <a:p>
            <a:pPr marL="539496" indent="-457200" algn="just">
              <a:lnSpc>
                <a:spcPct val="90000"/>
              </a:lnSpc>
              <a:spcBef>
                <a:spcPct val="50000"/>
              </a:spcBef>
              <a:buFont typeface="+mj-lt"/>
              <a:buAutoNum type="arabicPeriod" startAt="5"/>
            </a:pPr>
            <a:endParaRPr lang="en-US" altLang="en-US" sz="2400" dirty="0"/>
          </a:p>
          <a:p>
            <a:pPr marL="539496" indent="-457200" algn="just">
              <a:lnSpc>
                <a:spcPct val="90000"/>
              </a:lnSpc>
              <a:spcBef>
                <a:spcPct val="50000"/>
              </a:spcBef>
              <a:buFont typeface="+mj-lt"/>
              <a:buAutoNum type="arabicPeriod" startAt="5"/>
            </a:pPr>
            <a:r>
              <a:rPr lang="en-US" altLang="en-US" sz="2400" dirty="0"/>
              <a:t>Forces acting at joints should considered as internal forces and should not be shown if the joint is not separated. Once the joint is separated, the forces acting at the joints must consider as external forces and indicated on the free-body diagram </a:t>
            </a:r>
          </a:p>
          <a:p>
            <a:pPr marL="539496" indent="-457200" algn="just">
              <a:lnSpc>
                <a:spcPct val="90000"/>
              </a:lnSpc>
              <a:spcBef>
                <a:spcPct val="50000"/>
              </a:spcBef>
              <a:buClr>
                <a:schemeClr val="tx1"/>
              </a:buClr>
              <a:buFont typeface="+mj-lt"/>
              <a:buAutoNum type="arabicPeriod" startAt="5"/>
            </a:pPr>
            <a:endParaRPr lang="en-US" altLang="en-US" sz="2400" dirty="0"/>
          </a:p>
        </p:txBody>
      </p:sp>
      <p:sp>
        <p:nvSpPr>
          <p:cNvPr id="6" name="Title 1"/>
          <p:cNvSpPr>
            <a:spLocks noGrp="1"/>
          </p:cNvSpPr>
          <p:nvPr>
            <p:ph type="title"/>
          </p:nvPr>
        </p:nvSpPr>
        <p:spPr>
          <a:xfrm>
            <a:off x="838200" y="183177"/>
            <a:ext cx="7498080" cy="461665"/>
          </a:xfrm>
        </p:spPr>
        <p:txBody>
          <a:bodyPr/>
          <a:lstStyle/>
          <a:p>
            <a:r>
              <a:rPr lang="en-US" altLang="en-US" dirty="0">
                <a:solidFill>
                  <a:srgbClr val="002060"/>
                </a:solidFill>
              </a:rPr>
              <a:t>Free-Body Diagram</a:t>
            </a:r>
            <a:endParaRPr lang="en-US" dirty="0">
              <a:solidFill>
                <a:srgbClr val="002060"/>
              </a:solidFill>
            </a:endParaRPr>
          </a:p>
        </p:txBody>
      </p:sp>
    </p:spTree>
    <p:extLst>
      <p:ext uri="{BB962C8B-B14F-4D97-AF65-F5344CB8AC3E}">
        <p14:creationId xmlns:p14="http://schemas.microsoft.com/office/powerpoint/2010/main" val="7592591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en-US" altLang="en-US" dirty="0" smtClean="0">
                <a:solidFill>
                  <a:srgbClr val="002060"/>
                </a:solidFill>
              </a:rPr>
              <a:t>Free-Body Diagrams</a:t>
            </a:r>
          </a:p>
        </p:txBody>
      </p:sp>
      <p:pic>
        <p:nvPicPr>
          <p:cNvPr id="20484" name="Picture 13" descr="C:\DOCUME~1\WALTOL~1\LOCALS~1\Temp\\msotw9_temp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288" y="1303338"/>
            <a:ext cx="30670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Text Box 14"/>
          <p:cNvSpPr txBox="1">
            <a:spLocks noChangeArrowheads="1"/>
          </p:cNvSpPr>
          <p:nvPr/>
        </p:nvSpPr>
        <p:spPr bwMode="auto">
          <a:xfrm>
            <a:off x="415925" y="4144963"/>
            <a:ext cx="3800475"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7013" indent="-227013">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b="1" i="1" dirty="0">
                <a:latin typeface="+mn-lt"/>
              </a:rPr>
              <a:t>Space </a:t>
            </a:r>
            <a:r>
              <a:rPr lang="en-US" altLang="en-US" sz="2400" b="1" i="1" dirty="0" smtClean="0">
                <a:latin typeface="+mn-lt"/>
              </a:rPr>
              <a:t>Diagram</a:t>
            </a:r>
            <a:r>
              <a:rPr lang="en-US" altLang="en-US" sz="2400" b="1" dirty="0" smtClean="0">
                <a:latin typeface="+mn-lt"/>
              </a:rPr>
              <a:t>  </a:t>
            </a:r>
          </a:p>
          <a:p>
            <a:pPr eaLnBrk="1" hangingPunct="1">
              <a:spcBef>
                <a:spcPct val="50000"/>
              </a:spcBef>
              <a:buFontTx/>
              <a:buNone/>
            </a:pPr>
            <a:r>
              <a:rPr lang="en-US" altLang="en-US" sz="2400" dirty="0" smtClean="0">
                <a:latin typeface="+mn-lt"/>
              </a:rPr>
              <a:t>A </a:t>
            </a:r>
            <a:r>
              <a:rPr lang="en-US" altLang="en-US" sz="2400" dirty="0">
                <a:latin typeface="+mn-lt"/>
              </a:rPr>
              <a:t>sketch showing the physical conditions of the problem.</a:t>
            </a:r>
          </a:p>
        </p:txBody>
      </p:sp>
      <p:pic>
        <p:nvPicPr>
          <p:cNvPr id="20487" name="Picture 11" descr="C:\DOCUME~1\WALTOL~1\LOCALS~1\Temp\\msotw9_temp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18150" y="1350963"/>
            <a:ext cx="2818129" cy="286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15"/>
          <p:cNvSpPr txBox="1">
            <a:spLocks noChangeArrowheads="1"/>
          </p:cNvSpPr>
          <p:nvPr/>
        </p:nvSpPr>
        <p:spPr bwMode="auto">
          <a:xfrm>
            <a:off x="5105400" y="4315889"/>
            <a:ext cx="3763397"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7013" indent="-227013">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50000"/>
              </a:spcBef>
              <a:buFontTx/>
              <a:buNone/>
            </a:pPr>
            <a:r>
              <a:rPr lang="en-US" altLang="en-US" sz="2400" b="1" i="1" dirty="0">
                <a:latin typeface="+mn-lt"/>
              </a:rPr>
              <a:t>Free-Body </a:t>
            </a:r>
            <a:r>
              <a:rPr lang="en-US" altLang="en-US" sz="2400" b="1" i="1" dirty="0" smtClean="0">
                <a:latin typeface="+mn-lt"/>
              </a:rPr>
              <a:t>Diagram</a:t>
            </a:r>
            <a:r>
              <a:rPr lang="en-US" altLang="en-US" sz="2400" b="1" dirty="0" smtClean="0">
                <a:latin typeface="+mn-lt"/>
              </a:rPr>
              <a:t> </a:t>
            </a:r>
          </a:p>
          <a:p>
            <a:pPr eaLnBrk="1" hangingPunct="1">
              <a:spcBef>
                <a:spcPct val="50000"/>
              </a:spcBef>
              <a:buFontTx/>
              <a:buNone/>
            </a:pPr>
            <a:r>
              <a:rPr lang="en-US" altLang="en-US" sz="2400" dirty="0" smtClean="0">
                <a:latin typeface="+mn-lt"/>
              </a:rPr>
              <a:t> </a:t>
            </a:r>
            <a:r>
              <a:rPr lang="en-US" altLang="en-US" sz="2400" dirty="0">
                <a:latin typeface="+mn-lt"/>
              </a:rPr>
              <a:t>A sketch showing only the forces on the selected particle</a:t>
            </a:r>
            <a:r>
              <a:rPr lang="en-US" altLang="en-US" sz="2400" dirty="0">
                <a:solidFill>
                  <a:schemeClr val="tx1"/>
                </a:solidFill>
                <a:latin typeface="+mn-lt"/>
              </a:rPr>
              <a:t>.</a:t>
            </a:r>
          </a:p>
        </p:txBody>
      </p:sp>
    </p:spTree>
    <p:extLst>
      <p:ext uri="{BB962C8B-B14F-4D97-AF65-F5344CB8AC3E}">
        <p14:creationId xmlns:p14="http://schemas.microsoft.com/office/powerpoint/2010/main" val="214498732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71414"/>
            <a:ext cx="7879080" cy="461665"/>
          </a:xfrm>
        </p:spPr>
        <p:txBody>
          <a:bodyPr/>
          <a:lstStyle/>
          <a:p>
            <a:r>
              <a:rPr lang="en-US" altLang="en-US" dirty="0">
                <a:solidFill>
                  <a:srgbClr val="002060"/>
                </a:solidFill>
              </a:rPr>
              <a:t>Reactions at Supports and Connections for a 2D Structure</a:t>
            </a:r>
            <a:endParaRPr lang="en-US" dirty="0">
              <a:solidFill>
                <a:srgbClr val="002060"/>
              </a:solidFill>
            </a:endParaRPr>
          </a:p>
        </p:txBody>
      </p:sp>
      <p:pic>
        <p:nvPicPr>
          <p:cNvPr id="3" name="Picture 4"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089" y="838200"/>
            <a:ext cx="6031511"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3"/>
          <p:cNvSpPr txBox="1">
            <a:spLocks noChangeArrowheads="1"/>
          </p:cNvSpPr>
          <p:nvPr/>
        </p:nvSpPr>
        <p:spPr bwMode="auto">
          <a:xfrm>
            <a:off x="6462116" y="2971800"/>
            <a:ext cx="2681884"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7013" indent="-227013">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marL="0" indent="0" eaLnBrk="1" hangingPunct="1">
              <a:spcBef>
                <a:spcPct val="50000"/>
              </a:spcBef>
              <a:buNone/>
            </a:pPr>
            <a:r>
              <a:rPr lang="en-US" altLang="en-US" sz="2400" dirty="0">
                <a:solidFill>
                  <a:schemeClr val="tx1"/>
                </a:solidFill>
                <a:latin typeface="Times New Roman" panose="02020603050405020304" pitchFamily="18" charset="0"/>
              </a:rPr>
              <a:t>Reactions equivalent to a force with known line of action.</a:t>
            </a:r>
          </a:p>
        </p:txBody>
      </p:sp>
    </p:spTree>
    <p:extLst>
      <p:ext uri="{BB962C8B-B14F-4D97-AF65-F5344CB8AC3E}">
        <p14:creationId xmlns:p14="http://schemas.microsoft.com/office/powerpoint/2010/main" val="205951040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6096000" y="1028700"/>
            <a:ext cx="2884039"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7013" indent="-227013">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marL="0" indent="0" algn="just" eaLnBrk="1" hangingPunct="1">
              <a:spcBef>
                <a:spcPct val="50000"/>
              </a:spcBef>
              <a:buNone/>
            </a:pPr>
            <a:r>
              <a:rPr lang="en-US" altLang="en-US" sz="2400" dirty="0">
                <a:solidFill>
                  <a:schemeClr val="tx1"/>
                </a:solidFill>
                <a:latin typeface="Times New Roman" panose="02020603050405020304" pitchFamily="18" charset="0"/>
              </a:rPr>
              <a:t>Reactions equivalent to a force of unknown direction and magnitude.</a:t>
            </a:r>
          </a:p>
        </p:txBody>
      </p:sp>
      <p:pic>
        <p:nvPicPr>
          <p:cNvPr id="6" name="Picture 5"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937" y="1028700"/>
            <a:ext cx="5326063" cy="180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7"/>
          <p:cNvSpPr txBox="1">
            <a:spLocks noChangeArrowheads="1"/>
          </p:cNvSpPr>
          <p:nvPr/>
        </p:nvSpPr>
        <p:spPr bwMode="auto">
          <a:xfrm>
            <a:off x="5562600" y="4239419"/>
            <a:ext cx="35814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27013" indent="-227013">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marL="0" indent="0" algn="just" eaLnBrk="1" hangingPunct="1">
              <a:spcBef>
                <a:spcPct val="50000"/>
              </a:spcBef>
              <a:buNone/>
            </a:pPr>
            <a:r>
              <a:rPr lang="en-US" altLang="en-US" sz="2400" dirty="0">
                <a:solidFill>
                  <a:schemeClr val="tx1"/>
                </a:solidFill>
                <a:latin typeface="Times New Roman" panose="02020603050405020304" pitchFamily="18" charset="0"/>
              </a:rPr>
              <a:t>Reactions equivalent to a force of unknown direction and magnitude and a </a:t>
            </a:r>
            <a:r>
              <a:rPr lang="en-US" altLang="en-US" sz="2400" dirty="0" smtClean="0">
                <a:solidFill>
                  <a:schemeClr val="tx1"/>
                </a:solidFill>
                <a:latin typeface="Times New Roman" panose="02020603050405020304" pitchFamily="18" charset="0"/>
              </a:rPr>
              <a:t>couple of </a:t>
            </a:r>
            <a:r>
              <a:rPr lang="en-US" altLang="en-US" sz="2400" dirty="0">
                <a:solidFill>
                  <a:schemeClr val="tx1"/>
                </a:solidFill>
                <a:latin typeface="Times New Roman" panose="02020603050405020304" pitchFamily="18" charset="0"/>
              </a:rPr>
              <a:t>unknown magnitude</a:t>
            </a:r>
          </a:p>
        </p:txBody>
      </p:sp>
      <p:pic>
        <p:nvPicPr>
          <p:cNvPr id="10" name="Picture 9" descr="msotw9_temp0"/>
          <p:cNvPicPr>
            <a:picLocks noChangeAspect="1" noChangeArrowheads="1"/>
          </p:cNvPicPr>
          <p:nvPr/>
        </p:nvPicPr>
        <p:blipFill rotWithShape="1">
          <a:blip r:embed="rId3">
            <a:extLst>
              <a:ext uri="{28A0092B-C50C-407E-A947-70E740481C1C}">
                <a14:useLocalDpi xmlns:a14="http://schemas.microsoft.com/office/drawing/2010/main" val="0"/>
              </a:ext>
            </a:extLst>
          </a:blip>
          <a:srcRect l="16318"/>
          <a:stretch/>
        </p:blipFill>
        <p:spPr bwMode="auto">
          <a:xfrm>
            <a:off x="609600" y="4239419"/>
            <a:ext cx="4641574"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itle 1"/>
          <p:cNvSpPr>
            <a:spLocks noGrp="1"/>
          </p:cNvSpPr>
          <p:nvPr>
            <p:ph type="title"/>
          </p:nvPr>
        </p:nvSpPr>
        <p:spPr>
          <a:xfrm>
            <a:off x="685800" y="171414"/>
            <a:ext cx="7879080" cy="461665"/>
          </a:xfrm>
        </p:spPr>
        <p:txBody>
          <a:bodyPr/>
          <a:lstStyle/>
          <a:p>
            <a:r>
              <a:rPr lang="en-US" altLang="en-US" dirty="0">
                <a:solidFill>
                  <a:srgbClr val="002060"/>
                </a:solidFill>
              </a:rPr>
              <a:t>Reactions at Supports and Connections for a 2D Structure</a:t>
            </a:r>
            <a:endParaRPr lang="en-US" dirty="0">
              <a:solidFill>
                <a:srgbClr val="002060"/>
              </a:solidFill>
            </a:endParaRPr>
          </a:p>
        </p:txBody>
      </p:sp>
    </p:spTree>
    <p:extLst>
      <p:ext uri="{BB962C8B-B14F-4D97-AF65-F5344CB8AC3E}">
        <p14:creationId xmlns:p14="http://schemas.microsoft.com/office/powerpoint/2010/main" val="33235065"/>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4294967295"/>
          </p:nvPr>
        </p:nvSpPr>
        <p:spPr>
          <a:xfrm>
            <a:off x="6553200" y="6245225"/>
            <a:ext cx="2286000" cy="47625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a:spcBef>
                <a:spcPct val="0"/>
              </a:spcBef>
              <a:buFontTx/>
              <a:buNone/>
            </a:pPr>
            <a:r>
              <a:rPr lang="en-US" altLang="en-US" sz="1400" smtClean="0"/>
              <a:t>2-</a:t>
            </a:r>
            <a:fld id="{89826119-4900-4D54-B0E5-14816463A8FC}" type="slidenum">
              <a:rPr lang="en-US" altLang="en-US" sz="1400" smtClean="0"/>
              <a:pPr>
                <a:spcBef>
                  <a:spcPct val="0"/>
                </a:spcBef>
                <a:buFontTx/>
                <a:buNone/>
              </a:pPr>
              <a:t>40</a:t>
            </a:fld>
            <a:endParaRPr lang="en-US" altLang="en-US" sz="1400" smtClean="0"/>
          </a:p>
        </p:txBody>
      </p:sp>
      <p:sp>
        <p:nvSpPr>
          <p:cNvPr id="30723" name="Rectangle 2"/>
          <p:cNvSpPr>
            <a:spLocks noGrp="1" noRot="1" noChangeArrowheads="1"/>
          </p:cNvSpPr>
          <p:nvPr>
            <p:ph type="title"/>
          </p:nvPr>
        </p:nvSpPr>
        <p:spPr>
          <a:xfrm>
            <a:off x="457200" y="183177"/>
            <a:ext cx="7879080" cy="461665"/>
          </a:xfrm>
        </p:spPr>
        <p:txBody>
          <a:bodyPr/>
          <a:lstStyle/>
          <a:p>
            <a:pPr eaLnBrk="1" hangingPunct="1"/>
            <a:r>
              <a:rPr lang="en-US" altLang="en-US" dirty="0" smtClean="0">
                <a:solidFill>
                  <a:srgbClr val="002060"/>
                </a:solidFill>
              </a:rPr>
              <a:t>Equilibrium Conditions for  a Particle</a:t>
            </a:r>
          </a:p>
        </p:txBody>
      </p:sp>
      <p:sp>
        <p:nvSpPr>
          <p:cNvPr id="30724" name="Rectangle 3"/>
          <p:cNvSpPr>
            <a:spLocks noGrp="1" noRot="1" noChangeArrowheads="1"/>
          </p:cNvSpPr>
          <p:nvPr>
            <p:ph type="body" idx="1"/>
          </p:nvPr>
        </p:nvSpPr>
        <p:spPr>
          <a:xfrm>
            <a:off x="419100" y="1219200"/>
            <a:ext cx="8724900" cy="1928434"/>
          </a:xfrm>
        </p:spPr>
        <p:txBody>
          <a:bodyPr>
            <a:normAutofit/>
          </a:bodyPr>
          <a:lstStyle/>
          <a:p>
            <a:pPr marL="609600" indent="-609600" eaLnBrk="1" hangingPunct="1">
              <a:lnSpc>
                <a:spcPct val="80000"/>
              </a:lnSpc>
              <a:spcBef>
                <a:spcPct val="50000"/>
              </a:spcBef>
              <a:buClr>
                <a:schemeClr val="bg1"/>
              </a:buClr>
              <a:buFontTx/>
              <a:buNone/>
            </a:pPr>
            <a:r>
              <a:rPr lang="en-US" altLang="en-US" dirty="0" smtClean="0"/>
              <a:t>A particle is in equilibrium if</a:t>
            </a:r>
          </a:p>
          <a:p>
            <a:pPr marL="1087438" indent="-623888" eaLnBrk="1" hangingPunct="1">
              <a:lnSpc>
                <a:spcPct val="80000"/>
              </a:lnSpc>
              <a:spcBef>
                <a:spcPct val="50000"/>
              </a:spcBef>
              <a:buClr>
                <a:srgbClr val="000000"/>
              </a:buClr>
              <a:buFont typeface="+mj-lt"/>
              <a:buAutoNum type="arabicPeriod"/>
            </a:pPr>
            <a:r>
              <a:rPr lang="en-US" altLang="en-US" dirty="0" smtClean="0"/>
              <a:t>it is at rest relative to an initial reference frame</a:t>
            </a:r>
          </a:p>
          <a:p>
            <a:pPr marL="1087438" indent="-623888" eaLnBrk="1" hangingPunct="1">
              <a:lnSpc>
                <a:spcPct val="80000"/>
              </a:lnSpc>
              <a:spcBef>
                <a:spcPct val="50000"/>
              </a:spcBef>
              <a:buClr>
                <a:srgbClr val="000000"/>
              </a:buClr>
              <a:buFont typeface="+mj-lt"/>
              <a:buAutoNum type="arabicPeriod"/>
            </a:pPr>
            <a:r>
              <a:rPr lang="en-US" altLang="en-US" dirty="0" smtClean="0"/>
              <a:t>the body moves with constant velocity along a straight line relative to an initial </a:t>
            </a:r>
            <a:r>
              <a:rPr lang="en-US" altLang="en-US" dirty="0" smtClean="0"/>
              <a:t>frame</a:t>
            </a:r>
            <a:endParaRPr lang="en-US" altLang="en-US" dirty="0" smtClean="0"/>
          </a:p>
        </p:txBody>
      </p:sp>
      <p:sp>
        <p:nvSpPr>
          <p:cNvPr id="30725" name="Rectangle 7"/>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solidFill>
                <a:schemeClr val="tx1"/>
              </a:solidFill>
            </a:endParaRPr>
          </a:p>
        </p:txBody>
      </p:sp>
      <p:sp>
        <p:nvSpPr>
          <p:cNvPr id="30726" name="Rectangle 8"/>
          <p:cNvSpPr>
            <a:spLocks noChangeArrowheads="1"/>
          </p:cNvSpPr>
          <p:nvPr/>
        </p:nvSpPr>
        <p:spPr bwMode="auto">
          <a:xfrm>
            <a:off x="0" y="2571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solidFill>
                <a:schemeClr val="tx1"/>
              </a:solidFill>
            </a:endParaRPr>
          </a:p>
        </p:txBody>
      </p:sp>
      <p:sp>
        <p:nvSpPr>
          <p:cNvPr id="30727" name="Rectangle 9"/>
          <p:cNvSpPr>
            <a:spLocks noChangeArrowheads="1"/>
          </p:cNvSpPr>
          <p:nvPr/>
        </p:nvSpPr>
        <p:spPr bwMode="auto">
          <a:xfrm>
            <a:off x="0" y="514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solidFill>
                <a:schemeClr val="tx1"/>
              </a:solidFill>
            </a:endParaRPr>
          </a:p>
        </p:txBody>
      </p:sp>
    </p:spTree>
    <p:extLst>
      <p:ext uri="{BB962C8B-B14F-4D97-AF65-F5344CB8AC3E}">
        <p14:creationId xmlns:p14="http://schemas.microsoft.com/office/powerpoint/2010/main" val="172661160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02060"/>
                </a:solidFill>
              </a:rPr>
              <a:t>Equilibrium of a Two-Force Body</a:t>
            </a:r>
            <a:endParaRPr lang="en-US" dirty="0">
              <a:solidFill>
                <a:srgbClr val="002060"/>
              </a:solidFill>
            </a:endParaRPr>
          </a:p>
        </p:txBody>
      </p:sp>
      <p:grpSp>
        <p:nvGrpSpPr>
          <p:cNvPr id="3" name="Group 25"/>
          <p:cNvGrpSpPr>
            <a:grpSpLocks/>
          </p:cNvGrpSpPr>
          <p:nvPr/>
        </p:nvGrpSpPr>
        <p:grpSpPr bwMode="auto">
          <a:xfrm>
            <a:off x="838200" y="800101"/>
            <a:ext cx="2339975" cy="1584325"/>
            <a:chOff x="309" y="935"/>
            <a:chExt cx="1341" cy="912"/>
          </a:xfrm>
        </p:grpSpPr>
        <p:pic>
          <p:nvPicPr>
            <p:cNvPr id="4" name="Picture 5"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 y="935"/>
              <a:ext cx="1341" cy="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6"/>
            <p:cNvSpPr>
              <a:spLocks noChangeArrowheads="1"/>
            </p:cNvSpPr>
            <p:nvPr/>
          </p:nvSpPr>
          <p:spPr bwMode="auto">
            <a:xfrm>
              <a:off x="1451" y="1579"/>
              <a:ext cx="199" cy="2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solidFill>
                  <a:schemeClr val="tx1"/>
                </a:solidFill>
              </a:endParaRPr>
            </a:p>
          </p:txBody>
        </p:sp>
      </p:grpSp>
      <p:grpSp>
        <p:nvGrpSpPr>
          <p:cNvPr id="6" name="Group 24"/>
          <p:cNvGrpSpPr>
            <a:grpSpLocks/>
          </p:cNvGrpSpPr>
          <p:nvPr/>
        </p:nvGrpSpPr>
        <p:grpSpPr bwMode="auto">
          <a:xfrm>
            <a:off x="706438" y="2938957"/>
            <a:ext cx="2376487" cy="1584325"/>
            <a:chOff x="226" y="1956"/>
            <a:chExt cx="1497" cy="998"/>
          </a:xfrm>
        </p:grpSpPr>
        <p:pic>
          <p:nvPicPr>
            <p:cNvPr id="7" name="Picture 11" descr="msotw9_tem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 y="1956"/>
              <a:ext cx="1497" cy="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2"/>
            <p:cNvSpPr>
              <a:spLocks noChangeArrowheads="1"/>
            </p:cNvSpPr>
            <p:nvPr/>
          </p:nvSpPr>
          <p:spPr bwMode="auto">
            <a:xfrm>
              <a:off x="226" y="2014"/>
              <a:ext cx="211" cy="2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solidFill>
                  <a:schemeClr val="tx1"/>
                </a:solidFill>
              </a:endParaRPr>
            </a:p>
          </p:txBody>
        </p:sp>
        <p:sp>
          <p:nvSpPr>
            <p:cNvPr id="9" name="Rectangle 13"/>
            <p:cNvSpPr>
              <a:spLocks noChangeArrowheads="1"/>
            </p:cNvSpPr>
            <p:nvPr/>
          </p:nvSpPr>
          <p:spPr bwMode="auto">
            <a:xfrm>
              <a:off x="1565" y="2722"/>
              <a:ext cx="158" cy="2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solidFill>
                  <a:schemeClr val="tx1"/>
                </a:solidFill>
              </a:endParaRPr>
            </a:p>
          </p:txBody>
        </p:sp>
      </p:grpSp>
      <p:grpSp>
        <p:nvGrpSpPr>
          <p:cNvPr id="10" name="Group 26"/>
          <p:cNvGrpSpPr>
            <a:grpSpLocks/>
          </p:cNvGrpSpPr>
          <p:nvPr/>
        </p:nvGrpSpPr>
        <p:grpSpPr bwMode="auto">
          <a:xfrm>
            <a:off x="509587" y="4946351"/>
            <a:ext cx="2447925" cy="1585912"/>
            <a:chOff x="113" y="3203"/>
            <a:chExt cx="1542" cy="999"/>
          </a:xfrm>
        </p:grpSpPr>
        <p:pic>
          <p:nvPicPr>
            <p:cNvPr id="11" name="Picture 17" descr="msotw9_temp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 y="3203"/>
              <a:ext cx="1542" cy="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9"/>
            <p:cNvSpPr>
              <a:spLocks noChangeArrowheads="1"/>
            </p:cNvSpPr>
            <p:nvPr/>
          </p:nvSpPr>
          <p:spPr bwMode="auto">
            <a:xfrm>
              <a:off x="113" y="3294"/>
              <a:ext cx="166" cy="214"/>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solidFill>
                  <a:schemeClr val="tx1"/>
                </a:solidFill>
              </a:endParaRPr>
            </a:p>
          </p:txBody>
        </p:sp>
        <p:sp>
          <p:nvSpPr>
            <p:cNvPr id="13" name="Rectangle 18"/>
            <p:cNvSpPr>
              <a:spLocks noChangeArrowheads="1"/>
            </p:cNvSpPr>
            <p:nvPr/>
          </p:nvSpPr>
          <p:spPr bwMode="auto">
            <a:xfrm>
              <a:off x="816" y="3906"/>
              <a:ext cx="249" cy="28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eaLnBrk="1" hangingPunct="1">
                <a:spcBef>
                  <a:spcPct val="0"/>
                </a:spcBef>
                <a:buFontTx/>
                <a:buNone/>
              </a:pPr>
              <a:endParaRPr lang="en-US" altLang="en-US" sz="1800">
                <a:solidFill>
                  <a:schemeClr val="tx1"/>
                </a:solidFill>
              </a:endParaRPr>
            </a:p>
          </p:txBody>
        </p:sp>
      </p:grpSp>
      <p:sp>
        <p:nvSpPr>
          <p:cNvPr id="14" name="Text Box 7"/>
          <p:cNvSpPr txBox="1">
            <a:spLocks noChangeArrowheads="1"/>
          </p:cNvSpPr>
          <p:nvPr/>
        </p:nvSpPr>
        <p:spPr bwMode="auto">
          <a:xfrm>
            <a:off x="3538537" y="800101"/>
            <a:ext cx="5605463" cy="655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27013" indent="-227013">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marL="0" indent="0" algn="just" eaLnBrk="1" hangingPunct="1">
              <a:spcBef>
                <a:spcPct val="50000"/>
              </a:spcBef>
              <a:buNone/>
            </a:pPr>
            <a:r>
              <a:rPr lang="en-US" altLang="en-US" sz="2400" dirty="0">
                <a:solidFill>
                  <a:schemeClr val="tx1"/>
                </a:solidFill>
                <a:latin typeface="Times New Roman" panose="02020603050405020304" pitchFamily="18" charset="0"/>
              </a:rPr>
              <a:t>Consider a plate subjected to two forces </a:t>
            </a:r>
            <a:r>
              <a:rPr lang="en-US" altLang="en-US" sz="2400" b="1" i="1" dirty="0">
                <a:solidFill>
                  <a:schemeClr val="tx1"/>
                </a:solidFill>
                <a:latin typeface="Times New Roman" panose="02020603050405020304" pitchFamily="18" charset="0"/>
              </a:rPr>
              <a:t>F</a:t>
            </a:r>
            <a:r>
              <a:rPr lang="en-US" altLang="en-US" sz="2400" b="1" i="1" baseline="-25000" dirty="0">
                <a:solidFill>
                  <a:schemeClr val="tx1"/>
                </a:solidFill>
                <a:latin typeface="Times New Roman" panose="02020603050405020304" pitchFamily="18" charset="0"/>
              </a:rPr>
              <a:t>1</a:t>
            </a:r>
            <a:r>
              <a:rPr lang="en-US" altLang="en-US" sz="2400" dirty="0">
                <a:solidFill>
                  <a:schemeClr val="tx1"/>
                </a:solidFill>
                <a:latin typeface="Times New Roman" panose="02020603050405020304" pitchFamily="18" charset="0"/>
              </a:rPr>
              <a:t> and </a:t>
            </a:r>
            <a:r>
              <a:rPr lang="en-US" altLang="en-US" sz="2400" b="1" i="1" dirty="0" smtClean="0">
                <a:solidFill>
                  <a:schemeClr val="tx1"/>
                </a:solidFill>
                <a:latin typeface="Times New Roman" panose="02020603050405020304" pitchFamily="18" charset="0"/>
              </a:rPr>
              <a:t>F</a:t>
            </a:r>
            <a:r>
              <a:rPr lang="en-US" altLang="en-US" sz="2400" b="1" i="1" baseline="-25000" dirty="0" smtClean="0">
                <a:solidFill>
                  <a:schemeClr val="tx1"/>
                </a:solidFill>
                <a:latin typeface="Times New Roman" panose="02020603050405020304" pitchFamily="18" charset="0"/>
              </a:rPr>
              <a:t>2</a:t>
            </a:r>
          </a:p>
          <a:p>
            <a:pPr marL="0" indent="0" algn="just">
              <a:spcBef>
                <a:spcPct val="50000"/>
              </a:spcBef>
              <a:buNone/>
            </a:pPr>
            <a:r>
              <a:rPr lang="en-US" altLang="en-US" sz="2400" dirty="0">
                <a:latin typeface="Times New Roman" panose="02020603050405020304" pitchFamily="18" charset="0"/>
              </a:rPr>
              <a:t>For static equilibrium, the sum of moments about </a:t>
            </a:r>
            <a:r>
              <a:rPr lang="en-US" altLang="en-US" sz="2400" i="1" dirty="0">
                <a:latin typeface="Times New Roman" panose="02020603050405020304" pitchFamily="18" charset="0"/>
              </a:rPr>
              <a:t>A</a:t>
            </a:r>
            <a:r>
              <a:rPr lang="en-US" altLang="en-US" sz="2400" dirty="0">
                <a:latin typeface="Times New Roman" panose="02020603050405020304" pitchFamily="18" charset="0"/>
              </a:rPr>
              <a:t> must be zero.  The moment of </a:t>
            </a:r>
            <a:r>
              <a:rPr lang="en-US" altLang="en-US" sz="2400" b="1" i="1" dirty="0">
                <a:latin typeface="Times New Roman" panose="02020603050405020304" pitchFamily="18" charset="0"/>
              </a:rPr>
              <a:t>F</a:t>
            </a:r>
            <a:r>
              <a:rPr lang="en-US" altLang="en-US" sz="2400" b="1" i="1" baseline="-25000" dirty="0">
                <a:latin typeface="Times New Roman" panose="02020603050405020304" pitchFamily="18" charset="0"/>
              </a:rPr>
              <a:t>2</a:t>
            </a:r>
            <a:r>
              <a:rPr lang="en-US" altLang="en-US" sz="2400" dirty="0">
                <a:latin typeface="Times New Roman" panose="02020603050405020304" pitchFamily="18" charset="0"/>
              </a:rPr>
              <a:t> must be zero.  </a:t>
            </a:r>
            <a:endParaRPr lang="en-US" altLang="en-US" sz="2400" dirty="0" smtClean="0">
              <a:latin typeface="Times New Roman" panose="02020603050405020304" pitchFamily="18" charset="0"/>
            </a:endParaRPr>
          </a:p>
          <a:p>
            <a:pPr marL="0" indent="0" algn="just">
              <a:spcBef>
                <a:spcPct val="50000"/>
              </a:spcBef>
              <a:buNone/>
            </a:pPr>
            <a:r>
              <a:rPr lang="en-US" altLang="en-US" sz="2400" dirty="0" smtClean="0">
                <a:latin typeface="Times New Roman" panose="02020603050405020304" pitchFamily="18" charset="0"/>
              </a:rPr>
              <a:t>It </a:t>
            </a:r>
            <a:r>
              <a:rPr lang="en-US" altLang="en-US" sz="2400" dirty="0">
                <a:latin typeface="Times New Roman" panose="02020603050405020304" pitchFamily="18" charset="0"/>
              </a:rPr>
              <a:t>follows that the line of action of </a:t>
            </a:r>
            <a:r>
              <a:rPr lang="en-US" altLang="en-US" sz="2400" b="1" i="1" dirty="0">
                <a:latin typeface="Times New Roman" panose="02020603050405020304" pitchFamily="18" charset="0"/>
              </a:rPr>
              <a:t>F</a:t>
            </a:r>
            <a:r>
              <a:rPr lang="en-US" altLang="en-US" sz="2400" b="1" i="1" baseline="-25000" dirty="0">
                <a:latin typeface="Times New Roman" panose="02020603050405020304" pitchFamily="18" charset="0"/>
              </a:rPr>
              <a:t>2</a:t>
            </a:r>
            <a:r>
              <a:rPr lang="en-US" altLang="en-US" sz="2400" dirty="0">
                <a:latin typeface="Times New Roman" panose="02020603050405020304" pitchFamily="18" charset="0"/>
              </a:rPr>
              <a:t> must pass through </a:t>
            </a:r>
            <a:r>
              <a:rPr lang="en-US" altLang="en-US" sz="2400" i="1" dirty="0">
                <a:latin typeface="Times New Roman" panose="02020603050405020304" pitchFamily="18" charset="0"/>
              </a:rPr>
              <a:t>A</a:t>
            </a:r>
            <a:r>
              <a:rPr lang="en-US" altLang="en-US" sz="2400" dirty="0" smtClean="0">
                <a:latin typeface="Times New Roman" panose="02020603050405020304" pitchFamily="18" charset="0"/>
              </a:rPr>
              <a:t>.</a:t>
            </a:r>
          </a:p>
          <a:p>
            <a:pPr marL="0" indent="0" algn="just">
              <a:spcBef>
                <a:spcPct val="50000"/>
              </a:spcBef>
              <a:buNone/>
            </a:pPr>
            <a:r>
              <a:rPr lang="en-US" altLang="en-US" sz="2400" dirty="0">
                <a:latin typeface="Times New Roman" panose="02020603050405020304" pitchFamily="18" charset="0"/>
              </a:rPr>
              <a:t>Similarly, the line of action of </a:t>
            </a:r>
            <a:r>
              <a:rPr lang="en-US" altLang="en-US" sz="2400" b="1" i="1" dirty="0">
                <a:latin typeface="Times New Roman" panose="02020603050405020304" pitchFamily="18" charset="0"/>
              </a:rPr>
              <a:t>F</a:t>
            </a:r>
            <a:r>
              <a:rPr lang="en-US" altLang="en-US" sz="2400" b="1" i="1" baseline="-25000" dirty="0">
                <a:latin typeface="Times New Roman" panose="02020603050405020304" pitchFamily="18" charset="0"/>
              </a:rPr>
              <a:t>1 </a:t>
            </a:r>
            <a:r>
              <a:rPr lang="en-US" altLang="en-US" sz="2400" dirty="0">
                <a:latin typeface="Times New Roman" panose="02020603050405020304" pitchFamily="18" charset="0"/>
              </a:rPr>
              <a:t>must pass through </a:t>
            </a:r>
            <a:r>
              <a:rPr lang="en-US" altLang="en-US" sz="2400" i="1" dirty="0">
                <a:latin typeface="Times New Roman" panose="02020603050405020304" pitchFamily="18" charset="0"/>
              </a:rPr>
              <a:t>B</a:t>
            </a:r>
            <a:r>
              <a:rPr lang="en-US" altLang="en-US" sz="2400" dirty="0">
                <a:latin typeface="Times New Roman" panose="02020603050405020304" pitchFamily="18" charset="0"/>
              </a:rPr>
              <a:t> for the sum of moments about </a:t>
            </a:r>
            <a:r>
              <a:rPr lang="en-US" altLang="en-US" sz="2400" i="1" dirty="0">
                <a:latin typeface="Times New Roman" panose="02020603050405020304" pitchFamily="18" charset="0"/>
              </a:rPr>
              <a:t>B</a:t>
            </a:r>
            <a:r>
              <a:rPr lang="en-US" altLang="en-US" sz="2400" dirty="0">
                <a:latin typeface="Times New Roman" panose="02020603050405020304" pitchFamily="18" charset="0"/>
              </a:rPr>
              <a:t> to be zero.</a:t>
            </a:r>
            <a:endParaRPr lang="en-US" altLang="en-US" sz="2400" b="1" i="1" baseline="-25000" dirty="0">
              <a:latin typeface="Times New Roman" panose="02020603050405020304" pitchFamily="18" charset="0"/>
            </a:endParaRPr>
          </a:p>
          <a:p>
            <a:pPr marL="0" indent="0" algn="just">
              <a:spcBef>
                <a:spcPct val="50000"/>
              </a:spcBef>
              <a:buNone/>
            </a:pPr>
            <a:r>
              <a:rPr lang="en-US" altLang="en-US" sz="2400" dirty="0">
                <a:latin typeface="Times New Roman" panose="02020603050405020304" pitchFamily="18" charset="0"/>
              </a:rPr>
              <a:t>Requiring that the sum of forces in any direction be zero leads to the conclusion that </a:t>
            </a:r>
            <a:r>
              <a:rPr lang="en-US" altLang="en-US" sz="2400" b="1" i="1" dirty="0">
                <a:latin typeface="Times New Roman" panose="02020603050405020304" pitchFamily="18" charset="0"/>
              </a:rPr>
              <a:t>F</a:t>
            </a:r>
            <a:r>
              <a:rPr lang="en-US" altLang="en-US" sz="2400" b="1" i="1" baseline="-25000" dirty="0">
                <a:latin typeface="Times New Roman" panose="02020603050405020304" pitchFamily="18" charset="0"/>
              </a:rPr>
              <a:t>1</a:t>
            </a:r>
            <a:r>
              <a:rPr lang="en-US" altLang="en-US" sz="2400" dirty="0">
                <a:latin typeface="Times New Roman" panose="02020603050405020304" pitchFamily="18" charset="0"/>
              </a:rPr>
              <a:t> and </a:t>
            </a:r>
            <a:r>
              <a:rPr lang="en-US" altLang="en-US" sz="2400" b="1" i="1" dirty="0">
                <a:latin typeface="Times New Roman" panose="02020603050405020304" pitchFamily="18" charset="0"/>
              </a:rPr>
              <a:t>F</a:t>
            </a:r>
            <a:r>
              <a:rPr lang="en-US" altLang="en-US" sz="2400" b="1" i="1" baseline="-25000" dirty="0">
                <a:latin typeface="Times New Roman" panose="02020603050405020304" pitchFamily="18" charset="0"/>
              </a:rPr>
              <a:t>2 </a:t>
            </a:r>
            <a:r>
              <a:rPr lang="en-US" altLang="en-US" sz="2400" dirty="0">
                <a:latin typeface="Times New Roman" panose="02020603050405020304" pitchFamily="18" charset="0"/>
              </a:rPr>
              <a:t>must have equal magnitude but opposite sense</a:t>
            </a:r>
          </a:p>
          <a:p>
            <a:pPr marL="0" indent="0" algn="just" eaLnBrk="1" hangingPunct="1">
              <a:spcBef>
                <a:spcPct val="50000"/>
              </a:spcBef>
              <a:buNone/>
            </a:pPr>
            <a:endParaRPr lang="en-US" altLang="en-US" sz="2400" b="1" i="1"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17106869"/>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02060"/>
                </a:solidFill>
              </a:rPr>
              <a:t>Example </a:t>
            </a:r>
            <a:r>
              <a:rPr lang="en-US" altLang="en-US" dirty="0" smtClean="0">
                <a:solidFill>
                  <a:srgbClr val="002060"/>
                </a:solidFill>
              </a:rPr>
              <a:t>1-9</a:t>
            </a:r>
            <a:endParaRPr lang="en-US" dirty="0">
              <a:solidFill>
                <a:srgbClr val="002060"/>
              </a:solidFill>
            </a:endParaRPr>
          </a:p>
        </p:txBody>
      </p:sp>
      <p:sp>
        <p:nvSpPr>
          <p:cNvPr id="3" name="Rectangle 2"/>
          <p:cNvSpPr/>
          <p:nvPr/>
        </p:nvSpPr>
        <p:spPr>
          <a:xfrm>
            <a:off x="457200" y="668033"/>
            <a:ext cx="4191000" cy="3046988"/>
          </a:xfrm>
          <a:prstGeom prst="rect">
            <a:avLst/>
          </a:prstGeom>
        </p:spPr>
        <p:txBody>
          <a:bodyPr wrap="square">
            <a:spAutoFit/>
          </a:bodyPr>
          <a:lstStyle/>
          <a:p>
            <a:pPr algn="just">
              <a:spcBef>
                <a:spcPct val="50000"/>
              </a:spcBef>
            </a:pPr>
            <a:r>
              <a:rPr lang="en-US" altLang="en-US" sz="2400" dirty="0">
                <a:latin typeface="Times New Roman" panose="02020603050405020304" pitchFamily="18" charset="0"/>
              </a:rPr>
              <a:t>A fixed crane has a mass of 1000 kg and is used to lift a 2400 kg crate.  It is held in place by a pin at </a:t>
            </a:r>
            <a:r>
              <a:rPr lang="en-US" altLang="en-US" sz="2400" i="1" dirty="0">
                <a:latin typeface="Times New Roman" panose="02020603050405020304" pitchFamily="18" charset="0"/>
              </a:rPr>
              <a:t>A</a:t>
            </a:r>
            <a:r>
              <a:rPr lang="en-US" altLang="en-US" sz="2400" dirty="0">
                <a:latin typeface="Times New Roman" panose="02020603050405020304" pitchFamily="18" charset="0"/>
              </a:rPr>
              <a:t> and a rocker at </a:t>
            </a:r>
            <a:r>
              <a:rPr lang="en-US" altLang="en-US" sz="2400" i="1" dirty="0">
                <a:latin typeface="Times New Roman" panose="02020603050405020304" pitchFamily="18" charset="0"/>
              </a:rPr>
              <a:t>B</a:t>
            </a:r>
            <a:r>
              <a:rPr lang="en-US" altLang="en-US" sz="2400" dirty="0">
                <a:latin typeface="Times New Roman" panose="02020603050405020304" pitchFamily="18" charset="0"/>
              </a:rPr>
              <a:t>.  The center of gravity of the crane is located at </a:t>
            </a:r>
            <a:r>
              <a:rPr lang="en-US" altLang="en-US" sz="2400" i="1" dirty="0">
                <a:latin typeface="Times New Roman" panose="02020603050405020304" pitchFamily="18" charset="0"/>
              </a:rPr>
              <a:t>G</a:t>
            </a:r>
            <a:r>
              <a:rPr lang="en-US" altLang="en-US" sz="2400" dirty="0">
                <a:latin typeface="Times New Roman" panose="02020603050405020304" pitchFamily="18" charset="0"/>
              </a:rPr>
              <a:t>.  </a:t>
            </a:r>
            <a:r>
              <a:rPr lang="en-US" altLang="en-US" sz="2400" dirty="0" smtClean="0">
                <a:latin typeface="Times New Roman" panose="02020603050405020304" pitchFamily="18" charset="0"/>
              </a:rPr>
              <a:t>Determine </a:t>
            </a:r>
            <a:r>
              <a:rPr lang="en-US" altLang="en-US" sz="2400" dirty="0">
                <a:latin typeface="Times New Roman" panose="02020603050405020304" pitchFamily="18" charset="0"/>
              </a:rPr>
              <a:t>the components of the reactions at </a:t>
            </a:r>
            <a:r>
              <a:rPr lang="en-US" altLang="en-US" sz="2400" i="1" dirty="0">
                <a:latin typeface="Times New Roman" panose="02020603050405020304" pitchFamily="18" charset="0"/>
              </a:rPr>
              <a:t>A</a:t>
            </a:r>
            <a:r>
              <a:rPr lang="en-US" altLang="en-US" sz="2400" dirty="0">
                <a:latin typeface="Times New Roman" panose="02020603050405020304" pitchFamily="18" charset="0"/>
              </a:rPr>
              <a:t> and </a:t>
            </a:r>
            <a:r>
              <a:rPr lang="en-US" altLang="en-US" sz="2400" i="1" dirty="0">
                <a:latin typeface="Times New Roman" panose="02020603050405020304" pitchFamily="18" charset="0"/>
              </a:rPr>
              <a:t>B</a:t>
            </a:r>
            <a:r>
              <a:rPr lang="en-US" altLang="en-US" sz="2400" dirty="0">
                <a:latin typeface="Times New Roman" panose="02020603050405020304" pitchFamily="18" charset="0"/>
              </a:rPr>
              <a:t>.</a:t>
            </a:r>
            <a:endParaRPr lang="en-US" altLang="en-US" sz="2400" dirty="0">
              <a:latin typeface="Times New Roman" panose="02020603050405020304" pitchFamily="18" charset="0"/>
            </a:endParaRPr>
          </a:p>
        </p:txBody>
      </p:sp>
      <p:pic>
        <p:nvPicPr>
          <p:cNvPr id="4" name="Picture 3"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261" y="3790170"/>
            <a:ext cx="3906078" cy="3067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msotw9_temp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838200"/>
            <a:ext cx="33147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69764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421847" y="838200"/>
            <a:ext cx="4132263"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Wingdings" panose="05000000000000000000" pitchFamily="2" charset="2"/>
              <a:buChar char="q"/>
              <a:defRPr sz="3200">
                <a:solidFill>
                  <a:srgbClr val="000000"/>
                </a:solidFill>
                <a:latin typeface="Arial" panose="020B0604020202020204" pitchFamily="34" charset="0"/>
                <a:cs typeface="Arial" panose="020B0604020202020204" pitchFamily="34" charset="0"/>
              </a:defRPr>
            </a:lvl1pPr>
            <a:lvl2pPr marL="742950" indent="-285750">
              <a:spcBef>
                <a:spcPct val="20000"/>
              </a:spcBef>
              <a:buFont typeface="Wingdings" panose="05000000000000000000" pitchFamily="2" charset="2"/>
              <a:buChar char="§"/>
              <a:defRPr sz="2800">
                <a:solidFill>
                  <a:srgbClr val="000000"/>
                </a:solidFill>
                <a:latin typeface="Arial" panose="020B0604020202020204" pitchFamily="34" charset="0"/>
                <a:cs typeface="Arial" panose="020B0604020202020204" pitchFamily="34" charset="0"/>
              </a:defRPr>
            </a:lvl2pPr>
            <a:lvl3pPr marL="1143000" indent="-228600">
              <a:spcBef>
                <a:spcPct val="20000"/>
              </a:spcBef>
              <a:buFont typeface="Wingdings" panose="05000000000000000000" pitchFamily="2" charset="2"/>
              <a:buChar char="§"/>
              <a:defRPr sz="2400">
                <a:solidFill>
                  <a:srgbClr val="000000"/>
                </a:solidFill>
                <a:latin typeface="Arial" panose="020B0604020202020204" pitchFamily="34" charset="0"/>
                <a:cs typeface="Arial" panose="020B0604020202020204" pitchFamily="34" charset="0"/>
              </a:defRPr>
            </a:lvl3pPr>
            <a:lvl4pPr marL="16002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4pPr>
            <a:lvl5pPr marL="2057400" indent="-228600">
              <a:spcBef>
                <a:spcPct val="20000"/>
              </a:spcBef>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Wingdings" panose="05000000000000000000" pitchFamily="2" charset="2"/>
              <a:buChar char="§"/>
              <a:defRPr sz="2000">
                <a:solidFill>
                  <a:srgbClr val="000000"/>
                </a:solidFill>
                <a:latin typeface="Arial" panose="020B0604020202020204" pitchFamily="34" charset="0"/>
                <a:cs typeface="Arial" panose="020B0604020202020204" pitchFamily="34" charset="0"/>
              </a:defRPr>
            </a:lvl9pPr>
          </a:lstStyle>
          <a:p>
            <a:pPr algn="just" eaLnBrk="1" hangingPunct="1">
              <a:spcBef>
                <a:spcPct val="50000"/>
              </a:spcBef>
              <a:buFontTx/>
              <a:buNone/>
            </a:pPr>
            <a:r>
              <a:rPr lang="en-US" altLang="en-US" sz="2400" dirty="0">
                <a:latin typeface="Times New Roman" panose="02020603050405020304" pitchFamily="18" charset="0"/>
              </a:rPr>
              <a:t>The frame supports part of the roof of a small building.  The tension in the cable is 150 kN</a:t>
            </a:r>
            <a:r>
              <a:rPr lang="en-US" altLang="en-US" sz="2400" dirty="0" smtClean="0">
                <a:latin typeface="Times New Roman" panose="02020603050405020304" pitchFamily="18" charset="0"/>
              </a:rPr>
              <a:t>. Determine </a:t>
            </a:r>
            <a:r>
              <a:rPr lang="en-US" altLang="en-US" sz="2400" dirty="0">
                <a:latin typeface="Times New Roman" panose="02020603050405020304" pitchFamily="18" charset="0"/>
              </a:rPr>
              <a:t>the reaction at the fixed end </a:t>
            </a:r>
            <a:r>
              <a:rPr lang="en-US" altLang="en-US" sz="2400" i="1" dirty="0">
                <a:latin typeface="Times New Roman" panose="02020603050405020304" pitchFamily="18" charset="0"/>
              </a:rPr>
              <a:t>E</a:t>
            </a:r>
            <a:r>
              <a:rPr lang="en-US" altLang="en-US" sz="2400" dirty="0">
                <a:latin typeface="Times New Roman" panose="02020603050405020304" pitchFamily="18" charset="0"/>
              </a:rPr>
              <a:t>.</a:t>
            </a:r>
          </a:p>
        </p:txBody>
      </p:sp>
      <p:pic>
        <p:nvPicPr>
          <p:cNvPr id="4" name="Picture 3" descr="msotw9_temp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2333" y="854765"/>
            <a:ext cx="3848100" cy="226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msotw9_temp0"/>
          <p:cNvPicPr>
            <a:picLocks noChangeAspect="1" noChangeArrowheads="1"/>
          </p:cNvPicPr>
          <p:nvPr/>
        </p:nvPicPr>
        <p:blipFill rotWithShape="1">
          <a:blip r:embed="rId3">
            <a:extLst>
              <a:ext uri="{28A0092B-C50C-407E-A947-70E740481C1C}">
                <a14:useLocalDpi xmlns:a14="http://schemas.microsoft.com/office/drawing/2010/main" val="0"/>
              </a:ext>
            </a:extLst>
          </a:blip>
          <a:srcRect t="7871"/>
          <a:stretch/>
        </p:blipFill>
        <p:spPr bwMode="auto">
          <a:xfrm>
            <a:off x="1915105" y="3048000"/>
            <a:ext cx="5854700" cy="3796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p:cNvSpPr>
            <a:spLocks noGrp="1"/>
          </p:cNvSpPr>
          <p:nvPr>
            <p:ph type="title"/>
          </p:nvPr>
        </p:nvSpPr>
        <p:spPr>
          <a:xfrm>
            <a:off x="838200" y="183177"/>
            <a:ext cx="7498080" cy="461665"/>
          </a:xfrm>
        </p:spPr>
        <p:txBody>
          <a:bodyPr/>
          <a:lstStyle/>
          <a:p>
            <a:r>
              <a:rPr lang="en-US" altLang="en-US" dirty="0">
                <a:solidFill>
                  <a:srgbClr val="002060"/>
                </a:solidFill>
              </a:rPr>
              <a:t>Example </a:t>
            </a:r>
            <a:r>
              <a:rPr lang="en-US" altLang="en-US" dirty="0" smtClean="0">
                <a:solidFill>
                  <a:srgbClr val="002060"/>
                </a:solidFill>
              </a:rPr>
              <a:t>1-10</a:t>
            </a:r>
            <a:endParaRPr lang="en-US" dirty="0">
              <a:solidFill>
                <a:srgbClr val="002060"/>
              </a:solidFill>
            </a:endParaRPr>
          </a:p>
        </p:txBody>
      </p:sp>
    </p:spTree>
    <p:extLst>
      <p:ext uri="{BB962C8B-B14F-4D97-AF65-F5344CB8AC3E}">
        <p14:creationId xmlns:p14="http://schemas.microsoft.com/office/powerpoint/2010/main" val="1632044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133600"/>
            <a:ext cx="5460642" cy="2370518"/>
          </a:xfrm>
        </p:spPr>
        <p:txBody>
          <a:bodyPr>
            <a:noAutofit/>
          </a:bodyPr>
          <a:lstStyle/>
          <a:p>
            <a:r>
              <a:rPr lang="en-US" sz="7200" dirty="0">
                <a:solidFill>
                  <a:schemeClr val="accent6"/>
                </a:solidFill>
              </a:rPr>
              <a:t>THANK YOU</a:t>
            </a:r>
          </a:p>
        </p:txBody>
      </p:sp>
    </p:spTree>
    <p:extLst>
      <p:ext uri="{BB962C8B-B14F-4D97-AF65-F5344CB8AC3E}">
        <p14:creationId xmlns:p14="http://schemas.microsoft.com/office/powerpoint/2010/main" val="376522558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 john">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txDef>
      <a:spPr>
        <a:noFill/>
      </a:spPr>
      <a:bodyPr wrap="square" rtlCol="0">
        <a:spAutoFit/>
      </a:bodyPr>
      <a:lstStyle>
        <a:defPPr>
          <a:defRPr sz="2400" dirty="0" smtClean="0"/>
        </a:defPPr>
      </a:lstStyle>
    </a:txDef>
  </a:objectDefaults>
  <a:extraClrSchemeLst/>
  <a:extLst>
    <a:ext uri="{05A4C25C-085E-4340-85A3-A5531E510DB2}">
      <thm15:themeFamily xmlns:thm15="http://schemas.microsoft.com/office/thememl/2012/main" name="Theme john" id="{D2ECC20E-FF3C-430E-B967-A384216378B4}" vid="{3F80C21B-5BD1-426B-BA90-D2B25AE80A99}"/>
    </a:ext>
  </a:extLst>
</a:theme>
</file>

<file path=ppt/theme/theme2.xml><?xml version="1.0" encoding="utf-8"?>
<a:theme xmlns:a="http://schemas.openxmlformats.org/drawingml/2006/main" name="Theme Ando">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txDef>
      <a:spPr>
        <a:noFill/>
      </a:spPr>
      <a:bodyPr wrap="square" rtlCol="0">
        <a:spAutoFit/>
      </a:bodyPr>
      <a:lstStyle>
        <a:defPPr>
          <a:defRPr sz="2400" dirty="0" smtClean="0"/>
        </a:defPPr>
      </a:lstStyle>
    </a:txDef>
  </a:objectDefaults>
  <a:extraClrSchemeLst/>
  <a:extLst>
    <a:ext uri="{05A4C25C-085E-4340-85A3-A5531E510DB2}">
      <thm15:themeFamily xmlns:thm15="http://schemas.microsoft.com/office/thememl/2012/main" name="Theme Ando" id="{E2C2934E-EDC2-4F90-8A37-802AF905726B}" vid="{6A218C99-592F-4A08-A905-E25EAAA3832B}"/>
    </a:ext>
  </a:extLst>
</a:theme>
</file>

<file path=ppt/theme/theme3.xml><?xml version="1.0" encoding="utf-8"?>
<a:theme xmlns:a="http://schemas.openxmlformats.org/drawingml/2006/main" name="1_Theme Ando">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txDef>
      <a:spPr>
        <a:noFill/>
      </a:spPr>
      <a:bodyPr wrap="square" rtlCol="0">
        <a:spAutoFit/>
      </a:bodyPr>
      <a:lstStyle>
        <a:defPPr>
          <a:defRPr sz="2400" dirty="0" smtClean="0"/>
        </a:defPPr>
      </a:lstStyle>
    </a:txDef>
  </a:objectDefaults>
  <a:extraClrSchemeLst/>
  <a:extLst>
    <a:ext uri="{05A4C25C-085E-4340-85A3-A5531E510DB2}">
      <thm15:themeFamily xmlns:thm15="http://schemas.microsoft.com/office/thememl/2012/main" name="Theme Ando" id="{E2C2934E-EDC2-4F90-8A37-802AF905726B}" vid="{6A218C99-592F-4A08-A905-E25EAAA3832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 john</Template>
  <TotalTime>50569</TotalTime>
  <Words>1795</Words>
  <Application>Microsoft Office PowerPoint</Application>
  <PresentationFormat>On-screen Show (4:3)</PresentationFormat>
  <Paragraphs>337</Paragraphs>
  <Slides>44</Slides>
  <Notes>7</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2</vt:i4>
      </vt:variant>
      <vt:variant>
        <vt:lpstr>Slide Titles</vt:lpstr>
      </vt:variant>
      <vt:variant>
        <vt:i4>44</vt:i4>
      </vt:variant>
    </vt:vector>
  </HeadingPairs>
  <TitlesOfParts>
    <vt:vector size="58" baseType="lpstr">
      <vt:lpstr>Arial</vt:lpstr>
      <vt:lpstr>Arial Black</vt:lpstr>
      <vt:lpstr>Calibri</vt:lpstr>
      <vt:lpstr>Cambria Math</vt:lpstr>
      <vt:lpstr>Century Gothic</vt:lpstr>
      <vt:lpstr>Times New Roman</vt:lpstr>
      <vt:lpstr>Verdana</vt:lpstr>
      <vt:lpstr>Wingdings</vt:lpstr>
      <vt:lpstr>Wingdings 2</vt:lpstr>
      <vt:lpstr>Theme john</vt:lpstr>
      <vt:lpstr>Theme Ando</vt:lpstr>
      <vt:lpstr>1_Theme Ando</vt:lpstr>
      <vt:lpstr>VISIO</vt:lpstr>
      <vt:lpstr>Equation</vt:lpstr>
      <vt:lpstr>PowerPoint Presentation</vt:lpstr>
      <vt:lpstr>Lecture Outline</vt:lpstr>
      <vt:lpstr>Classification of Stresses and Strains</vt:lpstr>
      <vt:lpstr>PowerPoint Presentation</vt:lpstr>
      <vt:lpstr>PowerPoint Presentation</vt:lpstr>
      <vt:lpstr>PowerPoint Presentation</vt:lpstr>
      <vt:lpstr>Review of Moment of Area</vt:lpstr>
      <vt:lpstr>Section Outline</vt:lpstr>
      <vt:lpstr>First Moment and Centroid of an Area</vt:lpstr>
      <vt:lpstr>First Moment and Centroid of an Area</vt:lpstr>
      <vt:lpstr>First Moment and Centroid of an Area</vt:lpstr>
      <vt:lpstr>PowerPoint Presentation</vt:lpstr>
      <vt:lpstr>Example 1-2</vt:lpstr>
      <vt:lpstr>Example 1-2 Continues</vt:lpstr>
      <vt:lpstr>First Moment and Centroid of a Composite Area</vt:lpstr>
      <vt:lpstr>PowerPoint Presentation</vt:lpstr>
      <vt:lpstr>Example 1-3  Continue</vt:lpstr>
      <vt:lpstr>PowerPoint Presentation</vt:lpstr>
      <vt:lpstr>Example 1-4 Continues</vt:lpstr>
      <vt:lpstr>Second Moment of Area and Radius of Gyration</vt:lpstr>
      <vt:lpstr>Second Moment of Area and Radius of Gyration</vt:lpstr>
      <vt:lpstr>PowerPoint Presentation</vt:lpstr>
      <vt:lpstr>Example 1-5 Continues</vt:lpstr>
      <vt:lpstr>PowerPoint Presentation</vt:lpstr>
      <vt:lpstr>Example 1-6 Continues</vt:lpstr>
      <vt:lpstr>Parallel-Axis Theorem</vt:lpstr>
      <vt:lpstr>PowerPoint Presentation</vt:lpstr>
      <vt:lpstr>Example 1.7 Continues</vt:lpstr>
      <vt:lpstr>Example 1.7 Continues</vt:lpstr>
      <vt:lpstr>Example 1-8</vt:lpstr>
      <vt:lpstr>Example 2.8 Continues</vt:lpstr>
      <vt:lpstr>Example 2-8 Continues</vt:lpstr>
      <vt:lpstr>Review of Equilibrium of Rigid Bodies</vt:lpstr>
      <vt:lpstr>Section Outline</vt:lpstr>
      <vt:lpstr>Free-Body Diagram</vt:lpstr>
      <vt:lpstr>Free-Body Diagram</vt:lpstr>
      <vt:lpstr>Free-Body Diagrams</vt:lpstr>
      <vt:lpstr>Reactions at Supports and Connections for a 2D Structure</vt:lpstr>
      <vt:lpstr>Reactions at Supports and Connections for a 2D Structure</vt:lpstr>
      <vt:lpstr>Equilibrium Conditions for  a Particle</vt:lpstr>
      <vt:lpstr>Equilibrium of a Two-Force Body</vt:lpstr>
      <vt:lpstr>Example 1-9</vt:lpstr>
      <vt:lpstr>Example 1-10</vt:lpstr>
      <vt:lpstr>THANK YOU</vt:lpstr>
    </vt:vector>
  </TitlesOfParts>
  <Company>Missouri S&amp;T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nisbett</dc:creator>
  <cp:lastModifiedBy>DR. P. Y. Andoh</cp:lastModifiedBy>
  <cp:revision>1680</cp:revision>
  <dcterms:created xsi:type="dcterms:W3CDTF">2010-11-01T14:25:24Z</dcterms:created>
  <dcterms:modified xsi:type="dcterms:W3CDTF">2017-08-27T14:24:17Z</dcterms:modified>
</cp:coreProperties>
</file>