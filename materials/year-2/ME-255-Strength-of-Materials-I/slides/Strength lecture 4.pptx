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  <p:sldMasterId id="2147483743" r:id="rId2"/>
    <p:sldMasterId id="2147483747" r:id="rId3"/>
  </p:sldMasterIdLst>
  <p:notesMasterIdLst>
    <p:notesMasterId r:id="rId42"/>
  </p:notesMasterIdLst>
  <p:sldIdLst>
    <p:sldId id="475" r:id="rId4"/>
    <p:sldId id="477" r:id="rId5"/>
    <p:sldId id="502" r:id="rId6"/>
    <p:sldId id="516" r:id="rId7"/>
    <p:sldId id="523" r:id="rId8"/>
    <p:sldId id="524" r:id="rId9"/>
    <p:sldId id="503" r:id="rId10"/>
    <p:sldId id="517" r:id="rId11"/>
    <p:sldId id="518" r:id="rId12"/>
    <p:sldId id="521" r:id="rId13"/>
    <p:sldId id="522" r:id="rId14"/>
    <p:sldId id="526" r:id="rId15"/>
    <p:sldId id="505" r:id="rId16"/>
    <p:sldId id="525" r:id="rId17"/>
    <p:sldId id="506" r:id="rId18"/>
    <p:sldId id="507" r:id="rId19"/>
    <p:sldId id="509" r:id="rId20"/>
    <p:sldId id="510" r:id="rId21"/>
    <p:sldId id="527" r:id="rId22"/>
    <p:sldId id="511" r:id="rId23"/>
    <p:sldId id="512" r:id="rId24"/>
    <p:sldId id="513" r:id="rId25"/>
    <p:sldId id="528" r:id="rId26"/>
    <p:sldId id="514" r:id="rId27"/>
    <p:sldId id="515" r:id="rId28"/>
    <p:sldId id="529" r:id="rId29"/>
    <p:sldId id="530" r:id="rId30"/>
    <p:sldId id="535" r:id="rId31"/>
    <p:sldId id="533" r:id="rId32"/>
    <p:sldId id="542" r:id="rId33"/>
    <p:sldId id="543" r:id="rId34"/>
    <p:sldId id="538" r:id="rId35"/>
    <p:sldId id="537" r:id="rId36"/>
    <p:sldId id="536" r:id="rId37"/>
    <p:sldId id="539" r:id="rId38"/>
    <p:sldId id="540" r:id="rId39"/>
    <p:sldId id="541" r:id="rId40"/>
    <p:sldId id="474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P. Y. Andoh" initials="DPYA" lastIdx="1" clrIdx="0">
    <p:extLst>
      <p:ext uri="{19B8F6BF-5375-455C-9EA6-DF929625EA0E}">
        <p15:presenceInfo xmlns:p15="http://schemas.microsoft.com/office/powerpoint/2012/main" userId="DR. P. Y. Ando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6" autoAdjust="0"/>
    <p:restoredTop sz="82718" autoAdjust="0"/>
  </p:normalViewPr>
  <p:slideViewPr>
    <p:cSldViewPr>
      <p:cViewPr varScale="1">
        <p:scale>
          <a:sx n="62" d="100"/>
          <a:sy n="62" d="100"/>
        </p:scale>
        <p:origin x="15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R.%20P.%20Y.%20Andoh\Desktop\Lecture_PowerPoint\ME%20255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Sheet1!$D$11:$D$19</c:f>
              <c:numCache>
                <c:formatCode>General</c:formatCode>
                <c:ptCount val="9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0.1875</c:v>
                </c:pt>
                <c:pt idx="8">
                  <c:v>0.505</c:v>
                </c:pt>
              </c:numCache>
            </c:numRef>
          </c:xVal>
          <c:yVal>
            <c:numRef>
              <c:f>Sheet1!$E$11:$E$19</c:f>
              <c:numCache>
                <c:formatCode>General</c:formatCode>
                <c:ptCount val="9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5611488"/>
        <c:axId val="1395614752"/>
      </c:scatterChart>
      <c:valAx>
        <c:axId val="1395611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baseline="0"/>
                  <a:t>Deflection (mm</a:t>
                </a:r>
                <a:r>
                  <a:rPr lang="en-US" baseline="0"/>
                  <a:t>)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1217769566513685"/>
              <c:y val="0.8792129629629629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614752"/>
        <c:crosses val="autoZero"/>
        <c:crossBetween val="midCat"/>
      </c:valAx>
      <c:valAx>
        <c:axId val="139561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baseline="0"/>
                  <a:t>Load (Kg)</a:t>
                </a:r>
              </a:p>
            </c:rich>
          </c:tx>
          <c:layout>
            <c:manualLayout>
              <c:xMode val="edge"/>
              <c:yMode val="edge"/>
              <c:x val="9.9317194289261328E-3"/>
              <c:y val="0.332758457276173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6114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8A9C7-AAA9-44E4-861E-BB29C1D6B150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BE1AA-4FC7-4F76-96EA-17E9F9E091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90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BE1AA-4FC7-4F76-96EA-17E9F9E091A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48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AEC457-9D2C-4BD9-AB71-4351F93E9C58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88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AEC457-9D2C-4BD9-AB71-4351F93E9C58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780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BE1AA-4FC7-4F76-96EA-17E9F9E091A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67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AEC457-9D2C-4BD9-AB71-4351F93E9C58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468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higley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4191000" cy="6019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47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gl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22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gle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6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igl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igle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higley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4191000" cy="6019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62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gl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01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gle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16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higley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4191000" cy="6019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22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gl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>
            <a:lvl1pPr>
              <a:defRPr sz="2400" b="1">
                <a:latin typeface="+mn-lt"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0800000">
            <a:off x="609600" y="685800"/>
            <a:ext cx="8229600" cy="0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75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gle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76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40000">
              <a:schemeClr val="accent6">
                <a:lumMod val="20000"/>
                <a:lumOff val="80000"/>
              </a:schemeClr>
            </a:gs>
            <a:gs pos="40000">
              <a:schemeClr val="accent6">
                <a:lumMod val="60000"/>
                <a:lumOff val="4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86862" y="-76200"/>
            <a:ext cx="8763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152400"/>
            <a:ext cx="7498080" cy="52322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685800"/>
            <a:ext cx="4191000" cy="53340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381000" y="0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extBox 1"/>
          <p:cNvSpPr txBox="1"/>
          <p:nvPr/>
        </p:nvSpPr>
        <p:spPr>
          <a:xfrm>
            <a:off x="1066800" y="6504111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Copyright © 2015 McGraw-Hill Education. All rights reserved. No reproduction or distribution without the prior written consent of McGraw-Hill Education.         </a:t>
            </a:r>
          </a:p>
          <a:p>
            <a:r>
              <a:rPr lang="en-US" sz="800" dirty="0" err="1" smtClean="0"/>
              <a:t>Shigley’s</a:t>
            </a:r>
            <a:r>
              <a:rPr lang="en-US" sz="800" dirty="0" smtClean="0"/>
              <a:t> Mechanical Engineering Design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65862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33" r:id="rId4"/>
    <p:sldLayoutId id="2147483734" r:id="rId5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8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40000">
              <a:schemeClr val="accent6">
                <a:lumMod val="20000"/>
                <a:lumOff val="80000"/>
              </a:schemeClr>
            </a:gs>
            <a:gs pos="40000">
              <a:schemeClr val="accent6">
                <a:lumMod val="60000"/>
                <a:lumOff val="4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86862" y="-76200"/>
            <a:ext cx="8763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152400"/>
            <a:ext cx="7498080" cy="52322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685800"/>
            <a:ext cx="4191000" cy="53340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381000" y="0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extBox 1"/>
          <p:cNvSpPr txBox="1"/>
          <p:nvPr/>
        </p:nvSpPr>
        <p:spPr>
          <a:xfrm>
            <a:off x="1066800" y="6504111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Copyright © 2015 McGraw-Hill Education. All rights reserved. No reproduction or distribution without the prior written consent of McGraw-Hill Education.         </a:t>
            </a:r>
          </a:p>
          <a:p>
            <a:r>
              <a:rPr lang="en-US" sz="800" dirty="0" err="1" smtClean="0"/>
              <a:t>Shigley’s</a:t>
            </a:r>
            <a:r>
              <a:rPr lang="en-US" sz="800" dirty="0" smtClean="0"/>
              <a:t> Mechanical Engineering Design</a:t>
            </a:r>
          </a:p>
          <a:p>
            <a:endParaRPr lang="en-US" sz="2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066800" y="6504111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Copyright © 2015 McGraw-Hill Education. All rights reserved. No reproduction or distribution without the prior written consent of McGraw-Hill Education.         </a:t>
            </a:r>
          </a:p>
          <a:p>
            <a:r>
              <a:rPr lang="en-US" sz="800" dirty="0" err="1" smtClean="0"/>
              <a:t>Shigley’s</a:t>
            </a:r>
            <a:r>
              <a:rPr lang="en-US" sz="800" dirty="0" smtClean="0"/>
              <a:t> Mechanical Engineering Design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21471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8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40000">
              <a:schemeClr val="accent6">
                <a:lumMod val="20000"/>
                <a:lumOff val="80000"/>
              </a:schemeClr>
            </a:gs>
            <a:gs pos="40000">
              <a:schemeClr val="accent6">
                <a:lumMod val="60000"/>
                <a:lumOff val="4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86862" y="-76200"/>
            <a:ext cx="8763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152400"/>
            <a:ext cx="7498080" cy="52322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685800"/>
            <a:ext cx="4191000" cy="53340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381000" y="0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extBox 1"/>
          <p:cNvSpPr txBox="1"/>
          <p:nvPr/>
        </p:nvSpPr>
        <p:spPr>
          <a:xfrm>
            <a:off x="1066800" y="6504111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Copyright © 2015 McGraw-Hill Education. All rights reserved. No reproduction or distribution without the prior written consent of McGraw-Hill Education.         </a:t>
            </a:r>
          </a:p>
          <a:p>
            <a:r>
              <a:rPr lang="en-US" sz="800" dirty="0" err="1" smtClean="0"/>
              <a:t>Shigley’s</a:t>
            </a:r>
            <a:r>
              <a:rPr lang="en-US" sz="800" dirty="0" smtClean="0"/>
              <a:t> Mechanical Engineering Design</a:t>
            </a:r>
          </a:p>
          <a:p>
            <a:endParaRPr lang="en-US" sz="2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066800" y="6504111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Copyright © 2015 McGraw-Hill Education. All rights reserved. No reproduction or distribution without the prior written consent of McGraw-Hill Education.         </a:t>
            </a:r>
          </a:p>
          <a:p>
            <a:r>
              <a:rPr lang="en-US" sz="800" dirty="0" err="1" smtClean="0"/>
              <a:t>Shigley’s</a:t>
            </a:r>
            <a:r>
              <a:rPr lang="en-US" sz="800" dirty="0" smtClean="0"/>
              <a:t> Mechanical Engineering Design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78900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8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ohp_2@yahoo.co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yandoh.coe@knust.edu.g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4.wm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7.wmf"/><Relationship Id="rId4" Type="http://schemas.openxmlformats.org/officeDocument/2006/relationships/image" Target="../media/image15.wmf"/><Relationship Id="rId9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1.wmf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8.wmf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0.wmf"/><Relationship Id="rId9" Type="http://schemas.openxmlformats.org/officeDocument/2006/relationships/image" Target="../media/image3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2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54.emf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6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9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7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74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3" descr="Budnya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6765" y="-25401"/>
            <a:ext cx="9147175" cy="6861175"/>
          </a:xfrm>
          <a:prstGeom prst="rect">
            <a:avLst/>
          </a:prstGeom>
          <a:noFill/>
        </p:spPr>
      </p:pic>
      <p:sp>
        <p:nvSpPr>
          <p:cNvPr id="55298" name="Rectangle 2"/>
          <p:cNvSpPr>
            <a:spLocks noGrp="1" noChangeArrowheads="1"/>
          </p:cNvSpPr>
          <p:nvPr>
            <p:ph idx="1"/>
          </p:nvPr>
        </p:nvSpPr>
        <p:spPr>
          <a:xfrm>
            <a:off x="-93330" y="2362200"/>
            <a:ext cx="3293729" cy="2462213"/>
          </a:xfrm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en-US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LECTURE </a:t>
            </a:r>
            <a:r>
              <a:rPr lang="en-US" sz="4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  <a:endParaRPr lang="en-US" sz="48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buFontTx/>
              <a:buNone/>
            </a:pPr>
            <a:endParaRPr lang="en-US" b="1" dirty="0" smtClean="0">
              <a:solidFill>
                <a:schemeClr val="bg1"/>
              </a:solidFill>
            </a:endParaRPr>
          </a:p>
          <a:p>
            <a:pPr marL="1588" indent="-1588" algn="ctr">
              <a:buFontTx/>
              <a:buNone/>
            </a:pPr>
            <a:r>
              <a:rPr lang="en-GB" sz="3600" kern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B</a:t>
            </a:r>
            <a:r>
              <a:rPr lang="en-GB" kern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INDING</a:t>
            </a:r>
            <a:r>
              <a:rPr lang="en-GB" sz="3600" kern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GB" kern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IN</a:t>
            </a:r>
            <a:r>
              <a:rPr lang="en-GB" sz="3600" kern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B</a:t>
            </a:r>
            <a:r>
              <a:rPr lang="en-GB" kern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EAMS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5066687" y="-16565"/>
            <a:ext cx="4046792" cy="68389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63527" y="2514600"/>
            <a:ext cx="36178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 Black" panose="020B0A04020102020204" pitchFamily="34" charset="0"/>
              </a:rPr>
              <a:t>ME </a:t>
            </a:r>
            <a:r>
              <a:rPr lang="en-US" sz="4000" dirty="0" smtClean="0">
                <a:latin typeface="Arial Black" panose="020B0A04020102020204" pitchFamily="34" charset="0"/>
              </a:rPr>
              <a:t>255: STRENGTH OF MATERIALS I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200401" y="-1"/>
            <a:ext cx="2163126" cy="6835775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5758"/>
            <a:ext cx="216312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Ing. Dr. P. Y. Andoh, PhD, MGhIE</a:t>
            </a: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Mechanical Engineering Dept.</a:t>
            </a:r>
          </a:p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Kwame Nkrumah University of Science and Technology, Kumasi</a:t>
            </a: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Phone: 024 2235674; 020  0960067</a:t>
            </a: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WhatsApp: 026 1099725</a:t>
            </a: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Email: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andohp_2@yahoo.com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;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4"/>
              </a:rPr>
              <a:t>pyandoh.coe@knust.edu.gh</a:t>
            </a:r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86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8600"/>
            <a:ext cx="7886700" cy="461665"/>
          </a:xfrm>
        </p:spPr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</a:rPr>
              <a:t>Lecture Outline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8649" y="1953816"/>
            <a:ext cx="827722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2050">
              <a:lnSpc>
                <a:spcPct val="25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Shear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Bending Moment Diagrams</a:t>
            </a:r>
          </a:p>
          <a:p>
            <a:pPr marL="1162050">
              <a:lnSpc>
                <a:spcPct val="25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Shear force and the Bending Moment</a:t>
            </a:r>
          </a:p>
          <a:p>
            <a:pPr marL="1162050">
              <a:lnSpc>
                <a:spcPct val="25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Stresses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Beams</a:t>
            </a:r>
          </a:p>
          <a:p>
            <a:pPr marL="1162050">
              <a:lnSpc>
                <a:spcPct val="25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Bend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47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SHEAR </a:t>
            </a:r>
            <a:r>
              <a:rPr lang="en-US" b="1" dirty="0">
                <a:solidFill>
                  <a:schemeClr val="accent6"/>
                </a:solidFill>
              </a:rPr>
              <a:t>AND BENDING IN </a:t>
            </a:r>
            <a:r>
              <a:rPr lang="en-US" b="1" dirty="0" smtClean="0">
                <a:solidFill>
                  <a:schemeClr val="accent6"/>
                </a:solidFill>
              </a:rPr>
              <a:t>BEAMS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/>
          <a:p>
            <a:fld id="{7E50C373-F1D0-494F-8D6D-366C958B3429}" type="slidenum">
              <a:rPr lang="en-GB" sz="3200" b="1" smtClean="0">
                <a:solidFill>
                  <a:schemeClr val="bg1"/>
                </a:solidFill>
              </a:rPr>
              <a:t>3</a:t>
            </a:fld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9936" y="688523"/>
            <a:ext cx="87740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Shear and moment diagrams are plots of the shear forces and bending moments respectively along the length of a beam. 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sign conversion for the shear force and bending moment in beams is shown in Figure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4-1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6" r="2445"/>
          <a:stretch/>
        </p:blipFill>
        <p:spPr bwMode="auto">
          <a:xfrm>
            <a:off x="1143208" y="3200400"/>
            <a:ext cx="723796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4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400" y="762000"/>
            <a:ext cx="8458200" cy="598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method of determining the shear moment diagrams is by the following steps:</a:t>
            </a:r>
          </a:p>
          <a:p>
            <a:pPr marL="77152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/>
              <a:tabLst>
                <a:tab pos="771525" algn="l"/>
              </a:tabLst>
            </a:pPr>
            <a:r>
              <a:rPr lang="en-US" sz="2400" dirty="0" smtClean="0"/>
              <a:t>The </a:t>
            </a:r>
            <a:r>
              <a:rPr lang="en-US" sz="2400" dirty="0"/>
              <a:t>free body is first drawn and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reactions from equilibrium of the entire beam.</a:t>
            </a:r>
          </a:p>
          <a:p>
            <a:pPr marL="77152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/>
              <a:tabLst>
                <a:tab pos="771525" algn="l"/>
              </a:tabLst>
            </a:pPr>
            <a:r>
              <a:rPr lang="en-US" sz="2400" dirty="0"/>
              <a:t>The bending moment along the beam is then calculated with emphasis on the extreme and critical points.</a:t>
            </a:r>
          </a:p>
          <a:p>
            <a:pPr marL="77152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/>
              <a:tabLst>
                <a:tab pos="77152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beam at an arbitrary point.</a:t>
            </a:r>
          </a:p>
          <a:p>
            <a:pPr marL="77152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/>
              <a:tabLst>
                <a:tab pos="771525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the unknown shear and bending moment on the cut using the positive sign convention shown in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4-1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152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/>
              <a:tabLst>
                <a:tab pos="77152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SHEAR </a:t>
            </a:r>
            <a:r>
              <a:rPr lang="en-US" b="1" dirty="0">
                <a:solidFill>
                  <a:schemeClr val="accent6"/>
                </a:solidFill>
              </a:rPr>
              <a:t>AND BENDING IN </a:t>
            </a:r>
            <a:r>
              <a:rPr lang="en-US" b="1" dirty="0" smtClean="0">
                <a:solidFill>
                  <a:schemeClr val="accent6"/>
                </a:solidFill>
              </a:rPr>
              <a:t>BEAMS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4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38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886700" cy="461665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Shearing Force and Bending Moment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90264"/>
            <a:ext cx="8700448" cy="5786735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 startAt="5"/>
              <a:tabLst>
                <a:tab pos="2921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forces in the vertical direction to determine the unknown shear.</a:t>
            </a:r>
          </a:p>
          <a:p>
            <a:pPr marL="29527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 startAt="5"/>
              <a:tabLst>
                <a:tab pos="2921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moments about the cut to determine the unknown moment.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27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 startAt="5"/>
              <a:tabLst>
                <a:tab pos="292100" algn="l"/>
              </a:tabLst>
            </a:pPr>
            <a:r>
              <a:rPr lang="en-US" dirty="0" smtClean="0"/>
              <a:t>The </a:t>
            </a:r>
            <a:r>
              <a:rPr lang="en-US" dirty="0"/>
              <a:t>calculated forces and moments are used in the drawing of the diagrams. </a:t>
            </a:r>
            <a:endParaRPr lang="en-US" dirty="0" smtClean="0"/>
          </a:p>
          <a:p>
            <a:pPr marL="29527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 startAt="5"/>
              <a:tabLst>
                <a:tab pos="292100" algn="l"/>
              </a:tabLst>
            </a:pPr>
            <a:r>
              <a:rPr lang="en-US" dirty="0" smtClean="0"/>
              <a:t>Figure </a:t>
            </a:r>
            <a:r>
              <a:rPr lang="en-US" dirty="0" smtClean="0"/>
              <a:t>4-2 </a:t>
            </a:r>
            <a:r>
              <a:rPr lang="en-US" dirty="0"/>
              <a:t>(a) shows a beam supported at the ends </a:t>
            </a:r>
            <a:r>
              <a:rPr lang="en-US" i="1" dirty="0"/>
              <a:t>A </a:t>
            </a:r>
            <a:r>
              <a:rPr lang="en-US" dirty="0"/>
              <a:t>and</a:t>
            </a:r>
            <a:r>
              <a:rPr lang="en-US" i="1" dirty="0"/>
              <a:t> B.</a:t>
            </a:r>
            <a:r>
              <a:rPr lang="en-US" dirty="0"/>
              <a:t> </a:t>
            </a:r>
            <a:endParaRPr lang="en-US" dirty="0" smtClean="0"/>
          </a:p>
          <a:p>
            <a:pPr marL="295275" indent="-29527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 startAt="5"/>
              <a:tabLst>
                <a:tab pos="292100" algn="l"/>
              </a:tabLst>
            </a:pPr>
            <a:r>
              <a:rPr lang="en-US" dirty="0" smtClean="0"/>
              <a:t>Figure </a:t>
            </a:r>
            <a:r>
              <a:rPr lang="en-US" dirty="0" smtClean="0"/>
              <a:t>4-2 </a:t>
            </a:r>
            <a:r>
              <a:rPr lang="en-US" dirty="0"/>
              <a:t>(b) shows the relevant free body diagram with calculated reactions. </a:t>
            </a:r>
            <a:endParaRPr lang="en-US" dirty="0" smtClean="0"/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5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44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9_27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49686"/>
            <a:ext cx="7924800" cy="4935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>
            <a:off x="457200" y="6858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7525" indent="-517525" algn="just">
              <a:lnSpc>
                <a:spcPct val="150000"/>
              </a:lnSpc>
              <a:spcAft>
                <a:spcPts val="1350"/>
              </a:spcAft>
              <a:buFont typeface="+mj-lt"/>
              <a:buAutoNum type="arabicPeriod" startAt="10"/>
              <a:tabLst>
                <a:tab pos="396875" algn="l"/>
              </a:tabLst>
            </a:pPr>
            <a:r>
              <a:rPr lang="en-US" sz="2400" dirty="0" smtClean="0"/>
              <a:t>Figure </a:t>
            </a:r>
            <a:r>
              <a:rPr lang="en-US" sz="2400" dirty="0" smtClean="0"/>
              <a:t>4-2 </a:t>
            </a:r>
            <a:r>
              <a:rPr lang="en-US" sz="2400" dirty="0"/>
              <a:t>(c) and (d) shows respectively the shearing force and bending moment diagrams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6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886700" cy="461665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Shearing Force and Bending Moment Diagram</a:t>
            </a:r>
          </a:p>
        </p:txBody>
      </p:sp>
    </p:spTree>
    <p:extLst>
      <p:ext uri="{BB962C8B-B14F-4D97-AF65-F5344CB8AC3E}">
        <p14:creationId xmlns:p14="http://schemas.microsoft.com/office/powerpoint/2010/main" val="136579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0157" y="5726953"/>
            <a:ext cx="306851" cy="273844"/>
          </a:xfrm>
          <a:prstGeom prst="rect">
            <a:avLst/>
          </a:prstGeom>
        </p:spPr>
        <p:txBody>
          <a:bodyPr/>
          <a:lstStyle/>
          <a:p>
            <a:fld id="{7E50C373-F1D0-494F-8D6D-366C958B3429}" type="slidenum">
              <a:rPr lang="en-GB" sz="3200" b="1" smtClean="0">
                <a:solidFill>
                  <a:schemeClr val="bg1"/>
                </a:solidFill>
              </a:rPr>
              <a:t>7</a:t>
            </a:fld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8074" y="824159"/>
            <a:ext cx="87259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ea typeface="Times New Roman" panose="02020603050405020304" pitchFamily="18" charset="0"/>
              </a:rPr>
              <a:t>For </a:t>
            </a:r>
            <a:r>
              <a:rPr lang="en-US" sz="2400" dirty="0">
                <a:ea typeface="Times New Roman" panose="02020603050405020304" pitchFamily="18" charset="0"/>
              </a:rPr>
              <a:t>the beam shown in Figure </a:t>
            </a:r>
            <a:r>
              <a:rPr lang="en-US" sz="2400" dirty="0" smtClean="0">
                <a:ea typeface="Times New Roman" panose="02020603050405020304" pitchFamily="18" charset="0"/>
              </a:rPr>
              <a:t>E4-1</a:t>
            </a:r>
            <a:r>
              <a:rPr lang="en-US" sz="2400" dirty="0" smtClean="0">
                <a:ea typeface="Times New Roman" panose="02020603050405020304" pitchFamily="18" charset="0"/>
              </a:rPr>
              <a:t>, </a:t>
            </a:r>
            <a:r>
              <a:rPr lang="en-US" sz="2400" dirty="0">
                <a:ea typeface="Times New Roman" panose="02020603050405020304" pitchFamily="18" charset="0"/>
              </a:rPr>
              <a:t>plot the shear and bending moment diagram.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r>
              <a:rPr lang="en-US" sz="2400" b="1" i="1" dirty="0"/>
              <a:t>Solution</a:t>
            </a:r>
            <a:endParaRPr lang="en-US" sz="2400" dirty="0"/>
          </a:p>
          <a:p>
            <a:r>
              <a:rPr lang="en-US" sz="2400" dirty="0"/>
              <a:t>First solve for the unknown reactions using the free-body diagram of the beam shown below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495" y="1403456"/>
            <a:ext cx="6534505" cy="2397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313" y="4649939"/>
            <a:ext cx="5488487" cy="219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486721" y="1289157"/>
            <a:ext cx="170560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486721" y="1453464"/>
            <a:ext cx="170560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14301" y="10045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601021" y="1403457"/>
            <a:ext cx="170560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601021" y="1567764"/>
            <a:ext cx="170560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87648" y="265615"/>
            <a:ext cx="1834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4-1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93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2373" y="707299"/>
            <a:ext cx="87716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ea typeface="Times New Roman" panose="02020603050405020304" pitchFamily="18" charset="0"/>
              </a:rPr>
              <a:t>To find the reactions: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r>
              <a:rPr lang="en-US" sz="2400" dirty="0"/>
              <a:t>Cut the beam between </a:t>
            </a:r>
            <a:r>
              <a:rPr lang="en-US" sz="2400" dirty="0" smtClean="0"/>
              <a:t>the x = 0 and  </a:t>
            </a:r>
            <a:r>
              <a:rPr lang="en-US" sz="2400" dirty="0"/>
              <a:t>x = </a:t>
            </a:r>
            <a:r>
              <a:rPr lang="en-US" sz="2400" dirty="0" smtClean="0"/>
              <a:t>2 m </a:t>
            </a:r>
            <a:r>
              <a:rPr lang="en-US" sz="2400" dirty="0"/>
              <a:t>and the load as shown below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 smtClean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 smtClean="0"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procedure by making a cut between x = 2 and the right end of the beam as shown in below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438400"/>
            <a:ext cx="2964734" cy="132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4-1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470" y="5029200"/>
            <a:ext cx="4208730" cy="174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8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3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81" y="990600"/>
            <a:ext cx="740333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4-1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9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04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647" y="280147"/>
            <a:ext cx="7886700" cy="42213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Example </a:t>
            </a:r>
            <a:r>
              <a:rPr lang="en-US" b="1" dirty="0" smtClean="0">
                <a:solidFill>
                  <a:schemeClr val="accent6"/>
                </a:solidFill>
              </a:rPr>
              <a:t>4-2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253" y="718851"/>
            <a:ext cx="8659505" cy="4084093"/>
          </a:xfrm>
        </p:spPr>
        <p:txBody>
          <a:bodyPr/>
          <a:lstStyle/>
          <a:p>
            <a:pPr marL="82296" indent="0">
              <a:buNone/>
            </a:pPr>
            <a:r>
              <a:rPr lang="en-US" dirty="0"/>
              <a:t>For the beam in Figure </a:t>
            </a:r>
            <a:r>
              <a:rPr lang="en-US" dirty="0" smtClean="0"/>
              <a:t>E </a:t>
            </a:r>
            <a:r>
              <a:rPr lang="en-US" dirty="0" smtClean="0"/>
              <a:t>4-1</a:t>
            </a:r>
            <a:r>
              <a:rPr lang="en-US" dirty="0"/>
              <a:t>, draw: 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/>
              <a:t>a free body diagram of the </a:t>
            </a:r>
            <a:r>
              <a:rPr lang="en-US" dirty="0" smtClean="0"/>
              <a:t>beam</a:t>
            </a:r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the </a:t>
            </a:r>
            <a:r>
              <a:rPr lang="en-US" dirty="0"/>
              <a:t>shearing force diagram of the </a:t>
            </a:r>
            <a:r>
              <a:rPr lang="en-US" dirty="0" smtClean="0"/>
              <a:t>beam</a:t>
            </a:r>
            <a:endParaRPr lang="en-US" dirty="0"/>
          </a:p>
          <a:p>
            <a:pPr marL="385763" indent="-385763">
              <a:buFont typeface="+mj-lt"/>
              <a:buAutoNum type="alphaLcParenR"/>
            </a:pPr>
            <a:r>
              <a:rPr lang="en-US" dirty="0" smtClean="0"/>
              <a:t>the </a:t>
            </a:r>
            <a:r>
              <a:rPr lang="en-US" dirty="0"/>
              <a:t>bending moment diagram of the beam.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667000"/>
            <a:ext cx="5638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10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49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762000"/>
            <a:ext cx="7239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4-2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11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44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56031" y="5695795"/>
            <a:ext cx="306851" cy="273844"/>
          </a:xfrm>
          <a:prstGeom prst="rect">
            <a:avLst/>
          </a:prstGeom>
        </p:spPr>
        <p:txBody>
          <a:bodyPr/>
          <a:lstStyle/>
          <a:p>
            <a:fld id="{7E50C373-F1D0-494F-8D6D-366C958B3429}" type="slidenum">
              <a:rPr lang="en-GB" sz="3200" b="1" smtClean="0">
                <a:solidFill>
                  <a:schemeClr val="bg1"/>
                </a:solidFill>
              </a:rPr>
              <a:t>12</a:t>
            </a:fld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1981" y="796314"/>
            <a:ext cx="40178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shear and moment diagram shown in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E5-3.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free-body diagram of the beam.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4" y="1628773"/>
            <a:ext cx="3816241" cy="176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5"/>
          <a:stretch/>
        </p:blipFill>
        <p:spPr bwMode="auto">
          <a:xfrm>
            <a:off x="418074" y="5150787"/>
            <a:ext cx="4432333" cy="163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615011" y="796314"/>
            <a:ext cx="453842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Summation of the moments about the right end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/>
              <a:t>Summation of forces in the vertical direction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4747113" y="1266657"/>
          <a:ext cx="4274218" cy="37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8" name="Equation" r:id="rId5" imgW="2514600" imgH="215900" progId="Equation.DSMT4">
                  <p:embed/>
                </p:oleObj>
              </mc:Choice>
              <mc:Fallback>
                <p:oleObj name="Equation" r:id="rId5" imgW="2514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113" y="1266657"/>
                        <a:ext cx="4274218" cy="372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4953000" y="2205406"/>
          <a:ext cx="3473843" cy="413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9" name="Equation" r:id="rId7" imgW="1841500" imgH="215900" progId="Equation.DSMT4">
                  <p:embed/>
                </p:oleObj>
              </mc:Choice>
              <mc:Fallback>
                <p:oleObj name="Equation" r:id="rId7" imgW="1841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05406"/>
                        <a:ext cx="3473843" cy="413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81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48" b="61194"/>
          <a:stretch>
            <a:fillRect/>
          </a:stretch>
        </p:blipFill>
        <p:spPr bwMode="auto">
          <a:xfrm>
            <a:off x="4496473" y="2828149"/>
            <a:ext cx="4656960" cy="1278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2" name="Picture 10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9"/>
          <a:stretch/>
        </p:blipFill>
        <p:spPr bwMode="auto">
          <a:xfrm>
            <a:off x="4857034" y="4888768"/>
            <a:ext cx="4361101" cy="189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62325" y="220454"/>
            <a:ext cx="1911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4-3 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84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1" y="4894"/>
            <a:ext cx="8899428" cy="67680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Relation </a:t>
            </a:r>
            <a:r>
              <a:rPr lang="en-US" b="1" dirty="0">
                <a:solidFill>
                  <a:schemeClr val="accent6"/>
                </a:solidFill>
              </a:rPr>
              <a:t>between the Shear force and the Bending </a:t>
            </a:r>
            <a:r>
              <a:rPr lang="en-US" b="1" dirty="0" smtClean="0">
                <a:solidFill>
                  <a:schemeClr val="accent6"/>
                </a:solidFill>
              </a:rPr>
              <a:t>Moment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7771" y="5669804"/>
            <a:ext cx="306851" cy="273844"/>
          </a:xfrm>
          <a:prstGeom prst="rect">
            <a:avLst/>
          </a:prstGeom>
        </p:spPr>
        <p:txBody>
          <a:bodyPr/>
          <a:lstStyle/>
          <a:p>
            <a:fld id="{7E50C373-F1D0-494F-8D6D-366C958B3429}" type="slidenum">
              <a:rPr lang="en-GB" sz="3200" b="1" smtClean="0">
                <a:solidFill>
                  <a:schemeClr val="bg1"/>
                </a:solidFill>
              </a:rPr>
              <a:t>13</a:t>
            </a:fld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4622" y="762715"/>
            <a:ext cx="431357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Let us consider a simple supported beam AB carrying a distributed load w per unit length as shown in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4-3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56" y="3030092"/>
            <a:ext cx="3844243" cy="2545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941716" y="768757"/>
            <a:ext cx="42022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ea typeface="Times New Roman" panose="02020603050405020304" pitchFamily="18" charset="0"/>
              </a:rPr>
              <a:t>Summation of forces in the y direction gives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ea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ea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ea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ea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/>
              <a:t>Dividing through by </a:t>
            </a:r>
            <a:r>
              <a:rPr lang="en-US" sz="2400" dirty="0" err="1"/>
              <a:t>Δx</a:t>
            </a:r>
            <a:r>
              <a:rPr lang="en-US" sz="2400" dirty="0"/>
              <a:t> gives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/>
              <a:t>Integrating Eq. (2-34) gives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ea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083738"/>
              </p:ext>
            </p:extLst>
          </p:nvPr>
        </p:nvGraphicFramePr>
        <p:xfrm>
          <a:off x="4941715" y="1758413"/>
          <a:ext cx="4171457" cy="943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5" name="Equation" r:id="rId4" imgW="1892300" imgH="431800" progId="Equation.DSMT4">
                  <p:embed/>
                </p:oleObj>
              </mc:Choice>
              <mc:Fallback>
                <p:oleObj name="Equation" r:id="rId4" imgW="1892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715" y="1758413"/>
                        <a:ext cx="4171457" cy="9432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193954"/>
              </p:ext>
            </p:extLst>
          </p:nvPr>
        </p:nvGraphicFramePr>
        <p:xfrm>
          <a:off x="6423899" y="3396044"/>
          <a:ext cx="1909020" cy="1151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6" name="Equation" r:id="rId6" imgW="647419" imgH="393529" progId="Equation.DSMT4">
                  <p:embed/>
                </p:oleObj>
              </mc:Choice>
              <mc:Fallback>
                <p:oleObj name="Equation" r:id="rId6" imgW="64741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3899" y="3396044"/>
                        <a:ext cx="1909020" cy="11510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321110"/>
              </p:ext>
            </p:extLst>
          </p:nvPr>
        </p:nvGraphicFramePr>
        <p:xfrm>
          <a:off x="5551446" y="5011346"/>
          <a:ext cx="3059153" cy="159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7" name="Equation" r:id="rId8" imgW="952087" imgH="495085" progId="Equation.DSMT4">
                  <p:embed/>
                </p:oleObj>
              </mc:Choice>
              <mc:Fallback>
                <p:oleObj name="Equation" r:id="rId8" imgW="952087" imgH="4950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46" y="5011346"/>
                        <a:ext cx="3059153" cy="15907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7295875" y="446207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4798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792163"/>
            <a:ext cx="4114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8625" indent="-428625" algn="just">
              <a:buFont typeface="Wingdings" panose="05000000000000000000" pitchFamily="2" charset="2"/>
              <a:buChar char="q"/>
            </a:pPr>
            <a:r>
              <a:rPr lang="en-US" sz="2400" dirty="0">
                <a:ea typeface="Times New Roman" panose="02020603050405020304" pitchFamily="18" charset="0"/>
              </a:rPr>
              <a:t>Summation of moments and neglecting higher order terms gives</a:t>
            </a:r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 smtClean="0"/>
          </a:p>
          <a:p>
            <a:pPr marL="428625" indent="-428625" algn="just">
              <a:buFont typeface="Wingdings" panose="05000000000000000000" pitchFamily="2" charset="2"/>
              <a:buChar char="q"/>
            </a:pPr>
            <a:r>
              <a:rPr lang="en-US" sz="2400" dirty="0" smtClean="0"/>
              <a:t>Dividing </a:t>
            </a:r>
            <a:r>
              <a:rPr lang="en-US" sz="2400" dirty="0"/>
              <a:t>through by </a:t>
            </a:r>
            <a:r>
              <a:rPr lang="en-US" sz="2400" dirty="0" err="1"/>
              <a:t>Δx</a:t>
            </a:r>
            <a:r>
              <a:rPr lang="en-US" sz="2400" dirty="0"/>
              <a:t> gives</a:t>
            </a:r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r>
              <a:rPr lang="en-US" sz="2400" dirty="0"/>
              <a:t>Integrating </a:t>
            </a:r>
            <a:r>
              <a:rPr lang="en-US" sz="2400" dirty="0" smtClean="0"/>
              <a:t>gives</a:t>
            </a: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428625" indent="-428625"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034827"/>
              </p:ext>
            </p:extLst>
          </p:nvPr>
        </p:nvGraphicFramePr>
        <p:xfrm>
          <a:off x="609600" y="2140065"/>
          <a:ext cx="3657600" cy="852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9" name="Equation" r:id="rId3" imgW="1841500" imgH="431800" progId="Equation.DSMT4">
                  <p:embed/>
                </p:oleObj>
              </mc:Choice>
              <mc:Fallback>
                <p:oleObj name="Equation" r:id="rId3" imgW="1841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140065"/>
                        <a:ext cx="3657600" cy="8528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915912"/>
              </p:ext>
            </p:extLst>
          </p:nvPr>
        </p:nvGraphicFramePr>
        <p:xfrm>
          <a:off x="2286000" y="3857654"/>
          <a:ext cx="1814651" cy="966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0" name="Equation" r:id="rId5" imgW="736280" imgH="393529" progId="Equation.DSMT4">
                  <p:embed/>
                </p:oleObj>
              </mc:Choice>
              <mc:Fallback>
                <p:oleObj name="Equation" r:id="rId5" imgW="736280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57654"/>
                        <a:ext cx="1814651" cy="9662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667746"/>
              </p:ext>
            </p:extLst>
          </p:nvPr>
        </p:nvGraphicFramePr>
        <p:xfrm>
          <a:off x="838199" y="5424345"/>
          <a:ext cx="3155355" cy="1128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1" name="Equation" r:id="rId7" imgW="1104421" imgH="495085" progId="Equation.DSMT4">
                  <p:embed/>
                </p:oleObj>
              </mc:Choice>
              <mc:Fallback>
                <p:oleObj name="Equation" r:id="rId7" imgW="1104421" imgH="4950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99" y="5424345"/>
                        <a:ext cx="3155355" cy="1128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894310" y="792163"/>
            <a:ext cx="424968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1: Express w in terms of the length x; </a:t>
            </a:r>
          </a:p>
          <a:p>
            <a:pPr marL="685800"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</a:p>
          <a:p>
            <a:pPr marL="68580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Obtain V(x) by integrating q(x) within the interval.</a:t>
            </a:r>
          </a:p>
          <a:p>
            <a:pPr marL="685800" indent="-68580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Find M(x) by determining the area under the shear force diagram or integrating V(x) within the interval.</a:t>
            </a:r>
          </a:p>
          <a:p>
            <a:pPr marL="68580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43913"/>
              </p:ext>
            </p:extLst>
          </p:nvPr>
        </p:nvGraphicFramePr>
        <p:xfrm>
          <a:off x="5562600" y="1981200"/>
          <a:ext cx="3268767" cy="847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2" name="Equation" r:id="rId9" imgW="774364" imgH="203112" progId="Equation.DSMT4">
                  <p:embed/>
                </p:oleObj>
              </mc:Choice>
              <mc:Fallback>
                <p:oleObj name="Equation" r:id="rId9" imgW="77436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981200"/>
                        <a:ext cx="3268767" cy="8474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7641" y="4894"/>
            <a:ext cx="8899428" cy="67680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Relation </a:t>
            </a:r>
            <a:r>
              <a:rPr lang="en-US" b="1" dirty="0">
                <a:solidFill>
                  <a:schemeClr val="accent6"/>
                </a:solidFill>
              </a:rPr>
              <a:t>between the Shear force and the Bending </a:t>
            </a:r>
            <a:r>
              <a:rPr lang="en-US" b="1" dirty="0" smtClean="0">
                <a:solidFill>
                  <a:schemeClr val="accent6"/>
                </a:solidFill>
              </a:rPr>
              <a:t>Moment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14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87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465456" y="745076"/>
            <a:ext cx="39541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simply supported uniform beam shown in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E4-4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carries a uniform load of w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Plot the shear and moment diagram for this beam.</a:t>
            </a:r>
            <a:endParaRPr lang="en-US" sz="2400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73" y="2823388"/>
            <a:ext cx="4062491" cy="144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465456" y="4426398"/>
            <a:ext cx="39541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before, the reactions can be found first from the free-body diagram of the beam.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491" y="755015"/>
            <a:ext cx="4114800" cy="1276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" name="Rectangle 1"/>
          <p:cNvSpPr/>
          <p:nvPr/>
        </p:nvSpPr>
        <p:spPr>
          <a:xfrm>
            <a:off x="3592698" y="257086"/>
            <a:ext cx="1834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4-4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95232" y="2333685"/>
            <a:ext cx="3962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forces then gives.</a:t>
            </a:r>
          </a:p>
          <a:p>
            <a:pPr algn="just"/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load  q = -w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gives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115752"/>
              </p:ext>
            </p:extLst>
          </p:nvPr>
        </p:nvGraphicFramePr>
        <p:xfrm>
          <a:off x="5715000" y="2836640"/>
          <a:ext cx="3342632" cy="1114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6" name="Equation" r:id="rId5" imgW="1231366" imgH="406224" progId="Equation.DSMT4">
                  <p:embed/>
                </p:oleObj>
              </mc:Choice>
              <mc:Fallback>
                <p:oleObj name="Equation" r:id="rId5" imgW="123136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36640"/>
                        <a:ext cx="3342632" cy="11142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791588"/>
              </p:ext>
            </p:extLst>
          </p:nvPr>
        </p:nvGraphicFramePr>
        <p:xfrm>
          <a:off x="4746491" y="5222149"/>
          <a:ext cx="4395568" cy="1266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7" name="Equation" r:id="rId7" imgW="1688367" imgH="482391" progId="Equation.DSMT4">
                  <p:embed/>
                </p:oleObj>
              </mc:Choice>
              <mc:Fallback>
                <p:oleObj name="Equation" r:id="rId7" imgW="1688367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491" y="5222149"/>
                        <a:ext cx="4395568" cy="1266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15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96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8074" y="843817"/>
            <a:ext cx="33157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But</a:t>
            </a:r>
          </a:p>
          <a:p>
            <a:pPr algn="just"/>
            <a:endParaRPr lang="en-US" sz="2400" dirty="0"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cs typeface="Times New Roman" panose="02020603050405020304" pitchFamily="18" charset="0"/>
            </a:endParaRP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Therefore </a:t>
            </a:r>
            <a:endParaRPr lang="en-US" sz="2400" dirty="0"/>
          </a:p>
          <a:p>
            <a:pPr algn="just"/>
            <a:endParaRPr lang="en-US" sz="2400" dirty="0"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cs typeface="Times New Roman" panose="02020603050405020304" pitchFamily="18" charset="0"/>
            </a:endParaRPr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Integrating the above and setting the moment at x =0 to be zero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508115"/>
              </p:ext>
            </p:extLst>
          </p:nvPr>
        </p:nvGraphicFramePr>
        <p:xfrm>
          <a:off x="1114485" y="965932"/>
          <a:ext cx="2243033" cy="1015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7" name="Equation" r:id="rId3" imgW="901309" imgH="406224" progId="Equation.DSMT4">
                  <p:embed/>
                </p:oleObj>
              </mc:Choice>
              <mc:Fallback>
                <p:oleObj name="Equation" r:id="rId3" imgW="90130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85" y="965932"/>
                        <a:ext cx="2243033" cy="1015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464236"/>
              </p:ext>
            </p:extLst>
          </p:nvPr>
        </p:nvGraphicFramePr>
        <p:xfrm>
          <a:off x="909167" y="2818113"/>
          <a:ext cx="2596033" cy="1105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8" name="Equation" r:id="rId5" imgW="964781" imgH="406224" progId="Equation.DSMT4">
                  <p:embed/>
                </p:oleObj>
              </mc:Choice>
              <mc:Fallback>
                <p:oleObj name="Equation" r:id="rId5" imgW="96478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167" y="2818113"/>
                        <a:ext cx="2596033" cy="11052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483613"/>
              </p:ext>
            </p:extLst>
          </p:nvPr>
        </p:nvGraphicFramePr>
        <p:xfrm>
          <a:off x="623684" y="5249015"/>
          <a:ext cx="3367291" cy="1173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9" name="Equation" r:id="rId7" imgW="1130040" imgH="393480" progId="Equation.DSMT4">
                  <p:embed/>
                </p:oleObj>
              </mc:Choice>
              <mc:Fallback>
                <p:oleObj name="Equation" r:id="rId7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684" y="5249015"/>
                        <a:ext cx="3367291" cy="11733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8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726" y="763188"/>
            <a:ext cx="5179807" cy="380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4-4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16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17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Stresses </a:t>
            </a:r>
            <a:r>
              <a:rPr lang="en-US" b="1" dirty="0">
                <a:solidFill>
                  <a:schemeClr val="accent6"/>
                </a:solidFill>
              </a:rPr>
              <a:t>in </a:t>
            </a:r>
            <a:r>
              <a:rPr lang="en-US" b="1" dirty="0" smtClean="0">
                <a:solidFill>
                  <a:schemeClr val="accent6"/>
                </a:solidFill>
              </a:rPr>
              <a:t>Beams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1090" y="674608"/>
            <a:ext cx="88429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basic assumptions in elementary beam theory is that the cross-section remains plane and perpendicular to the neutral axis as shown in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5-4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when the beam is loaded. 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assumption is strictly true only for the case of pure bending but gives good results even when shear is taking place. 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12697"/>
            <a:ext cx="7848600" cy="3845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17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80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Bending</a:t>
            </a:r>
            <a:r>
              <a:rPr lang="en-US" b="1" i="1" dirty="0">
                <a:solidFill>
                  <a:schemeClr val="accent6"/>
                </a:solidFill>
              </a:rPr>
              <a:t> </a:t>
            </a:r>
            <a:r>
              <a:rPr lang="en-US" b="1" dirty="0" smtClean="0">
                <a:solidFill>
                  <a:schemeClr val="accent6"/>
                </a:solidFill>
              </a:rPr>
              <a:t>Stress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8990" y="819238"/>
            <a:ext cx="687001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50" indent="-4762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distance y is measured from the neutral axis. </a:t>
            </a: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strain in the x-direction is </a:t>
            </a: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change in length</a:t>
            </a: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Strain is</a:t>
            </a: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6250" indent="-4762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stress is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301871"/>
              </p:ext>
            </p:extLst>
          </p:nvPr>
        </p:nvGraphicFramePr>
        <p:xfrm>
          <a:off x="5257800" y="1600200"/>
          <a:ext cx="1219200" cy="701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8" name="Equation" r:id="rId3" imgW="380835" imgH="215806" progId="Equation.DSMT4">
                  <p:embed/>
                </p:oleObj>
              </mc:Choice>
              <mc:Fallback>
                <p:oleObj name="Equation" r:id="rId3" imgW="380835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600200"/>
                        <a:ext cx="1219200" cy="701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690474"/>
              </p:ext>
            </p:extLst>
          </p:nvPr>
        </p:nvGraphicFramePr>
        <p:xfrm>
          <a:off x="3883477" y="2743199"/>
          <a:ext cx="1983923" cy="621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9" name="Equation" r:id="rId5" imgW="634725" imgH="203112" progId="Equation.DSMT4">
                  <p:embed/>
                </p:oleObj>
              </mc:Choice>
              <mc:Fallback>
                <p:oleObj name="Equation" r:id="rId5" imgW="6347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477" y="2743199"/>
                        <a:ext cx="1983923" cy="621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298074"/>
              </p:ext>
            </p:extLst>
          </p:nvPr>
        </p:nvGraphicFramePr>
        <p:xfrm>
          <a:off x="2888509" y="3901447"/>
          <a:ext cx="3512291" cy="959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40" name="Equation" r:id="rId7" imgW="1536700" imgH="419100" progId="Equation.DSMT4">
                  <p:embed/>
                </p:oleObj>
              </mc:Choice>
              <mc:Fallback>
                <p:oleObj name="Equation" r:id="rId7" imgW="15367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8509" y="3901447"/>
                        <a:ext cx="3512291" cy="9598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832373"/>
              </p:ext>
            </p:extLst>
          </p:nvPr>
        </p:nvGraphicFramePr>
        <p:xfrm>
          <a:off x="2305050" y="5420259"/>
          <a:ext cx="2495550" cy="868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41" name="Equation" r:id="rId9" imgW="660400" imgH="228600" progId="Equation.DSMT4">
                  <p:embed/>
                </p:oleObj>
              </mc:Choice>
              <mc:Fallback>
                <p:oleObj name="Equation" r:id="rId9" imgW="660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5420259"/>
                        <a:ext cx="2495550" cy="8680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18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6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4597" y="762000"/>
            <a:ext cx="86994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ea typeface="Times New Roman" panose="02020603050405020304" pitchFamily="18" charset="0"/>
              </a:rPr>
              <a:t>The axial force and the bending moment can be found by summing the effects of the normal stress σ</a:t>
            </a:r>
            <a:r>
              <a:rPr lang="en-US" sz="2400" baseline="-25000" dirty="0">
                <a:ea typeface="Times New Roman" panose="02020603050405020304" pitchFamily="18" charset="0"/>
              </a:rPr>
              <a:t>y</a:t>
            </a:r>
            <a:r>
              <a:rPr lang="en-US" sz="2400" dirty="0">
                <a:ea typeface="Times New Roman" panose="02020603050405020304" pitchFamily="18" charset="0"/>
              </a:rPr>
              <a:t>: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r>
              <a:rPr lang="en-US" sz="2400" dirty="0"/>
              <a:t>The bending stress can be expressed as: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685242"/>
              </p:ext>
            </p:extLst>
          </p:nvPr>
        </p:nvGraphicFramePr>
        <p:xfrm>
          <a:off x="609599" y="1663831"/>
          <a:ext cx="5339447" cy="1003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4" name="Equation" r:id="rId3" imgW="1574800" imgH="292100" progId="Equation.DSMT4">
                  <p:embed/>
                </p:oleObj>
              </mc:Choice>
              <mc:Fallback>
                <p:oleObj name="Equation" r:id="rId3" imgW="15748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9" y="1663831"/>
                        <a:ext cx="5339447" cy="10031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454162"/>
              </p:ext>
            </p:extLst>
          </p:nvPr>
        </p:nvGraphicFramePr>
        <p:xfrm>
          <a:off x="608178" y="2784158"/>
          <a:ext cx="8121327" cy="110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5" name="Equation" r:id="rId5" imgW="2273300" imgH="292100" progId="Equation.DSMT4">
                  <p:embed/>
                </p:oleObj>
              </mc:Choice>
              <mc:Fallback>
                <p:oleObj name="Equation" r:id="rId5" imgW="22733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8" y="2784158"/>
                        <a:ext cx="8121327" cy="11020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195559"/>
              </p:ext>
            </p:extLst>
          </p:nvPr>
        </p:nvGraphicFramePr>
        <p:xfrm>
          <a:off x="824329" y="4515531"/>
          <a:ext cx="2597637" cy="166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6" name="Equation" r:id="rId7" imgW="609336" imgH="393529" progId="Equation.DSMT4">
                  <p:embed/>
                </p:oleObj>
              </mc:Choice>
              <mc:Fallback>
                <p:oleObj name="Equation" r:id="rId7" imgW="609336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329" y="4515531"/>
                        <a:ext cx="2597637" cy="1664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490835"/>
              </p:ext>
            </p:extLst>
          </p:nvPr>
        </p:nvGraphicFramePr>
        <p:xfrm>
          <a:off x="4267199" y="4620076"/>
          <a:ext cx="4830855" cy="1559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7" name="Equation" r:id="rId9" imgW="1205977" imgH="393529" progId="Equation.DSMT4">
                  <p:embed/>
                </p:oleObj>
              </mc:Choice>
              <mc:Fallback>
                <p:oleObj name="Equation" r:id="rId9" imgW="1205977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199" y="4620076"/>
                        <a:ext cx="4830855" cy="15595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Bending</a:t>
            </a:r>
            <a:r>
              <a:rPr lang="en-US" b="1" i="1" dirty="0">
                <a:solidFill>
                  <a:schemeClr val="accent6"/>
                </a:solidFill>
              </a:rPr>
              <a:t> </a:t>
            </a:r>
            <a:r>
              <a:rPr lang="en-US" b="1" dirty="0" smtClean="0">
                <a:solidFill>
                  <a:schemeClr val="accent6"/>
                </a:solidFill>
              </a:rPr>
              <a:t>Stress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19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34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1448" y="690264"/>
            <a:ext cx="40843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100 mm x 150 mm wooden cantilever beam is 2 m long  It is loaded at its tip with a 4 kN load Find the maximum bending stress in the beam shown in Figure EA13 .The maximum bending moment occurs at  the wall and is M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8 kN- m.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74" y="4302089"/>
            <a:ext cx="4361592" cy="1565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768833"/>
              </p:ext>
            </p:extLst>
          </p:nvPr>
        </p:nvGraphicFramePr>
        <p:xfrm>
          <a:off x="5029200" y="1579772"/>
          <a:ext cx="4207721" cy="1392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0" name="Equation" r:id="rId4" imgW="1270000" imgH="419100" progId="Equation.DSMT4">
                  <p:embed/>
                </p:oleObj>
              </mc:Choice>
              <mc:Fallback>
                <p:oleObj name="Equation" r:id="rId4" imgW="1270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579772"/>
                        <a:ext cx="4207721" cy="13920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99719"/>
              </p:ext>
            </p:extLst>
          </p:nvPr>
        </p:nvGraphicFramePr>
        <p:xfrm>
          <a:off x="4894360" y="3505200"/>
          <a:ext cx="4226449" cy="99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1" name="Equation" r:id="rId6" imgW="1816100" imgH="431800" progId="Equation.DSMT4">
                  <p:embed/>
                </p:oleObj>
              </mc:Choice>
              <mc:Fallback>
                <p:oleObj name="Equation" r:id="rId6" imgW="1816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360" y="3505200"/>
                        <a:ext cx="4226449" cy="9957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257800" y="882688"/>
            <a:ext cx="3524921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" y="154742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" name="Rectangle 1"/>
          <p:cNvSpPr/>
          <p:nvPr/>
        </p:nvSpPr>
        <p:spPr>
          <a:xfrm>
            <a:off x="3248703" y="228600"/>
            <a:ext cx="1911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4-5 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20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61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Shear </a:t>
            </a:r>
            <a:r>
              <a:rPr lang="en-US" b="1" dirty="0" smtClean="0">
                <a:solidFill>
                  <a:schemeClr val="accent6"/>
                </a:solidFill>
              </a:rPr>
              <a:t>stress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8074" y="766479"/>
            <a:ext cx="400152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find the shear stress, consider the element of length shown in Figure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5-5. 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bending stresses acting on that element are shown in Figure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5-6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94" y="1812201"/>
            <a:ext cx="3775606" cy="3019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268" y="718751"/>
            <a:ext cx="4387732" cy="3231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99109" y="4023665"/>
            <a:ext cx="4444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8625" indent="-428625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Summation of forces in x-direction for the free-body diagram shown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5-6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296026" y="3557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141136"/>
              </p:ext>
            </p:extLst>
          </p:nvPr>
        </p:nvGraphicFramePr>
        <p:xfrm>
          <a:off x="4756268" y="5250513"/>
          <a:ext cx="4387732" cy="165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0" name="Equation" r:id="rId5" imgW="2095500" imgH="787400" progId="Equation.DSMT4">
                  <p:embed/>
                </p:oleObj>
              </mc:Choice>
              <mc:Fallback>
                <p:oleObj name="Equation" r:id="rId5" imgW="20955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268" y="5250513"/>
                        <a:ext cx="4387732" cy="1655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21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6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8074" y="1949216"/>
            <a:ext cx="87259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bending stress equation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equation gives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shear stress τ is assumed to be uniform over the thickness b, then τ = q/b and the expression for shear stress is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602981"/>
              </p:ext>
            </p:extLst>
          </p:nvPr>
        </p:nvGraphicFramePr>
        <p:xfrm>
          <a:off x="2204326" y="2514600"/>
          <a:ext cx="3310983" cy="1060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2" name="Equation" r:id="rId3" imgW="1218671" imgH="393529" progId="Equation.DSMT4">
                  <p:embed/>
                </p:oleObj>
              </mc:Choice>
              <mc:Fallback>
                <p:oleObj name="Equation" r:id="rId3" imgW="1218671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326" y="2514600"/>
                        <a:ext cx="3310983" cy="1060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1782"/>
              </p:ext>
            </p:extLst>
          </p:nvPr>
        </p:nvGraphicFramePr>
        <p:xfrm>
          <a:off x="2572866" y="5059747"/>
          <a:ext cx="2075334" cy="1636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name="Equation" r:id="rId5" imgW="495085" imgH="393529" progId="Equation.DSMT4">
                  <p:embed/>
                </p:oleObj>
              </mc:Choice>
              <mc:Fallback>
                <p:oleObj name="Equation" r:id="rId5" imgW="495085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866" y="5059747"/>
                        <a:ext cx="2075334" cy="16363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410347"/>
              </p:ext>
            </p:extLst>
          </p:nvPr>
        </p:nvGraphicFramePr>
        <p:xfrm>
          <a:off x="987864" y="770147"/>
          <a:ext cx="3203135" cy="99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7" imgW="1256755" imgH="393529" progId="Equation.DSMT4">
                  <p:embed/>
                </p:oleObj>
              </mc:Choice>
              <mc:Fallback>
                <p:oleObj name="Equation" r:id="rId7" imgW="1256755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864" y="770147"/>
                        <a:ext cx="3203135" cy="994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22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Shear </a:t>
            </a:r>
            <a:r>
              <a:rPr lang="en-US" b="1" dirty="0" smtClean="0">
                <a:solidFill>
                  <a:schemeClr val="accent6"/>
                </a:solidFill>
              </a:rPr>
              <a:t>stress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177"/>
            <a:ext cx="7498080" cy="461665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4-6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77972"/>
            <a:ext cx="4381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cross-section of the beam shown in Figure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E4-6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has an applied shear of 10 kN. Find:</a:t>
            </a:r>
          </a:p>
          <a:p>
            <a:pPr marL="647700" indent="-257175" algn="just">
              <a:buFont typeface="+mj-lt"/>
              <a:buAutoNum type="alphaLcPeriod"/>
              <a:tabLst>
                <a:tab pos="17145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shear stress at a point 20 mm below the top of the beam</a:t>
            </a:r>
          </a:p>
          <a:p>
            <a:pPr marL="647700" indent="-257175" algn="just">
              <a:buFont typeface="+mj-lt"/>
              <a:buAutoNum type="alphaLcPeriod"/>
              <a:tabLst>
                <a:tab pos="17145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maximum shear stress from the shear force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96" y="4114800"/>
            <a:ext cx="3816626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953000" y="677972"/>
            <a:ext cx="4191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ea typeface="Times New Roman" panose="02020603050405020304" pitchFamily="18" charset="0"/>
              </a:rPr>
              <a:t>The centroids of each of the two sections are also shown in Figure below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r>
              <a:rPr lang="en-US" sz="2400" dirty="0"/>
              <a:t>The centroid of the entire cross-section is found as follows:</a:t>
            </a: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b="-2454"/>
          <a:stretch>
            <a:fillRect/>
          </a:stretch>
        </p:blipFill>
        <p:spPr bwMode="auto">
          <a:xfrm>
            <a:off x="5486400" y="1896757"/>
            <a:ext cx="3047006" cy="1828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216691"/>
              </p:ext>
            </p:extLst>
          </p:nvPr>
        </p:nvGraphicFramePr>
        <p:xfrm>
          <a:off x="4603804" y="4743098"/>
          <a:ext cx="4395917" cy="1276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6" name="Equation" r:id="rId5" imgW="2882900" imgH="838200" progId="Equation.DSMT4">
                  <p:embed/>
                </p:oleObj>
              </mc:Choice>
              <mc:Fallback>
                <p:oleObj name="Equation" r:id="rId5" imgW="28829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804" y="4743098"/>
                        <a:ext cx="4395917" cy="12767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431751"/>
              </p:ext>
            </p:extLst>
          </p:nvPr>
        </p:nvGraphicFramePr>
        <p:xfrm>
          <a:off x="6629400" y="5915625"/>
          <a:ext cx="221894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7" name="Equation" r:id="rId7" imgW="863225" imgH="241195" progId="Equation.DSMT4">
                  <p:embed/>
                </p:oleObj>
              </mc:Choice>
              <mc:Fallback>
                <p:oleObj name="Equation" r:id="rId7" imgW="863225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915625"/>
                        <a:ext cx="2218943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23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0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1" name="Rectangle 10"/>
          <p:cNvSpPr/>
          <p:nvPr/>
        </p:nvSpPr>
        <p:spPr>
          <a:xfrm>
            <a:off x="418074" y="718751"/>
            <a:ext cx="40777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centroid is shown in Figure (b)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second moment of area 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445" y="1277392"/>
            <a:ext cx="7455667" cy="230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" name="Rectangle 27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61871"/>
              </p:ext>
            </p:extLst>
          </p:nvPr>
        </p:nvGraphicFramePr>
        <p:xfrm>
          <a:off x="685799" y="4105253"/>
          <a:ext cx="8090337" cy="187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1" name="Equation" r:id="rId4" imgW="4813300" imgH="1117600" progId="Equation.DSMT4">
                  <p:embed/>
                </p:oleObj>
              </mc:Choice>
              <mc:Fallback>
                <p:oleObj name="Equation" r:id="rId4" imgW="48133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99" y="4105253"/>
                        <a:ext cx="8090337" cy="1874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24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4-6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8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9124" y="698288"/>
            <a:ext cx="881487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point 20 mm below the top of the beam, the area A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Q is then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Shear stress is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199336"/>
              </p:ext>
            </p:extLst>
          </p:nvPr>
        </p:nvGraphicFramePr>
        <p:xfrm>
          <a:off x="547931" y="2149883"/>
          <a:ext cx="6690547" cy="62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6" name="Equation" r:id="rId3" imgW="2451100" imgH="228600" progId="Equation.DSMT4">
                  <p:embed/>
                </p:oleObj>
              </mc:Choice>
              <mc:Fallback>
                <p:oleObj name="Equation" r:id="rId3" imgW="2451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931" y="2149883"/>
                        <a:ext cx="6690547" cy="624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25041"/>
              </p:ext>
            </p:extLst>
          </p:nvPr>
        </p:nvGraphicFramePr>
        <p:xfrm>
          <a:off x="685800" y="3785624"/>
          <a:ext cx="6924588" cy="1700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7" name="Equation" r:id="rId5" imgW="2171700" imgH="533400" progId="Equation.DSMT4">
                  <p:embed/>
                </p:oleObj>
              </mc:Choice>
              <mc:Fallback>
                <p:oleObj name="Equation" r:id="rId5" imgW="2171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785624"/>
                        <a:ext cx="6924588" cy="1700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214722" y="3121480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25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4-6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9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2034" y="762000"/>
            <a:ext cx="86495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maximum Q will be at the centroid of the cross-section.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maximum moment of area Q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max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is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Shear stress is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159567"/>
              </p:ext>
            </p:extLst>
          </p:nvPr>
        </p:nvGraphicFramePr>
        <p:xfrm>
          <a:off x="721085" y="2372738"/>
          <a:ext cx="7455962" cy="105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0" name="Equation" r:id="rId3" imgW="3429000" imgH="482600" progId="Equation.DSMT4">
                  <p:embed/>
                </p:oleObj>
              </mc:Choice>
              <mc:Fallback>
                <p:oleObj name="Equation" r:id="rId3" imgW="34290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85" y="2372738"/>
                        <a:ext cx="7455962" cy="1056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182672"/>
              </p:ext>
            </p:extLst>
          </p:nvPr>
        </p:nvGraphicFramePr>
        <p:xfrm>
          <a:off x="838199" y="4574571"/>
          <a:ext cx="5940607" cy="1369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1" name="Equation" r:id="rId5" imgW="2311400" imgH="533400" progId="Equation.DSMT4">
                  <p:embed/>
                </p:oleObj>
              </mc:Choice>
              <mc:Fallback>
                <p:oleObj name="Equation" r:id="rId5" imgW="23114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99" y="4574571"/>
                        <a:ext cx="5940607" cy="13690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5730478"/>
            <a:ext cx="369936" cy="5179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 smtClean="0">
                <a:solidFill>
                  <a:schemeClr val="bg1"/>
                </a:solidFill>
              </a:rPr>
              <a:t>26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4-6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3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57" y="0"/>
            <a:ext cx="7886700" cy="676809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1223" y="5705805"/>
            <a:ext cx="306851" cy="273844"/>
          </a:xfrm>
          <a:prstGeom prst="rect">
            <a:avLst/>
          </a:prstGeom>
        </p:spPr>
        <p:txBody>
          <a:bodyPr/>
          <a:lstStyle/>
          <a:p>
            <a:fld id="{7E50C373-F1D0-494F-8D6D-366C958B3429}" type="slidenum">
              <a:rPr lang="en-GB" smtClean="0"/>
              <a:t>27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18074" y="718752"/>
            <a:ext cx="8649726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400" dirty="0">
                <a:ea typeface="Calibri" panose="020F0502020204030204" pitchFamily="34" charset="0"/>
              </a:rPr>
              <a:t>A more convenient way of testing such brittle materials is by the bend test.</a:t>
            </a:r>
          </a:p>
          <a:p>
            <a:pPr algn="just">
              <a:lnSpc>
                <a:spcPct val="115000"/>
              </a:lnSpc>
            </a:pPr>
            <a:endParaRPr lang="en-US" sz="2400" dirty="0"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ea typeface="Calibri" panose="020F0502020204030204" pitchFamily="34" charset="0"/>
              </a:rPr>
              <a:t>A load is applied at three points to cause the bending as shown in Fig. </a:t>
            </a:r>
            <a:r>
              <a:rPr lang="en-US" sz="2400" dirty="0" smtClean="0">
                <a:ea typeface="Calibri" panose="020F0502020204030204" pitchFamily="34" charset="0"/>
              </a:rPr>
              <a:t>4-7</a:t>
            </a:r>
            <a:r>
              <a:rPr lang="en-US" sz="2400" dirty="0" smtClean="0">
                <a:ea typeface="Calibri" panose="020F0502020204030204" pitchFamily="34" charset="0"/>
              </a:rPr>
              <a:t>. </a:t>
            </a:r>
            <a:endParaRPr lang="en-US" sz="2400" dirty="0"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endParaRPr lang="en-US" sz="2400" dirty="0">
              <a:ea typeface="Calibri" panose="020F050202020403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pic>
        <p:nvPicPr>
          <p:cNvPr id="12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1847337" y="2653403"/>
            <a:ext cx="5791200" cy="375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3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3528" r="3869"/>
          <a:stretch/>
        </p:blipFill>
        <p:spPr bwMode="auto">
          <a:xfrm>
            <a:off x="489411" y="838200"/>
            <a:ext cx="7764227" cy="5902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88257" y="0"/>
            <a:ext cx="7886700" cy="676809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98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2104" r="8819"/>
          <a:stretch/>
        </p:blipFill>
        <p:spPr bwMode="auto">
          <a:xfrm>
            <a:off x="1447800" y="838200"/>
            <a:ext cx="6781800" cy="5394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88257" y="0"/>
            <a:ext cx="7886700" cy="676809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30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19746" y="838200"/>
                <a:ext cx="8686800" cy="582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65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Considering the simply supported beam AB of the length </a:t>
                </a:r>
                <a:r>
                  <a:rPr lang="en-US" sz="2400" i="1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l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, and carrying a point load </a:t>
                </a:r>
                <a:r>
                  <a:rPr lang="en-US" sz="2400" i="1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w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at the centre of beam c as shown in Figure.</a:t>
                </a:r>
                <a:endParaRPr lang="en-US" sz="24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5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Reactions at the supports, </a:t>
                </a:r>
                <a:endParaRPr lang="en-US" sz="24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5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R</a:t>
                </a:r>
                <a:r>
                  <a:rPr lang="en-US" sz="2400" baseline="-250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A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= R</a:t>
                </a:r>
                <a:r>
                  <a:rPr lang="en-US" sz="2400" baseline="-250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B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  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1</a:t>
                </a:r>
                <a:endParaRPr lang="en-US" sz="24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5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Considering a section X at a distance x from B. The bending moment at this section is, </a:t>
                </a:r>
                <a:endParaRPr lang="en-US" sz="24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50"/>
                  </a:spcBef>
                </a:pPr>
                <a:r>
                  <a:rPr lang="en-US" sz="2400" dirty="0" err="1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M</a:t>
                </a:r>
                <a:r>
                  <a:rPr lang="en-US" sz="2400" baseline="-25000" dirty="0" err="1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= RB(x)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                                           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2</a:t>
                </a:r>
                <a:endParaRPr lang="en-US" sz="24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5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From bending moment equation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𝑀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𝐸𝐼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		3</a:t>
                </a:r>
                <a:endParaRPr lang="en-US" sz="24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46" y="838200"/>
                <a:ext cx="8686800" cy="5820568"/>
              </a:xfrm>
              <a:prstGeom prst="rect">
                <a:avLst/>
              </a:prstGeom>
              <a:blipFill rotWithShape="0">
                <a:blip r:embed="rId2"/>
                <a:stretch>
                  <a:fillRect l="-1123"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47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81000" y="762000"/>
                <a:ext cx="8763000" cy="59572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48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Substituting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Eq. (3) 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into Eq.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(2) 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and integrating twice, the equation of deflection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is </a:t>
                </a:r>
                <a:r>
                  <a:rPr lang="en-US" sz="2400" dirty="0" err="1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EIy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𝑊𝑥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+ C</a:t>
                </a:r>
                <a:r>
                  <a:rPr lang="en-US" sz="2400" baseline="-250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x + C</a:t>
                </a:r>
                <a:r>
                  <a:rPr lang="en-US" sz="2400" baseline="-250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2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		4</a:t>
                </a:r>
                <a:endParaRPr lang="en-US" sz="2400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48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Solving for C</a:t>
                </a:r>
                <a:r>
                  <a:rPr lang="en-US" sz="2400" baseline="-250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and C</a:t>
                </a:r>
                <a:r>
                  <a:rPr lang="en-US" sz="2400" baseline="-250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2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, and substituting these values in equation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(4), 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we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get </a:t>
                </a:r>
                <a:r>
                  <a:rPr lang="en-US" sz="2400" dirty="0" err="1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EIy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𝑊𝑥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𝑊𝑙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 	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		5 </a:t>
                </a:r>
                <a:endParaRPr lang="en-US" sz="2400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480"/>
                  </a:spcBef>
                </a:pP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Maximum deflection occurs at midpoint c, where,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substituting into equation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(5) </a:t>
                </a:r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give a maximum defection of</a:t>
                </a:r>
              </a:p>
              <a:p>
                <a:pPr algn="just">
                  <a:lnSpc>
                    <a:spcPct val="150000"/>
                  </a:lnSpc>
                  <a:spcBef>
                    <a:spcPts val="480"/>
                  </a:spcBef>
                </a:pPr>
                <a:r>
                  <a:rPr lang="el-GR" sz="36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δ</a:t>
                </a:r>
                <a:r>
                  <a:rPr lang="en-US" sz="36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= </a:t>
                </a:r>
                <a:r>
                  <a:rPr lang="en-US" sz="3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𝑤𝑙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48</m:t>
                        </m:r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𝐸𝐼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  </a:t>
                </a:r>
                <a:r>
                  <a:rPr lang="en-US" sz="2400" dirty="0" smtClean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				6</a:t>
                </a:r>
                <a:endParaRPr lang="en-US" sz="2400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62000"/>
                <a:ext cx="8763000" cy="5957272"/>
              </a:xfrm>
              <a:prstGeom prst="rect">
                <a:avLst/>
              </a:prstGeom>
              <a:blipFill rotWithShape="0">
                <a:blip r:embed="rId3"/>
                <a:stretch>
                  <a:fillRect l="-2157" r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16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1223" y="5705805"/>
            <a:ext cx="306851" cy="273844"/>
          </a:xfrm>
          <a:prstGeom prst="rect">
            <a:avLst/>
          </a:prstGeom>
        </p:spPr>
        <p:txBody>
          <a:bodyPr/>
          <a:lstStyle/>
          <a:p>
            <a:fld id="{7E50C373-F1D0-494F-8D6D-366C958B3429}" type="slidenum">
              <a:rPr lang="en-GB" smtClean="0"/>
              <a:t>32</a:t>
            </a:fld>
            <a:endParaRPr lang="en-GB"/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l="5363" t="5402" r="3052"/>
          <a:stretch/>
        </p:blipFill>
        <p:spPr>
          <a:xfrm>
            <a:off x="418074" y="1171425"/>
            <a:ext cx="4572000" cy="3581399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438150" y="4844175"/>
            <a:ext cx="6553200" cy="210517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8074" y="705406"/>
            <a:ext cx="7659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a typeface="Calibri" panose="020F0502020204030204" pitchFamily="34" charset="0"/>
              </a:rPr>
              <a:t>The results are recorded a stress-deflection curve (Fig. </a:t>
            </a:r>
            <a:r>
              <a:rPr lang="en-US" sz="2400" dirty="0" smtClean="0">
                <a:ea typeface="Calibri" panose="020F0502020204030204" pitchFamily="34" charset="0"/>
              </a:rPr>
              <a:t>4-8</a:t>
            </a:r>
            <a:r>
              <a:rPr lang="en-US" sz="2400" dirty="0" smtClean="0">
                <a:ea typeface="Calibri" panose="020F0502020204030204" pitchFamily="34" charset="0"/>
              </a:rPr>
              <a:t>). </a:t>
            </a:r>
            <a:endParaRPr lang="en-US" sz="24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8257" y="0"/>
            <a:ext cx="7886700" cy="676809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838700" y="1275916"/>
            <a:ext cx="4305300" cy="2305484"/>
          </a:xfrm>
        </p:spPr>
        <p:txBody>
          <a:bodyPr>
            <a:noAutofit/>
          </a:bodyPr>
          <a:lstStyle/>
          <a:p>
            <a:pPr algn="just"/>
            <a:r>
              <a:rPr lang="en-GB" dirty="0" smtClean="0"/>
              <a:t>This </a:t>
            </a:r>
            <a:r>
              <a:rPr lang="en-GB" dirty="0"/>
              <a:t>is taken to be the maximum direct stress </a:t>
            </a:r>
            <a:r>
              <a:rPr lang="en-GB" dirty="0" smtClean="0"/>
              <a:t>in bending</a:t>
            </a:r>
            <a:r>
              <a:rPr lang="en-GB" dirty="0"/>
              <a:t>, σ</a:t>
            </a:r>
            <a:r>
              <a:rPr lang="en-GB" baseline="-25000" dirty="0"/>
              <a:t>x,u</a:t>
            </a:r>
            <a:r>
              <a:rPr lang="en-GB" dirty="0"/>
              <a:t>, corresponding to the ultimate moment M</a:t>
            </a:r>
            <a:r>
              <a:rPr lang="en-GB" baseline="-25000" dirty="0"/>
              <a:t>u</a:t>
            </a:r>
            <a:r>
              <a:rPr lang="en-GB" dirty="0"/>
              <a:t>, and is assumed to be </a:t>
            </a:r>
            <a:r>
              <a:rPr lang="en-GB" dirty="0" smtClean="0"/>
              <a:t>related to </a:t>
            </a:r>
            <a:r>
              <a:rPr lang="en-GB" dirty="0"/>
              <a:t>M</a:t>
            </a:r>
            <a:r>
              <a:rPr lang="en-GB" baseline="-25000" dirty="0"/>
              <a:t>u</a:t>
            </a:r>
            <a:r>
              <a:rPr lang="en-GB" dirty="0"/>
              <a:t> by the elastic relationship</a:t>
            </a:r>
          </a:p>
          <a:p>
            <a:pPr algn="just"/>
            <a:endParaRPr lang="en-GB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234486"/>
              </p:ext>
            </p:extLst>
          </p:nvPr>
        </p:nvGraphicFramePr>
        <p:xfrm>
          <a:off x="6248400" y="3581400"/>
          <a:ext cx="2258767" cy="1147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8" name="Equation" r:id="rId5" imgW="774360" imgH="393480" progId="">
                  <p:embed/>
                </p:oleObj>
              </mc:Choice>
              <mc:Fallback>
                <p:oleObj name="Equation" r:id="rId5" imgW="774360" imgH="3934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581400"/>
                        <a:ext cx="2258767" cy="11478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457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696234"/>
            <a:ext cx="8686800" cy="561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400" dirty="0">
                <a:ea typeface="Calibri" panose="020F0502020204030204" pitchFamily="34" charset="0"/>
              </a:rPr>
              <a:t>The flexural strength is a measure of the material's strength.</a:t>
            </a:r>
          </a:p>
          <a:p>
            <a:pPr algn="just">
              <a:lnSpc>
                <a:spcPct val="115000"/>
              </a:lnSpc>
            </a:pPr>
            <a:endParaRPr lang="en-US" sz="2400" dirty="0"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/>
              <a:t>Flexural strength is</a:t>
            </a:r>
          </a:p>
          <a:p>
            <a:pPr algn="just">
              <a:lnSpc>
                <a:spcPct val="115000"/>
              </a:lnSpc>
            </a:pPr>
            <a:endParaRPr lang="en-US" sz="2400" dirty="0"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/>
              <a:t>Flexural modulus is </a:t>
            </a:r>
            <a:endParaRPr lang="en-US" sz="2400" dirty="0"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where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F 	the fracture load</a:t>
            </a: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L 	the distance between the two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outer points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w 	 width of the specimen</a:t>
            </a: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h 	height of the specimen</a:t>
            </a: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δ 	the deflection of the beam when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a force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F is applied.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245934"/>
              </p:ext>
            </p:extLst>
          </p:nvPr>
        </p:nvGraphicFramePr>
        <p:xfrm>
          <a:off x="3581400" y="1447800"/>
          <a:ext cx="172720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8" name="Equation" r:id="rId3" imgW="647419" imgH="317362" progId="Equation.DSMT4">
                  <p:embed/>
                </p:oleObj>
              </mc:Choice>
              <mc:Fallback>
                <p:oleObj name="Equation" r:id="rId3" imgW="647419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447800"/>
                        <a:ext cx="1727203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409723"/>
              </p:ext>
            </p:extLst>
          </p:nvPr>
        </p:nvGraphicFramePr>
        <p:xfrm>
          <a:off x="3429000" y="2438400"/>
          <a:ext cx="1752600" cy="840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9" name="Equation" r:id="rId5" imgW="698500" imgH="330200" progId="Equation.DSMT4">
                  <p:embed/>
                </p:oleObj>
              </mc:Choice>
              <mc:Fallback>
                <p:oleObj name="Equation" r:id="rId5" imgW="698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438400"/>
                        <a:ext cx="1752600" cy="8402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257" y="0"/>
            <a:ext cx="7886700" cy="676809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Bend Test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38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87650" y="159597"/>
            <a:ext cx="1834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4-7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000" y="654842"/>
            <a:ext cx="8763000" cy="3751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square rod of size 10 mm and 200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mm long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was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passed through the eye of the load holder and then placed on of the support. A dial gauge is set on top of the load holder on the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square rod.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A load of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2.5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kg was hanged on the specimen and the corresponding reading of the dial gauge was recorded. The load is increased incrementally of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2.5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kg and the corresponding values recorded until the specimen fails. Determine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The yield strength;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The ultimate strength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The modulus of elasticity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800235"/>
              </p:ext>
            </p:extLst>
          </p:nvPr>
        </p:nvGraphicFramePr>
        <p:xfrm>
          <a:off x="381001" y="4835070"/>
          <a:ext cx="8762998" cy="1489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730"/>
                <a:gridCol w="804252"/>
                <a:gridCol w="804252"/>
                <a:gridCol w="804252"/>
                <a:gridCol w="804252"/>
                <a:gridCol w="804252"/>
                <a:gridCol w="804252"/>
                <a:gridCol w="739827"/>
                <a:gridCol w="868677"/>
                <a:gridCol w="804252"/>
              </a:tblGrid>
              <a:tr h="74476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Load </a:t>
                      </a:r>
                      <a:r>
                        <a:rPr lang="en-US" sz="1800" u="none" strike="noStrike" dirty="0" smtClean="0">
                          <a:effectLst/>
                        </a:rPr>
                        <a:t>(Kg)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7.5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12.5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17.5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</a:tr>
              <a:tr h="74476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Deflection (mm)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smtClean="0">
                          <a:effectLst/>
                        </a:rPr>
                        <a:t>0.01042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smtClean="0">
                          <a:effectLst/>
                        </a:rPr>
                        <a:t>0.02083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0.03125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smtClean="0">
                          <a:effectLst/>
                        </a:rPr>
                        <a:t>0.04167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smtClean="0">
                          <a:effectLst/>
                        </a:rPr>
                        <a:t>0.05208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0.0625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0.1875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0.505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0" marR="6010" marT="601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06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81527" y="15959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4-7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362809"/>
              </p:ext>
            </p:extLst>
          </p:nvPr>
        </p:nvGraphicFramePr>
        <p:xfrm>
          <a:off x="457200" y="914400"/>
          <a:ext cx="8686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4959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964039" y="18317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4-7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0742" y="5129539"/>
            <a:ext cx="8686800" cy="1673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The yield </a:t>
            </a: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strength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From the plot, yield load is 12.5 Kg, therefore, the yield stress is 12.5(3) = 37.5 Nmm</a:t>
            </a:r>
            <a:r>
              <a:rPr lang="en-US" sz="2400" baseline="30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-2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1075" y="914400"/>
            <a:ext cx="8686800" cy="404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Length = 200 mm; y = 5 mm; I = 833.33 mm</a:t>
            </a:r>
            <a:r>
              <a:rPr lang="en-US" sz="2400" baseline="30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Stress                              but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This implies 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2400" b="1" i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is the load in </a:t>
            </a:r>
            <a:r>
              <a:rPr lang="en-US" sz="2400" b="1" i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Kg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631301"/>
              </p:ext>
            </p:extLst>
          </p:nvPr>
        </p:nvGraphicFramePr>
        <p:xfrm>
          <a:off x="1524000" y="1329543"/>
          <a:ext cx="1703387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Equation" r:id="rId3" imgW="583920" imgH="393480" progId="Equation.DSMT4">
                  <p:embed/>
                </p:oleObj>
              </mc:Choice>
              <mc:Fallback>
                <p:oleObj name="Equation" r:id="rId3" imgW="583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29543"/>
                        <a:ext cx="1703387" cy="1147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234574"/>
              </p:ext>
            </p:extLst>
          </p:nvPr>
        </p:nvGraphicFramePr>
        <p:xfrm>
          <a:off x="4101939" y="1329544"/>
          <a:ext cx="4259262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name="Equation" r:id="rId5" imgW="1460160" imgH="393480" progId="Equation.DSMT4">
                  <p:embed/>
                </p:oleObj>
              </mc:Choice>
              <mc:Fallback>
                <p:oleObj name="Equation" r:id="rId5" imgW="1460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1939" y="1329544"/>
                        <a:ext cx="4259262" cy="1147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151707"/>
              </p:ext>
            </p:extLst>
          </p:nvPr>
        </p:nvGraphicFramePr>
        <p:xfrm>
          <a:off x="838200" y="3057439"/>
          <a:ext cx="625792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2" name="Equation" r:id="rId7" imgW="2145960" imgH="419040" progId="Equation.DSMT4">
                  <p:embed/>
                </p:oleObj>
              </mc:Choice>
              <mc:Fallback>
                <p:oleObj name="Equation" r:id="rId7" imgW="2145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57439"/>
                        <a:ext cx="6257925" cy="1222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44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38200"/>
            <a:ext cx="8686800" cy="505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 startAt="2"/>
            </a:pP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ultimate </a:t>
            </a: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strength</a:t>
            </a:r>
          </a:p>
          <a:p>
            <a:pPr marL="231775" algn="just">
              <a:lnSpc>
                <a:spcPct val="107000"/>
              </a:lnSpc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From the plot, yield load is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20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Kg, therefore, the yield stress is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20(3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60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Nmm</a:t>
            </a:r>
            <a:r>
              <a:rPr lang="en-US" sz="2400" baseline="30000" dirty="0">
                <a:ea typeface="Calibri" panose="020F0502020204030204" pitchFamily="34" charset="0"/>
                <a:cs typeface="Times New Roman" panose="02020603050405020304" pitchFamily="18" charset="0"/>
              </a:rPr>
              <a:t>-2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 startAt="2"/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 startAt="3"/>
            </a:pP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modulus of </a:t>
            </a: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elasticity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From the plot, the slope is 240 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From eq. 6, 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This implies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2964039" y="183177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4-7 </a:t>
            </a:r>
            <a:r>
              <a:rPr lang="en-US" sz="2400" b="1" dirty="0" smtClea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Continues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75293"/>
              </p:ext>
            </p:extLst>
          </p:nvPr>
        </p:nvGraphicFramePr>
        <p:xfrm>
          <a:off x="461075" y="4095282"/>
          <a:ext cx="2185988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4" name="Equation" r:id="rId3" imgW="749160" imgH="393480" progId="Equation.DSMT4">
                  <p:embed/>
                </p:oleObj>
              </mc:Choice>
              <mc:Fallback>
                <p:oleObj name="Equation" r:id="rId3" imgW="749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75" y="4095282"/>
                        <a:ext cx="2185988" cy="1147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751293"/>
              </p:ext>
            </p:extLst>
          </p:nvPr>
        </p:nvGraphicFramePr>
        <p:xfrm>
          <a:off x="254000" y="5705475"/>
          <a:ext cx="2592388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5" name="Equation" r:id="rId5" imgW="888840" imgH="393480" progId="Equation.DSMT4">
                  <p:embed/>
                </p:oleObj>
              </mc:Choice>
              <mc:Fallback>
                <p:oleObj name="Equation" r:id="rId5" imgW="888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5705475"/>
                        <a:ext cx="2592388" cy="1147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5105400" y="2485773"/>
            <a:ext cx="970137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Hence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 smtClean="0">
              <a:cs typeface="Times New Roman" panose="02020603050405020304" pitchFamily="18" charset="0"/>
            </a:endParaRP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 smtClean="0">
              <a:cs typeface="Times New Roman" panose="02020603050405020304" pitchFamily="18" charset="0"/>
            </a:endParaRP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 smtClean="0">
              <a:cs typeface="Times New Roman" panose="02020603050405020304" pitchFamily="18" charset="0"/>
            </a:endParaRP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 smtClean="0"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030786"/>
              </p:ext>
            </p:extLst>
          </p:nvPr>
        </p:nvGraphicFramePr>
        <p:xfrm>
          <a:off x="4909486" y="2947519"/>
          <a:ext cx="3444875" cy="344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6" name="Equation" r:id="rId7" imgW="1180800" imgH="1180800" progId="Equation.DSMT4">
                  <p:embed/>
                </p:oleObj>
              </mc:Choice>
              <mc:Fallback>
                <p:oleObj name="Equation" r:id="rId7" imgW="1180800" imgH="1180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9486" y="2947519"/>
                        <a:ext cx="3444875" cy="344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41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141" y="2884868"/>
            <a:ext cx="5460642" cy="857250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chemeClr val="accent6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522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 joh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 john" id="{D2ECC20E-FF3C-430E-B967-A384216378B4}" vid="{3F80C21B-5BD1-426B-BA90-D2B25AE80A99}"/>
    </a:ext>
  </a:extLst>
</a:theme>
</file>

<file path=ppt/theme/theme2.xml><?xml version="1.0" encoding="utf-8"?>
<a:theme xmlns:a="http://schemas.openxmlformats.org/drawingml/2006/main" name="Theme Ando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 Ando" id="{E2C2934E-EDC2-4F90-8A37-802AF905726B}" vid="{6A218C99-592F-4A08-A905-E25EAAA3832B}"/>
    </a:ext>
  </a:extLst>
</a:theme>
</file>

<file path=ppt/theme/theme3.xml><?xml version="1.0" encoding="utf-8"?>
<a:theme xmlns:a="http://schemas.openxmlformats.org/drawingml/2006/main" name="1_Theme Ando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 Ando" id="{E2C2934E-EDC2-4F90-8A37-802AF905726B}" vid="{6A218C99-592F-4A08-A905-E25EAAA3832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john</Template>
  <TotalTime>51410</TotalTime>
  <Words>1498</Words>
  <Application>Microsoft Office PowerPoint</Application>
  <PresentationFormat>On-screen Show (4:3)</PresentationFormat>
  <Paragraphs>360</Paragraphs>
  <Slides>38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Arial</vt:lpstr>
      <vt:lpstr>Arial Black</vt:lpstr>
      <vt:lpstr>Calibri</vt:lpstr>
      <vt:lpstr>Cambria Math</vt:lpstr>
      <vt:lpstr>Times New Roman</vt:lpstr>
      <vt:lpstr>Verdana</vt:lpstr>
      <vt:lpstr>Wingdings</vt:lpstr>
      <vt:lpstr>Wingdings 2</vt:lpstr>
      <vt:lpstr>Theme john</vt:lpstr>
      <vt:lpstr>Theme Ando</vt:lpstr>
      <vt:lpstr>1_Theme Ando</vt:lpstr>
      <vt:lpstr>Equation</vt:lpstr>
      <vt:lpstr>PowerPoint Presentation</vt:lpstr>
      <vt:lpstr>Lecture Outline</vt:lpstr>
      <vt:lpstr>SHEAR AND BENDING IN BEAMS</vt:lpstr>
      <vt:lpstr>SHEAR AND BENDING IN BEAMS</vt:lpstr>
      <vt:lpstr>Shearing Force and Bending Moment Diagram</vt:lpstr>
      <vt:lpstr>Shearing Force and Bending Moment Diagram</vt:lpstr>
      <vt:lpstr>PowerPoint Presentation</vt:lpstr>
      <vt:lpstr>PowerPoint Presentation</vt:lpstr>
      <vt:lpstr>PowerPoint Presentation</vt:lpstr>
      <vt:lpstr>Example 4-2</vt:lpstr>
      <vt:lpstr>PowerPoint Presentation</vt:lpstr>
      <vt:lpstr>PowerPoint Presentation</vt:lpstr>
      <vt:lpstr>Relation between the Shear force and the Bending Moment</vt:lpstr>
      <vt:lpstr>Relation between the Shear force and the Bending Moment</vt:lpstr>
      <vt:lpstr>PowerPoint Presentation</vt:lpstr>
      <vt:lpstr>PowerPoint Presentation</vt:lpstr>
      <vt:lpstr>Stresses in Beams</vt:lpstr>
      <vt:lpstr>Bending Stress</vt:lpstr>
      <vt:lpstr>Bending Stress</vt:lpstr>
      <vt:lpstr>PowerPoint Presentation</vt:lpstr>
      <vt:lpstr>Shear stress</vt:lpstr>
      <vt:lpstr>Shear stress</vt:lpstr>
      <vt:lpstr>Example 4-6</vt:lpstr>
      <vt:lpstr>PowerPoint Presentation</vt:lpstr>
      <vt:lpstr>PowerPoint Presentation</vt:lpstr>
      <vt:lpstr>PowerPoint Presentation</vt:lpstr>
      <vt:lpstr>Bend Test</vt:lpstr>
      <vt:lpstr>Bend Test</vt:lpstr>
      <vt:lpstr>Bend Test</vt:lpstr>
      <vt:lpstr>Bend Test</vt:lpstr>
      <vt:lpstr>Bend Test</vt:lpstr>
      <vt:lpstr>Bend Test</vt:lpstr>
      <vt:lpstr>Bend Test</vt:lpstr>
      <vt:lpstr>PowerPoint Presentation</vt:lpstr>
      <vt:lpstr>PowerPoint Presentation</vt:lpstr>
      <vt:lpstr>Example 4-7 Continues</vt:lpstr>
      <vt:lpstr>Example 4-7 Continues</vt:lpstr>
      <vt:lpstr>THANK YOU</vt:lpstr>
    </vt:vector>
  </TitlesOfParts>
  <Company>Missouri S&amp;T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nisbett</dc:creator>
  <cp:lastModifiedBy>DR. P. Y. Andoh</cp:lastModifiedBy>
  <cp:revision>1712</cp:revision>
  <dcterms:created xsi:type="dcterms:W3CDTF">2010-11-01T14:25:24Z</dcterms:created>
  <dcterms:modified xsi:type="dcterms:W3CDTF">2017-08-27T15:16:58Z</dcterms:modified>
</cp:coreProperties>
</file>