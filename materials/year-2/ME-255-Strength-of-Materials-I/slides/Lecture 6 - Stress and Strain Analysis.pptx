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394" r:id="rId2"/>
    <p:sldId id="397" r:id="rId3"/>
    <p:sldId id="399" r:id="rId4"/>
    <p:sldId id="400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38" r:id="rId24"/>
    <p:sldId id="419" r:id="rId25"/>
    <p:sldId id="420" r:id="rId26"/>
    <p:sldId id="421" r:id="rId27"/>
    <p:sldId id="422" r:id="rId28"/>
    <p:sldId id="427" r:id="rId29"/>
    <p:sldId id="428" r:id="rId30"/>
    <p:sldId id="430" r:id="rId31"/>
    <p:sldId id="431" r:id="rId32"/>
    <p:sldId id="432" r:id="rId33"/>
    <p:sldId id="433" r:id="rId34"/>
    <p:sldId id="434" r:id="rId35"/>
    <p:sldId id="435" r:id="rId36"/>
    <p:sldId id="436" r:id="rId37"/>
    <p:sldId id="437" r:id="rId38"/>
    <p:sldId id="426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54905-2C17-440B-A430-A224D3E889CC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2219D-9097-425C-B275-D5F84FFB5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52219D-9097-425C-B275-D5F84FFB55E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63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52219D-9097-425C-B275-D5F84FFB55E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46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9144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87656" y="241270"/>
              <a:ext cx="344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5789" y="157852"/>
              <a:ext cx="491867" cy="62597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167738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Helvetica"/>
                <a:cs typeface="Helvetica"/>
              </a:rPr>
              <a:t>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28506" y="4010849"/>
            <a:ext cx="6400800" cy="1599330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 b="1" dirty="0">
                <a:solidFill>
                  <a:schemeClr val="tx1"/>
                </a:solidFill>
                <a:latin typeface="Helvetica"/>
                <a:cs typeface="Helvetica"/>
              </a:rPr>
              <a:t>Name</a:t>
            </a:r>
          </a:p>
          <a:p>
            <a:pPr algn="l"/>
            <a:r>
              <a:rPr lang="en-US" sz="2400" b="1" dirty="0">
                <a:latin typeface="Helvetica"/>
                <a:cs typeface="Helvetica"/>
              </a:rPr>
              <a:t>Department</a:t>
            </a:r>
          </a:p>
          <a:p>
            <a:pPr algn="l"/>
            <a:r>
              <a:rPr lang="en-US" sz="2400" b="1" dirty="0">
                <a:latin typeface="Helvetica"/>
                <a:cs typeface="Helvetica"/>
              </a:rPr>
              <a:t>Faculty &amp; College</a:t>
            </a: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5992943"/>
            <a:ext cx="9144000" cy="865057"/>
            <a:chOff x="0" y="5992943"/>
            <a:chExt cx="9144000" cy="865057"/>
          </a:xfrm>
        </p:grpSpPr>
        <p:sp>
          <p:nvSpPr>
            <p:cNvPr id="8" name="Rectangle 7"/>
            <p:cNvSpPr/>
            <p:nvPr/>
          </p:nvSpPr>
          <p:spPr>
            <a:xfrm>
              <a:off x="0" y="6377674"/>
              <a:ext cx="9144000" cy="4803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992943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021427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036146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  <a:endParaRPr lang="en-US" sz="12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042056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029719"/>
              <a:ext cx="292217" cy="292217"/>
            </a:xfrm>
            <a:prstGeom prst="rect">
              <a:avLst/>
            </a:prstGeom>
          </p:spPr>
        </p:pic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008000"/>
                </a:solidFill>
                <a:latin typeface="Helvetica"/>
                <a:cs typeface="Helvetica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50F2-8AE3-40DB-8F8C-34069980C17C}" type="datetime1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271235"/>
            <a:ext cx="9144000" cy="586764"/>
            <a:chOff x="0" y="6271235"/>
            <a:chExt cx="9144000" cy="586764"/>
          </a:xfrm>
        </p:grpSpPr>
        <p:sp>
          <p:nvSpPr>
            <p:cNvPr id="8" name="Rectangle 7"/>
            <p:cNvSpPr/>
            <p:nvPr/>
          </p:nvSpPr>
          <p:spPr>
            <a:xfrm>
              <a:off x="0" y="6668022"/>
              <a:ext cx="9144000" cy="18997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271235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299719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314438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320348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308011"/>
              <a:ext cx="292217" cy="292217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33D96D2C-39D2-D146-949D-A56FF12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8" y="195126"/>
            <a:ext cx="8488016" cy="768971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8A6806-0C47-8F41-8CB1-123A74FCD28F}"/>
              </a:ext>
            </a:extLst>
          </p:cNvPr>
          <p:cNvCxnSpPr/>
          <p:nvPr userDrawn="1"/>
        </p:nvCxnSpPr>
        <p:spPr>
          <a:xfrm>
            <a:off x="0" y="1033669"/>
            <a:ext cx="9155371" cy="0"/>
          </a:xfrm>
          <a:prstGeom prst="line">
            <a:avLst/>
          </a:prstGeom>
          <a:ln w="12700">
            <a:solidFill>
              <a:srgbClr val="00800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14474AE-41FC-854B-B962-6E0C929C5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748" y="1152457"/>
            <a:ext cx="8488016" cy="50254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031" y="6278604"/>
            <a:ext cx="641838" cy="365125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Garamond" panose="02020404030301010803" pitchFamily="18" charset="0"/>
              </a:defRPr>
            </a:lvl1pPr>
          </a:lstStyle>
          <a:p>
            <a:fld id="{F4801FD5-11B4-DE43-ACA2-E85EEB9A6F9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14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751C0-DD79-0043-A8DE-0BFEC2DE753E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1.wmf"/><Relationship Id="rId12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2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3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8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43132"/>
            <a:ext cx="7772400" cy="2541745"/>
          </a:xfrm>
        </p:spPr>
        <p:txBody>
          <a:bodyPr>
            <a:normAutofit/>
          </a:bodyPr>
          <a:lstStyle/>
          <a:p>
            <a:r>
              <a:rPr lang="en-GB" sz="6000" b="1" dirty="0"/>
              <a:t>ME 255 – Strength of Materials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469813"/>
            <a:ext cx="7772400" cy="1599330"/>
          </a:xfrm>
        </p:spPr>
        <p:txBody>
          <a:bodyPr>
            <a:normAutofit fontScale="92500"/>
          </a:bodyPr>
          <a:lstStyle/>
          <a:p>
            <a:pPr algn="ctr"/>
            <a:r>
              <a:rPr lang="en-GB" sz="4000" b="1" dirty="0"/>
              <a:t>Lecture 6: Analysis of Stress and Strain</a:t>
            </a:r>
          </a:p>
          <a:p>
            <a:pPr algn="ctr"/>
            <a:r>
              <a:rPr lang="en-GB" sz="3000" b="1" dirty="0"/>
              <a:t>By: Samuel Boahen </a:t>
            </a:r>
            <a:r>
              <a:rPr lang="en-GB" sz="3000" dirty="0"/>
              <a:t>(PhD)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4290480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171450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of Plane Stress</a:t>
            </a:r>
          </a:p>
          <a:p>
            <a:pPr marL="171450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Planes</a:t>
            </a:r>
          </a:p>
          <a:p>
            <a:pPr marL="171450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Mohr’s Circle for Plain Stress</a:t>
            </a:r>
          </a:p>
          <a:p>
            <a:pPr marL="171450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the Construction of Mohr’s Circle</a:t>
            </a:r>
          </a:p>
          <a:p>
            <a:pPr marL="171450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Mohr’s Circle for Plain Strain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70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Transformation of Plane Stress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7408" y="851769"/>
            <a:ext cx="402219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5-1(a) shows the stresses in all three directions of the Cartesian coordinate system. 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7212" r="50079"/>
          <a:stretch/>
        </p:blipFill>
        <p:spPr bwMode="auto">
          <a:xfrm>
            <a:off x="685800" y="2425970"/>
            <a:ext cx="3505200" cy="3279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 rotWithShape="1">
          <a:blip r:embed="rId2"/>
          <a:srcRect l="53516" t="38211"/>
          <a:stretch/>
        </p:blipFill>
        <p:spPr bwMode="auto">
          <a:xfrm>
            <a:off x="5105400" y="2971799"/>
            <a:ext cx="3581400" cy="2734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876800" y="731849"/>
            <a:ext cx="381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 stresses are put together in a matrix form as shown in Figure 5-2 (b) to give the stress tensor.</a:t>
            </a:r>
          </a:p>
        </p:txBody>
      </p:sp>
    </p:spTree>
    <p:extLst>
      <p:ext uri="{BB962C8B-B14F-4D97-AF65-F5344CB8AC3E}">
        <p14:creationId xmlns:p14="http://schemas.microsoft.com/office/powerpoint/2010/main" val="258629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5375"/>
            <a:ext cx="8229600" cy="1143000"/>
          </a:xfrm>
        </p:spPr>
        <p:txBody>
          <a:bodyPr/>
          <a:lstStyle/>
          <a:p>
            <a:r>
              <a:rPr lang="en-US" b="1" dirty="0"/>
              <a:t>Transformation of Plane Stress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7199" y="704802"/>
            <a:ext cx="85755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plane stress condition all stresses in one particular primary direction are equal to zero as illustrated in Figure 5-2.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6858" y="1475839"/>
            <a:ext cx="6078223" cy="443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874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95"/>
            <a:ext cx="8229600" cy="1143000"/>
          </a:xfrm>
        </p:spPr>
        <p:txBody>
          <a:bodyPr/>
          <a:lstStyle/>
          <a:p>
            <a:r>
              <a:rPr lang="en-US" b="1" dirty="0"/>
              <a:t>Transformation of Plane Stress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616955"/>
            <a:ext cx="9144000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stresses in the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directions can be transformed to the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y’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directions inclined at an angle θ to the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axes respectfully.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7725" b="4642"/>
          <a:stretch/>
        </p:blipFill>
        <p:spPr bwMode="auto">
          <a:xfrm>
            <a:off x="3309731" y="1632061"/>
            <a:ext cx="5715000" cy="425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2004445"/>
            <a:ext cx="3010926" cy="4120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resolving and balancing all forces in the new directions. </a:t>
            </a:r>
          </a:p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transforms the stress state in Figure 5-3a to that in Figure 5-3b.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55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47"/>
            <a:ext cx="8229600" cy="1143000"/>
          </a:xfrm>
        </p:spPr>
        <p:txBody>
          <a:bodyPr/>
          <a:lstStyle/>
          <a:p>
            <a:r>
              <a:rPr lang="en-US" b="1" dirty="0"/>
              <a:t>Transformation of Plane Stress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-39126" y="720955"/>
            <a:ext cx="8725926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Resolving and summing forces along the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′ followed by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′ direction using Figure 5-4: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3"/>
          <a:srcRect l="3927" t="11473" r="50157" b="19454"/>
          <a:stretch/>
        </p:blipFill>
        <p:spPr bwMode="auto">
          <a:xfrm>
            <a:off x="715799" y="1662751"/>
            <a:ext cx="3257550" cy="2842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18074" y="4646178"/>
          <a:ext cx="8559070" cy="1324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4" imgW="3657600" imgH="533160" progId="Equation.DSMT4">
                  <p:embed/>
                </p:oleObj>
              </mc:Choice>
              <mc:Fallback>
                <p:oleObj name="Equation" r:id="rId4" imgW="36576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74" y="4646178"/>
                        <a:ext cx="8559070" cy="13241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/>
          <p:nvPr/>
        </p:nvPicPr>
        <p:blipFill rotWithShape="1">
          <a:blip r:embed="rId3"/>
          <a:srcRect l="54585"/>
          <a:stretch/>
        </p:blipFill>
        <p:spPr bwMode="auto">
          <a:xfrm>
            <a:off x="5011078" y="1314787"/>
            <a:ext cx="3293975" cy="2697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04496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95"/>
            <a:ext cx="8229600" cy="1143000"/>
          </a:xfrm>
        </p:spPr>
        <p:txBody>
          <a:bodyPr/>
          <a:lstStyle/>
          <a:p>
            <a:r>
              <a:rPr lang="en-US" b="1" dirty="0"/>
              <a:t>Transformation of Plane Stress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632917"/>
            <a:ext cx="7955280" cy="4735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Dividing through by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olving for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x’y’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yields:</a:t>
            </a:r>
          </a:p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y′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90° away from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x′,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10402" y="1101271"/>
          <a:ext cx="8337716" cy="1365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" name="Equation" r:id="rId3" imgW="3695700" imgH="533400" progId="Equation.DSMT4">
                  <p:embed/>
                </p:oleObj>
              </mc:Choice>
              <mc:Fallback>
                <p:oleObj name="Equation" r:id="rId3" imgW="36957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02" y="1101271"/>
                        <a:ext cx="8337716" cy="13659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43610" y="2360591"/>
          <a:ext cx="7434336" cy="729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" name="Equation" r:id="rId5" imgW="2616200" imgH="254000" progId="Equation.DSMT4">
                  <p:embed/>
                </p:oleObj>
              </mc:Choice>
              <mc:Fallback>
                <p:oleObj name="Equation" r:id="rId5" imgW="26162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610" y="2360591"/>
                        <a:ext cx="7434336" cy="7299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45936" y="3090508"/>
          <a:ext cx="7932248" cy="754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" name="Equation" r:id="rId7" imgW="2908300" imgH="279400" progId="Equation.DSMT4">
                  <p:embed/>
                </p:oleObj>
              </mc:Choice>
              <mc:Fallback>
                <p:oleObj name="Equation" r:id="rId7" imgW="29083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36" y="3090508"/>
                        <a:ext cx="7932248" cy="7542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90755" y="4833595"/>
          <a:ext cx="8242609" cy="534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8" name="Equation" r:id="rId9" imgW="3962400" imgH="254000" progId="Equation.DSMT4">
                  <p:embed/>
                </p:oleObj>
              </mc:Choice>
              <mc:Fallback>
                <p:oleObj name="Equation" r:id="rId9" imgW="39624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55" y="4833595"/>
                        <a:ext cx="8242609" cy="5349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36177" y="5268057"/>
          <a:ext cx="7815522" cy="767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9" name="Equation" r:id="rId11" imgW="2616200" imgH="254000" progId="Equation.DSMT4">
                  <p:embed/>
                </p:oleObj>
              </mc:Choice>
              <mc:Fallback>
                <p:oleObj name="Equation" r:id="rId11" imgW="26162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177" y="5268057"/>
                        <a:ext cx="7815522" cy="76734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461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95"/>
            <a:ext cx="8229600" cy="1143000"/>
          </a:xfrm>
        </p:spPr>
        <p:txBody>
          <a:bodyPr/>
          <a:lstStyle/>
          <a:p>
            <a:r>
              <a:rPr lang="en-US" b="1" dirty="0"/>
              <a:t>Transformation of Plane Stress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18074" y="756205"/>
            <a:ext cx="3580852" cy="5170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can rewrite them as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85800" y="1554658"/>
          <a:ext cx="6960412" cy="117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Equation" r:id="rId3" imgW="2870200" imgH="482600" progId="Equation.DSMT4">
                  <p:embed/>
                </p:oleObj>
              </mc:Choice>
              <mc:Fallback>
                <p:oleObj name="Equation" r:id="rId3" imgW="28702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554658"/>
                        <a:ext cx="6960412" cy="11793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85800" y="3015385"/>
          <a:ext cx="6983659" cy="1183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Equation" r:id="rId5" imgW="2870200" imgH="482600" progId="Equation.DSMT4">
                  <p:embed/>
                </p:oleObj>
              </mc:Choice>
              <mc:Fallback>
                <p:oleObj name="Equation" r:id="rId5" imgW="28702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15385"/>
                        <a:ext cx="6983659" cy="11832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356582" y="4377390"/>
          <a:ext cx="6024281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Equation" r:id="rId7" imgW="2133600" imgH="482600" progId="Equation.DSMT4">
                  <p:embed/>
                </p:oleObj>
              </mc:Choice>
              <mc:Fallback>
                <p:oleObj name="Equation" r:id="rId7" imgW="21336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582" y="4377390"/>
                        <a:ext cx="6024281" cy="1371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379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Transformation of Plane Stress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89186" y="762000"/>
            <a:ext cx="8854813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observed that for a plane stress situation the sum of the normal stresses exerted on a cubic element of material is independent of the orientation of that element.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454237" y="2743200"/>
          <a:ext cx="861269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3" imgW="4191000" imgH="1041400" progId="Equation.DSMT4">
                  <p:embed/>
                </p:oleObj>
              </mc:Choice>
              <mc:Fallback>
                <p:oleObj name="Equation" r:id="rId3" imgW="4191000" imgH="1041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237" y="2743200"/>
                        <a:ext cx="8612698" cy="213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287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 txBox="1">
                <a:spLocks/>
              </p:cNvSpPr>
              <p:nvPr/>
            </p:nvSpPr>
            <p:spPr>
              <a:xfrm>
                <a:off x="0" y="733347"/>
                <a:ext cx="9144000" cy="1872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/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grain of a wooden member in a structure makes an angle of 15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the vertical. For the state of stress shown in Figure Ex 5-1, determine:</a:t>
                </a:r>
              </a:p>
              <a:p>
                <a:pPr marL="257175" indent="-257175">
                  <a:lnSpc>
                    <a:spcPct val="115000"/>
                  </a:lnSpc>
                  <a:spcBef>
                    <a:spcPts val="0"/>
                  </a:spcBef>
                  <a:buFont typeface="+mj-lt"/>
                  <a:buAutoNum type="alphaLcPeriod"/>
                </a:pPr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in-plane shearing stress parallel to the grain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57175" indent="-257175">
                  <a:lnSpc>
                    <a:spcPct val="115000"/>
                  </a:lnSpc>
                  <a:spcBef>
                    <a:spcPts val="0"/>
                  </a:spcBef>
                  <a:buFont typeface="+mj-lt"/>
                  <a:buAutoNum type="alphaLcPeriod"/>
                </a:pPr>
                <a:r>
                  <a:rPr 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normal stress perpendicular to the grain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33347"/>
                <a:ext cx="9144000" cy="1872201"/>
              </a:xfrm>
              <a:prstGeom prst="rect">
                <a:avLst/>
              </a:prstGeom>
              <a:blipFill rotWithShape="0">
                <a:blip r:embed="rId3"/>
                <a:stretch>
                  <a:fillRect l="-1000" t="-2606" r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4"/>
          <a:srcRect t="5247"/>
          <a:stretch/>
        </p:blipFill>
        <p:spPr bwMode="auto">
          <a:xfrm>
            <a:off x="850692" y="2458107"/>
            <a:ext cx="3505200" cy="3478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 rotWithShape="1">
          <a:blip r:embed="rId5"/>
          <a:srcRect t="9326" b="9138"/>
          <a:stretch/>
        </p:blipFill>
        <p:spPr bwMode="auto">
          <a:xfrm>
            <a:off x="4355892" y="2926079"/>
            <a:ext cx="3810000" cy="2690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4651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 Continues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 txBox="1">
                <a:spLocks/>
              </p:cNvSpPr>
              <p:nvPr/>
            </p:nvSpPr>
            <p:spPr>
              <a:xfrm>
                <a:off x="0" y="838200"/>
                <a:ext cx="9144000" cy="5638800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MPa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2.5 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MPa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1.5 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MPa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15°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 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        = 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−2.5 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−(−1.5)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(−30)+ 0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= -0.25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Mpa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    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−2.5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+(−1.5)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−2.5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−(−1.5)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(−30)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+ 0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= -2.45 MPa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8200"/>
                <a:ext cx="9144000" cy="5638800"/>
              </a:xfrm>
              <a:prstGeom prst="rect">
                <a:avLst/>
              </a:prstGeom>
              <a:blipFill rotWithShape="0">
                <a:blip r:embed="rId2"/>
                <a:stretch>
                  <a:fillRect l="-1267" t="-1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8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Principal Planes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18662" y="720043"/>
            <a:ext cx="8744555" cy="4003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Planes that have no shear stress are called principal planes.</a:t>
            </a:r>
          </a:p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planes carry only normal stresses 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normal stress, </a:t>
            </a:r>
            <a:r>
              <a:rPr lang="en-US" sz="2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maximum or minimum when its derivative is equal to zero:</a:t>
            </a:r>
          </a:p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750"/>
              </a:spcAft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Solving for θ yields the plane where maximum and minimum normal stresses occur.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995633"/>
              </p:ext>
            </p:extLst>
          </p:nvPr>
        </p:nvGraphicFramePr>
        <p:xfrm>
          <a:off x="694227" y="2609138"/>
          <a:ext cx="7083067" cy="117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" name="Equation" r:id="rId3" imgW="2819400" imgH="482600" progId="Equation.DSMT4">
                  <p:embed/>
                </p:oleObj>
              </mc:Choice>
              <mc:Fallback>
                <p:oleObj name="Equation" r:id="rId3" imgW="28194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227" y="2609138"/>
                        <a:ext cx="7083067" cy="1175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389174"/>
              </p:ext>
            </p:extLst>
          </p:nvPr>
        </p:nvGraphicFramePr>
        <p:xfrm>
          <a:off x="782608" y="4605282"/>
          <a:ext cx="4074206" cy="133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3" name="Equation" r:id="rId5" imgW="1511300" imgH="495300" progId="Equation.DSMT4">
                  <p:embed/>
                </p:oleObj>
              </mc:Choice>
              <mc:Fallback>
                <p:oleObj name="Equation" r:id="rId5" imgW="15113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08" y="4605282"/>
                        <a:ext cx="4074206" cy="13324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1163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910"/>
            <a:ext cx="8229600" cy="1143000"/>
          </a:xfrm>
        </p:spPr>
        <p:txBody>
          <a:bodyPr/>
          <a:lstStyle/>
          <a:p>
            <a:r>
              <a:rPr lang="en-US" b="1" dirty="0"/>
              <a:t>Principal Planes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762000"/>
            <a:ext cx="8763000" cy="4003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5054" indent="-425054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Similarly, to find the plane on which the shear stress is maximum, the derivative of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x’y’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be used. </a:t>
            </a:r>
          </a:p>
          <a:p>
            <a:pPr marL="425054" indent="-425054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maximum in-plane shear stress can therefore be found as follows:</a:t>
            </a:r>
          </a:p>
          <a:p>
            <a:pPr marL="425054" indent="-425054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5054" indent="-425054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5054" indent="-425054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5054" indent="-425054" algn="just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for θ yields the plane of maximum/minimum shear stress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902710"/>
              </p:ext>
            </p:extLst>
          </p:nvPr>
        </p:nvGraphicFramePr>
        <p:xfrm>
          <a:off x="757158" y="2721724"/>
          <a:ext cx="8010683" cy="1361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name="Equation" r:id="rId3" imgW="2857500" imgH="482600" progId="Equation.DSMT4">
                  <p:embed/>
                </p:oleObj>
              </mc:Choice>
              <mc:Fallback>
                <p:oleObj name="Equation" r:id="rId3" imgW="28575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158" y="2721724"/>
                        <a:ext cx="8010683" cy="13618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494349"/>
              </p:ext>
            </p:extLst>
          </p:nvPr>
        </p:nvGraphicFramePr>
        <p:xfrm>
          <a:off x="847099" y="4765147"/>
          <a:ext cx="4419600" cy="1304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7" name="Equation" r:id="rId5" imgW="1485900" imgH="508000" progId="Equation.DSMT4">
                  <p:embed/>
                </p:oleObj>
              </mc:Choice>
              <mc:Fallback>
                <p:oleObj name="Equation" r:id="rId5" imgW="14859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99" y="4765147"/>
                        <a:ext cx="4419600" cy="13044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5755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Principal Planes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8355" y="680803"/>
            <a:ext cx="8532565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1969" indent="-511969">
              <a:lnSpc>
                <a:spcPct val="115000"/>
              </a:lnSpc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two principal stresses and the maximum shearing stress are: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613078" y="1386046"/>
          <a:ext cx="6464122" cy="1439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5" name="Equation" r:id="rId3" imgW="2527300" imgH="558800" progId="Equation.DSMT4">
                  <p:embed/>
                </p:oleObj>
              </mc:Choice>
              <mc:Fallback>
                <p:oleObj name="Equation" r:id="rId3" imgW="25273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078" y="1386046"/>
                        <a:ext cx="6464122" cy="14391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530439" y="3065027"/>
          <a:ext cx="6083121" cy="1359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6" name="Equation" r:id="rId5" imgW="2514600" imgH="558800" progId="Equation.DSMT4">
                  <p:embed/>
                </p:oleObj>
              </mc:Choice>
              <mc:Fallback>
                <p:oleObj name="Equation" r:id="rId5" imgW="25146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439" y="3065027"/>
                        <a:ext cx="6083121" cy="13594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858850"/>
              </p:ext>
            </p:extLst>
          </p:nvPr>
        </p:nvGraphicFramePr>
        <p:xfrm>
          <a:off x="1530439" y="4664311"/>
          <a:ext cx="4027847" cy="131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7" name="Equation" r:id="rId7" imgW="1727200" imgH="558800" progId="Equation.DSMT4">
                  <p:embed/>
                </p:oleObj>
              </mc:Choice>
              <mc:Fallback>
                <p:oleObj name="Equation" r:id="rId7" imgW="17272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439" y="4664311"/>
                        <a:ext cx="4027847" cy="13129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1782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95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 2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9882" y="711617"/>
            <a:ext cx="4239718" cy="3906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75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cast iron material with ultimate tensile strength of 160 MPa, and ultimate compression strength of 320 MPa, having the stress conditions shown in Figure Ex 5-2 determine: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shearing stress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principal stresses</a:t>
            </a:r>
          </a:p>
          <a:p>
            <a:pPr algn="just">
              <a:lnSpc>
                <a:spcPct val="115000"/>
              </a:lnSpc>
              <a:spcAft>
                <a:spcPts val="75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1" y="4291032"/>
            <a:ext cx="2152136" cy="1688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509856" y="842658"/>
                <a:ext cx="4634144" cy="48448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750"/>
                  </a:spcAft>
                </a:pPr>
                <a:r>
                  <a:rPr lang="en-US" sz="2400" b="1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</a:p>
              <a:p>
                <a:pPr algn="just">
                  <a:lnSpc>
                    <a:spcPct val="115000"/>
                  </a:lnSpc>
                  <a:spcAft>
                    <a:spcPts val="750"/>
                  </a:spcAft>
                </a:pPr>
                <a:r>
                  <a:rPr lang="en-US" sz="2400" b="1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7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0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MPa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−150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MPa</m:t>
                      </m:r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GB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7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τ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=100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MPa</m:t>
                      </m:r>
                    </m:oMath>
                  </m:oMathPara>
                </a14:m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𝑎𝑣𝑒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−75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MPa</m:t>
                      </m:r>
                    </m:oMath>
                  </m:oMathPara>
                </a14:m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algn="just">
                  <a:lnSpc>
                    <a:spcPct val="115000"/>
                  </a:lnSpc>
                  <a:spcAft>
                    <a:spcPts val="7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75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100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125 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856" y="842658"/>
                <a:ext cx="4634144" cy="4844852"/>
              </a:xfrm>
              <a:prstGeom prst="rect">
                <a:avLst/>
              </a:prstGeom>
              <a:blipFill>
                <a:blip r:embed="rId3"/>
                <a:stretch>
                  <a:fillRect l="-2105" t="-377"/>
                </a:stretch>
              </a:blipFill>
            </p:spPr>
            <p:txBody>
              <a:bodyPr/>
              <a:lstStyle/>
              <a:p>
                <a:r>
                  <a:rPr lang="en-G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226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641" y="28661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 2 Continues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79804" y="1260075"/>
                <a:ext cx="7542301" cy="48382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>
                  <a:lnSpc>
                    <a:spcPct val="115000"/>
                  </a:lnSpc>
                  <a:spcAft>
                    <a:spcPts val="75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  <m:r>
                      <a:rPr lang="en-US" sz="2400" b="0" i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125 </a:t>
                </a:r>
                <a:r>
                  <a:rPr lang="en-US" sz="2400" dirty="0" err="1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Mpa</a:t>
                </a:r>
                <a:endParaRPr lang="en-US" sz="2400" dirty="0">
                  <a:solidFill>
                    <a:srgbClr val="0000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15000"/>
                  </a:lnSpc>
                  <a:spcAft>
                    <a:spcPts val="750"/>
                  </a:spcAft>
                </a:pPr>
                <a:endParaRPr lang="en-US" sz="2400" dirty="0">
                  <a:solidFill>
                    <a:srgbClr val="0000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15000"/>
                  </a:lnSpc>
                  <a:spcAft>
                    <a:spcPts val="750"/>
                  </a:spcAft>
                </a:pPr>
                <a:endParaRPr lang="en-US" sz="2400" i="1" dirty="0">
                  <a:solidFill>
                    <a:srgbClr val="000000"/>
                  </a:solidFill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15000"/>
                  </a:lnSpc>
                  <a:spcAft>
                    <a:spcPts val="750"/>
                  </a:spcAft>
                </a:pPr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15000"/>
                  </a:lnSpc>
                  <a:spcAft>
                    <a:spcPts val="7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𝑎𝑣𝑒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−75+125=50 </m:t>
                      </m:r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𝑀𝑃𝑎</m:t>
                      </m:r>
                    </m:oMath>
                  </m:oMathPara>
                </a14:m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15000"/>
                  </a:lnSpc>
                  <a:spcAft>
                    <a:spcPts val="750"/>
                  </a:spcAft>
                </a:pPr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15000"/>
                  </a:lnSpc>
                  <a:spcAft>
                    <a:spcPts val="750"/>
                  </a:spcAft>
                </a:pPr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15000"/>
                  </a:lnSpc>
                  <a:spcAft>
                    <a:spcPts val="750"/>
                  </a:spcAft>
                </a:pPr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15000"/>
                  </a:lnSpc>
                  <a:spcAft>
                    <a:spcPts val="7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𝑎𝑣𝑒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−75−125=−200 </m:t>
                      </m:r>
                      <m:r>
                        <a:rPr 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𝑀𝑃𝑎</m:t>
                      </m:r>
                    </m:oMath>
                  </m:oMathPara>
                </a14:m>
                <a:endParaRPr lang="en-US" sz="24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04" y="1260075"/>
                <a:ext cx="7542301" cy="4838248"/>
              </a:xfrm>
              <a:prstGeom prst="rect">
                <a:avLst/>
              </a:prstGeom>
              <a:blipFill>
                <a:blip r:embed="rId3"/>
                <a:stretch>
                  <a:fillRect t="-378"/>
                </a:stretch>
              </a:blipFill>
            </p:spPr>
            <p:txBody>
              <a:bodyPr/>
              <a:lstStyle/>
              <a:p>
                <a:r>
                  <a:rPr lang="en-G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29391" y="1335025"/>
            <a:ext cx="4235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b="1" dirty="0"/>
              <a:t>b)</a:t>
            </a:r>
            <a:endParaRPr lang="en-US" sz="2200" b="1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25E3547-9237-4D09-91D6-558F9E2413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331135"/>
              </p:ext>
            </p:extLst>
          </p:nvPr>
        </p:nvGraphicFramePr>
        <p:xfrm>
          <a:off x="1555444" y="1829929"/>
          <a:ext cx="6464122" cy="1439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Equation" r:id="rId4" imgW="2527300" imgH="558800" progId="Equation.DSMT4">
                  <p:embed/>
                </p:oleObj>
              </mc:Choice>
              <mc:Fallback>
                <p:oleObj name="Equation" r:id="rId4" imgW="2527300" imgH="5588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444" y="1829929"/>
                        <a:ext cx="6464122" cy="14391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955D17E-111A-4261-955B-9429AB7BA2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704967"/>
              </p:ext>
            </p:extLst>
          </p:nvPr>
        </p:nvGraphicFramePr>
        <p:xfrm>
          <a:off x="1530439" y="4003974"/>
          <a:ext cx="6083121" cy="1359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Equation" r:id="rId6" imgW="2514600" imgH="558800" progId="Equation.DSMT4">
                  <p:embed/>
                </p:oleObj>
              </mc:Choice>
              <mc:Fallback>
                <p:oleObj name="Equation" r:id="rId6" imgW="2514600" imgH="55880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439" y="4003974"/>
                        <a:ext cx="6083121" cy="13594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9275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Mohr’s Circle for Plain Stress </a:t>
            </a: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84163" y="749962"/>
            <a:ext cx="8760266" cy="35748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Mohr’s stress provides a graphical way of representing the transformation of stress equations. 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equation for the Mohr’s circle can be derived by rearranging the stress transformation equations. 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Re-write the equations 5-7 and 5-9 as: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38200" y="3159845"/>
          <a:ext cx="5687707" cy="1050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Equation" r:id="rId3" imgW="2628900" imgH="482600" progId="Equation.DSMT4">
                  <p:embed/>
                </p:oleObj>
              </mc:Choice>
              <mc:Fallback>
                <p:oleObj name="Equation" r:id="rId3" imgW="26289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159845"/>
                        <a:ext cx="5687707" cy="10509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468638"/>
              </p:ext>
            </p:extLst>
          </p:nvPr>
        </p:nvGraphicFramePr>
        <p:xfrm>
          <a:off x="853190" y="4788110"/>
          <a:ext cx="5646819" cy="1285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" name="Equation" r:id="rId5" imgW="2133600" imgH="482600" progId="Equation.DSMT4">
                  <p:embed/>
                </p:oleObj>
              </mc:Choice>
              <mc:Fallback>
                <p:oleObj name="Equation" r:id="rId5" imgW="21336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190" y="4788110"/>
                        <a:ext cx="5646819" cy="12856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0307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47"/>
            <a:ext cx="8229600" cy="1143000"/>
          </a:xfrm>
        </p:spPr>
        <p:txBody>
          <a:bodyPr/>
          <a:lstStyle/>
          <a:p>
            <a:r>
              <a:rPr lang="en-US" b="1" dirty="0"/>
              <a:t>Mohr’s Circle for Plain Stress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-12794" y="654725"/>
            <a:ext cx="470601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Squaring both sides of each equation and adding them together yields: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Equation for a circle expressed in (</a:t>
            </a:r>
            <a:r>
              <a:rPr lang="el-GR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coordinates with a  center at (</a:t>
            </a:r>
            <a:r>
              <a:rPr lang="el-GR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0), where </a:t>
            </a:r>
            <a:r>
              <a:rPr lang="el-GR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142883"/>
              </p:ext>
            </p:extLst>
          </p:nvPr>
        </p:nvGraphicFramePr>
        <p:xfrm>
          <a:off x="894652" y="4752523"/>
          <a:ext cx="2687998" cy="1062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9" name="Equation" r:id="rId4" imgW="1231366" imgH="482391" progId="Equation.DSMT4">
                  <p:embed/>
                </p:oleObj>
              </mc:Choice>
              <mc:Fallback>
                <p:oleObj name="Equation" r:id="rId4" imgW="1231366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652" y="4752523"/>
                        <a:ext cx="2687998" cy="10626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059804"/>
              </p:ext>
            </p:extLst>
          </p:nvPr>
        </p:nvGraphicFramePr>
        <p:xfrm>
          <a:off x="228943" y="1662320"/>
          <a:ext cx="4549143" cy="889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" name="Equation" r:id="rId6" imgW="2578100" imgH="508000" progId="Equation.DSMT4">
                  <p:embed/>
                </p:oleObj>
              </mc:Choice>
              <mc:Fallback>
                <p:oleObj name="Equation" r:id="rId6" imgW="25781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43" y="1662320"/>
                        <a:ext cx="4549143" cy="8896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811807"/>
              </p:ext>
            </p:extLst>
          </p:nvPr>
        </p:nvGraphicFramePr>
        <p:xfrm>
          <a:off x="106751" y="2512507"/>
          <a:ext cx="4671335" cy="913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" name="Equation" r:id="rId8" imgW="2578100" imgH="508000" progId="Equation.DSMT4">
                  <p:embed/>
                </p:oleObj>
              </mc:Choice>
              <mc:Fallback>
                <p:oleObj name="Equation" r:id="rId8" imgW="25781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51" y="2512507"/>
                        <a:ext cx="4671335" cy="9135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5295900" y="654725"/>
            <a:ext cx="38481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radius of Mohr’s circle, R is:</a:t>
            </a: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380770" y="1627682"/>
          <a:ext cx="3762629" cy="1180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2" name="Equation" r:id="rId10" imgW="1790700" imgH="558800" progId="Equation.DSMT4">
                  <p:embed/>
                </p:oleObj>
              </mc:Choice>
              <mc:Fallback>
                <p:oleObj name="Equation" r:id="rId10" imgW="17907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0770" y="1627682"/>
                        <a:ext cx="3762629" cy="11808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0870" y="3822421"/>
            <a:ext cx="32766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40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595"/>
            <a:ext cx="9144000" cy="1143000"/>
          </a:xfrm>
        </p:spPr>
        <p:txBody>
          <a:bodyPr/>
          <a:lstStyle/>
          <a:p>
            <a:r>
              <a:rPr lang="en-US" sz="3200" b="1" dirty="0">
                <a:latin typeface="Century Gothic" panose="020B0502020202020204" pitchFamily="34" charset="0"/>
              </a:rPr>
              <a:t>Steps in the Construction of Mohr’s Circle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362381" y="644842"/>
            <a:ext cx="8813703" cy="5174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750"/>
              </a:spcAft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state of stress free body diagram. i.e. show the stresses 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cube. Label the vertical plane V and the horizontal plane H.</a:t>
            </a:r>
          </a:p>
          <a:p>
            <a:pPr marL="342900" indent="-342900" algn="just">
              <a:lnSpc>
                <a:spcPct val="115000"/>
              </a:lnSpc>
              <a:spcAft>
                <a:spcPts val="750"/>
              </a:spcAft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115000"/>
              </a:lnSpc>
              <a:spcAft>
                <a:spcPts val="750"/>
              </a:spcAft>
              <a:buAutoNum type="arabicPeriod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coordinates of points V and H as V(σ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- 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H(σ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A positive value for 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a clockwise (CW) moment about the center of the cube (i.e. CW rotation of the cube).</a:t>
            </a:r>
          </a:p>
          <a:p>
            <a:pPr marL="257175" indent="-257175" algn="just">
              <a:lnSpc>
                <a:spcPct val="115000"/>
              </a:lnSpc>
              <a:spcAft>
                <a:spcPts val="750"/>
              </a:spcAft>
              <a:buAutoNum type="arabicPeriod" startAt="2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115000"/>
              </a:lnSpc>
              <a:spcAft>
                <a:spcPts val="750"/>
              </a:spcAft>
              <a:buAutoNum type="arabicPeriod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Draw the horizontal axis with the tensile normal stress to the right (i.e. positive) and the compressive normal stress to the left (i.e. negative). </a:t>
            </a:r>
          </a:p>
        </p:txBody>
      </p:sp>
    </p:spTree>
    <p:extLst>
      <p:ext uri="{BB962C8B-B14F-4D97-AF65-F5344CB8AC3E}">
        <p14:creationId xmlns:p14="http://schemas.microsoft.com/office/powerpoint/2010/main" val="3845073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200" b="1" dirty="0">
                <a:latin typeface="Century Gothic" panose="020B0502020202020204" pitchFamily="34" charset="0"/>
              </a:rPr>
              <a:t>Steps in the Construction of Mohr’s Circle</a:t>
            </a:r>
            <a:endParaRPr lang="en-US" sz="320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0" y="571500"/>
            <a:ext cx="9144000" cy="601278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points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join the points by drawing a line. Label the point where line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intersects the horizontal axis as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center of the circle. The center has coordinates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0).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4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Mohr’s circle with point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center and a radius,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length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4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angle between lines CV and Cσ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labeled 2θ because the angles on Mohr’s circle are double the actual angle between planes.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826026" y="3892826"/>
          <a:ext cx="2743200" cy="860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Equation" r:id="rId3" imgW="1790700" imgH="558800" progId="Equation.DSMT4">
                  <p:embed/>
                </p:oleObj>
              </mc:Choice>
              <mc:Fallback>
                <p:oleObj name="Equation" r:id="rId3" imgW="17907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6026" y="3892826"/>
                        <a:ext cx="2743200" cy="8608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528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200" b="1" dirty="0">
                <a:latin typeface="Century Gothic" panose="020B0502020202020204" pitchFamily="34" charset="0"/>
              </a:rPr>
              <a:t>Steps in the Construction of Mohr’s Circle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418074" y="762000"/>
            <a:ext cx="872592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 startAt="7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direction of rotation (i.e. the sign) we first record the direction in which we move from point V(σ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-τ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point (σ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0) on Mohr’s circle. If the direction of rotation is CCW (i.e. towards the positive shear direction), then the sign of θ is positive. If the rotation is CW then the sign of θ is negative.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7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7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illustrated in Figure 5-8.</a:t>
            </a:r>
          </a:p>
        </p:txBody>
      </p:sp>
    </p:spTree>
    <p:extLst>
      <p:ext uri="{BB962C8B-B14F-4D97-AF65-F5344CB8AC3E}">
        <p14:creationId xmlns:p14="http://schemas.microsoft.com/office/powerpoint/2010/main" val="2441995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200" b="1" dirty="0">
                <a:latin typeface="Century Gothic" panose="020B0502020202020204" pitchFamily="34" charset="0"/>
              </a:rPr>
              <a:t>Steps in the Construction of Mohr’s Circle</a:t>
            </a:r>
            <a:endParaRPr lang="en-US" sz="3200" dirty="0"/>
          </a:p>
        </p:txBody>
      </p:sp>
      <p:pic>
        <p:nvPicPr>
          <p:cNvPr id="3" name="Content Placeholder 3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67934"/>
            <a:ext cx="2832767" cy="2484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Content Placeholder 3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94497" y="677517"/>
            <a:ext cx="5930233" cy="526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842680" y="5357948"/>
            <a:ext cx="1152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5-8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625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7301924-A556-A293-3063-E5AAB600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8" y="195126"/>
            <a:ext cx="8488016" cy="768971"/>
          </a:xfrm>
        </p:spPr>
        <p:txBody>
          <a:bodyPr>
            <a:normAutofit/>
          </a:bodyPr>
          <a:lstStyle/>
          <a:p>
            <a:r>
              <a:rPr lang="en-US" b="1" dirty="0"/>
              <a:t>Mohr’s circle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5425F925-69AC-4737-B7CB-77D8B25DA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81" y="1152457"/>
            <a:ext cx="5507350" cy="50254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7393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81000" y="838200"/>
            <a:ext cx="8762999" cy="462303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point in a solid that is subjected to the following state of stress: </a:t>
            </a:r>
          </a:p>
          <a:p>
            <a:pPr marL="257175" indent="0" algn="just"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90 MPa;</a:t>
            </a:r>
          </a:p>
          <a:p>
            <a:pPr marL="257175" indent="0" algn="just"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-50 MPa;</a:t>
            </a:r>
          </a:p>
          <a:p>
            <a:pPr marL="257175" indent="0" algn="just"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-60 MPa.</a:t>
            </a:r>
          </a:p>
          <a:p>
            <a:pPr marL="733425" algn="just">
              <a:buFont typeface="+mj-lt"/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free body diagram representing the stress state.</a:t>
            </a:r>
          </a:p>
          <a:p>
            <a:pPr marL="733425" algn="just">
              <a:buFont typeface="+mj-lt"/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principal stresses, the maximum in-plane shear                   stress acting on the point, and the orientation of the principal planes using Mohr’s circle.</a:t>
            </a:r>
          </a:p>
          <a:p>
            <a:pPr marL="733425" algn="just">
              <a:buFont typeface="+mj-lt"/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stresses on an appropriate diagram.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755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 Continues</a:t>
            </a:r>
            <a:endParaRPr lang="en-US" dirty="0"/>
          </a:p>
        </p:txBody>
      </p:sp>
      <p:pic>
        <p:nvPicPr>
          <p:cNvPr id="3" name="Content Placeholder 3"/>
          <p:cNvPicPr>
            <a:picLocks/>
          </p:cNvPicPr>
          <p:nvPr/>
        </p:nvPicPr>
        <p:blipFill rotWithShape="1">
          <a:blip r:embed="rId2"/>
          <a:srcRect r="3125"/>
          <a:stretch/>
        </p:blipFill>
        <p:spPr bwMode="auto">
          <a:xfrm>
            <a:off x="1325217" y="728870"/>
            <a:ext cx="5989983" cy="344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430444" y="4524838"/>
            <a:ext cx="54427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(σ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-τ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(90, 60)</a:t>
            </a:r>
          </a:p>
          <a:p>
            <a:pPr marL="257175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= (σ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+ τ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(-50, -60)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4834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6179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5-3 Continues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537" y="435321"/>
            <a:ext cx="7740926" cy="547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392340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95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 Continues</a:t>
            </a:r>
            <a:endParaRPr 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791818"/>
            <a:ext cx="6781799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14956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980"/>
            <a:ext cx="8229600" cy="774673"/>
          </a:xfrm>
        </p:spPr>
        <p:txBody>
          <a:bodyPr/>
          <a:lstStyle/>
          <a:p>
            <a:r>
              <a:rPr lang="en-GB" b="1" dirty="0"/>
              <a:t>Example 4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236095" y="774673"/>
            <a:ext cx="867181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of plane stress at a point is represented by the stress element below. Draw the Mohr’s circle, determine the principal stresses and the maximum shear stresses, and draw the corresponding stress elements.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517" y="2773257"/>
            <a:ext cx="4429125" cy="314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8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981"/>
            <a:ext cx="8229600" cy="729703"/>
          </a:xfrm>
        </p:spPr>
        <p:txBody>
          <a:bodyPr/>
          <a:lstStyle/>
          <a:p>
            <a:r>
              <a:rPr lang="en-GB" b="1" dirty="0"/>
              <a:t>Solution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59" y="1165016"/>
            <a:ext cx="4516646" cy="19829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239" y="1715671"/>
            <a:ext cx="4505325" cy="4086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80" y="3147934"/>
            <a:ext cx="2506978" cy="219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99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0"/>
            <a:ext cx="8229600" cy="639762"/>
          </a:xfrm>
        </p:spPr>
        <p:txBody>
          <a:bodyPr/>
          <a:lstStyle/>
          <a:p>
            <a:r>
              <a:rPr lang="en-GB" b="1" dirty="0"/>
              <a:t>Tutorial 1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859" y="1929837"/>
            <a:ext cx="3542083" cy="16867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33322" y="1035227"/>
            <a:ext cx="55207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Problem below using Mohr’s circle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092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133"/>
          </a:xfrm>
        </p:spPr>
        <p:txBody>
          <a:bodyPr/>
          <a:lstStyle/>
          <a:p>
            <a:r>
              <a:rPr lang="en-GB" b="1" dirty="0"/>
              <a:t>Solution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79401" y="1000559"/>
                <a:ext cx="2279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=−15.1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𝑀𝑃𝑎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01" y="1000559"/>
                <a:ext cx="2279342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604" r="-2406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70126" y="1731318"/>
                <a:ext cx="1841466" cy="490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𝑀𝑃𝑎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26" y="1731318"/>
                <a:ext cx="1841466" cy="490840"/>
              </a:xfrm>
              <a:prstGeom prst="rect">
                <a:avLst/>
              </a:prstGeom>
              <a:blipFill rotWithShape="0">
                <a:blip r:embed="rId3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70126" y="2402494"/>
                <a:ext cx="6604565" cy="7913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𝑎𝑣𝑒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−15.1+0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𝑀𝑃𝑎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=−7.55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𝑀𝑃𝑎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26" y="2402494"/>
                <a:ext cx="6604565" cy="79130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5229" y="3324933"/>
                <a:ext cx="7515327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the centre of the circle is at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𝑎𝑣𝑒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0) = (-7.55, 0)</a:t>
                </a:r>
              </a:p>
              <a:p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Also, consider two points X and Y with coordinates</a:t>
                </a:r>
              </a:p>
              <a:p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X: (-15.1, -7.55)</a:t>
                </a:r>
              </a:p>
              <a:p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Y: (0, 7.55)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29" y="3324933"/>
                <a:ext cx="7515327" cy="2677656"/>
              </a:xfrm>
              <a:prstGeom prst="rect">
                <a:avLst/>
              </a:prstGeom>
              <a:blipFill rotWithShape="0">
                <a:blip r:embed="rId5"/>
                <a:stretch>
                  <a:fillRect l="-1299" t="-1818" r="-325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284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57" y="0"/>
            <a:ext cx="8229600" cy="669742"/>
          </a:xfrm>
        </p:spPr>
        <p:txBody>
          <a:bodyPr/>
          <a:lstStyle/>
          <a:p>
            <a:r>
              <a:rPr lang="en-GB" b="1" dirty="0"/>
              <a:t>Solution Cont.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07" y="669742"/>
            <a:ext cx="7108250" cy="508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08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99" y="84223"/>
            <a:ext cx="8229600" cy="689158"/>
          </a:xfrm>
        </p:spPr>
        <p:txBody>
          <a:bodyPr/>
          <a:lstStyle/>
          <a:p>
            <a:r>
              <a:rPr lang="en-GB" b="1" dirty="0"/>
              <a:t>Solution cont.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45626" y="2246683"/>
                <a:ext cx="29882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(7.55)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(7.55)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26" y="2246683"/>
                <a:ext cx="2988254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833" t="-1667" r="-407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45626" y="2904655"/>
                <a:ext cx="3995966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(7.55)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(7.55)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400" dirty="0"/>
                  <a:t> = 10.68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26" y="2904655"/>
                <a:ext cx="3995966" cy="447238"/>
              </a:xfrm>
              <a:prstGeom prst="rect">
                <a:avLst/>
              </a:prstGeom>
              <a:blipFill rotWithShape="0">
                <a:blip r:embed="rId3"/>
                <a:stretch>
                  <a:fillRect t="-5405" r="-3506" b="-37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46329" y="3654037"/>
                <a:ext cx="62495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𝑎𝑣𝑒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=−7.55+10.68=3.13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𝑀𝑃𝑎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329" y="3654037"/>
                <a:ext cx="6249531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195" r="-683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23696" y="4294434"/>
                <a:ext cx="65968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𝑎𝑣𝑒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=−7.55−10.68=−18.23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𝑀𝑃𝑎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696" y="4294434"/>
                <a:ext cx="6596806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2" r="-64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7299" y="4934831"/>
                <a:ext cx="85772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𝑇h𝑒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𝑚𝑎𝑥𝑖𝑚𝑢𝑚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𝑝𝑙𝑎𝑛𝑒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𝑠h𝑒𝑎𝑟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𝑠𝑡𝑟𝑒𝑠𝑠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=10.68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𝑀𝑃𝑎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99" y="4934831"/>
                <a:ext cx="8577284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426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12231" y="970916"/>
            <a:ext cx="7340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(red) shaded right-angled triangle, the radius of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Mohr’s circle is given by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0259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74673"/>
          </a:xfrm>
        </p:spPr>
        <p:txBody>
          <a:bodyPr/>
          <a:lstStyle/>
          <a:p>
            <a:r>
              <a:rPr lang="en-GB" b="1" dirty="0"/>
              <a:t>Solution cont.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098" y="622384"/>
            <a:ext cx="3797267" cy="370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443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Mohr’s Strain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 txBox="1">
                <a:spLocks/>
              </p:cNvSpPr>
              <p:nvPr/>
            </p:nvSpPr>
            <p:spPr>
              <a:xfrm>
                <a:off x="0" y="762000"/>
                <a:ext cx="4419600" cy="57150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buFont typeface="Wingdings" panose="05000000000000000000" pitchFamily="2" charset="2"/>
                  <a:buChar char="q"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Mohr’s strain circle is very close to the stress circle..</a:t>
                </a:r>
              </a:p>
              <a:p>
                <a:pPr marL="514350" indent="-514350">
                  <a:buFont typeface="Wingdings" panose="05000000000000000000" pitchFamily="2" charset="2"/>
                  <a:buChar char="q"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center is given by: (</a:t>
                </a:r>
                <a:r>
                  <a:rPr lang="en-US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</a:t>
                </a:r>
                <a:r>
                  <a:rPr lang="en-US" sz="23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0), </a:t>
                </a:r>
              </a:p>
              <a:p>
                <a:pPr marL="514350" indent="-514350">
                  <a:buFont typeface="Wingdings" panose="05000000000000000000" pitchFamily="2" charset="2"/>
                  <a:buChar char="q"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</a:t>
                </a:r>
                <a:r>
                  <a:rPr lang="en-US" sz="23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3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GB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GB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GB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𝜐</m:t>
                    </m:r>
                    <m:sSub>
                      <m:sSubPr>
                        <m:ctrlP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GB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GB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GB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GB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𝜐</m:t>
                    </m:r>
                    <m:sSub>
                      <m:sSubPr>
                        <m:ctrlP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GB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  <m:r>
                      <a:rPr lang="en-GB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den>
                    </m:f>
                    <m:sSub>
                      <m:sSubPr>
                        <m:ctrlP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GB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GB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2(1+</m:t>
                        </m:r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𝜐</m:t>
                        </m:r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GB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sSub>
                      <m:sSubPr>
                        <m:ctrlPr>
                          <a:rPr lang="en-GB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Wingdings" panose="05000000000000000000" pitchFamily="2" charset="2"/>
                  <a:buChar char="q"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radius of the Mohr’s strain circle is</a:t>
                </a:r>
                <a14:m>
                  <m:oMath xmlns:m="http://schemas.openxmlformats.org/officeDocument/2006/math">
                    <m:r>
                      <a:rPr lang="en-US" sz="230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300">
                                              <a:latin typeface="Cambria Math" panose="02040503050406030204" pitchFamily="18" charset="0"/>
                                            </a:rPr>
                                            <m:t>ε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𝑥𝑦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62000"/>
                <a:ext cx="4419600" cy="5715000"/>
              </a:xfrm>
              <a:prstGeom prst="rect">
                <a:avLst/>
              </a:prstGeom>
              <a:blipFill rotWithShape="0">
                <a:blip r:embed="rId2"/>
                <a:stretch>
                  <a:fillRect l="-1655" t="-853" r="-2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419600" y="821960"/>
                <a:ext cx="4724400" cy="49548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 algn="just">
                  <a:spcAft>
                    <a:spcPts val="750"/>
                  </a:spcAft>
                  <a:buFont typeface="Wingdings" panose="05000000000000000000" pitchFamily="2" charset="2"/>
                  <a:buChar char="q"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principal strains are given by: ε</a:t>
                </a:r>
                <a:r>
                  <a:rPr lang="en-US" sz="23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ε</a:t>
                </a:r>
                <a:r>
                  <a:rPr lang="en-US" sz="23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R  and : ε</a:t>
                </a:r>
                <a:r>
                  <a:rPr lang="en-US" sz="23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ε</a:t>
                </a:r>
                <a:r>
                  <a:rPr lang="en-US" sz="23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R</a:t>
                </a:r>
              </a:p>
              <a:p>
                <a:pPr marL="514350" indent="-514350" algn="just">
                  <a:spcAft>
                    <a:spcPts val="750"/>
                  </a:spcAft>
                  <a:buFont typeface="Wingdings" panose="05000000000000000000" pitchFamily="2" charset="2"/>
                  <a:buChar char="q"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maximum shearing strain is: γ</a:t>
                </a:r>
                <a:r>
                  <a:rPr lang="en-US" sz="23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2R</a:t>
                </a:r>
              </a:p>
              <a:p>
                <a:pPr marL="514350" indent="-514350" algn="just">
                  <a:spcAft>
                    <a:spcPts val="750"/>
                  </a:spcAft>
                  <a:buFont typeface="Wingdings" panose="05000000000000000000" pitchFamily="2" charset="2"/>
                  <a:buChar char="q"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Mohr’s circle of strain can be transformed into a concentric Mohr’s circle of for stress by means of the scale transformations:</a:t>
                </a:r>
              </a:p>
              <a:p>
                <a:pPr marL="514350" algn="just">
                  <a:spcAft>
                    <a:spcPts val="750"/>
                  </a:spcAft>
                </a:pPr>
                <a:r>
                  <a:rPr lang="en-US" sz="23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sub>
                    </m:sSub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sub>
                    </m:sSub>
                    <m:f>
                      <m:fPr>
                        <m:ctrlP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2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den>
                    </m:f>
                  </m:oMath>
                </a14:m>
                <a:r>
                  <a:rPr lang="en-US" sz="23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</a:p>
              <a:p>
                <a:pPr marL="514350" algn="just">
                  <a:spcAft>
                    <a:spcPts val="7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𝑂𝐶</m:t>
                      </m:r>
                      <m:sSub>
                        <m:sSub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𝑂𝐶</m:t>
                          </m:r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sub>
                      </m:sSub>
                      <m:f>
                        <m:fPr>
                          <m:ctrlP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ν</m:t>
                          </m:r>
                        </m:den>
                      </m:f>
                    </m:oMath>
                  </m:oMathPara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821960"/>
                <a:ext cx="4724400" cy="4954883"/>
              </a:xfrm>
              <a:prstGeom prst="rect">
                <a:avLst/>
              </a:prstGeom>
              <a:blipFill rotWithShape="0">
                <a:blip r:embed="rId3"/>
                <a:stretch>
                  <a:fillRect l="-1548" t="-1107" r="-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720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5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81000" y="838200"/>
            <a:ext cx="8762999" cy="511504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values in Example 5-3, Determine the principal strains, the maximum in-plane shear strain acting on the point, and the orientation of the principal planes using Mohr’s circle. Take Young’s Modulus = 200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Poisson ratio = 0.3</a:t>
            </a:r>
          </a:p>
          <a:p>
            <a:pPr marL="0" indent="0" algn="just">
              <a:buFont typeface="Arial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359481"/>
              </p:ext>
            </p:extLst>
          </p:nvPr>
        </p:nvGraphicFramePr>
        <p:xfrm>
          <a:off x="369377" y="3505200"/>
          <a:ext cx="8317424" cy="650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Equation" r:id="rId3" imgW="3720960" imgH="279360" progId="Equation.DSMT4">
                  <p:embed/>
                </p:oleObj>
              </mc:Choice>
              <mc:Fallback>
                <p:oleObj name="Equation" r:id="rId3" imgW="37209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377" y="3505200"/>
                        <a:ext cx="8317424" cy="6500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81800"/>
              </p:ext>
            </p:extLst>
          </p:nvPr>
        </p:nvGraphicFramePr>
        <p:xfrm>
          <a:off x="457200" y="4403724"/>
          <a:ext cx="8186736" cy="657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Equation" r:id="rId5" imgW="3619440" imgH="279360" progId="Equation.DSMT4">
                  <p:embed/>
                </p:oleObj>
              </mc:Choice>
              <mc:Fallback>
                <p:oleObj name="Equation" r:id="rId5" imgW="3619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03724"/>
                        <a:ext cx="8186736" cy="6577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362038"/>
              </p:ext>
            </p:extLst>
          </p:nvPr>
        </p:nvGraphicFramePr>
        <p:xfrm>
          <a:off x="404814" y="5210176"/>
          <a:ext cx="8109600" cy="743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Equation" r:id="rId7" imgW="3492360" imgH="291960" progId="Equation.DSMT4">
                  <p:embed/>
                </p:oleObj>
              </mc:Choice>
              <mc:Fallback>
                <p:oleObj name="Equation" r:id="rId7" imgW="34923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4" y="5210176"/>
                        <a:ext cx="8109600" cy="743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34583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5 Continues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800" y="762000"/>
            <a:ext cx="838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= (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(525, 780); H = (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+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(115, -780)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67" y="1223665"/>
            <a:ext cx="7399519" cy="54864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211224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4742"/>
            <a:ext cx="8229600" cy="1143000"/>
          </a:xfrm>
        </p:spPr>
        <p:txBody>
          <a:bodyPr/>
          <a:lstStyle/>
          <a:p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76718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1592</Words>
  <Application>Microsoft Office PowerPoint</Application>
  <PresentationFormat>On-screen Show (4:3)</PresentationFormat>
  <Paragraphs>192</Paragraphs>
  <Slides>38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Calibri</vt:lpstr>
      <vt:lpstr>Cambria Math</vt:lpstr>
      <vt:lpstr>Century Gothic</vt:lpstr>
      <vt:lpstr>Garamond</vt:lpstr>
      <vt:lpstr>Helvetica</vt:lpstr>
      <vt:lpstr>Times New Roman</vt:lpstr>
      <vt:lpstr>Wingdings</vt:lpstr>
      <vt:lpstr>Office Theme</vt:lpstr>
      <vt:lpstr>Equation</vt:lpstr>
      <vt:lpstr>ME 255 – Strength of Materials</vt:lpstr>
      <vt:lpstr>Lecture Outline</vt:lpstr>
      <vt:lpstr>Transformation of Plane Stress</vt:lpstr>
      <vt:lpstr>Transformation of Plane Stress</vt:lpstr>
      <vt:lpstr>Transformation of Plane Stress</vt:lpstr>
      <vt:lpstr>Transformation of Plane Stress</vt:lpstr>
      <vt:lpstr>Transformation of Plane Stress</vt:lpstr>
      <vt:lpstr>Transformation of Plane Stress</vt:lpstr>
      <vt:lpstr>Transformation of Plane Stress</vt:lpstr>
      <vt:lpstr>Example 1 </vt:lpstr>
      <vt:lpstr>Example 1 Continues</vt:lpstr>
      <vt:lpstr>Principal Planes</vt:lpstr>
      <vt:lpstr>Principal Planes</vt:lpstr>
      <vt:lpstr>Principal Planes</vt:lpstr>
      <vt:lpstr>Example 2 </vt:lpstr>
      <vt:lpstr>Example 2 Continues</vt:lpstr>
      <vt:lpstr>Mohr’s Circle for Plain Stress </vt:lpstr>
      <vt:lpstr>Mohr’s Circle for Plain Stress </vt:lpstr>
      <vt:lpstr>Steps in the Construction of Mohr’s Circle</vt:lpstr>
      <vt:lpstr>Steps in the Construction of Mohr’s Circle</vt:lpstr>
      <vt:lpstr>Steps in the Construction of Mohr’s Circle</vt:lpstr>
      <vt:lpstr>Steps in the Construction of Mohr’s Circle</vt:lpstr>
      <vt:lpstr>Mohr’s circle</vt:lpstr>
      <vt:lpstr>Example 3 </vt:lpstr>
      <vt:lpstr>Example 3 Continues</vt:lpstr>
      <vt:lpstr>Example 5-3 Continues</vt:lpstr>
      <vt:lpstr>Example 3 Continues</vt:lpstr>
      <vt:lpstr>Example 4</vt:lpstr>
      <vt:lpstr>Solution</vt:lpstr>
      <vt:lpstr>Tutorial 1</vt:lpstr>
      <vt:lpstr>Solution</vt:lpstr>
      <vt:lpstr>Solution Cont.</vt:lpstr>
      <vt:lpstr>Solution cont.</vt:lpstr>
      <vt:lpstr>Solution cont.</vt:lpstr>
      <vt:lpstr>Mohr’s Strain Circle</vt:lpstr>
      <vt:lpstr>Example 5 </vt:lpstr>
      <vt:lpstr>Example 5 Continues</vt:lpstr>
      <vt:lpstr>THANK YOU</vt:lpstr>
    </vt:vector>
  </TitlesOfParts>
  <Company>UPK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Samuel Boahen</cp:lastModifiedBy>
  <cp:revision>190</cp:revision>
  <dcterms:created xsi:type="dcterms:W3CDTF">2016-11-07T15:28:41Z</dcterms:created>
  <dcterms:modified xsi:type="dcterms:W3CDTF">2022-04-27T13:47:55Z</dcterms:modified>
</cp:coreProperties>
</file>