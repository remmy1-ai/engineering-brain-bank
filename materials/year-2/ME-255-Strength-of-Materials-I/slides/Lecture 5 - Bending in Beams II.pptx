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394" r:id="rId2"/>
    <p:sldId id="396" r:id="rId3"/>
    <p:sldId id="421" r:id="rId4"/>
    <p:sldId id="403" r:id="rId5"/>
    <p:sldId id="414" r:id="rId6"/>
    <p:sldId id="415" r:id="rId7"/>
    <p:sldId id="416" r:id="rId8"/>
    <p:sldId id="417" r:id="rId9"/>
    <p:sldId id="426" r:id="rId10"/>
    <p:sldId id="427" r:id="rId11"/>
    <p:sldId id="428" r:id="rId12"/>
    <p:sldId id="429" r:id="rId13"/>
    <p:sldId id="430" r:id="rId14"/>
    <p:sldId id="431" r:id="rId15"/>
    <p:sldId id="432" r:id="rId16"/>
    <p:sldId id="433" r:id="rId17"/>
    <p:sldId id="434" r:id="rId18"/>
    <p:sldId id="435" r:id="rId19"/>
    <p:sldId id="422" r:id="rId20"/>
    <p:sldId id="423" r:id="rId21"/>
    <p:sldId id="424" r:id="rId22"/>
    <p:sldId id="425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34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E54905-2C17-440B-A430-A224D3E889CC}" type="datetimeFigureOut">
              <a:rPr lang="en-US" smtClean="0"/>
              <a:t>2/24/2021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52219D-9097-425C-B275-D5F84FFB55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nust.edu.gh/" TargetMode="External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facebook.com/knust.Ghana/" TargetMode="External"/><Relationship Id="rId5" Type="http://schemas.openxmlformats.org/officeDocument/2006/relationships/image" Target="../media/image2.jpg"/><Relationship Id="rId4" Type="http://schemas.openxmlformats.org/officeDocument/2006/relationships/hyperlink" Target="https://twitter.com/_knust_" TargetMode="Externa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nust.edu.gh/" TargetMode="External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facebook.com/knust.Ghana/" TargetMode="External"/><Relationship Id="rId5" Type="http://schemas.openxmlformats.org/officeDocument/2006/relationships/image" Target="../media/image2.jpg"/><Relationship Id="rId4" Type="http://schemas.openxmlformats.org/officeDocument/2006/relationships/hyperlink" Target="https://twitter.com/_knust_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51C0-DD79-0043-A8DE-0BFEC2DE753E}" type="datetimeFigureOut">
              <a:rPr lang="en-US" smtClean="0"/>
              <a:t>2/24/2021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0" y="1"/>
            <a:ext cx="9144000" cy="854748"/>
            <a:chOff x="0" y="1"/>
            <a:chExt cx="9144000" cy="854748"/>
          </a:xfrm>
        </p:grpSpPr>
        <p:sp>
          <p:nvSpPr>
            <p:cNvPr id="8" name="Rectangle 7"/>
            <p:cNvSpPr/>
            <p:nvPr/>
          </p:nvSpPr>
          <p:spPr>
            <a:xfrm>
              <a:off x="0" y="1"/>
              <a:ext cx="9144000" cy="854748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487656" y="241270"/>
              <a:ext cx="34453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chemeClr val="bg1"/>
                  </a:solidFill>
                  <a:latin typeface="Helvetica"/>
                  <a:cs typeface="Helvetica"/>
                </a:rPr>
                <a:t>Kwame Nkrumah University of </a:t>
              </a:r>
            </a:p>
            <a:p>
              <a:r>
                <a:rPr lang="en-US" sz="1400" dirty="0">
                  <a:solidFill>
                    <a:schemeClr val="bg1"/>
                  </a:solidFill>
                  <a:latin typeface="Helvetica"/>
                  <a:cs typeface="Helvetica"/>
                </a:rPr>
                <a:t>Science &amp; Technology, Kumasi, Ghana</a:t>
              </a:r>
            </a:p>
          </p:txBody>
        </p:sp>
        <p:pic>
          <p:nvPicPr>
            <p:cNvPr id="10" name="Picture 9" descr="KNUST_logo Vector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95789" y="157852"/>
              <a:ext cx="491867" cy="625979"/>
            </a:xfrm>
            <a:prstGeom prst="rect">
              <a:avLst/>
            </a:prstGeom>
          </p:spPr>
        </p:pic>
      </p:grp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685800" y="2167738"/>
            <a:ext cx="7772400" cy="1470025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/>
            <a:r>
              <a:rPr lang="en-US" dirty="0">
                <a:latin typeface="Helvetica"/>
                <a:cs typeface="Helvetica"/>
              </a:rPr>
              <a:t>Title</a:t>
            </a:r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728506" y="4010849"/>
            <a:ext cx="6400800" cy="1599330"/>
          </a:xfrm>
        </p:spPr>
        <p:txBody>
          <a:bodyPr>
            <a:normAutofit/>
          </a:bodyPr>
          <a:lstStyle>
            <a:lvl1pPr marL="0" indent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algn="l"/>
            <a:r>
              <a:rPr lang="en-US" b="1" dirty="0">
                <a:solidFill>
                  <a:schemeClr val="tx1"/>
                </a:solidFill>
                <a:latin typeface="Helvetica"/>
                <a:cs typeface="Helvetica"/>
              </a:rPr>
              <a:t>Name</a:t>
            </a:r>
          </a:p>
          <a:p>
            <a:pPr algn="l"/>
            <a:r>
              <a:rPr lang="en-US" sz="2400" b="1" dirty="0">
                <a:latin typeface="Helvetica"/>
                <a:cs typeface="Helvetica"/>
              </a:rPr>
              <a:t>Department</a:t>
            </a:r>
          </a:p>
          <a:p>
            <a:pPr algn="l"/>
            <a:r>
              <a:rPr lang="en-US" sz="2400" b="1" dirty="0">
                <a:latin typeface="Helvetica"/>
                <a:cs typeface="Helvetica"/>
              </a:rPr>
              <a:t>Faculty &amp; College</a:t>
            </a:r>
          </a:p>
        </p:txBody>
      </p:sp>
    </p:spTree>
    <p:extLst>
      <p:ext uri="{BB962C8B-B14F-4D97-AF65-F5344CB8AC3E}">
        <p14:creationId xmlns:p14="http://schemas.microsoft.com/office/powerpoint/2010/main" val="1026681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51C0-DD79-0043-A8DE-0BFEC2DE753E}" type="datetimeFigureOut">
              <a:rPr lang="en-US" smtClean="0"/>
              <a:t>2/24/2021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0" y="5992943"/>
            <a:ext cx="9144000" cy="865057"/>
            <a:chOff x="0" y="5992943"/>
            <a:chExt cx="9144000" cy="865057"/>
          </a:xfrm>
        </p:grpSpPr>
        <p:sp>
          <p:nvSpPr>
            <p:cNvPr id="8" name="Rectangle 7"/>
            <p:cNvSpPr/>
            <p:nvPr/>
          </p:nvSpPr>
          <p:spPr>
            <a:xfrm>
              <a:off x="0" y="6377674"/>
              <a:ext cx="9144000" cy="48032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0" y="5992943"/>
              <a:ext cx="9144000" cy="363407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 descr="KNUST_logo Vector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7208" y="6021427"/>
              <a:ext cx="205238" cy="283189"/>
            </a:xfrm>
            <a:prstGeom prst="rect">
              <a:avLst/>
            </a:prstGeom>
          </p:spPr>
        </p:pic>
        <p:sp>
          <p:nvSpPr>
            <p:cNvPr id="11" name="TextBox 10">
              <a:hlinkClick r:id="rId3"/>
            </p:cNvPr>
            <p:cNvSpPr txBox="1"/>
            <p:nvPr/>
          </p:nvSpPr>
          <p:spPr>
            <a:xfrm>
              <a:off x="7137936" y="6036146"/>
              <a:ext cx="15488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chemeClr val="bg1"/>
                  </a:solidFill>
                  <a:latin typeface="Helvetica"/>
                  <a:cs typeface="Helvetica"/>
                </a:rPr>
                <a:t>www.knust.edu.gh</a:t>
              </a:r>
              <a:endParaRPr lang="en-US" sz="1200" dirty="0">
                <a:solidFill>
                  <a:schemeClr val="bg1"/>
                </a:solidFill>
                <a:latin typeface="Helvetica"/>
                <a:cs typeface="Helvetica"/>
              </a:endParaRPr>
            </a:p>
          </p:txBody>
        </p:sp>
        <p:pic>
          <p:nvPicPr>
            <p:cNvPr id="12" name="Picture 11">
              <a:hlinkClick r:id="rId4"/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61258" y="6042056"/>
              <a:ext cx="268162" cy="268162"/>
            </a:xfrm>
            <a:prstGeom prst="rect">
              <a:avLst/>
            </a:prstGeom>
          </p:spPr>
        </p:pic>
        <p:pic>
          <p:nvPicPr>
            <p:cNvPr id="13" name="Picture 12">
              <a:hlinkClick r:id="rId6"/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7791" y="6029719"/>
              <a:ext cx="292217" cy="292217"/>
            </a:xfrm>
            <a:prstGeom prst="rect">
              <a:avLst/>
            </a:prstGeom>
          </p:spPr>
        </p:pic>
      </p:grp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>
                <a:solidFill>
                  <a:srgbClr val="008000"/>
                </a:solidFill>
                <a:latin typeface="Helvetica"/>
                <a:cs typeface="Helvetica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3793904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51C0-DD79-0043-A8DE-0BFEC2DE753E}" type="datetimeFigureOut">
              <a:rPr lang="en-US" smtClean="0"/>
              <a:t>2/24/2021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215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51C0-DD79-0043-A8DE-0BFEC2DE753E}" type="datetimeFigureOut">
              <a:rPr lang="en-US" smtClean="0"/>
              <a:t>2/24/2021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567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51C0-DD79-0043-A8DE-0BFEC2DE753E}" type="datetimeFigureOut">
              <a:rPr lang="en-US" smtClean="0"/>
              <a:t>2/24/2021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875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51C0-DD79-0043-A8DE-0BFEC2DE753E}" type="datetimeFigureOut">
              <a:rPr lang="en-US" smtClean="0"/>
              <a:t>2/24/2021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190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51C0-DD79-0043-A8DE-0BFEC2DE753E}" type="datetimeFigureOut">
              <a:rPr lang="en-US" smtClean="0"/>
              <a:t>2/24/2021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669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51C0-DD79-0043-A8DE-0BFEC2DE753E}" type="datetimeFigureOut">
              <a:rPr lang="en-US" smtClean="0"/>
              <a:t>2/24/2021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271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51C0-DD79-0043-A8DE-0BFEC2DE753E}" type="datetimeFigureOut">
              <a:rPr lang="en-US" smtClean="0"/>
              <a:t>2/24/2021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298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51C0-DD79-0043-A8DE-0BFEC2DE753E}" type="datetimeFigureOut">
              <a:rPr lang="en-US" smtClean="0"/>
              <a:t>2/24/2021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1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751C0-DD79-0043-A8DE-0BFEC2DE753E}" type="datetimeFigureOut">
              <a:rPr lang="en-US" smtClean="0"/>
              <a:t>2/24/2021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795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750F2-8AE3-40DB-8F8C-34069980C17C}" type="datetime1">
              <a:rPr lang="en-US" smtClean="0"/>
              <a:t>2/24/2021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0" y="6271235"/>
            <a:ext cx="9144000" cy="586764"/>
            <a:chOff x="0" y="6271235"/>
            <a:chExt cx="9144000" cy="586764"/>
          </a:xfrm>
        </p:grpSpPr>
        <p:sp>
          <p:nvSpPr>
            <p:cNvPr id="8" name="Rectangle 7"/>
            <p:cNvSpPr/>
            <p:nvPr/>
          </p:nvSpPr>
          <p:spPr>
            <a:xfrm>
              <a:off x="0" y="6668022"/>
              <a:ext cx="9144000" cy="18997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0" y="6271235"/>
              <a:ext cx="9144000" cy="363407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0" name="Picture 9" descr="KNUST_logo Vector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7208" y="6299719"/>
              <a:ext cx="205238" cy="283189"/>
            </a:xfrm>
            <a:prstGeom prst="rect">
              <a:avLst/>
            </a:prstGeom>
          </p:spPr>
        </p:pic>
        <p:sp>
          <p:nvSpPr>
            <p:cNvPr id="11" name="TextBox 10">
              <a:hlinkClick r:id="rId3"/>
            </p:cNvPr>
            <p:cNvSpPr txBox="1"/>
            <p:nvPr/>
          </p:nvSpPr>
          <p:spPr>
            <a:xfrm>
              <a:off x="7137936" y="6314438"/>
              <a:ext cx="15488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bg1"/>
                  </a:solidFill>
                  <a:latin typeface="Helvetica"/>
                  <a:cs typeface="Helvetica"/>
                </a:rPr>
                <a:t>www.knust.edu.gh</a:t>
              </a:r>
            </a:p>
          </p:txBody>
        </p:sp>
        <p:pic>
          <p:nvPicPr>
            <p:cNvPr id="12" name="Picture 11">
              <a:hlinkClick r:id="rId4"/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61258" y="6320348"/>
              <a:ext cx="268162" cy="268162"/>
            </a:xfrm>
            <a:prstGeom prst="rect">
              <a:avLst/>
            </a:prstGeom>
          </p:spPr>
        </p:pic>
        <p:pic>
          <p:nvPicPr>
            <p:cNvPr id="13" name="Picture 12">
              <a:hlinkClick r:id="rId6"/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7791" y="6308011"/>
              <a:ext cx="292217" cy="292217"/>
            </a:xfrm>
            <a:prstGeom prst="rect">
              <a:avLst/>
            </a:prstGeom>
          </p:spPr>
        </p:pic>
      </p:grpSp>
      <p:sp>
        <p:nvSpPr>
          <p:cNvPr id="16" name="Title 1">
            <a:extLst>
              <a:ext uri="{FF2B5EF4-FFF2-40B4-BE49-F238E27FC236}">
                <a16:creationId xmlns="" xmlns:a16="http://schemas.microsoft.com/office/drawing/2014/main" id="{33D96D2C-39D2-D146-949D-A56FF129C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48" y="195126"/>
            <a:ext cx="8488016" cy="768971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Garamond" panose="02020404030301010803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="" xmlns:a16="http://schemas.microsoft.com/office/drawing/2014/main" id="{0F8A6806-0C47-8F41-8CB1-123A74FCD28F}"/>
              </a:ext>
            </a:extLst>
          </p:cNvPr>
          <p:cNvCxnSpPr/>
          <p:nvPr userDrawn="1"/>
        </p:nvCxnSpPr>
        <p:spPr>
          <a:xfrm>
            <a:off x="0" y="1033669"/>
            <a:ext cx="9155371" cy="0"/>
          </a:xfrm>
          <a:prstGeom prst="line">
            <a:avLst/>
          </a:prstGeom>
          <a:ln w="12700">
            <a:solidFill>
              <a:srgbClr val="008001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7" name="Content Placeholder 2">
            <a:extLst>
              <a:ext uri="{FF2B5EF4-FFF2-40B4-BE49-F238E27FC236}">
                <a16:creationId xmlns="" xmlns:a16="http://schemas.microsoft.com/office/drawing/2014/main" id="{B14474AE-41FC-854B-B962-6E0C929C52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7748" y="1152457"/>
            <a:ext cx="8488016" cy="502545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031" y="6278604"/>
            <a:ext cx="641838" cy="365125"/>
          </a:xfrm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Garamond" panose="02020404030301010803" pitchFamily="18" charset="0"/>
              </a:defRPr>
            </a:lvl1pPr>
          </a:lstStyle>
          <a:p>
            <a:fld id="{F4801FD5-11B4-DE43-ACA2-E85EEB9A6F9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4149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751C0-DD79-0043-A8DE-0BFEC2DE753E}" type="datetimeFigureOut">
              <a:rPr lang="en-US" smtClean="0"/>
              <a:t>2/24/2021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33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0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7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3.png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43132"/>
            <a:ext cx="7772400" cy="2541745"/>
          </a:xfrm>
        </p:spPr>
        <p:txBody>
          <a:bodyPr>
            <a:normAutofit/>
          </a:bodyPr>
          <a:lstStyle/>
          <a:p>
            <a:r>
              <a:rPr lang="en-GB" sz="6000" b="1" dirty="0" smtClean="0"/>
              <a:t>ME 255 – Strength of Materials</a:t>
            </a:r>
            <a:endParaRPr lang="en-US" sz="60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469813"/>
            <a:ext cx="7772400" cy="1599330"/>
          </a:xfrm>
        </p:spPr>
        <p:txBody>
          <a:bodyPr>
            <a:normAutofit/>
          </a:bodyPr>
          <a:lstStyle/>
          <a:p>
            <a:pPr algn="ctr"/>
            <a:r>
              <a:rPr lang="en-GB" sz="4000" b="1" dirty="0" smtClean="0"/>
              <a:t>Lecture 5: Bending In Beams II</a:t>
            </a:r>
          </a:p>
          <a:p>
            <a:pPr algn="ctr"/>
            <a:r>
              <a:rPr lang="en-GB" sz="3000" b="1" dirty="0" smtClean="0"/>
              <a:t>By: Samuel Boahen </a:t>
            </a:r>
            <a:r>
              <a:rPr lang="en-GB" sz="3000" dirty="0" smtClean="0"/>
              <a:t>(PhD)</a:t>
            </a:r>
            <a:endParaRPr lang="en-US" sz="3000" b="1" dirty="0"/>
          </a:p>
        </p:txBody>
      </p:sp>
    </p:spTree>
    <p:extLst>
      <p:ext uri="{BB962C8B-B14F-4D97-AF65-F5344CB8AC3E}">
        <p14:creationId xmlns:p14="http://schemas.microsoft.com/office/powerpoint/2010/main" val="4290480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Lecture Outline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7748" y="1258525"/>
            <a:ext cx="8488016" cy="3418408"/>
          </a:xfrm>
        </p:spPr>
        <p:txBody>
          <a:bodyPr>
            <a:normAutofit/>
          </a:bodyPr>
          <a:lstStyle/>
          <a:p>
            <a:pPr marL="1276350" indent="-457200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Shear and Bending Moment Diagrams</a:t>
            </a:r>
          </a:p>
          <a:p>
            <a:pPr marL="1162050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 between the Shear force and the Bending Moment</a:t>
            </a:r>
          </a:p>
          <a:p>
            <a:pPr marL="1162050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Stresses in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Beams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5615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Cantilever Beam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9292" y="1562163"/>
            <a:ext cx="3963496" cy="241341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2788" y="1562163"/>
            <a:ext cx="4818432" cy="19301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9825" y="3455974"/>
            <a:ext cx="1751909" cy="63431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2788" y="4356040"/>
            <a:ext cx="5091212" cy="110868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292" y="4057913"/>
            <a:ext cx="1760040" cy="1727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3647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861" y="0"/>
            <a:ext cx="8488016" cy="1077507"/>
          </a:xfrm>
        </p:spPr>
        <p:txBody>
          <a:bodyPr/>
          <a:lstStyle/>
          <a:p>
            <a:r>
              <a:rPr lang="en-GB" sz="3500" b="1" dirty="0" smtClean="0"/>
              <a:t>Bending Moment and Shear Force for Cantilever Beams</a:t>
            </a:r>
            <a:endParaRPr lang="en-US" sz="3500" b="1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30512" y="1546890"/>
            <a:ext cx="4032270" cy="41100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75273" y="1014884"/>
            <a:ext cx="369306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b="1" dirty="0" smtClean="0">
                <a:latin typeface="Garamond" panose="02020404030301010803" pitchFamily="18" charset="0"/>
              </a:rPr>
              <a:t>a) Cantilever with Point </a:t>
            </a:r>
            <a:r>
              <a:rPr lang="en-GB" sz="2200" b="1" dirty="0">
                <a:latin typeface="Garamond" panose="02020404030301010803" pitchFamily="18" charset="0"/>
              </a:rPr>
              <a:t>L</a:t>
            </a:r>
            <a:r>
              <a:rPr lang="en-GB" sz="2200" b="1" dirty="0" smtClean="0">
                <a:latin typeface="Garamond" panose="02020404030301010803" pitchFamily="18" charset="0"/>
              </a:rPr>
              <a:t>oad</a:t>
            </a:r>
            <a:endParaRPr lang="en-US" sz="2200" b="1" dirty="0">
              <a:latin typeface="Garamond" panose="02020404030301010803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4572000" y="1324714"/>
                <a:ext cx="4572000" cy="5016758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 marL="342900" indent="-342900" algn="just" fontAlgn="base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GB" sz="2000" dirty="0" smtClean="0">
                    <a:solidFill>
                      <a:srgbClr val="000000"/>
                    </a:solidFill>
                    <a:latin typeface="Garamond" panose="02020404030301010803" pitchFamily="18" charset="0"/>
                  </a:rPr>
                  <a:t>At section x from the end A, </a:t>
                </a:r>
                <a:endParaRPr lang="en-GB" sz="2000" dirty="0" smtClean="0">
                  <a:solidFill>
                    <a:srgbClr val="000000"/>
                  </a:solidFill>
                  <a:latin typeface="Garamond" panose="02020404030301010803" pitchFamily="18" charset="0"/>
                </a:endParaRPr>
              </a:p>
              <a:p>
                <a:pPr algn="just" fontAlgn="base">
                  <a:lnSpc>
                    <a:spcPct val="150000"/>
                  </a:lnSpc>
                </a:pPr>
                <a:r>
                  <a:rPr lang="en-GB" sz="2000" dirty="0">
                    <a:solidFill>
                      <a:srgbClr val="000000"/>
                    </a:solidFill>
                    <a:latin typeface="Garamond" panose="02020404030301010803" pitchFamily="18" charset="0"/>
                  </a:rPr>
                  <a:t> </a:t>
                </a:r>
                <a:r>
                  <a:rPr lang="en-GB" sz="2000" dirty="0" smtClean="0">
                    <a:solidFill>
                      <a:srgbClr val="000000"/>
                    </a:solidFill>
                    <a:latin typeface="Garamond" panose="02020404030301010803" pitchFamily="18" charset="0"/>
                  </a:rPr>
                  <a:t>     </a:t>
                </a:r>
                <a:r>
                  <a:rPr lang="en-GB" sz="2000" dirty="0" err="1" smtClean="0">
                    <a:solidFill>
                      <a:srgbClr val="000000"/>
                    </a:solidFill>
                    <a:latin typeface="Garamond" panose="02020404030301010803" pitchFamily="18" charset="0"/>
                  </a:rPr>
                  <a:t>F</a:t>
                </a:r>
                <a:r>
                  <a:rPr lang="en-GB" sz="2000" baseline="-25000" dirty="0" err="1" smtClean="0">
                    <a:solidFill>
                      <a:srgbClr val="000000"/>
                    </a:solidFill>
                    <a:latin typeface="Garamond" panose="02020404030301010803" pitchFamily="18" charset="0"/>
                  </a:rPr>
                  <a:t>x</a:t>
                </a:r>
                <a:r>
                  <a:rPr lang="en-GB" sz="2000" dirty="0">
                    <a:solidFill>
                      <a:srgbClr val="000000"/>
                    </a:solidFill>
                    <a:latin typeface="Garamond" panose="02020404030301010803" pitchFamily="18" charset="0"/>
                  </a:rPr>
                  <a:t> = – W</a:t>
                </a:r>
                <a:r>
                  <a:rPr lang="en-GB" sz="2000" baseline="-25000" dirty="0">
                    <a:solidFill>
                      <a:srgbClr val="000000"/>
                    </a:solidFill>
                    <a:latin typeface="Garamond" panose="02020404030301010803" pitchFamily="18" charset="0"/>
                  </a:rPr>
                  <a:t>1</a:t>
                </a:r>
                <a:r>
                  <a:rPr lang="en-GB" sz="2000" dirty="0">
                    <a:solidFill>
                      <a:srgbClr val="000000"/>
                    </a:solidFill>
                    <a:latin typeface="Garamond" panose="02020404030301010803" pitchFamily="18" charset="0"/>
                  </a:rPr>
                  <a:t> </a:t>
                </a:r>
                <a:endParaRPr lang="en-GB" sz="2000" dirty="0" smtClean="0">
                  <a:solidFill>
                    <a:srgbClr val="000000"/>
                  </a:solidFill>
                  <a:latin typeface="Garamond" panose="02020404030301010803" pitchFamily="18" charset="0"/>
                </a:endParaRPr>
              </a:p>
              <a:p>
                <a:pPr algn="just" fontAlgn="base"/>
                <a:r>
                  <a:rPr lang="en-GB" sz="2000" dirty="0">
                    <a:solidFill>
                      <a:srgbClr val="000000"/>
                    </a:solidFill>
                    <a:latin typeface="Garamond" panose="02020404030301010803" pitchFamily="18" charset="0"/>
                  </a:rPr>
                  <a:t> </a:t>
                </a:r>
                <a:r>
                  <a:rPr lang="en-GB" sz="2000" dirty="0" smtClean="0">
                    <a:solidFill>
                      <a:srgbClr val="000000"/>
                    </a:solidFill>
                    <a:latin typeface="Garamond" panose="02020404030301010803" pitchFamily="18" charset="0"/>
                  </a:rPr>
                  <a:t>     and </a:t>
                </a:r>
                <a:r>
                  <a:rPr lang="en-GB" sz="2000" dirty="0">
                    <a:solidFill>
                      <a:srgbClr val="000000"/>
                    </a:solidFill>
                    <a:latin typeface="Garamond" panose="02020404030301010803" pitchFamily="18" charset="0"/>
                  </a:rPr>
                  <a:t>is constant for any position of </a:t>
                </a:r>
                <a:endParaRPr lang="en-GB" sz="2000" dirty="0" smtClean="0">
                  <a:solidFill>
                    <a:srgbClr val="000000"/>
                  </a:solidFill>
                  <a:latin typeface="Garamond" panose="02020404030301010803" pitchFamily="18" charset="0"/>
                </a:endParaRPr>
              </a:p>
              <a:p>
                <a:pPr algn="just" fontAlgn="base"/>
                <a:r>
                  <a:rPr lang="en-GB" sz="2000" dirty="0">
                    <a:solidFill>
                      <a:srgbClr val="000000"/>
                    </a:solidFill>
                    <a:latin typeface="Garamond" panose="02020404030301010803" pitchFamily="18" charset="0"/>
                  </a:rPr>
                  <a:t> </a:t>
                </a:r>
                <a:r>
                  <a:rPr lang="en-GB" sz="2000" dirty="0" smtClean="0">
                    <a:solidFill>
                      <a:srgbClr val="000000"/>
                    </a:solidFill>
                    <a:latin typeface="Garamond" panose="02020404030301010803" pitchFamily="18" charset="0"/>
                  </a:rPr>
                  <a:t>     the </a:t>
                </a:r>
                <a:r>
                  <a:rPr lang="en-GB" sz="2000" dirty="0">
                    <a:solidFill>
                      <a:srgbClr val="000000"/>
                    </a:solidFill>
                    <a:latin typeface="Garamond" panose="02020404030301010803" pitchFamily="18" charset="0"/>
                  </a:rPr>
                  <a:t>section. </a:t>
                </a:r>
                <a:endParaRPr lang="en-GB" sz="2000" dirty="0" smtClean="0">
                  <a:solidFill>
                    <a:srgbClr val="000000"/>
                  </a:solidFill>
                  <a:latin typeface="Garamond" panose="02020404030301010803" pitchFamily="18" charset="0"/>
                </a:endParaRPr>
              </a:p>
              <a:p>
                <a:pPr marL="342900" indent="-342900" algn="just" fontAlgn="base">
                  <a:buFont typeface="Arial" panose="020B0604020202020204" pitchFamily="34" charset="0"/>
                  <a:buChar char="•"/>
                </a:pPr>
                <a:r>
                  <a:rPr lang="en-GB" sz="2000" dirty="0" smtClean="0">
                    <a:solidFill>
                      <a:srgbClr val="000000"/>
                    </a:solidFill>
                    <a:latin typeface="Garamond" panose="02020404030301010803" pitchFamily="18" charset="0"/>
                  </a:rPr>
                  <a:t>The </a:t>
                </a:r>
                <a:r>
                  <a:rPr lang="en-GB" sz="2000" dirty="0">
                    <a:solidFill>
                      <a:srgbClr val="000000"/>
                    </a:solidFill>
                    <a:latin typeface="Garamond" panose="02020404030301010803" pitchFamily="18" charset="0"/>
                  </a:rPr>
                  <a:t>S.F.D. will, therefore, be rectangle of height W</a:t>
                </a:r>
                <a:r>
                  <a:rPr lang="en-GB" sz="2000" dirty="0" smtClean="0">
                    <a:solidFill>
                      <a:srgbClr val="000000"/>
                    </a:solidFill>
                    <a:latin typeface="Garamond" panose="02020404030301010803" pitchFamily="18" charset="0"/>
                  </a:rPr>
                  <a:t>.</a:t>
                </a:r>
              </a:p>
              <a:p>
                <a:pPr algn="just" fontAlgn="base"/>
                <a:endParaRPr lang="en-GB" sz="2000" dirty="0" smtClean="0">
                  <a:solidFill>
                    <a:srgbClr val="000000"/>
                  </a:solidFill>
                  <a:latin typeface="Garamond" panose="02020404030301010803" pitchFamily="18" charset="0"/>
                </a:endParaRPr>
              </a:p>
              <a:p>
                <a:pPr marL="342900" indent="-342900" algn="just" fontAlgn="base">
                  <a:buFont typeface="Arial" panose="020B0604020202020204" pitchFamily="34" charset="0"/>
                  <a:buChar char="•"/>
                </a:pPr>
                <a:r>
                  <a:rPr lang="en-GB" sz="2000" dirty="0" smtClean="0">
                    <a:solidFill>
                      <a:srgbClr val="000000"/>
                    </a:solidFill>
                    <a:latin typeface="Garamond" panose="02020404030301010803" pitchFamily="18" charset="0"/>
                  </a:rPr>
                  <a:t>Bending </a:t>
                </a:r>
                <a:r>
                  <a:rPr lang="en-GB" sz="2000" dirty="0">
                    <a:solidFill>
                      <a:srgbClr val="000000"/>
                    </a:solidFill>
                    <a:latin typeface="Garamond" panose="02020404030301010803" pitchFamily="18" charset="0"/>
                  </a:rPr>
                  <a:t>moment at a section x from end A is given by</a:t>
                </a:r>
              </a:p>
              <a:p>
                <a:pPr algn="just" fontAlgn="base"/>
                <a:r>
                  <a:rPr lang="en-GB" sz="2000" dirty="0" smtClean="0">
                    <a:solidFill>
                      <a:srgbClr val="000000"/>
                    </a:solidFill>
                    <a:latin typeface="Garamond" panose="02020404030301010803" pitchFamily="18" charset="0"/>
                  </a:rPr>
                  <a:t>  </a:t>
                </a:r>
              </a:p>
              <a:p>
                <a:pPr algn="just" fontAlgn="base"/>
                <a:r>
                  <a:rPr lang="en-GB" sz="2000" dirty="0">
                    <a:solidFill>
                      <a:srgbClr val="000000"/>
                    </a:solidFill>
                    <a:latin typeface="Garamond" panose="02020404030301010803" pitchFamily="18" charset="0"/>
                  </a:rPr>
                  <a:t> </a:t>
                </a:r>
                <a:r>
                  <a:rPr lang="en-GB" sz="2000" dirty="0" smtClean="0">
                    <a:solidFill>
                      <a:srgbClr val="000000"/>
                    </a:solidFill>
                    <a:latin typeface="Garamond" panose="02020404030301010803" pitchFamily="18" charset="0"/>
                  </a:rPr>
                  <a:t>    </a:t>
                </a:r>
                <a:r>
                  <a:rPr lang="en-GB" sz="2000" dirty="0" err="1" smtClean="0">
                    <a:solidFill>
                      <a:srgbClr val="000000"/>
                    </a:solidFill>
                    <a:latin typeface="Garamond" panose="02020404030301010803" pitchFamily="18" charset="0"/>
                  </a:rPr>
                  <a:t>M</a:t>
                </a:r>
                <a:r>
                  <a:rPr lang="en-GB" sz="2000" baseline="-25000" dirty="0" err="1" smtClean="0">
                    <a:solidFill>
                      <a:srgbClr val="000000"/>
                    </a:solidFill>
                    <a:latin typeface="Garamond" panose="02020404030301010803" pitchFamily="18" charset="0"/>
                  </a:rPr>
                  <a:t>x</a:t>
                </a:r>
                <a:r>
                  <a:rPr lang="en-GB" sz="2000" dirty="0">
                    <a:solidFill>
                      <a:srgbClr val="000000"/>
                    </a:solidFill>
                    <a:latin typeface="Garamond" panose="02020404030301010803" pitchFamily="18" charset="0"/>
                  </a:rPr>
                  <a:t> = + </a:t>
                </a:r>
                <a:r>
                  <a:rPr lang="en-GB" sz="2000" dirty="0" err="1" smtClean="0">
                    <a:solidFill>
                      <a:srgbClr val="000000"/>
                    </a:solidFill>
                    <a:latin typeface="Garamond" panose="02020404030301010803" pitchFamily="18" charset="0"/>
                  </a:rPr>
                  <a:t>Wx</a:t>
                </a:r>
                <a:r>
                  <a:rPr lang="en-GB" sz="2000" dirty="0">
                    <a:solidFill>
                      <a:srgbClr val="000000"/>
                    </a:solidFill>
                    <a:latin typeface="Garamond" panose="02020404030301010803" pitchFamily="18" charset="0"/>
                  </a:rPr>
                  <a:t>   </a:t>
                </a:r>
                <a:r>
                  <a:rPr lang="en-GB" sz="2000" dirty="0" smtClean="0">
                    <a:solidFill>
                      <a:srgbClr val="000000"/>
                    </a:solidFill>
                    <a:latin typeface="Garamond" panose="02020404030301010803" pitchFamily="18" charset="0"/>
                  </a:rPr>
                  <a:t> </a:t>
                </a:r>
                <a:r>
                  <a:rPr lang="en-GB" sz="2000" dirty="0">
                    <a:solidFill>
                      <a:srgbClr val="000000"/>
                    </a:solidFill>
                    <a:latin typeface="Garamond" panose="02020404030301010803" pitchFamily="18" charset="0"/>
                  </a:rPr>
                  <a:t>………(straight line</a:t>
                </a:r>
                <a:r>
                  <a:rPr lang="en-GB" sz="2000" dirty="0" smtClean="0">
                    <a:solidFill>
                      <a:srgbClr val="000000"/>
                    </a:solidFill>
                    <a:latin typeface="Garamond" panose="02020404030301010803" pitchFamily="18" charset="0"/>
                  </a:rPr>
                  <a:t>)</a:t>
                </a:r>
              </a:p>
              <a:p>
                <a:pPr marL="342900" indent="-342900" algn="just" fontAlgn="base">
                  <a:buFont typeface="Arial" panose="020B0604020202020204" pitchFamily="34" charset="0"/>
                  <a:buChar char="•"/>
                </a:pPr>
                <a:endParaRPr lang="en-GB" sz="2000" dirty="0">
                  <a:solidFill>
                    <a:srgbClr val="000000"/>
                  </a:solidFill>
                  <a:latin typeface="Garamond" panose="02020404030301010803" pitchFamily="18" charset="0"/>
                </a:endParaRPr>
              </a:p>
              <a:p>
                <a:pPr marL="342900" indent="-342900" algn="just" fontAlgn="base">
                  <a:buFont typeface="Arial" panose="020B0604020202020204" pitchFamily="34" charset="0"/>
                  <a:buChar char="•"/>
                </a:pPr>
                <a:r>
                  <a:rPr lang="en-GB" sz="2000" dirty="0">
                    <a:solidFill>
                      <a:srgbClr val="000000"/>
                    </a:solidFill>
                    <a:latin typeface="Garamond" panose="02020404030301010803" pitchFamily="18" charset="0"/>
                  </a:rPr>
                  <a:t>At x=0,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2000" b="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sz="2000" b="0" i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</m:oMath>
                </a14:m>
                <a:r>
                  <a:rPr lang="en-GB" sz="2000" dirty="0" smtClean="0">
                    <a:solidFill>
                      <a:srgbClr val="000000"/>
                    </a:solidFill>
                    <a:latin typeface="Garamond" panose="02020404030301010803" pitchFamily="18" charset="0"/>
                  </a:rPr>
                  <a:t>=</a:t>
                </a:r>
                <a:r>
                  <a:rPr lang="en-GB" sz="2000" dirty="0">
                    <a:solidFill>
                      <a:srgbClr val="000000"/>
                    </a:solidFill>
                    <a:latin typeface="Garamond" panose="02020404030301010803" pitchFamily="18" charset="0"/>
                  </a:rPr>
                  <a:t>0</a:t>
                </a:r>
                <a:r>
                  <a:rPr lang="en-GB" sz="2000" dirty="0" smtClean="0">
                    <a:solidFill>
                      <a:srgbClr val="000000"/>
                    </a:solidFill>
                    <a:latin typeface="Garamond" panose="02020404030301010803" pitchFamily="18" charset="0"/>
                  </a:rPr>
                  <a:t> </a:t>
                </a:r>
                <a:r>
                  <a:rPr lang="en-GB" sz="2000" dirty="0">
                    <a:solidFill>
                      <a:srgbClr val="000000"/>
                    </a:solidFill>
                    <a:latin typeface="Garamond" panose="02020404030301010803" pitchFamily="18" charset="0"/>
                  </a:rPr>
                  <a:t>; x=1, M</a:t>
                </a:r>
                <a:r>
                  <a:rPr lang="en-GB" sz="2000" baseline="-25000" dirty="0">
                    <a:solidFill>
                      <a:srgbClr val="000000"/>
                    </a:solidFill>
                    <a:latin typeface="Garamond" panose="02020404030301010803" pitchFamily="18" charset="0"/>
                  </a:rPr>
                  <a:t>B</a:t>
                </a:r>
                <a:r>
                  <a:rPr lang="en-GB" sz="2000" dirty="0">
                    <a:solidFill>
                      <a:srgbClr val="000000"/>
                    </a:solidFill>
                    <a:latin typeface="Garamond" panose="02020404030301010803" pitchFamily="18" charset="0"/>
                  </a:rPr>
                  <a:t>=WL</a:t>
                </a:r>
                <a:r>
                  <a:rPr lang="en-GB" sz="2000" dirty="0" smtClean="0">
                    <a:solidFill>
                      <a:srgbClr val="000000"/>
                    </a:solidFill>
                    <a:latin typeface="Garamond" panose="02020404030301010803" pitchFamily="18" charset="0"/>
                  </a:rPr>
                  <a:t>.</a:t>
                </a:r>
                <a:endParaRPr lang="en-GB" sz="2000" dirty="0">
                  <a:solidFill>
                    <a:srgbClr val="000000"/>
                  </a:solidFill>
                  <a:latin typeface="Garamond" panose="02020404030301010803" pitchFamily="18" charset="0"/>
                </a:endParaRPr>
              </a:p>
              <a:p>
                <a:pPr marL="342900" indent="-342900" algn="just" fontAlgn="base">
                  <a:buFont typeface="Arial" panose="020B0604020202020204" pitchFamily="34" charset="0"/>
                  <a:buChar char="•"/>
                </a:pPr>
                <a:r>
                  <a:rPr lang="en-GB" sz="2000" dirty="0">
                    <a:solidFill>
                      <a:srgbClr val="000000"/>
                    </a:solidFill>
                    <a:latin typeface="Garamond" panose="02020404030301010803" pitchFamily="18" charset="0"/>
                  </a:rPr>
                  <a:t>The B.M.D. will thus be a triangle having zero ordinate at A and WL at B.</a:t>
                </a:r>
                <a:endParaRPr lang="en-GB" sz="2000" b="0" i="0" dirty="0">
                  <a:solidFill>
                    <a:srgbClr val="000000"/>
                  </a:solidFill>
                  <a:effectLst/>
                  <a:latin typeface="Garamond" panose="02020404030301010803" pitchFamily="18" charset="0"/>
                </a:endParaRPr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1324714"/>
                <a:ext cx="4572000" cy="5016758"/>
              </a:xfrm>
              <a:prstGeom prst="rect">
                <a:avLst/>
              </a:prstGeom>
              <a:blipFill rotWithShape="0">
                <a:blip r:embed="rId3"/>
                <a:stretch>
                  <a:fillRect l="-1200" r="-1333" b="-1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7747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Cantilever with Several Point Loads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9921" y="1285223"/>
            <a:ext cx="4901840" cy="489072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18944" y="1210273"/>
            <a:ext cx="3725056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GB" sz="2200" b="1" dirty="0" smtClean="0">
                <a:solidFill>
                  <a:srgbClr val="000000"/>
                </a:solidFill>
                <a:latin typeface="Garamond" panose="02020404030301010803" pitchFamily="18" charset="0"/>
              </a:rPr>
              <a:t>Shear Force Diagram</a:t>
            </a:r>
            <a:endParaRPr lang="en-GB" sz="2200" b="1" dirty="0">
              <a:solidFill>
                <a:srgbClr val="000000"/>
              </a:solidFill>
              <a:latin typeface="Garamond" panose="02020404030301010803" pitchFamily="18" charset="0"/>
            </a:endParaRPr>
          </a:p>
          <a:p>
            <a:pPr fontAlgn="base"/>
            <a:endParaRPr lang="en-GB" sz="2200" dirty="0" smtClean="0">
              <a:solidFill>
                <a:srgbClr val="000000"/>
              </a:solidFill>
              <a:latin typeface="Garamond" panose="02020404030301010803" pitchFamily="18" charset="0"/>
            </a:endParaRPr>
          </a:p>
          <a:p>
            <a:pPr fontAlgn="base"/>
            <a:r>
              <a:rPr lang="en-GB" sz="2200" dirty="0" smtClean="0">
                <a:solidFill>
                  <a:srgbClr val="000000"/>
                </a:solidFill>
                <a:latin typeface="Garamond" panose="02020404030301010803" pitchFamily="18" charset="0"/>
              </a:rPr>
              <a:t>Between </a:t>
            </a:r>
            <a:r>
              <a:rPr lang="en-GB" sz="2200" dirty="0">
                <a:solidFill>
                  <a:srgbClr val="000000"/>
                </a:solidFill>
                <a:latin typeface="Garamond" panose="02020404030301010803" pitchFamily="18" charset="0"/>
              </a:rPr>
              <a:t>A and C,</a:t>
            </a:r>
          </a:p>
          <a:p>
            <a:pPr fontAlgn="base"/>
            <a:r>
              <a:rPr lang="en-GB" sz="2200" dirty="0" err="1">
                <a:solidFill>
                  <a:srgbClr val="000000"/>
                </a:solidFill>
                <a:latin typeface="Garamond" panose="02020404030301010803" pitchFamily="18" charset="0"/>
              </a:rPr>
              <a:t>F</a:t>
            </a:r>
            <a:r>
              <a:rPr lang="en-GB" sz="2200" baseline="-25000" dirty="0" err="1">
                <a:solidFill>
                  <a:srgbClr val="000000"/>
                </a:solidFill>
                <a:latin typeface="Garamond" panose="02020404030301010803" pitchFamily="18" charset="0"/>
              </a:rPr>
              <a:t>x</a:t>
            </a:r>
            <a:r>
              <a:rPr lang="en-GB" sz="2200" dirty="0">
                <a:solidFill>
                  <a:srgbClr val="000000"/>
                </a:solidFill>
                <a:latin typeface="Garamond" panose="02020404030301010803" pitchFamily="18" charset="0"/>
              </a:rPr>
              <a:t>= – 3 </a:t>
            </a:r>
            <a:r>
              <a:rPr lang="en-GB" sz="2200" dirty="0" err="1">
                <a:solidFill>
                  <a:srgbClr val="000000"/>
                </a:solidFill>
                <a:latin typeface="Garamond" panose="02020404030301010803" pitchFamily="18" charset="0"/>
              </a:rPr>
              <a:t>kN</a:t>
            </a:r>
            <a:r>
              <a:rPr lang="en-GB" sz="2200" dirty="0">
                <a:solidFill>
                  <a:srgbClr val="000000"/>
                </a:solidFill>
                <a:latin typeface="Garamond" panose="02020404030301010803" pitchFamily="18" charset="0"/>
              </a:rPr>
              <a:t> (constant)</a:t>
            </a:r>
          </a:p>
          <a:p>
            <a:pPr fontAlgn="base"/>
            <a:endParaRPr lang="en-GB" sz="2200" dirty="0" smtClean="0">
              <a:solidFill>
                <a:srgbClr val="000000"/>
              </a:solidFill>
              <a:latin typeface="Garamond" panose="02020404030301010803" pitchFamily="18" charset="0"/>
            </a:endParaRPr>
          </a:p>
          <a:p>
            <a:pPr fontAlgn="base"/>
            <a:r>
              <a:rPr lang="en-GB" sz="2200" dirty="0" smtClean="0">
                <a:solidFill>
                  <a:srgbClr val="000000"/>
                </a:solidFill>
                <a:latin typeface="Garamond" panose="02020404030301010803" pitchFamily="18" charset="0"/>
              </a:rPr>
              <a:t>Between </a:t>
            </a:r>
            <a:r>
              <a:rPr lang="en-GB" sz="2200" dirty="0">
                <a:solidFill>
                  <a:srgbClr val="000000"/>
                </a:solidFill>
                <a:latin typeface="Garamond" panose="02020404030301010803" pitchFamily="18" charset="0"/>
              </a:rPr>
              <a:t>C and D,</a:t>
            </a:r>
          </a:p>
          <a:p>
            <a:pPr fontAlgn="base"/>
            <a:r>
              <a:rPr lang="en-GB" sz="2200" dirty="0" err="1">
                <a:solidFill>
                  <a:srgbClr val="000000"/>
                </a:solidFill>
                <a:latin typeface="Garamond" panose="02020404030301010803" pitchFamily="18" charset="0"/>
              </a:rPr>
              <a:t>F</a:t>
            </a:r>
            <a:r>
              <a:rPr lang="en-GB" sz="2200" baseline="-25000" dirty="0" err="1">
                <a:solidFill>
                  <a:srgbClr val="000000"/>
                </a:solidFill>
                <a:latin typeface="Garamond" panose="02020404030301010803" pitchFamily="18" charset="0"/>
              </a:rPr>
              <a:t>x</a:t>
            </a:r>
            <a:r>
              <a:rPr lang="en-GB" sz="2200" dirty="0">
                <a:solidFill>
                  <a:srgbClr val="000000"/>
                </a:solidFill>
                <a:latin typeface="Garamond" panose="02020404030301010803" pitchFamily="18" charset="0"/>
              </a:rPr>
              <a:t> = -3-3=-6 </a:t>
            </a:r>
            <a:r>
              <a:rPr lang="en-GB" sz="2200" dirty="0" err="1">
                <a:solidFill>
                  <a:srgbClr val="000000"/>
                </a:solidFill>
                <a:latin typeface="Garamond" panose="02020404030301010803" pitchFamily="18" charset="0"/>
              </a:rPr>
              <a:t>kN</a:t>
            </a:r>
            <a:r>
              <a:rPr lang="en-GB" sz="2200" dirty="0">
                <a:solidFill>
                  <a:srgbClr val="000000"/>
                </a:solidFill>
                <a:latin typeface="Garamond" panose="02020404030301010803" pitchFamily="18" charset="0"/>
              </a:rPr>
              <a:t> (constant)</a:t>
            </a:r>
          </a:p>
          <a:p>
            <a:pPr fontAlgn="base"/>
            <a:endParaRPr lang="en-GB" sz="2200" dirty="0" smtClean="0">
              <a:solidFill>
                <a:srgbClr val="000000"/>
              </a:solidFill>
              <a:latin typeface="Garamond" panose="02020404030301010803" pitchFamily="18" charset="0"/>
            </a:endParaRPr>
          </a:p>
          <a:p>
            <a:pPr fontAlgn="base"/>
            <a:r>
              <a:rPr lang="en-GB" sz="2200" dirty="0" smtClean="0">
                <a:solidFill>
                  <a:srgbClr val="000000"/>
                </a:solidFill>
                <a:latin typeface="Garamond" panose="02020404030301010803" pitchFamily="18" charset="0"/>
              </a:rPr>
              <a:t>Between </a:t>
            </a:r>
            <a:r>
              <a:rPr lang="en-GB" sz="2200" dirty="0">
                <a:solidFill>
                  <a:srgbClr val="000000"/>
                </a:solidFill>
                <a:latin typeface="Garamond" panose="02020404030301010803" pitchFamily="18" charset="0"/>
              </a:rPr>
              <a:t>D and B,</a:t>
            </a:r>
          </a:p>
          <a:p>
            <a:pPr fontAlgn="base"/>
            <a:r>
              <a:rPr lang="en-GB" sz="2200" dirty="0" err="1">
                <a:solidFill>
                  <a:srgbClr val="000000"/>
                </a:solidFill>
                <a:latin typeface="Garamond" panose="02020404030301010803" pitchFamily="18" charset="0"/>
              </a:rPr>
              <a:t>F</a:t>
            </a:r>
            <a:r>
              <a:rPr lang="en-GB" sz="2200" baseline="-25000" dirty="0" err="1">
                <a:solidFill>
                  <a:srgbClr val="000000"/>
                </a:solidFill>
                <a:latin typeface="Garamond" panose="02020404030301010803" pitchFamily="18" charset="0"/>
              </a:rPr>
              <a:t>x</a:t>
            </a:r>
            <a:r>
              <a:rPr lang="en-GB" sz="2200" dirty="0">
                <a:solidFill>
                  <a:srgbClr val="000000"/>
                </a:solidFill>
                <a:latin typeface="Garamond" panose="02020404030301010803" pitchFamily="18" charset="0"/>
              </a:rPr>
              <a:t> = -3-3-2=-8 </a:t>
            </a:r>
            <a:r>
              <a:rPr lang="en-GB" sz="2200" dirty="0" err="1">
                <a:solidFill>
                  <a:srgbClr val="000000"/>
                </a:solidFill>
                <a:latin typeface="Garamond" panose="02020404030301010803" pitchFamily="18" charset="0"/>
              </a:rPr>
              <a:t>kN</a:t>
            </a:r>
            <a:r>
              <a:rPr lang="en-GB" sz="2200" dirty="0">
                <a:solidFill>
                  <a:srgbClr val="000000"/>
                </a:solidFill>
                <a:latin typeface="Garamond" panose="02020404030301010803" pitchFamily="18" charset="0"/>
              </a:rPr>
              <a:t> (constant)</a:t>
            </a:r>
          </a:p>
          <a:p>
            <a:pPr fontAlgn="base"/>
            <a:endParaRPr lang="en-GB" sz="2200" dirty="0" smtClean="0">
              <a:solidFill>
                <a:srgbClr val="000000"/>
              </a:solidFill>
              <a:latin typeface="Garamond" panose="02020404030301010803" pitchFamily="18" charset="0"/>
            </a:endParaRPr>
          </a:p>
          <a:p>
            <a:pPr fontAlgn="base"/>
            <a:r>
              <a:rPr lang="en-GB" sz="2200" dirty="0" smtClean="0">
                <a:solidFill>
                  <a:srgbClr val="000000"/>
                </a:solidFill>
                <a:latin typeface="Garamond" panose="02020404030301010803" pitchFamily="18" charset="0"/>
              </a:rPr>
              <a:t>The </a:t>
            </a:r>
            <a:r>
              <a:rPr lang="en-GB" sz="2200" dirty="0">
                <a:solidFill>
                  <a:srgbClr val="000000"/>
                </a:solidFill>
                <a:latin typeface="Garamond" panose="02020404030301010803" pitchFamily="18" charset="0"/>
              </a:rPr>
              <a:t>S.F.D. will, therefore, consist of several rectangles having different </a:t>
            </a:r>
            <a:r>
              <a:rPr lang="en-GB" sz="2200" dirty="0" smtClean="0">
                <a:solidFill>
                  <a:srgbClr val="000000"/>
                </a:solidFill>
                <a:latin typeface="Garamond" panose="02020404030301010803" pitchFamily="18" charset="0"/>
              </a:rPr>
              <a:t>ordinates</a:t>
            </a:r>
            <a:r>
              <a:rPr lang="en-GB" sz="2200" dirty="0">
                <a:solidFill>
                  <a:srgbClr val="000000"/>
                </a:solidFill>
                <a:latin typeface="Garamond" panose="02020404030301010803" pitchFamily="18" charset="0"/>
              </a:rPr>
              <a:t>.</a:t>
            </a:r>
            <a:endParaRPr lang="en-GB" sz="2200" b="0" i="0" dirty="0">
              <a:solidFill>
                <a:srgbClr val="000000"/>
              </a:solidFill>
              <a:effectLst/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1882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Cantilever with Several Point Loads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991" y="1240253"/>
            <a:ext cx="4901840" cy="489072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51741" y="1035117"/>
            <a:ext cx="4062277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GB" sz="1900" b="1" dirty="0" smtClean="0">
                <a:solidFill>
                  <a:srgbClr val="000000"/>
                </a:solidFill>
                <a:latin typeface="Garamond" panose="02020404030301010803" pitchFamily="18" charset="0"/>
              </a:rPr>
              <a:t>Bending Moment Diagram</a:t>
            </a:r>
            <a:endParaRPr lang="en-GB" sz="1900" b="1" dirty="0">
              <a:solidFill>
                <a:srgbClr val="000000"/>
              </a:solidFill>
              <a:latin typeface="Garamond" panose="02020404030301010803" pitchFamily="18" charset="0"/>
            </a:endParaRPr>
          </a:p>
          <a:p>
            <a:pPr fontAlgn="base"/>
            <a:r>
              <a:rPr lang="en-GB" sz="1900" dirty="0" smtClean="0">
                <a:solidFill>
                  <a:srgbClr val="000000"/>
                </a:solidFill>
                <a:latin typeface="Garamond" panose="02020404030301010803" pitchFamily="18" charset="0"/>
              </a:rPr>
              <a:t>Between </a:t>
            </a:r>
            <a:r>
              <a:rPr lang="en-GB" sz="1900" dirty="0">
                <a:solidFill>
                  <a:srgbClr val="000000"/>
                </a:solidFill>
                <a:latin typeface="Garamond" panose="02020404030301010803" pitchFamily="18" charset="0"/>
              </a:rPr>
              <a:t>A and C,</a:t>
            </a:r>
          </a:p>
          <a:p>
            <a:pPr fontAlgn="base"/>
            <a:r>
              <a:rPr lang="en-GB" sz="1900" dirty="0" err="1">
                <a:solidFill>
                  <a:srgbClr val="000000"/>
                </a:solidFill>
                <a:latin typeface="Garamond" panose="02020404030301010803" pitchFamily="18" charset="0"/>
              </a:rPr>
              <a:t>M</a:t>
            </a:r>
            <a:r>
              <a:rPr lang="en-GB" sz="1900" baseline="-25000" dirty="0" err="1">
                <a:solidFill>
                  <a:srgbClr val="000000"/>
                </a:solidFill>
                <a:latin typeface="Garamond" panose="02020404030301010803" pitchFamily="18" charset="0"/>
              </a:rPr>
              <a:t>x</a:t>
            </a:r>
            <a:r>
              <a:rPr lang="en-GB" sz="1900" dirty="0">
                <a:solidFill>
                  <a:srgbClr val="000000"/>
                </a:solidFill>
                <a:latin typeface="Garamond" panose="02020404030301010803" pitchFamily="18" charset="0"/>
              </a:rPr>
              <a:t> = 3x                                  ….. (linear)</a:t>
            </a:r>
          </a:p>
          <a:p>
            <a:pPr fontAlgn="base"/>
            <a:r>
              <a:rPr lang="en-GB" sz="1900" dirty="0">
                <a:solidFill>
                  <a:srgbClr val="000000"/>
                </a:solidFill>
                <a:latin typeface="Garamond" panose="02020404030301010803" pitchFamily="18" charset="0"/>
              </a:rPr>
              <a:t>When x=0, M</a:t>
            </a:r>
            <a:r>
              <a:rPr lang="en-GB" sz="1900" baseline="-25000" dirty="0">
                <a:solidFill>
                  <a:srgbClr val="000000"/>
                </a:solidFill>
                <a:latin typeface="Garamond" panose="02020404030301010803" pitchFamily="18" charset="0"/>
              </a:rPr>
              <a:t>A</a:t>
            </a:r>
            <a:r>
              <a:rPr lang="en-GB" sz="1900" dirty="0">
                <a:solidFill>
                  <a:srgbClr val="000000"/>
                </a:solidFill>
                <a:latin typeface="Garamond" panose="02020404030301010803" pitchFamily="18" charset="0"/>
              </a:rPr>
              <a:t>=0. When x=2m, M</a:t>
            </a:r>
            <a:r>
              <a:rPr lang="en-GB" sz="1900" baseline="-25000" dirty="0">
                <a:solidFill>
                  <a:srgbClr val="000000"/>
                </a:solidFill>
                <a:latin typeface="Garamond" panose="02020404030301010803" pitchFamily="18" charset="0"/>
              </a:rPr>
              <a:t>C</a:t>
            </a:r>
            <a:r>
              <a:rPr lang="en-GB" sz="1900" dirty="0">
                <a:solidFill>
                  <a:srgbClr val="000000"/>
                </a:solidFill>
                <a:latin typeface="Garamond" panose="02020404030301010803" pitchFamily="18" charset="0"/>
              </a:rPr>
              <a:t>=3×2=6 </a:t>
            </a:r>
            <a:r>
              <a:rPr lang="en-GB" sz="1900" dirty="0" err="1">
                <a:solidFill>
                  <a:srgbClr val="000000"/>
                </a:solidFill>
                <a:latin typeface="Garamond" panose="02020404030301010803" pitchFamily="18" charset="0"/>
              </a:rPr>
              <a:t>kN.m</a:t>
            </a:r>
            <a:endParaRPr lang="en-GB" sz="1900" dirty="0">
              <a:solidFill>
                <a:srgbClr val="000000"/>
              </a:solidFill>
              <a:latin typeface="Garamond" panose="02020404030301010803" pitchFamily="18" charset="0"/>
            </a:endParaRPr>
          </a:p>
          <a:p>
            <a:pPr fontAlgn="base"/>
            <a:endParaRPr lang="en-GB" sz="1900" dirty="0" smtClean="0">
              <a:solidFill>
                <a:srgbClr val="000000"/>
              </a:solidFill>
              <a:latin typeface="Garamond" panose="02020404030301010803" pitchFamily="18" charset="0"/>
            </a:endParaRPr>
          </a:p>
          <a:p>
            <a:pPr fontAlgn="base"/>
            <a:r>
              <a:rPr lang="en-GB" sz="1900" dirty="0" smtClean="0">
                <a:solidFill>
                  <a:srgbClr val="000000"/>
                </a:solidFill>
                <a:latin typeface="Garamond" panose="02020404030301010803" pitchFamily="18" charset="0"/>
              </a:rPr>
              <a:t>Between </a:t>
            </a:r>
            <a:r>
              <a:rPr lang="en-GB" sz="1900" dirty="0">
                <a:solidFill>
                  <a:srgbClr val="000000"/>
                </a:solidFill>
                <a:latin typeface="Garamond" panose="02020404030301010803" pitchFamily="18" charset="0"/>
              </a:rPr>
              <a:t>C and D.</a:t>
            </a:r>
          </a:p>
          <a:p>
            <a:pPr fontAlgn="base"/>
            <a:r>
              <a:rPr lang="en-GB" sz="1900" dirty="0" err="1">
                <a:solidFill>
                  <a:srgbClr val="000000"/>
                </a:solidFill>
                <a:latin typeface="Garamond" panose="02020404030301010803" pitchFamily="18" charset="0"/>
              </a:rPr>
              <a:t>M</a:t>
            </a:r>
            <a:r>
              <a:rPr lang="en-GB" sz="1900" baseline="-25000" dirty="0" err="1">
                <a:solidFill>
                  <a:srgbClr val="000000"/>
                </a:solidFill>
                <a:latin typeface="Garamond" panose="02020404030301010803" pitchFamily="18" charset="0"/>
              </a:rPr>
              <a:t>x</a:t>
            </a:r>
            <a:r>
              <a:rPr lang="en-GB" sz="1900" dirty="0">
                <a:solidFill>
                  <a:srgbClr val="000000"/>
                </a:solidFill>
                <a:latin typeface="Garamond" panose="02020404030301010803" pitchFamily="18" charset="0"/>
              </a:rPr>
              <a:t>=3x+3(x-2)                      ……(linear)</a:t>
            </a:r>
          </a:p>
          <a:p>
            <a:pPr fontAlgn="base"/>
            <a:r>
              <a:rPr lang="en-GB" sz="1900" dirty="0">
                <a:solidFill>
                  <a:srgbClr val="000000"/>
                </a:solidFill>
                <a:latin typeface="Garamond" panose="02020404030301010803" pitchFamily="18" charset="0"/>
              </a:rPr>
              <a:t>When x=2, M</a:t>
            </a:r>
            <a:r>
              <a:rPr lang="en-GB" sz="1900" baseline="-25000" dirty="0">
                <a:solidFill>
                  <a:srgbClr val="000000"/>
                </a:solidFill>
                <a:latin typeface="Garamond" panose="02020404030301010803" pitchFamily="18" charset="0"/>
              </a:rPr>
              <a:t>C</a:t>
            </a:r>
            <a:r>
              <a:rPr lang="en-GB" sz="1900" dirty="0">
                <a:solidFill>
                  <a:srgbClr val="000000"/>
                </a:solidFill>
                <a:latin typeface="Garamond" panose="02020404030301010803" pitchFamily="18" charset="0"/>
              </a:rPr>
              <a:t>=6 </a:t>
            </a:r>
            <a:r>
              <a:rPr lang="en-GB" sz="1900" dirty="0" err="1">
                <a:solidFill>
                  <a:srgbClr val="000000"/>
                </a:solidFill>
                <a:latin typeface="Garamond" panose="02020404030301010803" pitchFamily="18" charset="0"/>
              </a:rPr>
              <a:t>kN.m</a:t>
            </a:r>
            <a:r>
              <a:rPr lang="en-GB" sz="1900" dirty="0">
                <a:solidFill>
                  <a:srgbClr val="000000"/>
                </a:solidFill>
                <a:latin typeface="Garamond" panose="02020404030301010803" pitchFamily="18" charset="0"/>
              </a:rPr>
              <a:t> (as before)</a:t>
            </a:r>
          </a:p>
          <a:p>
            <a:pPr fontAlgn="base"/>
            <a:r>
              <a:rPr lang="en-GB" sz="1900" dirty="0">
                <a:solidFill>
                  <a:srgbClr val="000000"/>
                </a:solidFill>
                <a:latin typeface="Garamond" panose="02020404030301010803" pitchFamily="18" charset="0"/>
              </a:rPr>
              <a:t>When x=4, M</a:t>
            </a:r>
            <a:r>
              <a:rPr lang="en-GB" sz="1900" baseline="-25000" dirty="0">
                <a:solidFill>
                  <a:srgbClr val="000000"/>
                </a:solidFill>
                <a:latin typeface="Garamond" panose="02020404030301010803" pitchFamily="18" charset="0"/>
              </a:rPr>
              <a:t>D</a:t>
            </a:r>
            <a:r>
              <a:rPr lang="en-GB" sz="1900" dirty="0">
                <a:solidFill>
                  <a:srgbClr val="000000"/>
                </a:solidFill>
                <a:latin typeface="Garamond" panose="02020404030301010803" pitchFamily="18" charset="0"/>
              </a:rPr>
              <a:t>=(3×4)+(3×2)=18 </a:t>
            </a:r>
            <a:r>
              <a:rPr lang="en-GB" sz="1900" dirty="0" err="1">
                <a:solidFill>
                  <a:srgbClr val="000000"/>
                </a:solidFill>
                <a:latin typeface="Garamond" panose="02020404030301010803" pitchFamily="18" charset="0"/>
              </a:rPr>
              <a:t>kN.m</a:t>
            </a:r>
            <a:endParaRPr lang="en-GB" sz="1900" dirty="0">
              <a:solidFill>
                <a:srgbClr val="000000"/>
              </a:solidFill>
              <a:latin typeface="Garamond" panose="02020404030301010803" pitchFamily="18" charset="0"/>
            </a:endParaRPr>
          </a:p>
          <a:p>
            <a:pPr fontAlgn="base"/>
            <a:endParaRPr lang="en-GB" sz="1900" dirty="0" smtClean="0">
              <a:solidFill>
                <a:srgbClr val="000000"/>
              </a:solidFill>
              <a:latin typeface="Garamond" panose="02020404030301010803" pitchFamily="18" charset="0"/>
            </a:endParaRPr>
          </a:p>
          <a:p>
            <a:pPr fontAlgn="base"/>
            <a:r>
              <a:rPr lang="en-GB" sz="1900" dirty="0" smtClean="0">
                <a:solidFill>
                  <a:srgbClr val="000000"/>
                </a:solidFill>
                <a:latin typeface="Garamond" panose="02020404030301010803" pitchFamily="18" charset="0"/>
              </a:rPr>
              <a:t>Between </a:t>
            </a:r>
            <a:r>
              <a:rPr lang="en-GB" sz="1900" dirty="0">
                <a:solidFill>
                  <a:srgbClr val="000000"/>
                </a:solidFill>
                <a:latin typeface="Garamond" panose="02020404030301010803" pitchFamily="18" charset="0"/>
              </a:rPr>
              <a:t>D and B,</a:t>
            </a:r>
          </a:p>
          <a:p>
            <a:pPr fontAlgn="base"/>
            <a:r>
              <a:rPr lang="en-GB" sz="1900" dirty="0" err="1">
                <a:solidFill>
                  <a:srgbClr val="000000"/>
                </a:solidFill>
                <a:latin typeface="Garamond" panose="02020404030301010803" pitchFamily="18" charset="0"/>
              </a:rPr>
              <a:t>M</a:t>
            </a:r>
            <a:r>
              <a:rPr lang="en-GB" sz="1900" baseline="-25000" dirty="0" err="1">
                <a:solidFill>
                  <a:srgbClr val="000000"/>
                </a:solidFill>
                <a:latin typeface="Garamond" panose="02020404030301010803" pitchFamily="18" charset="0"/>
              </a:rPr>
              <a:t>x</a:t>
            </a:r>
            <a:r>
              <a:rPr lang="en-GB" sz="1900" dirty="0">
                <a:solidFill>
                  <a:srgbClr val="000000"/>
                </a:solidFill>
                <a:latin typeface="Garamond" panose="02020404030301010803" pitchFamily="18" charset="0"/>
              </a:rPr>
              <a:t>=3x+3(x-2)+2(x-4)         …… (linear)</a:t>
            </a:r>
          </a:p>
          <a:p>
            <a:pPr fontAlgn="base"/>
            <a:r>
              <a:rPr lang="en-GB" sz="1900" dirty="0">
                <a:solidFill>
                  <a:srgbClr val="000000"/>
                </a:solidFill>
                <a:latin typeface="Garamond" panose="02020404030301010803" pitchFamily="18" charset="0"/>
              </a:rPr>
              <a:t>When x=4, M</a:t>
            </a:r>
            <a:r>
              <a:rPr lang="en-GB" sz="1900" baseline="-25000" dirty="0">
                <a:solidFill>
                  <a:srgbClr val="000000"/>
                </a:solidFill>
                <a:latin typeface="Garamond" panose="02020404030301010803" pitchFamily="18" charset="0"/>
              </a:rPr>
              <a:t>D</a:t>
            </a:r>
            <a:r>
              <a:rPr lang="en-GB" sz="1900" dirty="0">
                <a:solidFill>
                  <a:srgbClr val="000000"/>
                </a:solidFill>
                <a:latin typeface="Garamond" panose="02020404030301010803" pitchFamily="18" charset="0"/>
              </a:rPr>
              <a:t>=12+6=18 </a:t>
            </a:r>
            <a:r>
              <a:rPr lang="en-GB" sz="1900" dirty="0" err="1">
                <a:solidFill>
                  <a:srgbClr val="000000"/>
                </a:solidFill>
                <a:latin typeface="Garamond" panose="02020404030301010803" pitchFamily="18" charset="0"/>
              </a:rPr>
              <a:t>kN.m</a:t>
            </a:r>
            <a:r>
              <a:rPr lang="en-GB" sz="1900" dirty="0">
                <a:solidFill>
                  <a:srgbClr val="000000"/>
                </a:solidFill>
                <a:latin typeface="Garamond" panose="02020404030301010803" pitchFamily="18" charset="0"/>
              </a:rPr>
              <a:t> (as before)</a:t>
            </a:r>
          </a:p>
          <a:p>
            <a:pPr fontAlgn="base"/>
            <a:r>
              <a:rPr lang="en-GB" sz="1900" dirty="0">
                <a:solidFill>
                  <a:srgbClr val="000000"/>
                </a:solidFill>
                <a:latin typeface="Garamond" panose="02020404030301010803" pitchFamily="18" charset="0"/>
              </a:rPr>
              <a:t>When x=5, M</a:t>
            </a:r>
            <a:r>
              <a:rPr lang="en-GB" sz="1900" baseline="-25000" dirty="0">
                <a:solidFill>
                  <a:srgbClr val="000000"/>
                </a:solidFill>
                <a:latin typeface="Garamond" panose="02020404030301010803" pitchFamily="18" charset="0"/>
              </a:rPr>
              <a:t>B</a:t>
            </a:r>
            <a:r>
              <a:rPr lang="en-GB" sz="1900" dirty="0">
                <a:solidFill>
                  <a:srgbClr val="000000"/>
                </a:solidFill>
                <a:latin typeface="Garamond" panose="02020404030301010803" pitchFamily="18" charset="0"/>
              </a:rPr>
              <a:t>=15+9+2=26 </a:t>
            </a:r>
            <a:r>
              <a:rPr lang="en-GB" sz="1900" dirty="0" err="1">
                <a:solidFill>
                  <a:srgbClr val="000000"/>
                </a:solidFill>
                <a:latin typeface="Garamond" panose="02020404030301010803" pitchFamily="18" charset="0"/>
              </a:rPr>
              <a:t>kN.m</a:t>
            </a:r>
            <a:r>
              <a:rPr lang="en-GB" sz="1900" dirty="0">
                <a:solidFill>
                  <a:srgbClr val="000000"/>
                </a:solidFill>
                <a:latin typeface="Garamond" panose="02020404030301010803" pitchFamily="18" charset="0"/>
              </a:rPr>
              <a:t>.</a:t>
            </a:r>
          </a:p>
          <a:p>
            <a:pPr fontAlgn="base"/>
            <a:r>
              <a:rPr lang="en-GB" sz="1900" dirty="0">
                <a:solidFill>
                  <a:srgbClr val="000000"/>
                </a:solidFill>
                <a:latin typeface="Garamond" panose="02020404030301010803" pitchFamily="18" charset="0"/>
              </a:rPr>
              <a:t>The B.M.D. is shown in </a:t>
            </a:r>
            <a:r>
              <a:rPr lang="en-GB" sz="1900" dirty="0" smtClean="0">
                <a:solidFill>
                  <a:srgbClr val="000000"/>
                </a:solidFill>
                <a:latin typeface="Garamond" panose="02020404030301010803" pitchFamily="18" charset="0"/>
              </a:rPr>
              <a:t>(</a:t>
            </a:r>
            <a:r>
              <a:rPr lang="en-GB" sz="1900" dirty="0">
                <a:solidFill>
                  <a:srgbClr val="000000"/>
                </a:solidFill>
                <a:latin typeface="Garamond" panose="02020404030301010803" pitchFamily="18" charset="0"/>
              </a:rPr>
              <a:t>c).</a:t>
            </a:r>
            <a:endParaRPr lang="en-GB" sz="1900" b="0" i="0" dirty="0">
              <a:solidFill>
                <a:srgbClr val="000000"/>
              </a:solidFill>
              <a:effectLst/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17506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7748" y="0"/>
            <a:ext cx="8488016" cy="1077507"/>
          </a:xfrm>
        </p:spPr>
        <p:txBody>
          <a:bodyPr/>
          <a:lstStyle/>
          <a:p>
            <a:r>
              <a:rPr lang="en-GB" sz="3500" b="1" dirty="0"/>
              <a:t>Cantilever with </a:t>
            </a:r>
            <a:r>
              <a:rPr lang="en-GB" sz="3500" b="1" dirty="0" smtClean="0"/>
              <a:t>Uniformly Distributed Load over Whole Span</a:t>
            </a:r>
            <a:endParaRPr lang="en-US" sz="35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915" y="1192634"/>
            <a:ext cx="4377128" cy="48228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611756" y="1411383"/>
            <a:ext cx="4572000" cy="4708981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GB" sz="2000" b="1" dirty="0" smtClean="0">
                <a:solidFill>
                  <a:srgbClr val="000000"/>
                </a:solidFill>
                <a:latin typeface="Garamond" panose="02020404030301010803" pitchFamily="18" charset="0"/>
              </a:rPr>
              <a:t>Shear Force Diagram</a:t>
            </a:r>
          </a:p>
          <a:p>
            <a:pPr fontAlgn="base"/>
            <a:endParaRPr lang="en-GB" sz="2000" dirty="0" smtClean="0">
              <a:solidFill>
                <a:srgbClr val="000000"/>
              </a:solidFill>
              <a:latin typeface="Garamond" panose="02020404030301010803" pitchFamily="18" charset="0"/>
            </a:endParaRPr>
          </a:p>
          <a:p>
            <a:pPr fontAlgn="base"/>
            <a:r>
              <a:rPr lang="en-GB" sz="2000" dirty="0" smtClean="0">
                <a:solidFill>
                  <a:srgbClr val="000000"/>
                </a:solidFill>
                <a:latin typeface="Garamond" panose="02020404030301010803" pitchFamily="18" charset="0"/>
              </a:rPr>
              <a:t>At </a:t>
            </a:r>
            <a:r>
              <a:rPr lang="en-GB" sz="2000" dirty="0">
                <a:solidFill>
                  <a:srgbClr val="000000"/>
                </a:solidFill>
                <a:latin typeface="Garamond" panose="02020404030301010803" pitchFamily="18" charset="0"/>
              </a:rPr>
              <a:t>any section x from A</a:t>
            </a:r>
          </a:p>
          <a:p>
            <a:pPr fontAlgn="base"/>
            <a:r>
              <a:rPr lang="en-GB" sz="2000" dirty="0" err="1">
                <a:solidFill>
                  <a:srgbClr val="000000"/>
                </a:solidFill>
                <a:latin typeface="Garamond" panose="02020404030301010803" pitchFamily="18" charset="0"/>
              </a:rPr>
              <a:t>F</a:t>
            </a:r>
            <a:r>
              <a:rPr lang="en-GB" sz="2000" baseline="-25000" dirty="0" err="1">
                <a:solidFill>
                  <a:srgbClr val="000000"/>
                </a:solidFill>
                <a:latin typeface="Garamond" panose="02020404030301010803" pitchFamily="18" charset="0"/>
              </a:rPr>
              <a:t>x</a:t>
            </a:r>
            <a:r>
              <a:rPr lang="en-GB" sz="2000" dirty="0">
                <a:solidFill>
                  <a:srgbClr val="000000"/>
                </a:solidFill>
                <a:latin typeface="Garamond" panose="02020404030301010803" pitchFamily="18" charset="0"/>
              </a:rPr>
              <a:t>=-</a:t>
            </a:r>
            <a:r>
              <a:rPr lang="en-GB" sz="2000" dirty="0" err="1">
                <a:solidFill>
                  <a:srgbClr val="000000"/>
                </a:solidFill>
                <a:latin typeface="Garamond" panose="02020404030301010803" pitchFamily="18" charset="0"/>
              </a:rPr>
              <a:t>wx</a:t>
            </a:r>
            <a:r>
              <a:rPr lang="en-GB" sz="2000" dirty="0">
                <a:solidFill>
                  <a:srgbClr val="000000"/>
                </a:solidFill>
                <a:latin typeface="Garamond" panose="02020404030301010803" pitchFamily="18" charset="0"/>
              </a:rPr>
              <a:t>                                   (linear</a:t>
            </a:r>
            <a:r>
              <a:rPr lang="en-GB" sz="2000" dirty="0" smtClean="0">
                <a:solidFill>
                  <a:srgbClr val="000000"/>
                </a:solidFill>
                <a:latin typeface="Garamond" panose="02020404030301010803" pitchFamily="18" charset="0"/>
              </a:rPr>
              <a:t>)</a:t>
            </a:r>
          </a:p>
          <a:p>
            <a:pPr fontAlgn="base"/>
            <a:endParaRPr lang="en-GB" sz="2000" dirty="0">
              <a:solidFill>
                <a:srgbClr val="000000"/>
              </a:solidFill>
              <a:latin typeface="Garamond" panose="02020404030301010803" pitchFamily="18" charset="0"/>
            </a:endParaRPr>
          </a:p>
          <a:p>
            <a:pPr fontAlgn="base"/>
            <a:r>
              <a:rPr lang="en-GB" sz="2000" dirty="0">
                <a:solidFill>
                  <a:srgbClr val="000000"/>
                </a:solidFill>
                <a:latin typeface="Garamond" panose="02020404030301010803" pitchFamily="18" charset="0"/>
              </a:rPr>
              <a:t>When x=0, F</a:t>
            </a:r>
            <a:r>
              <a:rPr lang="en-GB" sz="2000" baseline="-25000" dirty="0">
                <a:solidFill>
                  <a:srgbClr val="000000"/>
                </a:solidFill>
                <a:latin typeface="Garamond" panose="02020404030301010803" pitchFamily="18" charset="0"/>
              </a:rPr>
              <a:t>A</a:t>
            </a:r>
            <a:r>
              <a:rPr lang="en-GB" sz="2000" dirty="0">
                <a:solidFill>
                  <a:srgbClr val="000000"/>
                </a:solidFill>
                <a:latin typeface="Garamond" panose="02020404030301010803" pitchFamily="18" charset="0"/>
              </a:rPr>
              <a:t>=0 ; when x = L, F</a:t>
            </a:r>
            <a:r>
              <a:rPr lang="en-GB" sz="2000" baseline="-25000" dirty="0">
                <a:solidFill>
                  <a:srgbClr val="000000"/>
                </a:solidFill>
                <a:latin typeface="Garamond" panose="02020404030301010803" pitchFamily="18" charset="0"/>
              </a:rPr>
              <a:t>B</a:t>
            </a:r>
            <a:r>
              <a:rPr lang="en-GB" sz="2000" dirty="0">
                <a:solidFill>
                  <a:srgbClr val="000000"/>
                </a:solidFill>
                <a:latin typeface="Garamond" panose="02020404030301010803" pitchFamily="18" charset="0"/>
              </a:rPr>
              <a:t> = – </a:t>
            </a:r>
            <a:r>
              <a:rPr lang="en-GB" sz="2000" dirty="0" err="1">
                <a:solidFill>
                  <a:srgbClr val="000000"/>
                </a:solidFill>
                <a:latin typeface="Garamond" panose="02020404030301010803" pitchFamily="18" charset="0"/>
              </a:rPr>
              <a:t>wL</a:t>
            </a:r>
            <a:r>
              <a:rPr lang="en-GB" sz="2000" dirty="0" smtClean="0">
                <a:solidFill>
                  <a:srgbClr val="000000"/>
                </a:solidFill>
                <a:latin typeface="Garamond" panose="02020404030301010803" pitchFamily="18" charset="0"/>
              </a:rPr>
              <a:t>.</a:t>
            </a:r>
          </a:p>
          <a:p>
            <a:pPr fontAlgn="base"/>
            <a:endParaRPr lang="en-GB" sz="2000" dirty="0">
              <a:solidFill>
                <a:srgbClr val="000000"/>
              </a:solidFill>
              <a:latin typeface="Garamond" panose="02020404030301010803" pitchFamily="18" charset="0"/>
            </a:endParaRPr>
          </a:p>
          <a:p>
            <a:pPr fontAlgn="base"/>
            <a:r>
              <a:rPr lang="en-GB" sz="2000" dirty="0">
                <a:solidFill>
                  <a:srgbClr val="000000"/>
                </a:solidFill>
                <a:latin typeface="Garamond" panose="02020404030301010803" pitchFamily="18" charset="0"/>
              </a:rPr>
              <a:t>The S.F.D. will be triangle, as shown in </a:t>
            </a:r>
            <a:endParaRPr lang="en-GB" sz="2000" dirty="0" smtClean="0">
              <a:solidFill>
                <a:srgbClr val="000000"/>
              </a:solidFill>
              <a:latin typeface="Garamond" panose="02020404030301010803" pitchFamily="18" charset="0"/>
            </a:endParaRPr>
          </a:p>
          <a:p>
            <a:pPr fontAlgn="base"/>
            <a:r>
              <a:rPr lang="en-GB" sz="2000" dirty="0" smtClean="0">
                <a:solidFill>
                  <a:srgbClr val="000000"/>
                </a:solidFill>
                <a:latin typeface="Garamond" panose="02020404030301010803" pitchFamily="18" charset="0"/>
              </a:rPr>
              <a:t>Fig</a:t>
            </a:r>
            <a:r>
              <a:rPr lang="en-GB" sz="2000" dirty="0">
                <a:solidFill>
                  <a:srgbClr val="000000"/>
                </a:solidFill>
                <a:latin typeface="Garamond" panose="02020404030301010803" pitchFamily="18" charset="0"/>
              </a:rPr>
              <a:t>. </a:t>
            </a:r>
            <a:r>
              <a:rPr lang="en-GB" sz="2000" dirty="0" smtClean="0">
                <a:solidFill>
                  <a:srgbClr val="000000"/>
                </a:solidFill>
                <a:latin typeface="Garamond" panose="02020404030301010803" pitchFamily="18" charset="0"/>
              </a:rPr>
              <a:t>(b),</a:t>
            </a:r>
          </a:p>
          <a:p>
            <a:pPr fontAlgn="base"/>
            <a:endParaRPr lang="en-GB" sz="2000" b="0" i="0" dirty="0">
              <a:solidFill>
                <a:srgbClr val="000000"/>
              </a:solidFill>
              <a:effectLst/>
              <a:latin typeface="Garamond" panose="02020404030301010803" pitchFamily="18" charset="0"/>
            </a:endParaRPr>
          </a:p>
          <a:p>
            <a:pPr fontAlgn="base"/>
            <a:r>
              <a:rPr lang="en-GB" sz="2000" b="1" dirty="0" smtClean="0">
                <a:latin typeface="Garamond" panose="02020404030301010803" pitchFamily="18" charset="0"/>
              </a:rPr>
              <a:t>Bending Moment Diagram</a:t>
            </a:r>
            <a:r>
              <a:rPr lang="en-GB" sz="2000" dirty="0">
                <a:latin typeface="Garamond" panose="02020404030301010803" pitchFamily="18" charset="0"/>
              </a:rPr>
              <a:t>    </a:t>
            </a:r>
            <a:r>
              <a:rPr lang="en-GB" sz="2000" dirty="0" smtClean="0">
                <a:latin typeface="Garamond" panose="02020404030301010803" pitchFamily="18" charset="0"/>
              </a:rPr>
              <a:t>  </a:t>
            </a:r>
            <a:r>
              <a:rPr lang="en-GB" sz="2000" dirty="0">
                <a:latin typeface="Garamond" panose="02020404030301010803" pitchFamily="18" charset="0"/>
              </a:rPr>
              <a:t>(parabolic)</a:t>
            </a:r>
          </a:p>
          <a:p>
            <a:pPr fontAlgn="base"/>
            <a:r>
              <a:rPr lang="en-GB" sz="2000" dirty="0">
                <a:latin typeface="Garamond" panose="02020404030301010803" pitchFamily="18" charset="0"/>
              </a:rPr>
              <a:t>When x=0, M</a:t>
            </a:r>
            <a:r>
              <a:rPr lang="en-GB" sz="2000" baseline="-25000" dirty="0">
                <a:latin typeface="Garamond" panose="02020404030301010803" pitchFamily="18" charset="0"/>
              </a:rPr>
              <a:t>A</a:t>
            </a:r>
            <a:r>
              <a:rPr lang="en-GB" sz="2000" dirty="0">
                <a:latin typeface="Garamond" panose="02020404030301010803" pitchFamily="18" charset="0"/>
              </a:rPr>
              <a:t>=0 ; When x=L, .</a:t>
            </a:r>
          </a:p>
          <a:p>
            <a:pPr fontAlgn="base"/>
            <a:r>
              <a:rPr lang="en-GB" sz="2000" dirty="0">
                <a:latin typeface="Garamond" panose="02020404030301010803" pitchFamily="18" charset="0"/>
              </a:rPr>
              <a:t>The B.M.D. will be a parabola, as shown in </a:t>
            </a:r>
            <a:r>
              <a:rPr lang="en-GB" sz="2000" dirty="0" smtClean="0">
                <a:latin typeface="Garamond" panose="02020404030301010803" pitchFamily="18" charset="0"/>
              </a:rPr>
              <a:t>(c).</a:t>
            </a:r>
            <a:endParaRPr lang="en-GB" sz="2000" dirty="0">
              <a:latin typeface="Garamond" panose="02020404030301010803" pitchFamily="18" charset="0"/>
            </a:endParaRPr>
          </a:p>
          <a:p>
            <a:pPr fontAlgn="base"/>
            <a:endParaRPr lang="en-GB" sz="2000" b="0" i="0" dirty="0">
              <a:solidFill>
                <a:srgbClr val="000000"/>
              </a:solidFill>
              <a:effectLst/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0634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Bending Stresses In Beams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4852" y="1152457"/>
            <a:ext cx="8630912" cy="5025457"/>
          </a:xfrm>
        </p:spPr>
        <p:txBody>
          <a:bodyPr>
            <a:normAutofit/>
          </a:bodyPr>
          <a:lstStyle/>
          <a:p>
            <a:pPr algn="just"/>
            <a:r>
              <a:rPr lang="en-GB" sz="2400" dirty="0">
                <a:latin typeface="Garamond" panose="02020404030301010803" pitchFamily="18" charset="0"/>
              </a:rPr>
              <a:t>The bending moment, M, along the length of the beam can be determined from the moment diagram. </a:t>
            </a:r>
            <a:endParaRPr lang="en-GB" sz="2400" dirty="0" smtClean="0">
              <a:latin typeface="Garamond" panose="02020404030301010803" pitchFamily="18" charset="0"/>
            </a:endParaRPr>
          </a:p>
          <a:p>
            <a:pPr algn="just"/>
            <a:r>
              <a:rPr lang="en-GB" sz="2400" dirty="0" smtClean="0">
                <a:latin typeface="Garamond" panose="02020404030301010803" pitchFamily="18" charset="0"/>
              </a:rPr>
              <a:t>The </a:t>
            </a:r>
            <a:r>
              <a:rPr lang="en-GB" sz="2400" dirty="0">
                <a:latin typeface="Garamond" panose="02020404030301010803" pitchFamily="18" charset="0"/>
              </a:rPr>
              <a:t>bending moment at any location along the beam can then be used to calculate the bending stress over the beam's cross section at that location. </a:t>
            </a:r>
            <a:endParaRPr lang="en-GB" sz="2400" dirty="0" smtClean="0">
              <a:latin typeface="Garamond" panose="02020404030301010803" pitchFamily="18" charset="0"/>
            </a:endParaRPr>
          </a:p>
          <a:p>
            <a:pPr algn="just"/>
            <a:r>
              <a:rPr lang="en-GB" sz="2400" dirty="0" smtClean="0">
                <a:latin typeface="Garamond" panose="02020404030301010803" pitchFamily="18" charset="0"/>
              </a:rPr>
              <a:t>The </a:t>
            </a:r>
            <a:r>
              <a:rPr lang="en-GB" sz="2400" dirty="0">
                <a:latin typeface="Garamond" panose="02020404030301010803" pitchFamily="18" charset="0"/>
              </a:rPr>
              <a:t>bending moment varies over the height of the cross section according to the </a:t>
            </a:r>
            <a:r>
              <a:rPr lang="en-GB" sz="2400" b="1" i="1" dirty="0">
                <a:solidFill>
                  <a:srgbClr val="FF0000"/>
                </a:solidFill>
                <a:latin typeface="Garamond" panose="02020404030301010803" pitchFamily="18" charset="0"/>
              </a:rPr>
              <a:t>flexure formula</a:t>
            </a:r>
            <a:r>
              <a:rPr lang="en-GB" sz="2400" dirty="0">
                <a:latin typeface="Garamond" panose="02020404030301010803" pitchFamily="18" charset="0"/>
              </a:rPr>
              <a:t> below:</a:t>
            </a:r>
            <a:endParaRPr lang="en-US" sz="2400" dirty="0">
              <a:latin typeface="Garamond" panose="020204040303010108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822833" y="4005817"/>
                <a:ext cx="1788923" cy="7683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𝝈</m:t>
                          </m:r>
                        </m:e>
                        <m:sub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sub>
                      </m:sSub>
                      <m:r>
                        <a:rPr lang="en-GB" sz="2400" b="1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sz="2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1" i="1" smtClean="0">
                              <a:latin typeface="Cambria Math" panose="02040503050406030204" pitchFamily="18" charset="0"/>
                            </a:rPr>
                            <m:t>𝑴𝒚</m:t>
                          </m:r>
                        </m:num>
                        <m:den>
                          <m:sSub>
                            <m:sSubPr>
                              <m:ctrlP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GB" sz="2400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b="1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2833" y="4005817"/>
                <a:ext cx="1788923" cy="76835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84375" y="4572133"/>
                <a:ext cx="7511865" cy="178510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200" dirty="0" smtClean="0">
                    <a:latin typeface="Garamond" panose="02020404030301010803" pitchFamily="18" charset="0"/>
                  </a:rPr>
                  <a:t>Where: </a:t>
                </a:r>
              </a:p>
              <a:p>
                <a:r>
                  <a:rPr lang="en-GB" sz="2200" b="1" dirty="0" smtClean="0">
                    <a:latin typeface="Garamond" panose="02020404030301010803" pitchFamily="18" charset="0"/>
                  </a:rPr>
                  <a:t>M</a:t>
                </a:r>
                <a:r>
                  <a:rPr lang="en-GB" sz="2200" dirty="0" smtClean="0">
                    <a:latin typeface="Garamond" panose="02020404030301010803" pitchFamily="18" charset="0"/>
                  </a:rPr>
                  <a:t> is bending moment at location of interest</a:t>
                </a:r>
              </a:p>
              <a:p>
                <a:r>
                  <a:rPr lang="en-GB" sz="2200" dirty="0">
                    <a:latin typeface="Garamond" panose="02020404030301010803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2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200" b="1" i="1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GB" sz="2200" b="1" i="1"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en-US" sz="2200" dirty="0" smtClean="0">
                    <a:latin typeface="Garamond" panose="02020404030301010803" pitchFamily="18" charset="0"/>
                  </a:rPr>
                  <a:t> is </a:t>
                </a:r>
                <a:r>
                  <a:rPr lang="en-GB" sz="2200" dirty="0">
                    <a:latin typeface="Garamond" panose="02020404030301010803" pitchFamily="18" charset="0"/>
                  </a:rPr>
                  <a:t> </a:t>
                </a:r>
                <a:r>
                  <a:rPr lang="en-GB" sz="2200" dirty="0" smtClean="0">
                    <a:latin typeface="Garamond" panose="02020404030301010803" pitchFamily="18" charset="0"/>
                  </a:rPr>
                  <a:t>the</a:t>
                </a:r>
                <a:r>
                  <a:rPr lang="en-GB" sz="2200" dirty="0">
                    <a:latin typeface="Garamond" panose="02020404030301010803" pitchFamily="18" charset="0"/>
                  </a:rPr>
                  <a:t> </a:t>
                </a:r>
                <a:r>
                  <a:rPr lang="en-GB" sz="2200" dirty="0" err="1">
                    <a:latin typeface="Garamond" panose="02020404030301010803" pitchFamily="18" charset="0"/>
                  </a:rPr>
                  <a:t>centroidal</a:t>
                </a:r>
                <a:r>
                  <a:rPr lang="en-GB" sz="2200" dirty="0">
                    <a:latin typeface="Garamond" panose="02020404030301010803" pitchFamily="18" charset="0"/>
                  </a:rPr>
                  <a:t> moment of inertia of the beam's cross </a:t>
                </a:r>
                <a:r>
                  <a:rPr lang="en-GB" sz="2200" dirty="0" smtClean="0">
                    <a:latin typeface="Garamond" panose="02020404030301010803" pitchFamily="18" charset="0"/>
                  </a:rPr>
                  <a:t>section</a:t>
                </a:r>
              </a:p>
              <a:p>
                <a:r>
                  <a:rPr lang="en-GB" sz="2200" dirty="0" smtClean="0">
                    <a:latin typeface="Garamond" panose="02020404030301010803" pitchFamily="18" charset="0"/>
                  </a:rPr>
                  <a:t> </a:t>
                </a:r>
                <a:r>
                  <a:rPr lang="en-GB" sz="2200" b="1" dirty="0" smtClean="0">
                    <a:latin typeface="Garamond" panose="02020404030301010803" pitchFamily="18" charset="0"/>
                  </a:rPr>
                  <a:t>y</a:t>
                </a:r>
                <a:r>
                  <a:rPr lang="en-GB" sz="2200" dirty="0" smtClean="0">
                    <a:latin typeface="Garamond" panose="02020404030301010803" pitchFamily="18" charset="0"/>
                  </a:rPr>
                  <a:t> </a:t>
                </a:r>
                <a:r>
                  <a:rPr lang="en-GB" sz="2200" dirty="0">
                    <a:latin typeface="Garamond" panose="02020404030301010803" pitchFamily="18" charset="0"/>
                  </a:rPr>
                  <a:t>is the distance from the beam's neutral axis to the point of </a:t>
                </a:r>
                <a:endParaRPr lang="en-GB" sz="2200" dirty="0" smtClean="0">
                  <a:latin typeface="Garamond" panose="02020404030301010803" pitchFamily="18" charset="0"/>
                </a:endParaRPr>
              </a:p>
              <a:p>
                <a:r>
                  <a:rPr lang="en-GB" sz="2200" dirty="0">
                    <a:latin typeface="Garamond" panose="02020404030301010803" pitchFamily="18" charset="0"/>
                  </a:rPr>
                  <a:t> </a:t>
                </a:r>
                <a:r>
                  <a:rPr lang="en-GB" sz="2200" dirty="0" smtClean="0">
                    <a:latin typeface="Garamond" panose="02020404030301010803" pitchFamily="18" charset="0"/>
                  </a:rPr>
                  <a:t>      interest </a:t>
                </a:r>
                <a:r>
                  <a:rPr lang="en-GB" sz="2200" dirty="0">
                    <a:latin typeface="Garamond" panose="02020404030301010803" pitchFamily="18" charset="0"/>
                  </a:rPr>
                  <a:t>along the height of the cross section</a:t>
                </a:r>
                <a:endParaRPr lang="en-US" sz="2200" dirty="0">
                  <a:latin typeface="Garamond" panose="02020404030301010803" pitchFamily="18" charset="0"/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375" y="4572133"/>
                <a:ext cx="7511865" cy="1785104"/>
              </a:xfrm>
              <a:prstGeom prst="rect">
                <a:avLst/>
              </a:prstGeom>
              <a:blipFill rotWithShape="0">
                <a:blip r:embed="rId3"/>
                <a:stretch>
                  <a:fillRect l="-1055" t="-2389" r="-81" b="-6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9716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Bending Stresses In Beams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0" y="1152457"/>
            <a:ext cx="9144000" cy="5025457"/>
          </a:xfrm>
        </p:spPr>
        <p:txBody>
          <a:bodyPr>
            <a:normAutofit/>
          </a:bodyPr>
          <a:lstStyle/>
          <a:p>
            <a:pPr algn="just"/>
            <a:r>
              <a:rPr lang="en-GB" dirty="0" smtClean="0">
                <a:latin typeface="Garamond" panose="02020404030301010803" pitchFamily="18" charset="0"/>
              </a:rPr>
              <a:t>Maximum bending stress is given by</a:t>
            </a:r>
            <a:endParaRPr lang="en-US" dirty="0">
              <a:latin typeface="Garamond" panose="02020404030301010803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2271699" y="2188391"/>
                <a:ext cx="2735016" cy="87915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𝝈</m:t>
                          </m:r>
                        </m:e>
                        <m:sub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𝒃𝒎𝒂𝒙</m:t>
                          </m:r>
                        </m:sub>
                      </m:sSub>
                      <m:r>
                        <a:rPr lang="en-GB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8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𝑴</m:t>
                          </m:r>
                          <m:r>
                            <a:rPr lang="en-GB" sz="28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num>
                        <m:den>
                          <m:sSub>
                            <m:sSubPr>
                              <m:ctrlPr>
                                <a:rPr lang="en-GB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800" b="1" i="1" smtClean="0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GB" sz="2800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800" b="1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1699" y="2188391"/>
                <a:ext cx="2735016" cy="879151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0" y="3435783"/>
                <a:ext cx="9501960" cy="181588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700" dirty="0" smtClean="0">
                    <a:latin typeface="Garamond" panose="02020404030301010803" pitchFamily="18" charset="0"/>
                  </a:rPr>
                  <a:t>Where: </a:t>
                </a:r>
              </a:p>
              <a:p>
                <a:r>
                  <a:rPr lang="en-GB" sz="2700" b="1" dirty="0" smtClean="0">
                    <a:latin typeface="Garamond" panose="02020404030301010803" pitchFamily="18" charset="0"/>
                  </a:rPr>
                  <a:t>M</a:t>
                </a:r>
                <a:r>
                  <a:rPr lang="en-GB" sz="2700" dirty="0" smtClean="0">
                    <a:latin typeface="Garamond" panose="02020404030301010803" pitchFamily="18" charset="0"/>
                  </a:rPr>
                  <a:t> is bending moment at location of interest</a:t>
                </a:r>
              </a:p>
              <a:p>
                <a:r>
                  <a:rPr lang="en-GB" sz="2700" dirty="0">
                    <a:latin typeface="Garamond" panose="02020404030301010803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7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700" b="1" i="1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GB" sz="2700" b="1" i="1">
                            <a:latin typeface="Cambria Math" panose="02040503050406030204" pitchFamily="18" charset="0"/>
                          </a:rPr>
                          <m:t>𝒄</m:t>
                        </m:r>
                      </m:sub>
                    </m:sSub>
                  </m:oMath>
                </a14:m>
                <a:r>
                  <a:rPr lang="en-US" sz="2700" dirty="0" smtClean="0">
                    <a:latin typeface="Garamond" panose="02020404030301010803" pitchFamily="18" charset="0"/>
                  </a:rPr>
                  <a:t> is </a:t>
                </a:r>
                <a:r>
                  <a:rPr lang="en-GB" sz="2700" dirty="0">
                    <a:latin typeface="Garamond" panose="02020404030301010803" pitchFamily="18" charset="0"/>
                  </a:rPr>
                  <a:t> </a:t>
                </a:r>
                <a:r>
                  <a:rPr lang="en-GB" sz="2700" dirty="0" smtClean="0">
                    <a:latin typeface="Garamond" panose="02020404030301010803" pitchFamily="18" charset="0"/>
                  </a:rPr>
                  <a:t>the</a:t>
                </a:r>
                <a:r>
                  <a:rPr lang="en-GB" sz="2700" dirty="0">
                    <a:latin typeface="Garamond" panose="02020404030301010803" pitchFamily="18" charset="0"/>
                  </a:rPr>
                  <a:t> </a:t>
                </a:r>
                <a:r>
                  <a:rPr lang="en-GB" sz="2700" dirty="0" err="1">
                    <a:latin typeface="Garamond" panose="02020404030301010803" pitchFamily="18" charset="0"/>
                  </a:rPr>
                  <a:t>centroidal</a:t>
                </a:r>
                <a:r>
                  <a:rPr lang="en-GB" sz="2700" dirty="0">
                    <a:latin typeface="Garamond" panose="02020404030301010803" pitchFamily="18" charset="0"/>
                  </a:rPr>
                  <a:t> moment of inertia of the beam's cross </a:t>
                </a:r>
                <a:r>
                  <a:rPr lang="en-GB" sz="2700" dirty="0" smtClean="0">
                    <a:latin typeface="Garamond" panose="02020404030301010803" pitchFamily="18" charset="0"/>
                  </a:rPr>
                  <a:t>section</a:t>
                </a:r>
              </a:p>
              <a:p>
                <a:r>
                  <a:rPr lang="en-GB" sz="2700" dirty="0" smtClean="0">
                    <a:latin typeface="Garamond" panose="02020404030301010803" pitchFamily="18" charset="0"/>
                  </a:rPr>
                  <a:t> </a:t>
                </a:r>
                <a:r>
                  <a:rPr lang="en-GB" sz="2700" b="1" dirty="0">
                    <a:latin typeface="Garamond" panose="02020404030301010803" pitchFamily="18" charset="0"/>
                  </a:rPr>
                  <a:t>y</a:t>
                </a:r>
                <a:r>
                  <a:rPr lang="en-GB" sz="2700" dirty="0" smtClean="0">
                    <a:latin typeface="Garamond" panose="02020404030301010803" pitchFamily="18" charset="0"/>
                  </a:rPr>
                  <a:t> </a:t>
                </a:r>
                <a:r>
                  <a:rPr lang="en-GB" sz="2700" dirty="0">
                    <a:latin typeface="Garamond" panose="02020404030301010803" pitchFamily="18" charset="0"/>
                  </a:rPr>
                  <a:t>is the  </a:t>
                </a:r>
                <a:r>
                  <a:rPr lang="en-GB" sz="2700" dirty="0" err="1">
                    <a:latin typeface="Garamond" panose="02020404030301010803" pitchFamily="18" charset="0"/>
                  </a:rPr>
                  <a:t>centroidal</a:t>
                </a:r>
                <a:r>
                  <a:rPr lang="en-GB" sz="2700" dirty="0">
                    <a:latin typeface="Garamond" panose="02020404030301010803" pitchFamily="18" charset="0"/>
                  </a:rPr>
                  <a:t> distance of the cross section</a:t>
                </a:r>
                <a:endParaRPr lang="en-US" sz="2700" dirty="0">
                  <a:latin typeface="Garamond" panose="02020404030301010803" pitchFamily="18" charset="0"/>
                </a:endParaRPr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435783"/>
                <a:ext cx="9501960" cy="1815882"/>
              </a:xfrm>
              <a:prstGeom prst="rect">
                <a:avLst/>
              </a:prstGeom>
              <a:blipFill rotWithShape="0">
                <a:blip r:embed="rId3"/>
                <a:stretch>
                  <a:fillRect l="-1219" t="-3030" b="-47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01893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Example 1</a:t>
            </a:r>
            <a:endParaRPr lang="en-US" b="1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488" y="1101296"/>
            <a:ext cx="5585401" cy="247516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2286488" y="3728648"/>
                <a:ext cx="5271764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smtClean="0"/>
                  <a:t> </a:t>
                </a:r>
                <a:r>
                  <a:rPr lang="en-US" sz="2400" dirty="0" smtClean="0">
                    <a:latin typeface="Garamond" panose="02020404030301010803" pitchFamily="18" charset="0"/>
                  </a:rPr>
                  <a:t>Given:</a:t>
                </a:r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sz="2400" b="0" i="0" dirty="0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GB" sz="2400" b="0" i="0" dirty="0" smtClean="0">
                            <a:latin typeface="Cambria Math" panose="02040503050406030204" pitchFamily="18" charset="0"/>
                          </a:rPr>
                          <m:t>c</m:t>
                        </m:r>
                      </m:sub>
                    </m:sSub>
                  </m:oMath>
                </a14:m>
                <a:r>
                  <a:rPr lang="en-US" sz="2400" dirty="0" smtClean="0">
                    <a:latin typeface="Garamond" panose="02020404030301010803" pitchFamily="18" charset="0"/>
                  </a:rPr>
                  <a:t> </a:t>
                </a:r>
                <a:r>
                  <a:rPr lang="en-US" sz="2400" dirty="0">
                    <a:latin typeface="Garamond" panose="02020404030301010803" pitchFamily="18" charset="0"/>
                  </a:rPr>
                  <a:t>= 4.74×10</a:t>
                </a:r>
                <a:r>
                  <a:rPr lang="en-US" sz="2400" baseline="30000" dirty="0">
                    <a:latin typeface="Garamond" panose="02020404030301010803" pitchFamily="18" charset="0"/>
                  </a:rPr>
                  <a:t>8</a:t>
                </a:r>
                <a:r>
                  <a:rPr lang="en-US" sz="2400" dirty="0">
                    <a:latin typeface="Garamond" panose="02020404030301010803" pitchFamily="18" charset="0"/>
                  </a:rPr>
                  <a:t> </a:t>
                </a:r>
                <a:r>
                  <a:rPr lang="en-US" sz="2400" dirty="0" smtClean="0">
                    <a:latin typeface="Garamond" panose="02020404030301010803" pitchFamily="18" charset="0"/>
                  </a:rPr>
                  <a:t>mm</a:t>
                </a:r>
              </a:p>
              <a:p>
                <a:r>
                  <a:rPr lang="en-GB" sz="2400" dirty="0" smtClean="0">
                    <a:latin typeface="Garamond" panose="02020404030301010803" pitchFamily="18" charset="0"/>
                  </a:rPr>
                  <a:t>Centroid = </a:t>
                </a:r>
                <a:r>
                  <a:rPr lang="en-US" sz="2400" dirty="0">
                    <a:latin typeface="Garamond" panose="02020404030301010803" pitchFamily="18" charset="0"/>
                  </a:rPr>
                  <a:t>216.29 </a:t>
                </a:r>
                <a:r>
                  <a:rPr lang="en-US" sz="2400" dirty="0" smtClean="0">
                    <a:latin typeface="Garamond" panose="02020404030301010803" pitchFamily="18" charset="0"/>
                  </a:rPr>
                  <a:t>mm</a:t>
                </a:r>
              </a:p>
              <a:p>
                <a:r>
                  <a:rPr lang="en-GB" sz="2400" dirty="0" smtClean="0">
                    <a:latin typeface="Garamond" panose="02020404030301010803" pitchFamily="18" charset="0"/>
                  </a:rPr>
                  <a:t>Maximum Bending Moment = </a:t>
                </a:r>
                <a:r>
                  <a:rPr lang="en-US" sz="2400" dirty="0">
                    <a:latin typeface="Garamond" panose="02020404030301010803" pitchFamily="18" charset="0"/>
                  </a:rPr>
                  <a:t>50,000 </a:t>
                </a:r>
                <a:r>
                  <a:rPr lang="en-US" sz="2400" dirty="0" smtClean="0">
                    <a:latin typeface="Garamond" panose="02020404030301010803" pitchFamily="18" charset="0"/>
                  </a:rPr>
                  <a:t>Nm</a:t>
                </a:r>
              </a:p>
              <a:p>
                <a:r>
                  <a:rPr lang="en-GB" sz="2400" dirty="0" smtClean="0">
                    <a:latin typeface="Garamond" panose="02020404030301010803" pitchFamily="18" charset="0"/>
                  </a:rPr>
                  <a:t>Then from</a:t>
                </a:r>
                <a:endParaRPr lang="en-US" sz="2400" dirty="0">
                  <a:latin typeface="Garamond" panose="02020404030301010803" pitchFamily="18" charset="0"/>
                </a:endParaRPr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488" y="3728648"/>
                <a:ext cx="5271764" cy="1569660"/>
              </a:xfrm>
              <a:prstGeom prst="rect">
                <a:avLst/>
              </a:prstGeom>
              <a:blipFill rotWithShape="0">
                <a:blip r:embed="rId3"/>
                <a:stretch>
                  <a:fillRect l="-1734" t="-3113" r="-925" b="-8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66829" y="5402008"/>
                <a:ext cx="2735016" cy="75386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𝑏𝑚𝑎𝑥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sSub>
                            <m:sSubPr>
                              <m:ctrlPr>
                                <a:rPr lang="en-GB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829" y="5402008"/>
                <a:ext cx="2735016" cy="753861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010546" y="5435980"/>
                <a:ext cx="6077803" cy="70134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𝑏𝑚𝑎𝑥</m:t>
                          </m:r>
                        </m:sub>
                      </m:sSub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50000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×0.216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4.78</m:t>
                          </m:r>
                          <m:r>
                            <a:rPr lang="en-GB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GB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−4</m:t>
                              </m:r>
                            </m:sup>
                          </m:sSup>
                        </m:den>
                      </m:f>
                      <m:r>
                        <a:rPr lang="en-GB" sz="2400" b="0" i="0" smtClean="0">
                          <a:latin typeface="Cambria Math" panose="02040503050406030204" pitchFamily="18" charset="0"/>
                        </a:rPr>
                        <m:t>=22.815</m:t>
                      </m:r>
                      <m:r>
                        <m:rPr>
                          <m:sty m:val="p"/>
                        </m:rPr>
                        <a:rPr lang="en-GB" sz="2400" b="0" i="0" smtClean="0">
                          <a:latin typeface="Cambria Math" panose="02040503050406030204" pitchFamily="18" charset="0"/>
                        </a:rPr>
                        <m:t>MPa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0546" y="5435980"/>
                <a:ext cx="6077803" cy="701346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02655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Example 2</a:t>
            </a:r>
            <a:endParaRPr lang="en-US" b="1" dirty="0"/>
          </a:p>
        </p:txBody>
      </p:sp>
      <p:sp>
        <p:nvSpPr>
          <p:cNvPr id="5" name="Content Placeholder 2"/>
          <p:cNvSpPr>
            <a:spLocks noGrp="1"/>
          </p:cNvSpPr>
          <p:nvPr>
            <p:ph sz="half" idx="1"/>
          </p:nvPr>
        </p:nvSpPr>
        <p:spPr>
          <a:xfrm>
            <a:off x="451985" y="1273158"/>
            <a:ext cx="8319541" cy="305899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dirty="0" smtClean="0">
                <a:latin typeface="Garamond" panose="02020404030301010803" pitchFamily="18" charset="0"/>
              </a:rPr>
              <a:t>A beam has a rectangular cross section 80mm wide and 100 mm deep. It is subjected to a bending moment of 15 </a:t>
            </a:r>
            <a:r>
              <a:rPr lang="en-GB" dirty="0" err="1" smtClean="0">
                <a:latin typeface="Garamond" panose="02020404030301010803" pitchFamily="18" charset="0"/>
              </a:rPr>
              <a:t>kNm</a:t>
            </a:r>
            <a:r>
              <a:rPr lang="en-GB" dirty="0" smtClean="0">
                <a:latin typeface="Garamond" panose="02020404030301010803" pitchFamily="18" charset="0"/>
              </a:rPr>
              <a:t> at a certain point along its length. It is made from metal with a modulus of elasticity of 180GPa. Calculate the maximum stress on the section.</a:t>
            </a:r>
            <a:endParaRPr lang="en-US"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3244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Solution</a:t>
            </a:r>
            <a:endParaRPr lang="en-US" b="1" dirty="0"/>
          </a:p>
        </p:txBody>
      </p:sp>
      <p:sp>
        <p:nvSpPr>
          <p:cNvPr id="5" name="TextBox 4"/>
          <p:cNvSpPr txBox="1"/>
          <p:nvPr/>
        </p:nvSpPr>
        <p:spPr>
          <a:xfrm>
            <a:off x="221034" y="1293417"/>
            <a:ext cx="8781443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600" dirty="0" smtClean="0">
                <a:latin typeface="Garamond" panose="02020404030301010803" pitchFamily="18" charset="0"/>
              </a:rPr>
              <a:t>B = 80 mm, h = 100 mm. The value of </a:t>
            </a:r>
            <a:r>
              <a:rPr lang="en-GB" sz="2600" b="1" dirty="0" smtClean="0">
                <a:latin typeface="Garamond" panose="02020404030301010803" pitchFamily="18" charset="0"/>
              </a:rPr>
              <a:t>y</a:t>
            </a:r>
            <a:r>
              <a:rPr lang="en-GB" sz="2600" dirty="0" smtClean="0">
                <a:latin typeface="Garamond" panose="02020404030301010803" pitchFamily="18" charset="0"/>
              </a:rPr>
              <a:t> </a:t>
            </a:r>
            <a:r>
              <a:rPr lang="en-GB" sz="2600" dirty="0" smtClean="0">
                <a:latin typeface="Garamond" panose="02020404030301010803" pitchFamily="18" charset="0"/>
              </a:rPr>
              <a:t>that gives the maximum </a:t>
            </a:r>
          </a:p>
          <a:p>
            <a:r>
              <a:rPr lang="en-GB" sz="2600" dirty="0" smtClean="0">
                <a:latin typeface="Garamond" panose="02020404030301010803" pitchFamily="18" charset="0"/>
              </a:rPr>
              <a:t>stress is therefore 50 mm. </a:t>
            </a:r>
            <a:endParaRPr lang="en-US" sz="2600" dirty="0">
              <a:latin typeface="Garamond" panose="02020404030301010803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748" y="2515289"/>
            <a:ext cx="8453938" cy="268629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9666" y="2813367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c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441555" y="4832255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c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29723" y="3820750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/>
              <a:t>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9489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Shear Stresses In Beams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4892" y="1152457"/>
            <a:ext cx="8690872" cy="5025457"/>
          </a:xfrm>
        </p:spPr>
        <p:txBody>
          <a:bodyPr/>
          <a:lstStyle/>
          <a:p>
            <a:pPr algn="just"/>
            <a:r>
              <a:rPr lang="en-GB" dirty="0">
                <a:latin typeface="Garamond" panose="02020404030301010803" pitchFamily="18" charset="0"/>
              </a:rPr>
              <a:t>The shear force, V, along the length of the beam can be determined from the shear diagram. </a:t>
            </a:r>
            <a:endParaRPr lang="en-GB" dirty="0" smtClean="0">
              <a:latin typeface="Garamond" panose="02020404030301010803" pitchFamily="18" charset="0"/>
            </a:endParaRPr>
          </a:p>
          <a:p>
            <a:pPr algn="just"/>
            <a:r>
              <a:rPr lang="en-GB" dirty="0" smtClean="0">
                <a:latin typeface="Garamond" panose="02020404030301010803" pitchFamily="18" charset="0"/>
              </a:rPr>
              <a:t>The </a:t>
            </a:r>
            <a:r>
              <a:rPr lang="en-GB" dirty="0">
                <a:latin typeface="Garamond" panose="02020404030301010803" pitchFamily="18" charset="0"/>
              </a:rPr>
              <a:t>shear force at any location along the beam can then be used to calculate the shear stress over the beam's cross section at that location. </a:t>
            </a:r>
            <a:endParaRPr lang="en-GB" dirty="0" smtClean="0">
              <a:latin typeface="Garamond" panose="02020404030301010803" pitchFamily="18" charset="0"/>
            </a:endParaRPr>
          </a:p>
          <a:p>
            <a:pPr algn="just"/>
            <a:r>
              <a:rPr lang="en-GB" dirty="0" smtClean="0">
                <a:latin typeface="Garamond" panose="02020404030301010803" pitchFamily="18" charset="0"/>
              </a:rPr>
              <a:t>The </a:t>
            </a:r>
            <a:r>
              <a:rPr lang="en-GB" dirty="0">
                <a:latin typeface="Garamond" panose="02020404030301010803" pitchFamily="18" charset="0"/>
              </a:rPr>
              <a:t>average shear stress over the cross section is given by:</a:t>
            </a:r>
            <a:endParaRPr lang="en-US" dirty="0">
              <a:latin typeface="Garamond" panose="020204040303010108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399345" y="4245812"/>
                <a:ext cx="1692578" cy="9187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𝝉</m:t>
                          </m:r>
                        </m:e>
                        <m:sub>
                          <m:r>
                            <a:rPr lang="en-GB" sz="3200" b="1" i="1" smtClean="0">
                              <a:latin typeface="Cambria Math" panose="02040503050406030204" pitchFamily="18" charset="0"/>
                            </a:rPr>
                            <m:t>𝒂𝒗𝒈</m:t>
                          </m:r>
                        </m:sub>
                      </m:sSub>
                      <m:r>
                        <a:rPr lang="en-GB" sz="32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32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1" i="1" smtClean="0">
                              <a:latin typeface="Cambria Math" panose="02040503050406030204" pitchFamily="18" charset="0"/>
                            </a:rPr>
                            <m:t>𝑽</m:t>
                          </m:r>
                        </m:num>
                        <m:den>
                          <m:r>
                            <a:rPr lang="en-GB" sz="3200" b="1" i="1" smtClean="0">
                              <a:latin typeface="Cambria Math" panose="02040503050406030204" pitchFamily="18" charset="0"/>
                            </a:rPr>
                            <m:t>𝑨</m:t>
                          </m:r>
                        </m:den>
                      </m:f>
                    </m:oMath>
                  </m:oMathPara>
                </a14:m>
                <a:endParaRPr lang="en-US" sz="3200" b="1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9345" y="4245812"/>
                <a:ext cx="1692578" cy="918778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9260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Shear Stresses In Beams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4892" y="1152457"/>
            <a:ext cx="8690872" cy="5025457"/>
          </a:xfrm>
        </p:spPr>
        <p:txBody>
          <a:bodyPr>
            <a:normAutofit/>
          </a:bodyPr>
          <a:lstStyle/>
          <a:p>
            <a:pPr algn="just"/>
            <a:r>
              <a:rPr lang="en-GB" sz="2500" dirty="0" smtClean="0">
                <a:latin typeface="Garamond" panose="02020404030301010803" pitchFamily="18" charset="0"/>
              </a:rPr>
              <a:t>The </a:t>
            </a:r>
            <a:r>
              <a:rPr lang="en-GB" sz="2500" dirty="0">
                <a:latin typeface="Garamond" panose="02020404030301010803" pitchFamily="18" charset="0"/>
              </a:rPr>
              <a:t>shear stress varies over the height of the cross section, as shown in the figure below</a:t>
            </a:r>
            <a:r>
              <a:rPr lang="en-GB" sz="2500" dirty="0" smtClean="0">
                <a:latin typeface="Garamond" panose="02020404030301010803" pitchFamily="18" charset="0"/>
              </a:rPr>
              <a:t>:</a:t>
            </a:r>
          </a:p>
          <a:p>
            <a:pPr algn="just"/>
            <a:endParaRPr lang="en-GB" sz="2500" dirty="0">
              <a:latin typeface="Garamond" panose="02020404030301010803" pitchFamily="18" charset="0"/>
            </a:endParaRPr>
          </a:p>
          <a:p>
            <a:pPr algn="just"/>
            <a:endParaRPr lang="en-GB" sz="2500" dirty="0" smtClean="0">
              <a:latin typeface="Garamond" panose="02020404030301010803" pitchFamily="18" charset="0"/>
            </a:endParaRPr>
          </a:p>
          <a:p>
            <a:pPr algn="just"/>
            <a:endParaRPr lang="en-GB" sz="2500" dirty="0">
              <a:latin typeface="Garamond" panose="02020404030301010803" pitchFamily="18" charset="0"/>
            </a:endParaRPr>
          </a:p>
          <a:p>
            <a:pPr algn="just"/>
            <a:endParaRPr lang="en-GB" sz="2500" dirty="0" smtClean="0">
              <a:latin typeface="Garamond" panose="02020404030301010803" pitchFamily="18" charset="0"/>
            </a:endParaRPr>
          </a:p>
          <a:p>
            <a:pPr algn="just"/>
            <a:r>
              <a:rPr lang="en-GB" sz="2500" dirty="0" smtClean="0">
                <a:latin typeface="Garamond" panose="02020404030301010803" pitchFamily="18" charset="0"/>
              </a:rPr>
              <a:t>The equation for shear stress at any point located a distance y</a:t>
            </a:r>
            <a:r>
              <a:rPr lang="en-GB" sz="2500" baseline="-25000" dirty="0" smtClean="0">
                <a:latin typeface="Garamond" panose="02020404030301010803" pitchFamily="18" charset="0"/>
              </a:rPr>
              <a:t>1</a:t>
            </a:r>
            <a:r>
              <a:rPr lang="en-GB" sz="2500" dirty="0" smtClean="0">
                <a:latin typeface="Garamond" panose="02020404030301010803" pitchFamily="18" charset="0"/>
              </a:rPr>
              <a:t> from the centroid of the cross section is given by:</a:t>
            </a:r>
            <a:endParaRPr lang="en-US" sz="2500" dirty="0">
              <a:latin typeface="Garamond" panose="02020404030301010803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513518" y="5043489"/>
                <a:ext cx="1131977" cy="8190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6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𝛕</m:t>
                      </m:r>
                      <m:r>
                        <a:rPr lang="en-GB" sz="2600" b="1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600" b="1" i="0" smtClean="0">
                              <a:latin typeface="Cambria Math" panose="02040503050406030204" pitchFamily="18" charset="0"/>
                            </a:rPr>
                            <m:t>𝐕𝐐</m:t>
                          </m:r>
                        </m:num>
                        <m:den>
                          <m:sSub>
                            <m:sSubPr>
                              <m:ctrlPr>
                                <a:rPr lang="en-GB" sz="26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600" b="1" i="0" smtClean="0">
                                  <a:latin typeface="Cambria Math" panose="02040503050406030204" pitchFamily="18" charset="0"/>
                                </a:rPr>
                                <m:t>𝐈</m:t>
                              </m:r>
                            </m:e>
                            <m:sub>
                              <m:r>
                                <a:rPr lang="en-GB" sz="2600" b="1" i="0" smtClean="0">
                                  <a:latin typeface="Cambria Math" panose="02040503050406030204" pitchFamily="18" charset="0"/>
                                </a:rPr>
                                <m:t>𝐜</m:t>
                              </m:r>
                            </m:sub>
                          </m:sSub>
                          <m:r>
                            <a:rPr lang="en-GB" sz="2600" b="1" i="0" smtClean="0">
                              <a:latin typeface="Cambria Math" panose="02040503050406030204" pitchFamily="18" charset="0"/>
                            </a:rPr>
                            <m:t>𝐛</m:t>
                          </m:r>
                        </m:den>
                      </m:f>
                    </m:oMath>
                  </m:oMathPara>
                </a14:m>
                <a:endParaRPr lang="en-US" sz="2600" b="1" dirty="0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518" y="5043489"/>
                <a:ext cx="1131977" cy="819070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2379" y="1966347"/>
            <a:ext cx="5948837" cy="190616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917029" y="4658114"/>
            <a:ext cx="7210269" cy="16696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50" dirty="0" smtClean="0">
                <a:solidFill>
                  <a:srgbClr val="333333"/>
                </a:solidFill>
                <a:latin typeface="Garamond" panose="02020404030301010803" pitchFamily="18" charset="0"/>
              </a:rPr>
              <a:t>Where: </a:t>
            </a:r>
            <a:r>
              <a:rPr lang="en-GB" sz="2050" b="1" dirty="0" smtClean="0">
                <a:solidFill>
                  <a:srgbClr val="333333"/>
                </a:solidFill>
                <a:latin typeface="Garamond" panose="02020404030301010803" pitchFamily="18" charset="0"/>
              </a:rPr>
              <a:t>V</a:t>
            </a:r>
            <a:r>
              <a:rPr lang="en-GB" sz="2050" dirty="0">
                <a:solidFill>
                  <a:srgbClr val="333333"/>
                </a:solidFill>
                <a:latin typeface="Garamond" panose="02020404030301010803" pitchFamily="18" charset="0"/>
              </a:rPr>
              <a:t> is the shear force acting at the location of the cross </a:t>
            </a:r>
            <a:r>
              <a:rPr lang="en-GB" sz="2050" dirty="0" smtClean="0">
                <a:solidFill>
                  <a:srgbClr val="333333"/>
                </a:solidFill>
                <a:latin typeface="Garamond" panose="02020404030301010803" pitchFamily="18" charset="0"/>
              </a:rPr>
              <a:t> section</a:t>
            </a:r>
            <a:r>
              <a:rPr lang="en-GB" sz="2050" dirty="0">
                <a:solidFill>
                  <a:srgbClr val="333333"/>
                </a:solidFill>
                <a:latin typeface="Garamond" panose="02020404030301010803" pitchFamily="18" charset="0"/>
              </a:rPr>
              <a:t>, </a:t>
            </a:r>
            <a:endParaRPr lang="en-GB" sz="2050" dirty="0" smtClean="0">
              <a:solidFill>
                <a:srgbClr val="333333"/>
              </a:solidFill>
              <a:latin typeface="Garamond" panose="02020404030301010803" pitchFamily="18" charset="0"/>
            </a:endParaRPr>
          </a:p>
          <a:p>
            <a:r>
              <a:rPr lang="en-GB" sz="2050" b="1" dirty="0">
                <a:latin typeface="Garamond" panose="02020404030301010803" pitchFamily="18" charset="0"/>
              </a:rPr>
              <a:t>Q </a:t>
            </a:r>
            <a:r>
              <a:rPr lang="en-GB" sz="2050" dirty="0">
                <a:latin typeface="Garamond" panose="02020404030301010803" pitchFamily="18" charset="0"/>
              </a:rPr>
              <a:t>is the first moment of the </a:t>
            </a:r>
            <a:r>
              <a:rPr lang="en-GB" sz="2050" dirty="0" smtClean="0">
                <a:latin typeface="Garamond" panose="02020404030301010803" pitchFamily="18" charset="0"/>
              </a:rPr>
              <a:t>area</a:t>
            </a:r>
            <a:endParaRPr lang="en-GB" sz="2050" dirty="0" smtClean="0">
              <a:solidFill>
                <a:srgbClr val="333333"/>
              </a:solidFill>
              <a:latin typeface="Garamond" panose="02020404030301010803" pitchFamily="18" charset="0"/>
            </a:endParaRPr>
          </a:p>
          <a:p>
            <a:r>
              <a:rPr lang="en-GB" sz="2050" b="1" dirty="0" err="1" smtClean="0">
                <a:solidFill>
                  <a:srgbClr val="333333"/>
                </a:solidFill>
                <a:latin typeface="Garamond" panose="02020404030301010803" pitchFamily="18" charset="0"/>
              </a:rPr>
              <a:t>I</a:t>
            </a:r>
            <a:r>
              <a:rPr lang="en-GB" sz="2050" b="1" baseline="-25000" dirty="0" err="1" smtClean="0">
                <a:solidFill>
                  <a:srgbClr val="333333"/>
                </a:solidFill>
                <a:latin typeface="Garamond" panose="02020404030301010803" pitchFamily="18" charset="0"/>
              </a:rPr>
              <a:t>c</a:t>
            </a:r>
            <a:r>
              <a:rPr lang="en-GB" sz="2050" dirty="0">
                <a:solidFill>
                  <a:srgbClr val="333333"/>
                </a:solidFill>
                <a:latin typeface="Garamond" panose="02020404030301010803" pitchFamily="18" charset="0"/>
              </a:rPr>
              <a:t> is the</a:t>
            </a:r>
            <a:r>
              <a:rPr lang="en-GB" sz="2050" dirty="0">
                <a:latin typeface="Garamond" panose="02020404030301010803" pitchFamily="18" charset="0"/>
              </a:rPr>
              <a:t> </a:t>
            </a:r>
            <a:r>
              <a:rPr lang="en-GB" sz="2050" dirty="0" err="1">
                <a:latin typeface="Garamond" panose="02020404030301010803" pitchFamily="18" charset="0"/>
              </a:rPr>
              <a:t>centroidal</a:t>
            </a:r>
            <a:r>
              <a:rPr lang="en-GB" sz="2050" dirty="0">
                <a:latin typeface="Garamond" panose="02020404030301010803" pitchFamily="18" charset="0"/>
              </a:rPr>
              <a:t> moment of inertia</a:t>
            </a:r>
            <a:r>
              <a:rPr lang="en-GB" sz="2050" dirty="0">
                <a:solidFill>
                  <a:srgbClr val="333333"/>
                </a:solidFill>
                <a:latin typeface="Garamond" panose="02020404030301010803" pitchFamily="18" charset="0"/>
              </a:rPr>
              <a:t> of the cross section, </a:t>
            </a:r>
            <a:endParaRPr lang="en-GB" sz="2050" dirty="0" smtClean="0">
              <a:solidFill>
                <a:srgbClr val="333333"/>
              </a:solidFill>
              <a:latin typeface="Garamond" panose="02020404030301010803" pitchFamily="18" charset="0"/>
            </a:endParaRPr>
          </a:p>
          <a:p>
            <a:r>
              <a:rPr lang="en-GB" sz="2050" b="1" dirty="0" smtClean="0">
                <a:solidFill>
                  <a:srgbClr val="333333"/>
                </a:solidFill>
                <a:latin typeface="Garamond" panose="02020404030301010803" pitchFamily="18" charset="0"/>
              </a:rPr>
              <a:t>b</a:t>
            </a:r>
            <a:r>
              <a:rPr lang="en-GB" sz="2050" dirty="0">
                <a:solidFill>
                  <a:srgbClr val="333333"/>
                </a:solidFill>
                <a:latin typeface="Garamond" panose="02020404030301010803" pitchFamily="18" charset="0"/>
              </a:rPr>
              <a:t> is the width of the cross section</a:t>
            </a:r>
            <a:r>
              <a:rPr lang="en-GB" sz="2050" dirty="0" smtClean="0">
                <a:solidFill>
                  <a:srgbClr val="333333"/>
                </a:solidFill>
                <a:latin typeface="Garamond" panose="02020404030301010803" pitchFamily="18" charset="0"/>
              </a:rPr>
              <a:t>.</a:t>
            </a:r>
            <a:endParaRPr lang="en-GB" sz="2050" dirty="0" smtClean="0">
              <a:solidFill>
                <a:srgbClr val="333333"/>
              </a:solidFill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8076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7748" y="-29726"/>
            <a:ext cx="8488016" cy="1131580"/>
          </a:xfrm>
        </p:spPr>
        <p:txBody>
          <a:bodyPr/>
          <a:lstStyle/>
          <a:p>
            <a:r>
              <a:rPr lang="en-GB" sz="3600" b="1" dirty="0" smtClean="0"/>
              <a:t>Shear stress for beams of various cross sections</a:t>
            </a:r>
            <a:endParaRPr lang="en-US" sz="36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943" y="1101854"/>
            <a:ext cx="4619625" cy="5133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844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Example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9921" y="1047527"/>
            <a:ext cx="9024079" cy="50254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>
                <a:latin typeface="Garamond" panose="02020404030301010803" pitchFamily="18" charset="0"/>
              </a:rPr>
              <a:t>A simply supported beam of length </a:t>
            </a:r>
            <a:r>
              <a:rPr lang="en-GB" sz="2400" i="1" dirty="0">
                <a:latin typeface="Garamond" panose="02020404030301010803" pitchFamily="18" charset="0"/>
              </a:rPr>
              <a:t>L</a:t>
            </a:r>
            <a:r>
              <a:rPr lang="en-GB" sz="2400" dirty="0">
                <a:latin typeface="Garamond" panose="02020404030301010803" pitchFamily="18" charset="0"/>
              </a:rPr>
              <a:t> carries a concentrated load </a:t>
            </a:r>
            <a:r>
              <a:rPr lang="en-GB" sz="2400" i="1" dirty="0">
                <a:latin typeface="Garamond" panose="02020404030301010803" pitchFamily="18" charset="0"/>
              </a:rPr>
              <a:t>P</a:t>
            </a:r>
            <a:r>
              <a:rPr lang="en-GB" sz="2400" dirty="0">
                <a:latin typeface="Garamond" panose="02020404030301010803" pitchFamily="18" charset="0"/>
              </a:rPr>
              <a:t> </a:t>
            </a:r>
            <a:endParaRPr lang="en-GB" sz="2400" dirty="0" smtClean="0">
              <a:latin typeface="Garamond" panose="02020404030301010803" pitchFamily="18" charset="0"/>
            </a:endParaRPr>
          </a:p>
          <a:p>
            <a:pPr marL="0" indent="0">
              <a:buNone/>
            </a:pPr>
            <a:r>
              <a:rPr lang="en-GB" sz="2400" dirty="0" smtClean="0">
                <a:latin typeface="Garamond" panose="02020404030301010803" pitchFamily="18" charset="0"/>
              </a:rPr>
              <a:t>(</a:t>
            </a:r>
            <a:r>
              <a:rPr lang="en-GB" sz="2400" dirty="0">
                <a:latin typeface="Garamond" panose="02020404030301010803" pitchFamily="18" charset="0"/>
              </a:rPr>
              <a:t>Fig. </a:t>
            </a:r>
            <a:r>
              <a:rPr lang="en-GB" sz="2400" dirty="0" smtClean="0">
                <a:latin typeface="Garamond" panose="02020404030301010803" pitchFamily="18" charset="0"/>
              </a:rPr>
              <a:t>below).</a:t>
            </a:r>
            <a:r>
              <a:rPr lang="en-GB" sz="2400" dirty="0">
                <a:latin typeface="Garamond" panose="02020404030301010803" pitchFamily="18" charset="0"/>
              </a:rPr>
              <a:t> </a:t>
            </a:r>
            <a:r>
              <a:rPr lang="en-GB" sz="2400" dirty="0" smtClean="0">
                <a:latin typeface="Garamond" panose="02020404030301010803" pitchFamily="18" charset="0"/>
              </a:rPr>
              <a:t>Find</a:t>
            </a:r>
            <a:r>
              <a:rPr lang="en-GB" sz="2400" i="1" dirty="0" smtClean="0">
                <a:latin typeface="Garamond" panose="02020404030301010803" pitchFamily="18" charset="0"/>
              </a:rPr>
              <a:t> </a:t>
            </a:r>
            <a:r>
              <a:rPr lang="en-GB" sz="2400" dirty="0">
                <a:latin typeface="Garamond" panose="02020404030301010803" pitchFamily="18" charset="0"/>
              </a:rPr>
              <a:t>t</a:t>
            </a:r>
            <a:r>
              <a:rPr lang="en-GB" sz="2400" dirty="0" smtClean="0">
                <a:latin typeface="Garamond" panose="02020404030301010803" pitchFamily="18" charset="0"/>
              </a:rPr>
              <a:t>he </a:t>
            </a:r>
            <a:r>
              <a:rPr lang="en-GB" sz="2400" dirty="0">
                <a:latin typeface="Garamond" panose="02020404030301010803" pitchFamily="18" charset="0"/>
              </a:rPr>
              <a:t>maximum shear </a:t>
            </a:r>
            <a:r>
              <a:rPr lang="en-GB" sz="2400" dirty="0" smtClean="0">
                <a:latin typeface="Garamond" panose="02020404030301010803" pitchFamily="18" charset="0"/>
              </a:rPr>
              <a:t>stress and bending stress.</a:t>
            </a:r>
            <a:endParaRPr lang="en-US" sz="2400" dirty="0">
              <a:latin typeface="Garamond" panose="02020404030301010803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707" y="1957464"/>
            <a:ext cx="5275646" cy="217150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6707" y="4128970"/>
            <a:ext cx="3157178" cy="2048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321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Solution</a:t>
            </a:r>
            <a:endParaRPr lang="en-US" b="1" dirty="0"/>
          </a:p>
        </p:txBody>
      </p:sp>
      <p:pic>
        <p:nvPicPr>
          <p:cNvPr id="72706" name="Picture 2" descr="https://ptgmedia.pearsoncmg.com/images/chap5_9780134859286/elementLinks/unequ263_235_al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748" y="1889482"/>
            <a:ext cx="5381277" cy="65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87187" y="1110917"/>
                <a:ext cx="6884705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200" dirty="0" smtClean="0">
                    <a:latin typeface="Garamond" panose="02020404030301010803" pitchFamily="18" charset="0"/>
                  </a:rPr>
                  <a:t>The distance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GB" sz="22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sz="2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en-US" sz="2200" dirty="0" smtClean="0">
                    <a:latin typeface="Garamond" panose="02020404030301010803" pitchFamily="18" charset="0"/>
                  </a:rPr>
                  <a:t> from the z-axis to the centroid </a:t>
                </a:r>
                <a:r>
                  <a:rPr lang="en-US" sz="2200" dirty="0">
                    <a:latin typeface="Garamond" panose="02020404030301010803" pitchFamily="18" charset="0"/>
                  </a:rPr>
                  <a:t>i</a:t>
                </a:r>
                <a:r>
                  <a:rPr lang="en-US" sz="2200" dirty="0" smtClean="0">
                    <a:latin typeface="Garamond" panose="02020404030301010803" pitchFamily="18" charset="0"/>
                  </a:rPr>
                  <a:t>s calculated as</a:t>
                </a:r>
                <a:endParaRPr lang="en-US" sz="2200" dirty="0">
                  <a:latin typeface="Garamond" panose="02020404030301010803" pitchFamily="18" charset="0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187" y="1110917"/>
                <a:ext cx="6884705" cy="430887"/>
              </a:xfrm>
              <a:prstGeom prst="rect">
                <a:avLst/>
              </a:prstGeom>
              <a:blipFill rotWithShape="0">
                <a:blip r:embed="rId3"/>
                <a:stretch>
                  <a:fillRect l="-1151" t="-9859" r="-266" b="-28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367748" y="2751128"/>
            <a:ext cx="8488016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200" dirty="0">
                <a:solidFill>
                  <a:srgbClr val="000000"/>
                </a:solidFill>
                <a:latin typeface="Garamond" panose="02020404030301010803" pitchFamily="18" charset="0"/>
              </a:rPr>
              <a:t>The maximum shearing stress in the beam takes place at the </a:t>
            </a:r>
            <a:r>
              <a:rPr lang="en-GB" sz="2200" dirty="0" smtClean="0">
                <a:solidFill>
                  <a:srgbClr val="000000"/>
                </a:solidFill>
                <a:latin typeface="Garamond" panose="02020404030301010803" pitchFamily="18" charset="0"/>
              </a:rPr>
              <a:t>Neutral Axis </a:t>
            </a:r>
            <a:r>
              <a:rPr lang="en-GB" sz="2200" dirty="0">
                <a:solidFill>
                  <a:srgbClr val="000000"/>
                </a:solidFill>
                <a:latin typeface="Garamond" panose="02020404030301010803" pitchFamily="18" charset="0"/>
              </a:rPr>
              <a:t>on the cross section supporting the largest shear force V. </a:t>
            </a:r>
            <a:endParaRPr lang="en-GB" sz="2200" dirty="0" smtClean="0">
              <a:solidFill>
                <a:srgbClr val="000000"/>
              </a:solidFill>
              <a:latin typeface="Garamond" panose="02020404030301010803" pitchFamily="18" charset="0"/>
            </a:endParaRPr>
          </a:p>
          <a:p>
            <a:pPr>
              <a:lnSpc>
                <a:spcPct val="150000"/>
              </a:lnSpc>
            </a:pPr>
            <a:r>
              <a:rPr lang="en-GB" sz="2200" dirty="0" smtClean="0">
                <a:solidFill>
                  <a:srgbClr val="000000"/>
                </a:solidFill>
                <a:latin typeface="Garamond" panose="02020404030301010803" pitchFamily="18" charset="0"/>
              </a:rPr>
              <a:t>Consequently</a:t>
            </a:r>
            <a:r>
              <a:rPr lang="en-GB" sz="2200" dirty="0">
                <a:solidFill>
                  <a:srgbClr val="000000"/>
                </a:solidFill>
                <a:latin typeface="Garamond" panose="02020404030301010803" pitchFamily="18" charset="0"/>
              </a:rPr>
              <a:t>, </a:t>
            </a:r>
            <a:r>
              <a:rPr lang="en-GB" sz="2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GB" sz="22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GB" sz="2200" baseline="-25000" dirty="0">
                <a:solidFill>
                  <a:srgbClr val="000000"/>
                </a:solidFill>
                <a:latin typeface="Garamond" panose="02020404030301010803" pitchFamily="18" charset="0"/>
              </a:rPr>
              <a:t>A</a:t>
            </a:r>
            <a:r>
              <a:rPr lang="en-GB" sz="2200" dirty="0">
                <a:solidFill>
                  <a:srgbClr val="000000"/>
                </a:solidFill>
                <a:latin typeface="Garamond" panose="02020404030301010803" pitchFamily="18" charset="0"/>
              </a:rPr>
              <a:t> = 50(20)25 = 25×10</a:t>
            </a:r>
            <a:r>
              <a:rPr lang="en-GB" sz="2200" baseline="30000" dirty="0">
                <a:solidFill>
                  <a:srgbClr val="000000"/>
                </a:solidFill>
                <a:latin typeface="Garamond" panose="02020404030301010803" pitchFamily="18" charset="0"/>
              </a:rPr>
              <a:t>3</a:t>
            </a:r>
            <a:r>
              <a:rPr lang="en-GB" sz="2200" dirty="0">
                <a:solidFill>
                  <a:srgbClr val="000000"/>
                </a:solidFill>
                <a:latin typeface="Garamond" panose="02020404030301010803" pitchFamily="18" charset="0"/>
              </a:rPr>
              <a:t> mm</a:t>
            </a:r>
            <a:r>
              <a:rPr lang="en-GB" sz="2200" baseline="30000" dirty="0">
                <a:solidFill>
                  <a:srgbClr val="000000"/>
                </a:solidFill>
                <a:latin typeface="Garamond" panose="02020404030301010803" pitchFamily="18" charset="0"/>
              </a:rPr>
              <a:t>3</a:t>
            </a:r>
            <a:r>
              <a:rPr lang="en-GB" sz="2200" dirty="0">
                <a:solidFill>
                  <a:srgbClr val="000000"/>
                </a:solidFill>
                <a:latin typeface="Garamond" panose="02020404030301010803" pitchFamily="18" charset="0"/>
              </a:rPr>
              <a:t>. </a:t>
            </a:r>
            <a:endParaRPr lang="en-GB" sz="2200" dirty="0" smtClean="0">
              <a:solidFill>
                <a:srgbClr val="000000"/>
              </a:solidFill>
              <a:latin typeface="Garamond" panose="02020404030301010803" pitchFamily="18" charset="0"/>
            </a:endParaRPr>
          </a:p>
          <a:p>
            <a:pPr>
              <a:lnSpc>
                <a:spcPct val="150000"/>
              </a:lnSpc>
            </a:pPr>
            <a:r>
              <a:rPr lang="en-GB" sz="2200" dirty="0" smtClean="0">
                <a:solidFill>
                  <a:srgbClr val="000000"/>
                </a:solidFill>
                <a:latin typeface="Garamond" panose="02020404030301010803" pitchFamily="18" charset="0"/>
              </a:rPr>
              <a:t>The </a:t>
            </a:r>
            <a:r>
              <a:rPr lang="en-GB" sz="2200" dirty="0">
                <a:solidFill>
                  <a:srgbClr val="000000"/>
                </a:solidFill>
                <a:latin typeface="Garamond" panose="02020404030301010803" pitchFamily="18" charset="0"/>
              </a:rPr>
              <a:t>shear force equals 2.5 </a:t>
            </a:r>
            <a:r>
              <a:rPr lang="en-GB" sz="2200" dirty="0" err="1">
                <a:solidFill>
                  <a:srgbClr val="000000"/>
                </a:solidFill>
                <a:latin typeface="Garamond" panose="02020404030301010803" pitchFamily="18" charset="0"/>
              </a:rPr>
              <a:t>kN</a:t>
            </a:r>
            <a:r>
              <a:rPr lang="en-GB" sz="2200" dirty="0">
                <a:solidFill>
                  <a:srgbClr val="000000"/>
                </a:solidFill>
                <a:latin typeface="Garamond" panose="02020404030301010803" pitchFamily="18" charset="0"/>
              </a:rPr>
              <a:t> on all cross sections of the beam</a:t>
            </a:r>
            <a:endParaRPr lang="en-US" sz="2200" dirty="0">
              <a:latin typeface="Garamond" panose="02020404030301010803" pitchFamily="18" charset="0"/>
            </a:endParaRPr>
          </a:p>
        </p:txBody>
      </p:sp>
      <p:pic>
        <p:nvPicPr>
          <p:cNvPr id="72710" name="Picture 6" descr="https://ptgmedia.pearsoncmg.com/images/chap5_9780134859286/elementLinks/unequ263_236_alt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630" y="5192484"/>
            <a:ext cx="5975018" cy="853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4752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Solution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 smtClean="0">
                <a:latin typeface="Garamond" panose="02020404030301010803" pitchFamily="18" charset="0"/>
              </a:rPr>
              <a:t>(b) </a:t>
            </a:r>
            <a:r>
              <a:rPr lang="en-GB" dirty="0">
                <a:latin typeface="Garamond" panose="02020404030301010803" pitchFamily="18" charset="0"/>
              </a:rPr>
              <a:t>The largest moment takes place at </a:t>
            </a:r>
            <a:r>
              <a:rPr lang="en-GB" dirty="0" err="1" smtClean="0">
                <a:latin typeface="Garamond" panose="02020404030301010803" pitchFamily="18" charset="0"/>
              </a:rPr>
              <a:t>midspan</a:t>
            </a:r>
            <a:r>
              <a:rPr lang="en-GB" dirty="0" smtClean="0">
                <a:latin typeface="Garamond" panose="02020404030301010803" pitchFamily="18" charset="0"/>
              </a:rPr>
              <a:t>, therefore</a:t>
            </a:r>
            <a:endParaRPr lang="en-US" dirty="0">
              <a:latin typeface="Garamond" panose="02020404030301010803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481" y="2371490"/>
            <a:ext cx="5162550" cy="88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466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268" y="2463202"/>
            <a:ext cx="8229600" cy="729703"/>
          </a:xfrm>
        </p:spPr>
        <p:txBody>
          <a:bodyPr/>
          <a:lstStyle/>
          <a:p>
            <a:r>
              <a:rPr lang="en-GB" b="1" dirty="0" smtClean="0"/>
              <a:t>THANK YOU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51725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Tutorials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 smtClean="0">
                <a:latin typeface="Garamond" panose="02020404030301010803" pitchFamily="18" charset="0"/>
              </a:rPr>
              <a:t>Determine the values and draw the bending moment and shear force diagrams for the beam below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87" y="2036644"/>
            <a:ext cx="7109735" cy="2447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455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Solution</a:t>
            </a:r>
            <a:endParaRPr lang="en-US" b="1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564124" y="1099009"/>
            <a:ext cx="4451274" cy="20362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0" y="3612170"/>
                <a:ext cx="9093836" cy="13515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000" dirty="0" smtClean="0">
                    <a:latin typeface="Garamond" panose="02020404030301010803" pitchFamily="18" charset="0"/>
                  </a:rPr>
                  <a:t>There is no horizontal force hence the fixed support will have only two components.</a:t>
                </a:r>
              </a:p>
              <a:p>
                <a:pPr marL="342900" indent="-342900">
                  <a:buAutoNum type="arabicPeriod"/>
                </a:pPr>
                <a:r>
                  <a:rPr lang="en-GB" sz="2000" dirty="0" smtClean="0">
                    <a:latin typeface="Garamond" panose="02020404030301010803" pitchFamily="18" charset="0"/>
                  </a:rPr>
                  <a:t>Vertical </a:t>
                </a:r>
                <a:r>
                  <a:rPr lang="en-GB" sz="2000" b="1" dirty="0" smtClean="0">
                    <a:latin typeface="Garamond" panose="02020404030301010803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1" i="1" dirty="0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  <m:sub>
                        <m:r>
                          <a:rPr lang="en-GB" sz="2000" b="1" i="1" dirty="0" smtClean="0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</m:oMath>
                </a14:m>
                <a:r>
                  <a:rPr lang="en-GB" sz="2000" b="1" dirty="0" smtClean="0">
                    <a:latin typeface="Garamond" panose="02020404030301010803" pitchFamily="18" charset="0"/>
                  </a:rPr>
                  <a:t>) </a:t>
                </a:r>
                <a:r>
                  <a:rPr lang="en-GB" sz="2000" dirty="0" smtClean="0">
                    <a:latin typeface="Garamond" panose="02020404030301010803" pitchFamily="18" charset="0"/>
                  </a:rPr>
                  <a:t>and 2. Moment </a:t>
                </a:r>
                <a:r>
                  <a:rPr lang="en-GB" sz="2000" b="1" dirty="0" smtClean="0">
                    <a:latin typeface="Garamond" panose="02020404030301010803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0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000" b="1" i="1" dirty="0" smtClean="0"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GB" sz="2000" b="1" i="1" dirty="0" smtClean="0">
                            <a:latin typeface="Cambria Math" panose="02040503050406030204" pitchFamily="18" charset="0"/>
                          </a:rPr>
                          <m:t>𝑫</m:t>
                        </m:r>
                      </m:sub>
                    </m:sSub>
                  </m:oMath>
                </a14:m>
                <a:r>
                  <a:rPr lang="en-GB" sz="2000" b="1" dirty="0" smtClean="0">
                    <a:latin typeface="Garamond" panose="02020404030301010803" pitchFamily="18" charset="0"/>
                  </a:rPr>
                  <a:t>)</a:t>
                </a:r>
              </a:p>
              <a:p>
                <a:endParaRPr lang="en-GB" sz="2000" b="1" dirty="0" smtClean="0">
                  <a:latin typeface="Garamond" panose="02020404030301010803" pitchFamily="18" charset="0"/>
                </a:endParaRPr>
              </a:p>
              <a:p>
                <a:r>
                  <a:rPr lang="en-GB" sz="2000" dirty="0" smtClean="0">
                    <a:latin typeface="Garamond" panose="02020404030301010803" pitchFamily="18" charset="0"/>
                  </a:rPr>
                  <a:t>Support reactions can be determined by applying equations of static equilibrium as below</a:t>
                </a:r>
                <a:endParaRPr lang="en-US" sz="2000" dirty="0">
                  <a:latin typeface="Garamond" panose="02020404030301010803" pitchFamily="18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612170"/>
                <a:ext cx="9093836" cy="1351588"/>
              </a:xfrm>
              <a:prstGeom prst="rect">
                <a:avLst/>
              </a:prstGeom>
              <a:blipFill rotWithShape="0">
                <a:blip r:embed="rId3"/>
                <a:stretch>
                  <a:fillRect l="-670" t="-2715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778" y="4938561"/>
            <a:ext cx="3665491" cy="13123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6999" y="4953551"/>
            <a:ext cx="2903598" cy="1302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370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Solution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 smtClean="0">
                <a:latin typeface="Garamond" panose="02020404030301010803" pitchFamily="18" charset="0"/>
              </a:rPr>
              <a:t>Shear force Calculation</a:t>
            </a:r>
          </a:p>
          <a:p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r>
              <a:rPr lang="en-GB" dirty="0" smtClean="0">
                <a:latin typeface="Garamond" panose="02020404030301010803" pitchFamily="18" charset="0"/>
              </a:rPr>
              <a:t>Bending Moment Calculation</a:t>
            </a:r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694" y="1610115"/>
            <a:ext cx="1651727" cy="219738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694" y="4265160"/>
            <a:ext cx="3665871" cy="171372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0407" y="1107247"/>
            <a:ext cx="3708682" cy="5115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478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579</TotalTime>
  <Words>400</Words>
  <Application>Microsoft Office PowerPoint</Application>
  <PresentationFormat>On-screen Show (4:3)</PresentationFormat>
  <Paragraphs>141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Calibri</vt:lpstr>
      <vt:lpstr>Cambria Math</vt:lpstr>
      <vt:lpstr>Garamond</vt:lpstr>
      <vt:lpstr>Helvetica</vt:lpstr>
      <vt:lpstr>Times New Roman</vt:lpstr>
      <vt:lpstr>Office Theme</vt:lpstr>
      <vt:lpstr>ME 255 – Strength of Materials</vt:lpstr>
      <vt:lpstr>Lecture Outline</vt:lpstr>
      <vt:lpstr>Cantilever Beam</vt:lpstr>
      <vt:lpstr>Bending Moment and Shear Force for Cantilever Beams</vt:lpstr>
      <vt:lpstr>Cantilever with Several Point Loads</vt:lpstr>
      <vt:lpstr>Cantilever with Several Point Loads</vt:lpstr>
      <vt:lpstr>Cantilever with Uniformly Distributed Load over Whole Span</vt:lpstr>
      <vt:lpstr>Bending Stresses In Beams</vt:lpstr>
      <vt:lpstr>Bending Stresses In Beams</vt:lpstr>
      <vt:lpstr>Example 1</vt:lpstr>
      <vt:lpstr>Example 2</vt:lpstr>
      <vt:lpstr>Solution</vt:lpstr>
      <vt:lpstr>Shear Stresses In Beams</vt:lpstr>
      <vt:lpstr>Shear Stresses In Beams</vt:lpstr>
      <vt:lpstr>Shear stress for beams of various cross sections</vt:lpstr>
      <vt:lpstr>Example</vt:lpstr>
      <vt:lpstr>Solution</vt:lpstr>
      <vt:lpstr>Solution</vt:lpstr>
      <vt:lpstr>THANK YOU</vt:lpstr>
      <vt:lpstr>Tutorials</vt:lpstr>
      <vt:lpstr>Solution</vt:lpstr>
      <vt:lpstr>Solution</vt:lpstr>
    </vt:vector>
  </TitlesOfParts>
  <Company>UPK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KNUST Press</dc:creator>
  <cp:lastModifiedBy>Samuel Boahen</cp:lastModifiedBy>
  <cp:revision>155</cp:revision>
  <dcterms:created xsi:type="dcterms:W3CDTF">2016-11-07T15:28:41Z</dcterms:created>
  <dcterms:modified xsi:type="dcterms:W3CDTF">2021-02-24T14:42:09Z</dcterms:modified>
</cp:coreProperties>
</file>